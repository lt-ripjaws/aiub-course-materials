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5"/>
  </p:notesMasterIdLst>
  <p:sldIdLst>
    <p:sldId id="256" r:id="rId2"/>
    <p:sldId id="257" r:id="rId3"/>
    <p:sldId id="276" r:id="rId4"/>
    <p:sldId id="277" r:id="rId5"/>
    <p:sldId id="278" r:id="rId6"/>
    <p:sldId id="279" r:id="rId7"/>
    <p:sldId id="295" r:id="rId8"/>
    <p:sldId id="288" r:id="rId9"/>
    <p:sldId id="294" r:id="rId10"/>
    <p:sldId id="293" r:id="rId11"/>
    <p:sldId id="287" r:id="rId12"/>
    <p:sldId id="285" r:id="rId13"/>
    <p:sldId id="264" r:id="rId14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08"/>
    <p:restoredTop sz="94724"/>
  </p:normalViewPr>
  <p:slideViewPr>
    <p:cSldViewPr snapToGrid="0" snapToObjects="1">
      <p:cViewPr varScale="1">
        <p:scale>
          <a:sx n="82" d="100"/>
          <a:sy n="82" d="100"/>
        </p:scale>
        <p:origin x="1056" y="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 " userId="7df7294e-d88c-40ba-90e5-79451dd84eeb" providerId="ADAL" clId="{865E8905-3A9F-4DF8-BE85-8764B14DC0D4}"/>
    <pc:docChg chg="modSld">
      <pc:chgData name=" " userId="7df7294e-d88c-40ba-90e5-79451dd84eeb" providerId="ADAL" clId="{865E8905-3A9F-4DF8-BE85-8764B14DC0D4}" dt="2019-04-17T04:06:04.677" v="0" actId="1076"/>
      <pc:docMkLst>
        <pc:docMk/>
      </pc:docMkLst>
      <pc:sldChg chg="modSp">
        <pc:chgData name=" " userId="7df7294e-d88c-40ba-90e5-79451dd84eeb" providerId="ADAL" clId="{865E8905-3A9F-4DF8-BE85-8764B14DC0D4}" dt="2019-04-17T04:06:04.677" v="0" actId="1076"/>
        <pc:sldMkLst>
          <pc:docMk/>
          <pc:sldMk cId="3716353229" sldId="259"/>
        </pc:sldMkLst>
        <pc:spChg chg="mod">
          <ac:chgData name=" " userId="7df7294e-d88c-40ba-90e5-79451dd84eeb" providerId="ADAL" clId="{865E8905-3A9F-4DF8-BE85-8764B14DC0D4}" dt="2019-04-17T04:06:04.677" v="0" actId="1076"/>
          <ac:spMkLst>
            <pc:docMk/>
            <pc:sldMk cId="3716353229" sldId="259"/>
            <ac:spMk id="5" creationId="{00000000-0000-0000-0000-000000000000}"/>
          </ac:spMkLst>
        </pc:spChg>
      </pc:sldChg>
    </pc:docChg>
  </pc:docChgLst>
  <pc:docChgLst>
    <pc:chgData name="SYEDA ANIKA TASNIM" userId="8fb70a1d-16e3-4c86-a699-7b87e9bfa60b" providerId="ADAL" clId="{42E1FE6D-AB7C-4C10-8727-568B63D40F42}"/>
    <pc:docChg chg="modSld">
      <pc:chgData name="SYEDA ANIKA TASNIM" userId="8fb70a1d-16e3-4c86-a699-7b87e9bfa60b" providerId="ADAL" clId="{42E1FE6D-AB7C-4C10-8727-568B63D40F42}" dt="2020-10-12T03:46:04.994" v="9" actId="20577"/>
      <pc:docMkLst>
        <pc:docMk/>
      </pc:docMkLst>
      <pc:sldChg chg="modSp mod">
        <pc:chgData name="SYEDA ANIKA TASNIM" userId="8fb70a1d-16e3-4c86-a699-7b87e9bfa60b" providerId="ADAL" clId="{42E1FE6D-AB7C-4C10-8727-568B63D40F42}" dt="2020-10-12T03:46:04.994" v="9" actId="20577"/>
        <pc:sldMkLst>
          <pc:docMk/>
          <pc:sldMk cId="700707328" sldId="256"/>
        </pc:sldMkLst>
        <pc:graphicFrameChg chg="modGraphic">
          <ac:chgData name="SYEDA ANIKA TASNIM" userId="8fb70a1d-16e3-4c86-a699-7b87e9bfa60b" providerId="ADAL" clId="{42E1FE6D-AB7C-4C10-8727-568B63D40F42}" dt="2020-10-12T03:46:04.994" v="9" actId="20577"/>
          <ac:graphicFrameMkLst>
            <pc:docMk/>
            <pc:sldMk cId="700707328" sldId="256"/>
            <ac:graphicFrameMk id="7" creationId="{29FF08AD-7519-4C4A-8E0D-640DF5BB5E58}"/>
          </ac:graphicFrameMkLst>
        </pc:graphicFrame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5C62E78-F200-4C4C-BC42-C27AC9E77916}" type="datetimeFigureOut">
              <a:rPr lang="en-US" smtClean="0"/>
              <a:t>10/12/2020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C6B0FEB-E303-4A4A-A013-42557A45CD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67202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10/12/2020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284163" y="444728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8" name="Group 16"/>
          <p:cNvGrpSpPr/>
          <p:nvPr/>
        </p:nvGrpSpPr>
        <p:grpSpPr>
          <a:xfrm>
            <a:off x="284163" y="1906542"/>
            <a:ext cx="8576373" cy="137411"/>
            <a:chOff x="284163" y="1759424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21341" y="449005"/>
            <a:ext cx="7808976" cy="1088136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marL="0" algn="l" defTabSz="914400" rtl="0" eaLnBrk="1" latinLnBrk="0" hangingPunct="1">
              <a:lnSpc>
                <a:spcPts val="4600"/>
              </a:lnSpc>
              <a:spcBef>
                <a:spcPct val="0"/>
              </a:spcBef>
              <a:buNone/>
              <a:defRPr sz="42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6205" y="1532427"/>
            <a:ext cx="7754112" cy="484632"/>
          </a:xfr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i-FI"/>
              <a:t>Click to edit Master subtitle style</a:t>
            </a:r>
            <a:endParaRPr dirty="0"/>
          </a:p>
        </p:txBody>
      </p:sp>
      <p:sp>
        <p:nvSpPr>
          <p:cNvPr id="13" name="Rectangle 12"/>
          <p:cNvSpPr/>
          <p:nvPr/>
        </p:nvSpPr>
        <p:spPr>
          <a:xfrm>
            <a:off x="284163" y="6227064"/>
            <a:ext cx="8574087" cy="173736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26" name="Picture 2" descr="Image result for AIUB logo">
            <a:extLst>
              <a:ext uri="{FF2B5EF4-FFF2-40B4-BE49-F238E27FC236}">
                <a16:creationId xmlns:a16="http://schemas.microsoft.com/office/drawing/2014/main" id="{CF3BFD94-6180-4B73-8361-A4B02BAD175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38596" y="459899"/>
            <a:ext cx="1419654" cy="14285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8" name="Group 7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5pPr>
              <a:defRPr/>
            </a:lvl5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10/12/2020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284163" y="444728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10/12/2020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8" name="Picture Placeholder 7"/>
          <p:cNvSpPr>
            <a:spLocks noGrp="1"/>
          </p:cNvSpPr>
          <p:nvPr>
            <p:ph type="pic" sz="quarter" idx="13"/>
          </p:nvPr>
        </p:nvSpPr>
        <p:spPr>
          <a:xfrm>
            <a:off x="284162" y="2017058"/>
            <a:ext cx="8574087" cy="4377391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2420" y="1532965"/>
            <a:ext cx="7754284" cy="484094"/>
          </a:xfrm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bg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i-FI"/>
              <a:t>Click to edit Master subtitle style</a:t>
            </a:r>
            <a:endParaRPr dirty="0"/>
          </a:p>
        </p:txBody>
      </p:sp>
      <p:grpSp>
        <p:nvGrpSpPr>
          <p:cNvPr id="7" name="Group 16"/>
          <p:cNvGrpSpPr/>
          <p:nvPr/>
        </p:nvGrpSpPr>
        <p:grpSpPr>
          <a:xfrm>
            <a:off x="284163" y="1906542"/>
            <a:ext cx="8576373" cy="137411"/>
            <a:chOff x="284163" y="1759424"/>
            <a:chExt cx="8576373" cy="137411"/>
          </a:xfrm>
        </p:grpSpPr>
        <p:sp>
          <p:nvSpPr>
            <p:cNvPr id="11" name="Rectangle 10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19" name="TextBox 18"/>
          <p:cNvSpPr txBox="1"/>
          <p:nvPr/>
        </p:nvSpPr>
        <p:spPr>
          <a:xfrm>
            <a:off x="8230889" y="444728"/>
            <a:ext cx="5870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3600">
                <a:solidFill>
                  <a:schemeClr val="bg1"/>
                </a:solidFill>
                <a:sym typeface="Wingdings"/>
              </a:rPr>
              <a:t></a:t>
            </a:r>
            <a:endParaRPr sz="3600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18633" y="444728"/>
            <a:ext cx="7810967" cy="1088237"/>
          </a:xfrm>
          <a:noFill/>
        </p:spPr>
        <p:txBody>
          <a:bodyPr bIns="45720" anchor="b" anchorCtr="0">
            <a:normAutofit/>
          </a:bodyPr>
          <a:lstStyle>
            <a:lvl1pPr algn="l">
              <a:lnSpc>
                <a:spcPts val="4600"/>
              </a:lnSpc>
              <a:defRPr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84163" y="4801575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13" name="TextBox 12"/>
          <p:cNvSpPr txBox="1"/>
          <p:nvPr/>
        </p:nvSpPr>
        <p:spPr>
          <a:xfrm>
            <a:off x="8230889" y="4801575"/>
            <a:ext cx="5870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3600">
                <a:solidFill>
                  <a:schemeClr val="bg1"/>
                </a:solidFill>
                <a:sym typeface="Wingdings"/>
              </a:rPr>
              <a:t></a:t>
            </a:r>
            <a:endParaRPr sz="3600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9768" y="4814125"/>
            <a:ext cx="7772400" cy="1051560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200" b="0" i="0" kern="1200" cap="none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5488" y="5861304"/>
            <a:ext cx="7735824" cy="402336"/>
          </a:xfrm>
        </p:spPr>
        <p:txBody>
          <a:bodyPr vert="horz" lIns="91440" tIns="45720" rIns="91440" bIns="45720" rtlCol="0" anchor="t" anchorCtr="0">
            <a:normAutofit/>
          </a:bodyPr>
          <a:lstStyle>
            <a:lvl1pPr marL="0" indent="0">
              <a:spcBef>
                <a:spcPts val="0"/>
              </a:spcBef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marL="0" lvl="0" indent="0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</a:pPr>
            <a:r>
              <a:rPr lang="fi-FI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10/12/2020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7"/>
          <p:cNvSpPr>
            <a:spLocks noGrp="1"/>
          </p:cNvSpPr>
          <p:nvPr>
            <p:ph type="pic" sz="quarter" idx="13"/>
          </p:nvPr>
        </p:nvSpPr>
        <p:spPr>
          <a:xfrm>
            <a:off x="284162" y="443754"/>
            <a:ext cx="8574087" cy="4370293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10/12/2020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284163" y="4801575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8" name="Group 7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12" name="TextBox 11"/>
          <p:cNvSpPr txBox="1"/>
          <p:nvPr/>
        </p:nvSpPr>
        <p:spPr>
          <a:xfrm>
            <a:off x="8230889" y="4801575"/>
            <a:ext cx="5870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3600">
                <a:solidFill>
                  <a:schemeClr val="bg1"/>
                </a:solidFill>
                <a:sym typeface="Wingdings"/>
              </a:rPr>
              <a:t></a:t>
            </a:r>
            <a:endParaRPr sz="3600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0306" y="4814047"/>
            <a:ext cx="7772400" cy="1048871"/>
          </a:xfrm>
          <a:noFill/>
        </p:spPr>
        <p:txBody>
          <a:bodyPr anchor="b" anchorCtr="0">
            <a:normAutofit/>
          </a:bodyPr>
          <a:lstStyle>
            <a:lvl1pPr algn="l">
              <a:defRPr sz="4200" b="0" i="0" cap="none" baseline="0"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0647" y="5862918"/>
            <a:ext cx="7732059" cy="403412"/>
          </a:xfrm>
        </p:spPr>
        <p:txBody>
          <a:bodyPr anchor="t" anchorCtr="0">
            <a:normAutofit/>
          </a:bodyPr>
          <a:lstStyle>
            <a:lvl1pPr marL="0" indent="0">
              <a:spcBef>
                <a:spcPts val="0"/>
              </a:spcBef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9" name="Group 8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03412" y="2151063"/>
            <a:ext cx="3931920" cy="3975100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78188" y="2151063"/>
            <a:ext cx="3931920" cy="3975100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10/12/2020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11" name="Group 10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12" name="Rectangle 11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4" name="Rectangle 13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03412" y="1735138"/>
            <a:ext cx="3931920" cy="833250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buNone/>
              <a:defRPr sz="26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03412" y="2590800"/>
            <a:ext cx="3931920" cy="3535362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79495" y="1735138"/>
            <a:ext cx="3931920" cy="833250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buNone/>
              <a:defRPr sz="26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79495" y="2590800"/>
            <a:ext cx="3931920" cy="3535362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10/12/2020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7" name="Group 6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8" name="Rectangle 7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9" name="Rectangle 8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10/12/2020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10/12/2020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grpSp>
        <p:nvGrpSpPr>
          <p:cNvPr id="5" name="Group 4"/>
          <p:cNvGrpSpPr/>
          <p:nvPr/>
        </p:nvGrpSpPr>
        <p:grpSpPr>
          <a:xfrm>
            <a:off x="284164" y="452718"/>
            <a:ext cx="7365210" cy="137411"/>
            <a:chOff x="284163" y="1577847"/>
            <a:chExt cx="8576373" cy="137411"/>
          </a:xfrm>
        </p:grpSpPr>
        <p:sp>
          <p:nvSpPr>
            <p:cNvPr id="6" name="Rectangle 5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" name="Rectangle 6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8" name="Rectangle 7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pic>
        <p:nvPicPr>
          <p:cNvPr id="2050" name="Picture 2" descr="Image result for AIUB logo">
            <a:extLst>
              <a:ext uri="{FF2B5EF4-FFF2-40B4-BE49-F238E27FC236}">
                <a16:creationId xmlns:a16="http://schemas.microsoft.com/office/drawing/2014/main" id="{C28CB252-6044-4564-B6A7-264FC3396E0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49374" y="55844"/>
            <a:ext cx="1279161" cy="12871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8941" y="1298762"/>
            <a:ext cx="4069080" cy="1162050"/>
          </a:xfrm>
          <a:noFill/>
        </p:spPr>
        <p:txBody>
          <a:bodyPr anchor="b">
            <a:noAutofit/>
          </a:bodyPr>
          <a:lstStyle>
            <a:lvl1pPr algn="ctr">
              <a:defRPr sz="3200" b="1">
                <a:solidFill>
                  <a:schemeClr val="accent2"/>
                </a:solidFill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3567" y="914400"/>
            <a:ext cx="4069080" cy="5211763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68941" y="2456329"/>
            <a:ext cx="4069080" cy="3182472"/>
          </a:xfrm>
        </p:spPr>
        <p:txBody>
          <a:bodyPr>
            <a:normAutofit/>
          </a:bodyPr>
          <a:lstStyle>
            <a:lvl1pPr marL="0" indent="0" algn="ctr">
              <a:spcBef>
                <a:spcPts val="600"/>
              </a:spcBef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10/12/2020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grpSp>
        <p:nvGrpSpPr>
          <p:cNvPr id="8" name="Group 7"/>
          <p:cNvGrpSpPr/>
          <p:nvPr/>
        </p:nvGrpSpPr>
        <p:grpSpPr>
          <a:xfrm>
            <a:off x="284163" y="452718"/>
            <a:ext cx="8576373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84163" y="4801575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3071" y="4800600"/>
            <a:ext cx="8360242" cy="566738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800" b="0" i="0" kern="1200" cap="none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84163" y="457199"/>
            <a:ext cx="8577072" cy="435254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9099" y="5367338"/>
            <a:ext cx="8304213" cy="804862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10/12/2020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, Alt.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8"/>
          <p:cNvGrpSpPr/>
          <p:nvPr/>
        </p:nvGrpSpPr>
        <p:grpSpPr>
          <a:xfrm>
            <a:off x="284163" y="4280647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3071" y="4778189"/>
            <a:ext cx="8360242" cy="566738"/>
          </a:xfrm>
          <a:noFill/>
        </p:spPr>
        <p:txBody>
          <a:bodyPr anchor="b">
            <a:normAutofit/>
          </a:bodyPr>
          <a:lstStyle>
            <a:lvl1pPr algn="l">
              <a:defRPr sz="2800" b="0">
                <a:solidFill>
                  <a:schemeClr val="accent2"/>
                </a:solidFill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84163" y="457200"/>
            <a:ext cx="8577072" cy="3822192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9099" y="5344927"/>
            <a:ext cx="8304213" cy="804862"/>
          </a:xfrm>
          <a:noFill/>
        </p:spPr>
        <p:txBody>
          <a:bodyPr/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10/12/2020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, Picture,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57600" y="914400"/>
            <a:ext cx="5195047" cy="5211763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10/12/2020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284163" y="4267200"/>
            <a:ext cx="2743200" cy="2120153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9101" y="4953001"/>
            <a:ext cx="2472017" cy="1246094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0764" y="4419600"/>
            <a:ext cx="2475395" cy="510988"/>
          </a:xfrm>
          <a:noFill/>
        </p:spPr>
        <p:txBody>
          <a:bodyPr anchor="b">
            <a:normAutofit/>
          </a:bodyPr>
          <a:lstStyle>
            <a:lvl1pPr algn="l">
              <a:defRPr sz="2000" b="1">
                <a:solidFill>
                  <a:schemeClr val="bg1"/>
                </a:solidFill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14" name="Picture Placeholder 13"/>
          <p:cNvSpPr>
            <a:spLocks noGrp="1"/>
          </p:cNvSpPr>
          <p:nvPr>
            <p:ph type="pic" sz="quarter" idx="13"/>
          </p:nvPr>
        </p:nvSpPr>
        <p:spPr>
          <a:xfrm>
            <a:off x="284164" y="594360"/>
            <a:ext cx="2743200" cy="3675888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grpSp>
        <p:nvGrpSpPr>
          <p:cNvPr id="8" name="Group 14"/>
          <p:cNvGrpSpPr/>
          <p:nvPr/>
        </p:nvGrpSpPr>
        <p:grpSpPr>
          <a:xfrm>
            <a:off x="284163" y="461682"/>
            <a:ext cx="8576373" cy="137411"/>
            <a:chOff x="284163" y="1759424"/>
            <a:chExt cx="8576373" cy="137411"/>
          </a:xfrm>
        </p:grpSpPr>
        <p:sp>
          <p:nvSpPr>
            <p:cNvPr id="16" name="Rectangle 15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7" name="Rectangle 16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8" name="Rectangle 17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3 Pictures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3021013" y="4801575"/>
            <a:ext cx="583723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1661" y="4800600"/>
            <a:ext cx="5691651" cy="566738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800" b="0" i="0" kern="1200" cap="none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021014" y="457199"/>
            <a:ext cx="5833872" cy="4352544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69805" y="5367338"/>
            <a:ext cx="5653507" cy="804862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10/12/2020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13" name="Picture Placeholder 2"/>
          <p:cNvSpPr>
            <a:spLocks noGrp="1"/>
          </p:cNvSpPr>
          <p:nvPr>
            <p:ph type="pic" idx="13"/>
          </p:nvPr>
        </p:nvSpPr>
        <p:spPr>
          <a:xfrm>
            <a:off x="284164" y="457200"/>
            <a:ext cx="2736850" cy="2907792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14" name="Picture Placeholder 2"/>
          <p:cNvSpPr>
            <a:spLocks noGrp="1"/>
          </p:cNvSpPr>
          <p:nvPr>
            <p:ph type="pic" idx="14"/>
          </p:nvPr>
        </p:nvSpPr>
        <p:spPr>
          <a:xfrm>
            <a:off x="284164" y="3364992"/>
            <a:ext cx="2736850" cy="2898648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8" name="Group 7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84163" y="2133600"/>
            <a:ext cx="8574087" cy="4013200"/>
          </a:xfrm>
        </p:spPr>
        <p:txBody>
          <a:bodyPr vert="eaVert"/>
          <a:lstStyle>
            <a:lvl5pPr>
              <a:defRPr/>
            </a:lvl5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10/12/2020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 rot="5400000">
            <a:off x="5313882" y="2857535"/>
            <a:ext cx="5934615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695124" y="473075"/>
            <a:ext cx="969264" cy="5921375"/>
          </a:xfrm>
        </p:spPr>
        <p:txBody>
          <a:bodyPr vert="eaVert"/>
          <a:lstStyle>
            <a:lvl1pPr algn="l">
              <a:defRPr sz="3400"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84163" y="457200"/>
            <a:ext cx="6497637" cy="5937250"/>
          </a:xfrm>
        </p:spPr>
        <p:txBody>
          <a:bodyPr vert="eaVert"/>
          <a:lstStyle>
            <a:lvl5pPr algn="l">
              <a:defRPr/>
            </a:lvl5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10/12/2020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grpSp>
        <p:nvGrpSpPr>
          <p:cNvPr id="8" name="Group 7"/>
          <p:cNvGrpSpPr/>
          <p:nvPr/>
        </p:nvGrpSpPr>
        <p:grpSpPr>
          <a:xfrm rot="5400000">
            <a:off x="4658724" y="3355723"/>
            <a:ext cx="5934456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81503" y="2133600"/>
            <a:ext cx="7076747" cy="39925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794936" y="643703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 b="1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4251665B-C24A-4702-B522-6A4334602E03}" type="datetimeFigureOut">
              <a:rPr lang="en-US" smtClean="0"/>
              <a:t>10/12/2020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9698" y="6437032"/>
            <a:ext cx="612490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 b="1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306459" y="167347"/>
            <a:ext cx="630621" cy="359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00" b="1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84163" y="630382"/>
            <a:ext cx="8574087" cy="967840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i-FI"/>
              <a:t>Click to edit Master title style</a:t>
            </a: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r" defTabSz="914400" rtl="0" eaLnBrk="1" latinLnBrk="0" hangingPunct="1">
        <a:spcBef>
          <a:spcPct val="0"/>
        </a:spcBef>
        <a:buNone/>
        <a:defRPr sz="4200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454025" indent="-454025" algn="l" defTabSz="914400" rtl="0" eaLnBrk="1" latinLnBrk="0" hangingPunct="1">
        <a:spcBef>
          <a:spcPts val="20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sz="2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914400" indent="-457200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sz="22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1260475" indent="-346075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sz="20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1600200" indent="-339725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939925" indent="-331788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2290763" indent="-344488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lang="en-US" sz="1800" kern="1200" dirty="0" smtClean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6pPr>
      <a:lvl7pPr marL="2625725" indent="-344488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lang="en-US" sz="1800" kern="1200" dirty="0" smtClean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7pPr>
      <a:lvl8pPr marL="2970213" indent="-344488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lang="en-US" sz="1800" kern="1200" dirty="0" smtClean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8pPr>
      <a:lvl9pPr marL="3313113" indent="-344488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lang="en-US" sz="1800" kern="1200" dirty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LAB 1</a:t>
            </a:r>
            <a:endParaRPr lang="en-US" sz="18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6205" y="1532427"/>
            <a:ext cx="2789509" cy="484632"/>
          </a:xfrm>
        </p:spPr>
        <p:txBody>
          <a:bodyPr/>
          <a:lstStyle/>
          <a:p>
            <a:r>
              <a:rPr lang="en-US" dirty="0"/>
              <a:t>Course Code: CSC 2209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971" y="2446757"/>
            <a:ext cx="902461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Dept. of Computer Science</a:t>
            </a:r>
          </a:p>
          <a:p>
            <a:pPr algn="ctr"/>
            <a:r>
              <a:rPr lang="en-US" sz="20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Faculty of Science and Technology</a:t>
            </a:r>
            <a:endParaRPr lang="en-US" sz="2400" b="1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29FF08AD-7519-4C4A-8E0D-640DF5BB5E5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24946306"/>
              </p:ext>
            </p:extLst>
          </p:nvPr>
        </p:nvGraphicFramePr>
        <p:xfrm>
          <a:off x="476205" y="4910470"/>
          <a:ext cx="8335798" cy="1018816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483224">
                  <a:extLst>
                    <a:ext uri="{9D8B030D-6E8A-4147-A177-3AD203B41FA5}">
                      <a16:colId xmlns:a16="http://schemas.microsoft.com/office/drawing/2014/main" val="3905988420"/>
                    </a:ext>
                  </a:extLst>
                </a:gridCol>
                <a:gridCol w="1397725">
                  <a:extLst>
                    <a:ext uri="{9D8B030D-6E8A-4147-A177-3AD203B41FA5}">
                      <a16:colId xmlns:a16="http://schemas.microsoft.com/office/drawing/2014/main" val="2889894460"/>
                    </a:ext>
                  </a:extLst>
                </a:gridCol>
                <a:gridCol w="1227909">
                  <a:extLst>
                    <a:ext uri="{9D8B030D-6E8A-4147-A177-3AD203B41FA5}">
                      <a16:colId xmlns:a16="http://schemas.microsoft.com/office/drawing/2014/main" val="3023211198"/>
                    </a:ext>
                  </a:extLst>
                </a:gridCol>
                <a:gridCol w="1114279">
                  <a:extLst>
                    <a:ext uri="{9D8B030D-6E8A-4147-A177-3AD203B41FA5}">
                      <a16:colId xmlns:a16="http://schemas.microsoft.com/office/drawing/2014/main" val="1762131981"/>
                    </a:ext>
                  </a:extLst>
                </a:gridCol>
                <a:gridCol w="1340285">
                  <a:extLst>
                    <a:ext uri="{9D8B030D-6E8A-4147-A177-3AD203B41FA5}">
                      <a16:colId xmlns:a16="http://schemas.microsoft.com/office/drawing/2014/main" val="445458238"/>
                    </a:ext>
                  </a:extLst>
                </a:gridCol>
                <a:gridCol w="1772376">
                  <a:extLst>
                    <a:ext uri="{9D8B030D-6E8A-4147-A177-3AD203B41FA5}">
                      <a16:colId xmlns:a16="http://schemas.microsoft.com/office/drawing/2014/main" val="1508364941"/>
                    </a:ext>
                  </a:extLst>
                </a:gridCol>
              </a:tblGrid>
              <a:tr h="378736">
                <a:tc>
                  <a:txBody>
                    <a:bodyPr/>
                    <a:lstStyle/>
                    <a:p>
                      <a:r>
                        <a:rPr lang="en-US" dirty="0"/>
                        <a:t>Lecturer No: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Week No: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Semester: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Fall 20-21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97040212"/>
                  </a:ext>
                </a:extLst>
              </a:tr>
              <a:tr h="37873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Lecturer:</a:t>
                      </a:r>
                    </a:p>
                  </a:txBody>
                  <a:tcPr/>
                </a:tc>
                <a:tc gridSpan="5">
                  <a:txBody>
                    <a:bodyPr/>
                    <a:lstStyle/>
                    <a:p>
                      <a:r>
                        <a:rPr lang="en-US" i="1" dirty="0" err="1"/>
                        <a:t>Syeda</a:t>
                      </a:r>
                      <a:r>
                        <a:rPr lang="en-US" i="1" baseline="0" dirty="0"/>
                        <a:t> </a:t>
                      </a:r>
                      <a:r>
                        <a:rPr lang="en-US" i="1" baseline="0" dirty="0" err="1"/>
                        <a:t>Anika</a:t>
                      </a:r>
                      <a:r>
                        <a:rPr lang="en-US" i="1" baseline="0" dirty="0"/>
                        <a:t> </a:t>
                      </a:r>
                      <a:r>
                        <a:rPr lang="en-US" i="1" baseline="0" dirty="0" err="1"/>
                        <a:t>Tasnim</a:t>
                      </a:r>
                      <a:endParaRPr lang="en-US" i="1" baseline="0" dirty="0"/>
                    </a:p>
                    <a:p>
                      <a:r>
                        <a:rPr lang="en-US" i="1" baseline="0" dirty="0"/>
                        <a:t>anika.tasnim@aiub.edu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x-non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x-non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x-non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x-non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91734565"/>
                  </a:ext>
                </a:extLst>
              </a:tr>
            </a:tbl>
          </a:graphicData>
        </a:graphic>
      </p:graphicFrame>
      <p:sp>
        <p:nvSpPr>
          <p:cNvPr id="8" name="Subtitle 2">
            <a:extLst>
              <a:ext uri="{FF2B5EF4-FFF2-40B4-BE49-F238E27FC236}">
                <a16:creationId xmlns:a16="http://schemas.microsoft.com/office/drawing/2014/main" id="{FF0F860A-68ED-3A45-9B2E-50E8CE1BC6B7}"/>
              </a:ext>
            </a:extLst>
          </p:cNvPr>
          <p:cNvSpPr txBox="1">
            <a:spLocks/>
          </p:cNvSpPr>
          <p:nvPr/>
        </p:nvSpPr>
        <p:spPr>
          <a:xfrm>
            <a:off x="3320578" y="1538380"/>
            <a:ext cx="4164439" cy="48463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sz="2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Course Title: Operating System</a:t>
            </a:r>
          </a:p>
        </p:txBody>
      </p:sp>
    </p:spTree>
    <p:extLst>
      <p:ext uri="{BB962C8B-B14F-4D97-AF65-F5344CB8AC3E}">
        <p14:creationId xmlns:p14="http://schemas.microsoft.com/office/powerpoint/2010/main" val="7007073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Lecture Outline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86697" y="2363928"/>
            <a:ext cx="7754112" cy="3886560"/>
          </a:xfrm>
        </p:spPr>
        <p:txBody>
          <a:bodyPr>
            <a:normAutofit/>
          </a:bodyPr>
          <a:lstStyle/>
          <a:p>
            <a:pPr marL="457200" indent="-457200">
              <a:buAutoNum type="arabicPeriod"/>
            </a:pPr>
            <a:r>
              <a:rPr lang="en-US" sz="2400" dirty="0">
                <a:solidFill>
                  <a:schemeClr val="tx1"/>
                </a:solidFill>
              </a:rPr>
              <a:t>What is Shell and it’s types</a:t>
            </a:r>
          </a:p>
          <a:p>
            <a:pPr marL="457200" indent="-457200">
              <a:buFont typeface="Wingdings" pitchFamily="2" charset="2"/>
              <a:buAutoNum type="arabicPeriod"/>
            </a:pPr>
            <a:r>
              <a:rPr lang="en-US" sz="2400" dirty="0">
                <a:solidFill>
                  <a:schemeClr val="tx1"/>
                </a:solidFill>
              </a:rPr>
              <a:t>kernel Version</a:t>
            </a:r>
          </a:p>
          <a:p>
            <a:pPr marL="457200" indent="-457200">
              <a:buFont typeface="Wingdings" pitchFamily="2" charset="2"/>
              <a:buAutoNum type="arabicPeriod"/>
            </a:pPr>
            <a:r>
              <a:rPr lang="en-US" sz="2400" dirty="0">
                <a:solidFill>
                  <a:schemeClr val="tx1"/>
                </a:solidFill>
              </a:rPr>
              <a:t>Current Directory</a:t>
            </a:r>
          </a:p>
          <a:p>
            <a:pPr marL="457200" indent="-457200">
              <a:buFont typeface="Wingdings" pitchFamily="2" charset="2"/>
              <a:buAutoNum type="arabicPeriod"/>
            </a:pPr>
            <a:r>
              <a:rPr lang="en-US" sz="2400" dirty="0" err="1">
                <a:solidFill>
                  <a:schemeClr val="tx1"/>
                </a:solidFill>
              </a:rPr>
              <a:t>ls</a:t>
            </a:r>
            <a:r>
              <a:rPr lang="en-US" sz="2400" dirty="0">
                <a:solidFill>
                  <a:schemeClr val="tx1"/>
                </a:solidFill>
              </a:rPr>
              <a:t> Command</a:t>
            </a:r>
          </a:p>
          <a:p>
            <a:pPr marL="457200" indent="-457200">
              <a:buFont typeface="Wingdings" pitchFamily="2" charset="2"/>
              <a:buAutoNum type="arabicPeriod"/>
            </a:pPr>
            <a:r>
              <a:rPr lang="en-US" sz="2400" dirty="0">
                <a:solidFill>
                  <a:schemeClr val="tx1"/>
                </a:solidFill>
              </a:rPr>
              <a:t>Directory Creation</a:t>
            </a:r>
          </a:p>
          <a:p>
            <a:pPr marL="457200" indent="-457200">
              <a:buFont typeface="Wingdings" pitchFamily="2" charset="2"/>
              <a:buAutoNum type="arabicPeriod"/>
            </a:pPr>
            <a:r>
              <a:rPr lang="en-US" sz="2400" dirty="0">
                <a:solidFill>
                  <a:schemeClr val="tx1"/>
                </a:solidFill>
              </a:rPr>
              <a:t>Directory Change</a:t>
            </a:r>
          </a:p>
          <a:p>
            <a:pPr marL="457200" indent="-457200">
              <a:buFont typeface="Wingdings" pitchFamily="2" charset="2"/>
              <a:buAutoNum type="arabicPeriod"/>
            </a:pPr>
            <a:r>
              <a:rPr lang="en-US" sz="2400" dirty="0">
                <a:solidFill>
                  <a:schemeClr val="tx1"/>
                </a:solidFill>
              </a:rPr>
              <a:t>Empty File Creation</a:t>
            </a:r>
            <a:br>
              <a:rPr lang="en-US" sz="2400" dirty="0"/>
            </a:br>
            <a:r>
              <a:rPr lang="en-US" sz="2400" dirty="0"/>
              <a:t>Kernel Version</a:t>
            </a:r>
            <a:br>
              <a:rPr lang="en-US" sz="2400" dirty="0"/>
            </a:br>
            <a:endParaRPr lang="en-US" sz="2400" dirty="0">
              <a:solidFill>
                <a:schemeClr val="tx1"/>
              </a:solidFill>
            </a:endParaRPr>
          </a:p>
          <a:p>
            <a:pPr marL="457200" indent="-457200">
              <a:buAutoNum type="arabicPeriod"/>
            </a:pPr>
            <a:endParaRPr lang="en-US" sz="2400" dirty="0">
              <a:solidFill>
                <a:schemeClr val="tx1"/>
              </a:solidFill>
            </a:endParaRPr>
          </a:p>
          <a:p>
            <a:pPr marL="342900" indent="-342900">
              <a:buAutoNum type="arabicPeriod"/>
            </a:pPr>
            <a:endParaRPr lang="en-US" sz="20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48740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C2C035-8BD4-46A2-8C05-6B24DB972A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l"/>
            <a:br>
              <a:rPr lang="en-US" dirty="0"/>
            </a:br>
            <a:r>
              <a:rPr lang="en-US" dirty="0"/>
              <a:t>What Is a Shell?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A8601B-8160-4897-9A1B-5D24C4CB08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4163" y="1945709"/>
            <a:ext cx="8574087" cy="3992563"/>
          </a:xfrm>
        </p:spPr>
        <p:txBody>
          <a:bodyPr>
            <a:normAutofit/>
          </a:bodyPr>
          <a:lstStyle/>
          <a:p>
            <a:pPr>
              <a:buFont typeface="Wingdings" pitchFamily="2" charset="2"/>
              <a:buChar char="q"/>
            </a:pPr>
            <a:r>
              <a:rPr lang="en-US" dirty="0"/>
              <a:t>A shell is a program that provides an interface between a user and an operating system (OS) kernel. An OS starts a shell for each user when the user logs in or opens a terminal or console window.</a:t>
            </a:r>
          </a:p>
          <a:p>
            <a:pPr>
              <a:buFont typeface="Wingdings" pitchFamily="2" charset="2"/>
              <a:buChar char="q"/>
            </a:pPr>
            <a:endParaRPr lang="en-US" dirty="0"/>
          </a:p>
          <a:p>
            <a:pPr>
              <a:buFont typeface="Wingdings" pitchFamily="2" charset="2"/>
              <a:buChar char="q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43677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E05806-4CCF-4F75-833E-C43FC8A443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/>
              <a:t>Types of shells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3C995D-424C-45BA-8F36-FC030C0FF3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4163" y="1954060"/>
            <a:ext cx="8574087" cy="4172103"/>
          </a:xfrm>
        </p:spPr>
        <p:txBody>
          <a:bodyPr>
            <a:normAutofit fontScale="70000" lnSpcReduction="20000"/>
          </a:bodyPr>
          <a:lstStyle/>
          <a:p>
            <a:pPr>
              <a:buFont typeface="Wingdings" pitchFamily="2" charset="2"/>
              <a:buChar char="q"/>
            </a:pPr>
            <a:r>
              <a:rPr lang="en-US" dirty="0"/>
              <a:t>In UNIX/Linux there are two major types of shells:</a:t>
            </a:r>
          </a:p>
          <a:p>
            <a:pPr>
              <a:buFont typeface="Wingdings" pitchFamily="2" charset="2"/>
              <a:buChar char="q"/>
            </a:pPr>
            <a:r>
              <a:rPr lang="en-US" dirty="0"/>
              <a:t>The Bourne shell. If you are using a Bourne-type shell, the default prompt is the $ character.</a:t>
            </a:r>
          </a:p>
          <a:p>
            <a:pPr>
              <a:buFont typeface="Wingdings" pitchFamily="2" charset="2"/>
              <a:buChar char="q"/>
            </a:pPr>
            <a:r>
              <a:rPr lang="en-US" dirty="0"/>
              <a:t>The C shell. If you are using a C-type shell, the default prompt is the % character.</a:t>
            </a:r>
          </a:p>
          <a:p>
            <a:pPr>
              <a:buFont typeface="Wingdings" pitchFamily="2" charset="2"/>
              <a:buChar char="q"/>
            </a:pPr>
            <a:r>
              <a:rPr lang="en-US" dirty="0"/>
              <a:t>There are again various subcategories for Bourne Shell which are listed as follows:</a:t>
            </a:r>
          </a:p>
          <a:p>
            <a:pPr lvl="1">
              <a:buFont typeface="Wingdings" pitchFamily="2" charset="2"/>
              <a:buChar char="q"/>
            </a:pPr>
            <a:r>
              <a:rPr lang="en-US" dirty="0"/>
              <a:t>Bourne shell ( </a:t>
            </a:r>
            <a:r>
              <a:rPr lang="en-US" dirty="0" err="1"/>
              <a:t>sh</a:t>
            </a:r>
            <a:r>
              <a:rPr lang="en-US" dirty="0"/>
              <a:t>)</a:t>
            </a:r>
          </a:p>
          <a:p>
            <a:pPr lvl="1">
              <a:buFont typeface="Wingdings" pitchFamily="2" charset="2"/>
              <a:buChar char="q"/>
            </a:pPr>
            <a:r>
              <a:rPr lang="en-US" dirty="0"/>
              <a:t>Korn shell ( </a:t>
            </a:r>
            <a:r>
              <a:rPr lang="en-US" dirty="0" err="1"/>
              <a:t>ksh</a:t>
            </a:r>
            <a:r>
              <a:rPr lang="en-US" dirty="0"/>
              <a:t>)</a:t>
            </a:r>
          </a:p>
          <a:p>
            <a:pPr lvl="1">
              <a:buFont typeface="Wingdings" pitchFamily="2" charset="2"/>
              <a:buChar char="q"/>
            </a:pPr>
            <a:r>
              <a:rPr lang="en-US" dirty="0"/>
              <a:t>Bourne Again shell ( bash)</a:t>
            </a:r>
          </a:p>
          <a:p>
            <a:pPr lvl="1">
              <a:buFont typeface="Wingdings" pitchFamily="2" charset="2"/>
              <a:buChar char="q"/>
            </a:pPr>
            <a:r>
              <a:rPr lang="en-US" dirty="0"/>
              <a:t>POSIX shell ( </a:t>
            </a:r>
            <a:r>
              <a:rPr lang="en-US" dirty="0" err="1"/>
              <a:t>sh</a:t>
            </a:r>
            <a:r>
              <a:rPr lang="en-US" dirty="0"/>
              <a:t>)</a:t>
            </a:r>
          </a:p>
          <a:p>
            <a:pPr>
              <a:buFont typeface="Wingdings" pitchFamily="2" charset="2"/>
              <a:buChar char="q"/>
            </a:pPr>
            <a:r>
              <a:rPr lang="en-US" dirty="0"/>
              <a:t>The different C-type shells follow:</a:t>
            </a:r>
          </a:p>
          <a:p>
            <a:pPr lvl="1">
              <a:buFont typeface="Wingdings" pitchFamily="2" charset="2"/>
              <a:buChar char="q"/>
            </a:pPr>
            <a:r>
              <a:rPr lang="en-US" dirty="0"/>
              <a:t>C shell ( </a:t>
            </a:r>
            <a:r>
              <a:rPr lang="en-US" dirty="0" err="1"/>
              <a:t>csh</a:t>
            </a:r>
            <a:r>
              <a:rPr lang="en-US" dirty="0"/>
              <a:t>)</a:t>
            </a:r>
          </a:p>
          <a:p>
            <a:pPr lvl="1">
              <a:buFont typeface="Wingdings" pitchFamily="2" charset="2"/>
              <a:buChar char="q"/>
            </a:pPr>
            <a:r>
              <a:rPr lang="en-US" dirty="0"/>
              <a:t>TENEX/TOPS C shell ( </a:t>
            </a:r>
            <a:r>
              <a:rPr lang="en-US" dirty="0" err="1"/>
              <a:t>tcsh</a:t>
            </a:r>
            <a:r>
              <a:rPr lang="en-US" dirty="0"/>
              <a:t>)</a:t>
            </a:r>
          </a:p>
          <a:p>
            <a:pPr>
              <a:buFont typeface="Wingdings" pitchFamily="2" charset="2"/>
              <a:buChar char="q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258938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40EAA1-6FA9-4D4B-8D26-BD9CDF9171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l"/>
            <a:br>
              <a:rPr lang="en-US" dirty="0"/>
            </a:br>
            <a:r>
              <a:rPr lang="en-US" dirty="0"/>
              <a:t>Kernel Version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C22AB9-9182-40F9-A563-A6960730DF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4163" y="1954060"/>
            <a:ext cx="8574087" cy="4172103"/>
          </a:xfrm>
        </p:spPr>
        <p:txBody>
          <a:bodyPr>
            <a:normAutofit fontScale="92500"/>
          </a:bodyPr>
          <a:lstStyle/>
          <a:p>
            <a:pPr>
              <a:buFont typeface="Wingdings" pitchFamily="2" charset="2"/>
              <a:buChar char="q"/>
            </a:pPr>
            <a:r>
              <a:rPr lang="en-US" dirty="0"/>
              <a:t>Open the </a:t>
            </a:r>
            <a:r>
              <a:rPr lang="en-US" b="1" dirty="0"/>
              <a:t>Terminal</a:t>
            </a:r>
            <a:r>
              <a:rPr lang="en-US" dirty="0"/>
              <a:t>.</a:t>
            </a:r>
          </a:p>
          <a:p>
            <a:pPr>
              <a:buFont typeface="Wingdings" pitchFamily="2" charset="2"/>
              <a:buChar char="q"/>
            </a:pPr>
            <a:r>
              <a:rPr lang="en-US" dirty="0"/>
              <a:t>Enter </a:t>
            </a:r>
            <a:r>
              <a:rPr lang="en-US" b="1" dirty="0" err="1"/>
              <a:t>uname</a:t>
            </a:r>
            <a:r>
              <a:rPr lang="en-US" b="1" dirty="0"/>
              <a:t> -r</a:t>
            </a:r>
            <a:r>
              <a:rPr lang="en-US" dirty="0"/>
              <a:t> this will show you what </a:t>
            </a:r>
            <a:r>
              <a:rPr lang="en-US" b="1" dirty="0"/>
              <a:t>kernel version you have</a:t>
            </a:r>
            <a:r>
              <a:rPr lang="en-US" dirty="0"/>
              <a:t>.</a:t>
            </a:r>
          </a:p>
          <a:p>
            <a:pPr>
              <a:buFont typeface="Wingdings" pitchFamily="2" charset="2"/>
              <a:buChar char="q"/>
            </a:pPr>
            <a:r>
              <a:rPr lang="en-US" b="1" dirty="0"/>
              <a:t>Architecture (32bit or 64bit)</a:t>
            </a:r>
          </a:p>
          <a:p>
            <a:pPr>
              <a:buFont typeface="Wingdings" pitchFamily="2" charset="2"/>
              <a:buChar char="q"/>
            </a:pPr>
            <a:r>
              <a:rPr lang="en-US" dirty="0"/>
              <a:t>This is useful if you want to determine which architecture are you running, 86, 64 or 32 bit.</a:t>
            </a:r>
          </a:p>
          <a:p>
            <a:pPr>
              <a:buFont typeface="Wingdings" pitchFamily="2" charset="2"/>
              <a:buChar char="q"/>
            </a:pPr>
            <a:r>
              <a:rPr lang="en-US" dirty="0"/>
              <a:t>Open the </a:t>
            </a:r>
            <a:r>
              <a:rPr lang="en-US" b="1" dirty="0"/>
              <a:t>Terminal</a:t>
            </a:r>
            <a:r>
              <a:rPr lang="en-US" dirty="0"/>
              <a:t>.</a:t>
            </a:r>
          </a:p>
          <a:p>
            <a:pPr>
              <a:buFont typeface="Wingdings" pitchFamily="2" charset="2"/>
              <a:buChar char="q"/>
            </a:pPr>
            <a:r>
              <a:rPr lang="en-US" dirty="0"/>
              <a:t>Enter </a:t>
            </a:r>
            <a:r>
              <a:rPr lang="en-US" b="1" dirty="0" err="1"/>
              <a:t>uname</a:t>
            </a:r>
            <a:r>
              <a:rPr lang="en-US" b="1" dirty="0"/>
              <a:t> -m</a:t>
            </a:r>
            <a:r>
              <a:rPr lang="en-US" dirty="0"/>
              <a:t> this will show you what </a:t>
            </a:r>
            <a:r>
              <a:rPr lang="en-US" b="1" dirty="0"/>
              <a:t>architecture you are running</a:t>
            </a:r>
            <a:r>
              <a:rPr lang="en-US" dirty="0"/>
              <a:t>.</a:t>
            </a:r>
          </a:p>
          <a:p>
            <a:pPr>
              <a:buFont typeface="Wingdings" pitchFamily="2" charset="2"/>
              <a:buChar char="q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407756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BC15F4-3EF3-45D4-9B63-793155A5EC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l"/>
            <a:br>
              <a:rPr lang="en-US" dirty="0"/>
            </a:br>
            <a:br>
              <a:rPr lang="en-US" dirty="0"/>
            </a:br>
            <a:r>
              <a:rPr lang="en-US" dirty="0"/>
              <a:t>Current Directory </a:t>
            </a:r>
            <a:br>
              <a:rPr lang="en-US" dirty="0"/>
            </a:b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66DFBF-7944-4817-B8CE-78AC39EEC2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4163" y="1820449"/>
            <a:ext cx="8574087" cy="3992563"/>
          </a:xfrm>
        </p:spPr>
        <p:txBody>
          <a:bodyPr>
            <a:normAutofit/>
          </a:bodyPr>
          <a:lstStyle/>
          <a:p>
            <a:pPr>
              <a:buFont typeface="Wingdings" pitchFamily="2" charset="2"/>
              <a:buChar char="q"/>
            </a:pPr>
            <a:r>
              <a:rPr lang="en-US" dirty="0"/>
              <a:t>Your shell has a </a:t>
            </a:r>
            <a:r>
              <a:rPr lang="en-US" b="1" dirty="0"/>
              <a:t>current directory </a:t>
            </a:r>
            <a:r>
              <a:rPr lang="en-US" dirty="0"/>
              <a:t>— the directory in which you are currently working</a:t>
            </a:r>
            <a:br>
              <a:rPr lang="en-US" dirty="0"/>
            </a:br>
            <a:r>
              <a:rPr lang="en-US" dirty="0"/>
              <a:t>■ Commands like ls use the current directory if none is specified</a:t>
            </a:r>
            <a:br>
              <a:rPr lang="en-US" dirty="0"/>
            </a:br>
            <a:r>
              <a:rPr lang="en-US" dirty="0"/>
              <a:t>■ Use the </a:t>
            </a:r>
            <a:r>
              <a:rPr lang="en-US" dirty="0" err="1"/>
              <a:t>pwd</a:t>
            </a:r>
            <a:r>
              <a:rPr lang="en-US" dirty="0"/>
              <a:t> (print working directory) command to see what your current directory is:</a:t>
            </a:r>
            <a:br>
              <a:rPr lang="en-US" dirty="0"/>
            </a:br>
            <a:r>
              <a:rPr lang="en-US" dirty="0"/>
              <a:t>$ </a:t>
            </a:r>
            <a:r>
              <a:rPr lang="en-US" b="1" dirty="0" err="1"/>
              <a:t>pwd</a:t>
            </a:r>
            <a:br>
              <a:rPr lang="en-US" b="1" dirty="0"/>
            </a:br>
            <a:r>
              <a:rPr lang="en-US" dirty="0"/>
              <a:t>/home/</a:t>
            </a:r>
            <a:r>
              <a:rPr lang="en-US" dirty="0" err="1"/>
              <a:t>fred</a:t>
            </a: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540739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314DCE-F8AB-422A-BC54-EFBE110027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/>
              <a:t>ls command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66D6B7-151A-4A40-86AA-D91679B689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4163" y="1908131"/>
            <a:ext cx="8574087" cy="3992563"/>
          </a:xfrm>
        </p:spPr>
        <p:txBody>
          <a:bodyPr/>
          <a:lstStyle/>
          <a:p>
            <a:pPr>
              <a:buFont typeface="Wingdings" pitchFamily="2" charset="2"/>
              <a:buChar char="q"/>
            </a:pPr>
            <a:r>
              <a:rPr lang="en-US" b="1" dirty="0"/>
              <a:t>ls</a:t>
            </a:r>
            <a:r>
              <a:rPr lang="en-US" dirty="0"/>
              <a:t> is one of the  most used basic </a:t>
            </a:r>
            <a:r>
              <a:rPr lang="en-US" dirty="0" err="1"/>
              <a:t>linux</a:t>
            </a:r>
            <a:r>
              <a:rPr lang="en-US" dirty="0"/>
              <a:t> commands, used to </a:t>
            </a:r>
            <a:r>
              <a:rPr lang="en-US" b="1" dirty="0"/>
              <a:t>print</a:t>
            </a:r>
            <a:r>
              <a:rPr lang="en-US" dirty="0"/>
              <a:t> contents of a directory, by default it lists contents of current working directory(</a:t>
            </a:r>
            <a:r>
              <a:rPr lang="en-US" b="1" dirty="0" err="1"/>
              <a:t>pwd</a:t>
            </a:r>
            <a:r>
              <a:rPr lang="en-US" dirty="0"/>
              <a:t>).</a:t>
            </a:r>
          </a:p>
        </p:txBody>
      </p:sp>
    </p:spTree>
    <p:extLst>
      <p:ext uri="{BB962C8B-B14F-4D97-AF65-F5344CB8AC3E}">
        <p14:creationId xmlns:p14="http://schemas.microsoft.com/office/powerpoint/2010/main" val="33794692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428D36-3B44-47B9-9B19-2DD24481F8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dirty="0"/>
              <a:t>How to create a directory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1B7531-9A47-46BC-9987-B6C1482171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4163" y="1820449"/>
            <a:ext cx="8574087" cy="3992563"/>
          </a:xfrm>
        </p:spPr>
        <p:txBody>
          <a:bodyPr>
            <a:normAutofit/>
          </a:bodyPr>
          <a:lstStyle/>
          <a:p>
            <a:pPr>
              <a:buFont typeface="Wingdings" pitchFamily="2" charset="2"/>
              <a:buChar char="q"/>
            </a:pPr>
            <a:r>
              <a:rPr lang="en-US" dirty="0"/>
              <a:t>To create a directory in UNIX or Linux using the </a:t>
            </a:r>
            <a:r>
              <a:rPr lang="en-US" dirty="0" err="1"/>
              <a:t>mkdir</a:t>
            </a:r>
            <a:r>
              <a:rPr lang="en-US" dirty="0"/>
              <a:t> command pass the name of directory to the </a:t>
            </a:r>
            <a:r>
              <a:rPr lang="en-US" dirty="0" err="1"/>
              <a:t>mkdir</a:t>
            </a:r>
            <a:r>
              <a:rPr lang="en-US" dirty="0"/>
              <a:t> command.</a:t>
            </a:r>
          </a:p>
          <a:p>
            <a:pPr>
              <a:buFont typeface="Wingdings" pitchFamily="2" charset="2"/>
              <a:buChar char="q"/>
            </a:pPr>
            <a:r>
              <a:rPr lang="en-US" dirty="0"/>
              <a:t>The </a:t>
            </a:r>
            <a:r>
              <a:rPr lang="en-US" dirty="0" err="1"/>
              <a:t>mkdir</a:t>
            </a:r>
            <a:r>
              <a:rPr lang="en-US" dirty="0"/>
              <a:t> command makes new, empty, directories</a:t>
            </a:r>
            <a:br>
              <a:rPr lang="en-US" dirty="0"/>
            </a:br>
            <a:r>
              <a:rPr lang="en-US" dirty="0"/>
              <a:t>Syntax: $ </a:t>
            </a:r>
            <a:r>
              <a:rPr lang="en-US" b="1" dirty="0" err="1"/>
              <a:t>mkdir</a:t>
            </a:r>
            <a:r>
              <a:rPr lang="en-US" b="1" dirty="0"/>
              <a:t> </a:t>
            </a:r>
            <a:r>
              <a:rPr lang="en-US" dirty="0" err="1"/>
              <a:t>mydirectory</a:t>
            </a:r>
            <a:br>
              <a:rPr lang="en-US" dirty="0"/>
            </a:br>
            <a:r>
              <a:rPr lang="en-US" dirty="0"/>
              <a:t>Example: $ </a:t>
            </a:r>
            <a:r>
              <a:rPr lang="en-US" b="1" dirty="0" err="1"/>
              <a:t>mkdir</a:t>
            </a:r>
            <a:r>
              <a:rPr lang="en-US" b="1" dirty="0"/>
              <a:t> OS1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0175774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699603-4682-43CD-9A15-9AF6A3C42E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l"/>
            <a:br>
              <a:rPr lang="en-US" dirty="0"/>
            </a:br>
            <a:r>
              <a:rPr lang="en-US" dirty="0"/>
              <a:t>How to create multiple directories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2D02D3-A1C9-4867-BBC5-E7C3FC34C4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4163" y="1903956"/>
            <a:ext cx="8574087" cy="4222207"/>
          </a:xfrm>
        </p:spPr>
        <p:txBody>
          <a:bodyPr>
            <a:normAutofit/>
          </a:bodyPr>
          <a:lstStyle/>
          <a:p>
            <a:pPr>
              <a:buFont typeface="Wingdings" pitchFamily="2" charset="2"/>
              <a:buChar char="q"/>
            </a:pPr>
            <a:r>
              <a:rPr lang="en-US" dirty="0"/>
              <a:t>To create multiple directories in UNIX or Linux using the </a:t>
            </a:r>
            <a:r>
              <a:rPr lang="en-US" dirty="0" err="1"/>
              <a:t>mkdir</a:t>
            </a:r>
            <a:r>
              <a:rPr lang="en-US" dirty="0"/>
              <a:t> command pass the names of directories to be created to the </a:t>
            </a:r>
            <a:r>
              <a:rPr lang="en-US" dirty="0" err="1"/>
              <a:t>mkdir</a:t>
            </a:r>
            <a:r>
              <a:rPr lang="en-US" dirty="0"/>
              <a:t> command. The names of directories should be separated by spaces.</a:t>
            </a:r>
          </a:p>
          <a:p>
            <a:pPr>
              <a:buFont typeface="Wingdings" pitchFamily="2" charset="2"/>
              <a:buChar char="q"/>
            </a:pPr>
            <a:endParaRPr lang="en-US" dirty="0"/>
          </a:p>
          <a:p>
            <a:pPr>
              <a:buFont typeface="Wingdings" pitchFamily="2" charset="2"/>
              <a:buChar char="q"/>
            </a:pPr>
            <a:r>
              <a:rPr lang="en-US" dirty="0" err="1"/>
              <a:t>mkdir</a:t>
            </a:r>
            <a:r>
              <a:rPr lang="en-US" dirty="0"/>
              <a:t> foo bar </a:t>
            </a:r>
            <a:r>
              <a:rPr lang="en-US" dirty="0" err="1"/>
              <a:t>baz</a:t>
            </a:r>
            <a:endParaRPr lang="en-US" dirty="0"/>
          </a:p>
          <a:p>
            <a:pPr>
              <a:buFont typeface="Wingdings" pitchFamily="2" charset="2"/>
              <a:buChar char="q"/>
            </a:pPr>
            <a:r>
              <a:rPr lang="en-US" dirty="0"/>
              <a:t>ls</a:t>
            </a:r>
          </a:p>
          <a:p>
            <a:pPr>
              <a:buFont typeface="Wingdings" pitchFamily="2" charset="2"/>
              <a:buChar char="q"/>
            </a:pPr>
            <a:r>
              <a:rPr lang="en-US" dirty="0"/>
              <a:t>foo bar </a:t>
            </a:r>
            <a:r>
              <a:rPr lang="en-US" dirty="0" err="1"/>
              <a:t>baz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2711839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BC15F4-3EF3-45D4-9B63-793155A5EC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dirty="0"/>
              <a:t>Change directory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66DFBF-7944-4817-B8CE-78AC39EEC2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4163" y="1845501"/>
            <a:ext cx="8671947" cy="3992563"/>
          </a:xfrm>
        </p:spPr>
        <p:txBody>
          <a:bodyPr>
            <a:normAutofit fontScale="92500"/>
          </a:bodyPr>
          <a:lstStyle/>
          <a:p>
            <a:pPr>
              <a:buFont typeface="Wingdings" pitchFamily="2" charset="2"/>
              <a:buChar char="q"/>
            </a:pPr>
            <a:r>
              <a:rPr lang="en-US" dirty="0"/>
              <a:t> Change the current directory with cd:</a:t>
            </a:r>
          </a:p>
          <a:p>
            <a:pPr marL="803275" lvl="1" indent="-342900">
              <a:buFont typeface="Wingdings" pitchFamily="2" charset="2"/>
              <a:buChar char="q"/>
            </a:pPr>
            <a:r>
              <a:rPr lang="en-US" sz="2400" dirty="0"/>
              <a:t>Syntax: $ </a:t>
            </a:r>
            <a:r>
              <a:rPr lang="en-US" sz="2400" b="1" dirty="0"/>
              <a:t>cd /folder/subfolder</a:t>
            </a:r>
          </a:p>
          <a:p>
            <a:pPr marL="803275" lvl="1" indent="-342900">
              <a:buFont typeface="Wingdings" pitchFamily="2" charset="2"/>
              <a:buChar char="q"/>
            </a:pPr>
            <a:r>
              <a:rPr lang="en-US" sz="2400" dirty="0"/>
              <a:t>Example: $ </a:t>
            </a:r>
            <a:r>
              <a:rPr lang="en-US" sz="2400" b="1" dirty="0"/>
              <a:t>cd /desktop/</a:t>
            </a:r>
            <a:r>
              <a:rPr lang="en-US" sz="2400" b="1" dirty="0" err="1"/>
              <a:t>os</a:t>
            </a:r>
            <a:endParaRPr lang="en-US" b="1" dirty="0"/>
          </a:p>
          <a:p>
            <a:pPr>
              <a:buFont typeface="Wingdings" pitchFamily="2" charset="2"/>
              <a:buChar char="q"/>
            </a:pPr>
            <a:r>
              <a:rPr lang="en-US" dirty="0"/>
              <a:t>You can check changed directory using </a:t>
            </a:r>
            <a:r>
              <a:rPr lang="en-US" b="1" dirty="0" err="1"/>
              <a:t>pwd</a:t>
            </a:r>
            <a:r>
              <a:rPr lang="en-US" b="1" dirty="0"/>
              <a:t> </a:t>
            </a:r>
          </a:p>
          <a:p>
            <a:pPr>
              <a:buFont typeface="Wingdings" pitchFamily="2" charset="2"/>
              <a:buChar char="q"/>
            </a:pPr>
            <a:r>
              <a:rPr lang="en-US" dirty="0"/>
              <a:t>$ </a:t>
            </a:r>
            <a:r>
              <a:rPr lang="en-US" b="1" dirty="0" err="1"/>
              <a:t>pwd</a:t>
            </a:r>
            <a:r>
              <a:rPr lang="en-US" b="1" dirty="0"/>
              <a:t> </a:t>
            </a:r>
          </a:p>
          <a:p>
            <a:pPr marL="803275" lvl="1" indent="-342900">
              <a:buFont typeface="Wingdings" pitchFamily="2" charset="2"/>
              <a:buChar char="q"/>
            </a:pPr>
            <a:r>
              <a:rPr lang="en-US" b="1" dirty="0"/>
              <a:t>/desktop/</a:t>
            </a:r>
            <a:r>
              <a:rPr lang="en-US" b="1" dirty="0" err="1"/>
              <a:t>os</a:t>
            </a:r>
            <a:endParaRPr lang="en-US" dirty="0"/>
          </a:p>
          <a:p>
            <a:pPr>
              <a:buFont typeface="Wingdings" pitchFamily="2" charset="2"/>
              <a:buChar char="q"/>
            </a:pPr>
            <a:r>
              <a:rPr lang="en-US" dirty="0"/>
              <a:t>Use cd without specifying a path to get back to your home directory</a:t>
            </a: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1310764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699B99-0B02-4A69-8374-A09607EE20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l"/>
            <a:br>
              <a:rPr lang="en-US" dirty="0"/>
            </a:br>
            <a:r>
              <a:rPr lang="en-US" dirty="0"/>
              <a:t>Current , Parent, and Hidden Directories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9C7FA1-66DA-45E5-BF04-030C297909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4163" y="1908131"/>
            <a:ext cx="8574087" cy="4855924"/>
          </a:xfrm>
        </p:spPr>
        <p:txBody>
          <a:bodyPr>
            <a:normAutofit/>
          </a:bodyPr>
          <a:lstStyle/>
          <a:p>
            <a:pPr>
              <a:spcBef>
                <a:spcPts val="600"/>
              </a:spcBef>
              <a:buFont typeface="Wingdings" pitchFamily="2" charset="2"/>
              <a:buChar char="q"/>
            </a:pPr>
            <a:r>
              <a:rPr lang="en-US" dirty="0"/>
              <a:t>The special </a:t>
            </a:r>
            <a:r>
              <a:rPr lang="en-US" b="1" dirty="0"/>
              <a:t>. </a:t>
            </a:r>
            <a:r>
              <a:rPr lang="en-US" dirty="0"/>
              <a:t>and </a:t>
            </a:r>
            <a:r>
              <a:rPr lang="en-US" b="1" dirty="0"/>
              <a:t>..</a:t>
            </a:r>
            <a:r>
              <a:rPr lang="en-US" dirty="0"/>
              <a:t> directories don’t show up when you do </a:t>
            </a:r>
            <a:r>
              <a:rPr lang="en-US" dirty="0" err="1"/>
              <a:t>ls</a:t>
            </a:r>
            <a:r>
              <a:rPr lang="en-US" dirty="0"/>
              <a:t> They are </a:t>
            </a:r>
            <a:r>
              <a:rPr lang="en-US" b="1" dirty="0"/>
              <a:t>hidden directories</a:t>
            </a:r>
            <a:r>
              <a:rPr lang="en-US" dirty="0"/>
              <a:t>,</a:t>
            </a:r>
          </a:p>
          <a:p>
            <a:pPr marL="460375" lvl="1" indent="0">
              <a:buNone/>
            </a:pPr>
            <a:r>
              <a:rPr lang="en-US" sz="2400" b="1" dirty="0"/>
              <a:t>.</a:t>
            </a:r>
            <a:r>
              <a:rPr lang="en-US" sz="2400" dirty="0"/>
              <a:t> means current directory</a:t>
            </a:r>
          </a:p>
          <a:p>
            <a:pPr marL="460375" lvl="1" indent="0">
              <a:buNone/>
            </a:pPr>
            <a:r>
              <a:rPr lang="en-US" sz="2400" b="1" dirty="0"/>
              <a:t>..</a:t>
            </a:r>
            <a:r>
              <a:rPr lang="en-US" sz="2400" dirty="0"/>
              <a:t> means parent directory</a:t>
            </a:r>
          </a:p>
          <a:p>
            <a:pPr>
              <a:spcBef>
                <a:spcPts val="600"/>
              </a:spcBef>
              <a:buFont typeface="Wingdings" pitchFamily="2" charset="2"/>
              <a:buChar char="q"/>
            </a:pPr>
            <a:r>
              <a:rPr lang="en-US" dirty="0"/>
              <a:t>Directories name starting with . are considered ‘hidden’</a:t>
            </a:r>
          </a:p>
          <a:p>
            <a:pPr>
              <a:spcBef>
                <a:spcPts val="600"/>
              </a:spcBef>
              <a:buFont typeface="Wingdings" pitchFamily="2" charset="2"/>
              <a:buChar char="q"/>
            </a:pPr>
            <a:r>
              <a:rPr lang="en-US" dirty="0"/>
              <a:t>Make </a:t>
            </a:r>
            <a:r>
              <a:rPr lang="en-US" dirty="0" err="1"/>
              <a:t>ls</a:t>
            </a:r>
            <a:r>
              <a:rPr lang="en-US" dirty="0"/>
              <a:t> display all files and directories, even the hidden ones, by giving it the -a (all) option:</a:t>
            </a:r>
            <a:br>
              <a:rPr lang="en-US" dirty="0"/>
            </a:br>
            <a:r>
              <a:rPr lang="en-US" dirty="0"/>
              <a:t>$ </a:t>
            </a:r>
            <a:r>
              <a:rPr lang="en-US" b="1" dirty="0" err="1"/>
              <a:t>ls</a:t>
            </a:r>
            <a:r>
              <a:rPr lang="en-US" b="1" dirty="0"/>
              <a:t> –a</a:t>
            </a:r>
          </a:p>
          <a:p>
            <a:pPr marL="460375" lvl="1" indent="0">
              <a:buNone/>
            </a:pPr>
            <a:r>
              <a:rPr lang="en-US" b="1" dirty="0"/>
              <a:t>. </a:t>
            </a:r>
          </a:p>
          <a:p>
            <a:pPr marL="460375" lvl="1" indent="0">
              <a:buNone/>
            </a:pPr>
            <a:r>
              <a:rPr lang="en-US" b="1" dirty="0"/>
              <a:t>..</a:t>
            </a:r>
          </a:p>
          <a:p>
            <a:pPr>
              <a:spcBef>
                <a:spcPts val="600"/>
              </a:spcBef>
              <a:buFont typeface="Wingdings" pitchFamily="2" charset="2"/>
              <a:buChar char="q"/>
            </a:pPr>
            <a:r>
              <a:rPr lang="en-US" dirty="0"/>
              <a:t>To go to parent directory we can use $ </a:t>
            </a:r>
            <a:r>
              <a:rPr lang="en-US" b="1" dirty="0"/>
              <a:t>cd ..</a:t>
            </a:r>
          </a:p>
          <a:p>
            <a:pPr>
              <a:spcBef>
                <a:spcPts val="600"/>
              </a:spcBef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2027959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D7C0FA-D805-4626-80C0-25C17F691E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l"/>
            <a:br>
              <a:rPr lang="en-US" dirty="0"/>
            </a:br>
            <a:r>
              <a:rPr lang="en-US" dirty="0"/>
              <a:t>How to Create an Empty File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E21D09-9862-4086-A90D-ABB37E8258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9215" y="1903956"/>
            <a:ext cx="8574087" cy="4222207"/>
          </a:xfrm>
        </p:spPr>
        <p:txBody>
          <a:bodyPr/>
          <a:lstStyle/>
          <a:p>
            <a:pPr>
              <a:buFont typeface="Wingdings" pitchFamily="2" charset="2"/>
              <a:buChar char="q"/>
            </a:pPr>
            <a:r>
              <a:rPr lang="en-US" dirty="0"/>
              <a:t>The following touch command creates an empty (zero byte) new file called test.</a:t>
            </a:r>
          </a:p>
          <a:p>
            <a:pPr>
              <a:buFont typeface="Wingdings" pitchFamily="2" charset="2"/>
              <a:buChar char="q"/>
            </a:pPr>
            <a:endParaRPr lang="en-US" dirty="0"/>
          </a:p>
          <a:p>
            <a:pPr>
              <a:buFont typeface="Wingdings" pitchFamily="2" charset="2"/>
              <a:buChar char="q"/>
            </a:pPr>
            <a:r>
              <a:rPr lang="en-US" dirty="0"/>
              <a:t>&gt;&gt; touch test.txt</a:t>
            </a:r>
          </a:p>
        </p:txBody>
      </p:sp>
    </p:spTree>
    <p:extLst>
      <p:ext uri="{BB962C8B-B14F-4D97-AF65-F5344CB8AC3E}">
        <p14:creationId xmlns:p14="http://schemas.microsoft.com/office/powerpoint/2010/main" val="200105056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/>
          <p:cNvSpPr txBox="1">
            <a:spLocks/>
          </p:cNvSpPr>
          <p:nvPr/>
        </p:nvSpPr>
        <p:spPr>
          <a:xfrm>
            <a:off x="335494" y="595100"/>
            <a:ext cx="3232896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600" b="1" dirty="0">
                <a:solidFill>
                  <a:schemeClr val="tx1"/>
                </a:solidFill>
              </a:rPr>
              <a:t>Books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87F4BAFD-2E76-4ABD-8010-F76016C90307}"/>
              </a:ext>
            </a:extLst>
          </p:cNvPr>
          <p:cNvSpPr txBox="1">
            <a:spLocks/>
          </p:cNvSpPr>
          <p:nvPr/>
        </p:nvSpPr>
        <p:spPr>
          <a:xfrm>
            <a:off x="335494" y="1203272"/>
            <a:ext cx="8229600" cy="3775604"/>
          </a:xfrm>
          <a:prstGeom prst="rect">
            <a:avLst/>
          </a:prstGeom>
        </p:spPr>
        <p:txBody>
          <a:bodyPr/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itchFamily="2" charset="2"/>
              <a:buChar char="q"/>
            </a:pPr>
            <a:r>
              <a:rPr lang="en-US" dirty="0"/>
              <a:t>Unix Shell Programming</a:t>
            </a:r>
          </a:p>
          <a:p>
            <a:pPr lvl="1">
              <a:buFont typeface="Wingdings" pitchFamily="2" charset="2"/>
              <a:buChar char="q"/>
            </a:pPr>
            <a:r>
              <a:rPr lang="en-US" dirty="0"/>
              <a:t>Written by </a:t>
            </a:r>
            <a:r>
              <a:rPr lang="en-US" dirty="0" err="1"/>
              <a:t>Yashavant</a:t>
            </a:r>
            <a:r>
              <a:rPr lang="en-US" dirty="0"/>
              <a:t> P. </a:t>
            </a:r>
            <a:r>
              <a:rPr lang="en-US" dirty="0" err="1"/>
              <a:t>Kanetkar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3382373"/>
      </p:ext>
    </p:extLst>
  </p:cSld>
  <p:clrMapOvr>
    <a:masterClrMapping/>
  </p:clrMapOvr>
</p:sld>
</file>

<file path=ppt/theme/theme1.xml><?xml version="1.0" encoding="utf-8"?>
<a:theme xmlns:a="http://schemas.openxmlformats.org/drawingml/2006/main" name="Spectrum">
  <a:themeElements>
    <a:clrScheme name="Blue Warm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Spectrum">
      <a:majorFont>
        <a:latin typeface="Corbel"/>
        <a:ea typeface=""/>
        <a:cs typeface=""/>
        <a:font script="Jpan" typeface="ＭＳ ゴシック"/>
        <a:font script="Hans" typeface="宋体"/>
        <a:font script="Hant" typeface="新細明體"/>
      </a:majorFont>
      <a:minorFont>
        <a:latin typeface="Calibri"/>
        <a:ea typeface=""/>
        <a:cs typeface=""/>
        <a:font script="Jpan" typeface="ＭＳ ゴシック"/>
        <a:font script="Hans" typeface="宋体"/>
        <a:font script="Hant" typeface="新細明體"/>
      </a:minorFont>
    </a:fontScheme>
    <a:fmtScheme name="Spectrum">
      <a: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70000"/>
                <a:satMod val="150000"/>
              </a:schemeClr>
            </a:gs>
            <a:gs pos="100000">
              <a:schemeClr val="phClr">
                <a:tint val="95000"/>
                <a:satMod val="1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95000"/>
                <a:shade val="70000"/>
                <a:satMod val="150000"/>
              </a:schemeClr>
            </a:gs>
            <a:gs pos="100000">
              <a:schemeClr val="phClr">
                <a:tint val="100000"/>
                <a:shade val="100000"/>
                <a:satMod val="150000"/>
              </a:schemeClr>
            </a:gs>
          </a:gsLst>
          <a:lin ang="16200000" scaled="0"/>
        </a:gradFill>
      </a:fillStyleLst>
      <a:lnStyleLst>
        <a:ln w="12700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6600000" sx="101000" sy="101000" rotWithShape="0">
              <a:srgbClr val="000000">
                <a:alpha val="75000"/>
              </a:srgbClr>
            </a:outerShdw>
          </a:effectLst>
        </a:effectStyle>
        <a:effectStyle>
          <a:effectLst>
            <a:outerShdw blurRad="50800" dir="5400000" sx="105000" sy="105000" algn="ctr" rotWithShape="0">
              <a:srgbClr val="000000">
                <a:alpha val="4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4800000"/>
            </a:lightRig>
          </a:scene3d>
          <a:sp3d prstMaterial="matte">
            <a:bevelT w="63500" h="50800" prst="angle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Spectrum.thmx</Template>
  <TotalTime>353</TotalTime>
  <Words>668</Words>
  <Application>Microsoft Office PowerPoint</Application>
  <PresentationFormat>On-screen Show (4:3)</PresentationFormat>
  <Paragraphs>80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Arial</vt:lpstr>
      <vt:lpstr>Calibri</vt:lpstr>
      <vt:lpstr>Corbel</vt:lpstr>
      <vt:lpstr>Wingdings</vt:lpstr>
      <vt:lpstr>Spectrum</vt:lpstr>
      <vt:lpstr>LAB 1</vt:lpstr>
      <vt:lpstr>Lecture Outline</vt:lpstr>
      <vt:lpstr> What Is a Shell? </vt:lpstr>
      <vt:lpstr>Types of shells</vt:lpstr>
      <vt:lpstr> Kernel Version </vt:lpstr>
      <vt:lpstr>  Current Directory   </vt:lpstr>
      <vt:lpstr>ls command</vt:lpstr>
      <vt:lpstr>How to create a directory</vt:lpstr>
      <vt:lpstr> How to create multiple directories </vt:lpstr>
      <vt:lpstr>Change directory</vt:lpstr>
      <vt:lpstr> Current , Parent, and Hidden Directories </vt:lpstr>
      <vt:lpstr> How to Create an Empty File </vt:lpstr>
      <vt:lpstr>PowerPoint Presentation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Thesis Title</dc:title>
  <dc:creator>Mahbubul Syeed</dc:creator>
  <cp:lastModifiedBy>SYEDA ANIKA TASNIM</cp:lastModifiedBy>
  <cp:revision>31</cp:revision>
  <dcterms:created xsi:type="dcterms:W3CDTF">2018-12-10T17:20:29Z</dcterms:created>
  <dcterms:modified xsi:type="dcterms:W3CDTF">2020-10-12T03:46:08Z</dcterms:modified>
</cp:coreProperties>
</file>