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264" r:id="rId45"/>
    <p:sldId id="26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8DDE9D94-0FBC-47A5-8C90-CD03AE3683BF}"/>
    <pc:docChg chg="modSld">
      <pc:chgData name="SYEDA ANIKA TASNIM" userId="8fb70a1d-16e3-4c86-a699-7b87e9bfa60b" providerId="ADAL" clId="{8DDE9D94-0FBC-47A5-8C90-CD03AE3683BF}" dt="2020-12-05T03:02:17.844" v="9" actId="20577"/>
      <pc:docMkLst>
        <pc:docMk/>
      </pc:docMkLst>
      <pc:sldChg chg="modSp mod">
        <pc:chgData name="SYEDA ANIKA TASNIM" userId="8fb70a1d-16e3-4c86-a699-7b87e9bfa60b" providerId="ADAL" clId="{8DDE9D94-0FBC-47A5-8C90-CD03AE3683BF}" dt="2020-12-05T03:02:17.844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8DDE9D94-0FBC-47A5-8C90-CD03AE3683BF}" dt="2020-12-05T03:02:17.844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33AEF96A-C58D-4167-9675-57B8B3071E58}"/>
    <pc:docChg chg="custSel modSld">
      <pc:chgData name="SYEDA ANIKA TASNIM" userId="8fb70a1d-16e3-4c86-a699-7b87e9bfa60b" providerId="ADAL" clId="{33AEF96A-C58D-4167-9675-57B8B3071E58}" dt="2020-08-31T09:27:06.438" v="62" actId="20577"/>
      <pc:docMkLst>
        <pc:docMk/>
      </pc:docMkLst>
      <pc:sldChg chg="modSp mod">
        <pc:chgData name="SYEDA ANIKA TASNIM" userId="8fb70a1d-16e3-4c86-a699-7b87e9bfa60b" providerId="ADAL" clId="{33AEF96A-C58D-4167-9675-57B8B3071E58}" dt="2020-08-24T08:41:55.788" v="5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33AEF96A-C58D-4167-9675-57B8B3071E58}" dt="2020-08-24T08:41:55.788" v="5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33AEF96A-C58D-4167-9675-57B8B3071E58}" dt="2020-08-31T09:27:06.438" v="62" actId="20577"/>
        <pc:sldMkLst>
          <pc:docMk/>
          <pc:sldMk cId="3864790821" sldId="305"/>
        </pc:sldMkLst>
        <pc:spChg chg="mod">
          <ac:chgData name="SYEDA ANIKA TASNIM" userId="8fb70a1d-16e3-4c86-a699-7b87e9bfa60b" providerId="ADAL" clId="{33AEF96A-C58D-4167-9675-57B8B3071E58}" dt="2020-08-31T09:27:06.438" v="62" actId="20577"/>
          <ac:spMkLst>
            <pc:docMk/>
            <pc:sldMk cId="3864790821" sldId="305"/>
            <ac:spMk id="5837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BB41CD-F945-437A-8194-DAB20AC2CAFC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ABA5EAF-DAA8-419D-B99B-7556C0BC7AA1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731142-78BF-4090-8EF1-EE51CC9C3F2A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251066A-4A1B-463B-9E0B-48D0A46EB28D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AAA2C7-D39D-45C1-92AE-A9F7C46E5FAE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3A9ADE-D565-459D-9892-36FBC0C7B2F9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BC44020-8951-4366-BBE6-FF0E5B9694B8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1E75785-0EF4-4EAC-87DC-76A85A18C363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7E10A8-ED10-4D22-996A-54CBE3C266F9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AA6E046-BB67-4C0D-A133-89274D6D6D5C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3F2ACF7-116A-4369-972B-569D17D69894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E5CA5B7-0681-42A5-A56C-0640B3AD7F4B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ABE580-9B1C-411C-85E8-45CDE8C05540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F515D07-F612-4D54-B65D-BBD3860669B2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F927EC7-5A55-4959-8E09-70BBEF3F2CEE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34B175B-CE24-4313-8267-E986754352F7}" type="slidenum">
              <a:rPr lang="en-US" altLang="en-US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C73121F-DA0C-4D15-B351-FFBCB59ED606}" type="slidenum">
              <a:rPr lang="en-US" altLang="en-US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3438F27-4A64-420B-BC90-93484189CACD}" type="slidenum">
              <a:rPr lang="en-US" altLang="en-US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6570DDE-AF27-45E5-AB9E-7E124A94F065}" type="slidenum">
              <a:rPr lang="en-US" altLang="en-US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9D0C13-0918-4C3C-B085-984ADFDB9E3A}" type="slidenum">
              <a:rPr lang="en-US" altLang="en-US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38ACCF-FB44-494C-BB19-F540D5E326A5}" type="slidenum">
              <a:rPr lang="en-US" altLang="en-US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6ADD055-303E-49D7-BAD3-638E0CAF8716}" type="slidenum">
              <a:rPr lang="en-US" altLang="en-US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F7DF85-CECB-4738-9B7C-499C8EC3F2C0}" type="slidenum">
              <a:rPr lang="en-US" altLang="en-US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BD97C4E-DFD2-4790-A2D1-32C84BF8E996}" type="slidenum">
              <a:rPr lang="en-US" altLang="en-US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078BE96-FC46-43A0-95CA-C69EB0CEA9D1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CA02ED7-2857-4803-A345-8CD913A2E1AE}" type="slidenum">
              <a:rPr lang="en-US" altLang="en-US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F59732B-04D9-4060-8E9C-FFFCDD9770BD}" type="slidenum">
              <a:rPr lang="en-US" altLang="en-US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730E13E-EDBE-4B5F-BE27-C67266E09419}" type="slidenum">
              <a:rPr lang="en-US" altLang="en-US">
                <a:latin typeface="Times New Roman" pitchFamily="18" charset="0"/>
              </a:rPr>
              <a:pPr/>
              <a:t>35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39CF66-2C7E-4384-BA01-8A7045786600}" type="slidenum">
              <a:rPr lang="en-US" altLang="en-US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F500A43-10D6-426A-9B89-85ABD03B059C}" type="slidenum">
              <a:rPr lang="en-US" altLang="en-US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76C054-E781-4A5B-8BA3-36098FA503B4}" type="slidenum">
              <a:rPr lang="en-US" altLang="en-US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70B1366-2AA2-4566-B055-32B07E9B19B1}" type="slidenum">
              <a:rPr lang="en-US" altLang="en-US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9CE3F77-2DF8-42DC-A778-FE27A07B38F3}" type="slidenum">
              <a:rPr lang="en-US" altLang="en-US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414FA2C-1EAD-4C1F-BFBA-E46F7F78E5F8}" type="slidenum">
              <a:rPr lang="en-US" altLang="en-US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7DC0428-D64B-4F2D-B489-070C342BFE6B}" type="slidenum">
              <a:rPr lang="en-US" altLang="en-US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A029920-CE8D-4C62-97FC-DBE1D6706D67}" type="slidenum">
              <a:rPr lang="en-US" altLang="en-US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Deadlocks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56611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5302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1298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60926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Model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in Multithreaded Applications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Characterization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Methods for Handling Deadlocks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Prevention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Avoidance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Deadlock Detection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Recovery from Deadlock 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System Model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consists of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 err="1"/>
              <a:t>R</a:t>
            </a:r>
            <a:r>
              <a:rPr lang="en-US" altLang="en-US" baseline="-25000" dirty="0" err="1"/>
              <a:t>m</a:t>
            </a:r>
            <a:endParaRPr lang="en-US" altLang="en-US" baseline="-25000" dirty="0"/>
          </a:p>
          <a:p>
            <a:pPr lvl="2">
              <a:buFont typeface="Wingdings" pitchFamily="2" charset="2"/>
              <a:buChar char="q"/>
            </a:pPr>
            <a:r>
              <a:rPr lang="en-US" altLang="en-US" i="1" dirty="0"/>
              <a:t>CPU cycles, memory space, I/O devices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resource type </a:t>
            </a:r>
            <a:r>
              <a:rPr lang="en-US" altLang="en-US" i="1" dirty="0" err="1"/>
              <a:t>R</a:t>
            </a:r>
            <a:r>
              <a:rPr lang="en-US" altLang="en-US" baseline="-25000" dirty="0" err="1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utilizes a resource as follows: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request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use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240102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 dirty="0"/>
              <a:t>Deadlock in Multithreaded Application</a:t>
            </a:r>
          </a:p>
        </p:txBody>
      </p:sp>
      <p:sp>
        <p:nvSpPr>
          <p:cNvPr id="88066" name="Content Placeholder 2"/>
          <p:cNvSpPr>
            <a:spLocks noGrp="1"/>
          </p:cNvSpPr>
          <p:nvPr>
            <p:ph idx="1"/>
          </p:nvPr>
        </p:nvSpPr>
        <p:spPr>
          <a:xfrm>
            <a:off x="284163" y="190813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Two </a:t>
            </a:r>
            <a:r>
              <a:rPr lang="en-US" dirty="0" err="1"/>
              <a:t>mutex</a:t>
            </a:r>
            <a:r>
              <a:rPr lang="en-US" dirty="0"/>
              <a:t> locks are created an initialized:</a:t>
            </a:r>
          </a:p>
        </p:txBody>
      </p:sp>
      <p:pic>
        <p:nvPicPr>
          <p:cNvPr id="88067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2806700"/>
            <a:ext cx="44958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54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/>
              <a:t>Deadlock in Multithreaded Application</a:t>
            </a:r>
          </a:p>
        </p:txBody>
      </p:sp>
      <p:pic>
        <p:nvPicPr>
          <p:cNvPr id="89090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408" y="1883079"/>
            <a:ext cx="3402987" cy="4304779"/>
          </a:xfrm>
        </p:spPr>
      </p:pic>
    </p:spTree>
    <p:extLst>
      <p:ext uri="{BB962C8B-B14F-4D97-AF65-F5344CB8AC3E}">
        <p14:creationId xmlns:p14="http://schemas.microsoft.com/office/powerpoint/2010/main" val="3613960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000"/>
              <a:t>Deadlock in Multithreaded Application</a:t>
            </a:r>
          </a:p>
        </p:txBody>
      </p:sp>
      <p:sp>
        <p:nvSpPr>
          <p:cNvPr id="90114" name="Content Placeholder 2"/>
          <p:cNvSpPr>
            <a:spLocks noGrp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Deadlock is possible if thread 1 acquires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dirty="0"/>
              <a:t> and thread 2 acquires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dirty="0"/>
              <a:t>. Thread 1 then waits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dirty="0"/>
              <a:t> and thread 2 waits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Can be illustrated with a </a:t>
            </a:r>
            <a:r>
              <a:rPr lang="en-US" b="1" dirty="0"/>
              <a:t>resource allocation graph</a:t>
            </a:r>
            <a:r>
              <a:rPr lang="en-US" dirty="0"/>
              <a:t>:</a:t>
            </a:r>
          </a:p>
        </p:txBody>
      </p:sp>
      <p:pic>
        <p:nvPicPr>
          <p:cNvPr id="90115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3803803"/>
            <a:ext cx="5749925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71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Characterization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233808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process at a time can use a resource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process holding at least one resource is waiting to acquire additional resources held by other processes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process holding it, after that process has completed its task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} of waiting processes such that </a:t>
            </a:r>
            <a:r>
              <a:rPr lang="en-US" altLang="en-US" i="1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, and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0" y="1766888"/>
            <a:ext cx="63531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Deadlock can arise if four conditions hold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37434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37752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V is partitioned into two types: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P</a:t>
            </a:r>
            <a:r>
              <a:rPr lang="en-US" altLang="en-US" dirty="0"/>
              <a:t> = {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}, the set consisting of all the processes in the system</a:t>
            </a: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>
              <a:buFont typeface="Wingdings" pitchFamily="2" charset="2"/>
              <a:buChar char="q"/>
            </a:pPr>
            <a:endParaRPr lang="en-US" altLang="en-US" sz="9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request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endParaRPr lang="en-US" altLang="en-US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assignment edge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>
                <a:sym typeface="Symbol" pitchFamily="18" charset="2"/>
              </a:rPr>
              <a:t>P</a:t>
            </a:r>
            <a:r>
              <a:rPr lang="en-US" altLang="en-US" i="1" baseline="-25000" dirty="0">
                <a:sym typeface="Symbol" pitchFamily="18" charset="2"/>
              </a:rPr>
              <a:t>i</a:t>
            </a:r>
            <a:endParaRPr lang="en-US" altLang="en-US" dirty="0">
              <a:sym typeface="Symbol" pitchFamily="18" charset="2"/>
            </a:endParaRPr>
          </a:p>
        </p:txBody>
      </p:sp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284163" y="1930769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sz="2000" dirty="0"/>
              <a:t>A set of vertices </a:t>
            </a:r>
            <a:r>
              <a:rPr kumimoji="0" lang="en-US" altLang="en-US" sz="2000" i="1" dirty="0"/>
              <a:t>V</a:t>
            </a:r>
            <a:r>
              <a:rPr kumimoji="0" lang="en-US" altLang="en-US" sz="2000" dirty="0"/>
              <a:t> and a set of edges </a:t>
            </a:r>
            <a:r>
              <a:rPr kumimoji="0" lang="en-US" altLang="en-US" sz="2000" i="1" dirty="0"/>
              <a:t>E</a:t>
            </a:r>
            <a:r>
              <a:rPr kumimoji="0" lang="en-US" alt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536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Resource Allocation Graph Example</a:t>
            </a:r>
            <a:endParaRPr lang="en-US" dirty="0"/>
          </a:p>
        </p:txBody>
      </p:sp>
      <p:sp>
        <p:nvSpPr>
          <p:cNvPr id="91138" name="Content Placeholder 2"/>
          <p:cNvSpPr>
            <a:spLocks noGrp="1"/>
          </p:cNvSpPr>
          <p:nvPr>
            <p:ph idx="1"/>
          </p:nvPr>
        </p:nvSpPr>
        <p:spPr>
          <a:xfrm>
            <a:off x="284164" y="2033391"/>
            <a:ext cx="6479891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One instance of R1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Two instances of R2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One instance of R3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Three instance of R4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T1 holds one instance of R2 and is waiting for an instance of R1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T2 holds one instance of R1, one instance of R2, and is waiting for an instance of R3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T3 is holds one instance of R3</a:t>
            </a:r>
          </a:p>
        </p:txBody>
      </p:sp>
      <p:pic>
        <p:nvPicPr>
          <p:cNvPr id="91139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308" y="2033391"/>
            <a:ext cx="2497137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035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/>
              <a:t>Resource Allocation Graph With A Deadlock</a:t>
            </a:r>
          </a:p>
        </p:txBody>
      </p:sp>
      <p:pic>
        <p:nvPicPr>
          <p:cNvPr id="17410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403" y="1861690"/>
            <a:ext cx="3040628" cy="449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42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Graph With A Cycle But No Deadlock</a:t>
            </a:r>
          </a:p>
        </p:txBody>
      </p:sp>
      <p:pic>
        <p:nvPicPr>
          <p:cNvPr id="19458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62" y="1873751"/>
            <a:ext cx="3494087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318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Basic Facts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484056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If graph contains no cycles </a:t>
            </a:r>
            <a:r>
              <a:rPr lang="en-US" altLang="en-US" dirty="0">
                <a:sym typeface="Symbol" pitchFamily="18" charset="2"/>
              </a:rPr>
              <a:t> no deadlock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graph contains a cycle 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only one instance per resource type, then deadlock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several instances per resource type, possibility of deadlock</a:t>
            </a:r>
          </a:p>
        </p:txBody>
      </p:sp>
    </p:spTree>
    <p:extLst>
      <p:ext uri="{BB962C8B-B14F-4D97-AF65-F5344CB8AC3E}">
        <p14:creationId xmlns:p14="http://schemas.microsoft.com/office/powerpoint/2010/main" val="1403653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Ensure that the system will </a:t>
            </a:r>
            <a:r>
              <a:rPr lang="en-US" altLang="en-US" b="1" i="1" dirty="0">
                <a:solidFill>
                  <a:srgbClr val="FF0066"/>
                </a:solidFill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Deadlock prevention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Deadlock avoidance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Allow the system to enter a deadlock state and then recover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Ignore the problem and pretend that deadlocks never occur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3564910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Prevention</a:t>
            </a:r>
          </a:p>
        </p:txBody>
      </p:sp>
      <p:sp>
        <p:nvSpPr>
          <p:cNvPr id="25602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2283912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process requests a resource, it does not hold any other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Low resource utilization; starvation possible</a:t>
            </a:r>
          </a:p>
        </p:txBody>
      </p:sp>
      <p:sp>
        <p:nvSpPr>
          <p:cNvPr id="25603" name="Text Box 1028"/>
          <p:cNvSpPr txBox="1">
            <a:spLocks noChangeArrowheads="1"/>
          </p:cNvSpPr>
          <p:nvPr/>
        </p:nvSpPr>
        <p:spPr bwMode="auto">
          <a:xfrm>
            <a:off x="284163" y="1805857"/>
            <a:ext cx="632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  <p:extLst>
      <p:ext uri="{BB962C8B-B14F-4D97-AF65-F5344CB8AC3E}">
        <p14:creationId xmlns:p14="http://schemas.microsoft.com/office/powerpoint/2010/main" val="373375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Deadlock Prevention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27650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No Preemption</a:t>
            </a:r>
            <a:r>
              <a:rPr lang="en-US" altLang="en-US" dirty="0"/>
              <a:t> –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Preempted resources are added to the list of resources for which the process is waiting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 will be restarted only when it can regain its old resources, as well as the new ones that it is requesting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Circular Wait</a:t>
            </a:r>
            <a:r>
              <a:rPr lang="en-US" altLang="en-US" dirty="0"/>
              <a:t> – impose a total ordering of all resource types, and require that each process requests resources in an increasing order of enumeration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626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Circular Wait</a:t>
            </a:r>
          </a:p>
        </p:txBody>
      </p:sp>
      <p:sp>
        <p:nvSpPr>
          <p:cNvPr id="92162" name="Content Placeholder 2"/>
          <p:cNvSpPr>
            <a:spLocks noGrp="1"/>
          </p:cNvSpPr>
          <p:nvPr>
            <p:ph idx="1"/>
          </p:nvPr>
        </p:nvSpPr>
        <p:spPr>
          <a:xfrm>
            <a:off x="284163" y="1936750"/>
            <a:ext cx="5457541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Invalidating the circular wait condition is most common.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Simply assign each resource (i.e. </a:t>
            </a:r>
            <a:r>
              <a:rPr lang="en-US" dirty="0" err="1"/>
              <a:t>mutex</a:t>
            </a:r>
            <a:r>
              <a:rPr lang="en-US" dirty="0"/>
              <a:t> locks) a unique number.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Resources must be acquired in order.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If: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first_mutex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1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b="1" dirty="0" err="1">
                <a:latin typeface="Courier New" pitchFamily="49" charset="0"/>
                <a:cs typeface="Courier New" pitchFamily="49" charset="0"/>
              </a:rPr>
              <a:t>second_mutex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5</a:t>
            </a:r>
            <a:br>
              <a:rPr 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dirty="0"/>
            </a:br>
            <a:r>
              <a:rPr lang="en-US" dirty="0"/>
              <a:t>code for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thread_two</a:t>
            </a:r>
            <a:r>
              <a:rPr lang="en-US" dirty="0"/>
              <a:t> could not be </a:t>
            </a:r>
            <a:br>
              <a:rPr lang="en-US" dirty="0"/>
            </a:br>
            <a:r>
              <a:rPr lang="en-US" dirty="0"/>
              <a:t>written as follows:</a:t>
            </a:r>
          </a:p>
        </p:txBody>
      </p:sp>
      <p:pic>
        <p:nvPicPr>
          <p:cNvPr id="92163" name="Content Placeholder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2387687"/>
            <a:ext cx="30988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2164" name="Straight Arrow Connector 5"/>
          <p:cNvCxnSpPr>
            <a:cxnSpLocks noChangeShapeType="1"/>
          </p:cNvCxnSpPr>
          <p:nvPr/>
        </p:nvCxnSpPr>
        <p:spPr bwMode="auto">
          <a:xfrm flipV="1">
            <a:off x="2863264" y="5198301"/>
            <a:ext cx="3136703" cy="35292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79302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Avoidance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508554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Simplest and most useful model requires that each process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284163" y="1812925"/>
            <a:ext cx="85740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</p:spTree>
    <p:extLst>
      <p:ext uri="{BB962C8B-B14F-4D97-AF65-F5344CB8AC3E}">
        <p14:creationId xmlns:p14="http://schemas.microsoft.com/office/powerpoint/2010/main" val="531270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 State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requests an available resource, system must decide if immediate allocation leaves the system in a safe state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3366FF"/>
                </a:solidFill>
              </a:rPr>
              <a:t>safe state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&gt; of ALL the  processes  in the systems such that  for each P</a:t>
            </a:r>
            <a:r>
              <a:rPr lang="en-US" altLang="en-US" baseline="-25000" dirty="0"/>
              <a:t>i</a:t>
            </a:r>
            <a:r>
              <a:rPr lang="en-US" altLang="en-US" dirty="0"/>
              <a:t>, the resources that P</a:t>
            </a:r>
            <a:r>
              <a:rPr lang="en-US" altLang="en-US" baseline="-25000" dirty="0"/>
              <a:t>i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That is: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P</a:t>
            </a:r>
            <a:r>
              <a:rPr lang="en-US" altLang="en-US" baseline="-25000" dirty="0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terminates,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  <p:extLst>
      <p:ext uri="{BB962C8B-B14F-4D97-AF65-F5344CB8AC3E}">
        <p14:creationId xmlns:p14="http://schemas.microsoft.com/office/powerpoint/2010/main" val="3317458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Basic Facts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If a system is in safe state </a:t>
            </a:r>
            <a:r>
              <a:rPr lang="en-US" altLang="en-US" dirty="0">
                <a:sym typeface="Symbol" pitchFamily="18" charset="2"/>
              </a:rPr>
              <a:t> no deadlocks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itchFamily="18" charset="2"/>
              </a:rPr>
            </a:br>
            <a:endParaRPr lang="en-US" altLang="en-US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Avoidance  ensure that a system will never enter an unsafe state.</a:t>
            </a:r>
          </a:p>
        </p:txBody>
      </p:sp>
    </p:spTree>
    <p:extLst>
      <p:ext uri="{BB962C8B-B14F-4D97-AF65-F5344CB8AC3E}">
        <p14:creationId xmlns:p14="http://schemas.microsoft.com/office/powerpoint/2010/main" val="3108158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Safe, Unsafe, Deadlock State </a:t>
            </a:r>
          </a:p>
        </p:txBody>
      </p:sp>
      <p:pic>
        <p:nvPicPr>
          <p:cNvPr id="3584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950603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313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Avoidance Algorithms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Single instance of a resource type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 a resource-allocation graph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Multiple instances of a resource type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7097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 Scheme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Claim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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 indicated that process </a:t>
            </a:r>
            <a:r>
              <a:rPr lang="en-US" altLang="en-US" i="1" dirty="0" err="1">
                <a:sym typeface="Symbol" pitchFamily="18" charset="2"/>
              </a:rPr>
              <a:t>P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 may request resource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r>
              <a:rPr lang="en-US" altLang="en-US" dirty="0">
                <a:sym typeface="Symbol" pitchFamily="18" charset="2"/>
              </a:rPr>
              <a:t>; represented by a dashed line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Claim edge converts to request edge when a process requests a resource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Request edge converted to an assignment edge when the  resource is allocated to the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When a resource is released by a process, assignment edge reconverts to a claim edge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Resources must be claimed </a:t>
            </a:r>
            <a:r>
              <a:rPr lang="en-US" altLang="en-US" i="1" dirty="0">
                <a:sym typeface="Symbol" pitchFamily="18" charset="2"/>
              </a:rPr>
              <a:t>a priori</a:t>
            </a:r>
            <a:r>
              <a:rPr lang="en-US" altLang="en-US" dirty="0">
                <a:sym typeface="Symbol" pitchFamily="18" charset="2"/>
              </a:rPr>
              <a:t> in the system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815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</a:t>
            </a:r>
          </a:p>
        </p:txBody>
      </p:sp>
      <p:pic>
        <p:nvPicPr>
          <p:cNvPr id="41986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599" y="2295916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9741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600"/>
              <a:t>Unsafe State In Resource-Allocation Graph</a:t>
            </a:r>
          </a:p>
        </p:txBody>
      </p:sp>
      <p:pic>
        <p:nvPicPr>
          <p:cNvPr id="4403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4" y="2052050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925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Resource-Allocation Graph Algorithm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Suppose that process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requests a resource </a:t>
            </a:r>
            <a:r>
              <a:rPr lang="en-US" altLang="en-US" i="1" dirty="0" err="1">
                <a:sym typeface="Symbol" pitchFamily="18" charset="2"/>
              </a:rPr>
              <a:t>R</a:t>
            </a:r>
            <a:r>
              <a:rPr lang="en-US" altLang="en-US" i="1" baseline="-25000" dirty="0" err="1">
                <a:sym typeface="Symbol" pitchFamily="18" charset="2"/>
              </a:rPr>
              <a:t>j</a:t>
            </a:r>
            <a:endParaRPr lang="en-US" altLang="en-US" i="1" baseline="-25000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>
                <a:sym typeface="Symbol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  <p:extLst>
      <p:ext uri="{BB962C8B-B14F-4D97-AF65-F5344CB8AC3E}">
        <p14:creationId xmlns:p14="http://schemas.microsoft.com/office/powerpoint/2010/main" val="537879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Banker’s Algorithm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Multiple instances of resources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process must a priori claim maximum use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requests a resource it may have to wait  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When a process gets all its resources it must return them in a finite amount of time</a:t>
            </a:r>
          </a:p>
        </p:txBody>
      </p:sp>
    </p:spTree>
    <p:extLst>
      <p:ext uri="{BB962C8B-B14F-4D97-AF65-F5344CB8AC3E}">
        <p14:creationId xmlns:p14="http://schemas.microsoft.com/office/powerpoint/2010/main" val="2338522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Data Structures for the Banker’</a:t>
            </a:r>
            <a:r>
              <a:rPr lang="en-US" altLang="ja-JP" sz="3600" dirty="0"/>
              <a:t>s Algorithm </a:t>
            </a:r>
            <a:endParaRPr lang="en-US" altLang="en-US" sz="3600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434224"/>
            <a:ext cx="8574087" cy="39925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pPr>
              <a:buFont typeface="Wingdings" pitchFamily="2" charset="2"/>
              <a:buChar char="q"/>
            </a:pP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>
              <a:buFont typeface="Wingdings" pitchFamily="2" charset="2"/>
              <a:buChar char="q"/>
            </a:pPr>
            <a:endParaRPr lang="en-US" altLang="en-US" sz="800" i="1" baseline="-25000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ingdings" pitchFamily="2" charset="2"/>
              <a:buChar char="q"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0179" name="Text Box 4"/>
          <p:cNvSpPr txBox="1">
            <a:spLocks noChangeArrowheads="1"/>
          </p:cNvSpPr>
          <p:nvPr/>
        </p:nvSpPr>
        <p:spPr bwMode="auto">
          <a:xfrm>
            <a:off x="284163" y="1950243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</p:spTree>
    <p:extLst>
      <p:ext uri="{BB962C8B-B14F-4D97-AF65-F5344CB8AC3E}">
        <p14:creationId xmlns:p14="http://schemas.microsoft.com/office/powerpoint/2010/main" val="2937352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Safety Algorithm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2.	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If no such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b="1" i="1" dirty="0">
                <a:sym typeface="Symbol" pitchFamily="18" charset="2"/>
              </a:rPr>
              <a:t>i </a:t>
            </a:r>
            <a:r>
              <a:rPr lang="en-US" altLang="en-US" dirty="0">
                <a:sym typeface="Symbol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/>
              <a:t>3. 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2215648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/>
              <a:t>Resource-Request Algorithm for Process </a:t>
            </a:r>
            <a:r>
              <a:rPr lang="en-US" altLang="en-US" sz="3600" i="1"/>
              <a:t>P</a:t>
            </a:r>
            <a:r>
              <a:rPr lang="en-US" altLang="en-US" sz="3600" i="1" baseline="-25000"/>
              <a:t>i</a:t>
            </a:r>
            <a:endParaRPr lang="en-US" altLang="en-US" sz="3600"/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ts val="2400"/>
              </a:spcBef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/>
              <a:t>1.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go to step 2.  Otherwise, raise error condition, since process has exceeded its maximum claim</a:t>
            </a:r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2.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Available</a:t>
            </a:r>
            <a:r>
              <a:rPr lang="en-US" altLang="en-US" dirty="0">
                <a:sym typeface="Symbol" pitchFamily="18" charset="2"/>
              </a:rPr>
              <a:t>, go to step 3.  Otherwise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 must wait, since resources are not available</a:t>
            </a:r>
          </a:p>
          <a:p>
            <a:pPr lvl="1">
              <a:lnSpc>
                <a:spcPct val="90000"/>
              </a:lnSpc>
              <a:spcAft>
                <a:spcPts val="500"/>
              </a:spcAft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3.	Pretend to allocate requested resources to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dirty="0">
                <a:sym typeface="Symbol" pitchFamily="18" charset="2"/>
              </a:rPr>
              <a:t>		</a:t>
            </a:r>
            <a:r>
              <a:rPr lang="en-US" altLang="en-US" b="1" i="1" dirty="0">
                <a:sym typeface="Symbol" pitchFamily="18" charset="2"/>
              </a:rPr>
              <a:t>Available</a:t>
            </a:r>
            <a:r>
              <a:rPr lang="en-US" altLang="en-US" b="1" dirty="0">
                <a:sym typeface="Symbol" pitchFamily="18" charset="2"/>
              </a:rPr>
              <a:t> = </a:t>
            </a:r>
            <a:r>
              <a:rPr lang="en-US" altLang="en-US" b="1" i="1" dirty="0">
                <a:sym typeface="Symbol" pitchFamily="18" charset="2"/>
              </a:rPr>
              <a:t>Available  </a:t>
            </a:r>
            <a:r>
              <a:rPr lang="en-US" altLang="en-US" b="1" dirty="0">
                <a:sym typeface="Symbol" pitchFamily="18" charset="2"/>
              </a:rPr>
              <a:t>–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b="1" dirty="0">
                <a:sym typeface="Symbol" pitchFamily="18" charset="2"/>
              </a:rPr>
              <a:t>		</a:t>
            </a:r>
            <a:r>
              <a:rPr lang="en-US" altLang="en-US" b="1" i="1" dirty="0" err="1">
                <a:sym typeface="Symbol" pitchFamily="18" charset="2"/>
              </a:rPr>
              <a:t>Allocation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baseline="-25000" dirty="0">
                <a:sym typeface="Symbol" pitchFamily="18" charset="2"/>
              </a:rPr>
              <a:t> </a:t>
            </a:r>
            <a:r>
              <a:rPr lang="en-US" altLang="en-US" b="1" dirty="0">
                <a:sym typeface="Symbol" pitchFamily="18" charset="2"/>
              </a:rPr>
              <a:t>= </a:t>
            </a:r>
            <a:r>
              <a:rPr lang="en-US" altLang="en-US" b="1" i="1" dirty="0" err="1">
                <a:sym typeface="Symbol" pitchFamily="18" charset="2"/>
              </a:rPr>
              <a:t>Allocation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+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;</a:t>
            </a:r>
          </a:p>
          <a:p>
            <a:pPr lvl="3">
              <a:lnSpc>
                <a:spcPct val="90000"/>
              </a:lnSpc>
              <a:spcAft>
                <a:spcPts val="500"/>
              </a:spcAft>
              <a:buFontTx/>
              <a:buNone/>
            </a:pPr>
            <a:r>
              <a:rPr lang="en-US" altLang="en-US" b="1" dirty="0">
                <a:sym typeface="Symbol" pitchFamily="18" charset="2"/>
              </a:rPr>
              <a:t>		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dirty="0">
                <a:sym typeface="Symbol" pitchFamily="18" charset="2"/>
              </a:rPr>
              <a:t>=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Need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– </a:t>
            </a:r>
            <a:r>
              <a:rPr lang="en-US" altLang="en-US" b="1" i="1" dirty="0" err="1">
                <a:sym typeface="Symbol" pitchFamily="18" charset="2"/>
              </a:rPr>
              <a:t>Request</a:t>
            </a:r>
            <a:r>
              <a:rPr lang="en-US" altLang="en-US" b="1" i="1" baseline="-25000" dirty="0" err="1">
                <a:sym typeface="Symbol" pitchFamily="18" charset="2"/>
              </a:rPr>
              <a:t>i</a:t>
            </a:r>
            <a:r>
              <a:rPr lang="en-US" altLang="en-US" b="1" i="1" dirty="0">
                <a:sym typeface="Symbol" pitchFamily="18" charset="2"/>
              </a:rPr>
              <a:t>;</a:t>
            </a:r>
          </a:p>
          <a:p>
            <a:pPr lvl="2">
              <a:lnSpc>
                <a:spcPct val="90000"/>
              </a:lnSpc>
              <a:spcAft>
                <a:spcPts val="50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itchFamily="18" charset="2"/>
              </a:rPr>
              <a:t>If safe  the resources are allocated to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</a:p>
          <a:p>
            <a:pPr lvl="2">
              <a:lnSpc>
                <a:spcPct val="90000"/>
              </a:lnSpc>
              <a:spcAft>
                <a:spcPts val="50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itchFamily="18" charset="2"/>
              </a:rPr>
              <a:t>If unsafe 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must wait, and the old resource-allocation state is restored</a:t>
            </a:r>
          </a:p>
        </p:txBody>
      </p:sp>
    </p:spTree>
    <p:extLst>
      <p:ext uri="{BB962C8B-B14F-4D97-AF65-F5344CB8AC3E}">
        <p14:creationId xmlns:p14="http://schemas.microsoft.com/office/powerpoint/2010/main" val="540857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Example of Banker’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processes </a:t>
            </a:r>
            <a:r>
              <a:rPr lang="en-US" altLang="en-US" i="1" dirty="0"/>
              <a:t>P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  <p:extLst>
      <p:ext uri="{BB962C8B-B14F-4D97-AF65-F5344CB8AC3E}">
        <p14:creationId xmlns:p14="http://schemas.microsoft.com/office/powerpoint/2010/main" val="1599958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864790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itchFamily="18" charset="2"/>
              </a:rPr>
              <a:t> Available (that is, (1,0,2)  (3,3,2)  true</a:t>
            </a:r>
            <a:endParaRPr lang="en-US" altLang="en-US" i="1" dirty="0">
              <a:sym typeface="Symbol" pitchFamily="18" charset="2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Need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1 0 	7 4 3 	2 3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3 0 2                0 2 0 	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6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0 1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1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0178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Deadlock Detection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284162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Allow system to enter deadlock state 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Detection algorithm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Recovery scheme</a:t>
            </a:r>
          </a:p>
        </p:txBody>
      </p:sp>
    </p:spTree>
    <p:extLst>
      <p:ext uri="{BB962C8B-B14F-4D97-AF65-F5344CB8AC3E}">
        <p14:creationId xmlns:p14="http://schemas.microsoft.com/office/powerpoint/2010/main" val="3579935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Single Instance of Each Resource Type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Maintain </a:t>
            </a:r>
            <a:r>
              <a:rPr lang="en-US" altLang="en-US" b="1" dirty="0">
                <a:solidFill>
                  <a:srgbClr val="3366FF"/>
                </a:solidFill>
              </a:rPr>
              <a:t>wait-for </a:t>
            </a:r>
            <a:r>
              <a:rPr lang="en-US" altLang="en-US" dirty="0"/>
              <a:t>graph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Nodes are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 </a:t>
            </a:r>
            <a:r>
              <a:rPr lang="en-US" altLang="en-US" b="1" i="1" dirty="0" err="1">
                <a:sym typeface="Symbol" pitchFamily="18" charset="2"/>
              </a:rPr>
              <a:t>P</a:t>
            </a:r>
            <a:r>
              <a:rPr lang="en-US" altLang="en-US" b="1" i="1" baseline="-25000" dirty="0" err="1">
                <a:sym typeface="Symbol" pitchFamily="18" charset="2"/>
              </a:rPr>
              <a:t>j</a:t>
            </a:r>
            <a:r>
              <a:rPr lang="en-US" altLang="en-US" b="1" i="1" baseline="-25000" dirty="0">
                <a:sym typeface="Symbol" pitchFamily="18" charset="2"/>
              </a:rPr>
              <a:t>   </a:t>
            </a:r>
            <a:r>
              <a:rPr lang="en-US" altLang="en-US" dirty="0">
                <a:sym typeface="Symbol" pitchFamily="18" charset="2"/>
              </a:rPr>
              <a:t>if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is waiting for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="1" i="1" dirty="0" err="1">
                <a:sym typeface="Symbol" pitchFamily="18" charset="2"/>
              </a:rPr>
              <a:t>P</a:t>
            </a:r>
            <a:r>
              <a:rPr lang="en-US" altLang="en-US" b="1" i="1" baseline="-25000" dirty="0" err="1">
                <a:sym typeface="Symbol" pitchFamily="18" charset="2"/>
              </a:rPr>
              <a:t>j</a:t>
            </a:r>
            <a:br>
              <a:rPr lang="en-US" altLang="en-US" b="1" i="1" dirty="0">
                <a:sym typeface="Symbol" pitchFamily="18" charset="2"/>
              </a:rPr>
            </a:br>
            <a:endParaRPr lang="en-US" altLang="en-US" b="1" i="1" dirty="0">
              <a:sym typeface="Symbol" pitchFamily="18" charset="2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Periodically invoke an algorithm that searches for a cycle in the graph. If there is a cycle, there exists a deadlock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An algorithm to detect a cycle in a graph requires an order of</a:t>
            </a:r>
            <a:r>
              <a:rPr lang="en-US" altLang="en-US" i="1" dirty="0"/>
              <a:t> </a:t>
            </a:r>
            <a:r>
              <a:rPr lang="en-US" altLang="en-US" b="1" i="1" dirty="0"/>
              <a:t>n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</a:t>
            </a:r>
            <a:r>
              <a:rPr lang="en-US" altLang="en-US" dirty="0"/>
              <a:t>operations, where </a:t>
            </a:r>
            <a:r>
              <a:rPr lang="en-US" altLang="en-US" b="1" i="1" dirty="0"/>
              <a:t>n</a:t>
            </a:r>
            <a:r>
              <a:rPr lang="en-US" altLang="en-US" dirty="0"/>
              <a:t> is the number of vertices in the graph</a:t>
            </a:r>
          </a:p>
        </p:txBody>
      </p:sp>
    </p:spTree>
    <p:extLst>
      <p:ext uri="{BB962C8B-B14F-4D97-AF65-F5344CB8AC3E}">
        <p14:creationId xmlns:p14="http://schemas.microsoft.com/office/powerpoint/2010/main" val="2464469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Resource-Allocation Graph and  Wait-for Graph</a:t>
            </a:r>
          </a:p>
        </p:txBody>
      </p:sp>
      <p:sp>
        <p:nvSpPr>
          <p:cNvPr id="66562" name="Text Box 5"/>
          <p:cNvSpPr txBox="1">
            <a:spLocks noChangeArrowheads="1"/>
          </p:cNvSpPr>
          <p:nvPr/>
        </p:nvSpPr>
        <p:spPr bwMode="auto">
          <a:xfrm>
            <a:off x="1773085" y="5661025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Resource-Allocation Graph</a:t>
            </a:r>
          </a:p>
        </p:txBody>
      </p:sp>
      <p:sp>
        <p:nvSpPr>
          <p:cNvPr id="66563" name="Text Box 6"/>
          <p:cNvSpPr txBox="1">
            <a:spLocks noChangeArrowheads="1"/>
          </p:cNvSpPr>
          <p:nvPr/>
        </p:nvSpPr>
        <p:spPr bwMode="auto">
          <a:xfrm>
            <a:off x="4810125" y="5661025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en-US" dirty="0"/>
              <a:t>Corresponding wait-for graph</a:t>
            </a:r>
          </a:p>
        </p:txBody>
      </p:sp>
      <p:pic>
        <p:nvPicPr>
          <p:cNvPr id="66564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1955800"/>
            <a:ext cx="57404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805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A vector of length </a:t>
            </a:r>
            <a:r>
              <a:rPr lang="en-US" altLang="en-US" b="1" i="1" dirty="0"/>
              <a:t>m</a:t>
            </a:r>
            <a:r>
              <a:rPr lang="en-US" altLang="en-US" dirty="0"/>
              <a:t> indicates the number of available resources of each type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defines the number of resources of each type currently allocated to each process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</a:rPr>
              <a:t>Request</a:t>
            </a:r>
            <a:r>
              <a:rPr lang="en-US" altLang="en-US" i="1" dirty="0"/>
              <a:t>:</a:t>
            </a:r>
            <a:r>
              <a:rPr lang="en-US" altLang="en-US" dirty="0"/>
              <a:t>  An </a:t>
            </a:r>
            <a:r>
              <a:rPr lang="en-US" altLang="en-US" b="1" i="1" dirty="0"/>
              <a:t>n </a:t>
            </a:r>
            <a:r>
              <a:rPr lang="en-US" altLang="en-US" b="1" dirty="0"/>
              <a:t>x</a:t>
            </a:r>
            <a:r>
              <a:rPr lang="en-US" altLang="en-US" b="1" i="1" dirty="0"/>
              <a:t> m</a:t>
            </a:r>
            <a:r>
              <a:rPr lang="en-US" altLang="en-US" b="1" dirty="0"/>
              <a:t> </a:t>
            </a:r>
            <a:r>
              <a:rPr lang="en-US" altLang="en-US" dirty="0"/>
              <a:t>matrix indicates the current request  of each process.  If </a:t>
            </a:r>
            <a:r>
              <a:rPr lang="en-US" altLang="en-US" b="1" i="1" dirty="0"/>
              <a:t>Request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dirty="0"/>
              <a:t>, then process</a:t>
            </a:r>
            <a:r>
              <a:rPr lang="en-US" altLang="en-US" i="1" dirty="0"/>
              <a:t>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is requesting</a:t>
            </a:r>
            <a:r>
              <a:rPr lang="en-US" altLang="en-US" i="1" dirty="0"/>
              <a:t> </a:t>
            </a:r>
            <a:r>
              <a:rPr lang="en-US" altLang="en-US" b="1" i="1" dirty="0"/>
              <a:t>k</a:t>
            </a:r>
            <a:r>
              <a:rPr lang="en-US" altLang="en-US" dirty="0"/>
              <a:t> more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2270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Detection Algorithm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/>
              <a:t>Work</a:t>
            </a:r>
            <a:r>
              <a:rPr lang="en-US" altLang="en-US" dirty="0"/>
              <a:t> and </a:t>
            </a:r>
            <a:r>
              <a:rPr lang="en-US" altLang="en-US" b="1" i="1" dirty="0"/>
              <a:t>Finish</a:t>
            </a:r>
            <a:r>
              <a:rPr lang="en-US" altLang="en-US" dirty="0"/>
              <a:t> be vectors of length </a:t>
            </a:r>
            <a:r>
              <a:rPr lang="en-US" altLang="en-US" b="1" i="1" dirty="0"/>
              <a:t>m</a:t>
            </a:r>
            <a:r>
              <a:rPr lang="en-US" altLang="en-US" dirty="0"/>
              <a:t> and </a:t>
            </a:r>
            <a:r>
              <a:rPr lang="en-US" altLang="en-US" b="1" i="1" dirty="0"/>
              <a:t>n</a:t>
            </a:r>
            <a:r>
              <a:rPr lang="en-US" altLang="en-US" dirty="0"/>
              <a:t>, respectively Initialize: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Available</a:t>
            </a:r>
            <a:endParaRPr lang="en-US" altLang="en-US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(b)	For </a:t>
            </a:r>
            <a:r>
              <a:rPr lang="en-US" altLang="en-US" b="1" i="1" dirty="0"/>
              <a:t>i</a:t>
            </a:r>
            <a:r>
              <a:rPr lang="en-US" altLang="en-US" b="1" dirty="0"/>
              <a:t> = 1,2, …,</a:t>
            </a:r>
            <a:r>
              <a:rPr lang="en-US" altLang="en-US" b="1" i="1" dirty="0"/>
              <a:t> n</a:t>
            </a:r>
            <a:r>
              <a:rPr lang="en-US" altLang="en-US" dirty="0"/>
              <a:t>, if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 0</a:t>
            </a:r>
            <a:r>
              <a:rPr lang="en-US" altLang="en-US" dirty="0">
                <a:sym typeface="Symbol" pitchFamily="18" charset="2"/>
              </a:rPr>
              <a:t>, then 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[i] </a:t>
            </a:r>
            <a:r>
              <a:rPr lang="en-US" altLang="en-US" b="1" i="1" dirty="0">
                <a:sym typeface="Symbol" pitchFamily="18" charset="2"/>
              </a:rPr>
              <a:t>= false</a:t>
            </a:r>
            <a:r>
              <a:rPr lang="en-US" altLang="en-US" dirty="0">
                <a:sym typeface="Symbol" pitchFamily="18" charset="2"/>
              </a:rPr>
              <a:t>; otherwise, </a:t>
            </a: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[i] = </a:t>
            </a:r>
            <a:r>
              <a:rPr lang="en-US" altLang="en-US" b="1" i="1" dirty="0">
                <a:sym typeface="Symbol" pitchFamily="18" charset="2"/>
              </a:rPr>
              <a:t>true</a:t>
            </a:r>
          </a:p>
          <a:p>
            <a:pPr marL="850900" lvl="1" indent="-393700">
              <a:buFont typeface="Monotype Sorts" pitchFamily="-84" charset="2"/>
              <a:buNone/>
            </a:pPr>
            <a:endParaRPr lang="en-US" altLang="en-US" dirty="0">
              <a:sym typeface="Symbol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/>
              <a:t>2.	Find an index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</a:t>
            </a: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(a)	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/>
              <a:t>(b)	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Work</a:t>
            </a:r>
            <a:br>
              <a:rPr lang="en-US" altLang="en-US" b="1" i="1" dirty="0">
                <a:sym typeface="Symbol" pitchFamily="18" charset="2"/>
              </a:rPr>
            </a:br>
            <a:endParaRPr lang="en-US" altLang="en-US" b="1" dirty="0">
              <a:sym typeface="Symbol" pitchFamily="18" charset="2"/>
            </a:endParaRPr>
          </a:p>
          <a:p>
            <a:pPr marL="850900" lvl="1" indent="-393700"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If no such 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exists, go to step 4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2654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Detection Algorithm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3.	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itchFamily="18" charset="2"/>
              </a:rPr>
              <a:t> 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  </a:t>
            </a:r>
            <a:r>
              <a:rPr lang="en-US" altLang="en-US" b="1" i="1" dirty="0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, then the system is in deadlock state. Moreover, if </a:t>
            </a:r>
            <a:r>
              <a:rPr lang="en-US" altLang="en-US" b="1" i="1" dirty="0">
                <a:sym typeface="Symbol" pitchFamily="18" charset="2"/>
              </a:rPr>
              <a:t>Finish</a:t>
            </a:r>
            <a:r>
              <a:rPr lang="en-US" altLang="en-US" b="1" dirty="0">
                <a:sym typeface="Symbol" pitchFamily="18" charset="2"/>
              </a:rPr>
              <a:t>[</a:t>
            </a:r>
            <a:r>
              <a:rPr lang="en-US" altLang="en-US" b="1" i="1" dirty="0">
                <a:sym typeface="Symbol" pitchFamily="18" charset="2"/>
              </a:rPr>
              <a:t>i</a:t>
            </a:r>
            <a:r>
              <a:rPr lang="en-US" altLang="en-US" b="1" dirty="0">
                <a:sym typeface="Symbol" pitchFamily="18" charset="2"/>
              </a:rPr>
              <a:t>] == </a:t>
            </a:r>
            <a:r>
              <a:rPr lang="en-US" altLang="en-US" b="1" i="1" dirty="0">
                <a:sym typeface="Symbol" pitchFamily="18" charset="2"/>
              </a:rPr>
              <a:t>false</a:t>
            </a:r>
            <a:r>
              <a:rPr lang="en-US" altLang="en-US" dirty="0">
                <a:sym typeface="Symbol" pitchFamily="18" charset="2"/>
              </a:rPr>
              <a:t>, then </a:t>
            </a:r>
            <a:r>
              <a:rPr lang="en-US" altLang="en-US" b="1" i="1" dirty="0">
                <a:sym typeface="Symbol" pitchFamily="18" charset="2"/>
              </a:rPr>
              <a:t>P</a:t>
            </a:r>
            <a:r>
              <a:rPr lang="en-US" altLang="en-US" b="1" i="1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852488" y="4788792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  <a:cs typeface="MS PGothic" pitchFamily="34" charset="-128"/>
              </a:defRPr>
            </a:lvl1pPr>
            <a:lvl2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Algorithm requires an order of O(</a:t>
            </a:r>
            <a:r>
              <a:rPr kumimoji="0" lang="en-US" altLang="en-US" b="1" i="1" dirty="0">
                <a:solidFill>
                  <a:srgbClr val="FF0066"/>
                </a:solidFill>
                <a:sym typeface="Symbol" pitchFamily="18" charset="2"/>
              </a:rPr>
              <a:t>m </a:t>
            </a:r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x</a:t>
            </a:r>
            <a:r>
              <a:rPr kumimoji="0" lang="en-US" altLang="en-US" b="1" i="1" dirty="0">
                <a:solidFill>
                  <a:srgbClr val="FF0066"/>
                </a:solidFill>
                <a:sym typeface="Symbol" pitchFamily="18" charset="2"/>
              </a:rPr>
              <a:t> n</a:t>
            </a:r>
            <a:r>
              <a:rPr kumimoji="0" lang="en-US" altLang="en-US" b="1" baseline="30000" dirty="0">
                <a:solidFill>
                  <a:srgbClr val="FF0066"/>
                </a:solidFill>
                <a:sym typeface="Symbol" pitchFamily="18" charset="2"/>
              </a:rPr>
              <a:t>2</a:t>
            </a:r>
            <a:r>
              <a:rPr kumimoji="0" lang="en-US" altLang="en-US" b="1" dirty="0">
                <a:solidFill>
                  <a:srgbClr val="FF0066"/>
                </a:solidFill>
                <a:sym typeface="Symbol" pitchFamily="18" charset="2"/>
              </a:rPr>
              <a:t>) operations to detect whether the system is in deadlocked state</a:t>
            </a:r>
            <a:endParaRPr kumimoji="0" lang="en-US" altLang="en-US" dirty="0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</a:pPr>
            <a:endParaRPr kumimoji="0" lang="en-US" altLang="en-US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17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Example of Detection Algorithm</a:t>
            </a: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 A B C 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          0 1 0               0 0 0 	0 0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 2 0 0 	  2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 3 0 3               0 0 0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    P</a:t>
            </a:r>
            <a:r>
              <a:rPr lang="en-US" altLang="en-US" baseline="-25000" dirty="0"/>
              <a:t>3</a:t>
            </a:r>
            <a:r>
              <a:rPr lang="en-US" altLang="en-US" dirty="0"/>
              <a:t>		2 1 1 	  1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	0 0 2 	   0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50076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Example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7680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4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192427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Detection-Algorithm Usage</a:t>
            </a: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/>
              <a:t>When, and how often, to invoke depends on: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How often a deadlock is likely to occur?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How many processes will need to be rolled back?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/>
              <a:t>one for each disjoint cycle</a:t>
            </a:r>
            <a:br>
              <a:rPr lang="en-US" altLang="en-US"/>
            </a:br>
            <a:endParaRPr lang="en-US" altLang="en-US"/>
          </a:p>
          <a:p>
            <a:pPr>
              <a:buFont typeface="Wingdings" pitchFamily="2" charset="2"/>
              <a:buChar char="q"/>
            </a:pPr>
            <a:r>
              <a:rPr lang="en-US" altLang="en-US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/>
              <a:t>“</a:t>
            </a:r>
            <a:r>
              <a:rPr lang="en-US" altLang="ja-JP"/>
              <a:t>caused</a:t>
            </a:r>
            <a:r>
              <a:rPr lang="ja-JP" altLang="en-US"/>
              <a:t>”</a:t>
            </a:r>
            <a:r>
              <a:rPr lang="en-US" altLang="ja-JP"/>
              <a:t> the deadlock.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7519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Recovery from Deadlock:  Process Termination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290905" y="1995813"/>
            <a:ext cx="8567345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Abort all deadlocked processes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Abort one process at a time until the deadlock cycle is eliminated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In which order should we choose to abort?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Priority of the process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How long process has computed, and how much longer to completion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Resources the process has used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Resources process needs to complete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How many processes will need to be terminated</a:t>
            </a:r>
          </a:p>
          <a:p>
            <a:pPr marL="800100" lvl="1" indent="-342900">
              <a:buFont typeface="Arial" pitchFamily="34" charset="0"/>
              <a:buAutoNum type="arabicPeriod"/>
            </a:pPr>
            <a:r>
              <a:rPr lang="en-US" altLang="en-US" dirty="0"/>
              <a:t>Is process interactive or batch?</a:t>
            </a:r>
          </a:p>
        </p:txBody>
      </p:sp>
    </p:spTree>
    <p:extLst>
      <p:ext uri="{BB962C8B-B14F-4D97-AF65-F5344CB8AC3E}">
        <p14:creationId xmlns:p14="http://schemas.microsoft.com/office/powerpoint/2010/main" val="27019953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/>
              <a:t>Recovery from Deadlock:  Resource Preemption</a:t>
            </a:r>
          </a:p>
        </p:txBody>
      </p:sp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Selecting a victim </a:t>
            </a:r>
            <a:r>
              <a:rPr lang="en-US" altLang="en-US" dirty="0"/>
              <a:t>– minimize cost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Rollback</a:t>
            </a:r>
            <a:r>
              <a:rPr lang="en-US" altLang="en-US" dirty="0"/>
              <a:t> – return to some safe state, restart process for that state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Starvation</a:t>
            </a:r>
            <a:r>
              <a:rPr lang="en-US" altLang="en-US" dirty="0"/>
              <a:t> –  same process may always be picked as victim, include number of rollback in cost factor</a:t>
            </a:r>
          </a:p>
        </p:txBody>
      </p:sp>
    </p:spTree>
    <p:extLst>
      <p:ext uri="{BB962C8B-B14F-4D97-AF65-F5344CB8AC3E}">
        <p14:creationId xmlns:p14="http://schemas.microsoft.com/office/powerpoint/2010/main" val="1606804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15798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211</TotalTime>
  <Words>2893</Words>
  <Application>Microsoft Office PowerPoint</Application>
  <PresentationFormat>On-screen Show (4:3)</PresentationFormat>
  <Paragraphs>323</Paragraphs>
  <Slides>45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Corbel</vt:lpstr>
      <vt:lpstr>Courier New</vt:lpstr>
      <vt:lpstr>Helvetica</vt:lpstr>
      <vt:lpstr>Monotype Sorts</vt:lpstr>
      <vt:lpstr>Times New Roman</vt:lpstr>
      <vt:lpstr>Wingdings</vt:lpstr>
      <vt:lpstr>Spectrum</vt:lpstr>
      <vt:lpstr>Deadlocks</vt:lpstr>
      <vt:lpstr>Lecture Outline</vt:lpstr>
      <vt:lpstr>System Model</vt:lpstr>
      <vt:lpstr>Deadlock in Multithreaded Application</vt:lpstr>
      <vt:lpstr>Deadlock in Multithreaded Application</vt:lpstr>
      <vt:lpstr>Deadlock in Multithreaded Application</vt:lpstr>
      <vt:lpstr>Deadlock Characterization</vt:lpstr>
      <vt:lpstr>Resource-Allocation Graph</vt:lpstr>
      <vt:lpstr>Resource Allocation Graph Example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(cont’d)</vt:lpstr>
      <vt:lpstr>Circular Wait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(cont’d)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(cont’d)</vt:lpstr>
      <vt:lpstr>Example of Detection Algorithm</vt:lpstr>
      <vt:lpstr>Example (cont’d)</vt:lpstr>
      <vt:lpstr>Detection-Algorithm Usage</vt:lpstr>
      <vt:lpstr>Recovery from Deadlock:  Process Termination</vt:lpstr>
      <vt:lpstr>Recovery from Deadlock:  Resource Preemption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25</cp:revision>
  <dcterms:created xsi:type="dcterms:W3CDTF">2018-12-10T17:20:29Z</dcterms:created>
  <dcterms:modified xsi:type="dcterms:W3CDTF">2020-12-05T03:02:21Z</dcterms:modified>
</cp:coreProperties>
</file>