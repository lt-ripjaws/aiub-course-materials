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256" r:id="rId2"/>
    <p:sldId id="257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5" r:id="rId20"/>
    <p:sldId id="290" r:id="rId21"/>
    <p:sldId id="291" r:id="rId22"/>
    <p:sldId id="292" r:id="rId23"/>
    <p:sldId id="293" r:id="rId24"/>
    <p:sldId id="294" r:id="rId25"/>
    <p:sldId id="264" r:id="rId26"/>
    <p:sldId id="265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SYEDA ANIKA TASNIM" userId="8fb70a1d-16e3-4c86-a699-7b87e9bfa60b" providerId="ADAL" clId="{4C380A72-E1EB-42AB-8313-ED8A0E3BB131}"/>
    <pc:docChg chg="custSel modSld">
      <pc:chgData name="SYEDA ANIKA TASNIM" userId="8fb70a1d-16e3-4c86-a699-7b87e9bfa60b" providerId="ADAL" clId="{4C380A72-E1EB-42AB-8313-ED8A0E3BB131}" dt="2020-07-05T16:22:08.847" v="70" actId="20577"/>
      <pc:docMkLst>
        <pc:docMk/>
      </pc:docMkLst>
      <pc:sldChg chg="modSp mod">
        <pc:chgData name="SYEDA ANIKA TASNIM" userId="8fb70a1d-16e3-4c86-a699-7b87e9bfa60b" providerId="ADAL" clId="{4C380A72-E1EB-42AB-8313-ED8A0E3BB131}" dt="2020-07-05T16:22:08.847" v="70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4C380A72-E1EB-42AB-8313-ED8A0E3BB131}" dt="2020-07-05T16:22:08.847" v="70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SYEDA ANIKA TASNIM" userId="8fb70a1d-16e3-4c86-a699-7b87e9bfa60b" providerId="ADAL" clId="{2866CF3D-9FB2-41B1-84EF-D730975CF388}"/>
    <pc:docChg chg="modSld">
      <pc:chgData name="SYEDA ANIKA TASNIM" userId="8fb70a1d-16e3-4c86-a699-7b87e9bfa60b" providerId="ADAL" clId="{2866CF3D-9FB2-41B1-84EF-D730975CF388}" dt="2020-10-13T14:15:07.346" v="9" actId="20577"/>
      <pc:docMkLst>
        <pc:docMk/>
      </pc:docMkLst>
      <pc:sldChg chg="modSp mod">
        <pc:chgData name="SYEDA ANIKA TASNIM" userId="8fb70a1d-16e3-4c86-a699-7b87e9bfa60b" providerId="ADAL" clId="{2866CF3D-9FB2-41B1-84EF-D730975CF388}" dt="2020-10-13T14:15:07.346" v="9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2866CF3D-9FB2-41B1-84EF-D730975CF388}" dt="2020-10-13T14:15:07.346" v="9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62E78-F200-4C4C-BC42-C27AC9E77916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B0FEB-E303-4A4A-A013-42557A45C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20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8A6F7A34-ABE9-1E40-85F5-8C4431999E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EC68E35E-81B0-D249-B74C-22A642A166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36C83237-E5D5-6B4C-858F-09D6D029C5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37890" name="Rectangle 3">
            <a:extLst>
              <a:ext uri="{FF2B5EF4-FFF2-40B4-BE49-F238E27FC236}">
                <a16:creationId xmlns:a16="http://schemas.microsoft.com/office/drawing/2014/main" id="{4913759A-7495-804B-8AB8-02C44669B4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:a16="http://schemas.microsoft.com/office/drawing/2014/main" id="{47643A85-49B9-134A-A24C-858AEAFEBA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40962" name="Rectangle 3">
            <a:extLst>
              <a:ext uri="{FF2B5EF4-FFF2-40B4-BE49-F238E27FC236}">
                <a16:creationId xmlns:a16="http://schemas.microsoft.com/office/drawing/2014/main" id="{F36347D4-A7FD-C94B-986C-2642C64D76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>
            <a:extLst>
              <a:ext uri="{FF2B5EF4-FFF2-40B4-BE49-F238E27FC236}">
                <a16:creationId xmlns:a16="http://schemas.microsoft.com/office/drawing/2014/main" id="{8531EA42-8C32-AB49-8337-686313F124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43010" name="Rectangle 3">
            <a:extLst>
              <a:ext uri="{FF2B5EF4-FFF2-40B4-BE49-F238E27FC236}">
                <a16:creationId xmlns:a16="http://schemas.microsoft.com/office/drawing/2014/main" id="{30E995F2-D14A-AA43-85F3-ADD99AA4BE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>
            <a:extLst>
              <a:ext uri="{FF2B5EF4-FFF2-40B4-BE49-F238E27FC236}">
                <a16:creationId xmlns:a16="http://schemas.microsoft.com/office/drawing/2014/main" id="{765D3643-356D-5A46-8C50-0E4767B84A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45058" name="Rectangle 3">
            <a:extLst>
              <a:ext uri="{FF2B5EF4-FFF2-40B4-BE49-F238E27FC236}">
                <a16:creationId xmlns:a16="http://schemas.microsoft.com/office/drawing/2014/main" id="{C02411B3-5FCD-7D44-8A45-F5E0A79792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>
            <a:extLst>
              <a:ext uri="{FF2B5EF4-FFF2-40B4-BE49-F238E27FC236}">
                <a16:creationId xmlns:a16="http://schemas.microsoft.com/office/drawing/2014/main" id="{6445FD6D-9B1B-4440-9B5D-B54FB2DE2F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47106" name="Rectangle 3">
            <a:extLst>
              <a:ext uri="{FF2B5EF4-FFF2-40B4-BE49-F238E27FC236}">
                <a16:creationId xmlns:a16="http://schemas.microsoft.com/office/drawing/2014/main" id="{478C66A9-9722-304C-BD2B-1841632C74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>
            <a:extLst>
              <a:ext uri="{FF2B5EF4-FFF2-40B4-BE49-F238E27FC236}">
                <a16:creationId xmlns:a16="http://schemas.microsoft.com/office/drawing/2014/main" id="{C47A6785-75BF-7142-8DEA-654B272113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49154" name="Rectangle 3">
            <a:extLst>
              <a:ext uri="{FF2B5EF4-FFF2-40B4-BE49-F238E27FC236}">
                <a16:creationId xmlns:a16="http://schemas.microsoft.com/office/drawing/2014/main" id="{3A06F031-58FB-804C-9BCA-58509AE988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>
            <a:extLst>
              <a:ext uri="{FF2B5EF4-FFF2-40B4-BE49-F238E27FC236}">
                <a16:creationId xmlns:a16="http://schemas.microsoft.com/office/drawing/2014/main" id="{DBA947BE-FB84-7D42-8DC9-97704A2F2B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51202" name="Rectangle 3">
            <a:extLst>
              <a:ext uri="{FF2B5EF4-FFF2-40B4-BE49-F238E27FC236}">
                <a16:creationId xmlns:a16="http://schemas.microsoft.com/office/drawing/2014/main" id="{1FEE3161-4D36-9E40-983E-3FE268BC20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>
            <a:extLst>
              <a:ext uri="{FF2B5EF4-FFF2-40B4-BE49-F238E27FC236}">
                <a16:creationId xmlns:a16="http://schemas.microsoft.com/office/drawing/2014/main" id="{735502CA-F728-6D44-9E5D-12EAD48697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53250" name="Rectangle 3">
            <a:extLst>
              <a:ext uri="{FF2B5EF4-FFF2-40B4-BE49-F238E27FC236}">
                <a16:creationId xmlns:a16="http://schemas.microsoft.com/office/drawing/2014/main" id="{5A848763-6D55-184A-9398-6955045EAE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>
            <a:extLst>
              <a:ext uri="{FF2B5EF4-FFF2-40B4-BE49-F238E27FC236}">
                <a16:creationId xmlns:a16="http://schemas.microsoft.com/office/drawing/2014/main" id="{E1B2F710-AA64-2C42-AD30-BA6A9C3E91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56322" name="Rectangle 3">
            <a:extLst>
              <a:ext uri="{FF2B5EF4-FFF2-40B4-BE49-F238E27FC236}">
                <a16:creationId xmlns:a16="http://schemas.microsoft.com/office/drawing/2014/main" id="{8EC7D067-7935-8E44-A8B4-F37243E7CC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>
            <a:extLst>
              <a:ext uri="{FF2B5EF4-FFF2-40B4-BE49-F238E27FC236}">
                <a16:creationId xmlns:a16="http://schemas.microsoft.com/office/drawing/2014/main" id="{A59558DB-AC20-F143-8421-97D4F3936B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0418" name="Rectangle 3">
            <a:extLst>
              <a:ext uri="{FF2B5EF4-FFF2-40B4-BE49-F238E27FC236}">
                <a16:creationId xmlns:a16="http://schemas.microsoft.com/office/drawing/2014/main" id="{CA49ADA8-9BD9-EC46-A865-C0524B65D6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>
            <a:extLst>
              <a:ext uri="{FF2B5EF4-FFF2-40B4-BE49-F238E27FC236}">
                <a16:creationId xmlns:a16="http://schemas.microsoft.com/office/drawing/2014/main" id="{32E2C85F-AFCC-E749-BDB1-3C32225BEB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2466" name="Rectangle 3">
            <a:extLst>
              <a:ext uri="{FF2B5EF4-FFF2-40B4-BE49-F238E27FC236}">
                <a16:creationId xmlns:a16="http://schemas.microsoft.com/office/drawing/2014/main" id="{FFEC1E1A-FA33-1A40-B2C0-17E521A701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>
            <a:extLst>
              <a:ext uri="{FF2B5EF4-FFF2-40B4-BE49-F238E27FC236}">
                <a16:creationId xmlns:a16="http://schemas.microsoft.com/office/drawing/2014/main" id="{223D39AC-1F68-634A-B5C0-C0CF273DE9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4514" name="Rectangle 3">
            <a:extLst>
              <a:ext uri="{FF2B5EF4-FFF2-40B4-BE49-F238E27FC236}">
                <a16:creationId xmlns:a16="http://schemas.microsoft.com/office/drawing/2014/main" id="{F1593C20-A255-7F45-863A-55BD03A10A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>
            <a:extLst>
              <a:ext uri="{FF2B5EF4-FFF2-40B4-BE49-F238E27FC236}">
                <a16:creationId xmlns:a16="http://schemas.microsoft.com/office/drawing/2014/main" id="{97116F2F-EB60-3C4F-8C30-5613FA86BF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6562" name="Rectangle 3">
            <a:extLst>
              <a:ext uri="{FF2B5EF4-FFF2-40B4-BE49-F238E27FC236}">
                <a16:creationId xmlns:a16="http://schemas.microsoft.com/office/drawing/2014/main" id="{92978029-BD8A-0C43-8CAF-3163D8DD3D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>
            <a:extLst>
              <a:ext uri="{FF2B5EF4-FFF2-40B4-BE49-F238E27FC236}">
                <a16:creationId xmlns:a16="http://schemas.microsoft.com/office/drawing/2014/main" id="{D2DD298A-1DF8-3C47-9440-0600316D23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8610" name="Rectangle 3">
            <a:extLst>
              <a:ext uri="{FF2B5EF4-FFF2-40B4-BE49-F238E27FC236}">
                <a16:creationId xmlns:a16="http://schemas.microsoft.com/office/drawing/2014/main" id="{88E2A844-2683-3B47-A5A5-47A0ABC933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>
            <a:extLst>
              <a:ext uri="{FF2B5EF4-FFF2-40B4-BE49-F238E27FC236}">
                <a16:creationId xmlns:a16="http://schemas.microsoft.com/office/drawing/2014/main" id="{D2DD298A-1DF8-3C47-9440-0600316D23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8610" name="Rectangle 3">
            <a:extLst>
              <a:ext uri="{FF2B5EF4-FFF2-40B4-BE49-F238E27FC236}">
                <a16:creationId xmlns:a16="http://schemas.microsoft.com/office/drawing/2014/main" id="{88E2A844-2683-3B47-A5A5-47A0ABC933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>
            <a:extLst>
              <a:ext uri="{FF2B5EF4-FFF2-40B4-BE49-F238E27FC236}">
                <a16:creationId xmlns:a16="http://schemas.microsoft.com/office/drawing/2014/main" id="{DB5E821C-AB50-274A-BD58-6376AF4737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70658" name="Rectangle 3">
            <a:extLst>
              <a:ext uri="{FF2B5EF4-FFF2-40B4-BE49-F238E27FC236}">
                <a16:creationId xmlns:a16="http://schemas.microsoft.com/office/drawing/2014/main" id="{B4E90D7E-4B28-9347-A3F2-9E94A0EE48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>
            <a:extLst>
              <a:ext uri="{FF2B5EF4-FFF2-40B4-BE49-F238E27FC236}">
                <a16:creationId xmlns:a16="http://schemas.microsoft.com/office/drawing/2014/main" id="{905EECBD-94C2-8A46-9104-F8B166072D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72706" name="Rectangle 3">
            <a:extLst>
              <a:ext uri="{FF2B5EF4-FFF2-40B4-BE49-F238E27FC236}">
                <a16:creationId xmlns:a16="http://schemas.microsoft.com/office/drawing/2014/main" id="{9323CCA7-F979-0444-B0BC-B48A3FAB8F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>
            <a:extLst>
              <a:ext uri="{FF2B5EF4-FFF2-40B4-BE49-F238E27FC236}">
                <a16:creationId xmlns:a16="http://schemas.microsoft.com/office/drawing/2014/main" id="{7EE8BFC8-C2F7-DF4C-B00C-CBFDB644E5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74754" name="Rectangle 3">
            <a:extLst>
              <a:ext uri="{FF2B5EF4-FFF2-40B4-BE49-F238E27FC236}">
                <a16:creationId xmlns:a16="http://schemas.microsoft.com/office/drawing/2014/main" id="{9417CC1D-00A8-F24F-B647-3753B68131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>
            <a:extLst>
              <a:ext uri="{FF2B5EF4-FFF2-40B4-BE49-F238E27FC236}">
                <a16:creationId xmlns:a16="http://schemas.microsoft.com/office/drawing/2014/main" id="{D361B4E0-350D-3747-994A-E9897DEC57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76802" name="Rectangle 3">
            <a:extLst>
              <a:ext uri="{FF2B5EF4-FFF2-40B4-BE49-F238E27FC236}">
                <a16:creationId xmlns:a16="http://schemas.microsoft.com/office/drawing/2014/main" id="{CF6AC8FC-D5CD-9E46-80C3-FFA2F63549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>
            <a:extLst>
              <a:ext uri="{FF2B5EF4-FFF2-40B4-BE49-F238E27FC236}">
                <a16:creationId xmlns:a16="http://schemas.microsoft.com/office/drawing/2014/main" id="{3718A27B-597F-BB4C-8DC7-1391F9574E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80898" name="Rectangle 3">
            <a:extLst>
              <a:ext uri="{FF2B5EF4-FFF2-40B4-BE49-F238E27FC236}">
                <a16:creationId xmlns:a16="http://schemas.microsoft.com/office/drawing/2014/main" id="{B60AC6B1-897E-8648-8A5E-6A48466188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Operating System Concepts </a:t>
            </a:r>
            <a:r>
              <a:rPr lang="en-US" altLang="en-US" sz="1800" dirty="0"/>
              <a:t>(cont’d)</a:t>
            </a:r>
            <a:r>
              <a:rPr lang="en-US" sz="1800" dirty="0"/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2209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2805319"/>
              </p:ext>
            </p:extLst>
          </p:nvPr>
        </p:nvGraphicFramePr>
        <p:xfrm>
          <a:off x="476205" y="5186042"/>
          <a:ext cx="8335798" cy="101881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284795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83110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659035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Fall 20-21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 err="1"/>
                        <a:t>Syeda</a:t>
                      </a:r>
                      <a:r>
                        <a:rPr lang="en-US" i="1" dirty="0"/>
                        <a:t> Anika </a:t>
                      </a:r>
                      <a:r>
                        <a:rPr lang="en-US" i="1" dirty="0" err="1"/>
                        <a:t>Tasnim</a:t>
                      </a:r>
                      <a:endParaRPr lang="en-US" i="1" dirty="0"/>
                    </a:p>
                    <a:p>
                      <a:r>
                        <a:rPr lang="en-US" i="1" dirty="0"/>
                        <a:t>anika.tasnim@aiub.edu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088356"/>
            <a:ext cx="7754112" cy="3886560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I/O Structure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Storage Structure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How a Modern Computer Works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Direct Memory Access Structure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Computer-System Architecture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A Dual-Core Design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Clustered Systems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Operating-System Operations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Multiprogramming and Multitasking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Dual-mode and Multimode Operation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Process Management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Memory Management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File-system Management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Caching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B7F62A2A-94A6-7B47-9702-784BF557B7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dirty="0"/>
              <a:t>I/O Structure</a:t>
            </a:r>
          </a:p>
        </p:txBody>
      </p:sp>
      <p:sp>
        <p:nvSpPr>
          <p:cNvPr id="34818" name="Rectangle 3">
            <a:extLst>
              <a:ext uri="{FF2B5EF4-FFF2-40B4-BE49-F238E27FC236}">
                <a16:creationId xmlns:a16="http://schemas.microsoft.com/office/drawing/2014/main" id="{725D350E-D4C1-6B4C-B91C-0D6DE209D6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4163" y="1920656"/>
            <a:ext cx="7076747" cy="399256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After I/O starts, control returns to user program only upon I/O completion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Wait instruction idles the CPU until the next interrupt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Wait loop (contention for memory access)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At most one I/O request is outstanding at a time, no simultaneous I/O processing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After I/O starts, control returns to user program without waiting for I/O completion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System call </a:t>
            </a:r>
            <a:r>
              <a:rPr lang="en-US" altLang="en-US" dirty="0"/>
              <a:t>– request to the OS to allow user to wait for I/O completion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Device-status table </a:t>
            </a:r>
            <a:r>
              <a:rPr lang="en-US" altLang="en-US" dirty="0"/>
              <a:t>contains entry for each I/O device indicating its type, address, and state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OS indexes into I/O device table to determine device status and to modify table entry to include interrupt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51448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D7E146AD-FE2B-4841-853B-3080689FCD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Storage Structure</a:t>
            </a:r>
          </a:p>
        </p:txBody>
      </p:sp>
      <p:sp>
        <p:nvSpPr>
          <p:cNvPr id="36866" name="Rectangle 3">
            <a:extLst>
              <a:ext uri="{FF2B5EF4-FFF2-40B4-BE49-F238E27FC236}">
                <a16:creationId xmlns:a16="http://schemas.microsoft.com/office/drawing/2014/main" id="{AA01396F-940C-C24B-989D-FA721D42DF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4163" y="1757819"/>
            <a:ext cx="8574087" cy="4818345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sz="1900" dirty="0"/>
              <a:t>Main memory – only large storage media that the CPU can access directly</a:t>
            </a:r>
          </a:p>
          <a:p>
            <a:pPr lvl="1"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sz="1900" b="1" dirty="0">
                <a:solidFill>
                  <a:srgbClr val="3366FF"/>
                </a:solidFill>
              </a:rPr>
              <a:t>Random</a:t>
            </a:r>
            <a:r>
              <a:rPr lang="en-US" altLang="en-US" sz="1900" dirty="0">
                <a:solidFill>
                  <a:srgbClr val="0000FF"/>
                </a:solidFill>
              </a:rPr>
              <a:t> </a:t>
            </a:r>
            <a:r>
              <a:rPr lang="en-US" altLang="en-US" sz="1900" b="1" dirty="0">
                <a:solidFill>
                  <a:srgbClr val="3366FF"/>
                </a:solidFill>
              </a:rPr>
              <a:t>access</a:t>
            </a:r>
          </a:p>
          <a:p>
            <a:pPr lvl="1"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sz="1900" dirty="0"/>
              <a:t>Typically </a:t>
            </a:r>
            <a:r>
              <a:rPr lang="en-US" altLang="en-US" sz="1900" b="1" dirty="0">
                <a:solidFill>
                  <a:srgbClr val="3366FF"/>
                </a:solidFill>
              </a:rPr>
              <a:t>volatile</a:t>
            </a:r>
          </a:p>
          <a:p>
            <a:pPr lvl="1"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sz="1900" dirty="0"/>
              <a:t>Typically</a:t>
            </a:r>
            <a:r>
              <a:rPr lang="en-US" altLang="en-US" sz="1900" b="1" dirty="0">
                <a:solidFill>
                  <a:srgbClr val="3366FF"/>
                </a:solidFill>
              </a:rPr>
              <a:t> random-access memory </a:t>
            </a:r>
            <a:r>
              <a:rPr lang="en-US" altLang="en-US" sz="1900" dirty="0"/>
              <a:t>in the form of </a:t>
            </a:r>
            <a:r>
              <a:rPr lang="en-US" altLang="en-US" sz="1900" b="1" dirty="0">
                <a:solidFill>
                  <a:srgbClr val="3366FF"/>
                </a:solidFill>
              </a:rPr>
              <a:t>Dynamic Random-access Memory (DRAM)</a:t>
            </a:r>
          </a:p>
          <a:p>
            <a:pPr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sz="1900" dirty="0"/>
              <a:t>Secondary storage – extension of main memory that provides large </a:t>
            </a:r>
            <a:r>
              <a:rPr lang="en-US" altLang="en-US" sz="1900" b="1" dirty="0">
                <a:solidFill>
                  <a:srgbClr val="3366FF"/>
                </a:solidFill>
              </a:rPr>
              <a:t>nonvolatile</a:t>
            </a:r>
            <a:r>
              <a:rPr lang="en-US" altLang="en-US" sz="1900" dirty="0">
                <a:solidFill>
                  <a:srgbClr val="0000FF"/>
                </a:solidFill>
              </a:rPr>
              <a:t> </a:t>
            </a:r>
            <a:r>
              <a:rPr lang="en-US" altLang="en-US" sz="1900" dirty="0"/>
              <a:t>storage capacity</a:t>
            </a:r>
          </a:p>
          <a:p>
            <a:pPr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sz="1900" b="1" dirty="0">
                <a:solidFill>
                  <a:srgbClr val="3366FF"/>
                </a:solidFill>
              </a:rPr>
              <a:t>Hard Disk Drives </a:t>
            </a:r>
            <a:r>
              <a:rPr lang="en-US" altLang="en-US" sz="1900" dirty="0"/>
              <a:t>(</a:t>
            </a:r>
            <a:r>
              <a:rPr lang="en-US" altLang="en-US" sz="1900" b="1" dirty="0">
                <a:solidFill>
                  <a:srgbClr val="3366FF"/>
                </a:solidFill>
              </a:rPr>
              <a:t>HDD</a:t>
            </a:r>
            <a:r>
              <a:rPr lang="en-US" altLang="en-US" sz="1900" dirty="0"/>
              <a:t>) – rigid metal or glass platters covered with magnetic recording material </a:t>
            </a:r>
          </a:p>
          <a:p>
            <a:pPr lvl="1"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sz="1900" dirty="0"/>
              <a:t>Disk surface is logically divided into </a:t>
            </a:r>
            <a:r>
              <a:rPr lang="en-US" altLang="en-US" sz="1900" b="1" dirty="0">
                <a:solidFill>
                  <a:srgbClr val="3366FF"/>
                </a:solidFill>
              </a:rPr>
              <a:t>tracks</a:t>
            </a:r>
            <a:r>
              <a:rPr lang="en-US" altLang="en-US" sz="1900" dirty="0"/>
              <a:t>, which are subdivided into </a:t>
            </a:r>
            <a:r>
              <a:rPr lang="en-US" altLang="en-US" sz="1900" b="1" dirty="0">
                <a:solidFill>
                  <a:srgbClr val="3366FF"/>
                </a:solidFill>
              </a:rPr>
              <a:t>sectors</a:t>
            </a:r>
          </a:p>
          <a:p>
            <a:pPr lvl="1"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sz="1900" dirty="0"/>
              <a:t>The </a:t>
            </a:r>
            <a:r>
              <a:rPr lang="en-US" altLang="en-US" sz="1900" b="1" dirty="0">
                <a:solidFill>
                  <a:srgbClr val="3366FF"/>
                </a:solidFill>
              </a:rPr>
              <a:t>disk controller </a:t>
            </a:r>
            <a:r>
              <a:rPr lang="en-US" altLang="en-US" sz="1900" dirty="0"/>
              <a:t>determines the logical interaction between the device and the computer </a:t>
            </a:r>
          </a:p>
          <a:p>
            <a:pPr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sz="1900" b="1" dirty="0">
                <a:solidFill>
                  <a:srgbClr val="3366FF"/>
                </a:solidFill>
              </a:rPr>
              <a:t>Non-volatile memory (NVM) </a:t>
            </a:r>
            <a:r>
              <a:rPr lang="en-US" altLang="en-US" sz="1900" dirty="0"/>
              <a:t>devices– faster than hard disks, nonvolatile</a:t>
            </a:r>
          </a:p>
          <a:p>
            <a:pPr lvl="1"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sz="1900" dirty="0"/>
              <a:t>Various technologies</a:t>
            </a:r>
          </a:p>
          <a:p>
            <a:pPr lvl="1"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sz="1900" dirty="0"/>
              <a:t>Becoming more popular as capacity and performance increases, price drops</a:t>
            </a:r>
          </a:p>
        </p:txBody>
      </p:sp>
    </p:spTree>
    <p:extLst>
      <p:ext uri="{BB962C8B-B14F-4D97-AF65-F5344CB8AC3E}">
        <p14:creationId xmlns:p14="http://schemas.microsoft.com/office/powerpoint/2010/main" val="2296267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>
            <a:extLst>
              <a:ext uri="{FF2B5EF4-FFF2-40B4-BE49-F238E27FC236}">
                <a16:creationId xmlns:a16="http://schemas.microsoft.com/office/drawing/2014/main" id="{4F5F4D05-4C79-434D-A140-278C98904A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Storage Hierarchy</a:t>
            </a:r>
          </a:p>
        </p:txBody>
      </p:sp>
      <p:sp>
        <p:nvSpPr>
          <p:cNvPr id="39938" name="Rectangle 3">
            <a:extLst>
              <a:ext uri="{FF2B5EF4-FFF2-40B4-BE49-F238E27FC236}">
                <a16:creationId xmlns:a16="http://schemas.microsoft.com/office/drawing/2014/main" id="{98D96D30-8DCF-8E46-961C-C67B9161F3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4163" y="2020865"/>
            <a:ext cx="7076747" cy="3992563"/>
          </a:xfrm>
        </p:spPr>
        <p:txBody>
          <a:bodyPr>
            <a:normAutofit fontScale="925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Storage systems organized in hierarchy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Speed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Cost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Volatility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Caching</a:t>
            </a:r>
            <a:r>
              <a:rPr lang="en-US" altLang="en-US" dirty="0"/>
              <a:t> – copying information into faster storage system; main memory can be viewed as a cache for secondary storage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Device Driver </a:t>
            </a:r>
            <a:r>
              <a:rPr lang="en-US" altLang="en-US" dirty="0"/>
              <a:t>for each device controller to manage I/O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Provides uniform interface between controller and kernel</a:t>
            </a:r>
          </a:p>
        </p:txBody>
      </p:sp>
    </p:spTree>
    <p:extLst>
      <p:ext uri="{BB962C8B-B14F-4D97-AF65-F5344CB8AC3E}">
        <p14:creationId xmlns:p14="http://schemas.microsoft.com/office/powerpoint/2010/main" val="1523151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140FA89C-B033-774E-BE29-D541505123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Storage-Device Hierarchy</a:t>
            </a:r>
          </a:p>
        </p:txBody>
      </p:sp>
      <p:pic>
        <p:nvPicPr>
          <p:cNvPr id="41986" name="Picture 2">
            <a:extLst>
              <a:ext uri="{FF2B5EF4-FFF2-40B4-BE49-F238E27FC236}">
                <a16:creationId xmlns:a16="http://schemas.microsoft.com/office/drawing/2014/main" id="{6615CA44-6ED8-2446-AA3F-6D3C509A06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318" y="1979112"/>
            <a:ext cx="7420297" cy="4789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27107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>
            <a:extLst>
              <a:ext uri="{FF2B5EF4-FFF2-40B4-BE49-F238E27FC236}">
                <a16:creationId xmlns:a16="http://schemas.microsoft.com/office/drawing/2014/main" id="{6E94B4D2-5ADA-8D47-A8C4-CE05C4BF77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How a Modern Computer Works</a:t>
            </a:r>
          </a:p>
        </p:txBody>
      </p:sp>
      <p:sp>
        <p:nvSpPr>
          <p:cNvPr id="44034" name="TextBox 3">
            <a:extLst>
              <a:ext uri="{FF2B5EF4-FFF2-40B4-BE49-F238E27FC236}">
                <a16:creationId xmlns:a16="http://schemas.microsoft.com/office/drawing/2014/main" id="{193B8596-4020-E248-B598-8876939F6F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4129" y="6239377"/>
            <a:ext cx="2395803" cy="2719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167" i="1" dirty="0">
                <a:latin typeface="Verdana" panose="020B0604030504040204" pitchFamily="34" charset="0"/>
              </a:rPr>
              <a:t>A von Neumann architecture</a:t>
            </a:r>
          </a:p>
        </p:txBody>
      </p:sp>
      <p:pic>
        <p:nvPicPr>
          <p:cNvPr id="44035" name="Picture 2">
            <a:extLst>
              <a:ext uri="{FF2B5EF4-FFF2-40B4-BE49-F238E27FC236}">
                <a16:creationId xmlns:a16="http://schemas.microsoft.com/office/drawing/2014/main" id="{58B7F53F-CDFA-4144-93D6-D319818438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679" y="1916480"/>
            <a:ext cx="6112701" cy="4757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7186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>
            <a:extLst>
              <a:ext uri="{FF2B5EF4-FFF2-40B4-BE49-F238E27FC236}">
                <a16:creationId xmlns:a16="http://schemas.microsoft.com/office/drawing/2014/main" id="{BDC6CD40-10B7-1444-A8A0-048D0CE13D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Direct Memory Access Structure</a:t>
            </a:r>
          </a:p>
        </p:txBody>
      </p:sp>
      <p:sp>
        <p:nvSpPr>
          <p:cNvPr id="46082" name="Rectangle 3">
            <a:extLst>
              <a:ext uri="{FF2B5EF4-FFF2-40B4-BE49-F238E27FC236}">
                <a16:creationId xmlns:a16="http://schemas.microsoft.com/office/drawing/2014/main" id="{660D6ADC-A3F8-1C40-BA7D-56DBA347DF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4163" y="1883079"/>
            <a:ext cx="707674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Used for high-speed I/O devices able to transmit information at close to memory speeds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Device controller transfers blocks of data from buffer storage directly to main memory without CPU intervention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Only one interrupt is generated per block, rather than the one interrupt per byte</a:t>
            </a:r>
          </a:p>
        </p:txBody>
      </p:sp>
    </p:spTree>
    <p:extLst>
      <p:ext uri="{BB962C8B-B14F-4D97-AF65-F5344CB8AC3E}">
        <p14:creationId xmlns:p14="http://schemas.microsoft.com/office/powerpoint/2010/main" val="2518898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>
            <a:extLst>
              <a:ext uri="{FF2B5EF4-FFF2-40B4-BE49-F238E27FC236}">
                <a16:creationId xmlns:a16="http://schemas.microsoft.com/office/drawing/2014/main" id="{9FD586C3-31A7-8242-8174-E80080DD22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Computer-System Architecture</a:t>
            </a:r>
          </a:p>
        </p:txBody>
      </p:sp>
      <p:sp>
        <p:nvSpPr>
          <p:cNvPr id="48130" name="Content Placeholder 2">
            <a:extLst>
              <a:ext uri="{FF2B5EF4-FFF2-40B4-BE49-F238E27FC236}">
                <a16:creationId xmlns:a16="http://schemas.microsoft.com/office/drawing/2014/main" id="{082A3CBA-60D0-AC4D-94BC-5FE4EEAFAA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4163" y="1970761"/>
            <a:ext cx="8459004" cy="4467617"/>
          </a:xfrm>
        </p:spPr>
        <p:txBody>
          <a:bodyPr>
            <a:normAutofit fontScale="925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Most systems use a single general-purpose processor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Most systems have special-purpose processors as well</a:t>
            </a:r>
            <a:endParaRPr lang="en-US" altLang="en-US" sz="667" dirty="0"/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Multiprocessors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systems growing in use and importance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Also known as </a:t>
            </a:r>
            <a:r>
              <a:rPr lang="en-US" altLang="en-US" b="1" dirty="0">
                <a:solidFill>
                  <a:srgbClr val="3366FF"/>
                </a:solidFill>
              </a:rPr>
              <a:t>parallel systems</a:t>
            </a:r>
            <a:r>
              <a:rPr lang="en-US" altLang="en-US" dirty="0"/>
              <a:t>, </a:t>
            </a:r>
            <a:r>
              <a:rPr lang="en-US" altLang="en-US" b="1" dirty="0">
                <a:solidFill>
                  <a:srgbClr val="3366FF"/>
                </a:solidFill>
              </a:rPr>
              <a:t>tightly-coupled systems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Advantages include:</a:t>
            </a:r>
          </a:p>
          <a:p>
            <a:pPr marL="1171546" lvl="2" indent="-457200">
              <a:buFont typeface="+mj-lt"/>
              <a:buAutoNum type="arabicPeriod"/>
            </a:pPr>
            <a:r>
              <a:rPr lang="en-US" altLang="en-US" b="1" dirty="0">
                <a:solidFill>
                  <a:srgbClr val="3366FF"/>
                </a:solidFill>
              </a:rPr>
              <a:t>Increased throughput</a:t>
            </a:r>
          </a:p>
          <a:p>
            <a:pPr marL="1171546" lvl="2" indent="-457200">
              <a:buFont typeface="+mj-lt"/>
              <a:buAutoNum type="arabicPeriod"/>
            </a:pPr>
            <a:r>
              <a:rPr lang="en-US" altLang="en-US" b="1" dirty="0">
                <a:solidFill>
                  <a:srgbClr val="3366FF"/>
                </a:solidFill>
              </a:rPr>
              <a:t>Economy of scale</a:t>
            </a:r>
          </a:p>
          <a:p>
            <a:pPr marL="1171546" lvl="2" indent="-457200">
              <a:buFont typeface="+mj-lt"/>
              <a:buAutoNum type="arabicPeriod"/>
            </a:pPr>
            <a:r>
              <a:rPr lang="en-US" altLang="en-US" b="1" dirty="0">
                <a:solidFill>
                  <a:srgbClr val="3366FF"/>
                </a:solidFill>
              </a:rPr>
              <a:t>Increased reliability </a:t>
            </a:r>
            <a:r>
              <a:rPr lang="en-US" altLang="en-US" dirty="0"/>
              <a:t>– graceful degradation or fault tolerance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Two types:</a:t>
            </a:r>
          </a:p>
          <a:p>
            <a:pPr marL="1171546" lvl="2" indent="-457200">
              <a:buFont typeface="+mj-lt"/>
              <a:buAutoNum type="arabicPeriod"/>
            </a:pPr>
            <a:r>
              <a:rPr lang="en-US" altLang="en-US" b="1" dirty="0">
                <a:solidFill>
                  <a:srgbClr val="3366FF"/>
                </a:solidFill>
              </a:rPr>
              <a:t>Asymmetric Multiprocessing </a:t>
            </a:r>
            <a:r>
              <a:rPr lang="en-US" altLang="en-US" dirty="0"/>
              <a:t>– each processor is assigned a specie task.</a:t>
            </a:r>
          </a:p>
          <a:p>
            <a:pPr marL="1171546" lvl="2" indent="-457200">
              <a:buFont typeface="+mj-lt"/>
              <a:buAutoNum type="arabicPeriod"/>
            </a:pPr>
            <a:r>
              <a:rPr lang="en-US" altLang="en-US" b="1" dirty="0">
                <a:solidFill>
                  <a:srgbClr val="3366FF"/>
                </a:solidFill>
              </a:rPr>
              <a:t>Symmetric Multiprocessing </a:t>
            </a:r>
            <a:r>
              <a:rPr lang="en-US" altLang="en-US" dirty="0"/>
              <a:t>– each processor performs all tasks</a:t>
            </a:r>
          </a:p>
          <a:p>
            <a:pPr marL="1057246" lvl="2" indent="-342900">
              <a:buFont typeface="Wingdings" pitchFamily="2" charset="2"/>
              <a:buChar char="q"/>
            </a:pPr>
            <a:endParaRPr lang="en-US" altLang="en-US" dirty="0">
              <a:solidFill>
                <a:srgbClr val="33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8253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le 1">
            <a:extLst>
              <a:ext uri="{FF2B5EF4-FFF2-40B4-BE49-F238E27FC236}">
                <a16:creationId xmlns:a16="http://schemas.microsoft.com/office/drawing/2014/main" id="{87BDE424-1E58-9848-B0E7-5DB0371E3D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altLang="en-US" sz="3600" dirty="0"/>
              <a:t>Symmetric Multiprocessing Architecture</a:t>
            </a:r>
          </a:p>
        </p:txBody>
      </p:sp>
      <p:pic>
        <p:nvPicPr>
          <p:cNvPr id="50178" name="Picture 2">
            <a:extLst>
              <a:ext uri="{FF2B5EF4-FFF2-40B4-BE49-F238E27FC236}">
                <a16:creationId xmlns:a16="http://schemas.microsoft.com/office/drawing/2014/main" id="{7D538832-0CFE-3247-8650-DEB206B865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5168" y="1841326"/>
            <a:ext cx="6189812" cy="46754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5266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>
            <a:extLst>
              <a:ext uri="{FF2B5EF4-FFF2-40B4-BE49-F238E27FC236}">
                <a16:creationId xmlns:a16="http://schemas.microsoft.com/office/drawing/2014/main" id="{5A90C9B8-4AFE-B745-8211-38B5E163AC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A Dual-Core Design</a:t>
            </a:r>
          </a:p>
        </p:txBody>
      </p:sp>
      <p:sp>
        <p:nvSpPr>
          <p:cNvPr id="52226" name="Content Placeholder 1">
            <a:extLst>
              <a:ext uri="{FF2B5EF4-FFF2-40B4-BE49-F238E27FC236}">
                <a16:creationId xmlns:a16="http://schemas.microsoft.com/office/drawing/2014/main" id="{6041F654-7BDE-2C49-91AD-6B0341FABA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4163" y="1895605"/>
            <a:ext cx="707674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sz="2000" dirty="0"/>
              <a:t>Multi-chip and </a:t>
            </a:r>
            <a:r>
              <a:rPr lang="en-US" altLang="en-US" sz="2000" b="1" dirty="0">
                <a:solidFill>
                  <a:srgbClr val="3366FF"/>
                </a:solidFill>
              </a:rPr>
              <a:t>multicore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2000" dirty="0"/>
              <a:t>Systems containing all  chips</a:t>
            </a:r>
            <a:endParaRPr lang="en-US" altLang="en-US" sz="2000" b="1" dirty="0">
              <a:solidFill>
                <a:srgbClr val="3366FF"/>
              </a:solidFill>
            </a:endParaRPr>
          </a:p>
          <a:p>
            <a:pPr lvl="1">
              <a:buFont typeface="Wingdings" pitchFamily="2" charset="2"/>
              <a:buChar char="q"/>
            </a:pPr>
            <a:r>
              <a:rPr lang="en-US" altLang="en-US" sz="2000" dirty="0"/>
              <a:t>Chassis containing multiple separate systems</a:t>
            </a:r>
          </a:p>
          <a:p>
            <a:pPr lvl="1">
              <a:buFont typeface="Wingdings" pitchFamily="2" charset="2"/>
              <a:buChar char="q"/>
            </a:pPr>
            <a:endParaRPr lang="en-US" altLang="en-US" sz="3200" dirty="0"/>
          </a:p>
        </p:txBody>
      </p:sp>
      <p:pic>
        <p:nvPicPr>
          <p:cNvPr id="52227" name="Picture 2">
            <a:extLst>
              <a:ext uri="{FF2B5EF4-FFF2-40B4-BE49-F238E27FC236}">
                <a16:creationId xmlns:a16="http://schemas.microsoft.com/office/drawing/2014/main" id="{FA14F8C4-29A9-3243-B52E-8E0D6BA9E4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2159" y="3254200"/>
            <a:ext cx="4327131" cy="3240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956144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itle 1">
            <a:extLst>
              <a:ext uri="{FF2B5EF4-FFF2-40B4-BE49-F238E27FC236}">
                <a16:creationId xmlns:a16="http://schemas.microsoft.com/office/drawing/2014/main" id="{A426FB6E-8902-0C42-A5D2-9B2340F4B7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Clustered Systems</a:t>
            </a:r>
          </a:p>
        </p:txBody>
      </p:sp>
      <p:sp>
        <p:nvSpPr>
          <p:cNvPr id="55298" name="Content Placeholder 2">
            <a:extLst>
              <a:ext uri="{FF2B5EF4-FFF2-40B4-BE49-F238E27FC236}">
                <a16:creationId xmlns:a16="http://schemas.microsoft.com/office/drawing/2014/main" id="{33C49232-746C-A646-B2EB-8E28673C02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4163" y="1908131"/>
            <a:ext cx="8759629" cy="4655507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Like multiprocessor systems, but multiple systems working together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Usually sharing storage via a </a:t>
            </a:r>
            <a:r>
              <a:rPr lang="en-US" altLang="en-US" b="1" dirty="0">
                <a:solidFill>
                  <a:srgbClr val="3366FF"/>
                </a:solidFill>
              </a:rPr>
              <a:t>storage-area network (SAN)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Provides a </a:t>
            </a:r>
            <a:r>
              <a:rPr lang="en-US" altLang="en-US" b="1" dirty="0">
                <a:solidFill>
                  <a:srgbClr val="3366FF"/>
                </a:solidFill>
              </a:rPr>
              <a:t>high-availability</a:t>
            </a:r>
            <a:r>
              <a:rPr lang="en-US" altLang="en-US" b="1" dirty="0"/>
              <a:t> </a:t>
            </a:r>
            <a:r>
              <a:rPr lang="en-US" altLang="en-US" dirty="0"/>
              <a:t>service which survives failures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Asymmetric clustering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has one machine in hot-standby mode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Symmetric clustering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has multiple nodes running applications, monitoring each other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Some clusters are for </a:t>
            </a:r>
            <a:r>
              <a:rPr lang="en-US" altLang="en-US" b="1" dirty="0">
                <a:solidFill>
                  <a:srgbClr val="3366FF"/>
                </a:solidFill>
              </a:rPr>
              <a:t>high-performance computing (HPC)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Applications must be written to use </a:t>
            </a:r>
            <a:r>
              <a:rPr lang="en-US" altLang="en-US" b="1" dirty="0">
                <a:solidFill>
                  <a:srgbClr val="3366FF"/>
                </a:solidFill>
              </a:rPr>
              <a:t>parallelization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Some have</a:t>
            </a:r>
            <a:r>
              <a:rPr lang="en-US" altLang="en-US" b="1" dirty="0">
                <a:solidFill>
                  <a:srgbClr val="3366FF"/>
                </a:solidFill>
              </a:rPr>
              <a:t> distributed lock manager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DLM</a:t>
            </a:r>
            <a:r>
              <a:rPr lang="en-US" altLang="en-US" dirty="0"/>
              <a:t>) to avoid conflicting operations</a:t>
            </a:r>
          </a:p>
        </p:txBody>
      </p:sp>
    </p:spTree>
    <p:extLst>
      <p:ext uri="{BB962C8B-B14F-4D97-AF65-F5344CB8AC3E}">
        <p14:creationId xmlns:p14="http://schemas.microsoft.com/office/powerpoint/2010/main" val="606943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1">
            <a:extLst>
              <a:ext uri="{FF2B5EF4-FFF2-40B4-BE49-F238E27FC236}">
                <a16:creationId xmlns:a16="http://schemas.microsoft.com/office/drawing/2014/main" id="{5F26C661-036E-304F-9838-7ECA02722E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Clustered Systems</a:t>
            </a:r>
          </a:p>
        </p:txBody>
      </p:sp>
      <p:pic>
        <p:nvPicPr>
          <p:cNvPr id="57346" name="Picture 2">
            <a:extLst>
              <a:ext uri="{FF2B5EF4-FFF2-40B4-BE49-F238E27FC236}">
                <a16:creationId xmlns:a16="http://schemas.microsoft.com/office/drawing/2014/main" id="{F479AE86-B191-8849-B2F6-1F5472653B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0337" y="2004672"/>
            <a:ext cx="6693710" cy="4121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9268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>
            <a:extLst>
              <a:ext uri="{FF2B5EF4-FFF2-40B4-BE49-F238E27FC236}">
                <a16:creationId xmlns:a16="http://schemas.microsoft.com/office/drawing/2014/main" id="{108795FE-C9D4-774D-97E3-D3B9D0DD3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Operating-System Operations</a:t>
            </a:r>
          </a:p>
        </p:txBody>
      </p:sp>
      <p:sp>
        <p:nvSpPr>
          <p:cNvPr id="59394" name="Rectangle 3">
            <a:extLst>
              <a:ext uri="{FF2B5EF4-FFF2-40B4-BE49-F238E27FC236}">
                <a16:creationId xmlns:a16="http://schemas.microsoft.com/office/drawing/2014/main" id="{3C4E2C9C-4DA3-014B-9730-A4E18A1031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4163" y="1995813"/>
            <a:ext cx="7076747" cy="399256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Bootstrap program – simple code to initialize the system, load the kernel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Kernel loads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Starts </a:t>
            </a:r>
            <a:r>
              <a:rPr lang="en-US" altLang="en-US" b="1" dirty="0">
                <a:solidFill>
                  <a:srgbClr val="3366FF"/>
                </a:solidFill>
              </a:rPr>
              <a:t>system daemons </a:t>
            </a:r>
            <a:r>
              <a:rPr lang="en-US" altLang="en-US" dirty="0"/>
              <a:t>(services provided outside of the kernel)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Kernel</a:t>
            </a:r>
            <a:r>
              <a:rPr lang="en-US" altLang="en-US" b="1" dirty="0">
                <a:solidFill>
                  <a:srgbClr val="3366FF"/>
                </a:solidFill>
              </a:rPr>
              <a:t> interrupt driven </a:t>
            </a:r>
            <a:r>
              <a:rPr lang="en-US" altLang="en-US" dirty="0"/>
              <a:t>(hardware and software)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Hardware interrupt by one of the devices 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Software interrupt (</a:t>
            </a:r>
            <a:r>
              <a:rPr lang="en-US" altLang="en-US" b="1" dirty="0">
                <a:solidFill>
                  <a:srgbClr val="3366FF"/>
                </a:solidFill>
              </a:rPr>
              <a:t>exception </a:t>
            </a:r>
            <a:r>
              <a:rPr lang="en-US" altLang="en-US" dirty="0"/>
              <a:t>or </a:t>
            </a:r>
            <a:r>
              <a:rPr lang="en-US" altLang="en-US" b="1" dirty="0">
                <a:solidFill>
                  <a:srgbClr val="3366FF"/>
                </a:solidFill>
              </a:rPr>
              <a:t>trap):</a:t>
            </a:r>
          </a:p>
          <a:p>
            <a:pPr lvl="2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Software error (e.g., division by zero)</a:t>
            </a:r>
            <a:endParaRPr lang="en-US" altLang="en-US" b="1" dirty="0">
              <a:solidFill>
                <a:srgbClr val="3366FF"/>
              </a:solidFill>
            </a:endParaRPr>
          </a:p>
          <a:p>
            <a:pPr lvl="2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Request for operating system service – </a:t>
            </a:r>
            <a:r>
              <a:rPr lang="en-US" altLang="en-US" b="1" dirty="0">
                <a:solidFill>
                  <a:srgbClr val="3366FF"/>
                </a:solidFill>
              </a:rPr>
              <a:t>system call</a:t>
            </a:r>
          </a:p>
          <a:p>
            <a:pPr lvl="2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Other process problems include infinite loop, processes modifying each other or the operating system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62026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>
            <a:extLst>
              <a:ext uri="{FF2B5EF4-FFF2-40B4-BE49-F238E27FC236}">
                <a16:creationId xmlns:a16="http://schemas.microsoft.com/office/drawing/2014/main" id="{23A73D6E-5475-C34F-99E7-237CB88A2A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Multiprogramming and Multitasking</a:t>
            </a:r>
          </a:p>
        </p:txBody>
      </p:sp>
      <p:sp>
        <p:nvSpPr>
          <p:cNvPr id="61442" name="Rectangle 3">
            <a:extLst>
              <a:ext uri="{FF2B5EF4-FFF2-40B4-BE49-F238E27FC236}">
                <a16:creationId xmlns:a16="http://schemas.microsoft.com/office/drawing/2014/main" id="{8A16376E-2E63-CC4A-889A-0DA1568E40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110" y="1870553"/>
            <a:ext cx="8884890" cy="4617929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sz="2000" b="1" dirty="0">
                <a:solidFill>
                  <a:srgbClr val="3366FF"/>
                </a:solidFill>
              </a:rPr>
              <a:t>Multiprogramming</a:t>
            </a:r>
            <a:r>
              <a:rPr lang="en-US" altLang="en-US" sz="2000" dirty="0"/>
              <a:t> (</a:t>
            </a:r>
            <a:r>
              <a:rPr lang="en-US" altLang="en-US" sz="2000" b="1" dirty="0">
                <a:solidFill>
                  <a:srgbClr val="3366FF"/>
                </a:solidFill>
              </a:rPr>
              <a:t>Batch system</a:t>
            </a:r>
            <a:r>
              <a:rPr lang="en-US" altLang="en-US" sz="2000" dirty="0"/>
              <a:t>) needed for efficiency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sz="2000" dirty="0"/>
              <a:t>Single user cannot keep CPU and I/O devices busy at all times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sz="2000" dirty="0"/>
              <a:t>Multiprogramming organizes jobs (code and data) so CPU always has one to execute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sz="2000" dirty="0"/>
              <a:t>A subset of total jobs in system is kept in memory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sz="2000" dirty="0"/>
              <a:t>One job selected and run via </a:t>
            </a:r>
            <a:r>
              <a:rPr lang="en-US" altLang="en-US" sz="2000" b="1" dirty="0">
                <a:solidFill>
                  <a:srgbClr val="3366FF"/>
                </a:solidFill>
              </a:rPr>
              <a:t>job scheduling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sz="2000" dirty="0"/>
              <a:t>When it has to wait (for I/O for example), OS switches to another job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endParaRPr lang="en-US" altLang="en-US" sz="2000" dirty="0"/>
          </a:p>
          <a:p>
            <a:pPr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sz="2000" b="1" dirty="0">
                <a:solidFill>
                  <a:srgbClr val="3366FF"/>
                </a:solidFill>
              </a:rPr>
              <a:t>Timesharing </a:t>
            </a:r>
            <a:r>
              <a:rPr lang="en-US" altLang="en-US" sz="2000" dirty="0"/>
              <a:t>(</a:t>
            </a:r>
            <a:r>
              <a:rPr lang="en-US" altLang="en-US" sz="2000" b="1" dirty="0">
                <a:solidFill>
                  <a:srgbClr val="3366FF"/>
                </a:solidFill>
              </a:rPr>
              <a:t>multitasking</a:t>
            </a:r>
            <a:r>
              <a:rPr lang="en-US" altLang="en-US" sz="2000" dirty="0"/>
              <a:t>)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is logical extension in which CPU switches jobs so frequently that users can interact with each job while it is running, creating </a:t>
            </a:r>
            <a:r>
              <a:rPr lang="en-US" altLang="en-US" sz="2000" b="1" dirty="0">
                <a:solidFill>
                  <a:srgbClr val="3366FF"/>
                </a:solidFill>
              </a:rPr>
              <a:t>interactive</a:t>
            </a:r>
            <a:r>
              <a:rPr lang="en-US" altLang="en-US" sz="2000" dirty="0"/>
              <a:t> computing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sz="2000" b="1" dirty="0">
                <a:solidFill>
                  <a:srgbClr val="3366FF"/>
                </a:solidFill>
              </a:rPr>
              <a:t>Response time </a:t>
            </a:r>
            <a:r>
              <a:rPr lang="en-US" altLang="en-US" sz="2000" dirty="0"/>
              <a:t>should be &lt; 1 second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sz="2000" dirty="0"/>
              <a:t>Each user has at least one program executing in memory </a:t>
            </a:r>
            <a:r>
              <a:rPr lang="en-US" altLang="en-US" sz="2000" dirty="0">
                <a:sym typeface="Wingdings 3" pitchFamily="2" charset="2"/>
              </a:rPr>
              <a:t></a:t>
            </a:r>
            <a:r>
              <a:rPr lang="en-US" altLang="en-US" sz="2000" b="1" dirty="0">
                <a:solidFill>
                  <a:srgbClr val="3366FF"/>
                </a:solidFill>
                <a:sym typeface="Wingdings 3" pitchFamily="2" charset="2"/>
              </a:rPr>
              <a:t>process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sz="2000" dirty="0">
                <a:sym typeface="Wingdings 3" pitchFamily="2" charset="2"/>
              </a:rPr>
              <a:t>If several jobs ready to run at the same time  </a:t>
            </a:r>
            <a:r>
              <a:rPr lang="en-US" altLang="en-US" sz="2000" b="1" dirty="0">
                <a:solidFill>
                  <a:srgbClr val="3366FF"/>
                </a:solidFill>
                <a:sym typeface="Wingdings 3" pitchFamily="2" charset="2"/>
              </a:rPr>
              <a:t>CPU scheduling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sz="2000" dirty="0">
                <a:sym typeface="Wingdings 3" pitchFamily="2" charset="2"/>
              </a:rPr>
              <a:t>If processes doesn't</a:t>
            </a:r>
            <a:r>
              <a:rPr lang="en-US" altLang="ja-JP" sz="2000" dirty="0">
                <a:sym typeface="Wingdings 3" pitchFamily="2" charset="2"/>
              </a:rPr>
              <a:t> fit in memory, </a:t>
            </a:r>
            <a:r>
              <a:rPr lang="en-US" altLang="ja-JP" sz="2000" b="1" dirty="0">
                <a:solidFill>
                  <a:srgbClr val="3366FF"/>
                </a:solidFill>
                <a:sym typeface="Wingdings 3" pitchFamily="2" charset="2"/>
              </a:rPr>
              <a:t>swapping</a:t>
            </a:r>
            <a:r>
              <a:rPr lang="en-US" altLang="ja-JP" sz="2000" dirty="0">
                <a:sym typeface="Wingdings 3" pitchFamily="2" charset="2"/>
              </a:rPr>
              <a:t> moves them in and out to run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sz="2000" b="1" dirty="0">
                <a:solidFill>
                  <a:srgbClr val="3366FF"/>
                </a:solidFill>
                <a:sym typeface="Wingdings 3" pitchFamily="2" charset="2"/>
              </a:rPr>
              <a:t>Virtual memory </a:t>
            </a:r>
            <a:r>
              <a:rPr lang="en-US" altLang="en-US" sz="2000" dirty="0">
                <a:sym typeface="Wingdings 3" pitchFamily="2" charset="2"/>
              </a:rPr>
              <a:t>allows execution of processes not completely in memory</a:t>
            </a:r>
          </a:p>
        </p:txBody>
      </p:sp>
    </p:spTree>
    <p:extLst>
      <p:ext uri="{BB962C8B-B14F-4D97-AF65-F5344CB8AC3E}">
        <p14:creationId xmlns:p14="http://schemas.microsoft.com/office/powerpoint/2010/main" val="26799178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>
            <a:extLst>
              <a:ext uri="{FF2B5EF4-FFF2-40B4-BE49-F238E27FC236}">
                <a16:creationId xmlns:a16="http://schemas.microsoft.com/office/drawing/2014/main" id="{E851B7BB-B608-6344-A291-2DD272508A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altLang="en-US" sz="3200" dirty="0"/>
              <a:t>Memory Layout for Multiprogrammed System</a:t>
            </a:r>
          </a:p>
        </p:txBody>
      </p:sp>
      <p:pic>
        <p:nvPicPr>
          <p:cNvPr id="63490" name="Picture 2">
            <a:extLst>
              <a:ext uri="{FF2B5EF4-FFF2-40B4-BE49-F238E27FC236}">
                <a16:creationId xmlns:a16="http://schemas.microsoft.com/office/drawing/2014/main" id="{D8F96091-87BE-364D-B720-D083DB48A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6586" y="1878903"/>
            <a:ext cx="2720898" cy="4459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003193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>
            <a:extLst>
              <a:ext uri="{FF2B5EF4-FFF2-40B4-BE49-F238E27FC236}">
                <a16:creationId xmlns:a16="http://schemas.microsoft.com/office/drawing/2014/main" id="{6F6EC4D4-FDCE-AB4D-8A52-C188BDAEC2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Dual-mode and Multimode Operation</a:t>
            </a:r>
          </a:p>
        </p:txBody>
      </p:sp>
      <p:sp>
        <p:nvSpPr>
          <p:cNvPr id="65538" name="Rectangle 3">
            <a:extLst>
              <a:ext uri="{FF2B5EF4-FFF2-40B4-BE49-F238E27FC236}">
                <a16:creationId xmlns:a16="http://schemas.microsoft.com/office/drawing/2014/main" id="{7C1F1C00-181B-F04B-B10B-E0CA20C7BE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4163" y="1933183"/>
            <a:ext cx="8574087" cy="445509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Dual-mode </a:t>
            </a:r>
            <a:r>
              <a:rPr lang="en-US" altLang="en-US" dirty="0"/>
              <a:t>operation allows OS to protect itself and other system components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User mode </a:t>
            </a:r>
            <a:r>
              <a:rPr lang="en-US" altLang="en-US" dirty="0"/>
              <a:t>and </a:t>
            </a:r>
            <a:r>
              <a:rPr lang="en-US" altLang="en-US" b="1" dirty="0">
                <a:solidFill>
                  <a:srgbClr val="3366FF"/>
                </a:solidFill>
              </a:rPr>
              <a:t>kernel mode 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Mode bit </a:t>
            </a:r>
            <a:r>
              <a:rPr lang="en-US" altLang="en-US" dirty="0"/>
              <a:t>provided by hardware</a:t>
            </a:r>
          </a:p>
          <a:p>
            <a:pPr lvl="2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Provides ability to distinguish when system is running user code or kernel code</a:t>
            </a:r>
          </a:p>
          <a:p>
            <a:pPr lvl="2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Some instructions designated as </a:t>
            </a:r>
            <a:r>
              <a:rPr lang="en-US" altLang="en-US" b="1" dirty="0">
                <a:solidFill>
                  <a:srgbClr val="3366FF"/>
                </a:solidFill>
              </a:rPr>
              <a:t>privileged</a:t>
            </a:r>
            <a:r>
              <a:rPr lang="en-US" altLang="en-US" dirty="0"/>
              <a:t>, only executable in kernel mode</a:t>
            </a:r>
          </a:p>
          <a:p>
            <a:pPr lvl="2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System call changes mode to kernel, return from call resets it to user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Increasingly CPUs support multi-mode operations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i.e. </a:t>
            </a:r>
            <a:r>
              <a:rPr lang="en-US" altLang="en-US" b="1" dirty="0">
                <a:solidFill>
                  <a:srgbClr val="3366FF"/>
                </a:solidFill>
              </a:rPr>
              <a:t>virtual machine manager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VMM</a:t>
            </a:r>
            <a:r>
              <a:rPr lang="en-US" altLang="en-US" dirty="0"/>
              <a:t>) mode for guest </a:t>
            </a:r>
            <a:r>
              <a:rPr lang="en-US" altLang="en-US" b="1" dirty="0">
                <a:solidFill>
                  <a:srgbClr val="3366FF"/>
                </a:solidFill>
              </a:rPr>
              <a:t>VMs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endParaRPr lang="en-US" altLang="en-US" sz="1333" dirty="0"/>
          </a:p>
        </p:txBody>
      </p:sp>
    </p:spTree>
    <p:extLst>
      <p:ext uri="{BB962C8B-B14F-4D97-AF65-F5344CB8AC3E}">
        <p14:creationId xmlns:p14="http://schemas.microsoft.com/office/powerpoint/2010/main" val="35196319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>
            <a:extLst>
              <a:ext uri="{FF2B5EF4-FFF2-40B4-BE49-F238E27FC236}">
                <a16:creationId xmlns:a16="http://schemas.microsoft.com/office/drawing/2014/main" id="{5B51BE0E-98DB-2D4C-80F7-AA6AFB5BA6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Transition from User to Kernel Mode</a:t>
            </a:r>
          </a:p>
        </p:txBody>
      </p:sp>
      <p:sp>
        <p:nvSpPr>
          <p:cNvPr id="67586" name="Rectangle 4">
            <a:extLst>
              <a:ext uri="{FF2B5EF4-FFF2-40B4-BE49-F238E27FC236}">
                <a16:creationId xmlns:a16="http://schemas.microsoft.com/office/drawing/2014/main" id="{E18F500D-EAEF-8446-82EA-B8C8726248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4164" y="1787236"/>
            <a:ext cx="8574086" cy="480752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Timer to prevent infinite loop / process hogging resources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Timer is set to interrupt the computer after some time period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Keep a counter that is decremented by the physical clock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Operating system set the counter (privileged instruction)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When counter zero generate an interrupt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Set up before scheduling process to regain control or terminate program that exceeds allotted time</a:t>
            </a:r>
          </a:p>
        </p:txBody>
      </p:sp>
    </p:spTree>
    <p:extLst>
      <p:ext uri="{BB962C8B-B14F-4D97-AF65-F5344CB8AC3E}">
        <p14:creationId xmlns:p14="http://schemas.microsoft.com/office/powerpoint/2010/main" val="10887097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>
            <a:extLst>
              <a:ext uri="{FF2B5EF4-FFF2-40B4-BE49-F238E27FC236}">
                <a16:creationId xmlns:a16="http://schemas.microsoft.com/office/drawing/2014/main" id="{5B51BE0E-98DB-2D4C-80F7-AA6AFB5BA6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Transition from User to Kernel Mode</a:t>
            </a:r>
          </a:p>
        </p:txBody>
      </p:sp>
      <p:pic>
        <p:nvPicPr>
          <p:cNvPr id="67587" name="Picture 2">
            <a:extLst>
              <a:ext uri="{FF2B5EF4-FFF2-40B4-BE49-F238E27FC236}">
                <a16:creationId xmlns:a16="http://schemas.microsoft.com/office/drawing/2014/main" id="{21DE3228-82BD-8D4F-AA28-C01459AEE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9974" y="2647647"/>
            <a:ext cx="6939418" cy="251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283515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>
            <a:extLst>
              <a:ext uri="{FF2B5EF4-FFF2-40B4-BE49-F238E27FC236}">
                <a16:creationId xmlns:a16="http://schemas.microsoft.com/office/drawing/2014/main" id="{0E603B29-58FB-BC4B-8B7D-F10163F630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Process Management</a:t>
            </a:r>
          </a:p>
        </p:txBody>
      </p:sp>
      <p:sp>
        <p:nvSpPr>
          <p:cNvPr id="69634" name="Rectangle 3">
            <a:extLst>
              <a:ext uri="{FF2B5EF4-FFF2-40B4-BE49-F238E27FC236}">
                <a16:creationId xmlns:a16="http://schemas.microsoft.com/office/drawing/2014/main" id="{F3B9BE2C-AEC0-4347-B548-DA7BB7587F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4163" y="1870364"/>
            <a:ext cx="8574087" cy="4682836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A process is a program in execution. It is a unit of work within the system. Program is a </a:t>
            </a:r>
            <a:r>
              <a:rPr lang="en-US" altLang="en-US" b="1" i="1" dirty="0"/>
              <a:t>passive entity</a:t>
            </a:r>
            <a:r>
              <a:rPr lang="en-US" altLang="en-US" dirty="0"/>
              <a:t>, process is </a:t>
            </a:r>
            <a:r>
              <a:rPr lang="en-US" altLang="en-US" dirty="0">
                <a:solidFill>
                  <a:srgbClr val="000000"/>
                </a:solidFill>
              </a:rPr>
              <a:t>an </a:t>
            </a:r>
            <a:r>
              <a:rPr lang="en-US" altLang="en-US" b="1" i="1" dirty="0">
                <a:solidFill>
                  <a:srgbClr val="000000"/>
                </a:solidFill>
              </a:rPr>
              <a:t>active entity</a:t>
            </a:r>
            <a:r>
              <a:rPr lang="en-US" altLang="en-US" dirty="0"/>
              <a:t>.</a:t>
            </a:r>
          </a:p>
          <a:p>
            <a:pPr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Process needs resources to accomplish its task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CPU, memory, I/O, files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Initialization data</a:t>
            </a:r>
          </a:p>
          <a:p>
            <a:pPr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Process termination requires reclaim of any reusable resources</a:t>
            </a:r>
          </a:p>
          <a:p>
            <a:pPr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Single-threaded process has one </a:t>
            </a:r>
            <a:r>
              <a:rPr lang="en-US" altLang="en-US" b="1" dirty="0">
                <a:solidFill>
                  <a:srgbClr val="3366FF"/>
                </a:solidFill>
              </a:rPr>
              <a:t>program counter</a:t>
            </a:r>
            <a:r>
              <a:rPr lang="en-US" altLang="en-US" sz="1667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specifying location of next instruction to execute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Process executes instructions sequentially, one at a time, until completion</a:t>
            </a:r>
          </a:p>
          <a:p>
            <a:pPr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Multi-threaded process has one program counter per thread</a:t>
            </a:r>
          </a:p>
          <a:p>
            <a:pPr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Typically system has many processes, some user, some operating system running concurrently on one or more CPUs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Concurrency by multiplexing the CPUs among the processes / threads</a:t>
            </a:r>
          </a:p>
          <a:p>
            <a:pPr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641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>
            <a:extLst>
              <a:ext uri="{FF2B5EF4-FFF2-40B4-BE49-F238E27FC236}">
                <a16:creationId xmlns:a16="http://schemas.microsoft.com/office/drawing/2014/main" id="{AC337685-E822-BA42-9712-E81FC156EB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Process Management Activities</a:t>
            </a:r>
          </a:p>
        </p:txBody>
      </p:sp>
      <p:sp>
        <p:nvSpPr>
          <p:cNvPr id="71682" name="Rectangle 3">
            <a:extLst>
              <a:ext uri="{FF2B5EF4-FFF2-40B4-BE49-F238E27FC236}">
                <a16:creationId xmlns:a16="http://schemas.microsoft.com/office/drawing/2014/main" id="{72546C89-E47D-7341-81A5-D9EF7521CD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4163" y="2008910"/>
            <a:ext cx="8574087" cy="4336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dirty="0"/>
              <a:t>The operating system is responsible for the following activities in connection with process management: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Creating and deleting both user and system processes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Suspending and resuming processes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Providing mechanisms for process synchronization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Providing mechanisms for process communication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Providing mechanisms for deadlock handling</a:t>
            </a:r>
          </a:p>
        </p:txBody>
      </p:sp>
    </p:spTree>
    <p:extLst>
      <p:ext uri="{BB962C8B-B14F-4D97-AF65-F5344CB8AC3E}">
        <p14:creationId xmlns:p14="http://schemas.microsoft.com/office/powerpoint/2010/main" val="22583525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>
            <a:extLst>
              <a:ext uri="{FF2B5EF4-FFF2-40B4-BE49-F238E27FC236}">
                <a16:creationId xmlns:a16="http://schemas.microsoft.com/office/drawing/2014/main" id="{5C5EF227-2B21-134D-945A-996AA55E9B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Memory Management</a:t>
            </a:r>
          </a:p>
        </p:txBody>
      </p:sp>
      <p:sp>
        <p:nvSpPr>
          <p:cNvPr id="73730" name="Rectangle 3">
            <a:extLst>
              <a:ext uri="{FF2B5EF4-FFF2-40B4-BE49-F238E27FC236}">
                <a16:creationId xmlns:a16="http://schemas.microsoft.com/office/drawing/2014/main" id="{03ABB2CF-21DC-AA4B-88BA-FBDC9B0FA9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4163" y="1911928"/>
            <a:ext cx="8574087" cy="4516581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To execute a program all (or part) of the instructions must be in memory</a:t>
            </a:r>
          </a:p>
          <a:p>
            <a:pPr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All  (or part) of the data that is needed by the program must be in memory</a:t>
            </a:r>
            <a:endParaRPr lang="en-US" altLang="en-US" sz="667" dirty="0"/>
          </a:p>
          <a:p>
            <a:pPr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Memory management determines what is in memory and when</a:t>
            </a:r>
          </a:p>
          <a:p>
            <a:pPr lvl="1"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Optimizing CPU utilization and computer response to users</a:t>
            </a:r>
            <a:endParaRPr lang="en-US" altLang="en-US" sz="667" dirty="0"/>
          </a:p>
          <a:p>
            <a:pPr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Memory management activities</a:t>
            </a:r>
          </a:p>
          <a:p>
            <a:pPr lvl="1"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Keeping track of which parts of memory are currently being used and by whom</a:t>
            </a:r>
          </a:p>
          <a:p>
            <a:pPr lvl="1"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Deciding which processes (or parts thereof) and data to move into and out of memory</a:t>
            </a:r>
          </a:p>
          <a:p>
            <a:pPr lvl="1"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Allocating and deallocating memory space as needed</a:t>
            </a:r>
          </a:p>
          <a:p>
            <a:pPr lvl="1">
              <a:spcBef>
                <a:spcPts val="0"/>
              </a:spcBef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219340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>
            <a:extLst>
              <a:ext uri="{FF2B5EF4-FFF2-40B4-BE49-F238E27FC236}">
                <a16:creationId xmlns:a16="http://schemas.microsoft.com/office/drawing/2014/main" id="{9EEA98BC-1F57-044F-8266-178383D464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File-system Management</a:t>
            </a:r>
          </a:p>
        </p:txBody>
      </p:sp>
      <p:sp>
        <p:nvSpPr>
          <p:cNvPr id="75778" name="Rectangle 3">
            <a:extLst>
              <a:ext uri="{FF2B5EF4-FFF2-40B4-BE49-F238E27FC236}">
                <a16:creationId xmlns:a16="http://schemas.microsoft.com/office/drawing/2014/main" id="{81F4C4CD-8CCD-1240-A45C-221BA1F410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4163" y="1828800"/>
            <a:ext cx="8574087" cy="475210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OS provides uniform, logical view of information storage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Abstracts physical properties to logical storage unit  - </a:t>
            </a:r>
            <a:r>
              <a:rPr lang="en-US" altLang="en-US" b="1" dirty="0">
                <a:solidFill>
                  <a:srgbClr val="3366FF"/>
                </a:solidFill>
              </a:rPr>
              <a:t>file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Each medium is controlled by device (i.e., disk drive, tape drive)</a:t>
            </a:r>
          </a:p>
          <a:p>
            <a:pPr lvl="2"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Varying properties include access speed, capacity, data-transfer rate, access method (sequential or random)</a:t>
            </a:r>
          </a:p>
          <a:p>
            <a:pPr lvl="2"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endParaRPr lang="en-US" altLang="en-US" sz="667" dirty="0"/>
          </a:p>
          <a:p>
            <a:pPr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File-System management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Files usually organized into directories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Access control on most systems to determine who can access what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OS activities include</a:t>
            </a:r>
          </a:p>
          <a:p>
            <a:pPr lvl="2"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Creating and deleting files and directories</a:t>
            </a:r>
          </a:p>
          <a:p>
            <a:pPr lvl="2"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Primitives to manipulate files and directories</a:t>
            </a:r>
          </a:p>
          <a:p>
            <a:pPr lvl="2"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Mapping files onto secondary storage</a:t>
            </a:r>
          </a:p>
          <a:p>
            <a:pPr lvl="2"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Backup files onto stable (non-volatile) storage media</a:t>
            </a:r>
          </a:p>
        </p:txBody>
      </p:sp>
    </p:spTree>
    <p:extLst>
      <p:ext uri="{BB962C8B-B14F-4D97-AF65-F5344CB8AC3E}">
        <p14:creationId xmlns:p14="http://schemas.microsoft.com/office/powerpoint/2010/main" val="11788025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>
            <a:extLst>
              <a:ext uri="{FF2B5EF4-FFF2-40B4-BE49-F238E27FC236}">
                <a16:creationId xmlns:a16="http://schemas.microsoft.com/office/drawing/2014/main" id="{4927F283-055A-BB43-A8DD-FC72C01EDA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Caching</a:t>
            </a:r>
          </a:p>
        </p:txBody>
      </p:sp>
      <p:sp>
        <p:nvSpPr>
          <p:cNvPr id="79874" name="Rectangle 3">
            <a:extLst>
              <a:ext uri="{FF2B5EF4-FFF2-40B4-BE49-F238E27FC236}">
                <a16:creationId xmlns:a16="http://schemas.microsoft.com/office/drawing/2014/main" id="{D9D62F99-F266-194E-802D-0A7BAC5B3E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4163" y="1911927"/>
            <a:ext cx="8574087" cy="465512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Important principle, performed at many levels in a computer (in hardware, operating system, software)</a:t>
            </a:r>
            <a:endParaRPr lang="en-US" altLang="en-US" sz="667" dirty="0"/>
          </a:p>
          <a:p>
            <a:pPr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Information in use copied from slower to faster storage temporarily</a:t>
            </a:r>
            <a:endParaRPr lang="en-US" altLang="en-US" sz="667" dirty="0"/>
          </a:p>
          <a:p>
            <a:pPr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Faster storage (cache) checked first to determine if information is there</a:t>
            </a:r>
          </a:p>
          <a:p>
            <a:pPr lvl="1"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If it is, information used directly from the cache (fast)</a:t>
            </a:r>
          </a:p>
          <a:p>
            <a:pPr lvl="1"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If not, data copied to cache and used there</a:t>
            </a:r>
            <a:endParaRPr lang="en-US" altLang="en-US" sz="667" dirty="0"/>
          </a:p>
          <a:p>
            <a:pPr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Cache smaller than storage being cached</a:t>
            </a:r>
          </a:p>
          <a:p>
            <a:pPr lvl="1"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Cache management important design problem</a:t>
            </a:r>
          </a:p>
          <a:p>
            <a:pPr lvl="1"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Cache size and replacement policy</a:t>
            </a:r>
          </a:p>
          <a:p>
            <a:pPr>
              <a:spcBef>
                <a:spcPts val="0"/>
              </a:spcBef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899807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335494" y="1203272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Operating Systems Concept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Galvin and </a:t>
            </a:r>
            <a:r>
              <a:rPr lang="en-US" dirty="0" err="1"/>
              <a:t>Silberschatz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/>
              <a:t>Edition: 9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430669" y="1114339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Operating Systems Concept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Galvin and </a:t>
            </a:r>
            <a:r>
              <a:rPr lang="en-US" dirty="0" err="1"/>
              <a:t>Silberschatz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/>
              <a:t>Edition: 9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176</TotalTime>
  <Words>1481</Words>
  <Application>Microsoft Office PowerPoint</Application>
  <PresentationFormat>On-screen Show (4:3)</PresentationFormat>
  <Paragraphs>192</Paragraphs>
  <Slides>26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Corbel</vt:lpstr>
      <vt:lpstr>Times New Roman</vt:lpstr>
      <vt:lpstr>Verdana</vt:lpstr>
      <vt:lpstr>Wingdings</vt:lpstr>
      <vt:lpstr>Spectrum</vt:lpstr>
      <vt:lpstr>Operating System Concepts (cont’d) </vt:lpstr>
      <vt:lpstr>Lecture Outline</vt:lpstr>
      <vt:lpstr>I/O Structure</vt:lpstr>
      <vt:lpstr>Storage Structure</vt:lpstr>
      <vt:lpstr>Storage Hierarchy</vt:lpstr>
      <vt:lpstr>Storage-Device Hierarchy</vt:lpstr>
      <vt:lpstr>How a Modern Computer Works</vt:lpstr>
      <vt:lpstr>Direct Memory Access Structure</vt:lpstr>
      <vt:lpstr>Computer-System Architecture</vt:lpstr>
      <vt:lpstr>Symmetric Multiprocessing Architecture</vt:lpstr>
      <vt:lpstr>A Dual-Core Design</vt:lpstr>
      <vt:lpstr>Clustered Systems</vt:lpstr>
      <vt:lpstr>Clustered Systems</vt:lpstr>
      <vt:lpstr>Operating-System Operations</vt:lpstr>
      <vt:lpstr>Multiprogramming and Multitasking</vt:lpstr>
      <vt:lpstr>Memory Layout for Multiprogrammed System</vt:lpstr>
      <vt:lpstr>Dual-mode and Multimode Operation</vt:lpstr>
      <vt:lpstr>Transition from User to Kernel Mode</vt:lpstr>
      <vt:lpstr>Transition from User to Kernel Mode</vt:lpstr>
      <vt:lpstr>Process Management</vt:lpstr>
      <vt:lpstr>Process Management Activities</vt:lpstr>
      <vt:lpstr>Memory Management</vt:lpstr>
      <vt:lpstr>File-system Management</vt:lpstr>
      <vt:lpstr>Caching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SYEDA ANIKA TASNIM</cp:lastModifiedBy>
  <cp:revision>25</cp:revision>
  <dcterms:created xsi:type="dcterms:W3CDTF">2018-12-10T17:20:29Z</dcterms:created>
  <dcterms:modified xsi:type="dcterms:W3CDTF">2020-10-13T14:15:09Z</dcterms:modified>
</cp:coreProperties>
</file>