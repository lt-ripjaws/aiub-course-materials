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64" r:id="rId24"/>
    <p:sldId id="265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82" d="100"/>
          <a:sy n="82" d="100"/>
        </p:scale>
        <p:origin x="10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SYEDA ANIKA TASNIM" userId="8fb70a1d-16e3-4c86-a699-7b87e9bfa60b" providerId="ADAL" clId="{EF715EC0-4255-41FB-B23D-206D8E4FF994}"/>
    <pc:docChg chg="undo custSel modSld">
      <pc:chgData name="SYEDA ANIKA TASNIM" userId="8fb70a1d-16e3-4c86-a699-7b87e9bfa60b" providerId="ADAL" clId="{EF715EC0-4255-41FB-B23D-206D8E4FF994}" dt="2020-08-30T17:00:53.047" v="129" actId="27636"/>
      <pc:docMkLst>
        <pc:docMk/>
      </pc:docMkLst>
      <pc:sldChg chg="modSp mod">
        <pc:chgData name="SYEDA ANIKA TASNIM" userId="8fb70a1d-16e3-4c86-a699-7b87e9bfa60b" providerId="ADAL" clId="{EF715EC0-4255-41FB-B23D-206D8E4FF994}" dt="2020-08-22T07:35:48.546" v="58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EF715EC0-4255-41FB-B23D-206D8E4FF994}" dt="2020-08-22T07:35:48.546" v="58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SYEDA ANIKA TASNIM" userId="8fb70a1d-16e3-4c86-a699-7b87e9bfa60b" providerId="ADAL" clId="{EF715EC0-4255-41FB-B23D-206D8E4FF994}" dt="2020-08-30T16:45:04.180" v="61" actId="313"/>
        <pc:sldMkLst>
          <pc:docMk/>
          <pc:sldMk cId="2048480881" sldId="277"/>
        </pc:sldMkLst>
        <pc:spChg chg="mod">
          <ac:chgData name="SYEDA ANIKA TASNIM" userId="8fb70a1d-16e3-4c86-a699-7b87e9bfa60b" providerId="ADAL" clId="{EF715EC0-4255-41FB-B23D-206D8E4FF994}" dt="2020-08-30T16:45:04.180" v="61" actId="313"/>
          <ac:spMkLst>
            <pc:docMk/>
            <pc:sldMk cId="2048480881" sldId="277"/>
            <ac:spMk id="38914" creationId="{00000000-0000-0000-0000-000000000000}"/>
          </ac:spMkLst>
        </pc:spChg>
      </pc:sldChg>
      <pc:sldChg chg="modSp mod">
        <pc:chgData name="SYEDA ANIKA TASNIM" userId="8fb70a1d-16e3-4c86-a699-7b87e9bfa60b" providerId="ADAL" clId="{EF715EC0-4255-41FB-B23D-206D8E4FF994}" dt="2020-08-30T17:00:53.047" v="129" actId="27636"/>
        <pc:sldMkLst>
          <pc:docMk/>
          <pc:sldMk cId="2893539450" sldId="289"/>
        </pc:sldMkLst>
        <pc:spChg chg="mod">
          <ac:chgData name="SYEDA ANIKA TASNIM" userId="8fb70a1d-16e3-4c86-a699-7b87e9bfa60b" providerId="ADAL" clId="{EF715EC0-4255-41FB-B23D-206D8E4FF994}" dt="2020-08-30T17:00:53.047" v="129" actId="27636"/>
          <ac:spMkLst>
            <pc:docMk/>
            <pc:sldMk cId="2893539450" sldId="289"/>
            <ac:spMk id="59394" creationId="{00000000-0000-0000-0000-000000000000}"/>
          </ac:spMkLst>
        </pc:spChg>
      </pc:sldChg>
    </pc:docChg>
  </pc:docChgLst>
  <pc:docChgLst>
    <pc:chgData name="SYEDA ANIKA TASNIM" userId="8fb70a1d-16e3-4c86-a699-7b87e9bfa60b" providerId="ADAL" clId="{C25D5680-4704-4E8B-B5BD-B37C9BF486FF}"/>
    <pc:docChg chg="modSld">
      <pc:chgData name="SYEDA ANIKA TASNIM" userId="8fb70a1d-16e3-4c86-a699-7b87e9bfa60b" providerId="ADAL" clId="{C25D5680-4704-4E8B-B5BD-B37C9BF486FF}" dt="2020-11-30T08:28:04.302" v="15" actId="20577"/>
      <pc:docMkLst>
        <pc:docMk/>
      </pc:docMkLst>
      <pc:sldChg chg="modSp mod">
        <pc:chgData name="SYEDA ANIKA TASNIM" userId="8fb70a1d-16e3-4c86-a699-7b87e9bfa60b" providerId="ADAL" clId="{C25D5680-4704-4E8B-B5BD-B37C9BF486FF}" dt="2020-11-30T08:28:04.302" v="15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C25D5680-4704-4E8B-B5BD-B37C9BF486FF}" dt="2020-11-30T08:28:04.302" v="1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25D842F-34CD-4209-A4C7-B49BA303FAED}" type="slidenum">
              <a:rPr lang="en-US" altLang="en-US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7AED0C4-0285-44B4-AC94-A560F65D68D0}" type="slidenum">
              <a:rPr lang="en-US" altLang="en-US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21DE826-BB2F-4D35-9BF3-013AE2380956}" type="slidenum">
              <a:rPr lang="en-US" altLang="en-US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23AF870-D68F-45E2-8FCA-C72F738CC30D}" type="slidenum">
              <a:rPr lang="en-US" altLang="en-US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6B8C26A-065A-4845-B4DF-26FFD476009D}" type="slidenum">
              <a:rPr lang="en-US" altLang="en-US">
                <a:latin typeface="Times New Roman" pitchFamily="18" charset="0"/>
              </a:rPr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F05948D-ADD2-40BE-BA03-41B479AA726B}" type="slidenum">
              <a:rPr lang="en-US" altLang="en-US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7D88E78-45BA-4EE3-AECC-6E06BE8CC37E}" type="slidenum">
              <a:rPr lang="en-US" altLang="en-US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D78B369-91B6-4C30-9C13-9D372EFFED37}" type="slidenum">
              <a:rPr lang="en-US" altLang="en-US">
                <a:latin typeface="Times New Roman" pitchFamily="18" charset="0"/>
              </a:rPr>
              <a:pPr/>
              <a:t>18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4EE3F07-CBBC-4168-842E-079239D460C5}" type="slidenum">
              <a:rPr lang="en-US" altLang="en-US">
                <a:latin typeface="Times New Roman" pitchFamily="18" charset="0"/>
              </a:rPr>
              <a:pPr/>
              <a:t>19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FF298B6-1150-4856-A97E-A391206EA649}" type="slidenum">
              <a:rPr lang="en-US" altLang="en-US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906062A-2D30-4B0D-B453-D5DA346FAD59}" type="slidenum">
              <a:rPr lang="en-US" altLang="en-US">
                <a:latin typeface="Times New Roman" pitchFamily="18" charset="0"/>
              </a:rPr>
              <a:pPr/>
              <a:t>21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E8A8F99-BD1E-436B-89D5-83CFB739D48A}" type="slidenum">
              <a:rPr lang="en-US" altLang="en-US">
                <a:latin typeface="Times New Roman" pitchFamily="18" charset="0"/>
              </a:rPr>
              <a:pPr/>
              <a:t>22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Synchronization Tools </a:t>
            </a:r>
            <a:r>
              <a:rPr lang="en-US" altLang="en-US" sz="1800" dirty="0"/>
              <a:t>(cont’d)</a:t>
            </a:r>
            <a:r>
              <a:rPr lang="en-US" sz="1800" dirty="0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498166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59245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430215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37480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 err="1"/>
                        <a:t>Syeda</a:t>
                      </a:r>
                      <a:r>
                        <a:rPr lang="en-US" i="1" dirty="0"/>
                        <a:t> Anika </a:t>
                      </a:r>
                      <a:r>
                        <a:rPr lang="en-US" i="1" dirty="0" err="1"/>
                        <a:t>Tasnim</a:t>
                      </a:r>
                      <a:endParaRPr lang="en-US" i="1" dirty="0"/>
                    </a:p>
                    <a:p>
                      <a:r>
                        <a:rPr lang="en-US" i="1" dirty="0"/>
                        <a:t>anika.tasnim@aiub.edu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Hardware Support for Synchronization</a:t>
            </a:r>
          </a:p>
          <a:p>
            <a:pPr marL="457200" indent="-457200">
              <a:buAutoNum type="arabicPeriod"/>
            </a:pPr>
            <a:r>
              <a:rPr lang="en-US" sz="2400" dirty="0" err="1">
                <a:solidFill>
                  <a:schemeClr val="tx1"/>
                </a:solidFill>
              </a:rPr>
              <a:t>Mutex</a:t>
            </a:r>
            <a:r>
              <a:rPr lang="en-US" sz="2400" dirty="0">
                <a:solidFill>
                  <a:schemeClr val="tx1"/>
                </a:solidFill>
              </a:rPr>
              <a:t> Locks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Semaphores</a:t>
            </a: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Synchronization Hardware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idx="1"/>
          </p:nvPr>
        </p:nvSpPr>
        <p:spPr>
          <a:xfrm>
            <a:off x="303432" y="1995813"/>
            <a:ext cx="8554818" cy="39925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Many systems provide hardware support for implementing the critical section code.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Uniprocessors – could disable interrupts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Currently running code would execute without preemption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Generally too inefficient on multiprocessor systems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q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Operating systems using this not broadly scalable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We will look at three forms of hardware support: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1. Memory barriers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2. Hardware instructions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3. Atomic variables</a:t>
            </a:r>
          </a:p>
        </p:txBody>
      </p:sp>
    </p:spTree>
    <p:extLst>
      <p:ext uri="{BB962C8B-B14F-4D97-AF65-F5344CB8AC3E}">
        <p14:creationId xmlns:p14="http://schemas.microsoft.com/office/powerpoint/2010/main" val="136105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Memory Barriers</a:t>
            </a:r>
          </a:p>
        </p:txBody>
      </p:sp>
      <p:sp>
        <p:nvSpPr>
          <p:cNvPr id="36866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/>
              <a:t>Memory model </a:t>
            </a:r>
            <a:r>
              <a:rPr lang="en-US" altLang="en-US" dirty="0"/>
              <a:t>are the memory guarantees a computer architecture makes to application programs.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Memory models may be either: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Strongly ordered </a:t>
            </a:r>
            <a:r>
              <a:rPr lang="en-US" altLang="en-US" dirty="0"/>
              <a:t>– where a memory modification of one processor is immediately visible to all other processors.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Weakly ordered  </a:t>
            </a:r>
            <a:r>
              <a:rPr lang="en-US" altLang="en-US" dirty="0"/>
              <a:t>– where a memory modification of one processor may not be immediately visible to all other processors.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 </a:t>
            </a:r>
            <a:r>
              <a:rPr lang="en-US" altLang="en-US" b="1" dirty="0"/>
              <a:t>memory barrier </a:t>
            </a:r>
            <a:r>
              <a:rPr lang="en-US" altLang="en-US" dirty="0"/>
              <a:t>is an instruction that forces any change in memory to be propagated (made visible) to all other processors.</a:t>
            </a:r>
            <a:br>
              <a:rPr lang="en-US" alt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36568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Memory Barrier</a:t>
            </a:r>
          </a:p>
        </p:txBody>
      </p:sp>
      <p:sp>
        <p:nvSpPr>
          <p:cNvPr id="37890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We could add a memory barrier to the following instructions to ensure Thread 1 outputs 100: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Thread 1 now performs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>
                <a:latin typeface="Courier New" pitchFamily="49" charset="0"/>
                <a:cs typeface="Courier New" pitchFamily="49" charset="0"/>
              </a:rPr>
              <a:t>while (!flag)</a:t>
            </a:r>
            <a:br>
              <a:rPr lang="en-US" altLang="en-US" dirty="0">
                <a:latin typeface="Courier New" pitchFamily="49" charset="0"/>
                <a:cs typeface="Courier New" pitchFamily="49" charset="0"/>
              </a:rPr>
            </a:br>
            <a:r>
              <a:rPr lang="en-US" alt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memory_barrier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();</a:t>
            </a:r>
            <a:br>
              <a:rPr lang="en-US" altLang="en-US" dirty="0">
                <a:latin typeface="Courier New" pitchFamily="49" charset="0"/>
                <a:cs typeface="Courier New" pitchFamily="49" charset="0"/>
              </a:rPr>
            </a:br>
            <a:r>
              <a:rPr lang="en-US" altLang="en-US" dirty="0">
                <a:latin typeface="Courier New" pitchFamily="49" charset="0"/>
                <a:cs typeface="Courier New" pitchFamily="49" charset="0"/>
              </a:rPr>
              <a:t>print x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Thread 2 now performs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>
                <a:latin typeface="Courier New" pitchFamily="49" charset="0"/>
                <a:cs typeface="Courier New" pitchFamily="49" charset="0"/>
              </a:rPr>
              <a:t>x = 100;</a:t>
            </a:r>
            <a:br>
              <a:rPr lang="en-US" altLang="en-US" dirty="0">
                <a:latin typeface="Courier New" pitchFamily="49" charset="0"/>
                <a:cs typeface="Courier New" pitchFamily="49" charset="0"/>
              </a:rPr>
            </a:b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memory_barrier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();</a:t>
            </a:r>
            <a:br>
              <a:rPr lang="en-US" altLang="en-US" dirty="0">
                <a:latin typeface="Courier New" pitchFamily="49" charset="0"/>
                <a:cs typeface="Courier New" pitchFamily="49" charset="0"/>
              </a:rPr>
            </a:br>
            <a:r>
              <a:rPr lang="en-US" altLang="en-US" dirty="0">
                <a:latin typeface="Courier New" pitchFamily="49" charset="0"/>
                <a:cs typeface="Courier New" pitchFamily="49" charset="0"/>
              </a:rPr>
              <a:t>flag = true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96691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Hardware Instructions</a:t>
            </a:r>
          </a:p>
        </p:txBody>
      </p:sp>
      <p:sp>
        <p:nvSpPr>
          <p:cNvPr id="38914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202086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Special hardware instructions that allow us to either </a:t>
            </a:r>
            <a:r>
              <a:rPr lang="en-US" altLang="en-US" i="1" dirty="0"/>
              <a:t>test-and-modify</a:t>
            </a:r>
            <a:r>
              <a:rPr lang="en-US" altLang="en-US" dirty="0"/>
              <a:t> the content of a word, or two </a:t>
            </a:r>
            <a:r>
              <a:rPr lang="en-US" altLang="en-US" i="1" dirty="0"/>
              <a:t>swap</a:t>
            </a:r>
            <a:r>
              <a:rPr lang="en-US" altLang="en-US" dirty="0"/>
              <a:t> the contents of two words atomically (</a:t>
            </a:r>
            <a:r>
              <a:rPr lang="en-US" altLang="en-US" dirty="0" err="1"/>
              <a:t>uninterruptibly</a:t>
            </a:r>
            <a:r>
              <a:rPr lang="en-US" altLang="en-US" dirty="0"/>
              <a:t>.)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Test-and-Set</a:t>
            </a:r>
            <a:r>
              <a:rPr lang="en-US" altLang="en-US" dirty="0"/>
              <a:t> instruction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Compare-and-Swap</a:t>
            </a:r>
            <a:r>
              <a:rPr lang="en-US" altLang="en-US" dirty="0"/>
              <a:t> instruction</a:t>
            </a:r>
          </a:p>
        </p:txBody>
      </p:sp>
    </p:spTree>
    <p:extLst>
      <p:ext uri="{BB962C8B-B14F-4D97-AF65-F5344CB8AC3E}">
        <p14:creationId xmlns:p14="http://schemas.microsoft.com/office/powerpoint/2010/main" val="2048480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test_and_set  Instruction 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>
          <a:xfrm>
            <a:off x="378588" y="1920657"/>
            <a:ext cx="8479662" cy="3992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   Definition:</a:t>
            </a:r>
            <a:endParaRPr lang="en-US" altLang="en-US" b="1" dirty="0">
              <a:solidFill>
                <a:srgbClr val="000000"/>
              </a:solidFill>
              <a:latin typeface="Courier New" pitchFamily="49" charset="0"/>
            </a:endParaRP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      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itchFamily="49" charset="0"/>
              </a:rPr>
              <a:t>boolean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itchFamily="49" charset="0"/>
              </a:rPr>
              <a:t>test_and_set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itchFamily="49" charset="0"/>
              </a:rPr>
              <a:t>boolean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*target)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       {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             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itchFamily="49" charset="0"/>
              </a:rPr>
              <a:t>boolean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itchFamily="49" charset="0"/>
              </a:rPr>
              <a:t>rv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= *target;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              *target = true;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              return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itchFamily="49" charset="0"/>
              </a:rPr>
              <a:t>rv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: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       }</a:t>
            </a:r>
            <a:endParaRPr lang="en-US" altLang="en-US" sz="1600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AutoNum type="arabicPeriod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Executed atomically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AutoNum type="arabicPeriod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Returns the original value of passed parameter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AutoNum type="arabicPeriod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Set the new value of passed parameter to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true</a:t>
            </a: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AutoNum type="arabicPeriod"/>
              <a:tabLst>
                <a:tab pos="739775" algn="l"/>
                <a:tab pos="1020763" algn="l"/>
                <a:tab pos="1257300" algn="l"/>
              </a:tabLst>
            </a:pPr>
            <a:endParaRPr lang="en-US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852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Solution using test_and_set()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Shared </a:t>
            </a:r>
            <a:r>
              <a:rPr lang="en-US" altLang="en-US" dirty="0" err="1"/>
              <a:t>boolean</a:t>
            </a:r>
            <a:r>
              <a:rPr lang="en-US" altLang="en-US" dirty="0"/>
              <a:t> variable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lock</a:t>
            </a:r>
            <a:r>
              <a:rPr lang="en-US" altLang="en-US" dirty="0"/>
              <a:t>, initialized to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false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Solution:</a:t>
            </a:r>
            <a:endParaRPr lang="en-US" alt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do {</a:t>
            </a:r>
            <a:b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while 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test_and_set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(&amp;lock))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 ; /* do nothing */ </a:t>
            </a:r>
            <a:b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</a:br>
            <a:endParaRPr lang="en-US" altLang="en-US" sz="16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     /* critical section */ </a:t>
            </a:r>
            <a:b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</a:br>
            <a:endParaRPr lang="en-US" altLang="en-US" sz="16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lock = false;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     /* remainder section */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} while (true);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757488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 err="1"/>
              <a:t>compare_and_swap</a:t>
            </a:r>
            <a:r>
              <a:rPr lang="en-US" altLang="en-US" dirty="0"/>
              <a:t> Instruction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Definition: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itchFamily="49" charset="0"/>
              </a:rPr>
              <a:t>     </a:t>
            </a:r>
            <a:r>
              <a:rPr lang="en-US" altLang="en-US" sz="1400" b="1" dirty="0" err="1">
                <a:latin typeface="Courier New" pitchFamily="49" charset="0"/>
              </a:rPr>
              <a:t>int</a:t>
            </a:r>
            <a:r>
              <a:rPr lang="en-US" altLang="en-US" sz="1400" b="1" dirty="0">
                <a:latin typeface="Courier New" pitchFamily="49" charset="0"/>
              </a:rPr>
              <a:t> compare _</a:t>
            </a:r>
            <a:r>
              <a:rPr lang="en-US" altLang="en-US" sz="1400" b="1" dirty="0" err="1">
                <a:latin typeface="Courier New" pitchFamily="49" charset="0"/>
              </a:rPr>
              <a:t>and_swap</a:t>
            </a:r>
            <a:r>
              <a:rPr lang="en-US" altLang="en-US" sz="1400" b="1" dirty="0">
                <a:latin typeface="Courier New" pitchFamily="49" charset="0"/>
              </a:rPr>
              <a:t>(</a:t>
            </a:r>
            <a:r>
              <a:rPr lang="en-US" altLang="en-US" sz="1400" b="1" dirty="0" err="1">
                <a:latin typeface="Courier New" pitchFamily="49" charset="0"/>
              </a:rPr>
              <a:t>int</a:t>
            </a:r>
            <a:r>
              <a:rPr lang="en-US" altLang="en-US" sz="1400" b="1" dirty="0">
                <a:latin typeface="Courier New" pitchFamily="49" charset="0"/>
              </a:rPr>
              <a:t> *value, </a:t>
            </a:r>
            <a:r>
              <a:rPr lang="en-US" altLang="en-US" sz="1400" b="1" dirty="0" err="1">
                <a:latin typeface="Courier New" pitchFamily="49" charset="0"/>
              </a:rPr>
              <a:t>int</a:t>
            </a:r>
            <a:r>
              <a:rPr lang="en-US" altLang="en-US" sz="1400" b="1" dirty="0">
                <a:latin typeface="Courier New" pitchFamily="49" charset="0"/>
              </a:rPr>
              <a:t> expected, </a:t>
            </a:r>
            <a:r>
              <a:rPr lang="en-US" altLang="en-US" sz="1400" b="1" dirty="0" err="1">
                <a:latin typeface="Courier New" pitchFamily="49" charset="0"/>
              </a:rPr>
              <a:t>int</a:t>
            </a:r>
            <a:r>
              <a:rPr lang="en-US" altLang="en-US" sz="1400" b="1" dirty="0">
                <a:latin typeface="Courier New" pitchFamily="49" charset="0"/>
              </a:rPr>
              <a:t> </a:t>
            </a:r>
            <a:r>
              <a:rPr lang="en-US" altLang="en-US" sz="1400" b="1" dirty="0" err="1">
                <a:latin typeface="Courier New" pitchFamily="49" charset="0"/>
              </a:rPr>
              <a:t>new_value</a:t>
            </a:r>
            <a:r>
              <a:rPr lang="en-US" altLang="en-US" sz="1400" b="1" dirty="0">
                <a:latin typeface="Courier New" pitchFamily="49" charset="0"/>
              </a:rPr>
              <a:t>) {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itchFamily="49" charset="0"/>
              </a:rPr>
              <a:t>         </a:t>
            </a:r>
            <a:r>
              <a:rPr lang="en-US" altLang="en-US" sz="1400" b="1" dirty="0" err="1">
                <a:latin typeface="Courier New" pitchFamily="49" charset="0"/>
              </a:rPr>
              <a:t>int</a:t>
            </a:r>
            <a:r>
              <a:rPr lang="en-US" altLang="en-US" sz="1400" b="1" dirty="0">
                <a:latin typeface="Courier New" pitchFamily="49" charset="0"/>
              </a:rPr>
              <a:t> temp = *value;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endParaRPr lang="en-US" altLang="en-US" sz="1400" b="1" dirty="0">
              <a:latin typeface="Courier New" pitchFamily="49" charset="0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itchFamily="49" charset="0"/>
              </a:rPr>
              <a:t>         if (*value == expected)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itchFamily="49" charset="0"/>
              </a:rPr>
              <a:t>            *value = </a:t>
            </a:r>
            <a:r>
              <a:rPr lang="en-US" altLang="en-US" sz="1400" b="1" dirty="0" err="1">
                <a:latin typeface="Courier New" pitchFamily="49" charset="0"/>
              </a:rPr>
              <a:t>new_value</a:t>
            </a:r>
            <a:r>
              <a:rPr lang="en-US" altLang="en-US" sz="1400" b="1" dirty="0">
                <a:latin typeface="Courier New" pitchFamily="49" charset="0"/>
              </a:rPr>
              <a:t>;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itchFamily="49" charset="0"/>
              </a:rPr>
              <a:t>      return temp;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itchFamily="49" charset="0"/>
              </a:rPr>
              <a:t>     } 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AutoNum type="arabicPeriod"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Executed atomically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AutoNum type="arabicPeriod"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Returns the original value of passed parameter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value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AutoNum type="arabicPeriod"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Set  the variable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altLang="en-US" dirty="0"/>
              <a:t> the value of the passed parameter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new_value</a:t>
            </a:r>
            <a:r>
              <a:rPr lang="en-US" altLang="en-US" dirty="0"/>
              <a:t> but only if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*value == expected </a:t>
            </a:r>
            <a:r>
              <a:rPr lang="en-US" altLang="en-US" dirty="0"/>
              <a:t>is true. That is, the swap takes place only under this condition.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AutoNum type="arabicPeriod"/>
              <a:tabLst>
                <a:tab pos="741363" algn="l"/>
                <a:tab pos="1022350" algn="l"/>
                <a:tab pos="1258888" algn="l"/>
              </a:tabLst>
            </a:pPr>
            <a:endParaRPr lang="en-US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57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Solution using compare_and_swap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Shared integer  </a:t>
            </a:r>
            <a:r>
              <a:rPr lang="en-US" altLang="ja-JP" b="1" dirty="0">
                <a:latin typeface="Courier New" pitchFamily="49" charset="0"/>
                <a:cs typeface="Courier New" pitchFamily="49" charset="0"/>
              </a:rPr>
              <a:t>lock</a:t>
            </a:r>
            <a:r>
              <a:rPr lang="en-US" altLang="ja-JP" dirty="0"/>
              <a:t>  initialized to 0; 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Solution: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b="1" dirty="0">
                <a:latin typeface="Courier New" pitchFamily="49" charset="0"/>
              </a:rPr>
              <a:t>      </a:t>
            </a:r>
            <a:r>
              <a:rPr lang="en-US" altLang="en-US" sz="1600" b="1" dirty="0">
                <a:latin typeface="Courier New" pitchFamily="49" charset="0"/>
              </a:rPr>
              <a:t>while (true){</a:t>
            </a:r>
            <a:br>
              <a:rPr lang="en-US" altLang="en-US" sz="1600" b="1" dirty="0">
                <a:latin typeface="Courier New" pitchFamily="49" charset="0"/>
              </a:rPr>
            </a:br>
            <a:r>
              <a:rPr lang="en-US" altLang="en-US" sz="1600" b="1" dirty="0">
                <a:latin typeface="Courier New" pitchFamily="49" charset="0"/>
              </a:rPr>
              <a:t>    		while (</a:t>
            </a:r>
            <a:r>
              <a:rPr lang="en-US" altLang="en-US" sz="1600" b="1" dirty="0" err="1">
                <a:latin typeface="Courier New" pitchFamily="49" charset="0"/>
              </a:rPr>
              <a:t>compare_and_swap</a:t>
            </a:r>
            <a:r>
              <a:rPr lang="en-US" altLang="en-US" sz="1600" b="1" dirty="0">
                <a:latin typeface="Courier New" pitchFamily="49" charset="0"/>
              </a:rPr>
              <a:t>(&amp;lock, 0, 1) != 0)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latin typeface="Courier New" pitchFamily="49" charset="0"/>
              </a:rPr>
              <a:t>            	; /* do nothing */ </a:t>
            </a:r>
            <a:br>
              <a:rPr lang="en-US" altLang="en-US" sz="1600" b="1" dirty="0">
                <a:latin typeface="Courier New" pitchFamily="49" charset="0"/>
              </a:rPr>
            </a:br>
            <a:endParaRPr lang="en-US" altLang="en-US" sz="1600" b="1" dirty="0">
              <a:latin typeface="Courier New" pitchFamily="49" charset="0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latin typeface="Courier New" pitchFamily="49" charset="0"/>
              </a:rPr>
              <a:t>       		/* critical section */ </a:t>
            </a:r>
            <a:br>
              <a:rPr lang="en-US" altLang="en-US" sz="1600" b="1" dirty="0">
                <a:latin typeface="Courier New" pitchFamily="49" charset="0"/>
              </a:rPr>
            </a:br>
            <a:endParaRPr lang="en-US" altLang="en-US" sz="1600" b="1" dirty="0">
              <a:latin typeface="Courier New" pitchFamily="49" charset="0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latin typeface="Courier New" pitchFamily="49" charset="0"/>
              </a:rPr>
              <a:t>       		lock = 0; </a:t>
            </a:r>
            <a:br>
              <a:rPr lang="en-US" altLang="en-US" sz="1600" b="1" dirty="0">
                <a:latin typeface="Courier New" pitchFamily="49" charset="0"/>
              </a:rPr>
            </a:br>
            <a:endParaRPr lang="en-US" altLang="en-US" sz="1600" b="1" dirty="0">
              <a:latin typeface="Courier New" pitchFamily="49" charset="0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latin typeface="Courier New" pitchFamily="49" charset="0"/>
              </a:rPr>
              <a:t>          /* remainder section */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latin typeface="Courier New" pitchFamily="49" charset="0"/>
              </a:rPr>
              <a:t>      }  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dirty="0"/>
              <a:t>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193306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sz="2400" dirty="0"/>
              <a:t>Bounded-waiting Mutual Exclusion with compare-and-swap</a:t>
            </a:r>
          </a:p>
        </p:txBody>
      </p:sp>
      <p:sp>
        <p:nvSpPr>
          <p:cNvPr id="48130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while (true) {</a:t>
            </a:r>
            <a:br>
              <a:rPr lang="en-US" altLang="en-US" sz="1400" b="1" dirty="0">
                <a:latin typeface="Courier New" pitchFamily="49" charset="0"/>
              </a:rPr>
            </a:br>
            <a:r>
              <a:rPr lang="en-US" altLang="en-US" sz="1400" b="1" dirty="0">
                <a:latin typeface="Courier New" pitchFamily="49" charset="0"/>
              </a:rPr>
              <a:t>   waiting[i] = true;</a:t>
            </a:r>
            <a:br>
              <a:rPr lang="en-US" altLang="en-US" sz="1400" b="1" dirty="0">
                <a:latin typeface="Courier New" pitchFamily="49" charset="0"/>
              </a:rPr>
            </a:br>
            <a:r>
              <a:rPr lang="en-US" altLang="en-US" sz="1400" b="1" dirty="0">
                <a:latin typeface="Courier New" pitchFamily="49" charset="0"/>
              </a:rPr>
              <a:t>   key = 1;</a:t>
            </a:r>
            <a:br>
              <a:rPr lang="en-US" altLang="en-US" sz="1400" b="1" dirty="0">
                <a:latin typeface="Courier New" pitchFamily="49" charset="0"/>
              </a:rPr>
            </a:br>
            <a:r>
              <a:rPr lang="en-US" altLang="en-US" sz="1400" b="1" dirty="0">
                <a:latin typeface="Courier New" pitchFamily="49" charset="0"/>
              </a:rPr>
              <a:t>   while (waiting[i] &amp;&amp; key == 1)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   key = </a:t>
            </a:r>
            <a:r>
              <a:rPr lang="en-US" altLang="en-US" sz="1400" b="1" dirty="0" err="1">
                <a:latin typeface="Courier New" pitchFamily="49" charset="0"/>
              </a:rPr>
              <a:t>compare_and_swap</a:t>
            </a:r>
            <a:r>
              <a:rPr lang="en-US" altLang="en-US" sz="1400" b="1" dirty="0">
                <a:latin typeface="Courier New" pitchFamily="49" charset="0"/>
              </a:rPr>
              <a:t>(&amp;lock,0,1);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waiting[i] = false;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/* critical section */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j = (i + 1) % n;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while ((j != i) &amp;&amp; !waiting[j])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   j = (j + 1) % n;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if (j == i)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   lock = 0;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else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   waiting[j] = false;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/* remainder section */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77573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Atomic Variables</a:t>
            </a:r>
          </a:p>
        </p:txBody>
      </p:sp>
      <p:sp>
        <p:nvSpPr>
          <p:cNvPr id="50178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Typically, instructions such as compare-and-swap are used as building blocks for other synchronization tools.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One tool is an </a:t>
            </a:r>
            <a:r>
              <a:rPr lang="en-US" altLang="en-US" b="1" dirty="0"/>
              <a:t>atomic variable </a:t>
            </a:r>
            <a:r>
              <a:rPr lang="en-US" altLang="en-US" dirty="0"/>
              <a:t>that provides </a:t>
            </a:r>
            <a:r>
              <a:rPr lang="en-US" altLang="en-US" i="1" dirty="0"/>
              <a:t>atomic</a:t>
            </a:r>
            <a:r>
              <a:rPr lang="en-US" altLang="en-US" dirty="0"/>
              <a:t> (uninterruptible) updates on basic data types such as integers and </a:t>
            </a:r>
            <a:r>
              <a:rPr lang="en-US" altLang="en-US" dirty="0" err="1"/>
              <a:t>booleans</a:t>
            </a:r>
            <a:r>
              <a:rPr lang="en-US" altLang="en-US" dirty="0"/>
              <a:t>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For example, the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increment()</a:t>
            </a:r>
            <a:r>
              <a:rPr lang="en-US" altLang="en-US" dirty="0"/>
              <a:t> operation on the atomic variable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sequence</a:t>
            </a:r>
            <a:r>
              <a:rPr lang="en-US" altLang="en-US" dirty="0"/>
              <a:t> ensures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sequence</a:t>
            </a:r>
            <a:r>
              <a:rPr lang="en-US" altLang="en-US" dirty="0"/>
              <a:t> is incremented without interruption: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increment(&amp;sequence);</a:t>
            </a:r>
            <a:r>
              <a:rPr lang="en-US" altLang="en-US" dirty="0"/>
              <a:t> </a:t>
            </a:r>
            <a:br>
              <a:rPr lang="en-US" alt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00287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Atomic Variables</a:t>
            </a:r>
          </a:p>
        </p:txBody>
      </p:sp>
      <p:sp>
        <p:nvSpPr>
          <p:cNvPr id="51202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895605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The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increment()</a:t>
            </a:r>
            <a:r>
              <a:rPr lang="en-US" altLang="en-US" dirty="0"/>
              <a:t> function can be implemented as follows: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void increment(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atomic_int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*v)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{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temp;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do {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	temp = *v;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}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while (temp != 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compare_and_swap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(v,temp,temp+1));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} 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br>
              <a:rPr lang="en-US" alt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39079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Mutex Locks</a:t>
            </a:r>
          </a:p>
        </p:txBody>
      </p:sp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Previous solutions are complicated and generally inaccessible to application programmers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OS designers build software tools to solve critical section problem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Simplest is </a:t>
            </a:r>
            <a:r>
              <a:rPr lang="en-US" altLang="en-US" sz="2000" dirty="0" err="1"/>
              <a:t>mutex</a:t>
            </a:r>
            <a:r>
              <a:rPr lang="en-US" altLang="en-US" dirty="0"/>
              <a:t> lock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Protect a critical section  by first </a:t>
            </a: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acquire()</a:t>
            </a:r>
            <a:r>
              <a:rPr lang="en-US" altLang="en-US" sz="2000" dirty="0"/>
              <a:t> </a:t>
            </a:r>
            <a:r>
              <a:rPr lang="en-US" altLang="en-US" dirty="0"/>
              <a:t>a lock then </a:t>
            </a:r>
            <a:r>
              <a:rPr lang="en-US" altLang="en-US" sz="2000" b="1" dirty="0">
                <a:latin typeface="Courier New" pitchFamily="49" charset="0"/>
              </a:rPr>
              <a:t>release()</a:t>
            </a:r>
            <a:r>
              <a:rPr lang="en-US" altLang="en-US" sz="2000" dirty="0"/>
              <a:t> </a:t>
            </a:r>
            <a:r>
              <a:rPr lang="en-US" altLang="en-US" dirty="0"/>
              <a:t>the lock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Boolean variable indicating if lock is available or not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Calls to </a:t>
            </a:r>
            <a:r>
              <a:rPr lang="en-US" altLang="en-US" sz="2000" b="1" dirty="0">
                <a:latin typeface="Courier New" pitchFamily="49" charset="0"/>
              </a:rPr>
              <a:t>acquire()</a:t>
            </a:r>
            <a:r>
              <a:rPr lang="en-US" altLang="en-US" sz="2000" dirty="0"/>
              <a:t> </a:t>
            </a:r>
            <a:r>
              <a:rPr lang="en-US" altLang="en-US" dirty="0"/>
              <a:t>and </a:t>
            </a:r>
            <a:r>
              <a:rPr lang="en-US" altLang="en-US" sz="2000" b="1" dirty="0">
                <a:latin typeface="Courier New" pitchFamily="49" charset="0"/>
              </a:rPr>
              <a:t>release()</a:t>
            </a:r>
            <a:r>
              <a:rPr lang="en-US" altLang="en-US" sz="2000" dirty="0"/>
              <a:t> </a:t>
            </a:r>
            <a:r>
              <a:rPr lang="en-US" altLang="en-US" dirty="0"/>
              <a:t>must be atomic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Usually implemented via hardware atomic instructions such as compare-and-swap.</a:t>
            </a:r>
            <a:br>
              <a:rPr lang="en-US" altLang="en-US" dirty="0"/>
            </a:b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But this solution requires </a:t>
            </a:r>
            <a:r>
              <a:rPr lang="en-US" altLang="en-US" b="1" dirty="0">
                <a:solidFill>
                  <a:srgbClr val="3366FF"/>
                </a:solidFill>
              </a:rPr>
              <a:t>busy waiting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This lock therefore called a </a:t>
            </a:r>
            <a:r>
              <a:rPr lang="en-US" altLang="en-US" b="1" dirty="0">
                <a:solidFill>
                  <a:srgbClr val="3366FF"/>
                </a:solidFill>
              </a:rPr>
              <a:t>spinlock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602977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72D3C8-57B0-DA47-A698-D44B3ABAD6A5}"/>
              </a:ext>
            </a:extLst>
          </p:cNvPr>
          <p:cNvSpPr/>
          <p:nvPr/>
        </p:nvSpPr>
        <p:spPr bwMode="auto">
          <a:xfrm>
            <a:off x="3178175" y="2609850"/>
            <a:ext cx="2024063" cy="3762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lIns="64002" tIns="32001" rIns="64002" bIns="32001"/>
          <a:lstStyle/>
          <a:p>
            <a:pPr>
              <a:defRPr/>
            </a:pPr>
            <a:endParaRPr lang="en-US">
              <a:solidFill>
                <a:schemeClr val="tx1"/>
              </a:solidFill>
              <a:latin typeface="Verdana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836883-E3AE-034C-85E4-7D519953BB92}"/>
              </a:ext>
            </a:extLst>
          </p:cNvPr>
          <p:cNvSpPr/>
          <p:nvPr/>
        </p:nvSpPr>
        <p:spPr bwMode="auto">
          <a:xfrm>
            <a:off x="3178175" y="3686175"/>
            <a:ext cx="2024063" cy="3460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lIns="64002" tIns="32001" rIns="64002" bIns="32001"/>
          <a:lstStyle/>
          <a:p>
            <a:pPr>
              <a:defRPr/>
            </a:pPr>
            <a:endParaRPr lang="en-US">
              <a:solidFill>
                <a:schemeClr val="tx1"/>
              </a:solidFill>
              <a:latin typeface="Verdana" charset="0"/>
            </a:endParaRPr>
          </a:p>
        </p:txBody>
      </p:sp>
      <p:sp>
        <p:nvSpPr>
          <p:cNvPr id="54275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sz="3200"/>
              <a:t>Solution to Critical-section Problem Using Locks</a:t>
            </a:r>
          </a:p>
        </p:txBody>
      </p:sp>
      <p:sp>
        <p:nvSpPr>
          <p:cNvPr id="54276" name="Rectangle 2"/>
          <p:cNvSpPr>
            <a:spLocks noChangeArrowheads="1"/>
          </p:cNvSpPr>
          <p:nvPr/>
        </p:nvSpPr>
        <p:spPr bwMode="auto">
          <a:xfrm>
            <a:off x="2286000" y="2274888"/>
            <a:ext cx="4572000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acquire lock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		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critical section </a:t>
            </a:r>
          </a:p>
          <a:p>
            <a:pPr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release lock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remainder section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960936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Mutex Lock Definitions</a:t>
            </a:r>
          </a:p>
        </p:txBody>
      </p:sp>
      <p:sp>
        <p:nvSpPr>
          <p:cNvPr id="56322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393091" y="1859789"/>
            <a:ext cx="8229600" cy="3208337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1400" b="1" dirty="0">
                <a:latin typeface="Courier New" pitchFamily="49" charset="0"/>
              </a:rPr>
              <a:t>   </a:t>
            </a:r>
            <a:r>
              <a:rPr lang="en-US" altLang="en-US" sz="1600" b="1" dirty="0">
                <a:latin typeface="Courier New" pitchFamily="49" charset="0"/>
              </a:rPr>
              <a:t>acquire() {</a:t>
            </a:r>
            <a:br>
              <a:rPr lang="en-US" altLang="en-US" sz="1600" b="1" dirty="0">
                <a:latin typeface="Courier New" pitchFamily="49" charset="0"/>
              </a:rPr>
            </a:br>
            <a:r>
              <a:rPr lang="en-US" altLang="en-US" sz="1600" b="1" dirty="0">
                <a:latin typeface="Courier New" pitchFamily="49" charset="0"/>
              </a:rPr>
              <a:t>       while (!available)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       ; /* busy wait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    available = false;;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 } </a:t>
            </a:r>
            <a:br>
              <a:rPr lang="en-US" altLang="en-US" sz="1600" b="1" dirty="0">
                <a:latin typeface="Courier New" pitchFamily="49" charset="0"/>
              </a:rPr>
            </a:br>
            <a:endParaRPr lang="en-US" altLang="en-US" sz="1600" b="1" dirty="0">
              <a:latin typeface="Courier New" pitchFamily="49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sz="1600" b="1" dirty="0">
                <a:latin typeface="Courier New" pitchFamily="49" charset="0"/>
              </a:rPr>
              <a:t>   release() {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    available = true;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 } </a:t>
            </a:r>
            <a:endParaRPr lang="en-US" altLang="en-US" sz="1400" b="1" dirty="0">
              <a:latin typeface="Courier New" pitchFamily="49" charset="0"/>
            </a:endParaRPr>
          </a:p>
          <a:p>
            <a:pPr marL="0" indent="0">
              <a:buFont typeface="Monotype Sorts" pitchFamily="-84" charset="2"/>
              <a:buNone/>
            </a:pPr>
            <a:endParaRPr lang="en-US" altLang="en-US" dirty="0"/>
          </a:p>
        </p:txBody>
      </p:sp>
      <p:sp>
        <p:nvSpPr>
          <p:cNvPr id="56323" name="TextBox 5"/>
          <p:cNvSpPr txBox="1">
            <a:spLocks noChangeArrowheads="1"/>
          </p:cNvSpPr>
          <p:nvPr/>
        </p:nvSpPr>
        <p:spPr bwMode="auto">
          <a:xfrm>
            <a:off x="710048" y="5209481"/>
            <a:ext cx="5429074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n-US" altLang="en-US" dirty="0"/>
              <a:t>These two functions must be implemented atomically.</a:t>
            </a:r>
          </a:p>
          <a:p>
            <a:pPr algn="just"/>
            <a:r>
              <a:rPr lang="en-US" altLang="en-US" dirty="0"/>
              <a:t>Both test-and-set and compare-and-swap can be </a:t>
            </a:r>
            <a:br>
              <a:rPr lang="en-US" altLang="en-US" dirty="0"/>
            </a:br>
            <a:r>
              <a:rPr lang="en-US" altLang="en-US" dirty="0"/>
              <a:t>used to implement these functions.</a:t>
            </a:r>
          </a:p>
        </p:txBody>
      </p:sp>
    </p:spTree>
    <p:extLst>
      <p:ext uri="{BB962C8B-B14F-4D97-AF65-F5344CB8AC3E}">
        <p14:creationId xmlns:p14="http://schemas.microsoft.com/office/powerpoint/2010/main" val="1062629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Semaphore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459004" cy="424214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sz="1600" dirty="0"/>
              <a:t>Synchronization tool that provides more sophisticated ways (than </a:t>
            </a:r>
            <a:r>
              <a:rPr lang="en-US" altLang="en-US" sz="1600" dirty="0" err="1"/>
              <a:t>Mutex</a:t>
            </a:r>
            <a:r>
              <a:rPr lang="en-US" altLang="en-US" sz="1600" dirty="0"/>
              <a:t> locks)  for process to synchronize their activities.</a:t>
            </a:r>
            <a:endParaRPr lang="en-US" altLang="en-US" sz="1600" i="1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sz="1600" dirty="0"/>
              <a:t>Semaphore </a:t>
            </a:r>
            <a:r>
              <a:rPr lang="en-US" altLang="en-US" sz="1600" b="1" i="1" dirty="0"/>
              <a:t>S</a:t>
            </a:r>
            <a:r>
              <a:rPr lang="en-US" altLang="en-US" sz="1600" dirty="0"/>
              <a:t> – integer variable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sz="1600" dirty="0"/>
              <a:t>Can only be accessed via two indivisible (atomic) operations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wait()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sz="1600" dirty="0">
                <a:solidFill>
                  <a:srgbClr val="000000"/>
                </a:solidFill>
              </a:rPr>
              <a:t>and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signal()</a:t>
            </a:r>
          </a:p>
          <a:p>
            <a:pPr lvl="2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sz="1600" dirty="0"/>
              <a:t>(Originally called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P()</a:t>
            </a:r>
            <a:r>
              <a:rPr lang="en-US" altLang="en-US" dirty="0"/>
              <a:t> </a:t>
            </a:r>
            <a:r>
              <a:rPr lang="en-US" altLang="en-US" sz="1600" dirty="0"/>
              <a:t>and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V())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sz="1600" dirty="0"/>
              <a:t>Definition of  the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wait() operation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b="1" dirty="0">
                <a:latin typeface="Courier New" pitchFamily="49" charset="0"/>
                <a:sym typeface="Symbol" pitchFamily="18" charset="2"/>
              </a:rPr>
              <a:t>wait(S)</a:t>
            </a:r>
            <a:r>
              <a:rPr lang="en-US" altLang="en-US" sz="1600" b="1" dirty="0">
                <a:latin typeface="Courier New" pitchFamily="49" charset="0"/>
                <a:sym typeface="Symbol" pitchFamily="18" charset="2"/>
              </a:rPr>
              <a:t> {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  <a:sym typeface="Symbol" pitchFamily="18" charset="2"/>
              </a:rPr>
              <a:t>    while (S &lt;= 0)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  <a:sym typeface="Symbol" pitchFamily="18" charset="2"/>
              </a:rPr>
              <a:t>       ; // busy wait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  <a:sym typeface="Symbol" pitchFamily="18" charset="2"/>
              </a:rPr>
              <a:t>    S--;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  <a:sym typeface="Symbol" pitchFamily="18" charset="2"/>
              </a:rPr>
              <a:t>}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sz="1600" dirty="0"/>
              <a:t>Definition of  the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signal() operation</a:t>
            </a:r>
            <a:endParaRPr lang="en-US" altLang="en-US" sz="1600" b="1" dirty="0">
              <a:latin typeface="Courier New" pitchFamily="49" charset="0"/>
              <a:sym typeface="Symbol" pitchFamily="18" charset="2"/>
            </a:endParaRPr>
          </a:p>
          <a:p>
            <a:pPr lvl="1"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b="1" dirty="0">
                <a:latin typeface="Courier New" pitchFamily="49" charset="0"/>
                <a:sym typeface="Symbol" pitchFamily="18" charset="2"/>
              </a:rPr>
              <a:t>signal(S)</a:t>
            </a:r>
            <a:r>
              <a:rPr lang="en-US" altLang="en-US" sz="1600" b="1" dirty="0">
                <a:latin typeface="Courier New" pitchFamily="49" charset="0"/>
                <a:sym typeface="Symbol" pitchFamily="18" charset="2"/>
              </a:rPr>
              <a:t> {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  <a:sym typeface="Symbol" pitchFamily="18" charset="2"/>
              </a:rPr>
              <a:t>    S++;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  <a:sym typeface="Symbol" pitchFamily="18" charset="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07702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Semaphore Usage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 lnSpcReduction="1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3366FF"/>
                </a:solidFill>
              </a:rPr>
              <a:t>Counting semaphore </a:t>
            </a:r>
            <a:r>
              <a:rPr lang="en-US" altLang="en-US" sz="1600" dirty="0"/>
              <a:t>– integer value can range over an unrestricted domain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3366FF"/>
                </a:solidFill>
              </a:rPr>
              <a:t>Binary semaphore </a:t>
            </a:r>
            <a:r>
              <a:rPr lang="en-US" altLang="en-US" sz="1600" dirty="0"/>
              <a:t>– integer value can range only between 0 and 1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  <a:tabLst>
                <a:tab pos="2001838" algn="ctr"/>
                <a:tab pos="4513263" algn="ctr"/>
              </a:tabLst>
            </a:pPr>
            <a:r>
              <a:rPr lang="en-US" altLang="en-US" sz="1600" dirty="0">
                <a:sym typeface="MT Extra" pitchFamily="18" charset="2"/>
              </a:rPr>
              <a:t>Same as a </a:t>
            </a:r>
            <a:r>
              <a:rPr lang="en-US" altLang="en-US" sz="1600" b="1" dirty="0" err="1">
                <a:solidFill>
                  <a:srgbClr val="3366FF"/>
                </a:solidFill>
                <a:sym typeface="MT Extra" pitchFamily="18" charset="2"/>
              </a:rPr>
              <a:t>mutex</a:t>
            </a:r>
            <a:r>
              <a:rPr lang="en-US" altLang="en-US" sz="1600" b="1" dirty="0">
                <a:solidFill>
                  <a:srgbClr val="3366FF"/>
                </a:solidFill>
                <a:sym typeface="MT Extra" pitchFamily="18" charset="2"/>
              </a:rPr>
              <a:t> lock</a:t>
            </a:r>
            <a:endParaRPr lang="en-US" altLang="en-US" sz="1600" b="1" dirty="0">
              <a:solidFill>
                <a:srgbClr val="3366FF"/>
              </a:solidFill>
            </a:endParaRP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001838" algn="ctr"/>
                <a:tab pos="4513263" algn="ctr"/>
              </a:tabLst>
            </a:pPr>
            <a:r>
              <a:rPr lang="en-US" altLang="en-US" sz="1600" dirty="0">
                <a:sym typeface="MT Extra" pitchFamily="18" charset="2"/>
              </a:rPr>
              <a:t>Can solve various synchronization problems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001838" algn="ctr"/>
                <a:tab pos="4513263" algn="ctr"/>
              </a:tabLst>
            </a:pPr>
            <a:r>
              <a:rPr lang="en-US" altLang="en-US" sz="1600" dirty="0">
                <a:sym typeface="MT Extra" pitchFamily="18" charset="2"/>
              </a:rPr>
              <a:t>Consider </a:t>
            </a:r>
            <a:r>
              <a:rPr lang="en-US" altLang="en-US" sz="1600" b="1" i="1" dirty="0">
                <a:sym typeface="MT Extra" pitchFamily="18" charset="2"/>
              </a:rPr>
              <a:t>P</a:t>
            </a:r>
            <a:r>
              <a:rPr lang="en-US" altLang="en-US" sz="1600" b="1" i="1" baseline="-25000" dirty="0">
                <a:sym typeface="MT Extra" pitchFamily="18" charset="2"/>
              </a:rPr>
              <a:t>1</a:t>
            </a:r>
            <a:r>
              <a:rPr lang="en-US" altLang="en-US" sz="1600" b="1" i="1" dirty="0">
                <a:sym typeface="MT Extra" pitchFamily="18" charset="2"/>
              </a:rPr>
              <a:t> </a:t>
            </a:r>
            <a:r>
              <a:rPr lang="en-US" altLang="en-US" sz="1600" dirty="0">
                <a:sym typeface="MT Extra" pitchFamily="18" charset="2"/>
              </a:rPr>
              <a:t> and </a:t>
            </a:r>
            <a:r>
              <a:rPr lang="en-US" altLang="en-US" sz="1600" b="1" i="1" dirty="0">
                <a:sym typeface="MT Extra" pitchFamily="18" charset="2"/>
              </a:rPr>
              <a:t>P</a:t>
            </a:r>
            <a:r>
              <a:rPr lang="en-US" altLang="en-US" sz="1600" b="1" i="1" baseline="-25000" dirty="0">
                <a:sym typeface="MT Extra" pitchFamily="18" charset="2"/>
              </a:rPr>
              <a:t>2</a:t>
            </a:r>
            <a:r>
              <a:rPr lang="en-US" altLang="en-US" sz="1600" dirty="0">
                <a:sym typeface="MT Extra" pitchFamily="18" charset="2"/>
              </a:rPr>
              <a:t> that require</a:t>
            </a:r>
            <a:r>
              <a:rPr lang="en-US" altLang="en-US" sz="1600" b="1" i="1" dirty="0">
                <a:sym typeface="MT Extra" pitchFamily="18" charset="2"/>
              </a:rPr>
              <a:t> S</a:t>
            </a:r>
            <a:r>
              <a:rPr lang="en-US" altLang="en-US" sz="1600" b="1" i="1" baseline="-25000" dirty="0">
                <a:sym typeface="MT Extra" pitchFamily="18" charset="2"/>
              </a:rPr>
              <a:t>1</a:t>
            </a:r>
            <a:r>
              <a:rPr lang="en-US" altLang="en-US" sz="1600" b="1" i="1" dirty="0">
                <a:sym typeface="MT Extra" pitchFamily="18" charset="2"/>
              </a:rPr>
              <a:t> </a:t>
            </a:r>
            <a:r>
              <a:rPr lang="en-US" altLang="en-US" sz="1600" dirty="0">
                <a:sym typeface="MT Extra" pitchFamily="18" charset="2"/>
              </a:rPr>
              <a:t>to happen before </a:t>
            </a:r>
            <a:r>
              <a:rPr lang="en-US" altLang="en-US" sz="1600" b="1" i="1" dirty="0">
                <a:sym typeface="MT Extra" pitchFamily="18" charset="2"/>
              </a:rPr>
              <a:t>S</a:t>
            </a:r>
            <a:r>
              <a:rPr lang="en-US" altLang="en-US" sz="1600" b="1" i="1" baseline="-25000" dirty="0">
                <a:sym typeface="MT Extra" pitchFamily="18" charset="2"/>
              </a:rPr>
              <a:t>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dirty="0">
                <a:sym typeface="MT Extra" pitchFamily="18" charset="2"/>
              </a:rPr>
              <a:t>       Create a semaphore “</a:t>
            </a:r>
            <a:r>
              <a:rPr lang="en-US" altLang="ja-JP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synch</a:t>
            </a:r>
            <a:r>
              <a:rPr lang="en-US" altLang="en-US" sz="1600" dirty="0">
                <a:sym typeface="MT Extra" pitchFamily="18" charset="2"/>
              </a:rPr>
              <a:t>”</a:t>
            </a:r>
            <a:r>
              <a:rPr lang="en-US" altLang="ja-JP" sz="1600" dirty="0">
                <a:sym typeface="MT Extra" pitchFamily="18" charset="2"/>
              </a:rPr>
              <a:t> initialized to 0 </a:t>
            </a:r>
          </a:p>
          <a:p>
            <a:pPr lvl="1">
              <a:spcBef>
                <a:spcPts val="500"/>
              </a:spcBef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P1:</a:t>
            </a:r>
          </a:p>
          <a:p>
            <a:pPr lvl="1">
              <a:spcBef>
                <a:spcPts val="500"/>
              </a:spcBef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   S</a:t>
            </a:r>
            <a:r>
              <a:rPr lang="en-US" altLang="en-US" sz="1600" b="1" baseline="-25000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1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;</a:t>
            </a:r>
          </a:p>
          <a:p>
            <a:pPr lvl="1">
              <a:spcBef>
                <a:spcPts val="500"/>
              </a:spcBef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   signal(synch);</a:t>
            </a:r>
          </a:p>
          <a:p>
            <a:pPr lvl="1">
              <a:spcBef>
                <a:spcPts val="500"/>
              </a:spcBef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P2:</a:t>
            </a:r>
          </a:p>
          <a:p>
            <a:pPr lvl="1">
              <a:spcBef>
                <a:spcPts val="500"/>
              </a:spcBef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   wait(synch)</a:t>
            </a:r>
            <a:r>
              <a:rPr lang="en-US" altLang="en-US" sz="1400" dirty="0">
                <a:solidFill>
                  <a:srgbClr val="0000FF"/>
                </a:solidFill>
                <a:sym typeface="MT Extra" pitchFamily="18" charset="2"/>
              </a:rPr>
              <a:t>;</a:t>
            </a:r>
            <a:endParaRPr lang="en-US" altLang="en-US" sz="1600" b="1" dirty="0">
              <a:solidFill>
                <a:srgbClr val="000000"/>
              </a:solidFill>
              <a:latin typeface="Courier New" pitchFamily="49" charset="0"/>
              <a:sym typeface="MT Extra" pitchFamily="18" charset="2"/>
            </a:endParaRPr>
          </a:p>
          <a:p>
            <a:pPr lvl="1">
              <a:spcBef>
                <a:spcPts val="500"/>
              </a:spcBef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   S</a:t>
            </a:r>
            <a:r>
              <a:rPr lang="en-US" altLang="en-US" sz="1600" b="1" baseline="-25000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2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;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001838" algn="ctr"/>
                <a:tab pos="4513263" algn="ctr"/>
              </a:tabLst>
            </a:pPr>
            <a:r>
              <a:rPr lang="en-US" altLang="en-US" sz="1600" dirty="0"/>
              <a:t>Can implement a counting semaphore </a:t>
            </a:r>
            <a:r>
              <a:rPr lang="en-US" altLang="en-US" sz="1600" b="1" i="1" dirty="0">
                <a:solidFill>
                  <a:srgbClr val="000000"/>
                </a:solidFill>
              </a:rPr>
              <a:t>S</a:t>
            </a:r>
            <a:r>
              <a:rPr lang="en-US" altLang="en-US" sz="1600" dirty="0"/>
              <a:t> as a binary semaphore</a:t>
            </a:r>
          </a:p>
          <a:p>
            <a:pPr>
              <a:spcBef>
                <a:spcPts val="500"/>
              </a:spcBef>
              <a:tabLst>
                <a:tab pos="2001838" algn="ctr"/>
                <a:tab pos="4513263" algn="ctr"/>
              </a:tabLst>
            </a:pPr>
            <a:endParaRPr lang="en-US" altLang="en-US" sz="1600" b="1" i="1" baseline="-25000" dirty="0">
              <a:sym typeface="MT Extra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93539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Semaphore Implementation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Must guarantee that no two processes can execute  the </a:t>
            </a:r>
            <a:r>
              <a:rPr lang="en-US" altLang="en-US" sz="2000" b="1" dirty="0">
                <a:latin typeface="Courier New" pitchFamily="49" charset="0"/>
              </a:rPr>
              <a:t>wait() </a:t>
            </a:r>
            <a:r>
              <a:rPr lang="en-US" altLang="en-US" dirty="0"/>
              <a:t>and </a:t>
            </a:r>
            <a:r>
              <a:rPr lang="en-US" altLang="en-US" sz="2000" b="1" dirty="0">
                <a:latin typeface="Courier New" pitchFamily="49" charset="0"/>
              </a:rPr>
              <a:t>signal() </a:t>
            </a:r>
            <a:r>
              <a:rPr lang="en-US" altLang="en-US" dirty="0"/>
              <a:t>on the same semaphore at the same time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Thus, the implementation becomes the critical section problem where the </a:t>
            </a:r>
            <a:r>
              <a:rPr lang="en-US" altLang="en-US" sz="2000" b="1" dirty="0">
                <a:latin typeface="Courier New" pitchFamily="49" charset="0"/>
              </a:rPr>
              <a:t>wait</a:t>
            </a:r>
            <a:r>
              <a:rPr lang="en-US" altLang="en-US" dirty="0"/>
              <a:t> and </a:t>
            </a:r>
            <a:r>
              <a:rPr lang="en-US" altLang="en-US" sz="2000" b="1" dirty="0">
                <a:latin typeface="Courier New" pitchFamily="49" charset="0"/>
              </a:rPr>
              <a:t>signal</a:t>
            </a:r>
            <a:r>
              <a:rPr lang="en-US" altLang="en-US" dirty="0"/>
              <a:t> code are placed in the critical section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Could now have </a:t>
            </a:r>
            <a:r>
              <a:rPr lang="en-US" altLang="en-US" b="1" dirty="0">
                <a:solidFill>
                  <a:srgbClr val="3366FF"/>
                </a:solidFill>
              </a:rPr>
              <a:t>busy waiting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critical section implementation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But implementation code is short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Little busy waiting if critical section rarely occupied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Note that applications may spend lots of time in critical sections and therefore this is not a good solution</a:t>
            </a:r>
          </a:p>
          <a:p>
            <a:pPr marL="0" indent="0">
              <a:buNone/>
            </a:pPr>
            <a:endParaRPr lang="en-US" altLang="en-US" dirty="0"/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8122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sz="3200"/>
              <a:t>Semaphore Implementation with no Busy waiting 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With each semaphore there is an associated waiting queue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Each entry in a waiting queue has two data items: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 value (of type integer)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 pointer to next record in the list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Two operations: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block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place the process invoking the operation on the appropriate waiting queue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wakeup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remove one of processes in the waiting queue and place it in the ready queue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sz="1600" b="1" dirty="0" err="1">
                <a:latin typeface="Courier New" pitchFamily="49" charset="0"/>
              </a:rPr>
              <a:t>typedef</a:t>
            </a:r>
            <a:r>
              <a:rPr lang="en-US" altLang="en-US" sz="1600" b="1" dirty="0">
                <a:latin typeface="Courier New" pitchFamily="49" charset="0"/>
              </a:rPr>
              <a:t> </a:t>
            </a:r>
            <a:r>
              <a:rPr lang="en-US" altLang="en-US" sz="1600" b="1" dirty="0" err="1">
                <a:latin typeface="Courier New" pitchFamily="49" charset="0"/>
              </a:rPr>
              <a:t>struct</a:t>
            </a:r>
            <a:r>
              <a:rPr lang="en-US" altLang="en-US" sz="1600" b="1" dirty="0">
                <a:latin typeface="Courier New" pitchFamily="49" charset="0"/>
              </a:rPr>
              <a:t> {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	</a:t>
            </a:r>
            <a:r>
              <a:rPr lang="en-US" altLang="en-US" sz="1600" b="1" dirty="0" err="1">
                <a:latin typeface="Courier New" pitchFamily="49" charset="0"/>
              </a:rPr>
              <a:t>int</a:t>
            </a:r>
            <a:r>
              <a:rPr lang="en-US" altLang="en-US" sz="1600" b="1" dirty="0">
                <a:latin typeface="Courier New" pitchFamily="49" charset="0"/>
              </a:rPr>
              <a:t> value;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	</a:t>
            </a:r>
            <a:r>
              <a:rPr lang="en-US" altLang="en-US" sz="1600" b="1" dirty="0" err="1">
                <a:latin typeface="Courier New" pitchFamily="49" charset="0"/>
              </a:rPr>
              <a:t>struct</a:t>
            </a:r>
            <a:r>
              <a:rPr lang="en-US" altLang="en-US" sz="1600" b="1" dirty="0">
                <a:latin typeface="Courier New" pitchFamily="49" charset="0"/>
              </a:rPr>
              <a:t> process *list;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} semaphore; </a:t>
            </a:r>
          </a:p>
          <a:p>
            <a:pPr>
              <a:spcBef>
                <a:spcPts val="500"/>
              </a:spcBef>
            </a:pPr>
            <a:endParaRPr lang="en-US" altLang="en-US" dirty="0"/>
          </a:p>
          <a:p>
            <a:pPr lvl="1">
              <a:spcBef>
                <a:spcPts val="500"/>
              </a:spcBef>
            </a:pPr>
            <a:endParaRPr lang="en-US" altLang="en-US" dirty="0"/>
          </a:p>
          <a:p>
            <a:pPr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672523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3200" dirty="0"/>
              <a:t>Implementation with no Busy waiting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sz="3200" dirty="0"/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4"/>
            <a:ext cx="8574087" cy="3992563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endParaRPr lang="en-US" altLang="en-US" sz="1400" b="1" dirty="0">
              <a:latin typeface="Courier New" pitchFamily="49" charset="0"/>
            </a:endParaRP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wait(semaphore *S) {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S-&gt;value--;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if (S-&gt;value &lt; 0) {</a:t>
            </a:r>
            <a:br>
              <a:rPr lang="en-US" altLang="en-US" sz="1600" b="1" dirty="0">
                <a:latin typeface="Courier New" pitchFamily="49" charset="0"/>
              </a:rPr>
            </a:br>
            <a:r>
              <a:rPr lang="en-US" altLang="en-US" sz="1600" b="1" dirty="0">
                <a:latin typeface="Courier New" pitchFamily="49" charset="0"/>
              </a:rPr>
              <a:t>      add this process to S-&gt;list;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   block();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}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}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endParaRPr lang="en-US" altLang="en-US" sz="1600" b="1" dirty="0">
              <a:latin typeface="Courier New" pitchFamily="49" charset="0"/>
            </a:endParaRP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signal(semaphore *S) {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S-&gt;value++;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if (S-&gt;value &lt;= 0) {</a:t>
            </a:r>
            <a:br>
              <a:rPr lang="en-US" altLang="en-US" sz="1600" b="1" dirty="0">
                <a:latin typeface="Courier New" pitchFamily="49" charset="0"/>
              </a:rPr>
            </a:br>
            <a:r>
              <a:rPr lang="en-US" altLang="en-US" sz="1600" b="1" dirty="0">
                <a:latin typeface="Courier New" pitchFamily="49" charset="0"/>
              </a:rPr>
              <a:t>      remove a process P from S-&gt;list;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   wakeup(P);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}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392114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Problems with Semaphores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45917"/>
            <a:ext cx="8574087" cy="39925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 Incorrect use of semaphore operations:</a:t>
            </a:r>
            <a:br>
              <a:rPr lang="en-US" altLang="en-US" dirty="0"/>
            </a:br>
            <a:endParaRPr lang="en-US" altLang="en-US" dirty="0"/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signal 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)  ….  wait 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)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wait 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)  …  wait 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1">
              <a:buFont typeface="Wingdings" pitchFamily="2" charset="2"/>
              <a:buChar char="q"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Omitting  of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wait 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altLang="en-US" dirty="0"/>
              <a:t>and/or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signal 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)</a:t>
            </a: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These – and others – are examples of what can occur when </a:t>
            </a:r>
            <a:r>
              <a:rPr lang="en-US" altLang="en-US" dirty="0" err="1"/>
              <a:t>sempahores</a:t>
            </a:r>
            <a:r>
              <a:rPr lang="en-US" altLang="en-US" dirty="0"/>
              <a:t> and other synchronization tools are used incorrectly.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521955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/>
              <a:t>Written by Galvin and Silberschatz</a:t>
            </a:r>
          </a:p>
          <a:p>
            <a:pPr lvl="1">
              <a:buFont typeface="Wingdings" pitchFamily="2" charset="2"/>
              <a:buChar char="q"/>
            </a:pPr>
            <a:r>
              <a:rPr lang="en-US"/>
              <a:t>Edition: 9</a:t>
            </a:r>
            <a:r>
              <a:rPr lang="en-US" baseline="30000"/>
              <a:t>th</a:t>
            </a:r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169</TotalTime>
  <Words>1583</Words>
  <Application>Microsoft Office PowerPoint</Application>
  <PresentationFormat>On-screen Show (4:3)</PresentationFormat>
  <Paragraphs>230</Paragraphs>
  <Slides>24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Calibri</vt:lpstr>
      <vt:lpstr>Corbel</vt:lpstr>
      <vt:lpstr>Courier New</vt:lpstr>
      <vt:lpstr>Monotype Sorts</vt:lpstr>
      <vt:lpstr>Times New Roman</vt:lpstr>
      <vt:lpstr>Verdana</vt:lpstr>
      <vt:lpstr>Wingdings</vt:lpstr>
      <vt:lpstr>Spectrum</vt:lpstr>
      <vt:lpstr>Synchronization Tools (cont’d) </vt:lpstr>
      <vt:lpstr>Lecture Outline</vt:lpstr>
      <vt:lpstr>Synchronization Hardware</vt:lpstr>
      <vt:lpstr>Memory Barriers</vt:lpstr>
      <vt:lpstr>Memory Barrier</vt:lpstr>
      <vt:lpstr>Hardware Instructions</vt:lpstr>
      <vt:lpstr>test_and_set  Instruction </vt:lpstr>
      <vt:lpstr>Solution using test_and_set()</vt:lpstr>
      <vt:lpstr>compare_and_swap Instruction</vt:lpstr>
      <vt:lpstr>Solution using compare_and_swap</vt:lpstr>
      <vt:lpstr>Bounded-waiting Mutual Exclusion with compare-and-swap</vt:lpstr>
      <vt:lpstr>Atomic Variables</vt:lpstr>
      <vt:lpstr>Atomic Variables</vt:lpstr>
      <vt:lpstr>Mutex Locks</vt:lpstr>
      <vt:lpstr>Solution to Critical-section Problem Using Locks</vt:lpstr>
      <vt:lpstr>Mutex Lock Definitions</vt:lpstr>
      <vt:lpstr>Semaphore</vt:lpstr>
      <vt:lpstr>Semaphore Usage</vt:lpstr>
      <vt:lpstr>Semaphore Implementation</vt:lpstr>
      <vt:lpstr>Semaphore Implementation with no Busy waiting </vt:lpstr>
      <vt:lpstr>Implementation with no Busy waiting (cont’d)</vt:lpstr>
      <vt:lpstr>Problems with Semaphores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SYEDA ANIKA TASNIM</cp:lastModifiedBy>
  <cp:revision>19</cp:revision>
  <dcterms:created xsi:type="dcterms:W3CDTF">2018-12-10T17:20:29Z</dcterms:created>
  <dcterms:modified xsi:type="dcterms:W3CDTF">2020-11-30T08:28:07Z</dcterms:modified>
</cp:coreProperties>
</file>