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2"/>
  </p:notesMasterIdLst>
  <p:sldIdLst>
    <p:sldId id="256" r:id="rId2"/>
    <p:sldId id="281" r:id="rId3"/>
    <p:sldId id="257" r:id="rId4"/>
    <p:sldId id="282" r:id="rId5"/>
    <p:sldId id="258" r:id="rId6"/>
    <p:sldId id="283" r:id="rId7"/>
    <p:sldId id="284" r:id="rId8"/>
    <p:sldId id="285" r:id="rId9"/>
    <p:sldId id="259" r:id="rId10"/>
    <p:sldId id="260" r:id="rId11"/>
    <p:sldId id="286" r:id="rId12"/>
    <p:sldId id="261" r:id="rId13"/>
    <p:sldId id="287" r:id="rId14"/>
    <p:sldId id="288" r:id="rId15"/>
    <p:sldId id="289" r:id="rId16"/>
    <p:sldId id="262" r:id="rId17"/>
    <p:sldId id="263" r:id="rId18"/>
    <p:sldId id="264" r:id="rId19"/>
    <p:sldId id="290" r:id="rId20"/>
    <p:sldId id="291" r:id="rId21"/>
    <p:sldId id="265" r:id="rId22"/>
    <p:sldId id="266" r:id="rId23"/>
    <p:sldId id="267" r:id="rId24"/>
    <p:sldId id="292" r:id="rId25"/>
    <p:sldId id="293" r:id="rId26"/>
    <p:sldId id="294" r:id="rId27"/>
    <p:sldId id="295" r:id="rId28"/>
    <p:sldId id="268" r:id="rId29"/>
    <p:sldId id="269" r:id="rId30"/>
    <p:sldId id="270" r:id="rId31"/>
    <p:sldId id="271" r:id="rId32"/>
    <p:sldId id="272" r:id="rId33"/>
    <p:sldId id="273" r:id="rId34"/>
    <p:sldId id="274" r:id="rId35"/>
    <p:sldId id="275" r:id="rId36"/>
    <p:sldId id="276" r:id="rId37"/>
    <p:sldId id="277" r:id="rId38"/>
    <p:sldId id="278" r:id="rId39"/>
    <p:sldId id="279" r:id="rId40"/>
    <p:sldId id="280"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551CD4-5FD0-488C-B322-2092540DE334}" v="26" dt="2025-05-10T14:23:59.0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59" d="100"/>
          <a:sy n="59" d="100"/>
        </p:scale>
        <p:origin x="1500" y="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ldChg>
    </pc:docChg>
  </pc:docChgLst>
  <pc:docChgLst>
    <pc:chgData name="Syeda Asrafa Islam" userId="626c424c-c870-4792-90a3-28617519e11b" providerId="ADAL" clId="{DA551CD4-5FD0-488C-B322-2092540DE334}"/>
    <pc:docChg chg="undo custSel addSld delSld modSld sldOrd">
      <pc:chgData name="Syeda Asrafa Islam" userId="626c424c-c870-4792-90a3-28617519e11b" providerId="ADAL" clId="{DA551CD4-5FD0-488C-B322-2092540DE334}" dt="2025-05-13T10:04:11.606" v="253" actId="1076"/>
      <pc:docMkLst>
        <pc:docMk/>
      </pc:docMkLst>
      <pc:sldChg chg="modSp mod">
        <pc:chgData name="Syeda Asrafa Islam" userId="626c424c-c870-4792-90a3-28617519e11b" providerId="ADAL" clId="{DA551CD4-5FD0-488C-B322-2092540DE334}" dt="2025-05-13T07:35:50.403" v="240" actId="20577"/>
        <pc:sldMkLst>
          <pc:docMk/>
          <pc:sldMk cId="2996006076" sldId="257"/>
        </pc:sldMkLst>
        <pc:spChg chg="mod">
          <ac:chgData name="Syeda Asrafa Islam" userId="626c424c-c870-4792-90a3-28617519e11b" providerId="ADAL" clId="{DA551CD4-5FD0-488C-B322-2092540DE334}" dt="2025-05-13T07:35:50.403" v="240" actId="20577"/>
          <ac:spMkLst>
            <pc:docMk/>
            <pc:sldMk cId="2996006076" sldId="257"/>
            <ac:spMk id="145" creationId="{00000000-0000-0000-0000-000000000000}"/>
          </ac:spMkLst>
        </pc:spChg>
      </pc:sldChg>
      <pc:sldChg chg="addSp modSp mod">
        <pc:chgData name="Syeda Asrafa Islam" userId="626c424c-c870-4792-90a3-28617519e11b" providerId="ADAL" clId="{DA551CD4-5FD0-488C-B322-2092540DE334}" dt="2025-05-10T13:20:00.400" v="40" actId="1076"/>
        <pc:sldMkLst>
          <pc:docMk/>
          <pc:sldMk cId="2007023630" sldId="260"/>
        </pc:sldMkLst>
        <pc:spChg chg="add mod">
          <ac:chgData name="Syeda Asrafa Islam" userId="626c424c-c870-4792-90a3-28617519e11b" providerId="ADAL" clId="{DA551CD4-5FD0-488C-B322-2092540DE334}" dt="2025-05-10T13:20:00.400" v="40" actId="1076"/>
          <ac:spMkLst>
            <pc:docMk/>
            <pc:sldMk cId="2007023630" sldId="260"/>
            <ac:spMk id="4" creationId="{48882CC6-63DA-308B-F207-0FB810BE6553}"/>
          </ac:spMkLst>
        </pc:spChg>
      </pc:sldChg>
      <pc:sldChg chg="modSp add mod">
        <pc:chgData name="Syeda Asrafa Islam" userId="626c424c-c870-4792-90a3-28617519e11b" providerId="ADAL" clId="{DA551CD4-5FD0-488C-B322-2092540DE334}" dt="2025-05-13T09:51:36.622" v="250" actId="20577"/>
        <pc:sldMkLst>
          <pc:docMk/>
          <pc:sldMk cId="3771745295" sldId="282"/>
        </pc:sldMkLst>
        <pc:spChg chg="mod">
          <ac:chgData name="Syeda Asrafa Islam" userId="626c424c-c870-4792-90a3-28617519e11b" providerId="ADAL" clId="{DA551CD4-5FD0-488C-B322-2092540DE334}" dt="2025-05-13T09:51:36.622" v="250" actId="20577"/>
          <ac:spMkLst>
            <pc:docMk/>
            <pc:sldMk cId="3771745295" sldId="282"/>
            <ac:spMk id="145" creationId="{BDB65CE6-1AFB-F85C-BCEA-13389A528FA4}"/>
          </ac:spMkLst>
        </pc:spChg>
      </pc:sldChg>
      <pc:sldChg chg="delSp modSp add mod">
        <pc:chgData name="Syeda Asrafa Islam" userId="626c424c-c870-4792-90a3-28617519e11b" providerId="ADAL" clId="{DA551CD4-5FD0-488C-B322-2092540DE334}" dt="2025-05-10T13:08:01.333" v="18" actId="27636"/>
        <pc:sldMkLst>
          <pc:docMk/>
          <pc:sldMk cId="3099713509" sldId="283"/>
        </pc:sldMkLst>
        <pc:spChg chg="mod">
          <ac:chgData name="Syeda Asrafa Islam" userId="626c424c-c870-4792-90a3-28617519e11b" providerId="ADAL" clId="{DA551CD4-5FD0-488C-B322-2092540DE334}" dt="2025-05-10T13:08:01.333" v="18" actId="27636"/>
          <ac:spMkLst>
            <pc:docMk/>
            <pc:sldMk cId="3099713509" sldId="283"/>
            <ac:spMk id="148" creationId="{02C809FC-A4D6-C3CA-55CE-2DFA744DF33B}"/>
          </ac:spMkLst>
        </pc:spChg>
      </pc:sldChg>
      <pc:sldChg chg="addSp modSp add mod">
        <pc:chgData name="Syeda Asrafa Islam" userId="626c424c-c870-4792-90a3-28617519e11b" providerId="ADAL" clId="{DA551CD4-5FD0-488C-B322-2092540DE334}" dt="2025-05-10T14:47:30.703" v="235" actId="20577"/>
        <pc:sldMkLst>
          <pc:docMk/>
          <pc:sldMk cId="3253788251" sldId="284"/>
        </pc:sldMkLst>
        <pc:spChg chg="mod">
          <ac:chgData name="Syeda Asrafa Islam" userId="626c424c-c870-4792-90a3-28617519e11b" providerId="ADAL" clId="{DA551CD4-5FD0-488C-B322-2092540DE334}" dt="2025-05-10T14:47:30.703" v="235" actId="20577"/>
          <ac:spMkLst>
            <pc:docMk/>
            <pc:sldMk cId="3253788251" sldId="284"/>
            <ac:spMk id="148" creationId="{0A29BD5D-A79C-E33A-3A48-4B3076751FFC}"/>
          </ac:spMkLst>
        </pc:spChg>
        <pc:graphicFrameChg chg="add mod">
          <ac:chgData name="Syeda Asrafa Islam" userId="626c424c-c870-4792-90a3-28617519e11b" providerId="ADAL" clId="{DA551CD4-5FD0-488C-B322-2092540DE334}" dt="2025-05-10T14:47:13.139" v="233" actId="1076"/>
          <ac:graphicFrameMkLst>
            <pc:docMk/>
            <pc:sldMk cId="3253788251" sldId="284"/>
            <ac:graphicFrameMk id="2" creationId="{D54BD688-7D48-A400-F1D1-EAEA5DE02858}"/>
          </ac:graphicFrameMkLst>
        </pc:graphicFrameChg>
      </pc:sldChg>
      <pc:sldChg chg="addSp delSp modSp add mod">
        <pc:chgData name="Syeda Asrafa Islam" userId="626c424c-c870-4792-90a3-28617519e11b" providerId="ADAL" clId="{DA551CD4-5FD0-488C-B322-2092540DE334}" dt="2025-05-10T13:13:38.352" v="38" actId="14100"/>
        <pc:sldMkLst>
          <pc:docMk/>
          <pc:sldMk cId="2129962469" sldId="285"/>
        </pc:sldMkLst>
        <pc:spChg chg="mod">
          <ac:chgData name="Syeda Asrafa Islam" userId="626c424c-c870-4792-90a3-28617519e11b" providerId="ADAL" clId="{DA551CD4-5FD0-488C-B322-2092540DE334}" dt="2025-05-10T13:13:22.331" v="34" actId="20577"/>
          <ac:spMkLst>
            <pc:docMk/>
            <pc:sldMk cId="2129962469" sldId="285"/>
            <ac:spMk id="148" creationId="{B6CC4079-ACF0-8DB3-6B3A-27F561A1ECFA}"/>
          </ac:spMkLst>
        </pc:spChg>
        <pc:graphicFrameChg chg="add mod modGraphic">
          <ac:chgData name="Syeda Asrafa Islam" userId="626c424c-c870-4792-90a3-28617519e11b" providerId="ADAL" clId="{DA551CD4-5FD0-488C-B322-2092540DE334}" dt="2025-05-10T13:13:38.352" v="38" actId="14100"/>
          <ac:graphicFrameMkLst>
            <pc:docMk/>
            <pc:sldMk cId="2129962469" sldId="285"/>
            <ac:graphicFrameMk id="3" creationId="{E6655F28-11DF-8DC0-46E4-16F042756885}"/>
          </ac:graphicFrameMkLst>
        </pc:graphicFrameChg>
      </pc:sldChg>
      <pc:sldChg chg="addSp delSp modSp add mod">
        <pc:chgData name="Syeda Asrafa Islam" userId="626c424c-c870-4792-90a3-28617519e11b" providerId="ADAL" clId="{DA551CD4-5FD0-488C-B322-2092540DE334}" dt="2025-05-13T10:04:11.606" v="253" actId="1076"/>
        <pc:sldMkLst>
          <pc:docMk/>
          <pc:sldMk cId="56581823" sldId="286"/>
        </pc:sldMkLst>
        <pc:spChg chg="mod">
          <ac:chgData name="Syeda Asrafa Islam" userId="626c424c-c870-4792-90a3-28617519e11b" providerId="ADAL" clId="{DA551CD4-5FD0-488C-B322-2092540DE334}" dt="2025-05-13T10:04:11.606" v="253" actId="1076"/>
          <ac:spMkLst>
            <pc:docMk/>
            <pc:sldMk cId="56581823" sldId="286"/>
            <ac:spMk id="155" creationId="{AEFA7F3A-658B-8BE6-619F-51BD0855F17E}"/>
          </ac:spMkLst>
        </pc:spChg>
        <pc:picChg chg="mod">
          <ac:chgData name="Syeda Asrafa Islam" userId="626c424c-c870-4792-90a3-28617519e11b" providerId="ADAL" clId="{DA551CD4-5FD0-488C-B322-2092540DE334}" dt="2025-05-13T10:04:08.582" v="252" actId="1076"/>
          <ac:picMkLst>
            <pc:docMk/>
            <pc:sldMk cId="56581823" sldId="286"/>
            <ac:picMk id="6" creationId="{FF1E6376-4618-77C3-7AC1-B17769B7F3A2}"/>
          </ac:picMkLst>
        </pc:picChg>
      </pc:sldChg>
      <pc:sldChg chg="modSp add mod">
        <pc:chgData name="Syeda Asrafa Islam" userId="626c424c-c870-4792-90a3-28617519e11b" providerId="ADAL" clId="{DA551CD4-5FD0-488C-B322-2092540DE334}" dt="2025-05-10T13:38:58.091" v="75"/>
        <pc:sldMkLst>
          <pc:docMk/>
          <pc:sldMk cId="957213203" sldId="287"/>
        </pc:sldMkLst>
        <pc:spChg chg="mod">
          <ac:chgData name="Syeda Asrafa Islam" userId="626c424c-c870-4792-90a3-28617519e11b" providerId="ADAL" clId="{DA551CD4-5FD0-488C-B322-2092540DE334}" dt="2025-05-10T13:38:58.091" v="75"/>
          <ac:spMkLst>
            <pc:docMk/>
            <pc:sldMk cId="957213203" sldId="287"/>
            <ac:spMk id="158" creationId="{21111463-919D-D437-4616-188ADEC239B1}"/>
          </ac:spMkLst>
        </pc:spChg>
      </pc:sldChg>
      <pc:sldChg chg="modSp add mod">
        <pc:chgData name="Syeda Asrafa Islam" userId="626c424c-c870-4792-90a3-28617519e11b" providerId="ADAL" clId="{DA551CD4-5FD0-488C-B322-2092540DE334}" dt="2025-05-10T13:39:55.570" v="80"/>
        <pc:sldMkLst>
          <pc:docMk/>
          <pc:sldMk cId="3320269151" sldId="288"/>
        </pc:sldMkLst>
        <pc:spChg chg="mod">
          <ac:chgData name="Syeda Asrafa Islam" userId="626c424c-c870-4792-90a3-28617519e11b" providerId="ADAL" clId="{DA551CD4-5FD0-488C-B322-2092540DE334}" dt="2025-05-10T13:39:55.570" v="80"/>
          <ac:spMkLst>
            <pc:docMk/>
            <pc:sldMk cId="3320269151" sldId="288"/>
            <ac:spMk id="158" creationId="{1E9CEBF5-9FE4-5473-8A06-B19E7691E1F3}"/>
          </ac:spMkLst>
        </pc:spChg>
      </pc:sldChg>
      <pc:sldChg chg="modSp add mod">
        <pc:chgData name="Syeda Asrafa Islam" userId="626c424c-c870-4792-90a3-28617519e11b" providerId="ADAL" clId="{DA551CD4-5FD0-488C-B322-2092540DE334}" dt="2025-05-10T13:40:55.755" v="92"/>
        <pc:sldMkLst>
          <pc:docMk/>
          <pc:sldMk cId="2848454685" sldId="289"/>
        </pc:sldMkLst>
        <pc:spChg chg="mod">
          <ac:chgData name="Syeda Asrafa Islam" userId="626c424c-c870-4792-90a3-28617519e11b" providerId="ADAL" clId="{DA551CD4-5FD0-488C-B322-2092540DE334}" dt="2025-05-10T13:40:55.755" v="92"/>
          <ac:spMkLst>
            <pc:docMk/>
            <pc:sldMk cId="2848454685" sldId="289"/>
            <ac:spMk id="158" creationId="{9EB17DB8-DB22-DCF0-7296-7D654A8C1AD4}"/>
          </ac:spMkLst>
        </pc:spChg>
      </pc:sldChg>
      <pc:sldChg chg="modSp add mod">
        <pc:chgData name="Syeda Asrafa Islam" userId="626c424c-c870-4792-90a3-28617519e11b" providerId="ADAL" clId="{DA551CD4-5FD0-488C-B322-2092540DE334}" dt="2025-05-10T13:45:22.940" v="99" actId="21"/>
        <pc:sldMkLst>
          <pc:docMk/>
          <pc:sldMk cId="2653345630" sldId="290"/>
        </pc:sldMkLst>
        <pc:spChg chg="mod">
          <ac:chgData name="Syeda Asrafa Islam" userId="626c424c-c870-4792-90a3-28617519e11b" providerId="ADAL" clId="{DA551CD4-5FD0-488C-B322-2092540DE334}" dt="2025-05-10T13:45:22.940" v="99" actId="21"/>
          <ac:spMkLst>
            <pc:docMk/>
            <pc:sldMk cId="2653345630" sldId="290"/>
            <ac:spMk id="169" creationId="{82944D3A-9BA5-4D5F-20C0-CCD26C6DB759}"/>
          </ac:spMkLst>
        </pc:spChg>
      </pc:sldChg>
      <pc:sldChg chg="modSp add mod">
        <pc:chgData name="Syeda Asrafa Islam" userId="626c424c-c870-4792-90a3-28617519e11b" providerId="ADAL" clId="{DA551CD4-5FD0-488C-B322-2092540DE334}" dt="2025-05-10T13:45:36.054" v="102"/>
        <pc:sldMkLst>
          <pc:docMk/>
          <pc:sldMk cId="4145605791" sldId="291"/>
        </pc:sldMkLst>
        <pc:spChg chg="mod">
          <ac:chgData name="Syeda Asrafa Islam" userId="626c424c-c870-4792-90a3-28617519e11b" providerId="ADAL" clId="{DA551CD4-5FD0-488C-B322-2092540DE334}" dt="2025-05-10T13:45:36.054" v="102"/>
          <ac:spMkLst>
            <pc:docMk/>
            <pc:sldMk cId="4145605791" sldId="291"/>
            <ac:spMk id="169" creationId="{DB365F07-2C3C-61D2-5831-B0106CE72820}"/>
          </ac:spMkLst>
        </pc:spChg>
      </pc:sldChg>
      <pc:sldChg chg="addSp delSp modSp add mod ord">
        <pc:chgData name="Syeda Asrafa Islam" userId="626c424c-c870-4792-90a3-28617519e11b" providerId="ADAL" clId="{DA551CD4-5FD0-488C-B322-2092540DE334}" dt="2025-05-10T14:18:23.390" v="127"/>
        <pc:sldMkLst>
          <pc:docMk/>
          <pc:sldMk cId="409919117" sldId="292"/>
        </pc:sldMkLst>
        <pc:spChg chg="add mod">
          <ac:chgData name="Syeda Asrafa Islam" userId="626c424c-c870-4792-90a3-28617519e11b" providerId="ADAL" clId="{DA551CD4-5FD0-488C-B322-2092540DE334}" dt="2025-05-10T14:18:23.390" v="127"/>
          <ac:spMkLst>
            <pc:docMk/>
            <pc:sldMk cId="409919117" sldId="292"/>
            <ac:spMk id="2" creationId="{46DFE5B9-057B-4490-0ED7-FD19948FAD4B}"/>
          </ac:spMkLst>
        </pc:spChg>
      </pc:sldChg>
      <pc:sldChg chg="add del">
        <pc:chgData name="Syeda Asrafa Islam" userId="626c424c-c870-4792-90a3-28617519e11b" providerId="ADAL" clId="{DA551CD4-5FD0-488C-B322-2092540DE334}" dt="2025-05-10T14:16:10.620" v="104" actId="2696"/>
        <pc:sldMkLst>
          <pc:docMk/>
          <pc:sldMk cId="1531027880" sldId="292"/>
        </pc:sldMkLst>
      </pc:sldChg>
      <pc:sldChg chg="modSp add mod">
        <pc:chgData name="Syeda Asrafa Islam" userId="626c424c-c870-4792-90a3-28617519e11b" providerId="ADAL" clId="{DA551CD4-5FD0-488C-B322-2092540DE334}" dt="2025-05-10T14:19:17.276" v="141" actId="20577"/>
        <pc:sldMkLst>
          <pc:docMk/>
          <pc:sldMk cId="1338765408" sldId="293"/>
        </pc:sldMkLst>
        <pc:spChg chg="mod">
          <ac:chgData name="Syeda Asrafa Islam" userId="626c424c-c870-4792-90a3-28617519e11b" providerId="ADAL" clId="{DA551CD4-5FD0-488C-B322-2092540DE334}" dt="2025-05-10T14:19:17.276" v="141" actId="20577"/>
          <ac:spMkLst>
            <pc:docMk/>
            <pc:sldMk cId="1338765408" sldId="293"/>
            <ac:spMk id="2" creationId="{1B63A8B1-81DF-BD50-6941-29F8512246B9}"/>
          </ac:spMkLst>
        </pc:spChg>
      </pc:sldChg>
      <pc:sldChg chg="modSp add mod">
        <pc:chgData name="Syeda Asrafa Islam" userId="626c424c-c870-4792-90a3-28617519e11b" providerId="ADAL" clId="{DA551CD4-5FD0-488C-B322-2092540DE334}" dt="2025-05-10T14:20:57.502" v="156"/>
        <pc:sldMkLst>
          <pc:docMk/>
          <pc:sldMk cId="3128636825" sldId="294"/>
        </pc:sldMkLst>
        <pc:spChg chg="mod">
          <ac:chgData name="Syeda Asrafa Islam" userId="626c424c-c870-4792-90a3-28617519e11b" providerId="ADAL" clId="{DA551CD4-5FD0-488C-B322-2092540DE334}" dt="2025-05-10T14:20:57.502" v="156"/>
          <ac:spMkLst>
            <pc:docMk/>
            <pc:sldMk cId="3128636825" sldId="294"/>
            <ac:spMk id="2" creationId="{ED23C14A-9562-46D1-E294-225EC95507B5}"/>
          </ac:spMkLst>
        </pc:spChg>
      </pc:sldChg>
      <pc:sldChg chg="modSp add mod">
        <pc:chgData name="Syeda Asrafa Islam" userId="626c424c-c870-4792-90a3-28617519e11b" providerId="ADAL" clId="{DA551CD4-5FD0-488C-B322-2092540DE334}" dt="2025-05-10T14:24:35.620" v="215" actId="20577"/>
        <pc:sldMkLst>
          <pc:docMk/>
          <pc:sldMk cId="1160008523" sldId="295"/>
        </pc:sldMkLst>
        <pc:spChg chg="mod">
          <ac:chgData name="Syeda Asrafa Islam" userId="626c424c-c870-4792-90a3-28617519e11b" providerId="ADAL" clId="{DA551CD4-5FD0-488C-B322-2092540DE334}" dt="2025-05-10T14:24:35.620" v="215" actId="20577"/>
          <ac:spMkLst>
            <pc:docMk/>
            <pc:sldMk cId="1160008523" sldId="295"/>
            <ac:spMk id="2" creationId="{A14531EB-8B87-5309-4856-27171438B00B}"/>
          </ac:spMkLst>
        </pc:spChg>
        <pc:picChg chg="mod">
          <ac:chgData name="Syeda Asrafa Islam" userId="626c424c-c870-4792-90a3-28617519e11b" providerId="ADAL" clId="{DA551CD4-5FD0-488C-B322-2092540DE334}" dt="2025-05-10T14:21:55.639" v="184" actId="1076"/>
          <ac:picMkLst>
            <pc:docMk/>
            <pc:sldMk cId="1160008523" sldId="295"/>
            <ac:picMk id="5" creationId="{18B12C97-20D8-FFD9-4683-7ACC6C83EF53}"/>
          </ac:picMkLst>
        </pc:picChg>
      </pc:sldChg>
    </pc:docChg>
  </pc:docChgLst>
  <pc:docChgLst>
    <pc:chgData name="Dr. Md Mehedi Hasan" userId="S::mmhasan@aiub.edu::5eb39d97-deb0-466a-af4c-298e34812974" providerId="AD" clId="Web-{6997641C-767C-0F26-8CE6-3FA01AE6671C}"/>
    <pc:docChg chg="modSld">
      <pc:chgData name="Dr. Md Mehedi Hasan" userId="S::mmhasan@aiub.edu::5eb39d97-deb0-466a-af4c-298e34812974" providerId="AD" clId="Web-{6997641C-767C-0F26-8CE6-3FA01AE6671C}" dt="2022-04-01T13:31:03.826" v="95"/>
      <pc:docMkLst>
        <pc:docMk/>
      </pc:docMkLst>
      <pc:sldChg chg="modSp">
        <pc:chgData name="Dr. Md Mehedi Hasan" userId="S::mmhasan@aiub.edu::5eb39d97-deb0-466a-af4c-298e34812974" providerId="AD" clId="Web-{6997641C-767C-0F26-8CE6-3FA01AE6671C}" dt="2022-04-01T13:31:03.826" v="95"/>
        <pc:sldMkLst>
          <pc:docMk/>
          <pc:sldMk cId="700707328" sldId="256"/>
        </pc:sldMkLst>
      </pc:sldChg>
    </pc:docChg>
  </pc:docChgLst>
  <pc:docChgLst>
    <pc:chgData name="Dr. Md Mehedi Hasan" userId="5eb39d97-deb0-466a-af4c-298e34812974" providerId="ADAL" clId="{57F0B2E4-B2DC-4BC9-8C14-EAFB35B0E1C8}"/>
    <pc:docChg chg="modSld">
      <pc:chgData name="Dr. Md Mehedi Hasan" userId="5eb39d97-deb0-466a-af4c-298e34812974" providerId="ADAL" clId="{57F0B2E4-B2DC-4BC9-8C14-EAFB35B0E1C8}" dt="2022-07-27T04:18:16.608" v="31" actId="20577"/>
      <pc:docMkLst>
        <pc:docMk/>
      </pc:docMkLst>
      <pc:sldChg chg="modSp mod">
        <pc:chgData name="Dr. Md Mehedi Hasan" userId="5eb39d97-deb0-466a-af4c-298e34812974" providerId="ADAL" clId="{57F0B2E4-B2DC-4BC9-8C14-EAFB35B0E1C8}" dt="2022-07-27T04:18:16.608" v="31" actId="20577"/>
        <pc:sldMkLst>
          <pc:docMk/>
          <pc:sldMk cId="700707328" sldId="2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7CB9A3-A835-403E-AB43-D9E7A06168D2}" type="datetimeFigureOut">
              <a:rPr lang="en-US" smtClean="0"/>
              <a:t>5/13/2025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F9A7AA-1F1F-4FE4-ADAB-8BB85BB80A7E}" type="slidenum">
              <a:rPr lang="en-US" smtClean="0"/>
              <a:t>‹#›</a:t>
            </a:fld>
            <a:endParaRPr lang="en-US"/>
          </a:p>
        </p:txBody>
      </p:sp>
    </p:spTree>
    <p:extLst>
      <p:ext uri="{BB962C8B-B14F-4D97-AF65-F5344CB8AC3E}">
        <p14:creationId xmlns:p14="http://schemas.microsoft.com/office/powerpoint/2010/main" val="367484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8035149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5/13/2025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5/13/2025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5/13/2025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5/13/2025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5/13/2025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5/13/2025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5/13/2025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5/13/2025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5/13/2025</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5/13/2025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5/13/2025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5/13/2025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5/13/2025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5/13/2025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5/13/2025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5/13/2025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Title &amp; Subtitle">
    <p:spTree>
      <p:nvGrpSpPr>
        <p:cNvPr id="1" name=""/>
        <p:cNvGrpSpPr/>
        <p:nvPr/>
      </p:nvGrpSpPr>
      <p:grpSpPr>
        <a:xfrm>
          <a:off x="0" y="0"/>
          <a:ext cx="0" cy="0"/>
          <a:chOff x="0" y="0"/>
          <a:chExt cx="0" cy="0"/>
        </a:xfrm>
      </p:grpSpPr>
      <p:sp>
        <p:nvSpPr>
          <p:cNvPr id="5" name="Shape 5"/>
          <p:cNvSpPr>
            <a:spLocks noGrp="1"/>
          </p:cNvSpPr>
          <p:nvPr>
            <p:ph type="title"/>
          </p:nvPr>
        </p:nvSpPr>
        <p:spPr>
          <a:xfrm>
            <a:off x="892969" y="1151930"/>
            <a:ext cx="7358063" cy="2321719"/>
          </a:xfrm>
          <a:prstGeom prst="rect">
            <a:avLst/>
          </a:prstGeom>
        </p:spPr>
        <p:txBody>
          <a:bodyPr anchor="b"/>
          <a:lstStyle/>
          <a:p>
            <a:pPr lvl="0">
              <a:defRPr sz="1800">
                <a:solidFill>
                  <a:srgbClr val="000000"/>
                </a:solidFill>
              </a:defRPr>
            </a:pPr>
            <a:r>
              <a:rPr sz="5625">
                <a:solidFill>
                  <a:srgbClr val="FFFFFF"/>
                </a:solidFill>
              </a:rPr>
              <a:t>Title Text</a:t>
            </a:r>
          </a:p>
        </p:txBody>
      </p:sp>
      <p:sp>
        <p:nvSpPr>
          <p:cNvPr id="6" name="Shape 6"/>
          <p:cNvSpPr>
            <a:spLocks noGrp="1"/>
          </p:cNvSpPr>
          <p:nvPr>
            <p:ph type="body" idx="1"/>
          </p:nvPr>
        </p:nvSpPr>
        <p:spPr>
          <a:xfrm>
            <a:off x="892969" y="3536156"/>
            <a:ext cx="7358063" cy="794742"/>
          </a:xfrm>
          <a:prstGeom prst="rect">
            <a:avLst/>
          </a:prstGeom>
        </p:spPr>
        <p:txBody>
          <a:bodyPr anchor="t"/>
          <a:lstStyle>
            <a:lvl1pPr marL="0" indent="0" algn="ctr">
              <a:spcBef>
                <a:spcPts val="0"/>
              </a:spcBef>
              <a:buSzTx/>
              <a:buNone/>
              <a:defRPr sz="2250"/>
            </a:lvl1pPr>
            <a:lvl2pPr marL="0" indent="160729" algn="ctr">
              <a:spcBef>
                <a:spcPts val="0"/>
              </a:spcBef>
              <a:buSzTx/>
              <a:buNone/>
              <a:defRPr sz="2250"/>
            </a:lvl2pPr>
            <a:lvl3pPr marL="0" indent="321457" algn="ctr">
              <a:spcBef>
                <a:spcPts val="0"/>
              </a:spcBef>
              <a:buSzTx/>
              <a:buNone/>
              <a:defRPr sz="2250"/>
            </a:lvl3pPr>
            <a:lvl4pPr marL="0" indent="482186" algn="ctr">
              <a:spcBef>
                <a:spcPts val="0"/>
              </a:spcBef>
              <a:buSzTx/>
              <a:buNone/>
              <a:defRPr sz="2250"/>
            </a:lvl4pPr>
            <a:lvl5pPr marL="0" indent="642915" algn="ctr">
              <a:spcBef>
                <a:spcPts val="0"/>
              </a:spcBef>
              <a:buSzTx/>
              <a:buNone/>
              <a:defRPr sz="2250"/>
            </a:lvl5pPr>
          </a:lstStyle>
          <a:p>
            <a:pPr lvl="0">
              <a:defRPr sz="1800">
                <a:solidFill>
                  <a:srgbClr val="000000"/>
                </a:solidFill>
              </a:defRPr>
            </a:pPr>
            <a:r>
              <a:rPr sz="2250">
                <a:solidFill>
                  <a:srgbClr val="FFFFFF"/>
                </a:solidFill>
              </a:rPr>
              <a:t>Body Level One</a:t>
            </a:r>
          </a:p>
          <a:p>
            <a:pPr lvl="1">
              <a:defRPr sz="1800">
                <a:solidFill>
                  <a:srgbClr val="000000"/>
                </a:solidFill>
              </a:defRPr>
            </a:pPr>
            <a:r>
              <a:rPr sz="2250">
                <a:solidFill>
                  <a:srgbClr val="FFFFFF"/>
                </a:solidFill>
              </a:rPr>
              <a:t>Body Level Two</a:t>
            </a:r>
          </a:p>
          <a:p>
            <a:pPr lvl="2">
              <a:defRPr sz="1800">
                <a:solidFill>
                  <a:srgbClr val="000000"/>
                </a:solidFill>
              </a:defRPr>
            </a:pPr>
            <a:r>
              <a:rPr sz="2250">
                <a:solidFill>
                  <a:srgbClr val="FFFFFF"/>
                </a:solidFill>
              </a:rPr>
              <a:t>Body Level Three</a:t>
            </a:r>
          </a:p>
          <a:p>
            <a:pPr lvl="3">
              <a:defRPr sz="1800">
                <a:solidFill>
                  <a:srgbClr val="000000"/>
                </a:solidFill>
              </a:defRPr>
            </a:pPr>
            <a:r>
              <a:rPr sz="2250">
                <a:solidFill>
                  <a:srgbClr val="FFFFFF"/>
                </a:solidFill>
              </a:rPr>
              <a:t>Body Level Four</a:t>
            </a:r>
          </a:p>
          <a:p>
            <a:pPr lvl="4">
              <a:defRPr sz="1800">
                <a:solidFill>
                  <a:srgbClr val="000000"/>
                </a:solidFill>
              </a:defRPr>
            </a:pPr>
            <a:r>
              <a:rPr sz="2250">
                <a:solidFill>
                  <a:srgbClr val="FFFFFF"/>
                </a:solidFill>
              </a:rPr>
              <a:t>Body Level Five</a:t>
            </a:r>
          </a:p>
        </p:txBody>
      </p:sp>
    </p:spTree>
    <p:extLst>
      <p:ext uri="{BB962C8B-B14F-4D97-AF65-F5344CB8AC3E}">
        <p14:creationId xmlns:p14="http://schemas.microsoft.com/office/powerpoint/2010/main" val="278799900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5/13/2025</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mhasan@aiub.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7.png"/><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7.png"/><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0.png"/><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4.png"/><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5.png"/><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6.png"/><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7.png"/><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8.png"/><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2" Type="http://schemas.openxmlformats.org/officeDocument/2006/relationships/hyperlink" Target="http://faculty.cs.niu.edu/~byrnes/csci360/notes/360shift.htm" TargetMode="Externa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SHIFT AND ROTATE</a:t>
            </a:r>
            <a:endParaRPr lang="en-US" dirty="0"/>
          </a:p>
        </p:txBody>
      </p:sp>
      <p:sp>
        <p:nvSpPr>
          <p:cNvPr id="3" name="Subtitle 2"/>
          <p:cNvSpPr>
            <a:spLocks noGrp="1"/>
          </p:cNvSpPr>
          <p:nvPr>
            <p:ph type="subTitle" idx="1"/>
          </p:nvPr>
        </p:nvSpPr>
        <p:spPr>
          <a:xfrm>
            <a:off x="476205" y="1532427"/>
            <a:ext cx="2789509" cy="484632"/>
          </a:xfrm>
        </p:spPr>
        <p:txBody>
          <a:bodyPr/>
          <a:lstStyle/>
          <a:p>
            <a:r>
              <a:rPr lang="en-US" dirty="0"/>
              <a:t>Course Code: 0052</a:t>
            </a:r>
          </a:p>
          <a:p>
            <a:endParaRPr lang="en-US" dirty="0"/>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2979959262"/>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7(b)</a:t>
                      </a:r>
                    </a:p>
                  </a:txBody>
                  <a:tcPr/>
                </a:tc>
                <a:tc>
                  <a:txBody>
                    <a:bodyPr/>
                    <a:lstStyle/>
                    <a:p>
                      <a:r>
                        <a:rPr lang="en-US" dirty="0"/>
                        <a:t>Week No:</a:t>
                      </a:r>
                    </a:p>
                  </a:txBody>
                  <a:tcPr/>
                </a:tc>
                <a:tc>
                  <a:txBody>
                    <a:bodyPr/>
                    <a:lstStyle/>
                    <a:p>
                      <a:r>
                        <a:rPr lang="en-US" dirty="0"/>
                        <a:t>10</a:t>
                      </a:r>
                    </a:p>
                  </a:txBody>
                  <a:tcPr/>
                </a:tc>
                <a:tc>
                  <a:txBody>
                    <a:bodyPr/>
                    <a:lstStyle/>
                    <a:p>
                      <a:r>
                        <a:rPr lang="en-US" dirty="0"/>
                        <a:t>Semester:</a:t>
                      </a:r>
                    </a:p>
                  </a:txBody>
                  <a:tcPr/>
                </a:tc>
                <a:tc>
                  <a:txBody>
                    <a:bodyPr/>
                    <a:lstStyle/>
                    <a:p>
                      <a:r>
                        <a:rPr lang="en-US" dirty="0"/>
                        <a:t>Spring 21-22</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a:t>Dr. Md Mehedi Hasan; </a:t>
                      </a:r>
                      <a:r>
                        <a:rPr lang="en-US" i="1" dirty="0">
                          <a:hlinkClick r:id="rId2"/>
                        </a:rPr>
                        <a:t>mmhasan@aiub.edu</a:t>
                      </a:r>
                      <a:r>
                        <a:rPr lang="en-US" i="1" dirty="0"/>
                        <a:t> </a:t>
                      </a:r>
                    </a:p>
                  </a:txBody>
                  <a:tcPr/>
                </a:tc>
                <a:tc hMerge="1">
                  <a:txBody>
                    <a:bodyPr/>
                    <a:lstStyle/>
                    <a:p>
                      <a:endParaRPr lang="aa-ET"/>
                    </a:p>
                  </a:txBody>
                  <a:tcPr/>
                </a:tc>
                <a:tc hMerge="1">
                  <a:txBody>
                    <a:bodyPr/>
                    <a:lstStyle/>
                    <a:p>
                      <a:endParaRPr lang="aa-ET"/>
                    </a:p>
                  </a:txBody>
                  <a:tcPr/>
                </a:tc>
                <a:tc hMerge="1">
                  <a:txBody>
                    <a:bodyPr/>
                    <a:lstStyle/>
                    <a:p>
                      <a:endParaRPr lang="aa-ET"/>
                    </a:p>
                  </a:txBody>
                  <a:tcPr/>
                </a:tc>
                <a:tc hMerge="1">
                  <a:txBody>
                    <a:bodyPr/>
                    <a:lstStyle/>
                    <a:p>
                      <a:endParaRPr lang="aa-ET"/>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fontScale="85000" lnSpcReduction="20000"/>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a:t>
            </a:r>
            <a:r>
              <a:rPr lang="en-US"/>
              <a:t>Title: Computer Organization and Architecture</a:t>
            </a:r>
          </a:p>
          <a:p>
            <a:endParaRPr lang="en-US" dirty="0"/>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Shape 42"/>
          <p:cNvSpPr>
            <a:spLocks noGrp="1"/>
          </p:cNvSpPr>
          <p:nvPr>
            <p:ph type="body" idx="1"/>
          </p:nvPr>
        </p:nvSpPr>
        <p:spPr>
          <a:xfrm>
            <a:off x="339328" y="2196702"/>
            <a:ext cx="8465344" cy="4661298"/>
          </a:xfrm>
          <a:prstGeom prst="rect">
            <a:avLst/>
          </a:prstGeom>
        </p:spPr>
        <p:txBody>
          <a:bodyPr>
            <a:normAutofit/>
          </a:bodyPr>
          <a:lstStyle/>
          <a:p>
            <a:pPr marL="321457" indent="-321457" algn="l" defTabSz="349138">
              <a:spcBef>
                <a:spcPts val="2461"/>
              </a:spcBef>
              <a:buFont typeface="Wingdings" panose="05000000000000000000" pitchFamily="2" charset="2"/>
              <a:buChar char="Ø"/>
              <a:defRPr sz="1800">
                <a:solidFill>
                  <a:srgbClr val="000000"/>
                </a:solidFill>
              </a:defRPr>
            </a:pPr>
            <a:r>
              <a:rPr sz="2257" dirty="0">
                <a:solidFill>
                  <a:schemeClr val="tx1"/>
                </a:solidFill>
              </a:rPr>
              <a:t>Rotates work like the shifts, except that when a bit Is shifted out one end of an operand it is </a:t>
            </a:r>
            <a:r>
              <a:rPr sz="2257" b="1" dirty="0">
                <a:solidFill>
                  <a:schemeClr val="tx1"/>
                </a:solidFill>
              </a:rPr>
              <a:t>put back in the other end</a:t>
            </a:r>
            <a:r>
              <a:rPr sz="2257" dirty="0">
                <a:solidFill>
                  <a:schemeClr val="tx1"/>
                </a:solidFill>
              </a:rPr>
              <a:t>. </a:t>
            </a:r>
          </a:p>
          <a:p>
            <a:pPr marL="321457" indent="-321457" algn="l" defTabSz="349138">
              <a:spcBef>
                <a:spcPts val="2461"/>
              </a:spcBef>
              <a:buFont typeface="Wingdings" panose="05000000000000000000" pitchFamily="2" charset="2"/>
              <a:buChar char="Ø"/>
              <a:defRPr sz="1800">
                <a:solidFill>
                  <a:srgbClr val="000000"/>
                </a:solidFill>
              </a:defRPr>
            </a:pPr>
            <a:r>
              <a:rPr sz="2257" dirty="0">
                <a:solidFill>
                  <a:schemeClr val="tx1"/>
                </a:solidFill>
              </a:rPr>
              <a:t>These instructions can be used to </a:t>
            </a:r>
            <a:r>
              <a:rPr sz="2257" b="1" dirty="0">
                <a:solidFill>
                  <a:schemeClr val="tx1"/>
                </a:solidFill>
              </a:rPr>
              <a:t>examine</a:t>
            </a:r>
            <a:r>
              <a:rPr sz="2257" dirty="0">
                <a:solidFill>
                  <a:schemeClr val="tx1"/>
                </a:solidFill>
              </a:rPr>
              <a:t> and/or </a:t>
            </a:r>
            <a:r>
              <a:rPr sz="2257" b="1" dirty="0">
                <a:solidFill>
                  <a:schemeClr val="tx1"/>
                </a:solidFill>
              </a:rPr>
              <a:t>change bits or groups of bits</a:t>
            </a:r>
            <a:r>
              <a:rPr sz="2257" dirty="0">
                <a:solidFill>
                  <a:schemeClr val="tx1"/>
                </a:solidFill>
              </a:rPr>
              <a:t>.</a:t>
            </a:r>
            <a:endParaRPr sz="2257" b="1" dirty="0">
              <a:solidFill>
                <a:schemeClr val="tx1"/>
              </a:solidFill>
            </a:endParaRPr>
          </a:p>
          <a:p>
            <a:pPr marL="321457" indent="-321457" algn="l" defTabSz="349138">
              <a:spcBef>
                <a:spcPts val="2461"/>
              </a:spcBef>
              <a:buFont typeface="Wingdings" panose="05000000000000000000" pitchFamily="2" charset="2"/>
              <a:buChar char="Ø"/>
              <a:defRPr sz="1800">
                <a:solidFill>
                  <a:srgbClr val="000000"/>
                </a:solidFill>
              </a:defRPr>
            </a:pPr>
            <a:r>
              <a:rPr sz="2257" dirty="0">
                <a:solidFill>
                  <a:schemeClr val="tx1"/>
                </a:solidFill>
              </a:rPr>
              <a:t>*** Logic, shift, and rotate instructions is used to do binary and hexadecimal I/O. </a:t>
            </a:r>
          </a:p>
          <a:p>
            <a:pPr marL="321457" indent="-321457" algn="l" defTabSz="349138">
              <a:spcBef>
                <a:spcPts val="2461"/>
              </a:spcBef>
              <a:buFont typeface="Wingdings" panose="05000000000000000000" pitchFamily="2" charset="2"/>
              <a:buChar char="Ø"/>
              <a:defRPr sz="1800">
                <a:solidFill>
                  <a:srgbClr val="000000"/>
                </a:solidFill>
              </a:defRPr>
            </a:pPr>
            <a:r>
              <a:rPr sz="2257" dirty="0">
                <a:solidFill>
                  <a:schemeClr val="tx1"/>
                </a:solidFill>
              </a:rPr>
              <a:t>The ability to read and write numbers will let us solve a great variety of problem.</a:t>
            </a:r>
          </a:p>
        </p:txBody>
      </p:sp>
      <p:sp>
        <p:nvSpPr>
          <p:cNvPr id="43" name="Shape 43"/>
          <p:cNvSpPr/>
          <p:nvPr/>
        </p:nvSpPr>
        <p:spPr>
          <a:xfrm>
            <a:off x="1223367" y="375047"/>
            <a:ext cx="7125891" cy="942548"/>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normAutofit/>
          </a:bodyPr>
          <a:lstStyle>
            <a:lvl1pPr>
              <a:defRPr sz="8000" b="1"/>
            </a:lvl1pPr>
          </a:lstStyle>
          <a:p>
            <a:pPr lvl="0">
              <a:defRPr sz="1800" b="0">
                <a:solidFill>
                  <a:srgbClr val="000000"/>
                </a:solidFill>
              </a:defRPr>
            </a:pPr>
            <a:endParaRPr sz="3375" dirty="0">
              <a:solidFill>
                <a:srgbClr val="0070C0"/>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887"/>
            <a:ext cx="9144000" cy="1788416"/>
          </a:xfrm>
          <a:prstGeom prst="rect">
            <a:avLst/>
          </a:prstGeom>
        </p:spPr>
      </p:pic>
      <p:sp>
        <p:nvSpPr>
          <p:cNvPr id="6" name="Shape 38"/>
          <p:cNvSpPr>
            <a:spLocks noGrp="1"/>
          </p:cNvSpPr>
          <p:nvPr>
            <p:ph type="title"/>
          </p:nvPr>
        </p:nvSpPr>
        <p:spPr>
          <a:xfrm>
            <a:off x="203260" y="437491"/>
            <a:ext cx="7358063" cy="880104"/>
          </a:xfrm>
          <a:prstGeom prst="rect">
            <a:avLst/>
          </a:prstGeom>
        </p:spPr>
        <p:txBody>
          <a:bodyPr>
            <a:normAutofit/>
          </a:bodyPr>
          <a:lstStyle/>
          <a:p>
            <a:pPr algn="ctr">
              <a:defRPr sz="1800">
                <a:solidFill>
                  <a:srgbClr val="000000"/>
                </a:solidFill>
              </a:defRPr>
            </a:pPr>
            <a:r>
              <a:rPr lang="en-US" sz="4400" b="1" dirty="0">
                <a:solidFill>
                  <a:schemeClr val="accent3">
                    <a:lumMod val="75000"/>
                  </a:schemeClr>
                </a:solidFill>
              </a:rPr>
              <a:t>Overview: ROTATE</a:t>
            </a:r>
            <a:endParaRPr sz="4640" b="1" dirty="0">
              <a:solidFill>
                <a:schemeClr val="accent5"/>
              </a:solidFill>
            </a:endParaRPr>
          </a:p>
        </p:txBody>
      </p:sp>
    </p:spTree>
    <p:extLst>
      <p:ext uri="{BB962C8B-B14F-4D97-AF65-F5344CB8AC3E}">
        <p14:creationId xmlns:p14="http://schemas.microsoft.com/office/powerpoint/2010/main" val="1427780699"/>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Shape 145"/>
          <p:cNvSpPr>
            <a:spLocks noGrp="1"/>
          </p:cNvSpPr>
          <p:nvPr>
            <p:ph type="body" idx="1"/>
          </p:nvPr>
        </p:nvSpPr>
        <p:spPr>
          <a:xfrm>
            <a:off x="479227" y="2374710"/>
            <a:ext cx="8185547" cy="4196889"/>
          </a:xfrm>
          <a:prstGeom prst="rect">
            <a:avLst/>
          </a:prstGeom>
        </p:spPr>
        <p:txBody>
          <a:bodyPr>
            <a:normAutofit/>
          </a:bodyPr>
          <a:lstStyle/>
          <a:p>
            <a:pPr marL="321457" indent="-321457" algn="l">
              <a:lnSpc>
                <a:spcPct val="150000"/>
              </a:lnSpc>
              <a:buFont typeface="Wingdings" panose="05000000000000000000" pitchFamily="2" charset="2"/>
              <a:buChar char="Ø"/>
              <a:defRPr sz="1800">
                <a:solidFill>
                  <a:srgbClr val="000000"/>
                </a:solidFill>
              </a:defRPr>
            </a:pPr>
            <a:r>
              <a:rPr sz="2257" b="1" dirty="0">
                <a:solidFill>
                  <a:schemeClr val="tx1"/>
                </a:solidFill>
              </a:rPr>
              <a:t>Problem: </a:t>
            </a:r>
            <a:r>
              <a:rPr sz="2257" dirty="0">
                <a:solidFill>
                  <a:schemeClr val="tx1"/>
                </a:solidFill>
              </a:rPr>
              <a:t>Suppose DH contains 8Ah and CL contains 2. What are the values of DH and CF after the Instruction SHR DH,CL is executed</a:t>
            </a:r>
            <a:r>
              <a:rPr lang="en-US" sz="2257" dirty="0">
                <a:solidFill>
                  <a:schemeClr val="tx1"/>
                </a:solidFill>
                <a:latin typeface="Arial" panose="020B0604020202020204" pitchFamily="34" charset="0"/>
                <a:cs typeface="Arial" panose="020B0604020202020204" pitchFamily="34" charset="0"/>
              </a:rPr>
              <a:t>?</a:t>
            </a:r>
            <a:endParaRPr sz="2257" dirty="0">
              <a:solidFill>
                <a:schemeClr val="tx1"/>
              </a:solidFill>
            </a:endParaRPr>
          </a:p>
          <a:p>
            <a:pPr marL="321457" indent="-321457" algn="l">
              <a:lnSpc>
                <a:spcPct val="150000"/>
              </a:lnSpc>
              <a:buFont typeface="Wingdings" panose="05000000000000000000" pitchFamily="2" charset="2"/>
              <a:buChar char="Ø"/>
              <a:defRPr sz="1800">
                <a:solidFill>
                  <a:srgbClr val="000000"/>
                </a:solidFill>
              </a:defRPr>
            </a:pPr>
            <a:r>
              <a:rPr sz="2257" b="1" dirty="0">
                <a:solidFill>
                  <a:schemeClr val="tx1"/>
                </a:solidFill>
              </a:rPr>
              <a:t>Solution:</a:t>
            </a:r>
            <a:r>
              <a:rPr sz="2257" dirty="0">
                <a:solidFill>
                  <a:schemeClr val="tx1"/>
                </a:solidFill>
              </a:rPr>
              <a:t> The value of DH in binary is 1000</a:t>
            </a:r>
            <a:r>
              <a:rPr lang="en-US" sz="2257" dirty="0">
                <a:solidFill>
                  <a:schemeClr val="tx1"/>
                </a:solidFill>
              </a:rPr>
              <a:t> </a:t>
            </a:r>
            <a:r>
              <a:rPr sz="2257" dirty="0">
                <a:solidFill>
                  <a:schemeClr val="tx1"/>
                </a:solidFill>
              </a:rPr>
              <a:t>1010.</a:t>
            </a:r>
          </a:p>
          <a:p>
            <a:pPr marL="321457" indent="-321457" algn="l">
              <a:lnSpc>
                <a:spcPct val="150000"/>
              </a:lnSpc>
              <a:buFont typeface="Wingdings" panose="05000000000000000000" pitchFamily="2" charset="2"/>
              <a:buChar char="Ø"/>
              <a:defRPr sz="1800">
                <a:solidFill>
                  <a:srgbClr val="000000"/>
                </a:solidFill>
              </a:defRPr>
            </a:pPr>
            <a:r>
              <a:rPr sz="2257" dirty="0">
                <a:solidFill>
                  <a:schemeClr val="tx1"/>
                </a:solidFill>
              </a:rPr>
              <a:t>After two right shifts, CF=1</a:t>
            </a:r>
          </a:p>
          <a:p>
            <a:pPr marL="321457" indent="-321457" algn="l">
              <a:lnSpc>
                <a:spcPct val="150000"/>
              </a:lnSpc>
              <a:buFont typeface="Wingdings" panose="05000000000000000000" pitchFamily="2" charset="2"/>
              <a:buChar char="Ø"/>
              <a:defRPr sz="1800">
                <a:solidFill>
                  <a:srgbClr val="000000"/>
                </a:solidFill>
              </a:defRPr>
            </a:pPr>
            <a:r>
              <a:rPr sz="2257" dirty="0">
                <a:solidFill>
                  <a:schemeClr val="tx1"/>
                </a:solidFill>
              </a:rPr>
              <a:t>The new value of DH is  obtained by</a:t>
            </a:r>
            <a:r>
              <a:rPr sz="2257" b="1" dirty="0">
                <a:solidFill>
                  <a:schemeClr val="tx1"/>
                </a:solidFill>
              </a:rPr>
              <a:t> erasing the rightmost two bits </a:t>
            </a:r>
            <a:r>
              <a:rPr sz="2257" dirty="0">
                <a:solidFill>
                  <a:schemeClr val="tx1"/>
                </a:solidFill>
              </a:rPr>
              <a:t>and adding two 0 bits to the left end, thus DH </a:t>
            </a:r>
            <a:r>
              <a:rPr sz="2257" dirty="0">
                <a:solidFill>
                  <a:schemeClr val="tx1"/>
                </a:solidFill>
                <a:latin typeface="Helvetica"/>
                <a:ea typeface="Helvetica"/>
                <a:cs typeface="Helvetica"/>
                <a:sym typeface="Helvetica"/>
              </a:rPr>
              <a:t>=0010</a:t>
            </a:r>
            <a:r>
              <a:rPr lang="en-US" sz="2257" dirty="0">
                <a:solidFill>
                  <a:schemeClr val="tx1"/>
                </a:solidFill>
                <a:latin typeface="Helvetica"/>
                <a:ea typeface="Helvetica"/>
                <a:cs typeface="Helvetica"/>
                <a:sym typeface="Helvetica"/>
              </a:rPr>
              <a:t> </a:t>
            </a:r>
            <a:r>
              <a:rPr sz="2257" dirty="0">
                <a:solidFill>
                  <a:schemeClr val="tx1"/>
                </a:solidFill>
                <a:latin typeface="Helvetica"/>
                <a:ea typeface="Helvetica"/>
                <a:cs typeface="Helvetica"/>
                <a:sym typeface="Helvetica"/>
              </a:rPr>
              <a:t>0010b</a:t>
            </a:r>
            <a:r>
              <a:rPr sz="2257" dirty="0">
                <a:solidFill>
                  <a:schemeClr val="tx1"/>
                </a:solidFill>
              </a:rPr>
              <a:t> </a:t>
            </a:r>
            <a:r>
              <a:rPr sz="2257" dirty="0">
                <a:solidFill>
                  <a:schemeClr val="tx1"/>
                </a:solidFill>
                <a:latin typeface="Helvetica"/>
                <a:ea typeface="Helvetica"/>
                <a:cs typeface="Helvetica"/>
                <a:sym typeface="Helvetica"/>
              </a:rPr>
              <a:t>= </a:t>
            </a:r>
            <a:r>
              <a:rPr sz="2257" dirty="0">
                <a:solidFill>
                  <a:schemeClr val="tx1"/>
                </a:solidFill>
              </a:rPr>
              <a:t>22h.</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887"/>
            <a:ext cx="9144000" cy="1788416"/>
          </a:xfrm>
          <a:prstGeom prst="rect">
            <a:avLst/>
          </a:prstGeom>
        </p:spPr>
      </p:pic>
      <p:sp>
        <p:nvSpPr>
          <p:cNvPr id="7" name="Shape 38"/>
          <p:cNvSpPr>
            <a:spLocks noGrp="1"/>
          </p:cNvSpPr>
          <p:nvPr>
            <p:ph type="title"/>
          </p:nvPr>
        </p:nvSpPr>
        <p:spPr>
          <a:xfrm>
            <a:off x="203260" y="437491"/>
            <a:ext cx="7358063" cy="880104"/>
          </a:xfrm>
          <a:prstGeom prst="rect">
            <a:avLst/>
          </a:prstGeom>
        </p:spPr>
        <p:txBody>
          <a:bodyPr>
            <a:normAutofit/>
          </a:bodyPr>
          <a:lstStyle/>
          <a:p>
            <a:pPr algn="ctr">
              <a:defRPr sz="1800">
                <a:solidFill>
                  <a:srgbClr val="000000"/>
                </a:solidFill>
              </a:defRPr>
            </a:pPr>
            <a:r>
              <a:rPr lang="en-US" sz="4400" b="1" dirty="0">
                <a:solidFill>
                  <a:schemeClr val="accent3">
                    <a:lumMod val="75000"/>
                  </a:schemeClr>
                </a:solidFill>
              </a:rPr>
              <a:t>Example SHR</a:t>
            </a:r>
            <a:endParaRPr sz="4640" b="1" dirty="0">
              <a:solidFill>
                <a:schemeClr val="accent5"/>
              </a:solidFill>
            </a:endParaRPr>
          </a:p>
        </p:txBody>
      </p:sp>
    </p:spTree>
    <p:extLst>
      <p:ext uri="{BB962C8B-B14F-4D97-AF65-F5344CB8AC3E}">
        <p14:creationId xmlns:p14="http://schemas.microsoft.com/office/powerpoint/2010/main" val="299600607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31678-29ED-66ED-D6B4-3AB4F7BB633B}"/>
            </a:ext>
          </a:extLst>
        </p:cNvPr>
        <p:cNvGrpSpPr/>
        <p:nvPr/>
      </p:nvGrpSpPr>
      <p:grpSpPr>
        <a:xfrm>
          <a:off x="0" y="0"/>
          <a:ext cx="0" cy="0"/>
          <a:chOff x="0" y="0"/>
          <a:chExt cx="0" cy="0"/>
        </a:xfrm>
      </p:grpSpPr>
      <p:sp>
        <p:nvSpPr>
          <p:cNvPr id="145" name="Shape 145">
            <a:extLst>
              <a:ext uri="{FF2B5EF4-FFF2-40B4-BE49-F238E27FC236}">
                <a16:creationId xmlns:a16="http://schemas.microsoft.com/office/drawing/2014/main" id="{BDB65CE6-1AFB-F85C-BCEA-13389A528FA4}"/>
              </a:ext>
            </a:extLst>
          </p:cNvPr>
          <p:cNvSpPr>
            <a:spLocks noGrp="1"/>
          </p:cNvSpPr>
          <p:nvPr>
            <p:ph type="body" idx="1"/>
          </p:nvPr>
        </p:nvSpPr>
        <p:spPr>
          <a:xfrm>
            <a:off x="479227" y="2374710"/>
            <a:ext cx="8185547" cy="4196889"/>
          </a:xfrm>
          <a:prstGeom prst="rect">
            <a:avLst/>
          </a:prstGeom>
        </p:spPr>
        <p:txBody>
          <a:bodyPr>
            <a:normAutofit fontScale="85000" lnSpcReduction="10000"/>
          </a:bodyPr>
          <a:lstStyle/>
          <a:p>
            <a:pPr marL="321457" indent="-321457" algn="l">
              <a:lnSpc>
                <a:spcPct val="150000"/>
              </a:lnSpc>
              <a:buFont typeface="Wingdings" panose="05000000000000000000" pitchFamily="2" charset="2"/>
              <a:buChar char="Ø"/>
              <a:defRPr sz="1800">
                <a:solidFill>
                  <a:srgbClr val="000000"/>
                </a:solidFill>
              </a:defRPr>
            </a:pPr>
            <a:r>
              <a:rPr lang="en-US" sz="2257" b="1" dirty="0">
                <a:solidFill>
                  <a:schemeClr val="tx1"/>
                </a:solidFill>
              </a:rPr>
              <a:t>Initial Values : DH = 8Ah (1000 1010 in binary), CL = 2 (This means the value in DH will be shifted right by 2 bits). SHR Instruction (Shift Logical Right):SHR (Shift Logical Right) shifts the bits of a register to the </a:t>
            </a:r>
            <a:r>
              <a:rPr lang="en-US" sz="2257" b="1" dirty="0" err="1">
                <a:solidFill>
                  <a:schemeClr val="tx1"/>
                </a:solidFill>
              </a:rPr>
              <a:t>right.For</a:t>
            </a:r>
            <a:r>
              <a:rPr lang="en-US" sz="2257" b="1" dirty="0">
                <a:solidFill>
                  <a:schemeClr val="tx1"/>
                </a:solidFill>
              </a:rPr>
              <a:t> each bit shift: The rightmost bit is shifted into the Carry Flag (CF).The leftmost bit is filled with 0. step-by-Step </a:t>
            </a:r>
            <a:r>
              <a:rPr lang="en-US" sz="2257" b="1" dirty="0" err="1">
                <a:solidFill>
                  <a:schemeClr val="tx1"/>
                </a:solidFill>
              </a:rPr>
              <a:t>Execution:Initial</a:t>
            </a:r>
            <a:r>
              <a:rPr lang="en-US" sz="2257" b="1" dirty="0">
                <a:solidFill>
                  <a:schemeClr val="tx1"/>
                </a:solidFill>
              </a:rPr>
              <a:t> DH Value in Binary:1000 1010</a:t>
            </a:r>
          </a:p>
          <a:p>
            <a:pPr marL="321457" indent="-321457" algn="l">
              <a:lnSpc>
                <a:spcPct val="150000"/>
              </a:lnSpc>
              <a:buFont typeface="Wingdings" panose="05000000000000000000" pitchFamily="2" charset="2"/>
              <a:buChar char="Ø"/>
              <a:defRPr sz="1800">
                <a:solidFill>
                  <a:srgbClr val="000000"/>
                </a:solidFill>
              </a:defRPr>
            </a:pPr>
            <a:r>
              <a:rPr lang="en-US" sz="2257" b="1" dirty="0">
                <a:solidFill>
                  <a:schemeClr val="tx1"/>
                </a:solidFill>
              </a:rPr>
              <a:t>First Right Shift: New DH: 0100 0101   CF: The bit shifted out (0).</a:t>
            </a:r>
          </a:p>
          <a:p>
            <a:pPr marL="321457" indent="-321457" algn="l">
              <a:lnSpc>
                <a:spcPct val="150000"/>
              </a:lnSpc>
              <a:buFont typeface="Wingdings" panose="05000000000000000000" pitchFamily="2" charset="2"/>
              <a:buChar char="Ø"/>
              <a:defRPr sz="1800">
                <a:solidFill>
                  <a:srgbClr val="000000"/>
                </a:solidFill>
              </a:defRPr>
            </a:pPr>
            <a:r>
              <a:rPr lang="en-US" sz="2257" b="1" dirty="0">
                <a:solidFill>
                  <a:schemeClr val="tx1"/>
                </a:solidFill>
              </a:rPr>
              <a:t>Second Right </a:t>
            </a:r>
            <a:r>
              <a:rPr lang="en-US" sz="2257" b="1" dirty="0" err="1">
                <a:solidFill>
                  <a:schemeClr val="tx1"/>
                </a:solidFill>
              </a:rPr>
              <a:t>Shift:New</a:t>
            </a:r>
            <a:r>
              <a:rPr lang="en-US" sz="2257" b="1" dirty="0">
                <a:solidFill>
                  <a:schemeClr val="tx1"/>
                </a:solidFill>
              </a:rPr>
              <a:t> DH: 0010 0010 CF: The bit shifted out (1).</a:t>
            </a:r>
          </a:p>
          <a:p>
            <a:pPr marL="321457" indent="-321457" algn="l">
              <a:lnSpc>
                <a:spcPct val="150000"/>
              </a:lnSpc>
              <a:buFont typeface="Wingdings" panose="05000000000000000000" pitchFamily="2" charset="2"/>
              <a:buChar char="Ø"/>
              <a:defRPr sz="1800">
                <a:solidFill>
                  <a:srgbClr val="000000"/>
                </a:solidFill>
              </a:defRPr>
            </a:pPr>
            <a:r>
              <a:rPr lang="en-US" sz="2257" b="1" dirty="0">
                <a:solidFill>
                  <a:schemeClr val="tx1"/>
                </a:solidFill>
              </a:rPr>
              <a:t>Final </a:t>
            </a:r>
            <a:r>
              <a:rPr lang="en-US" sz="2257" b="1" dirty="0" err="1">
                <a:solidFill>
                  <a:schemeClr val="tx1"/>
                </a:solidFill>
              </a:rPr>
              <a:t>Result:Final</a:t>
            </a:r>
            <a:r>
              <a:rPr lang="en-US" sz="2257" b="1" dirty="0">
                <a:solidFill>
                  <a:schemeClr val="tx1"/>
                </a:solidFill>
              </a:rPr>
              <a:t> DH: 00100010 (in binary) = 22h (in hexadecimal).Final CF: 1 (because the last bit shifted out was 1).Final </a:t>
            </a:r>
            <a:r>
              <a:rPr lang="en-US" sz="2257" b="1" dirty="0" err="1">
                <a:solidFill>
                  <a:schemeClr val="tx1"/>
                </a:solidFill>
              </a:rPr>
              <a:t>Answer:DH</a:t>
            </a:r>
            <a:r>
              <a:rPr lang="en-US" sz="2257" b="1" dirty="0">
                <a:solidFill>
                  <a:schemeClr val="tx1"/>
                </a:solidFill>
              </a:rPr>
              <a:t> = 22h,  CF = 1</a:t>
            </a:r>
            <a:endParaRPr sz="2257" dirty="0">
              <a:solidFill>
                <a:schemeClr val="tx1"/>
              </a:solidFill>
            </a:endParaRPr>
          </a:p>
        </p:txBody>
      </p:sp>
      <p:pic>
        <p:nvPicPr>
          <p:cNvPr id="6" name="Picture 5">
            <a:extLst>
              <a:ext uri="{FF2B5EF4-FFF2-40B4-BE49-F238E27FC236}">
                <a16:creationId xmlns:a16="http://schemas.microsoft.com/office/drawing/2014/main" id="{3B9A1344-EA0E-9354-82C0-8FA8BF77E4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887"/>
            <a:ext cx="9144000" cy="1788416"/>
          </a:xfrm>
          <a:prstGeom prst="rect">
            <a:avLst/>
          </a:prstGeom>
        </p:spPr>
      </p:pic>
      <p:sp>
        <p:nvSpPr>
          <p:cNvPr id="7" name="Shape 38">
            <a:extLst>
              <a:ext uri="{FF2B5EF4-FFF2-40B4-BE49-F238E27FC236}">
                <a16:creationId xmlns:a16="http://schemas.microsoft.com/office/drawing/2014/main" id="{1AA682BA-3718-E678-5A22-606F170DA5E3}"/>
              </a:ext>
            </a:extLst>
          </p:cNvPr>
          <p:cNvSpPr>
            <a:spLocks noGrp="1"/>
          </p:cNvSpPr>
          <p:nvPr>
            <p:ph type="title"/>
          </p:nvPr>
        </p:nvSpPr>
        <p:spPr>
          <a:xfrm>
            <a:off x="203260" y="437491"/>
            <a:ext cx="7358063" cy="880104"/>
          </a:xfrm>
          <a:prstGeom prst="rect">
            <a:avLst/>
          </a:prstGeom>
        </p:spPr>
        <p:txBody>
          <a:bodyPr>
            <a:normAutofit/>
          </a:bodyPr>
          <a:lstStyle/>
          <a:p>
            <a:pPr algn="ctr">
              <a:defRPr sz="1800">
                <a:solidFill>
                  <a:srgbClr val="000000"/>
                </a:solidFill>
              </a:defRPr>
            </a:pPr>
            <a:r>
              <a:rPr lang="en-US" sz="4400" b="1" dirty="0">
                <a:solidFill>
                  <a:schemeClr val="accent3">
                    <a:lumMod val="75000"/>
                  </a:schemeClr>
                </a:solidFill>
              </a:rPr>
              <a:t>Example SHR</a:t>
            </a:r>
            <a:endParaRPr sz="4640" b="1" dirty="0">
              <a:solidFill>
                <a:schemeClr val="accent5"/>
              </a:solidFill>
            </a:endParaRPr>
          </a:p>
        </p:txBody>
      </p:sp>
    </p:spTree>
    <p:extLst>
      <p:ext uri="{BB962C8B-B14F-4D97-AF65-F5344CB8AC3E}">
        <p14:creationId xmlns:p14="http://schemas.microsoft.com/office/powerpoint/2010/main" val="3771745295"/>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Shape 148"/>
          <p:cNvSpPr>
            <a:spLocks noGrp="1"/>
          </p:cNvSpPr>
          <p:nvPr>
            <p:ph type="body" idx="1"/>
          </p:nvPr>
        </p:nvSpPr>
        <p:spPr>
          <a:xfrm>
            <a:off x="812601" y="1826276"/>
            <a:ext cx="7804548" cy="2466734"/>
          </a:xfrm>
          <a:prstGeom prst="rect">
            <a:avLst/>
          </a:prstGeom>
        </p:spPr>
        <p:txBody>
          <a:bodyPr>
            <a:normAutofit/>
          </a:bodyPr>
          <a:lstStyle/>
          <a:p>
            <a:pPr marL="321457" indent="-321457" algn="l" defTabSz="349138">
              <a:spcBef>
                <a:spcPts val="2461"/>
              </a:spcBef>
              <a:buFont typeface="Wingdings" panose="05000000000000000000" pitchFamily="2" charset="2"/>
              <a:buChar char="Ø"/>
              <a:defRPr sz="1800">
                <a:solidFill>
                  <a:srgbClr val="000000"/>
                </a:solidFill>
              </a:defRPr>
            </a:pPr>
            <a:r>
              <a:rPr sz="2257" dirty="0">
                <a:solidFill>
                  <a:schemeClr val="tx1"/>
                </a:solidFill>
              </a:rPr>
              <a:t>The SAR Instruction (shift arithmetic right) operates like SHR , with one difference: the </a:t>
            </a:r>
            <a:r>
              <a:rPr sz="2257" b="1" dirty="0" err="1">
                <a:solidFill>
                  <a:schemeClr val="tx1"/>
                </a:solidFill>
              </a:rPr>
              <a:t>msb</a:t>
            </a:r>
            <a:r>
              <a:rPr sz="2257" b="1" dirty="0">
                <a:solidFill>
                  <a:schemeClr val="tx1"/>
                </a:solidFill>
              </a:rPr>
              <a:t> retains Its original value</a:t>
            </a:r>
            <a:r>
              <a:rPr sz="2257" dirty="0">
                <a:solidFill>
                  <a:schemeClr val="tx1"/>
                </a:solidFill>
              </a:rPr>
              <a:t>. The syntax is:</a:t>
            </a:r>
          </a:p>
          <a:p>
            <a:pPr marL="321457" indent="-321457" algn="l" defTabSz="349138">
              <a:spcBef>
                <a:spcPts val="2461"/>
              </a:spcBef>
              <a:buFont typeface="Wingdings" panose="05000000000000000000" pitchFamily="2" charset="2"/>
              <a:buChar char="Ø"/>
              <a:defRPr sz="1800">
                <a:solidFill>
                  <a:srgbClr val="000000"/>
                </a:solidFill>
              </a:defRPr>
            </a:pPr>
            <a:r>
              <a:rPr sz="2257" dirty="0">
                <a:solidFill>
                  <a:schemeClr val="tx1"/>
                </a:solidFill>
              </a:rPr>
              <a:t>SAR destination,1 </a:t>
            </a:r>
          </a:p>
          <a:p>
            <a:pPr marL="321457" indent="-321457" algn="l" defTabSz="349138">
              <a:spcBef>
                <a:spcPts val="2461"/>
              </a:spcBef>
              <a:buFont typeface="Wingdings" panose="05000000000000000000" pitchFamily="2" charset="2"/>
              <a:buChar char="Ø"/>
              <a:defRPr sz="1800">
                <a:solidFill>
                  <a:srgbClr val="000000"/>
                </a:solidFill>
              </a:defRPr>
            </a:pPr>
            <a:r>
              <a:rPr sz="2257" dirty="0">
                <a:solidFill>
                  <a:schemeClr val="tx1"/>
                </a:solidFill>
              </a:rPr>
              <a:t>SAR destination,</a:t>
            </a:r>
            <a:r>
              <a:rPr lang="en-US" sz="2257" dirty="0">
                <a:solidFill>
                  <a:schemeClr val="tx1"/>
                </a:solidFill>
              </a:rPr>
              <a:t> </a:t>
            </a:r>
            <a:r>
              <a:rPr sz="2257" dirty="0">
                <a:solidFill>
                  <a:schemeClr val="tx1"/>
                </a:solidFill>
              </a:rPr>
              <a:t>CL</a:t>
            </a:r>
          </a:p>
        </p:txBody>
      </p:sp>
      <p:pic>
        <p:nvPicPr>
          <p:cNvPr id="149" name="Screen Shot 2015-03-27 at 1.00.47 PM.png"/>
          <p:cNvPicPr/>
          <p:nvPr/>
        </p:nvPicPr>
        <p:blipFill>
          <a:blip r:embed="rId2" cstate="print"/>
          <a:stretch>
            <a:fillRect/>
          </a:stretch>
        </p:blipFill>
        <p:spPr>
          <a:xfrm>
            <a:off x="2674960" y="4517408"/>
            <a:ext cx="4482015" cy="2054213"/>
          </a:xfrm>
          <a:prstGeom prst="rect">
            <a:avLst/>
          </a:prstGeom>
          <a:ln w="12700">
            <a:miter lim="400000"/>
          </a:ln>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7887"/>
            <a:ext cx="9144000" cy="1788416"/>
          </a:xfrm>
          <a:prstGeom prst="rect">
            <a:avLst/>
          </a:prstGeom>
        </p:spPr>
      </p:pic>
      <p:sp>
        <p:nvSpPr>
          <p:cNvPr id="7" name="Shape 38"/>
          <p:cNvSpPr>
            <a:spLocks noGrp="1"/>
          </p:cNvSpPr>
          <p:nvPr>
            <p:ph type="title"/>
          </p:nvPr>
        </p:nvSpPr>
        <p:spPr>
          <a:xfrm>
            <a:off x="203260" y="437491"/>
            <a:ext cx="7358063" cy="880104"/>
          </a:xfrm>
          <a:prstGeom prst="rect">
            <a:avLst/>
          </a:prstGeom>
        </p:spPr>
        <p:txBody>
          <a:bodyPr>
            <a:normAutofit/>
          </a:bodyPr>
          <a:lstStyle/>
          <a:p>
            <a:pPr algn="ctr">
              <a:defRPr sz="1800">
                <a:solidFill>
                  <a:srgbClr val="000000"/>
                </a:solidFill>
              </a:defRPr>
            </a:pPr>
            <a:r>
              <a:rPr lang="en-US" sz="4400" b="1" dirty="0">
                <a:solidFill>
                  <a:schemeClr val="accent3">
                    <a:lumMod val="75000"/>
                  </a:schemeClr>
                </a:solidFill>
              </a:rPr>
              <a:t>SAR Instruction</a:t>
            </a:r>
            <a:endParaRPr sz="4640" b="1" dirty="0">
              <a:solidFill>
                <a:schemeClr val="accent5"/>
              </a:solidFill>
            </a:endParaRPr>
          </a:p>
        </p:txBody>
      </p:sp>
    </p:spTree>
    <p:extLst>
      <p:ext uri="{BB962C8B-B14F-4D97-AF65-F5344CB8AC3E}">
        <p14:creationId xmlns:p14="http://schemas.microsoft.com/office/powerpoint/2010/main" val="86925989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F521C-D6F3-9B26-5ABB-8CA02E86738C}"/>
            </a:ext>
          </a:extLst>
        </p:cNvPr>
        <p:cNvGrpSpPr/>
        <p:nvPr/>
      </p:nvGrpSpPr>
      <p:grpSpPr>
        <a:xfrm>
          <a:off x="0" y="0"/>
          <a:ext cx="0" cy="0"/>
          <a:chOff x="0" y="0"/>
          <a:chExt cx="0" cy="0"/>
        </a:xfrm>
      </p:grpSpPr>
      <p:sp>
        <p:nvSpPr>
          <p:cNvPr id="148" name="Shape 148">
            <a:extLst>
              <a:ext uri="{FF2B5EF4-FFF2-40B4-BE49-F238E27FC236}">
                <a16:creationId xmlns:a16="http://schemas.microsoft.com/office/drawing/2014/main" id="{02C809FC-A4D6-C3CA-55CE-2DFA744DF33B}"/>
              </a:ext>
            </a:extLst>
          </p:cNvPr>
          <p:cNvSpPr>
            <a:spLocks noGrp="1"/>
          </p:cNvSpPr>
          <p:nvPr>
            <p:ph type="body" idx="1"/>
          </p:nvPr>
        </p:nvSpPr>
        <p:spPr>
          <a:xfrm>
            <a:off x="812601" y="1826275"/>
            <a:ext cx="7804548" cy="4476553"/>
          </a:xfrm>
          <a:prstGeom prst="rect">
            <a:avLst/>
          </a:prstGeom>
        </p:spPr>
        <p:txBody>
          <a:bodyPr>
            <a:normAutofit/>
          </a:bodyPr>
          <a:lstStyle/>
          <a:p>
            <a:pPr marL="321457" indent="-321457" algn="l" defTabSz="349138">
              <a:spcBef>
                <a:spcPts val="2461"/>
              </a:spcBef>
              <a:buFont typeface="Wingdings" panose="05000000000000000000" pitchFamily="2" charset="2"/>
              <a:buChar char="Ø"/>
              <a:defRPr sz="1800">
                <a:solidFill>
                  <a:srgbClr val="000000"/>
                </a:solidFill>
              </a:defRPr>
            </a:pPr>
            <a:r>
              <a:rPr lang="en-US" sz="2257" dirty="0">
                <a:solidFill>
                  <a:schemeClr val="tx1"/>
                </a:solidFill>
              </a:rPr>
              <a:t>SAR (Shift Arithmetic Right) is an instruction used to shift the bits of a destination register to the </a:t>
            </a:r>
            <a:r>
              <a:rPr lang="en-US" sz="2257" dirty="0" err="1">
                <a:solidFill>
                  <a:schemeClr val="tx1"/>
                </a:solidFill>
              </a:rPr>
              <a:t>right.Unlike</a:t>
            </a:r>
            <a:r>
              <a:rPr lang="en-US" sz="2257" dirty="0">
                <a:solidFill>
                  <a:schemeClr val="tx1"/>
                </a:solidFill>
              </a:rPr>
              <a:t> SHR (Shift Logical Right), which always fills the leftmost bit with 0, SAR preserves the Most Significant Bit (MSB) (sign bit for signed numbers).This means SAR can be used for signed number division by powers of two, while maintaining the sign of the number. How SAR </a:t>
            </a:r>
            <a:r>
              <a:rPr lang="en-US" sz="2257" dirty="0" err="1">
                <a:solidFill>
                  <a:schemeClr val="tx1"/>
                </a:solidFill>
              </a:rPr>
              <a:t>Works:The</a:t>
            </a:r>
            <a:r>
              <a:rPr lang="en-US" sz="2257" dirty="0">
                <a:solidFill>
                  <a:schemeClr val="tx1"/>
                </a:solidFill>
              </a:rPr>
              <a:t> MSB (Most Significant Bit) remains </a:t>
            </a:r>
            <a:r>
              <a:rPr lang="en-US" sz="2257" dirty="0" err="1">
                <a:solidFill>
                  <a:schemeClr val="tx1"/>
                </a:solidFill>
              </a:rPr>
              <a:t>unchanged.The</a:t>
            </a:r>
            <a:r>
              <a:rPr lang="en-US" sz="2257" dirty="0">
                <a:solidFill>
                  <a:schemeClr val="tx1"/>
                </a:solidFill>
              </a:rPr>
              <a:t> other bits are shifted right, and the rightmost bit is shifted out into the Carry Flag (CF).</a:t>
            </a:r>
            <a:endParaRPr sz="2257" dirty="0">
              <a:solidFill>
                <a:schemeClr val="tx1"/>
              </a:solidFill>
            </a:endParaRPr>
          </a:p>
        </p:txBody>
      </p:sp>
      <p:pic>
        <p:nvPicPr>
          <p:cNvPr id="6" name="Picture 5">
            <a:extLst>
              <a:ext uri="{FF2B5EF4-FFF2-40B4-BE49-F238E27FC236}">
                <a16:creationId xmlns:a16="http://schemas.microsoft.com/office/drawing/2014/main" id="{5C6A8263-8BC8-D3FA-5DDD-ED877CDD31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887"/>
            <a:ext cx="9144000" cy="1788416"/>
          </a:xfrm>
          <a:prstGeom prst="rect">
            <a:avLst/>
          </a:prstGeom>
        </p:spPr>
      </p:pic>
      <p:sp>
        <p:nvSpPr>
          <p:cNvPr id="7" name="Shape 38">
            <a:extLst>
              <a:ext uri="{FF2B5EF4-FFF2-40B4-BE49-F238E27FC236}">
                <a16:creationId xmlns:a16="http://schemas.microsoft.com/office/drawing/2014/main" id="{B92AEC0A-20C7-3945-62B2-86F6B88D37F5}"/>
              </a:ext>
            </a:extLst>
          </p:cNvPr>
          <p:cNvSpPr>
            <a:spLocks noGrp="1"/>
          </p:cNvSpPr>
          <p:nvPr>
            <p:ph type="title"/>
          </p:nvPr>
        </p:nvSpPr>
        <p:spPr>
          <a:xfrm>
            <a:off x="203260" y="437491"/>
            <a:ext cx="7358063" cy="880104"/>
          </a:xfrm>
          <a:prstGeom prst="rect">
            <a:avLst/>
          </a:prstGeom>
        </p:spPr>
        <p:txBody>
          <a:bodyPr>
            <a:normAutofit/>
          </a:bodyPr>
          <a:lstStyle/>
          <a:p>
            <a:pPr algn="ctr">
              <a:defRPr sz="1800">
                <a:solidFill>
                  <a:srgbClr val="000000"/>
                </a:solidFill>
              </a:defRPr>
            </a:pPr>
            <a:r>
              <a:rPr lang="en-US" sz="4400" b="1" dirty="0">
                <a:solidFill>
                  <a:schemeClr val="accent3">
                    <a:lumMod val="75000"/>
                  </a:schemeClr>
                </a:solidFill>
              </a:rPr>
              <a:t>SAR Instruction</a:t>
            </a:r>
            <a:endParaRPr sz="4640" b="1" dirty="0">
              <a:solidFill>
                <a:schemeClr val="accent5"/>
              </a:solidFill>
            </a:endParaRPr>
          </a:p>
        </p:txBody>
      </p:sp>
    </p:spTree>
    <p:extLst>
      <p:ext uri="{BB962C8B-B14F-4D97-AF65-F5344CB8AC3E}">
        <p14:creationId xmlns:p14="http://schemas.microsoft.com/office/powerpoint/2010/main" val="3099713509"/>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8BF90-B205-DCEB-2374-EA4D73C12177}"/>
            </a:ext>
          </a:extLst>
        </p:cNvPr>
        <p:cNvGrpSpPr/>
        <p:nvPr/>
      </p:nvGrpSpPr>
      <p:grpSpPr>
        <a:xfrm>
          <a:off x="0" y="0"/>
          <a:ext cx="0" cy="0"/>
          <a:chOff x="0" y="0"/>
          <a:chExt cx="0" cy="0"/>
        </a:xfrm>
      </p:grpSpPr>
      <p:sp>
        <p:nvSpPr>
          <p:cNvPr id="148" name="Shape 148">
            <a:extLst>
              <a:ext uri="{FF2B5EF4-FFF2-40B4-BE49-F238E27FC236}">
                <a16:creationId xmlns:a16="http://schemas.microsoft.com/office/drawing/2014/main" id="{0A29BD5D-A79C-E33A-3A48-4B3076751FFC}"/>
              </a:ext>
            </a:extLst>
          </p:cNvPr>
          <p:cNvSpPr>
            <a:spLocks noGrp="1"/>
          </p:cNvSpPr>
          <p:nvPr>
            <p:ph type="body" idx="1"/>
          </p:nvPr>
        </p:nvSpPr>
        <p:spPr>
          <a:xfrm>
            <a:off x="812601" y="1826275"/>
            <a:ext cx="7804548" cy="4476553"/>
          </a:xfrm>
          <a:prstGeom prst="rect">
            <a:avLst/>
          </a:prstGeom>
        </p:spPr>
        <p:txBody>
          <a:bodyPr>
            <a:normAutofit/>
          </a:bodyPr>
          <a:lstStyle/>
          <a:p>
            <a:pPr marL="321457" indent="-321457" algn="l" defTabSz="349138">
              <a:spcBef>
                <a:spcPts val="2461"/>
              </a:spcBef>
              <a:buFont typeface="Wingdings" panose="05000000000000000000" pitchFamily="2" charset="2"/>
              <a:buChar char="Ø"/>
              <a:defRPr sz="1800">
                <a:solidFill>
                  <a:srgbClr val="000000"/>
                </a:solidFill>
              </a:defRPr>
            </a:pPr>
            <a:r>
              <a:rPr lang="en-US" sz="2257" dirty="0" err="1">
                <a:solidFill>
                  <a:schemeClr val="tx1"/>
                </a:solidFill>
              </a:rPr>
              <a:t>Example:Initial</a:t>
            </a:r>
            <a:r>
              <a:rPr lang="en-US" sz="2257" dirty="0">
                <a:solidFill>
                  <a:schemeClr val="tx1"/>
                </a:solidFill>
              </a:rPr>
              <a:t> </a:t>
            </a:r>
            <a:r>
              <a:rPr lang="en-US" sz="2257" dirty="0" err="1">
                <a:solidFill>
                  <a:schemeClr val="tx1"/>
                </a:solidFill>
              </a:rPr>
              <a:t>Value:Register</a:t>
            </a:r>
            <a:r>
              <a:rPr lang="en-US" sz="2257" dirty="0">
                <a:solidFill>
                  <a:schemeClr val="tx1"/>
                </a:solidFill>
              </a:rPr>
              <a:t> DH = 8Ah (1000 1010 in binary) CL = 2 (number of shifts). Using SAR DH, CL</a:t>
            </a:r>
          </a:p>
          <a:p>
            <a:pPr marL="321457" indent="-321457" algn="l" defTabSz="349138">
              <a:spcBef>
                <a:spcPts val="2461"/>
              </a:spcBef>
              <a:buFont typeface="Wingdings" panose="05000000000000000000" pitchFamily="2" charset="2"/>
              <a:buChar char="Ø"/>
              <a:defRPr sz="1800">
                <a:solidFill>
                  <a:srgbClr val="000000"/>
                </a:solidFill>
              </a:defRPr>
            </a:pPr>
            <a:r>
              <a:rPr lang="en-US" sz="2257" dirty="0">
                <a:solidFill>
                  <a:schemeClr val="tx1"/>
                </a:solidFill>
              </a:rPr>
              <a:t>:MSB (1) is retained as it is a signed number.</a:t>
            </a:r>
          </a:p>
          <a:p>
            <a:pPr marL="321457" indent="-321457" algn="l" defTabSz="349138">
              <a:spcBef>
                <a:spcPts val="2461"/>
              </a:spcBef>
              <a:buFont typeface="Wingdings" panose="05000000000000000000" pitchFamily="2" charset="2"/>
              <a:buChar char="Ø"/>
              <a:defRPr sz="1800">
                <a:solidFill>
                  <a:srgbClr val="000000"/>
                </a:solidFill>
              </a:defRPr>
            </a:pPr>
            <a:r>
              <a:rPr lang="en-US" sz="2257" dirty="0">
                <a:solidFill>
                  <a:schemeClr val="tx1"/>
                </a:solidFill>
              </a:rPr>
              <a:t>First Shift: 1100 0101 (CF = 0).Second Shift: 1110 0010 (CF = 1).Final </a:t>
            </a:r>
            <a:r>
              <a:rPr lang="en-US" sz="2257" dirty="0" err="1">
                <a:solidFill>
                  <a:schemeClr val="tx1"/>
                </a:solidFill>
              </a:rPr>
              <a:t>Result:DH</a:t>
            </a:r>
            <a:r>
              <a:rPr lang="en-US" sz="2257" dirty="0">
                <a:solidFill>
                  <a:schemeClr val="tx1"/>
                </a:solidFill>
              </a:rPr>
              <a:t> = E2h,  CF = 1.</a:t>
            </a:r>
          </a:p>
          <a:p>
            <a:pPr marL="321457" indent="-321457" algn="l" defTabSz="349138">
              <a:spcBef>
                <a:spcPts val="2461"/>
              </a:spcBef>
              <a:buFont typeface="Wingdings" panose="05000000000000000000" pitchFamily="2" charset="2"/>
              <a:buChar char="Ø"/>
              <a:defRPr sz="1800">
                <a:solidFill>
                  <a:srgbClr val="000000"/>
                </a:solidFill>
              </a:defRPr>
            </a:pPr>
            <a:endParaRPr sz="2257" dirty="0">
              <a:solidFill>
                <a:schemeClr val="tx1"/>
              </a:solidFill>
            </a:endParaRPr>
          </a:p>
        </p:txBody>
      </p:sp>
      <p:pic>
        <p:nvPicPr>
          <p:cNvPr id="6" name="Picture 5">
            <a:extLst>
              <a:ext uri="{FF2B5EF4-FFF2-40B4-BE49-F238E27FC236}">
                <a16:creationId xmlns:a16="http://schemas.microsoft.com/office/drawing/2014/main" id="{846A9D3C-4672-C6BF-6316-0BEE574F15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887"/>
            <a:ext cx="9144000" cy="1788416"/>
          </a:xfrm>
          <a:prstGeom prst="rect">
            <a:avLst/>
          </a:prstGeom>
        </p:spPr>
      </p:pic>
      <p:sp>
        <p:nvSpPr>
          <p:cNvPr id="7" name="Shape 38">
            <a:extLst>
              <a:ext uri="{FF2B5EF4-FFF2-40B4-BE49-F238E27FC236}">
                <a16:creationId xmlns:a16="http://schemas.microsoft.com/office/drawing/2014/main" id="{138F28FE-5BB2-65E3-E80B-AF9F6C18765E}"/>
              </a:ext>
            </a:extLst>
          </p:cNvPr>
          <p:cNvSpPr>
            <a:spLocks noGrp="1"/>
          </p:cNvSpPr>
          <p:nvPr>
            <p:ph type="title"/>
          </p:nvPr>
        </p:nvSpPr>
        <p:spPr>
          <a:xfrm>
            <a:off x="203260" y="437491"/>
            <a:ext cx="7358063" cy="880104"/>
          </a:xfrm>
          <a:prstGeom prst="rect">
            <a:avLst/>
          </a:prstGeom>
        </p:spPr>
        <p:txBody>
          <a:bodyPr>
            <a:normAutofit/>
          </a:bodyPr>
          <a:lstStyle/>
          <a:p>
            <a:pPr algn="ctr">
              <a:defRPr sz="1800">
                <a:solidFill>
                  <a:srgbClr val="000000"/>
                </a:solidFill>
              </a:defRPr>
            </a:pPr>
            <a:r>
              <a:rPr lang="en-US" sz="4400" b="1" dirty="0">
                <a:solidFill>
                  <a:schemeClr val="accent3">
                    <a:lumMod val="75000"/>
                  </a:schemeClr>
                </a:solidFill>
              </a:rPr>
              <a:t>SAR Instruction</a:t>
            </a:r>
            <a:endParaRPr sz="4640" b="1" dirty="0">
              <a:solidFill>
                <a:schemeClr val="accent5"/>
              </a:solidFill>
            </a:endParaRPr>
          </a:p>
        </p:txBody>
      </p:sp>
      <p:graphicFrame>
        <p:nvGraphicFramePr>
          <p:cNvPr id="2" name="Table 1">
            <a:extLst>
              <a:ext uri="{FF2B5EF4-FFF2-40B4-BE49-F238E27FC236}">
                <a16:creationId xmlns:a16="http://schemas.microsoft.com/office/drawing/2014/main" id="{D54BD688-7D48-A400-F1D1-EAEA5DE02858}"/>
              </a:ext>
            </a:extLst>
          </p:cNvPr>
          <p:cNvGraphicFramePr>
            <a:graphicFrameLocks noGrp="1"/>
          </p:cNvGraphicFramePr>
          <p:nvPr>
            <p:extLst>
              <p:ext uri="{D42A27DB-BD31-4B8C-83A1-F6EECF244321}">
                <p14:modId xmlns:p14="http://schemas.microsoft.com/office/powerpoint/2010/main" val="2766777863"/>
              </p:ext>
            </p:extLst>
          </p:nvPr>
        </p:nvGraphicFramePr>
        <p:xfrm>
          <a:off x="957262" y="4885175"/>
          <a:ext cx="7077075" cy="1737360"/>
        </p:xfrm>
        <a:graphic>
          <a:graphicData uri="http://schemas.openxmlformats.org/drawingml/2006/table">
            <a:tbl>
              <a:tblPr/>
              <a:tblGrid>
                <a:gridCol w="2359025">
                  <a:extLst>
                    <a:ext uri="{9D8B030D-6E8A-4147-A177-3AD203B41FA5}">
                      <a16:colId xmlns:a16="http://schemas.microsoft.com/office/drawing/2014/main" val="1553619925"/>
                    </a:ext>
                  </a:extLst>
                </a:gridCol>
                <a:gridCol w="2359025">
                  <a:extLst>
                    <a:ext uri="{9D8B030D-6E8A-4147-A177-3AD203B41FA5}">
                      <a16:colId xmlns:a16="http://schemas.microsoft.com/office/drawing/2014/main" val="1320834717"/>
                    </a:ext>
                  </a:extLst>
                </a:gridCol>
                <a:gridCol w="2359025">
                  <a:extLst>
                    <a:ext uri="{9D8B030D-6E8A-4147-A177-3AD203B41FA5}">
                      <a16:colId xmlns:a16="http://schemas.microsoft.com/office/drawing/2014/main" val="4141280232"/>
                    </a:ext>
                  </a:extLst>
                </a:gridCol>
              </a:tblGrid>
              <a:tr h="0">
                <a:tc>
                  <a:txBody>
                    <a:bodyPr/>
                    <a:lstStyle/>
                    <a:p>
                      <a:r>
                        <a:rPr lang="en-US"/>
                        <a:t>Aspect</a:t>
                      </a:r>
                    </a:p>
                  </a:txBody>
                  <a:tcPr anchor="ctr">
                    <a:lnL>
                      <a:noFill/>
                    </a:lnL>
                    <a:lnR>
                      <a:noFill/>
                    </a:lnR>
                    <a:lnT>
                      <a:noFill/>
                    </a:lnT>
                    <a:lnB>
                      <a:noFill/>
                    </a:lnB>
                    <a:noFill/>
                  </a:tcPr>
                </a:tc>
                <a:tc>
                  <a:txBody>
                    <a:bodyPr/>
                    <a:lstStyle/>
                    <a:p>
                      <a:r>
                        <a:rPr lang="en-US" b="1"/>
                        <a:t>SHR (Logical Right)</a:t>
                      </a:r>
                      <a:endParaRPr lang="en-US"/>
                    </a:p>
                  </a:txBody>
                  <a:tcPr anchor="ctr">
                    <a:lnL>
                      <a:noFill/>
                    </a:lnL>
                    <a:lnR>
                      <a:noFill/>
                    </a:lnR>
                    <a:lnT>
                      <a:noFill/>
                    </a:lnT>
                    <a:lnB>
                      <a:noFill/>
                    </a:lnB>
                    <a:noFill/>
                  </a:tcPr>
                </a:tc>
                <a:tc>
                  <a:txBody>
                    <a:bodyPr/>
                    <a:lstStyle/>
                    <a:p>
                      <a:r>
                        <a:rPr lang="en-US" b="1"/>
                        <a:t>SAR (Arithmetic Right)</a:t>
                      </a:r>
                      <a:endParaRPr lang="en-US"/>
                    </a:p>
                  </a:txBody>
                  <a:tcPr anchor="ctr">
                    <a:lnL>
                      <a:noFill/>
                    </a:lnL>
                    <a:lnR>
                      <a:noFill/>
                    </a:lnR>
                    <a:lnT>
                      <a:noFill/>
                    </a:lnT>
                    <a:lnB>
                      <a:noFill/>
                    </a:lnB>
                    <a:noFill/>
                  </a:tcPr>
                </a:tc>
                <a:extLst>
                  <a:ext uri="{0D108BD9-81ED-4DB2-BD59-A6C34878D82A}">
                    <a16:rowId xmlns:a16="http://schemas.microsoft.com/office/drawing/2014/main" val="3984811199"/>
                  </a:ext>
                </a:extLst>
              </a:tr>
              <a:tr h="0">
                <a:tc>
                  <a:txBody>
                    <a:bodyPr/>
                    <a:lstStyle/>
                    <a:p>
                      <a:r>
                        <a:rPr lang="en-US" b="1"/>
                        <a:t>MSB Handling</a:t>
                      </a:r>
                      <a:endParaRPr lang="en-US"/>
                    </a:p>
                  </a:txBody>
                  <a:tcPr anchor="ctr">
                    <a:lnL>
                      <a:noFill/>
                    </a:lnL>
                    <a:lnR>
                      <a:noFill/>
                    </a:lnR>
                    <a:lnT>
                      <a:noFill/>
                    </a:lnT>
                    <a:lnB>
                      <a:noFill/>
                    </a:lnB>
                    <a:noFill/>
                  </a:tcPr>
                </a:tc>
                <a:tc>
                  <a:txBody>
                    <a:bodyPr/>
                    <a:lstStyle/>
                    <a:p>
                      <a:r>
                        <a:rPr lang="en-US" dirty="0"/>
                        <a:t>Filled with 0</a:t>
                      </a:r>
                    </a:p>
                  </a:txBody>
                  <a:tcPr anchor="ctr">
                    <a:lnL>
                      <a:noFill/>
                    </a:lnL>
                    <a:lnR>
                      <a:noFill/>
                    </a:lnR>
                    <a:lnT>
                      <a:noFill/>
                    </a:lnT>
                    <a:lnB>
                      <a:noFill/>
                    </a:lnB>
                    <a:noFill/>
                  </a:tcPr>
                </a:tc>
                <a:tc>
                  <a:txBody>
                    <a:bodyPr/>
                    <a:lstStyle/>
                    <a:p>
                      <a:r>
                        <a:rPr lang="en-US"/>
                        <a:t>Retains its original value</a:t>
                      </a:r>
                    </a:p>
                  </a:txBody>
                  <a:tcPr anchor="ctr">
                    <a:lnL>
                      <a:noFill/>
                    </a:lnL>
                    <a:lnR>
                      <a:noFill/>
                    </a:lnR>
                    <a:lnT>
                      <a:noFill/>
                    </a:lnT>
                    <a:lnB>
                      <a:noFill/>
                    </a:lnB>
                    <a:noFill/>
                  </a:tcPr>
                </a:tc>
                <a:extLst>
                  <a:ext uri="{0D108BD9-81ED-4DB2-BD59-A6C34878D82A}">
                    <a16:rowId xmlns:a16="http://schemas.microsoft.com/office/drawing/2014/main" val="3998043473"/>
                  </a:ext>
                </a:extLst>
              </a:tr>
              <a:tr h="0">
                <a:tc>
                  <a:txBody>
                    <a:bodyPr/>
                    <a:lstStyle/>
                    <a:p>
                      <a:r>
                        <a:rPr lang="en-US" b="1"/>
                        <a:t>Application</a:t>
                      </a:r>
                      <a:endParaRPr lang="en-US"/>
                    </a:p>
                  </a:txBody>
                  <a:tcPr anchor="ctr">
                    <a:lnL>
                      <a:noFill/>
                    </a:lnL>
                    <a:lnR>
                      <a:noFill/>
                    </a:lnR>
                    <a:lnT>
                      <a:noFill/>
                    </a:lnT>
                    <a:lnB>
                      <a:noFill/>
                    </a:lnB>
                    <a:noFill/>
                  </a:tcPr>
                </a:tc>
                <a:tc>
                  <a:txBody>
                    <a:bodyPr/>
                    <a:lstStyle/>
                    <a:p>
                      <a:r>
                        <a:rPr lang="en-US"/>
                        <a:t>Unsigned numbers</a:t>
                      </a:r>
                    </a:p>
                  </a:txBody>
                  <a:tcPr anchor="ctr">
                    <a:lnL>
                      <a:noFill/>
                    </a:lnL>
                    <a:lnR>
                      <a:noFill/>
                    </a:lnR>
                    <a:lnT>
                      <a:noFill/>
                    </a:lnT>
                    <a:lnB>
                      <a:noFill/>
                    </a:lnB>
                    <a:noFill/>
                  </a:tcPr>
                </a:tc>
                <a:tc>
                  <a:txBody>
                    <a:bodyPr/>
                    <a:lstStyle/>
                    <a:p>
                      <a:r>
                        <a:rPr lang="en-US"/>
                        <a:t>Signed numbers</a:t>
                      </a:r>
                    </a:p>
                  </a:txBody>
                  <a:tcPr anchor="ctr">
                    <a:lnL>
                      <a:noFill/>
                    </a:lnL>
                    <a:lnR>
                      <a:noFill/>
                    </a:lnR>
                    <a:lnT>
                      <a:noFill/>
                    </a:lnT>
                    <a:lnB>
                      <a:noFill/>
                    </a:lnB>
                    <a:noFill/>
                  </a:tcPr>
                </a:tc>
                <a:extLst>
                  <a:ext uri="{0D108BD9-81ED-4DB2-BD59-A6C34878D82A}">
                    <a16:rowId xmlns:a16="http://schemas.microsoft.com/office/drawing/2014/main" val="310537353"/>
                  </a:ext>
                </a:extLst>
              </a:tr>
              <a:tr h="0">
                <a:tc>
                  <a:txBody>
                    <a:bodyPr/>
                    <a:lstStyle/>
                    <a:p>
                      <a:r>
                        <a:rPr lang="en-US" b="1"/>
                        <a:t>Effect on Sign Bit</a:t>
                      </a:r>
                      <a:endParaRPr lang="en-US"/>
                    </a:p>
                  </a:txBody>
                  <a:tcPr anchor="ctr">
                    <a:lnL>
                      <a:noFill/>
                    </a:lnL>
                    <a:lnR>
                      <a:noFill/>
                    </a:lnR>
                    <a:lnT>
                      <a:noFill/>
                    </a:lnT>
                    <a:lnB>
                      <a:noFill/>
                    </a:lnB>
                    <a:noFill/>
                  </a:tcPr>
                </a:tc>
                <a:tc>
                  <a:txBody>
                    <a:bodyPr/>
                    <a:lstStyle/>
                    <a:p>
                      <a:r>
                        <a:rPr lang="en-US"/>
                        <a:t>Changes (becomes 0)</a:t>
                      </a:r>
                    </a:p>
                  </a:txBody>
                  <a:tcPr anchor="ctr">
                    <a:lnL>
                      <a:noFill/>
                    </a:lnL>
                    <a:lnR>
                      <a:noFill/>
                    </a:lnR>
                    <a:lnT>
                      <a:noFill/>
                    </a:lnT>
                    <a:lnB>
                      <a:noFill/>
                    </a:lnB>
                    <a:noFill/>
                  </a:tcPr>
                </a:tc>
                <a:tc>
                  <a:txBody>
                    <a:bodyPr/>
                    <a:lstStyle/>
                    <a:p>
                      <a:r>
                        <a:rPr lang="en-US" dirty="0"/>
                        <a:t>Remains unchanged</a:t>
                      </a:r>
                    </a:p>
                  </a:txBody>
                  <a:tcPr anchor="ctr">
                    <a:lnL>
                      <a:noFill/>
                    </a:lnL>
                    <a:lnR>
                      <a:noFill/>
                    </a:lnR>
                    <a:lnT>
                      <a:noFill/>
                    </a:lnT>
                    <a:lnB>
                      <a:noFill/>
                    </a:lnB>
                    <a:noFill/>
                  </a:tcPr>
                </a:tc>
                <a:extLst>
                  <a:ext uri="{0D108BD9-81ED-4DB2-BD59-A6C34878D82A}">
                    <a16:rowId xmlns:a16="http://schemas.microsoft.com/office/drawing/2014/main" val="2849557085"/>
                  </a:ext>
                </a:extLst>
              </a:tr>
            </a:tbl>
          </a:graphicData>
        </a:graphic>
      </p:graphicFrame>
    </p:spTree>
    <p:extLst>
      <p:ext uri="{BB962C8B-B14F-4D97-AF65-F5344CB8AC3E}">
        <p14:creationId xmlns:p14="http://schemas.microsoft.com/office/powerpoint/2010/main" val="3253788251"/>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78F4-9479-5136-9582-227DA93204B3}"/>
            </a:ext>
          </a:extLst>
        </p:cNvPr>
        <p:cNvGrpSpPr/>
        <p:nvPr/>
      </p:nvGrpSpPr>
      <p:grpSpPr>
        <a:xfrm>
          <a:off x="0" y="0"/>
          <a:ext cx="0" cy="0"/>
          <a:chOff x="0" y="0"/>
          <a:chExt cx="0" cy="0"/>
        </a:xfrm>
      </p:grpSpPr>
      <p:sp>
        <p:nvSpPr>
          <p:cNvPr id="148" name="Shape 148">
            <a:extLst>
              <a:ext uri="{FF2B5EF4-FFF2-40B4-BE49-F238E27FC236}">
                <a16:creationId xmlns:a16="http://schemas.microsoft.com/office/drawing/2014/main" id="{B6CC4079-ACF0-8DB3-6B3A-27F561A1ECFA}"/>
              </a:ext>
            </a:extLst>
          </p:cNvPr>
          <p:cNvSpPr>
            <a:spLocks noGrp="1"/>
          </p:cNvSpPr>
          <p:nvPr>
            <p:ph type="body" idx="1"/>
          </p:nvPr>
        </p:nvSpPr>
        <p:spPr>
          <a:xfrm>
            <a:off x="812601" y="1826275"/>
            <a:ext cx="7804548" cy="4476553"/>
          </a:xfrm>
          <a:prstGeom prst="rect">
            <a:avLst/>
          </a:prstGeom>
        </p:spPr>
        <p:txBody>
          <a:bodyPr>
            <a:normAutofit/>
          </a:bodyPr>
          <a:lstStyle/>
          <a:p>
            <a:pPr marL="321457" indent="-321457" algn="l" defTabSz="349138">
              <a:spcBef>
                <a:spcPts val="2461"/>
              </a:spcBef>
              <a:buFont typeface="Wingdings" panose="05000000000000000000" pitchFamily="2" charset="2"/>
              <a:buChar char="Ø"/>
              <a:defRPr sz="1800">
                <a:solidFill>
                  <a:srgbClr val="000000"/>
                </a:solidFill>
              </a:defRPr>
            </a:pPr>
            <a:endParaRPr sz="2257" dirty="0">
              <a:solidFill>
                <a:schemeClr val="tx1"/>
              </a:solidFill>
            </a:endParaRPr>
          </a:p>
        </p:txBody>
      </p:sp>
      <p:pic>
        <p:nvPicPr>
          <p:cNvPr id="6" name="Picture 5">
            <a:extLst>
              <a:ext uri="{FF2B5EF4-FFF2-40B4-BE49-F238E27FC236}">
                <a16:creationId xmlns:a16="http://schemas.microsoft.com/office/drawing/2014/main" id="{3C5BC0FD-91C0-E60F-FFBC-0C25C0B46C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887"/>
            <a:ext cx="9144000" cy="1788416"/>
          </a:xfrm>
          <a:prstGeom prst="rect">
            <a:avLst/>
          </a:prstGeom>
        </p:spPr>
      </p:pic>
      <p:sp>
        <p:nvSpPr>
          <p:cNvPr id="7" name="Shape 38">
            <a:extLst>
              <a:ext uri="{FF2B5EF4-FFF2-40B4-BE49-F238E27FC236}">
                <a16:creationId xmlns:a16="http://schemas.microsoft.com/office/drawing/2014/main" id="{498364A2-1170-E4AD-2AF6-889F4E18E46E}"/>
              </a:ext>
            </a:extLst>
          </p:cNvPr>
          <p:cNvSpPr>
            <a:spLocks noGrp="1"/>
          </p:cNvSpPr>
          <p:nvPr>
            <p:ph type="title"/>
          </p:nvPr>
        </p:nvSpPr>
        <p:spPr>
          <a:xfrm>
            <a:off x="203260" y="437491"/>
            <a:ext cx="7358063" cy="880104"/>
          </a:xfrm>
          <a:prstGeom prst="rect">
            <a:avLst/>
          </a:prstGeom>
        </p:spPr>
        <p:txBody>
          <a:bodyPr>
            <a:normAutofit/>
          </a:bodyPr>
          <a:lstStyle/>
          <a:p>
            <a:pPr algn="ctr">
              <a:defRPr sz="1800">
                <a:solidFill>
                  <a:srgbClr val="000000"/>
                </a:solidFill>
              </a:defRPr>
            </a:pPr>
            <a:r>
              <a:rPr lang="en-US" sz="4400" b="1" dirty="0">
                <a:solidFill>
                  <a:schemeClr val="accent3">
                    <a:lumMod val="75000"/>
                  </a:schemeClr>
                </a:solidFill>
              </a:rPr>
              <a:t>SAR Instruction</a:t>
            </a:r>
            <a:endParaRPr sz="4640" b="1" dirty="0">
              <a:solidFill>
                <a:schemeClr val="accent5"/>
              </a:solidFill>
            </a:endParaRPr>
          </a:p>
        </p:txBody>
      </p:sp>
      <p:graphicFrame>
        <p:nvGraphicFramePr>
          <p:cNvPr id="3" name="Table 2">
            <a:extLst>
              <a:ext uri="{FF2B5EF4-FFF2-40B4-BE49-F238E27FC236}">
                <a16:creationId xmlns:a16="http://schemas.microsoft.com/office/drawing/2014/main" id="{E6655F28-11DF-8DC0-46E4-16F042756885}"/>
              </a:ext>
            </a:extLst>
          </p:cNvPr>
          <p:cNvGraphicFramePr>
            <a:graphicFrameLocks noGrp="1"/>
          </p:cNvGraphicFramePr>
          <p:nvPr>
            <p:extLst>
              <p:ext uri="{D42A27DB-BD31-4B8C-83A1-F6EECF244321}">
                <p14:modId xmlns:p14="http://schemas.microsoft.com/office/powerpoint/2010/main" val="1551388895"/>
              </p:ext>
            </p:extLst>
          </p:nvPr>
        </p:nvGraphicFramePr>
        <p:xfrm>
          <a:off x="1186543" y="1826275"/>
          <a:ext cx="7286310" cy="4299888"/>
        </p:xfrm>
        <a:graphic>
          <a:graphicData uri="http://schemas.openxmlformats.org/drawingml/2006/table">
            <a:tbl>
              <a:tblPr/>
              <a:tblGrid>
                <a:gridCol w="2428770">
                  <a:extLst>
                    <a:ext uri="{9D8B030D-6E8A-4147-A177-3AD203B41FA5}">
                      <a16:colId xmlns:a16="http://schemas.microsoft.com/office/drawing/2014/main" val="620072684"/>
                    </a:ext>
                  </a:extLst>
                </a:gridCol>
                <a:gridCol w="2428770">
                  <a:extLst>
                    <a:ext uri="{9D8B030D-6E8A-4147-A177-3AD203B41FA5}">
                      <a16:colId xmlns:a16="http://schemas.microsoft.com/office/drawing/2014/main" val="1045029877"/>
                    </a:ext>
                  </a:extLst>
                </a:gridCol>
                <a:gridCol w="2428770">
                  <a:extLst>
                    <a:ext uri="{9D8B030D-6E8A-4147-A177-3AD203B41FA5}">
                      <a16:colId xmlns:a16="http://schemas.microsoft.com/office/drawing/2014/main" val="905461811"/>
                    </a:ext>
                  </a:extLst>
                </a:gridCol>
              </a:tblGrid>
              <a:tr h="351011">
                <a:tc>
                  <a:txBody>
                    <a:bodyPr/>
                    <a:lstStyle/>
                    <a:p>
                      <a:r>
                        <a:rPr lang="en-US" sz="1600"/>
                        <a:t>Aspect</a:t>
                      </a:r>
                    </a:p>
                  </a:txBody>
                  <a:tcPr marL="81481" marR="81481" marT="40740" marB="40740" anchor="ctr">
                    <a:lnL>
                      <a:noFill/>
                    </a:lnL>
                    <a:lnR>
                      <a:noFill/>
                    </a:lnR>
                    <a:lnT>
                      <a:noFill/>
                    </a:lnT>
                    <a:lnB>
                      <a:noFill/>
                    </a:lnB>
                    <a:noFill/>
                  </a:tcPr>
                </a:tc>
                <a:tc>
                  <a:txBody>
                    <a:bodyPr/>
                    <a:lstStyle/>
                    <a:p>
                      <a:r>
                        <a:rPr lang="en-US" sz="1600" b="1"/>
                        <a:t>Signed Numbers</a:t>
                      </a:r>
                      <a:endParaRPr lang="en-US" sz="1600"/>
                    </a:p>
                  </a:txBody>
                  <a:tcPr marL="81481" marR="81481" marT="40740" marB="40740" anchor="ctr">
                    <a:lnL>
                      <a:noFill/>
                    </a:lnL>
                    <a:lnR>
                      <a:noFill/>
                    </a:lnR>
                    <a:lnT>
                      <a:noFill/>
                    </a:lnT>
                    <a:lnB>
                      <a:noFill/>
                    </a:lnB>
                    <a:noFill/>
                  </a:tcPr>
                </a:tc>
                <a:tc>
                  <a:txBody>
                    <a:bodyPr/>
                    <a:lstStyle/>
                    <a:p>
                      <a:r>
                        <a:rPr lang="en-US" sz="1600" b="1"/>
                        <a:t>Unsigned Numbers</a:t>
                      </a:r>
                      <a:endParaRPr lang="en-US" sz="1600"/>
                    </a:p>
                  </a:txBody>
                  <a:tcPr marL="81481" marR="81481" marT="40740" marB="40740" anchor="ctr">
                    <a:lnL>
                      <a:noFill/>
                    </a:lnL>
                    <a:lnR>
                      <a:noFill/>
                    </a:lnR>
                    <a:lnT>
                      <a:noFill/>
                    </a:lnT>
                    <a:lnB>
                      <a:noFill/>
                    </a:lnB>
                    <a:noFill/>
                  </a:tcPr>
                </a:tc>
                <a:extLst>
                  <a:ext uri="{0D108BD9-81ED-4DB2-BD59-A6C34878D82A}">
                    <a16:rowId xmlns:a16="http://schemas.microsoft.com/office/drawing/2014/main" val="2512898942"/>
                  </a:ext>
                </a:extLst>
              </a:tr>
              <a:tr h="877528">
                <a:tc>
                  <a:txBody>
                    <a:bodyPr/>
                    <a:lstStyle/>
                    <a:p>
                      <a:r>
                        <a:rPr lang="en-US" sz="1600" b="1" dirty="0"/>
                        <a:t>Definition</a:t>
                      </a:r>
                      <a:endParaRPr lang="en-US" sz="1600" dirty="0"/>
                    </a:p>
                  </a:txBody>
                  <a:tcPr marL="81481" marR="81481" marT="40740" marB="40740" anchor="ctr">
                    <a:lnL>
                      <a:noFill/>
                    </a:lnL>
                    <a:lnR>
                      <a:noFill/>
                    </a:lnR>
                    <a:lnT>
                      <a:noFill/>
                    </a:lnT>
                    <a:lnB>
                      <a:noFill/>
                    </a:lnB>
                    <a:noFill/>
                  </a:tcPr>
                </a:tc>
                <a:tc>
                  <a:txBody>
                    <a:bodyPr/>
                    <a:lstStyle/>
                    <a:p>
                      <a:r>
                        <a:rPr lang="en-US" sz="1600"/>
                        <a:t>Can represent both positive and negative values.</a:t>
                      </a:r>
                    </a:p>
                  </a:txBody>
                  <a:tcPr marL="81481" marR="81481" marT="40740" marB="40740" anchor="ctr">
                    <a:lnL>
                      <a:noFill/>
                    </a:lnL>
                    <a:lnR>
                      <a:noFill/>
                    </a:lnR>
                    <a:lnT>
                      <a:noFill/>
                    </a:lnT>
                    <a:lnB>
                      <a:noFill/>
                    </a:lnB>
                    <a:noFill/>
                  </a:tcPr>
                </a:tc>
                <a:tc>
                  <a:txBody>
                    <a:bodyPr/>
                    <a:lstStyle/>
                    <a:p>
                      <a:r>
                        <a:rPr lang="en-US" sz="1600"/>
                        <a:t>Can represent only positive values (including zero).</a:t>
                      </a:r>
                    </a:p>
                  </a:txBody>
                  <a:tcPr marL="81481" marR="81481" marT="40740" marB="40740" anchor="ctr">
                    <a:lnL>
                      <a:noFill/>
                    </a:lnL>
                    <a:lnR>
                      <a:noFill/>
                    </a:lnR>
                    <a:lnT>
                      <a:noFill/>
                    </a:lnT>
                    <a:lnB>
                      <a:noFill/>
                    </a:lnB>
                    <a:noFill/>
                  </a:tcPr>
                </a:tc>
                <a:extLst>
                  <a:ext uri="{0D108BD9-81ED-4DB2-BD59-A6C34878D82A}">
                    <a16:rowId xmlns:a16="http://schemas.microsoft.com/office/drawing/2014/main" val="1315709516"/>
                  </a:ext>
                </a:extLst>
              </a:tr>
              <a:tr h="351011">
                <a:tc>
                  <a:txBody>
                    <a:bodyPr/>
                    <a:lstStyle/>
                    <a:p>
                      <a:r>
                        <a:rPr lang="en-US" sz="1600" b="1"/>
                        <a:t>Range (8-bit)</a:t>
                      </a:r>
                      <a:endParaRPr lang="en-US" sz="1600"/>
                    </a:p>
                  </a:txBody>
                  <a:tcPr marL="81481" marR="81481" marT="40740" marB="40740" anchor="ctr">
                    <a:lnL>
                      <a:noFill/>
                    </a:lnL>
                    <a:lnR>
                      <a:noFill/>
                    </a:lnR>
                    <a:lnT>
                      <a:noFill/>
                    </a:lnT>
                    <a:lnB>
                      <a:noFill/>
                    </a:lnB>
                    <a:noFill/>
                  </a:tcPr>
                </a:tc>
                <a:tc>
                  <a:txBody>
                    <a:bodyPr/>
                    <a:lstStyle/>
                    <a:p>
                      <a:r>
                        <a:rPr lang="en-US" sz="1600"/>
                        <a:t>-128 to +127</a:t>
                      </a:r>
                    </a:p>
                  </a:txBody>
                  <a:tcPr marL="81481" marR="81481" marT="40740" marB="40740" anchor="ctr">
                    <a:lnL>
                      <a:noFill/>
                    </a:lnL>
                    <a:lnR>
                      <a:noFill/>
                    </a:lnR>
                    <a:lnT>
                      <a:noFill/>
                    </a:lnT>
                    <a:lnB>
                      <a:noFill/>
                    </a:lnB>
                    <a:noFill/>
                  </a:tcPr>
                </a:tc>
                <a:tc>
                  <a:txBody>
                    <a:bodyPr/>
                    <a:lstStyle/>
                    <a:p>
                      <a:r>
                        <a:rPr lang="en-US" sz="1600"/>
                        <a:t>0 to 255</a:t>
                      </a:r>
                    </a:p>
                  </a:txBody>
                  <a:tcPr marL="81481" marR="81481" marT="40740" marB="40740" anchor="ctr">
                    <a:lnL>
                      <a:noFill/>
                    </a:lnL>
                    <a:lnR>
                      <a:noFill/>
                    </a:lnR>
                    <a:lnT>
                      <a:noFill/>
                    </a:lnT>
                    <a:lnB>
                      <a:noFill/>
                    </a:lnB>
                    <a:noFill/>
                  </a:tcPr>
                </a:tc>
                <a:extLst>
                  <a:ext uri="{0D108BD9-81ED-4DB2-BD59-A6C34878D82A}">
                    <a16:rowId xmlns:a16="http://schemas.microsoft.com/office/drawing/2014/main" val="4166486999"/>
                  </a:ext>
                </a:extLst>
              </a:tr>
              <a:tr h="614270">
                <a:tc>
                  <a:txBody>
                    <a:bodyPr/>
                    <a:lstStyle/>
                    <a:p>
                      <a:r>
                        <a:rPr lang="en-US" sz="1600" b="1"/>
                        <a:t>MSB (Most Significant Bit)</a:t>
                      </a:r>
                      <a:endParaRPr lang="en-US" sz="1600"/>
                    </a:p>
                  </a:txBody>
                  <a:tcPr marL="81481" marR="81481" marT="40740" marB="40740" anchor="ctr">
                    <a:lnL>
                      <a:noFill/>
                    </a:lnL>
                    <a:lnR>
                      <a:noFill/>
                    </a:lnR>
                    <a:lnT>
                      <a:noFill/>
                    </a:lnT>
                    <a:lnB>
                      <a:noFill/>
                    </a:lnB>
                    <a:noFill/>
                  </a:tcPr>
                </a:tc>
                <a:tc>
                  <a:txBody>
                    <a:bodyPr/>
                    <a:lstStyle/>
                    <a:p>
                      <a:r>
                        <a:rPr lang="en-US" sz="1600"/>
                        <a:t>Acts as the </a:t>
                      </a:r>
                      <a:r>
                        <a:rPr lang="en-US" sz="1600" b="1"/>
                        <a:t>sign bit</a:t>
                      </a:r>
                      <a:r>
                        <a:rPr lang="en-US" sz="1600"/>
                        <a:t> (0 = positive, 1 = negative).</a:t>
                      </a:r>
                    </a:p>
                  </a:txBody>
                  <a:tcPr marL="81481" marR="81481" marT="40740" marB="40740" anchor="ctr">
                    <a:lnL>
                      <a:noFill/>
                    </a:lnL>
                    <a:lnR>
                      <a:noFill/>
                    </a:lnR>
                    <a:lnT>
                      <a:noFill/>
                    </a:lnT>
                    <a:lnB>
                      <a:noFill/>
                    </a:lnB>
                    <a:noFill/>
                  </a:tcPr>
                </a:tc>
                <a:tc>
                  <a:txBody>
                    <a:bodyPr/>
                    <a:lstStyle/>
                    <a:p>
                      <a:r>
                        <a:rPr lang="en-US" sz="1600"/>
                        <a:t>Part of the value (no sign bit).</a:t>
                      </a:r>
                    </a:p>
                  </a:txBody>
                  <a:tcPr marL="81481" marR="81481" marT="40740" marB="40740" anchor="ctr">
                    <a:lnL>
                      <a:noFill/>
                    </a:lnL>
                    <a:lnR>
                      <a:noFill/>
                    </a:lnR>
                    <a:lnT>
                      <a:noFill/>
                    </a:lnT>
                    <a:lnB>
                      <a:noFill/>
                    </a:lnB>
                    <a:noFill/>
                  </a:tcPr>
                </a:tc>
                <a:extLst>
                  <a:ext uri="{0D108BD9-81ED-4DB2-BD59-A6C34878D82A}">
                    <a16:rowId xmlns:a16="http://schemas.microsoft.com/office/drawing/2014/main" val="70454189"/>
                  </a:ext>
                </a:extLst>
              </a:tr>
              <a:tr h="614270">
                <a:tc>
                  <a:txBody>
                    <a:bodyPr/>
                    <a:lstStyle/>
                    <a:p>
                      <a:r>
                        <a:rPr lang="en-US" sz="1600" b="1"/>
                        <a:t>Binary Representation</a:t>
                      </a:r>
                      <a:endParaRPr lang="en-US" sz="1600"/>
                    </a:p>
                  </a:txBody>
                  <a:tcPr marL="81481" marR="81481" marT="40740" marB="40740" anchor="ctr">
                    <a:lnL>
                      <a:noFill/>
                    </a:lnL>
                    <a:lnR>
                      <a:noFill/>
                    </a:lnR>
                    <a:lnT>
                      <a:noFill/>
                    </a:lnT>
                    <a:lnB>
                      <a:noFill/>
                    </a:lnB>
                    <a:noFill/>
                  </a:tcPr>
                </a:tc>
                <a:tc>
                  <a:txBody>
                    <a:bodyPr/>
                    <a:lstStyle/>
                    <a:p>
                      <a:r>
                        <a:rPr lang="en-US" sz="1600"/>
                        <a:t>Two's Complement (for negative values).</a:t>
                      </a:r>
                    </a:p>
                  </a:txBody>
                  <a:tcPr marL="81481" marR="81481" marT="40740" marB="40740" anchor="ctr">
                    <a:lnL>
                      <a:noFill/>
                    </a:lnL>
                    <a:lnR>
                      <a:noFill/>
                    </a:lnR>
                    <a:lnT>
                      <a:noFill/>
                    </a:lnT>
                    <a:lnB>
                      <a:noFill/>
                    </a:lnB>
                    <a:noFill/>
                  </a:tcPr>
                </a:tc>
                <a:tc>
                  <a:txBody>
                    <a:bodyPr/>
                    <a:lstStyle/>
                    <a:p>
                      <a:r>
                        <a:rPr lang="en-US" sz="1600"/>
                        <a:t>Standard binary representation.</a:t>
                      </a:r>
                    </a:p>
                  </a:txBody>
                  <a:tcPr marL="81481" marR="81481" marT="40740" marB="40740" anchor="ctr">
                    <a:lnL>
                      <a:noFill/>
                    </a:lnL>
                    <a:lnR>
                      <a:noFill/>
                    </a:lnR>
                    <a:lnT>
                      <a:noFill/>
                    </a:lnT>
                    <a:lnB>
                      <a:noFill/>
                    </a:lnB>
                    <a:noFill/>
                  </a:tcPr>
                </a:tc>
                <a:extLst>
                  <a:ext uri="{0D108BD9-81ED-4DB2-BD59-A6C34878D82A}">
                    <a16:rowId xmlns:a16="http://schemas.microsoft.com/office/drawing/2014/main" val="1100217428"/>
                  </a:ext>
                </a:extLst>
              </a:tr>
              <a:tr h="614270">
                <a:tc>
                  <a:txBody>
                    <a:bodyPr/>
                    <a:lstStyle/>
                    <a:p>
                      <a:r>
                        <a:rPr lang="en-US" sz="1600" b="1"/>
                        <a:t>Example (8-bit)</a:t>
                      </a:r>
                      <a:endParaRPr lang="en-US" sz="1600"/>
                    </a:p>
                  </a:txBody>
                  <a:tcPr marL="81481" marR="81481" marT="40740" marB="40740" anchor="ctr">
                    <a:lnL>
                      <a:noFill/>
                    </a:lnL>
                    <a:lnR>
                      <a:noFill/>
                    </a:lnR>
                    <a:lnT>
                      <a:noFill/>
                    </a:lnT>
                    <a:lnB>
                      <a:noFill/>
                    </a:lnB>
                    <a:noFill/>
                  </a:tcPr>
                </a:tc>
                <a:tc>
                  <a:txBody>
                    <a:bodyPr/>
                    <a:lstStyle/>
                    <a:p>
                      <a:r>
                        <a:rPr lang="en-US" sz="1600"/>
                        <a:t>11111111 = -1, 01111111 = +127</a:t>
                      </a:r>
                    </a:p>
                  </a:txBody>
                  <a:tcPr marL="81481" marR="81481" marT="40740" marB="40740" anchor="ctr">
                    <a:lnL>
                      <a:noFill/>
                    </a:lnL>
                    <a:lnR>
                      <a:noFill/>
                    </a:lnR>
                    <a:lnT>
                      <a:noFill/>
                    </a:lnT>
                    <a:lnB>
                      <a:noFill/>
                    </a:lnB>
                    <a:noFill/>
                  </a:tcPr>
                </a:tc>
                <a:tc>
                  <a:txBody>
                    <a:bodyPr/>
                    <a:lstStyle/>
                    <a:p>
                      <a:r>
                        <a:rPr lang="en-US" sz="1600"/>
                        <a:t>11111111 = 255, 00000001 = 1</a:t>
                      </a:r>
                    </a:p>
                  </a:txBody>
                  <a:tcPr marL="81481" marR="81481" marT="40740" marB="40740" anchor="ctr">
                    <a:lnL>
                      <a:noFill/>
                    </a:lnL>
                    <a:lnR>
                      <a:noFill/>
                    </a:lnR>
                    <a:lnT>
                      <a:noFill/>
                    </a:lnT>
                    <a:lnB>
                      <a:noFill/>
                    </a:lnB>
                    <a:noFill/>
                  </a:tcPr>
                </a:tc>
                <a:extLst>
                  <a:ext uri="{0D108BD9-81ED-4DB2-BD59-A6C34878D82A}">
                    <a16:rowId xmlns:a16="http://schemas.microsoft.com/office/drawing/2014/main" val="1881502045"/>
                  </a:ext>
                </a:extLst>
              </a:tr>
              <a:tr h="877528">
                <a:tc>
                  <a:txBody>
                    <a:bodyPr/>
                    <a:lstStyle/>
                    <a:p>
                      <a:r>
                        <a:rPr lang="en-US" sz="1600" b="1"/>
                        <a:t>Use Case</a:t>
                      </a:r>
                      <a:endParaRPr lang="en-US" sz="1600"/>
                    </a:p>
                  </a:txBody>
                  <a:tcPr marL="81481" marR="81481" marT="40740" marB="40740" anchor="ctr">
                    <a:lnL>
                      <a:noFill/>
                    </a:lnL>
                    <a:lnR>
                      <a:noFill/>
                    </a:lnR>
                    <a:lnT>
                      <a:noFill/>
                    </a:lnT>
                    <a:lnB>
                      <a:noFill/>
                    </a:lnB>
                    <a:noFill/>
                  </a:tcPr>
                </a:tc>
                <a:tc>
                  <a:txBody>
                    <a:bodyPr/>
                    <a:lstStyle/>
                    <a:p>
                      <a:r>
                        <a:rPr lang="en-US" sz="1600"/>
                        <a:t>Values that can be negative (e.g., temperature, debt).</a:t>
                      </a:r>
                    </a:p>
                  </a:txBody>
                  <a:tcPr marL="81481" marR="81481" marT="40740" marB="40740" anchor="ctr">
                    <a:lnL>
                      <a:noFill/>
                    </a:lnL>
                    <a:lnR>
                      <a:noFill/>
                    </a:lnR>
                    <a:lnT>
                      <a:noFill/>
                    </a:lnT>
                    <a:lnB>
                      <a:noFill/>
                    </a:lnB>
                    <a:noFill/>
                  </a:tcPr>
                </a:tc>
                <a:tc>
                  <a:txBody>
                    <a:bodyPr/>
                    <a:lstStyle/>
                    <a:p>
                      <a:r>
                        <a:rPr lang="en-US" sz="1600" dirty="0"/>
                        <a:t>Values that are always positive (e.g., age, quantity).</a:t>
                      </a:r>
                    </a:p>
                  </a:txBody>
                  <a:tcPr marL="81481" marR="81481" marT="40740" marB="40740" anchor="ctr">
                    <a:lnL>
                      <a:noFill/>
                    </a:lnL>
                    <a:lnR>
                      <a:noFill/>
                    </a:lnR>
                    <a:lnT>
                      <a:noFill/>
                    </a:lnT>
                    <a:lnB>
                      <a:noFill/>
                    </a:lnB>
                    <a:noFill/>
                  </a:tcPr>
                </a:tc>
                <a:extLst>
                  <a:ext uri="{0D108BD9-81ED-4DB2-BD59-A6C34878D82A}">
                    <a16:rowId xmlns:a16="http://schemas.microsoft.com/office/drawing/2014/main" val="4030524666"/>
                  </a:ext>
                </a:extLst>
              </a:tr>
            </a:tbl>
          </a:graphicData>
        </a:graphic>
      </p:graphicFrame>
    </p:spTree>
    <p:extLst>
      <p:ext uri="{BB962C8B-B14F-4D97-AF65-F5344CB8AC3E}">
        <p14:creationId xmlns:p14="http://schemas.microsoft.com/office/powerpoint/2010/main" val="2129962469"/>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Shape 152"/>
          <p:cNvSpPr>
            <a:spLocks noGrp="1"/>
          </p:cNvSpPr>
          <p:nvPr>
            <p:ph type="body" idx="1"/>
          </p:nvPr>
        </p:nvSpPr>
        <p:spPr>
          <a:xfrm>
            <a:off x="381754" y="2225907"/>
            <a:ext cx="8518922" cy="3836834"/>
          </a:xfrm>
          <a:prstGeom prst="rect">
            <a:avLst/>
          </a:prstGeom>
        </p:spPr>
        <p:txBody>
          <a:bodyPr>
            <a:normAutofit/>
          </a:bodyPr>
          <a:lstStyle/>
          <a:p>
            <a:pPr marL="321457" indent="-321457" algn="l">
              <a:lnSpc>
                <a:spcPct val="150000"/>
              </a:lnSpc>
              <a:buFont typeface="Wingdings" panose="05000000000000000000" pitchFamily="2" charset="2"/>
              <a:buChar char="Ø"/>
              <a:defRPr sz="1800">
                <a:solidFill>
                  <a:srgbClr val="000000"/>
                </a:solidFill>
              </a:defRPr>
            </a:pPr>
            <a:r>
              <a:rPr sz="2257" dirty="0">
                <a:solidFill>
                  <a:schemeClr val="tx1"/>
                </a:solidFill>
                <a:latin typeface="+mj-lt"/>
              </a:rPr>
              <a:t>A Left shift doubles the destination's value, </a:t>
            </a:r>
          </a:p>
          <a:p>
            <a:pPr marL="321457" indent="-321457" algn="l">
              <a:lnSpc>
                <a:spcPct val="150000"/>
              </a:lnSpc>
              <a:buFont typeface="Wingdings" panose="05000000000000000000" pitchFamily="2" charset="2"/>
              <a:buChar char="Ø"/>
              <a:defRPr sz="1800">
                <a:solidFill>
                  <a:srgbClr val="000000"/>
                </a:solidFill>
              </a:defRPr>
            </a:pPr>
            <a:r>
              <a:rPr sz="2257" dirty="0">
                <a:solidFill>
                  <a:schemeClr val="tx1"/>
                </a:solidFill>
                <a:latin typeface="+mj-lt"/>
              </a:rPr>
              <a:t>Similarly, it’s reasonable to guess that a right shift might divide it </a:t>
            </a:r>
            <a:r>
              <a:rPr sz="2257" dirty="0">
                <a:solidFill>
                  <a:schemeClr val="tx1"/>
                </a:solidFill>
                <a:latin typeface="+mj-lt"/>
                <a:ea typeface="Helvetica"/>
                <a:cs typeface="Helvetica"/>
                <a:sym typeface="Helvetica"/>
              </a:rPr>
              <a:t>by </a:t>
            </a:r>
            <a:r>
              <a:rPr sz="2257" dirty="0">
                <a:solidFill>
                  <a:schemeClr val="tx1"/>
                </a:solidFill>
                <a:latin typeface="+mj-lt"/>
              </a:rPr>
              <a:t>2. This Is correct for </a:t>
            </a:r>
            <a:r>
              <a:rPr sz="2257" b="1" dirty="0">
                <a:solidFill>
                  <a:schemeClr val="tx1"/>
                </a:solidFill>
                <a:latin typeface="+mj-lt"/>
              </a:rPr>
              <a:t>even</a:t>
            </a:r>
            <a:r>
              <a:rPr sz="2257" dirty="0">
                <a:solidFill>
                  <a:schemeClr val="tx1"/>
                </a:solidFill>
                <a:latin typeface="+mj-lt"/>
              </a:rPr>
              <a:t> numbers.</a:t>
            </a:r>
          </a:p>
          <a:p>
            <a:pPr marL="321457" indent="-321457" algn="l">
              <a:lnSpc>
                <a:spcPct val="150000"/>
              </a:lnSpc>
              <a:buFont typeface="Wingdings" panose="05000000000000000000" pitchFamily="2" charset="2"/>
              <a:buChar char="Ø"/>
              <a:defRPr sz="1800">
                <a:solidFill>
                  <a:srgbClr val="000000"/>
                </a:solidFill>
              </a:defRPr>
            </a:pPr>
            <a:r>
              <a:rPr sz="2257" dirty="0">
                <a:solidFill>
                  <a:schemeClr val="tx1"/>
                </a:solidFill>
                <a:latin typeface="+mj-lt"/>
              </a:rPr>
              <a:t>For odd numbers, a </a:t>
            </a:r>
            <a:r>
              <a:rPr sz="2257" b="1" dirty="0">
                <a:solidFill>
                  <a:schemeClr val="tx1"/>
                </a:solidFill>
                <a:latin typeface="+mj-lt"/>
              </a:rPr>
              <a:t>right shift</a:t>
            </a:r>
            <a:r>
              <a:rPr sz="2257" dirty="0">
                <a:solidFill>
                  <a:schemeClr val="tx1"/>
                </a:solidFill>
                <a:latin typeface="+mj-lt"/>
              </a:rPr>
              <a:t> </a:t>
            </a:r>
            <a:r>
              <a:rPr sz="2257" b="1" dirty="0">
                <a:solidFill>
                  <a:schemeClr val="tx1"/>
                </a:solidFill>
                <a:latin typeface="+mj-lt"/>
              </a:rPr>
              <a:t>halves </a:t>
            </a:r>
            <a:r>
              <a:rPr sz="2257" b="1" dirty="0">
                <a:solidFill>
                  <a:schemeClr val="tx1"/>
                </a:solidFill>
                <a:latin typeface="+mj-lt"/>
                <a:ea typeface="Helvetica"/>
                <a:cs typeface="Helvetica"/>
                <a:sym typeface="Helvetica"/>
              </a:rPr>
              <a:t>it </a:t>
            </a:r>
            <a:r>
              <a:rPr sz="2257" b="1" dirty="0">
                <a:solidFill>
                  <a:schemeClr val="tx1"/>
                </a:solidFill>
                <a:latin typeface="+mj-lt"/>
              </a:rPr>
              <a:t>and rounds down to the nearest integer</a:t>
            </a:r>
            <a:r>
              <a:rPr sz="2257" dirty="0">
                <a:solidFill>
                  <a:schemeClr val="tx1"/>
                </a:solidFill>
                <a:latin typeface="+mj-lt"/>
              </a:rPr>
              <a:t>. </a:t>
            </a:r>
          </a:p>
          <a:p>
            <a:pPr marL="321457" indent="-321457" algn="l">
              <a:lnSpc>
                <a:spcPct val="150000"/>
              </a:lnSpc>
              <a:buFont typeface="Wingdings" panose="05000000000000000000" pitchFamily="2" charset="2"/>
              <a:buChar char="Ø"/>
              <a:defRPr sz="1800">
                <a:solidFill>
                  <a:srgbClr val="000000"/>
                </a:solidFill>
              </a:defRPr>
            </a:pPr>
            <a:r>
              <a:rPr sz="2257" dirty="0">
                <a:solidFill>
                  <a:schemeClr val="tx1"/>
                </a:solidFill>
                <a:latin typeface="+mj-lt"/>
              </a:rPr>
              <a:t>For example, if BL contains 00000101 </a:t>
            </a:r>
            <a:r>
              <a:rPr sz="2257" dirty="0">
                <a:solidFill>
                  <a:schemeClr val="tx1"/>
                </a:solidFill>
                <a:latin typeface="+mj-lt"/>
                <a:ea typeface="Helvetica"/>
                <a:cs typeface="Helvetica"/>
                <a:sym typeface="Helvetica"/>
              </a:rPr>
              <a:t>= </a:t>
            </a:r>
            <a:r>
              <a:rPr sz="2257" dirty="0">
                <a:solidFill>
                  <a:schemeClr val="tx1"/>
                </a:solidFill>
                <a:latin typeface="+mj-lt"/>
              </a:rPr>
              <a:t>5, then after a right shift. BL  will contain 00000010 </a:t>
            </a:r>
            <a:r>
              <a:rPr sz="2257" dirty="0">
                <a:solidFill>
                  <a:schemeClr val="tx1"/>
                </a:solidFill>
                <a:latin typeface="+mj-lt"/>
                <a:ea typeface="Helvetica"/>
                <a:cs typeface="Helvetica"/>
                <a:sym typeface="Helvetica"/>
              </a:rPr>
              <a:t>= </a:t>
            </a:r>
            <a:r>
              <a:rPr sz="2257" dirty="0">
                <a:solidFill>
                  <a:schemeClr val="tx1"/>
                </a:solidFill>
                <a:latin typeface="+mj-lt"/>
              </a:rPr>
              <a:t>2</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887"/>
            <a:ext cx="9144000" cy="1788416"/>
          </a:xfrm>
          <a:prstGeom prst="rect">
            <a:avLst/>
          </a:prstGeom>
        </p:spPr>
      </p:pic>
      <p:sp>
        <p:nvSpPr>
          <p:cNvPr id="6" name="Shape 38"/>
          <p:cNvSpPr>
            <a:spLocks noGrp="1"/>
          </p:cNvSpPr>
          <p:nvPr>
            <p:ph type="title"/>
          </p:nvPr>
        </p:nvSpPr>
        <p:spPr>
          <a:xfrm>
            <a:off x="203260" y="437491"/>
            <a:ext cx="7358063" cy="880104"/>
          </a:xfrm>
          <a:prstGeom prst="rect">
            <a:avLst/>
          </a:prstGeom>
        </p:spPr>
        <p:txBody>
          <a:bodyPr>
            <a:normAutofit/>
          </a:bodyPr>
          <a:lstStyle/>
          <a:p>
            <a:pPr algn="ctr">
              <a:defRPr sz="1800">
                <a:solidFill>
                  <a:srgbClr val="000000"/>
                </a:solidFill>
              </a:defRPr>
            </a:pPr>
            <a:r>
              <a:rPr lang="en-US" sz="4400" b="1" dirty="0">
                <a:solidFill>
                  <a:schemeClr val="accent3">
                    <a:lumMod val="75000"/>
                  </a:schemeClr>
                </a:solidFill>
              </a:rPr>
              <a:t>Division by Right Shift</a:t>
            </a:r>
            <a:endParaRPr sz="4640" b="1" dirty="0">
              <a:solidFill>
                <a:schemeClr val="accent5"/>
              </a:solidFill>
            </a:endParaRPr>
          </a:p>
        </p:txBody>
      </p:sp>
    </p:spTree>
    <p:extLst>
      <p:ext uri="{BB962C8B-B14F-4D97-AF65-F5344CB8AC3E}">
        <p14:creationId xmlns:p14="http://schemas.microsoft.com/office/powerpoint/2010/main" val="3133541721"/>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Shape 155"/>
          <p:cNvSpPr>
            <a:spLocks noGrp="1"/>
          </p:cNvSpPr>
          <p:nvPr>
            <p:ph type="body" idx="1"/>
          </p:nvPr>
        </p:nvSpPr>
        <p:spPr>
          <a:xfrm>
            <a:off x="285750" y="1842448"/>
            <a:ext cx="8679656" cy="3588668"/>
          </a:xfrm>
          <a:prstGeom prst="rect">
            <a:avLst/>
          </a:prstGeom>
        </p:spPr>
        <p:txBody>
          <a:bodyPr>
            <a:noAutofit/>
          </a:bodyPr>
          <a:lstStyle/>
          <a:p>
            <a:pPr marL="321457" indent="-321457" algn="l" defTabSz="303956">
              <a:spcBef>
                <a:spcPts val="2180"/>
              </a:spcBef>
              <a:buFont typeface="Wingdings" panose="05000000000000000000" pitchFamily="2" charset="2"/>
              <a:buChar char="Ø"/>
              <a:defRPr sz="1800">
                <a:solidFill>
                  <a:srgbClr val="000000"/>
                </a:solidFill>
              </a:defRPr>
            </a:pPr>
            <a:r>
              <a:rPr sz="2000" dirty="0">
                <a:solidFill>
                  <a:schemeClr val="tx1"/>
                </a:solidFill>
              </a:rPr>
              <a:t>In case of division by right shifts, we need to make a distinction between signed and unsigned numbers. </a:t>
            </a:r>
          </a:p>
          <a:p>
            <a:pPr marL="321457" indent="-321457" algn="l" defTabSz="303956">
              <a:spcBef>
                <a:spcPts val="2180"/>
              </a:spcBef>
              <a:buFont typeface="Wingdings" panose="05000000000000000000" pitchFamily="2" charset="2"/>
              <a:buChar char="Ø"/>
              <a:defRPr sz="1800">
                <a:solidFill>
                  <a:srgbClr val="000000"/>
                </a:solidFill>
              </a:defRPr>
            </a:pPr>
            <a:r>
              <a:rPr sz="2000" dirty="0">
                <a:solidFill>
                  <a:schemeClr val="tx1"/>
                </a:solidFill>
              </a:rPr>
              <a:t>If an </a:t>
            </a:r>
            <a:r>
              <a:rPr sz="2000" b="1" dirty="0">
                <a:solidFill>
                  <a:schemeClr val="tx1"/>
                </a:solidFill>
              </a:rPr>
              <a:t>unsigned</a:t>
            </a:r>
            <a:r>
              <a:rPr sz="2000" dirty="0">
                <a:solidFill>
                  <a:schemeClr val="tx1"/>
                </a:solidFill>
              </a:rPr>
              <a:t> interpretation is being given, </a:t>
            </a:r>
            <a:r>
              <a:rPr sz="2000" b="1" dirty="0">
                <a:solidFill>
                  <a:schemeClr val="tx1"/>
                </a:solidFill>
              </a:rPr>
              <a:t>SHR</a:t>
            </a:r>
            <a:r>
              <a:rPr sz="2000" dirty="0">
                <a:solidFill>
                  <a:schemeClr val="tx1"/>
                </a:solidFill>
              </a:rPr>
              <a:t> should be used. </a:t>
            </a:r>
          </a:p>
          <a:p>
            <a:pPr marL="321457" indent="-321457" algn="l" defTabSz="303956">
              <a:spcBef>
                <a:spcPts val="2180"/>
              </a:spcBef>
              <a:buFont typeface="Wingdings" panose="05000000000000000000" pitchFamily="2" charset="2"/>
              <a:buChar char="Ø"/>
              <a:defRPr sz="1800">
                <a:solidFill>
                  <a:srgbClr val="000000"/>
                </a:solidFill>
              </a:defRPr>
            </a:pPr>
            <a:r>
              <a:rPr sz="2000" dirty="0">
                <a:solidFill>
                  <a:schemeClr val="tx1"/>
                </a:solidFill>
              </a:rPr>
              <a:t>For a </a:t>
            </a:r>
            <a:r>
              <a:rPr sz="2000" b="1" dirty="0">
                <a:solidFill>
                  <a:schemeClr val="tx1"/>
                </a:solidFill>
              </a:rPr>
              <a:t>signed</a:t>
            </a:r>
            <a:r>
              <a:rPr sz="2000" dirty="0">
                <a:solidFill>
                  <a:schemeClr val="tx1"/>
                </a:solidFill>
              </a:rPr>
              <a:t> interpretation, </a:t>
            </a:r>
            <a:r>
              <a:rPr sz="2000" b="1" dirty="0">
                <a:solidFill>
                  <a:schemeClr val="tx1"/>
                </a:solidFill>
              </a:rPr>
              <a:t>SAR  </a:t>
            </a:r>
            <a:r>
              <a:rPr sz="2000" dirty="0">
                <a:solidFill>
                  <a:schemeClr val="tx1"/>
                </a:solidFill>
              </a:rPr>
              <a:t>must be used, because it preserves the sign.</a:t>
            </a:r>
          </a:p>
          <a:p>
            <a:pPr marL="321457" indent="-321457" algn="l" defTabSz="303956">
              <a:spcBef>
                <a:spcPts val="2180"/>
              </a:spcBef>
              <a:buFont typeface="Wingdings" panose="05000000000000000000" pitchFamily="2" charset="2"/>
              <a:buChar char="Ø"/>
              <a:defRPr sz="1800">
                <a:solidFill>
                  <a:srgbClr val="000000"/>
                </a:solidFill>
              </a:defRPr>
            </a:pPr>
            <a:r>
              <a:rPr sz="2000" b="1" dirty="0">
                <a:solidFill>
                  <a:schemeClr val="tx1"/>
                </a:solidFill>
              </a:rPr>
              <a:t>Problem:</a:t>
            </a:r>
            <a:r>
              <a:rPr sz="2000" dirty="0">
                <a:solidFill>
                  <a:schemeClr val="tx1"/>
                </a:solidFill>
              </a:rPr>
              <a:t> Use right shifts to divide the unsigned number 65143 by 4. Put the quotient in AX</a:t>
            </a:r>
          </a:p>
          <a:p>
            <a:pPr marL="321457" indent="-321457" algn="l" defTabSz="303956">
              <a:spcBef>
                <a:spcPts val="2180"/>
              </a:spcBef>
              <a:buFont typeface="Wingdings" panose="05000000000000000000" pitchFamily="2" charset="2"/>
              <a:buChar char="Ø"/>
              <a:defRPr sz="1800">
                <a:solidFill>
                  <a:srgbClr val="000000"/>
                </a:solidFill>
              </a:defRPr>
            </a:pPr>
            <a:r>
              <a:rPr sz="2000" dirty="0">
                <a:solidFill>
                  <a:schemeClr val="tx1"/>
                </a:solidFill>
              </a:rPr>
              <a:t>To divide by 4, two right shifts are needed. Since the dividend is unsigned, we use SHR. The code is</a:t>
            </a:r>
          </a:p>
        </p:txBody>
      </p:sp>
      <p:sp>
        <p:nvSpPr>
          <p:cNvPr id="2" name="Rectangle 1"/>
          <p:cNvSpPr/>
          <p:nvPr/>
        </p:nvSpPr>
        <p:spPr>
          <a:xfrm>
            <a:off x="1946672" y="5616108"/>
            <a:ext cx="2786063" cy="1141403"/>
          </a:xfrm>
          <a:prstGeom prst="rect">
            <a:avLst/>
          </a:prstGeom>
        </p:spPr>
        <p:txBody>
          <a:bodyPr wrap="square">
            <a:spAutoFit/>
          </a:bodyPr>
          <a:lstStyle/>
          <a:p>
            <a:pPr marL="321457" lvl="6" indent="-321457" defTabSz="303956">
              <a:spcBef>
                <a:spcPts val="844"/>
              </a:spcBef>
              <a:buFont typeface="Arial" panose="020B0604020202020204" pitchFamily="34" charset="0"/>
              <a:buChar char="•"/>
              <a:defRPr sz="1800">
                <a:solidFill>
                  <a:srgbClr val="000000"/>
                </a:solidFill>
              </a:defRPr>
            </a:pPr>
            <a:r>
              <a:rPr lang="en-US" sz="1828" dirty="0"/>
              <a:t>MOV AX, 65143</a:t>
            </a:r>
          </a:p>
          <a:p>
            <a:pPr marL="321457" lvl="6" indent="-321457" defTabSz="303956">
              <a:spcBef>
                <a:spcPts val="844"/>
              </a:spcBef>
              <a:buFont typeface="Arial" panose="020B0604020202020204" pitchFamily="34" charset="0"/>
              <a:buChar char="•"/>
              <a:defRPr sz="1800">
                <a:solidFill>
                  <a:srgbClr val="000000"/>
                </a:solidFill>
              </a:defRPr>
            </a:pPr>
            <a:r>
              <a:rPr lang="en-US" sz="1828" dirty="0"/>
              <a:t>MOV CL, 2</a:t>
            </a:r>
          </a:p>
          <a:p>
            <a:pPr marL="321457" lvl="6" indent="-321457" defTabSz="303956">
              <a:spcBef>
                <a:spcPts val="844"/>
              </a:spcBef>
              <a:buFont typeface="Arial" panose="020B0604020202020204" pitchFamily="34" charset="0"/>
              <a:buChar char="•"/>
              <a:defRPr sz="1800">
                <a:solidFill>
                  <a:srgbClr val="000000"/>
                </a:solidFill>
              </a:defRPr>
            </a:pPr>
            <a:r>
              <a:rPr lang="en-US" sz="1828" dirty="0"/>
              <a:t>SHR AX,2</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887"/>
            <a:ext cx="9144000" cy="1788416"/>
          </a:xfrm>
          <a:prstGeom prst="rect">
            <a:avLst/>
          </a:prstGeom>
        </p:spPr>
      </p:pic>
      <p:sp>
        <p:nvSpPr>
          <p:cNvPr id="7" name="Shape 38"/>
          <p:cNvSpPr>
            <a:spLocks noGrp="1"/>
          </p:cNvSpPr>
          <p:nvPr>
            <p:ph type="title"/>
          </p:nvPr>
        </p:nvSpPr>
        <p:spPr>
          <a:xfrm>
            <a:off x="203260" y="437491"/>
            <a:ext cx="7358063" cy="880104"/>
          </a:xfrm>
          <a:prstGeom prst="rect">
            <a:avLst/>
          </a:prstGeom>
        </p:spPr>
        <p:txBody>
          <a:bodyPr>
            <a:normAutofit/>
          </a:bodyPr>
          <a:lstStyle/>
          <a:p>
            <a:pPr algn="ctr">
              <a:defRPr sz="1800">
                <a:solidFill>
                  <a:srgbClr val="000000"/>
                </a:solidFill>
              </a:defRPr>
            </a:pPr>
            <a:r>
              <a:rPr lang="en-US" sz="4400" b="1" dirty="0">
                <a:solidFill>
                  <a:schemeClr val="accent3">
                    <a:lumMod val="75000"/>
                  </a:schemeClr>
                </a:solidFill>
              </a:rPr>
              <a:t>Signed and Unsigned Division</a:t>
            </a:r>
            <a:endParaRPr sz="4640" b="1" dirty="0">
              <a:solidFill>
                <a:schemeClr val="accent5"/>
              </a:solidFill>
            </a:endParaRPr>
          </a:p>
        </p:txBody>
      </p:sp>
      <p:sp>
        <p:nvSpPr>
          <p:cNvPr id="4" name="TextBox 3">
            <a:extLst>
              <a:ext uri="{FF2B5EF4-FFF2-40B4-BE49-F238E27FC236}">
                <a16:creationId xmlns:a16="http://schemas.microsoft.com/office/drawing/2014/main" id="{48882CC6-63DA-308B-F207-0FB810BE6553}"/>
              </a:ext>
            </a:extLst>
          </p:cNvPr>
          <p:cNvSpPr txBox="1"/>
          <p:nvPr/>
        </p:nvSpPr>
        <p:spPr>
          <a:xfrm>
            <a:off x="4555671" y="5263479"/>
            <a:ext cx="4588328" cy="923330"/>
          </a:xfrm>
          <a:prstGeom prst="rect">
            <a:avLst/>
          </a:prstGeom>
          <a:noFill/>
        </p:spPr>
        <p:txBody>
          <a:bodyPr wrap="square">
            <a:spAutoFit/>
          </a:bodyPr>
          <a:lstStyle/>
          <a:p>
            <a:r>
              <a:rPr lang="en-US" dirty="0"/>
              <a:t>Each right shift divides the number by 2.So, 2 right shifts (SHR) effectively divide the number by 4 (2^2).</a:t>
            </a:r>
          </a:p>
        </p:txBody>
      </p:sp>
    </p:spTree>
    <p:extLst>
      <p:ext uri="{BB962C8B-B14F-4D97-AF65-F5344CB8AC3E}">
        <p14:creationId xmlns:p14="http://schemas.microsoft.com/office/powerpoint/2010/main" val="2007023630"/>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68B4B-9EED-29DF-C33B-55D2A84BB1CE}"/>
            </a:ext>
          </a:extLst>
        </p:cNvPr>
        <p:cNvGrpSpPr/>
        <p:nvPr/>
      </p:nvGrpSpPr>
      <p:grpSpPr>
        <a:xfrm>
          <a:off x="0" y="0"/>
          <a:ext cx="0" cy="0"/>
          <a:chOff x="0" y="0"/>
          <a:chExt cx="0" cy="0"/>
        </a:xfrm>
      </p:grpSpPr>
      <p:sp>
        <p:nvSpPr>
          <p:cNvPr id="155" name="Shape 155">
            <a:extLst>
              <a:ext uri="{FF2B5EF4-FFF2-40B4-BE49-F238E27FC236}">
                <a16:creationId xmlns:a16="http://schemas.microsoft.com/office/drawing/2014/main" id="{AEFA7F3A-658B-8BE6-619F-51BD0855F17E}"/>
              </a:ext>
            </a:extLst>
          </p:cNvPr>
          <p:cNvSpPr>
            <a:spLocks noGrp="1"/>
          </p:cNvSpPr>
          <p:nvPr>
            <p:ph type="body" idx="1"/>
          </p:nvPr>
        </p:nvSpPr>
        <p:spPr>
          <a:xfrm>
            <a:off x="203260" y="2031573"/>
            <a:ext cx="8679656" cy="3588668"/>
          </a:xfrm>
          <a:prstGeom prst="rect">
            <a:avLst/>
          </a:prstGeom>
        </p:spPr>
        <p:txBody>
          <a:bodyPr>
            <a:noAutofit/>
          </a:bodyPr>
          <a:lstStyle/>
          <a:p>
            <a:pPr marL="321457" indent="-321457" algn="l" defTabSz="303956">
              <a:buFont typeface="Wingdings" panose="05000000000000000000" pitchFamily="2" charset="2"/>
              <a:buChar char="Ø"/>
              <a:defRPr sz="1800">
                <a:solidFill>
                  <a:srgbClr val="000000"/>
                </a:solidFill>
              </a:defRPr>
            </a:pPr>
            <a:r>
              <a:rPr lang="en-US" sz="2000" dirty="0">
                <a:solidFill>
                  <a:schemeClr val="tx1"/>
                </a:solidFill>
              </a:rPr>
              <a:t>MOV AX, 65143   ; Load the value 65143 (which is FEA7h in hex) into AX.</a:t>
            </a:r>
          </a:p>
          <a:p>
            <a:pPr marL="321457" indent="-321457" algn="l" defTabSz="303956">
              <a:buFont typeface="Wingdings" panose="05000000000000000000" pitchFamily="2" charset="2"/>
              <a:buChar char="Ø"/>
              <a:defRPr sz="1800">
                <a:solidFill>
                  <a:srgbClr val="000000"/>
                </a:solidFill>
              </a:defRPr>
            </a:pPr>
            <a:r>
              <a:rPr lang="en-US" sz="2000" dirty="0">
                <a:solidFill>
                  <a:schemeClr val="tx1"/>
                </a:solidFill>
              </a:rPr>
              <a:t>MOV CL, 2       ; Load the value 2 into CL (number of right shifts).</a:t>
            </a:r>
          </a:p>
          <a:p>
            <a:pPr marL="321457" indent="-321457" algn="l" defTabSz="303956">
              <a:buFont typeface="Wingdings" panose="05000000000000000000" pitchFamily="2" charset="2"/>
              <a:buChar char="Ø"/>
              <a:defRPr sz="1800">
                <a:solidFill>
                  <a:srgbClr val="000000"/>
                </a:solidFill>
              </a:defRPr>
            </a:pPr>
            <a:r>
              <a:rPr lang="en-US" sz="2000" dirty="0">
                <a:solidFill>
                  <a:schemeClr val="tx1"/>
                </a:solidFill>
              </a:rPr>
              <a:t>SHR AX, CL      ; Perform logical right shift on AX by 2 bits.</a:t>
            </a:r>
          </a:p>
          <a:p>
            <a:pPr marL="321457" indent="-321457" algn="l" defTabSz="303956">
              <a:buFont typeface="Wingdings" panose="05000000000000000000" pitchFamily="2" charset="2"/>
              <a:buChar char="Ø"/>
              <a:defRPr sz="1800">
                <a:solidFill>
                  <a:srgbClr val="000000"/>
                </a:solidFill>
              </a:defRPr>
            </a:pPr>
            <a:endParaRPr lang="en-US" sz="2000" dirty="0">
              <a:solidFill>
                <a:schemeClr val="tx1"/>
              </a:solidFill>
            </a:endParaRPr>
          </a:p>
          <a:p>
            <a:pPr marL="321457" indent="-321457" algn="l" defTabSz="303956">
              <a:buFont typeface="Wingdings" panose="05000000000000000000" pitchFamily="2" charset="2"/>
              <a:buChar char="Ø"/>
              <a:defRPr sz="1800">
                <a:solidFill>
                  <a:srgbClr val="000000"/>
                </a:solidFill>
              </a:defRPr>
            </a:pPr>
            <a:r>
              <a:rPr lang="en-US" sz="2000" dirty="0">
                <a:solidFill>
                  <a:schemeClr val="tx1"/>
                </a:solidFill>
              </a:rPr>
              <a:t>Binary </a:t>
            </a:r>
            <a:r>
              <a:rPr lang="en-US" sz="2000" dirty="0" err="1">
                <a:solidFill>
                  <a:schemeClr val="tx1"/>
                </a:solidFill>
              </a:rPr>
              <a:t>Representation:Decimal</a:t>
            </a:r>
            <a:r>
              <a:rPr lang="en-US" sz="2000" dirty="0">
                <a:solidFill>
                  <a:schemeClr val="tx1"/>
                </a:solidFill>
              </a:rPr>
              <a:t> (65143) = Hexadecimal (FEA7h).Binary: 1111 1110 1010 0111.</a:t>
            </a:r>
          </a:p>
          <a:p>
            <a:pPr marL="321457" indent="-321457" algn="l" defTabSz="303956">
              <a:buFont typeface="Wingdings" panose="05000000000000000000" pitchFamily="2" charset="2"/>
              <a:buChar char="Ø"/>
              <a:defRPr sz="1800">
                <a:solidFill>
                  <a:srgbClr val="000000"/>
                </a:solidFill>
              </a:defRPr>
            </a:pPr>
            <a:r>
              <a:rPr lang="en-US" sz="2000" dirty="0">
                <a:solidFill>
                  <a:schemeClr val="tx1"/>
                </a:solidFill>
              </a:rPr>
              <a:t>First Right </a:t>
            </a:r>
            <a:r>
              <a:rPr lang="en-US" sz="2000" dirty="0" err="1">
                <a:solidFill>
                  <a:schemeClr val="tx1"/>
                </a:solidFill>
              </a:rPr>
              <a:t>Shift:Before</a:t>
            </a:r>
            <a:r>
              <a:rPr lang="en-US" sz="2000" dirty="0">
                <a:solidFill>
                  <a:schemeClr val="tx1"/>
                </a:solidFill>
              </a:rPr>
              <a:t>: 1111 1110 1010 0111   After: 0111 1111 0101 0011  </a:t>
            </a:r>
          </a:p>
          <a:p>
            <a:pPr marL="321457" indent="-321457" algn="l" defTabSz="303956">
              <a:buFont typeface="Wingdings" panose="05000000000000000000" pitchFamily="2" charset="2"/>
              <a:buChar char="Ø"/>
              <a:defRPr sz="1800">
                <a:solidFill>
                  <a:srgbClr val="000000"/>
                </a:solidFill>
              </a:defRPr>
            </a:pPr>
            <a:r>
              <a:rPr lang="en-US" sz="2000" dirty="0">
                <a:solidFill>
                  <a:schemeClr val="tx1"/>
                </a:solidFill>
              </a:rPr>
              <a:t>CF (Carry Flag): 1 (the last bit shifted out).</a:t>
            </a:r>
          </a:p>
          <a:p>
            <a:pPr marL="321457" indent="-321457" algn="l" defTabSz="303956">
              <a:buFont typeface="Wingdings" panose="05000000000000000000" pitchFamily="2" charset="2"/>
              <a:buChar char="Ø"/>
              <a:defRPr sz="1800">
                <a:solidFill>
                  <a:srgbClr val="000000"/>
                </a:solidFill>
              </a:defRPr>
            </a:pPr>
            <a:r>
              <a:rPr lang="en-US" sz="2000" dirty="0">
                <a:solidFill>
                  <a:schemeClr val="tx1"/>
                </a:solidFill>
              </a:rPr>
              <a:t>Second Right </a:t>
            </a:r>
            <a:r>
              <a:rPr lang="en-US" sz="2000" dirty="0" err="1">
                <a:solidFill>
                  <a:schemeClr val="tx1"/>
                </a:solidFill>
              </a:rPr>
              <a:t>Shift:Before</a:t>
            </a:r>
            <a:r>
              <a:rPr lang="en-US" sz="2000" dirty="0">
                <a:solidFill>
                  <a:schemeClr val="tx1"/>
                </a:solidFill>
              </a:rPr>
              <a:t>: 0111 1111 0101 0011 After: 0011 1111 1010 1001 CF: 1 (the last bit shifted out).</a:t>
            </a:r>
          </a:p>
          <a:p>
            <a:pPr marL="321457" indent="-321457" algn="l" defTabSz="303956">
              <a:buFont typeface="Wingdings" panose="05000000000000000000" pitchFamily="2" charset="2"/>
              <a:buChar char="Ø"/>
              <a:defRPr sz="1800">
                <a:solidFill>
                  <a:srgbClr val="000000"/>
                </a:solidFill>
              </a:defRPr>
            </a:pPr>
            <a:r>
              <a:rPr lang="en-US" sz="2000" dirty="0">
                <a:solidFill>
                  <a:schemeClr val="tx1"/>
                </a:solidFill>
              </a:rPr>
              <a:t>Final </a:t>
            </a:r>
            <a:r>
              <a:rPr lang="en-US" sz="2000" dirty="0" err="1">
                <a:solidFill>
                  <a:schemeClr val="tx1"/>
                </a:solidFill>
              </a:rPr>
              <a:t>Result:AX</a:t>
            </a:r>
            <a:r>
              <a:rPr lang="en-US" sz="2000" dirty="0">
                <a:solidFill>
                  <a:schemeClr val="tx1"/>
                </a:solidFill>
              </a:rPr>
              <a:t> = 0011 1111 1010 1001 (16385 in decimal).The quotient of 65143 ÷ 4 = 16385.</a:t>
            </a:r>
          </a:p>
          <a:p>
            <a:pPr marL="321457" indent="-321457" algn="l" defTabSz="303956">
              <a:spcBef>
                <a:spcPts val="2180"/>
              </a:spcBef>
              <a:buFont typeface="Wingdings" panose="05000000000000000000" pitchFamily="2" charset="2"/>
              <a:buChar char="Ø"/>
              <a:defRPr sz="1800">
                <a:solidFill>
                  <a:srgbClr val="000000"/>
                </a:solidFill>
              </a:defRPr>
            </a:pPr>
            <a:endParaRPr lang="en-US" sz="2000" dirty="0">
              <a:solidFill>
                <a:schemeClr val="tx1"/>
              </a:solidFill>
            </a:endParaRPr>
          </a:p>
          <a:p>
            <a:pPr marL="321457" indent="-321457" algn="l" defTabSz="303956">
              <a:spcBef>
                <a:spcPts val="2180"/>
              </a:spcBef>
              <a:buFont typeface="Wingdings" panose="05000000000000000000" pitchFamily="2" charset="2"/>
              <a:buChar char="Ø"/>
              <a:defRPr sz="1800">
                <a:solidFill>
                  <a:srgbClr val="000000"/>
                </a:solidFill>
              </a:defRPr>
            </a:pPr>
            <a:endParaRPr sz="2000" dirty="0">
              <a:solidFill>
                <a:schemeClr val="tx1"/>
              </a:solidFill>
            </a:endParaRPr>
          </a:p>
        </p:txBody>
      </p:sp>
      <p:pic>
        <p:nvPicPr>
          <p:cNvPr id="6" name="Picture 5">
            <a:extLst>
              <a:ext uri="{FF2B5EF4-FFF2-40B4-BE49-F238E27FC236}">
                <a16:creationId xmlns:a16="http://schemas.microsoft.com/office/drawing/2014/main" id="{FF1E6376-4618-77C3-7AC1-B17769B7F3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2771" y="-145859"/>
            <a:ext cx="9144000" cy="1788416"/>
          </a:xfrm>
          <a:prstGeom prst="rect">
            <a:avLst/>
          </a:prstGeom>
        </p:spPr>
      </p:pic>
      <p:sp>
        <p:nvSpPr>
          <p:cNvPr id="7" name="Shape 38">
            <a:extLst>
              <a:ext uri="{FF2B5EF4-FFF2-40B4-BE49-F238E27FC236}">
                <a16:creationId xmlns:a16="http://schemas.microsoft.com/office/drawing/2014/main" id="{54C8B12F-2F6F-C2ED-93BD-FA08659CC336}"/>
              </a:ext>
            </a:extLst>
          </p:cNvPr>
          <p:cNvSpPr>
            <a:spLocks noGrp="1"/>
          </p:cNvSpPr>
          <p:nvPr>
            <p:ph type="title"/>
          </p:nvPr>
        </p:nvSpPr>
        <p:spPr>
          <a:xfrm>
            <a:off x="203260" y="437491"/>
            <a:ext cx="7358063" cy="880104"/>
          </a:xfrm>
          <a:prstGeom prst="rect">
            <a:avLst/>
          </a:prstGeom>
        </p:spPr>
        <p:txBody>
          <a:bodyPr>
            <a:normAutofit/>
          </a:bodyPr>
          <a:lstStyle/>
          <a:p>
            <a:pPr algn="ctr">
              <a:defRPr sz="1800">
                <a:solidFill>
                  <a:srgbClr val="000000"/>
                </a:solidFill>
              </a:defRPr>
            </a:pPr>
            <a:r>
              <a:rPr lang="en-US" sz="4400" b="1" dirty="0">
                <a:solidFill>
                  <a:schemeClr val="accent3">
                    <a:lumMod val="75000"/>
                  </a:schemeClr>
                </a:solidFill>
              </a:rPr>
              <a:t>Signed and Unsigned Division</a:t>
            </a:r>
            <a:endParaRPr sz="4640" b="1" dirty="0">
              <a:solidFill>
                <a:schemeClr val="accent5"/>
              </a:solidFill>
            </a:endParaRPr>
          </a:p>
        </p:txBody>
      </p:sp>
    </p:spTree>
    <p:extLst>
      <p:ext uri="{BB962C8B-B14F-4D97-AF65-F5344CB8AC3E}">
        <p14:creationId xmlns:p14="http://schemas.microsoft.com/office/powerpoint/2010/main" val="56581823"/>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Shape 158"/>
          <p:cNvSpPr>
            <a:spLocks noGrp="1"/>
          </p:cNvSpPr>
          <p:nvPr>
            <p:ph type="body" idx="1"/>
          </p:nvPr>
        </p:nvSpPr>
        <p:spPr>
          <a:xfrm>
            <a:off x="399603" y="1978925"/>
            <a:ext cx="8344794" cy="4879075"/>
          </a:xfrm>
          <a:prstGeom prst="rect">
            <a:avLst/>
          </a:prstGeom>
        </p:spPr>
        <p:txBody>
          <a:bodyPr>
            <a:normAutofit/>
          </a:bodyPr>
          <a:lstStyle/>
          <a:p>
            <a:pPr marL="321457" indent="-321457" algn="l" defTabSz="361460">
              <a:spcBef>
                <a:spcPts val="2531"/>
              </a:spcBef>
              <a:buFont typeface="Wingdings" panose="05000000000000000000" pitchFamily="2" charset="2"/>
              <a:buChar char="Ø"/>
              <a:defRPr sz="1800">
                <a:solidFill>
                  <a:srgbClr val="000000"/>
                </a:solidFill>
              </a:defRPr>
            </a:pPr>
            <a:r>
              <a:rPr sz="2257" dirty="0">
                <a:solidFill>
                  <a:schemeClr val="tx1"/>
                </a:solidFill>
              </a:rPr>
              <a:t>Example: If AL contains -15, give the decimal value of AL after SAR AL,1 is performed.</a:t>
            </a:r>
          </a:p>
          <a:p>
            <a:pPr marL="321457" indent="-321457" algn="l" defTabSz="361460">
              <a:spcBef>
                <a:spcPts val="2531"/>
              </a:spcBef>
              <a:buFont typeface="Wingdings" panose="05000000000000000000" pitchFamily="2" charset="2"/>
              <a:buChar char="Ø"/>
              <a:defRPr sz="1800">
                <a:solidFill>
                  <a:srgbClr val="000000"/>
                </a:solidFill>
              </a:defRPr>
            </a:pPr>
            <a:r>
              <a:rPr sz="2257" dirty="0">
                <a:solidFill>
                  <a:schemeClr val="tx1"/>
                </a:solidFill>
              </a:rPr>
              <a:t>Solution: Execution of SAR AL,1 divides the number by 2 and rounds down. </a:t>
            </a:r>
          </a:p>
          <a:p>
            <a:pPr marL="596482" lvl="1" indent="-321457" algn="l" defTabSz="361460">
              <a:spcBef>
                <a:spcPts val="2531"/>
              </a:spcBef>
              <a:buFont typeface="Wingdings" panose="05000000000000000000" pitchFamily="2" charset="2"/>
              <a:buChar char="Ø"/>
              <a:defRPr sz="1800">
                <a:solidFill>
                  <a:srgbClr val="000000"/>
                </a:solidFill>
              </a:defRPr>
            </a:pPr>
            <a:r>
              <a:rPr sz="2257" dirty="0">
                <a:solidFill>
                  <a:schemeClr val="tx1"/>
                </a:solidFill>
              </a:rPr>
              <a:t>Dividing -15 by 2 yields -7.5, and after rounding down we get -8. </a:t>
            </a:r>
          </a:p>
          <a:p>
            <a:pPr marL="596482" lvl="1" indent="-321457" algn="l" defTabSz="361460">
              <a:spcBef>
                <a:spcPts val="2531"/>
              </a:spcBef>
              <a:buFont typeface="Wingdings" panose="05000000000000000000" pitchFamily="2" charset="2"/>
              <a:buChar char="Ø"/>
              <a:defRPr sz="1800">
                <a:solidFill>
                  <a:srgbClr val="000000"/>
                </a:solidFill>
              </a:defRPr>
            </a:pPr>
            <a:r>
              <a:rPr sz="2257" dirty="0">
                <a:solidFill>
                  <a:schemeClr val="tx1"/>
                </a:solidFill>
              </a:rPr>
              <a:t>In terms of the binary contents, we have -15=11110001b. After shifting, we have 11111000b= -8.</a:t>
            </a:r>
          </a:p>
          <a:p>
            <a:pPr lvl="1" indent="0" algn="l" defTabSz="361460">
              <a:spcBef>
                <a:spcPts val="2531"/>
              </a:spcBef>
              <a:defRPr sz="1800">
                <a:solidFill>
                  <a:srgbClr val="000000"/>
                </a:solidFill>
              </a:defRPr>
            </a:pPr>
            <a:r>
              <a:rPr sz="2257" dirty="0">
                <a:solidFill>
                  <a:schemeClr val="tx1"/>
                </a:solidFill>
              </a:rPr>
              <a:t>*** We will see some MUL and DIV for multiplication operations that are not limited to power of 2 only. However, MUL and DIV is much slower than SHIFT operation</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887"/>
            <a:ext cx="9144000" cy="1788416"/>
          </a:xfrm>
          <a:prstGeom prst="rect">
            <a:avLst/>
          </a:prstGeom>
        </p:spPr>
      </p:pic>
      <p:sp>
        <p:nvSpPr>
          <p:cNvPr id="6" name="Shape 38"/>
          <p:cNvSpPr>
            <a:spLocks noGrp="1"/>
          </p:cNvSpPr>
          <p:nvPr>
            <p:ph type="title"/>
          </p:nvPr>
        </p:nvSpPr>
        <p:spPr>
          <a:xfrm>
            <a:off x="203260" y="437491"/>
            <a:ext cx="7358063" cy="880104"/>
          </a:xfrm>
          <a:prstGeom prst="rect">
            <a:avLst/>
          </a:prstGeom>
        </p:spPr>
        <p:txBody>
          <a:bodyPr>
            <a:normAutofit/>
          </a:bodyPr>
          <a:lstStyle/>
          <a:p>
            <a:pPr algn="ctr">
              <a:defRPr sz="1800">
                <a:solidFill>
                  <a:srgbClr val="000000"/>
                </a:solidFill>
              </a:defRPr>
            </a:pPr>
            <a:r>
              <a:rPr lang="en-US" sz="4400" b="1" dirty="0">
                <a:solidFill>
                  <a:schemeClr val="accent3">
                    <a:lumMod val="75000"/>
                  </a:schemeClr>
                </a:solidFill>
              </a:rPr>
              <a:t>SAR</a:t>
            </a:r>
            <a:endParaRPr sz="4640" b="1" dirty="0">
              <a:solidFill>
                <a:schemeClr val="accent5"/>
              </a:solidFill>
            </a:endParaRPr>
          </a:p>
        </p:txBody>
      </p:sp>
    </p:spTree>
    <p:extLst>
      <p:ext uri="{BB962C8B-B14F-4D97-AF65-F5344CB8AC3E}">
        <p14:creationId xmlns:p14="http://schemas.microsoft.com/office/powerpoint/2010/main" val="405599932"/>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7C68A-F707-05D3-2117-356CEE00749E}"/>
            </a:ext>
          </a:extLst>
        </p:cNvPr>
        <p:cNvGrpSpPr/>
        <p:nvPr/>
      </p:nvGrpSpPr>
      <p:grpSpPr>
        <a:xfrm>
          <a:off x="0" y="0"/>
          <a:ext cx="0" cy="0"/>
          <a:chOff x="0" y="0"/>
          <a:chExt cx="0" cy="0"/>
        </a:xfrm>
      </p:grpSpPr>
      <p:sp>
        <p:nvSpPr>
          <p:cNvPr id="158" name="Shape 158">
            <a:extLst>
              <a:ext uri="{FF2B5EF4-FFF2-40B4-BE49-F238E27FC236}">
                <a16:creationId xmlns:a16="http://schemas.microsoft.com/office/drawing/2014/main" id="{21111463-919D-D437-4616-188ADEC239B1}"/>
              </a:ext>
            </a:extLst>
          </p:cNvPr>
          <p:cNvSpPr>
            <a:spLocks noGrp="1"/>
          </p:cNvSpPr>
          <p:nvPr>
            <p:ph type="body" idx="1"/>
          </p:nvPr>
        </p:nvSpPr>
        <p:spPr>
          <a:xfrm>
            <a:off x="399603" y="1978925"/>
            <a:ext cx="8344794" cy="4879075"/>
          </a:xfrm>
          <a:prstGeom prst="rect">
            <a:avLst/>
          </a:prstGeom>
        </p:spPr>
        <p:txBody>
          <a:bodyPr>
            <a:normAutofit/>
          </a:bodyPr>
          <a:lstStyle/>
          <a:p>
            <a:pPr>
              <a:buFont typeface="Arial" panose="020B0604020202020204" pitchFamily="34" charset="0"/>
              <a:buChar char="•"/>
            </a:pPr>
            <a:r>
              <a:rPr lang="en-US" b="1" dirty="0"/>
              <a:t>Initial Value:</a:t>
            </a:r>
            <a:endParaRPr lang="en-US" dirty="0"/>
          </a:p>
          <a:p>
            <a:pPr marL="742950" lvl="1" indent="-285750">
              <a:buFont typeface="Arial" panose="020B0604020202020204" pitchFamily="34" charset="0"/>
              <a:buChar char="•"/>
            </a:pPr>
            <a:r>
              <a:rPr lang="en-US" b="1" dirty="0"/>
              <a:t>AL = -15 (signed 8-bit number)</a:t>
            </a:r>
            <a:r>
              <a:rPr lang="en-US" dirty="0"/>
              <a:t>.</a:t>
            </a:r>
          </a:p>
          <a:p>
            <a:pPr>
              <a:buFont typeface="Arial" panose="020B0604020202020204" pitchFamily="34" charset="0"/>
              <a:buChar char="•"/>
            </a:pPr>
            <a:r>
              <a:rPr lang="en-US" dirty="0"/>
              <a:t>We are using </a:t>
            </a:r>
            <a:r>
              <a:rPr lang="en-US" b="1" dirty="0"/>
              <a:t>SAR (Shift Arithmetic Right)</a:t>
            </a:r>
            <a:r>
              <a:rPr lang="en-US" dirty="0"/>
              <a:t>, which:</a:t>
            </a:r>
          </a:p>
          <a:p>
            <a:pPr marL="742950" lvl="1" indent="-285750">
              <a:buFont typeface="Arial" panose="020B0604020202020204" pitchFamily="34" charset="0"/>
              <a:buChar char="•"/>
            </a:pPr>
            <a:r>
              <a:rPr lang="en-US" dirty="0"/>
              <a:t>Divides the number by </a:t>
            </a:r>
            <a:r>
              <a:rPr lang="en-US" b="1" dirty="0"/>
              <a:t>2</a:t>
            </a:r>
            <a:r>
              <a:rPr lang="en-US" dirty="0"/>
              <a:t> (each right shift is division by 2).</a:t>
            </a:r>
          </a:p>
          <a:p>
            <a:pPr marL="742950" lvl="1" indent="-285750">
              <a:buFont typeface="Arial" panose="020B0604020202020204" pitchFamily="34" charset="0"/>
              <a:buChar char="•"/>
            </a:pPr>
            <a:r>
              <a:rPr lang="en-US" dirty="0"/>
              <a:t>Retains the </a:t>
            </a:r>
            <a:r>
              <a:rPr lang="en-US" b="1" dirty="0"/>
              <a:t>Most Significant Bit (MSB)</a:t>
            </a:r>
            <a:r>
              <a:rPr lang="en-US" dirty="0"/>
              <a:t> (sign bit) for signed numbers.</a:t>
            </a:r>
          </a:p>
          <a:p>
            <a:pPr marL="742950" lvl="1" indent="-285750">
              <a:buFont typeface="Arial" panose="020B0604020202020204" pitchFamily="34" charset="0"/>
              <a:buChar char="•"/>
            </a:pPr>
            <a:r>
              <a:rPr lang="en-US" dirty="0"/>
              <a:t>Rounds </a:t>
            </a:r>
            <a:r>
              <a:rPr lang="en-US" b="1" dirty="0"/>
              <a:t>down (toward negative)</a:t>
            </a:r>
            <a:r>
              <a:rPr lang="en-US" dirty="0"/>
              <a:t> for negative numbers.</a:t>
            </a:r>
          </a:p>
          <a:p>
            <a:pPr marL="321457" indent="-321457" algn="l" defTabSz="361460">
              <a:spcBef>
                <a:spcPts val="2531"/>
              </a:spcBef>
              <a:buFont typeface="Wingdings" panose="05000000000000000000" pitchFamily="2" charset="2"/>
              <a:buChar char="Ø"/>
              <a:defRPr sz="1800">
                <a:solidFill>
                  <a:srgbClr val="000000"/>
                </a:solidFill>
              </a:defRPr>
            </a:pPr>
            <a:r>
              <a:rPr lang="en-US" sz="2257" dirty="0">
                <a:solidFill>
                  <a:schemeClr val="tx1"/>
                </a:solidFill>
              </a:rPr>
              <a:t>Binary Representation of -15:Since this is a signed 8-bit number, we use two's complement for negative values.+15 in Binary: 0000 1111Two's Complement of +15 (to get -15):Invert all bits: 1111 0000Add 1: 1111 0001So, -15 = 1111 0001 (in binary).</a:t>
            </a:r>
            <a:endParaRPr sz="2257" dirty="0">
              <a:solidFill>
                <a:schemeClr val="tx1"/>
              </a:solidFill>
            </a:endParaRPr>
          </a:p>
        </p:txBody>
      </p:sp>
      <p:pic>
        <p:nvPicPr>
          <p:cNvPr id="5" name="Picture 4">
            <a:extLst>
              <a:ext uri="{FF2B5EF4-FFF2-40B4-BE49-F238E27FC236}">
                <a16:creationId xmlns:a16="http://schemas.microsoft.com/office/drawing/2014/main" id="{184F1891-02A7-FA4D-5E57-E020FB0892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887"/>
            <a:ext cx="9144000" cy="1788416"/>
          </a:xfrm>
          <a:prstGeom prst="rect">
            <a:avLst/>
          </a:prstGeom>
        </p:spPr>
      </p:pic>
      <p:sp>
        <p:nvSpPr>
          <p:cNvPr id="6" name="Shape 38">
            <a:extLst>
              <a:ext uri="{FF2B5EF4-FFF2-40B4-BE49-F238E27FC236}">
                <a16:creationId xmlns:a16="http://schemas.microsoft.com/office/drawing/2014/main" id="{0F6091BE-3A3D-05F7-2E34-4AF46AEC0929}"/>
              </a:ext>
            </a:extLst>
          </p:cNvPr>
          <p:cNvSpPr>
            <a:spLocks noGrp="1"/>
          </p:cNvSpPr>
          <p:nvPr>
            <p:ph type="title"/>
          </p:nvPr>
        </p:nvSpPr>
        <p:spPr>
          <a:xfrm>
            <a:off x="203260" y="437491"/>
            <a:ext cx="7358063" cy="880104"/>
          </a:xfrm>
          <a:prstGeom prst="rect">
            <a:avLst/>
          </a:prstGeom>
        </p:spPr>
        <p:txBody>
          <a:bodyPr>
            <a:normAutofit/>
          </a:bodyPr>
          <a:lstStyle/>
          <a:p>
            <a:pPr algn="ctr">
              <a:defRPr sz="1800">
                <a:solidFill>
                  <a:srgbClr val="000000"/>
                </a:solidFill>
              </a:defRPr>
            </a:pPr>
            <a:r>
              <a:rPr lang="en-US" sz="4400" b="1" dirty="0">
                <a:solidFill>
                  <a:schemeClr val="accent3">
                    <a:lumMod val="75000"/>
                  </a:schemeClr>
                </a:solidFill>
              </a:rPr>
              <a:t>SAR</a:t>
            </a:r>
            <a:endParaRPr sz="4640" b="1" dirty="0">
              <a:solidFill>
                <a:schemeClr val="accent5"/>
              </a:solidFill>
            </a:endParaRPr>
          </a:p>
        </p:txBody>
      </p:sp>
    </p:spTree>
    <p:extLst>
      <p:ext uri="{BB962C8B-B14F-4D97-AF65-F5344CB8AC3E}">
        <p14:creationId xmlns:p14="http://schemas.microsoft.com/office/powerpoint/2010/main" val="957213203"/>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13D4D-DF47-9B88-1E85-AB06544F63F9}"/>
            </a:ext>
          </a:extLst>
        </p:cNvPr>
        <p:cNvGrpSpPr/>
        <p:nvPr/>
      </p:nvGrpSpPr>
      <p:grpSpPr>
        <a:xfrm>
          <a:off x="0" y="0"/>
          <a:ext cx="0" cy="0"/>
          <a:chOff x="0" y="0"/>
          <a:chExt cx="0" cy="0"/>
        </a:xfrm>
      </p:grpSpPr>
      <p:sp>
        <p:nvSpPr>
          <p:cNvPr id="158" name="Shape 158">
            <a:extLst>
              <a:ext uri="{FF2B5EF4-FFF2-40B4-BE49-F238E27FC236}">
                <a16:creationId xmlns:a16="http://schemas.microsoft.com/office/drawing/2014/main" id="{1E9CEBF5-9FE4-5473-8A06-B19E7691E1F3}"/>
              </a:ext>
            </a:extLst>
          </p:cNvPr>
          <p:cNvSpPr>
            <a:spLocks noGrp="1"/>
          </p:cNvSpPr>
          <p:nvPr>
            <p:ph type="body" idx="1"/>
          </p:nvPr>
        </p:nvSpPr>
        <p:spPr>
          <a:xfrm>
            <a:off x="399603" y="1978925"/>
            <a:ext cx="8344794" cy="4879075"/>
          </a:xfrm>
          <a:prstGeom prst="rect">
            <a:avLst/>
          </a:prstGeom>
        </p:spPr>
        <p:txBody>
          <a:bodyPr>
            <a:normAutofit/>
          </a:bodyPr>
          <a:lstStyle/>
          <a:p>
            <a:pPr>
              <a:buNone/>
            </a:pPr>
            <a:r>
              <a:rPr lang="en-US" sz="2400" b="1" dirty="0"/>
              <a:t>Performing SAR AL, 1 (Shift Arithmetic Right):</a:t>
            </a:r>
          </a:p>
          <a:p>
            <a:pPr>
              <a:buFont typeface="Arial" panose="020B0604020202020204" pitchFamily="34" charset="0"/>
              <a:buChar char="•"/>
            </a:pPr>
            <a:r>
              <a:rPr lang="en-US" sz="2400" b="1" dirty="0"/>
              <a:t>Before Shift:</a:t>
            </a:r>
            <a:endParaRPr lang="en-US" sz="2400" dirty="0"/>
          </a:p>
          <a:p>
            <a:pPr marL="321457" indent="-321457" algn="l" defTabSz="361460">
              <a:spcBef>
                <a:spcPts val="2531"/>
              </a:spcBef>
              <a:buFont typeface="Wingdings" panose="05000000000000000000" pitchFamily="2" charset="2"/>
              <a:buChar char="Ø"/>
              <a:defRPr sz="1800">
                <a:solidFill>
                  <a:srgbClr val="000000"/>
                </a:solidFill>
              </a:defRPr>
            </a:pPr>
            <a:r>
              <a:rPr lang="en-US" sz="2257" dirty="0">
                <a:solidFill>
                  <a:schemeClr val="tx1"/>
                </a:solidFill>
              </a:rPr>
              <a:t>1111 0001  (-15 in binary)</a:t>
            </a:r>
          </a:p>
          <a:p>
            <a:pPr>
              <a:buNone/>
            </a:pPr>
            <a:r>
              <a:rPr lang="en-US" sz="2400" b="1" dirty="0"/>
              <a:t>After SAR AL, 1:</a:t>
            </a:r>
            <a:endParaRPr lang="en-US" sz="2400" dirty="0"/>
          </a:p>
          <a:p>
            <a:pPr>
              <a:buFont typeface="Arial" panose="020B0604020202020204" pitchFamily="34" charset="0"/>
              <a:buChar char="•"/>
            </a:pPr>
            <a:r>
              <a:rPr lang="en-US" sz="2400" dirty="0"/>
              <a:t>The </a:t>
            </a:r>
            <a:r>
              <a:rPr lang="en-US" sz="2400" b="1" dirty="0"/>
              <a:t>MSB (1)</a:t>
            </a:r>
            <a:r>
              <a:rPr lang="en-US" sz="2400" dirty="0"/>
              <a:t> is kept because it is a signed number.</a:t>
            </a:r>
          </a:p>
          <a:p>
            <a:pPr>
              <a:buFont typeface="Arial" panose="020B0604020202020204" pitchFamily="34" charset="0"/>
              <a:buChar char="•"/>
            </a:pPr>
            <a:r>
              <a:rPr lang="en-US" sz="2400" dirty="0"/>
              <a:t>The other bits are shifted right by </a:t>
            </a:r>
            <a:r>
              <a:rPr lang="en-US" sz="2400" b="1" dirty="0"/>
              <a:t>1</a:t>
            </a:r>
            <a:r>
              <a:rPr lang="en-US" sz="2400" dirty="0"/>
              <a:t>, and the </a:t>
            </a:r>
            <a:r>
              <a:rPr lang="en-US" sz="2400" b="1" dirty="0"/>
              <a:t>MSB (1)</a:t>
            </a:r>
            <a:r>
              <a:rPr lang="en-US" sz="2400" dirty="0"/>
              <a:t> is copied to the left.</a:t>
            </a:r>
          </a:p>
          <a:p>
            <a:pPr marL="321457" indent="-321457" algn="l" defTabSz="361460">
              <a:spcBef>
                <a:spcPts val="2531"/>
              </a:spcBef>
              <a:buFont typeface="Wingdings" panose="05000000000000000000" pitchFamily="2" charset="2"/>
              <a:buChar char="Ø"/>
              <a:defRPr sz="1800">
                <a:solidFill>
                  <a:srgbClr val="000000"/>
                </a:solidFill>
              </a:defRPr>
            </a:pPr>
            <a:r>
              <a:rPr lang="en-US" sz="2257" dirty="0">
                <a:solidFill>
                  <a:schemeClr val="tx1"/>
                </a:solidFill>
              </a:rPr>
              <a:t>1111 1000</a:t>
            </a:r>
          </a:p>
          <a:p>
            <a:pPr marL="321457" indent="-321457" algn="l" defTabSz="361460">
              <a:spcBef>
                <a:spcPts val="2531"/>
              </a:spcBef>
              <a:buFont typeface="Wingdings" panose="05000000000000000000" pitchFamily="2" charset="2"/>
              <a:buChar char="Ø"/>
              <a:defRPr sz="1800">
                <a:solidFill>
                  <a:srgbClr val="000000"/>
                </a:solidFill>
              </a:defRPr>
            </a:pPr>
            <a:r>
              <a:rPr lang="en-US" sz="2400" dirty="0"/>
              <a:t>This is because the MSB (sign bit) is </a:t>
            </a:r>
            <a:r>
              <a:rPr lang="en-US" sz="2400" b="1" dirty="0"/>
              <a:t>1 (negative)</a:t>
            </a:r>
            <a:r>
              <a:rPr lang="en-US" sz="2400" dirty="0"/>
              <a:t>, so it must be retained.</a:t>
            </a:r>
            <a:endParaRPr sz="2257" dirty="0">
              <a:solidFill>
                <a:schemeClr val="tx1"/>
              </a:solidFill>
            </a:endParaRPr>
          </a:p>
        </p:txBody>
      </p:sp>
      <p:pic>
        <p:nvPicPr>
          <p:cNvPr id="5" name="Picture 4">
            <a:extLst>
              <a:ext uri="{FF2B5EF4-FFF2-40B4-BE49-F238E27FC236}">
                <a16:creationId xmlns:a16="http://schemas.microsoft.com/office/drawing/2014/main" id="{EEDA3CFF-E8FB-76E1-3C1E-A24114B995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887"/>
            <a:ext cx="9144000" cy="1788416"/>
          </a:xfrm>
          <a:prstGeom prst="rect">
            <a:avLst/>
          </a:prstGeom>
        </p:spPr>
      </p:pic>
      <p:sp>
        <p:nvSpPr>
          <p:cNvPr id="6" name="Shape 38">
            <a:extLst>
              <a:ext uri="{FF2B5EF4-FFF2-40B4-BE49-F238E27FC236}">
                <a16:creationId xmlns:a16="http://schemas.microsoft.com/office/drawing/2014/main" id="{FC4ECB29-60C5-5BD6-01AA-347FD167269E}"/>
              </a:ext>
            </a:extLst>
          </p:cNvPr>
          <p:cNvSpPr>
            <a:spLocks noGrp="1"/>
          </p:cNvSpPr>
          <p:nvPr>
            <p:ph type="title"/>
          </p:nvPr>
        </p:nvSpPr>
        <p:spPr>
          <a:xfrm>
            <a:off x="203260" y="437491"/>
            <a:ext cx="7358063" cy="880104"/>
          </a:xfrm>
          <a:prstGeom prst="rect">
            <a:avLst/>
          </a:prstGeom>
        </p:spPr>
        <p:txBody>
          <a:bodyPr>
            <a:normAutofit/>
          </a:bodyPr>
          <a:lstStyle/>
          <a:p>
            <a:pPr algn="ctr">
              <a:defRPr sz="1800">
                <a:solidFill>
                  <a:srgbClr val="000000"/>
                </a:solidFill>
              </a:defRPr>
            </a:pPr>
            <a:r>
              <a:rPr lang="en-US" sz="4400" b="1" dirty="0">
                <a:solidFill>
                  <a:schemeClr val="accent3">
                    <a:lumMod val="75000"/>
                  </a:schemeClr>
                </a:solidFill>
              </a:rPr>
              <a:t>SAR</a:t>
            </a:r>
            <a:endParaRPr sz="4640" b="1" dirty="0">
              <a:solidFill>
                <a:schemeClr val="accent5"/>
              </a:solidFill>
            </a:endParaRPr>
          </a:p>
        </p:txBody>
      </p:sp>
    </p:spTree>
    <p:extLst>
      <p:ext uri="{BB962C8B-B14F-4D97-AF65-F5344CB8AC3E}">
        <p14:creationId xmlns:p14="http://schemas.microsoft.com/office/powerpoint/2010/main" val="3320269151"/>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DF2A6-9619-7CBF-1DBD-BAF6394CF363}"/>
            </a:ext>
          </a:extLst>
        </p:cNvPr>
        <p:cNvGrpSpPr/>
        <p:nvPr/>
      </p:nvGrpSpPr>
      <p:grpSpPr>
        <a:xfrm>
          <a:off x="0" y="0"/>
          <a:ext cx="0" cy="0"/>
          <a:chOff x="0" y="0"/>
          <a:chExt cx="0" cy="0"/>
        </a:xfrm>
      </p:grpSpPr>
      <p:sp>
        <p:nvSpPr>
          <p:cNvPr id="158" name="Shape 158">
            <a:extLst>
              <a:ext uri="{FF2B5EF4-FFF2-40B4-BE49-F238E27FC236}">
                <a16:creationId xmlns:a16="http://schemas.microsoft.com/office/drawing/2014/main" id="{9EB17DB8-DB22-DCF0-7296-7D654A8C1AD4}"/>
              </a:ext>
            </a:extLst>
          </p:cNvPr>
          <p:cNvSpPr>
            <a:spLocks noGrp="1"/>
          </p:cNvSpPr>
          <p:nvPr>
            <p:ph type="body" idx="1"/>
          </p:nvPr>
        </p:nvSpPr>
        <p:spPr>
          <a:xfrm>
            <a:off x="399603" y="1978925"/>
            <a:ext cx="8344794" cy="4879075"/>
          </a:xfrm>
          <a:prstGeom prst="rect">
            <a:avLst/>
          </a:prstGeom>
        </p:spPr>
        <p:txBody>
          <a:bodyPr>
            <a:normAutofit/>
          </a:bodyPr>
          <a:lstStyle/>
          <a:p>
            <a:pPr algn="l">
              <a:buNone/>
            </a:pPr>
            <a:r>
              <a:rPr lang="en-US" sz="2257" dirty="0">
                <a:solidFill>
                  <a:schemeClr val="tx1"/>
                </a:solidFill>
              </a:rPr>
              <a:t> Converting the Result Back to </a:t>
            </a:r>
            <a:r>
              <a:rPr lang="en-US" sz="2257" dirty="0" err="1">
                <a:solidFill>
                  <a:schemeClr val="tx1"/>
                </a:solidFill>
              </a:rPr>
              <a:t>Decimal:The</a:t>
            </a:r>
            <a:r>
              <a:rPr lang="en-US" sz="2257" dirty="0">
                <a:solidFill>
                  <a:schemeClr val="tx1"/>
                </a:solidFill>
              </a:rPr>
              <a:t> binary value 1111 1000 is still a signed </a:t>
            </a:r>
            <a:r>
              <a:rPr lang="en-US" sz="2257" dirty="0" err="1">
                <a:solidFill>
                  <a:schemeClr val="tx1"/>
                </a:solidFill>
              </a:rPr>
              <a:t>number.Since</a:t>
            </a:r>
            <a:r>
              <a:rPr lang="en-US" sz="2257" dirty="0">
                <a:solidFill>
                  <a:schemeClr val="tx1"/>
                </a:solidFill>
              </a:rPr>
              <a:t> the MSB is 1, it is negative (two's complement form).To find the decimal </a:t>
            </a:r>
            <a:r>
              <a:rPr lang="en-US" sz="2257" dirty="0" err="1">
                <a:solidFill>
                  <a:schemeClr val="tx1"/>
                </a:solidFill>
              </a:rPr>
              <a:t>value:Invert</a:t>
            </a:r>
            <a:r>
              <a:rPr lang="en-US" sz="2257" dirty="0">
                <a:solidFill>
                  <a:schemeClr val="tx1"/>
                </a:solidFill>
              </a:rPr>
              <a:t> the bits: 0000 0111. Add 1: 0000 1000 (8 in decimal).Add a negative sign because of the MSB: -8.</a:t>
            </a:r>
          </a:p>
          <a:p>
            <a:pPr algn="l">
              <a:buNone/>
            </a:pPr>
            <a:endParaRPr lang="en-US" sz="2257" dirty="0">
              <a:solidFill>
                <a:schemeClr val="tx1"/>
              </a:solidFill>
            </a:endParaRPr>
          </a:p>
          <a:p>
            <a:pPr>
              <a:buNone/>
            </a:pPr>
            <a:r>
              <a:rPr lang="en-US" sz="2000" b="1" dirty="0"/>
              <a:t>Final Answer:</a:t>
            </a:r>
          </a:p>
          <a:p>
            <a:pPr>
              <a:buFont typeface="Arial" panose="020B0604020202020204" pitchFamily="34" charset="0"/>
              <a:buChar char="•"/>
            </a:pPr>
            <a:r>
              <a:rPr lang="en-US" sz="2000" dirty="0"/>
              <a:t>The final value of </a:t>
            </a:r>
            <a:r>
              <a:rPr lang="en-US" sz="2000" b="1" dirty="0"/>
              <a:t>AL = -8</a:t>
            </a:r>
            <a:endParaRPr lang="en-US" sz="2000" dirty="0"/>
          </a:p>
          <a:p>
            <a:pPr algn="l">
              <a:buNone/>
            </a:pPr>
            <a:endParaRPr sz="2257" dirty="0">
              <a:solidFill>
                <a:schemeClr val="tx1"/>
              </a:solidFill>
            </a:endParaRPr>
          </a:p>
        </p:txBody>
      </p:sp>
      <p:pic>
        <p:nvPicPr>
          <p:cNvPr id="5" name="Picture 4">
            <a:extLst>
              <a:ext uri="{FF2B5EF4-FFF2-40B4-BE49-F238E27FC236}">
                <a16:creationId xmlns:a16="http://schemas.microsoft.com/office/drawing/2014/main" id="{95D67A16-2FC0-30CC-0E83-59AEE3C22F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887"/>
            <a:ext cx="9144000" cy="1788416"/>
          </a:xfrm>
          <a:prstGeom prst="rect">
            <a:avLst/>
          </a:prstGeom>
        </p:spPr>
      </p:pic>
      <p:sp>
        <p:nvSpPr>
          <p:cNvPr id="6" name="Shape 38">
            <a:extLst>
              <a:ext uri="{FF2B5EF4-FFF2-40B4-BE49-F238E27FC236}">
                <a16:creationId xmlns:a16="http://schemas.microsoft.com/office/drawing/2014/main" id="{584DE5C6-205D-270F-FA52-A889C1219611}"/>
              </a:ext>
            </a:extLst>
          </p:cNvPr>
          <p:cNvSpPr>
            <a:spLocks noGrp="1"/>
          </p:cNvSpPr>
          <p:nvPr>
            <p:ph type="title"/>
          </p:nvPr>
        </p:nvSpPr>
        <p:spPr>
          <a:xfrm>
            <a:off x="203260" y="437491"/>
            <a:ext cx="7358063" cy="880104"/>
          </a:xfrm>
          <a:prstGeom prst="rect">
            <a:avLst/>
          </a:prstGeom>
        </p:spPr>
        <p:txBody>
          <a:bodyPr>
            <a:normAutofit/>
          </a:bodyPr>
          <a:lstStyle/>
          <a:p>
            <a:pPr algn="ctr">
              <a:defRPr sz="1800">
                <a:solidFill>
                  <a:srgbClr val="000000"/>
                </a:solidFill>
              </a:defRPr>
            </a:pPr>
            <a:r>
              <a:rPr lang="en-US" sz="4400" b="1" dirty="0">
                <a:solidFill>
                  <a:schemeClr val="accent3">
                    <a:lumMod val="75000"/>
                  </a:schemeClr>
                </a:solidFill>
              </a:rPr>
              <a:t>SAR</a:t>
            </a:r>
            <a:endParaRPr sz="4640" b="1" dirty="0">
              <a:solidFill>
                <a:schemeClr val="accent5"/>
              </a:solidFill>
            </a:endParaRPr>
          </a:p>
        </p:txBody>
      </p:sp>
    </p:spTree>
    <p:extLst>
      <p:ext uri="{BB962C8B-B14F-4D97-AF65-F5344CB8AC3E}">
        <p14:creationId xmlns:p14="http://schemas.microsoft.com/office/powerpoint/2010/main" val="2848454685"/>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Shape 161"/>
          <p:cNvSpPr>
            <a:spLocks noGrp="1"/>
          </p:cNvSpPr>
          <p:nvPr>
            <p:ph type="body" idx="1"/>
          </p:nvPr>
        </p:nvSpPr>
        <p:spPr>
          <a:xfrm>
            <a:off x="555896" y="2068567"/>
            <a:ext cx="8409511" cy="4458340"/>
          </a:xfrm>
          <a:prstGeom prst="rect">
            <a:avLst/>
          </a:prstGeom>
        </p:spPr>
        <p:txBody>
          <a:bodyPr>
            <a:noAutofit/>
          </a:bodyPr>
          <a:lstStyle/>
          <a:p>
            <a:pPr marL="321457" indent="-321457" algn="l" defTabSz="324493">
              <a:spcBef>
                <a:spcPts val="2320"/>
              </a:spcBef>
              <a:buFont typeface="Wingdings" panose="05000000000000000000" pitchFamily="2" charset="2"/>
              <a:buChar char="Ø"/>
              <a:defRPr sz="1800">
                <a:solidFill>
                  <a:srgbClr val="000000"/>
                </a:solidFill>
              </a:defRPr>
            </a:pPr>
            <a:r>
              <a:rPr sz="2257" dirty="0">
                <a:solidFill>
                  <a:schemeClr val="tx1"/>
                </a:solidFill>
              </a:rPr>
              <a:t>The instruction ROL (rotate left) shifts bits to the left. The </a:t>
            </a:r>
            <a:r>
              <a:rPr sz="2257" dirty="0" err="1">
                <a:solidFill>
                  <a:schemeClr val="tx1"/>
                </a:solidFill>
              </a:rPr>
              <a:t>msb</a:t>
            </a:r>
            <a:r>
              <a:rPr sz="2257" dirty="0">
                <a:solidFill>
                  <a:schemeClr val="tx1"/>
                </a:solidFill>
              </a:rPr>
              <a:t> shifted into the rightmost bit. </a:t>
            </a:r>
          </a:p>
          <a:p>
            <a:pPr marL="321457" indent="-321457" algn="l" defTabSz="324493">
              <a:spcBef>
                <a:spcPts val="2320"/>
              </a:spcBef>
              <a:buFont typeface="Wingdings" panose="05000000000000000000" pitchFamily="2" charset="2"/>
              <a:buChar char="Ø"/>
              <a:defRPr sz="1800">
                <a:solidFill>
                  <a:srgbClr val="000000"/>
                </a:solidFill>
              </a:defRPr>
            </a:pPr>
            <a:r>
              <a:rPr sz="2257" dirty="0">
                <a:solidFill>
                  <a:schemeClr val="tx1"/>
                </a:solidFill>
              </a:rPr>
              <a:t>The CF also gets the bit shifted out of the </a:t>
            </a:r>
            <a:r>
              <a:rPr sz="2257" dirty="0" err="1">
                <a:solidFill>
                  <a:schemeClr val="tx1"/>
                </a:solidFill>
              </a:rPr>
              <a:t>msb</a:t>
            </a:r>
            <a:r>
              <a:rPr sz="2257" dirty="0">
                <a:solidFill>
                  <a:schemeClr val="tx1"/>
                </a:solidFill>
              </a:rPr>
              <a:t>. </a:t>
            </a:r>
          </a:p>
          <a:p>
            <a:pPr marL="321457" indent="-321457" algn="l" defTabSz="324493">
              <a:spcBef>
                <a:spcPts val="2320"/>
              </a:spcBef>
              <a:buFont typeface="Wingdings" panose="05000000000000000000" pitchFamily="2" charset="2"/>
              <a:buChar char="Ø"/>
              <a:defRPr sz="1800">
                <a:solidFill>
                  <a:srgbClr val="000000"/>
                </a:solidFill>
              </a:defRPr>
            </a:pPr>
            <a:r>
              <a:rPr sz="2257" dirty="0">
                <a:solidFill>
                  <a:schemeClr val="tx1"/>
                </a:solidFill>
              </a:rPr>
              <a:t>You can think of the destination bits forming a circle, with the least significant bit following the </a:t>
            </a:r>
            <a:r>
              <a:rPr sz="2257" dirty="0" err="1">
                <a:solidFill>
                  <a:schemeClr val="tx1"/>
                </a:solidFill>
              </a:rPr>
              <a:t>msb</a:t>
            </a:r>
            <a:r>
              <a:rPr sz="2257" dirty="0">
                <a:solidFill>
                  <a:schemeClr val="tx1"/>
                </a:solidFill>
              </a:rPr>
              <a:t> in the circle. </a:t>
            </a:r>
          </a:p>
          <a:p>
            <a:pPr marL="321457" indent="-321457" algn="l" defTabSz="324493">
              <a:spcBef>
                <a:spcPts val="2320"/>
              </a:spcBef>
              <a:buFont typeface="Wingdings" panose="05000000000000000000" pitchFamily="2" charset="2"/>
              <a:buChar char="Ø"/>
              <a:defRPr sz="1800">
                <a:solidFill>
                  <a:srgbClr val="000000"/>
                </a:solidFill>
              </a:defRPr>
            </a:pPr>
            <a:r>
              <a:rPr sz="2257" dirty="0">
                <a:solidFill>
                  <a:schemeClr val="tx1"/>
                </a:solidFill>
              </a:rPr>
              <a:t>ROL destination, 1</a:t>
            </a:r>
            <a:endParaRPr lang="en-US" sz="2257" dirty="0">
              <a:solidFill>
                <a:schemeClr val="tx1"/>
              </a:solidFill>
            </a:endParaRPr>
          </a:p>
          <a:p>
            <a:pPr marL="321457" indent="-321457" algn="l" defTabSz="324493">
              <a:spcBef>
                <a:spcPts val="2320"/>
              </a:spcBef>
              <a:buFont typeface="Wingdings" panose="05000000000000000000" pitchFamily="2" charset="2"/>
              <a:buChar char="Ø"/>
              <a:defRPr sz="1800">
                <a:solidFill>
                  <a:srgbClr val="000000"/>
                </a:solidFill>
              </a:defRPr>
            </a:pPr>
            <a:r>
              <a:rPr lang="en-US" sz="2257" dirty="0">
                <a:solidFill>
                  <a:schemeClr val="tx1"/>
                </a:solidFill>
              </a:rPr>
              <a:t>and</a:t>
            </a:r>
            <a:endParaRPr sz="2257" dirty="0">
              <a:solidFill>
                <a:schemeClr val="tx1"/>
              </a:solidFill>
            </a:endParaRPr>
          </a:p>
          <a:p>
            <a:pPr marL="321457" indent="-321457" algn="l" defTabSz="324493">
              <a:spcBef>
                <a:spcPts val="2320"/>
              </a:spcBef>
              <a:buFont typeface="Wingdings" panose="05000000000000000000" pitchFamily="2" charset="2"/>
              <a:buChar char="Ø"/>
              <a:defRPr sz="1800">
                <a:solidFill>
                  <a:srgbClr val="000000"/>
                </a:solidFill>
              </a:defRPr>
            </a:pPr>
            <a:r>
              <a:rPr sz="2257" dirty="0">
                <a:solidFill>
                  <a:schemeClr val="tx1"/>
                </a:solidFill>
              </a:rPr>
              <a:t>ROL destination, CL</a:t>
            </a:r>
          </a:p>
        </p:txBody>
      </p:sp>
      <p:pic>
        <p:nvPicPr>
          <p:cNvPr id="162" name="Screen Shot 2015-03-27 at 9.50.17 PM.png"/>
          <p:cNvPicPr/>
          <p:nvPr/>
        </p:nvPicPr>
        <p:blipFill>
          <a:blip r:embed="rId2" cstate="print"/>
          <a:stretch>
            <a:fillRect/>
          </a:stretch>
        </p:blipFill>
        <p:spPr>
          <a:xfrm>
            <a:off x="4479578" y="4519232"/>
            <a:ext cx="4093689" cy="2007675"/>
          </a:xfrm>
          <a:prstGeom prst="rect">
            <a:avLst/>
          </a:prstGeom>
          <a:ln w="12700">
            <a:miter lim="400000"/>
          </a:ln>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7887"/>
            <a:ext cx="9144000" cy="1788416"/>
          </a:xfrm>
          <a:prstGeom prst="rect">
            <a:avLst/>
          </a:prstGeom>
        </p:spPr>
      </p:pic>
      <p:sp>
        <p:nvSpPr>
          <p:cNvPr id="8" name="Shape 38"/>
          <p:cNvSpPr>
            <a:spLocks noGrp="1"/>
          </p:cNvSpPr>
          <p:nvPr>
            <p:ph type="title"/>
          </p:nvPr>
        </p:nvSpPr>
        <p:spPr>
          <a:xfrm>
            <a:off x="203260" y="437491"/>
            <a:ext cx="7358063" cy="880104"/>
          </a:xfrm>
          <a:prstGeom prst="rect">
            <a:avLst/>
          </a:prstGeom>
        </p:spPr>
        <p:txBody>
          <a:bodyPr>
            <a:normAutofit/>
          </a:bodyPr>
          <a:lstStyle/>
          <a:p>
            <a:pPr algn="ctr">
              <a:defRPr sz="1800">
                <a:solidFill>
                  <a:srgbClr val="000000"/>
                </a:solidFill>
              </a:defRPr>
            </a:pPr>
            <a:r>
              <a:rPr lang="en-US" sz="4400" b="1" dirty="0">
                <a:solidFill>
                  <a:schemeClr val="accent3">
                    <a:lumMod val="75000"/>
                  </a:schemeClr>
                </a:solidFill>
              </a:rPr>
              <a:t>Rotate Instructions</a:t>
            </a:r>
            <a:endParaRPr sz="4640" b="1" dirty="0">
              <a:solidFill>
                <a:schemeClr val="accent5"/>
              </a:solidFill>
            </a:endParaRPr>
          </a:p>
        </p:txBody>
      </p:sp>
    </p:spTree>
    <p:extLst>
      <p:ext uri="{BB962C8B-B14F-4D97-AF65-F5344CB8AC3E}">
        <p14:creationId xmlns:p14="http://schemas.microsoft.com/office/powerpoint/2010/main" val="684387740"/>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Shape 165"/>
          <p:cNvSpPr>
            <a:spLocks noGrp="1"/>
          </p:cNvSpPr>
          <p:nvPr>
            <p:ph type="body" idx="1"/>
          </p:nvPr>
        </p:nvSpPr>
        <p:spPr>
          <a:xfrm>
            <a:off x="455414" y="1931691"/>
            <a:ext cx="7804548" cy="4420196"/>
          </a:xfrm>
          <a:prstGeom prst="rect">
            <a:avLst/>
          </a:prstGeom>
        </p:spPr>
        <p:txBody>
          <a:bodyPr>
            <a:normAutofit/>
          </a:bodyPr>
          <a:lstStyle/>
          <a:p>
            <a:pPr marL="321457" indent="-321457" algn="l" defTabSz="402536">
              <a:spcBef>
                <a:spcPts val="2883"/>
              </a:spcBef>
              <a:buFont typeface="Wingdings" panose="05000000000000000000" pitchFamily="2" charset="2"/>
              <a:buChar char="Ø"/>
              <a:defRPr sz="1800">
                <a:solidFill>
                  <a:srgbClr val="000000"/>
                </a:solidFill>
              </a:defRPr>
            </a:pPr>
            <a:r>
              <a:rPr sz="2257" dirty="0">
                <a:solidFill>
                  <a:schemeClr val="tx1"/>
                </a:solidFill>
              </a:rPr>
              <a:t>The instruction ROR (rotate right) works just like ROL except that the bits are rotated to the right.</a:t>
            </a:r>
          </a:p>
          <a:p>
            <a:pPr marL="321457" indent="-321457" algn="l" defTabSz="402536">
              <a:spcBef>
                <a:spcPts val="2883"/>
              </a:spcBef>
              <a:buFont typeface="Wingdings" panose="05000000000000000000" pitchFamily="2" charset="2"/>
              <a:buChar char="Ø"/>
              <a:defRPr sz="1800">
                <a:solidFill>
                  <a:srgbClr val="000000"/>
                </a:solidFill>
              </a:defRPr>
            </a:pPr>
            <a:r>
              <a:rPr sz="2257" dirty="0">
                <a:solidFill>
                  <a:schemeClr val="tx1"/>
                </a:solidFill>
              </a:rPr>
              <a:t>The rightmost bit is shifted into the </a:t>
            </a:r>
            <a:r>
              <a:rPr sz="2257" dirty="0" err="1">
                <a:solidFill>
                  <a:schemeClr val="tx1"/>
                </a:solidFill>
              </a:rPr>
              <a:t>msb</a:t>
            </a:r>
            <a:r>
              <a:rPr sz="2257" dirty="0">
                <a:solidFill>
                  <a:schemeClr val="tx1"/>
                </a:solidFill>
              </a:rPr>
              <a:t>, and also into the CF  </a:t>
            </a:r>
          </a:p>
          <a:p>
            <a:pPr marL="321457" indent="-321457" algn="l" defTabSz="402536">
              <a:spcBef>
                <a:spcPts val="2883"/>
              </a:spcBef>
              <a:buFont typeface="Wingdings" panose="05000000000000000000" pitchFamily="2" charset="2"/>
              <a:buChar char="Ø"/>
              <a:defRPr sz="1800">
                <a:solidFill>
                  <a:srgbClr val="000000"/>
                </a:solidFill>
              </a:defRPr>
            </a:pPr>
            <a:r>
              <a:rPr sz="2257" dirty="0">
                <a:solidFill>
                  <a:schemeClr val="tx1"/>
                </a:solidFill>
              </a:rPr>
              <a:t>ROR destination, 1 </a:t>
            </a:r>
            <a:endParaRPr lang="en-US" sz="2257" dirty="0">
              <a:solidFill>
                <a:schemeClr val="tx1"/>
              </a:solidFill>
            </a:endParaRPr>
          </a:p>
          <a:p>
            <a:pPr marL="321457" indent="-321457" algn="l" defTabSz="402536">
              <a:spcBef>
                <a:spcPts val="2883"/>
              </a:spcBef>
              <a:buFont typeface="Wingdings" panose="05000000000000000000" pitchFamily="2" charset="2"/>
              <a:buChar char="Ø"/>
              <a:defRPr sz="1800">
                <a:solidFill>
                  <a:srgbClr val="000000"/>
                </a:solidFill>
              </a:defRPr>
            </a:pPr>
            <a:r>
              <a:rPr lang="en-US" sz="2257" dirty="0">
                <a:solidFill>
                  <a:schemeClr val="tx1"/>
                </a:solidFill>
              </a:rPr>
              <a:t>and</a:t>
            </a:r>
            <a:endParaRPr sz="2257" dirty="0">
              <a:solidFill>
                <a:schemeClr val="tx1"/>
              </a:solidFill>
            </a:endParaRPr>
          </a:p>
          <a:p>
            <a:pPr marL="321457" indent="-321457" algn="l" defTabSz="402536">
              <a:spcBef>
                <a:spcPts val="2883"/>
              </a:spcBef>
              <a:buFont typeface="Wingdings" panose="05000000000000000000" pitchFamily="2" charset="2"/>
              <a:buChar char="Ø"/>
              <a:defRPr sz="1800">
                <a:solidFill>
                  <a:srgbClr val="000000"/>
                </a:solidFill>
              </a:defRPr>
            </a:pPr>
            <a:r>
              <a:rPr sz="2257" dirty="0">
                <a:solidFill>
                  <a:schemeClr val="tx1"/>
                </a:solidFill>
              </a:rPr>
              <a:t>ROR destination, CL</a:t>
            </a:r>
          </a:p>
        </p:txBody>
      </p:sp>
      <p:pic>
        <p:nvPicPr>
          <p:cNvPr id="166" name="Screen Shot 2015-03-27 at 10.31.28 PM.png"/>
          <p:cNvPicPr/>
          <p:nvPr/>
        </p:nvPicPr>
        <p:blipFill>
          <a:blip r:embed="rId2" cstate="print"/>
          <a:stretch>
            <a:fillRect/>
          </a:stretch>
        </p:blipFill>
        <p:spPr>
          <a:xfrm>
            <a:off x="3929063" y="3554935"/>
            <a:ext cx="4804173" cy="2973587"/>
          </a:xfrm>
          <a:prstGeom prst="rect">
            <a:avLst/>
          </a:prstGeom>
          <a:ln w="12700">
            <a:miter lim="400000"/>
          </a:ln>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7887"/>
            <a:ext cx="9144000" cy="1788416"/>
          </a:xfrm>
          <a:prstGeom prst="rect">
            <a:avLst/>
          </a:prstGeom>
        </p:spPr>
      </p:pic>
      <p:sp>
        <p:nvSpPr>
          <p:cNvPr id="7" name="Shape 38"/>
          <p:cNvSpPr>
            <a:spLocks noGrp="1"/>
          </p:cNvSpPr>
          <p:nvPr>
            <p:ph type="title"/>
          </p:nvPr>
        </p:nvSpPr>
        <p:spPr>
          <a:xfrm>
            <a:off x="203260" y="437491"/>
            <a:ext cx="7358063" cy="880104"/>
          </a:xfrm>
          <a:prstGeom prst="rect">
            <a:avLst/>
          </a:prstGeom>
        </p:spPr>
        <p:txBody>
          <a:bodyPr>
            <a:normAutofit/>
          </a:bodyPr>
          <a:lstStyle/>
          <a:p>
            <a:pPr algn="ctr">
              <a:defRPr sz="1800">
                <a:solidFill>
                  <a:srgbClr val="000000"/>
                </a:solidFill>
              </a:defRPr>
            </a:pPr>
            <a:r>
              <a:rPr lang="en-US" sz="4800" b="1" dirty="0">
                <a:solidFill>
                  <a:schemeClr val="accent3">
                    <a:lumMod val="75000"/>
                  </a:schemeClr>
                </a:solidFill>
              </a:rPr>
              <a:t>Rotate Right (ROR)</a:t>
            </a:r>
            <a:endParaRPr sz="4640" b="1" dirty="0">
              <a:solidFill>
                <a:schemeClr val="accent5"/>
              </a:solidFill>
            </a:endParaRPr>
          </a:p>
        </p:txBody>
      </p:sp>
    </p:spTree>
    <p:extLst>
      <p:ext uri="{BB962C8B-B14F-4D97-AF65-F5344CB8AC3E}">
        <p14:creationId xmlns:p14="http://schemas.microsoft.com/office/powerpoint/2010/main" val="2912874370"/>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Shape 169"/>
          <p:cNvSpPr>
            <a:spLocks noGrp="1"/>
          </p:cNvSpPr>
          <p:nvPr>
            <p:ph type="body" idx="1"/>
          </p:nvPr>
        </p:nvSpPr>
        <p:spPr>
          <a:xfrm>
            <a:off x="344758" y="1883392"/>
            <a:ext cx="8454484" cy="4410520"/>
          </a:xfrm>
          <a:prstGeom prst="rect">
            <a:avLst/>
          </a:prstGeom>
        </p:spPr>
        <p:txBody>
          <a:bodyPr>
            <a:noAutofit/>
          </a:bodyPr>
          <a:lstStyle/>
          <a:p>
            <a:pPr marL="321457" indent="-321457" algn="l">
              <a:buFont typeface="Wingdings" panose="05000000000000000000" pitchFamily="2" charset="2"/>
              <a:buChar char="Ø"/>
            </a:pPr>
            <a:r>
              <a:rPr lang="en-US" sz="2000" dirty="0"/>
              <a:t>In ROL and ROR, CF reflects the bit that is rotated out. </a:t>
            </a:r>
          </a:p>
          <a:p>
            <a:pPr marL="321457" indent="-321457" algn="l">
              <a:buFont typeface="Wingdings" panose="05000000000000000000" pitchFamily="2" charset="2"/>
              <a:buChar char="Ø"/>
            </a:pPr>
            <a:r>
              <a:rPr lang="en-US" sz="2000" dirty="0"/>
              <a:t>ROL and ROR can be used to inspect the bits in a byte or word, without changing the contents.</a:t>
            </a:r>
          </a:p>
          <a:p>
            <a:pPr marL="321457" indent="-321457" algn="l">
              <a:buFont typeface="Wingdings" panose="05000000000000000000" pitchFamily="2" charset="2"/>
              <a:buChar char="Ø"/>
            </a:pPr>
            <a:r>
              <a:rPr lang="en-US" sz="2000" dirty="0"/>
              <a:t>Example: Use ROL to count the number of 1 bits in BX, without changing BX. Put the answer in AX.</a:t>
            </a:r>
          </a:p>
          <a:p>
            <a:pPr marL="321457" indent="-321457" algn="l">
              <a:buFont typeface="Wingdings" panose="05000000000000000000" pitchFamily="2" charset="2"/>
              <a:buChar char="Ø"/>
            </a:pPr>
            <a:r>
              <a:rPr lang="en-US" sz="2000" dirty="0"/>
              <a:t>Solution:</a:t>
            </a:r>
          </a:p>
          <a:p>
            <a:pPr algn="l"/>
            <a:r>
              <a:rPr lang="en-US" sz="2000" b="1" dirty="0"/>
              <a:t>	XOR AX,AX</a:t>
            </a:r>
            <a:endParaRPr lang="en-US" sz="2000" dirty="0"/>
          </a:p>
          <a:p>
            <a:pPr algn="l"/>
            <a:r>
              <a:rPr lang="en-US" sz="2000" b="1" dirty="0"/>
              <a:t>	MOV CX,16</a:t>
            </a:r>
            <a:endParaRPr lang="en-US" sz="2000" dirty="0"/>
          </a:p>
          <a:p>
            <a:pPr marL="321457" indent="-321457" algn="l">
              <a:buFont typeface="Wingdings" panose="05000000000000000000" pitchFamily="2" charset="2"/>
              <a:buChar char="Ø"/>
            </a:pPr>
            <a:r>
              <a:rPr lang="en-US" sz="2000" b="1" dirty="0"/>
              <a:t>TOP:</a:t>
            </a:r>
            <a:endParaRPr lang="en-US" sz="2000" dirty="0"/>
          </a:p>
          <a:p>
            <a:pPr algn="l"/>
            <a:r>
              <a:rPr lang="en-US" sz="2000" b="1" dirty="0"/>
              <a:t>	ROL BX,1</a:t>
            </a:r>
            <a:endParaRPr lang="en-US" sz="2000" dirty="0"/>
          </a:p>
          <a:p>
            <a:pPr algn="l"/>
            <a:r>
              <a:rPr lang="en-US" sz="2000" b="1" dirty="0"/>
              <a:t>	JNC NEXT</a:t>
            </a:r>
            <a:endParaRPr lang="en-US" sz="2000" dirty="0"/>
          </a:p>
          <a:p>
            <a:pPr algn="l"/>
            <a:r>
              <a:rPr lang="en-US" sz="2000" b="1" dirty="0"/>
              <a:t>      INC AX</a:t>
            </a:r>
            <a:endParaRPr lang="en-US" sz="2000" dirty="0"/>
          </a:p>
          <a:p>
            <a:pPr marL="321457" indent="-321457" algn="l">
              <a:buFont typeface="Wingdings" panose="05000000000000000000" pitchFamily="2" charset="2"/>
              <a:buChar char="Ø"/>
            </a:pPr>
            <a:r>
              <a:rPr lang="en-US" sz="2000" b="1" dirty="0"/>
              <a:t>NEXT:</a:t>
            </a:r>
            <a:endParaRPr lang="en-US" sz="2000" dirty="0"/>
          </a:p>
          <a:p>
            <a:pPr algn="l"/>
            <a:r>
              <a:rPr lang="en-US" sz="2000" b="1" dirty="0"/>
              <a:t>	LOOP TOP</a:t>
            </a:r>
            <a:endParaRPr lang="en-US" sz="2000" dirty="0"/>
          </a:p>
          <a:p>
            <a:pPr marL="200911" indent="-200911" algn="l" defTabSz="234127">
              <a:spcBef>
                <a:spcPts val="1617"/>
              </a:spcBef>
              <a:buFont typeface="Wingdings" panose="05000000000000000000" pitchFamily="2" charset="2"/>
              <a:buChar char="Ø"/>
              <a:defRPr sz="1800">
                <a:solidFill>
                  <a:srgbClr val="000000"/>
                </a:solidFill>
              </a:defRPr>
            </a:pPr>
            <a:endParaRPr b="1" dirty="0">
              <a:solidFill>
                <a:schemeClr val="tx1"/>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887"/>
            <a:ext cx="9144000" cy="1788416"/>
          </a:xfrm>
          <a:prstGeom prst="rect">
            <a:avLst/>
          </a:prstGeom>
        </p:spPr>
      </p:pic>
      <p:sp>
        <p:nvSpPr>
          <p:cNvPr id="6" name="Shape 38"/>
          <p:cNvSpPr>
            <a:spLocks noGrp="1"/>
          </p:cNvSpPr>
          <p:nvPr>
            <p:ph type="title"/>
          </p:nvPr>
        </p:nvSpPr>
        <p:spPr>
          <a:xfrm>
            <a:off x="203260" y="437491"/>
            <a:ext cx="7358063" cy="880104"/>
          </a:xfrm>
          <a:prstGeom prst="rect">
            <a:avLst/>
          </a:prstGeom>
        </p:spPr>
        <p:txBody>
          <a:bodyPr>
            <a:normAutofit/>
          </a:bodyPr>
          <a:lstStyle/>
          <a:p>
            <a:pPr algn="ctr">
              <a:defRPr sz="1800">
                <a:solidFill>
                  <a:srgbClr val="000000"/>
                </a:solidFill>
              </a:defRPr>
            </a:pPr>
            <a:r>
              <a:rPr lang="en-US" sz="4400" b="1" dirty="0">
                <a:solidFill>
                  <a:schemeClr val="accent3">
                    <a:lumMod val="75000"/>
                  </a:schemeClr>
                </a:solidFill>
              </a:rPr>
              <a:t>ROL, ROR and CF</a:t>
            </a:r>
            <a:endParaRPr sz="4640" b="1" dirty="0">
              <a:solidFill>
                <a:schemeClr val="accent5"/>
              </a:solidFill>
            </a:endParaRPr>
          </a:p>
        </p:txBody>
      </p:sp>
    </p:spTree>
    <p:extLst>
      <p:ext uri="{BB962C8B-B14F-4D97-AF65-F5344CB8AC3E}">
        <p14:creationId xmlns:p14="http://schemas.microsoft.com/office/powerpoint/2010/main" val="2566487822"/>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7AB85-0F76-E2BC-987A-6921CE66548A}"/>
            </a:ext>
          </a:extLst>
        </p:cNvPr>
        <p:cNvGrpSpPr/>
        <p:nvPr/>
      </p:nvGrpSpPr>
      <p:grpSpPr>
        <a:xfrm>
          <a:off x="0" y="0"/>
          <a:ext cx="0" cy="0"/>
          <a:chOff x="0" y="0"/>
          <a:chExt cx="0" cy="0"/>
        </a:xfrm>
      </p:grpSpPr>
      <p:sp>
        <p:nvSpPr>
          <p:cNvPr id="169" name="Shape 169">
            <a:extLst>
              <a:ext uri="{FF2B5EF4-FFF2-40B4-BE49-F238E27FC236}">
                <a16:creationId xmlns:a16="http://schemas.microsoft.com/office/drawing/2014/main" id="{82944D3A-9BA5-4D5F-20C0-CCD26C6DB759}"/>
              </a:ext>
            </a:extLst>
          </p:cNvPr>
          <p:cNvSpPr>
            <a:spLocks noGrp="1"/>
          </p:cNvSpPr>
          <p:nvPr>
            <p:ph type="body" idx="1"/>
          </p:nvPr>
        </p:nvSpPr>
        <p:spPr>
          <a:xfrm>
            <a:off x="344758" y="1883392"/>
            <a:ext cx="8454484" cy="6890494"/>
          </a:xfrm>
          <a:prstGeom prst="rect">
            <a:avLst/>
          </a:prstGeom>
        </p:spPr>
        <p:txBody>
          <a:bodyPr>
            <a:noAutofit/>
          </a:bodyPr>
          <a:lstStyle/>
          <a:p>
            <a:pPr>
              <a:buFont typeface="Arial" panose="020B0604020202020204" pitchFamily="34" charset="0"/>
              <a:buChar char="•"/>
            </a:pPr>
            <a:r>
              <a:rPr lang="en-US" sz="2000" dirty="0"/>
              <a:t>I</a:t>
            </a:r>
            <a:r>
              <a:rPr lang="en-US" b="1" dirty="0"/>
              <a:t>ROL (Rotate Left):</a:t>
            </a:r>
            <a:endParaRPr lang="en-US" dirty="0"/>
          </a:p>
          <a:p>
            <a:pPr marL="742950" lvl="1" indent="-285750">
              <a:buFont typeface="Arial" panose="020B0604020202020204" pitchFamily="34" charset="0"/>
              <a:buChar char="•"/>
            </a:pPr>
            <a:r>
              <a:rPr lang="en-US" dirty="0"/>
              <a:t>Bits are shifted to the left.</a:t>
            </a:r>
          </a:p>
          <a:p>
            <a:pPr marL="742950" lvl="1" indent="-285750">
              <a:buFont typeface="Arial" panose="020B0604020202020204" pitchFamily="34" charset="0"/>
              <a:buChar char="•"/>
            </a:pPr>
            <a:r>
              <a:rPr lang="en-US" dirty="0"/>
              <a:t>The leftmost bit (MSB) is moved to the rightmost bit (LSB) </a:t>
            </a:r>
            <a:r>
              <a:rPr lang="en-US" b="1" dirty="0"/>
              <a:t>and also to CF (Carry Flag)</a:t>
            </a:r>
            <a:r>
              <a:rPr lang="en-US" dirty="0"/>
              <a:t>.</a:t>
            </a:r>
          </a:p>
          <a:p>
            <a:pPr>
              <a:buFont typeface="Arial" panose="020B0604020202020204" pitchFamily="34" charset="0"/>
              <a:buChar char="•"/>
            </a:pPr>
            <a:r>
              <a:rPr lang="en-US" b="1" dirty="0"/>
              <a:t>ROR (Rotate Right):</a:t>
            </a:r>
            <a:endParaRPr lang="en-US" dirty="0"/>
          </a:p>
          <a:p>
            <a:pPr marL="742950" lvl="1" indent="-285750">
              <a:buFont typeface="Arial" panose="020B0604020202020204" pitchFamily="34" charset="0"/>
              <a:buChar char="•"/>
            </a:pPr>
            <a:r>
              <a:rPr lang="en-US" dirty="0"/>
              <a:t>Bits are shifted to the right.</a:t>
            </a:r>
          </a:p>
          <a:p>
            <a:pPr marL="742950" lvl="1" indent="-285750">
              <a:buFont typeface="Arial" panose="020B0604020202020204" pitchFamily="34" charset="0"/>
              <a:buChar char="•"/>
            </a:pPr>
            <a:r>
              <a:rPr lang="en-US" dirty="0"/>
              <a:t>The rightmost bit (LSB) is moved to the leftmost bit (MSB) </a:t>
            </a:r>
            <a:r>
              <a:rPr lang="en-US" b="1" dirty="0"/>
              <a:t>and also to CF (Carry Flag)</a:t>
            </a:r>
            <a:r>
              <a:rPr lang="en-US" dirty="0"/>
              <a:t>.</a:t>
            </a:r>
          </a:p>
          <a:p>
            <a:pPr>
              <a:buNone/>
            </a:pPr>
            <a:r>
              <a:rPr lang="en-US" b="1" dirty="0"/>
              <a:t>2. Difference Between Shift and Rotate:</a:t>
            </a:r>
          </a:p>
          <a:p>
            <a:pPr>
              <a:buFont typeface="Arial" panose="020B0604020202020204" pitchFamily="34" charset="0"/>
              <a:buChar char="•"/>
            </a:pPr>
            <a:r>
              <a:rPr lang="en-US" b="1" dirty="0"/>
              <a:t>SHR or SHL:</a:t>
            </a:r>
            <a:r>
              <a:rPr lang="en-US" dirty="0"/>
              <a:t> Bits shifted out are lost, and new bits are 0.</a:t>
            </a:r>
          </a:p>
          <a:p>
            <a:pPr>
              <a:buFont typeface="Arial" panose="020B0604020202020204" pitchFamily="34" charset="0"/>
              <a:buChar char="•"/>
            </a:pPr>
            <a:r>
              <a:rPr lang="en-US" b="1" dirty="0"/>
              <a:t>ROL or ROR:</a:t>
            </a:r>
            <a:r>
              <a:rPr lang="en-US" dirty="0"/>
              <a:t> Bits shifted out are </a:t>
            </a:r>
            <a:r>
              <a:rPr lang="en-US" b="1" dirty="0"/>
              <a:t>reinserted at the opposite end</a:t>
            </a:r>
            <a:r>
              <a:rPr lang="en-US" dirty="0"/>
              <a:t>, preserving the value.</a:t>
            </a:r>
          </a:p>
          <a:p>
            <a:pPr marL="321457" indent="-321457" algn="l">
              <a:buFont typeface="Wingdings" panose="05000000000000000000" pitchFamily="2" charset="2"/>
              <a:buChar char="Ø"/>
            </a:pPr>
            <a:endParaRPr b="1" dirty="0">
              <a:solidFill>
                <a:schemeClr val="tx1"/>
              </a:solidFill>
            </a:endParaRPr>
          </a:p>
        </p:txBody>
      </p:sp>
      <p:pic>
        <p:nvPicPr>
          <p:cNvPr id="5" name="Picture 4">
            <a:extLst>
              <a:ext uri="{FF2B5EF4-FFF2-40B4-BE49-F238E27FC236}">
                <a16:creationId xmlns:a16="http://schemas.microsoft.com/office/drawing/2014/main" id="{D454E7F4-5A46-0189-8513-B2993657E9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887"/>
            <a:ext cx="9144000" cy="1788416"/>
          </a:xfrm>
          <a:prstGeom prst="rect">
            <a:avLst/>
          </a:prstGeom>
        </p:spPr>
      </p:pic>
      <p:sp>
        <p:nvSpPr>
          <p:cNvPr id="6" name="Shape 38">
            <a:extLst>
              <a:ext uri="{FF2B5EF4-FFF2-40B4-BE49-F238E27FC236}">
                <a16:creationId xmlns:a16="http://schemas.microsoft.com/office/drawing/2014/main" id="{2813C335-EBC3-FD92-33CB-674D84178EC4}"/>
              </a:ext>
            </a:extLst>
          </p:cNvPr>
          <p:cNvSpPr>
            <a:spLocks noGrp="1"/>
          </p:cNvSpPr>
          <p:nvPr>
            <p:ph type="title"/>
          </p:nvPr>
        </p:nvSpPr>
        <p:spPr>
          <a:xfrm>
            <a:off x="203260" y="437491"/>
            <a:ext cx="7358063" cy="880104"/>
          </a:xfrm>
          <a:prstGeom prst="rect">
            <a:avLst/>
          </a:prstGeom>
        </p:spPr>
        <p:txBody>
          <a:bodyPr>
            <a:normAutofit/>
          </a:bodyPr>
          <a:lstStyle/>
          <a:p>
            <a:pPr algn="ctr">
              <a:defRPr sz="1800">
                <a:solidFill>
                  <a:srgbClr val="000000"/>
                </a:solidFill>
              </a:defRPr>
            </a:pPr>
            <a:r>
              <a:rPr lang="en-US" sz="4400" b="1" dirty="0">
                <a:solidFill>
                  <a:schemeClr val="accent3">
                    <a:lumMod val="75000"/>
                  </a:schemeClr>
                </a:solidFill>
              </a:rPr>
              <a:t>ROL, ROR and CF</a:t>
            </a:r>
            <a:endParaRPr sz="4640" b="1" dirty="0">
              <a:solidFill>
                <a:schemeClr val="accent5"/>
              </a:solidFill>
            </a:endParaRPr>
          </a:p>
        </p:txBody>
      </p:sp>
    </p:spTree>
    <p:extLst>
      <p:ext uri="{BB962C8B-B14F-4D97-AF65-F5344CB8AC3E}">
        <p14:creationId xmlns:p14="http://schemas.microsoft.com/office/powerpoint/2010/main" val="2653345630"/>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8B359-A1AD-D263-9FE6-1E4063F8DD0F}"/>
            </a:ext>
          </a:extLst>
        </p:cNvPr>
        <p:cNvGrpSpPr/>
        <p:nvPr/>
      </p:nvGrpSpPr>
      <p:grpSpPr>
        <a:xfrm>
          <a:off x="0" y="0"/>
          <a:ext cx="0" cy="0"/>
          <a:chOff x="0" y="0"/>
          <a:chExt cx="0" cy="0"/>
        </a:xfrm>
      </p:grpSpPr>
      <p:sp>
        <p:nvSpPr>
          <p:cNvPr id="169" name="Shape 169">
            <a:extLst>
              <a:ext uri="{FF2B5EF4-FFF2-40B4-BE49-F238E27FC236}">
                <a16:creationId xmlns:a16="http://schemas.microsoft.com/office/drawing/2014/main" id="{DB365F07-2C3C-61D2-5831-B0106CE72820}"/>
              </a:ext>
            </a:extLst>
          </p:cNvPr>
          <p:cNvSpPr>
            <a:spLocks noGrp="1"/>
          </p:cNvSpPr>
          <p:nvPr>
            <p:ph type="body" idx="1"/>
          </p:nvPr>
        </p:nvSpPr>
        <p:spPr>
          <a:xfrm>
            <a:off x="344758" y="1883392"/>
            <a:ext cx="8454484" cy="4876637"/>
          </a:xfrm>
          <a:prstGeom prst="rect">
            <a:avLst/>
          </a:prstGeom>
        </p:spPr>
        <p:txBody>
          <a:bodyPr>
            <a:noAutofit/>
          </a:bodyPr>
          <a:lstStyle/>
          <a:p>
            <a:pPr>
              <a:buNone/>
            </a:pPr>
            <a:r>
              <a:rPr lang="en-US" b="1" dirty="0"/>
              <a:t>3. CF (Carry Flag) in ROL and ROR:</a:t>
            </a:r>
          </a:p>
          <a:p>
            <a:pPr>
              <a:buFont typeface="Arial" panose="020B0604020202020204" pitchFamily="34" charset="0"/>
              <a:buChar char="•"/>
            </a:pPr>
            <a:r>
              <a:rPr lang="en-US" dirty="0"/>
              <a:t>In </a:t>
            </a:r>
            <a:r>
              <a:rPr lang="en-US" b="1" dirty="0"/>
              <a:t>ROL</a:t>
            </a:r>
            <a:r>
              <a:rPr lang="en-US" dirty="0"/>
              <a:t>, the </a:t>
            </a:r>
            <a:r>
              <a:rPr lang="en-US" b="1" dirty="0"/>
              <a:t>MSB</a:t>
            </a:r>
            <a:r>
              <a:rPr lang="en-US" dirty="0"/>
              <a:t> (leftmost bit) is moved to:</a:t>
            </a:r>
          </a:p>
          <a:p>
            <a:pPr marL="742950" lvl="1" indent="-285750">
              <a:buFont typeface="Arial" panose="020B0604020202020204" pitchFamily="34" charset="0"/>
              <a:buChar char="•"/>
            </a:pPr>
            <a:r>
              <a:rPr lang="en-US" b="1" dirty="0"/>
              <a:t>CF (Carry Flag)</a:t>
            </a:r>
            <a:r>
              <a:rPr lang="en-US" dirty="0"/>
              <a:t>.</a:t>
            </a:r>
          </a:p>
          <a:p>
            <a:pPr marL="742950" lvl="1" indent="-285750">
              <a:buFont typeface="Arial" panose="020B0604020202020204" pitchFamily="34" charset="0"/>
              <a:buChar char="•"/>
            </a:pPr>
            <a:r>
              <a:rPr lang="en-US" b="1" dirty="0"/>
              <a:t>LSB (rightmost bit)</a:t>
            </a:r>
            <a:r>
              <a:rPr lang="en-US" dirty="0"/>
              <a:t>.</a:t>
            </a:r>
          </a:p>
          <a:p>
            <a:pPr>
              <a:buFont typeface="Arial" panose="020B0604020202020204" pitchFamily="34" charset="0"/>
              <a:buChar char="•"/>
            </a:pPr>
            <a:r>
              <a:rPr lang="en-US" dirty="0"/>
              <a:t>In </a:t>
            </a:r>
            <a:r>
              <a:rPr lang="en-US" b="1" dirty="0"/>
              <a:t>ROR</a:t>
            </a:r>
            <a:r>
              <a:rPr lang="en-US" dirty="0"/>
              <a:t>, the </a:t>
            </a:r>
            <a:r>
              <a:rPr lang="en-US" b="1" dirty="0"/>
              <a:t>LSB</a:t>
            </a:r>
            <a:r>
              <a:rPr lang="en-US" dirty="0"/>
              <a:t> is moved to:</a:t>
            </a:r>
          </a:p>
          <a:p>
            <a:pPr marL="742950" lvl="1" indent="-285750">
              <a:buFont typeface="Arial" panose="020B0604020202020204" pitchFamily="34" charset="0"/>
              <a:buChar char="•"/>
            </a:pPr>
            <a:r>
              <a:rPr lang="en-US" b="1" dirty="0"/>
              <a:t>CF (Carry Flag)</a:t>
            </a:r>
            <a:r>
              <a:rPr lang="en-US" dirty="0"/>
              <a:t>.</a:t>
            </a:r>
          </a:p>
          <a:p>
            <a:pPr marL="742950" lvl="1" indent="-285750">
              <a:buFont typeface="Arial" panose="020B0604020202020204" pitchFamily="34" charset="0"/>
              <a:buChar char="•"/>
            </a:pPr>
            <a:r>
              <a:rPr lang="en-US" b="1" dirty="0"/>
              <a:t>MSB</a:t>
            </a:r>
            <a:r>
              <a:rPr lang="en-US" dirty="0"/>
              <a:t>.</a:t>
            </a:r>
          </a:p>
          <a:p>
            <a:pPr marL="321457" indent="-321457" algn="l">
              <a:buFont typeface="Wingdings" panose="05000000000000000000" pitchFamily="2" charset="2"/>
              <a:buChar char="Ø"/>
            </a:pPr>
            <a:endParaRPr b="1" dirty="0">
              <a:solidFill>
                <a:schemeClr val="tx1"/>
              </a:solidFill>
            </a:endParaRPr>
          </a:p>
        </p:txBody>
      </p:sp>
      <p:pic>
        <p:nvPicPr>
          <p:cNvPr id="5" name="Picture 4">
            <a:extLst>
              <a:ext uri="{FF2B5EF4-FFF2-40B4-BE49-F238E27FC236}">
                <a16:creationId xmlns:a16="http://schemas.microsoft.com/office/drawing/2014/main" id="{8D6CDBA4-2B78-023E-FE34-C0BEB6F471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887"/>
            <a:ext cx="9144000" cy="1788416"/>
          </a:xfrm>
          <a:prstGeom prst="rect">
            <a:avLst/>
          </a:prstGeom>
        </p:spPr>
      </p:pic>
      <p:sp>
        <p:nvSpPr>
          <p:cNvPr id="6" name="Shape 38">
            <a:extLst>
              <a:ext uri="{FF2B5EF4-FFF2-40B4-BE49-F238E27FC236}">
                <a16:creationId xmlns:a16="http://schemas.microsoft.com/office/drawing/2014/main" id="{30EBBE71-812C-6E81-A6E9-6E22CA682083}"/>
              </a:ext>
            </a:extLst>
          </p:cNvPr>
          <p:cNvSpPr>
            <a:spLocks noGrp="1"/>
          </p:cNvSpPr>
          <p:nvPr>
            <p:ph type="title"/>
          </p:nvPr>
        </p:nvSpPr>
        <p:spPr>
          <a:xfrm>
            <a:off x="203260" y="437491"/>
            <a:ext cx="7358063" cy="880104"/>
          </a:xfrm>
          <a:prstGeom prst="rect">
            <a:avLst/>
          </a:prstGeom>
        </p:spPr>
        <p:txBody>
          <a:bodyPr>
            <a:normAutofit/>
          </a:bodyPr>
          <a:lstStyle/>
          <a:p>
            <a:pPr algn="ctr">
              <a:defRPr sz="1800">
                <a:solidFill>
                  <a:srgbClr val="000000"/>
                </a:solidFill>
              </a:defRPr>
            </a:pPr>
            <a:r>
              <a:rPr lang="en-US" sz="4400" b="1" dirty="0">
                <a:solidFill>
                  <a:schemeClr val="accent3">
                    <a:lumMod val="75000"/>
                  </a:schemeClr>
                </a:solidFill>
              </a:rPr>
              <a:t>ROL, ROR and CF</a:t>
            </a:r>
            <a:endParaRPr sz="4640" b="1" dirty="0">
              <a:solidFill>
                <a:schemeClr val="accent5"/>
              </a:solidFill>
            </a:endParaRPr>
          </a:p>
        </p:txBody>
      </p:sp>
    </p:spTree>
    <p:extLst>
      <p:ext uri="{BB962C8B-B14F-4D97-AF65-F5344CB8AC3E}">
        <p14:creationId xmlns:p14="http://schemas.microsoft.com/office/powerpoint/2010/main" val="4145605791"/>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Shape 172"/>
          <p:cNvSpPr>
            <a:spLocks noGrp="1"/>
          </p:cNvSpPr>
          <p:nvPr>
            <p:ph type="body" idx="1"/>
          </p:nvPr>
        </p:nvSpPr>
        <p:spPr>
          <a:xfrm>
            <a:off x="288727" y="2159953"/>
            <a:ext cx="8566548" cy="4698047"/>
          </a:xfrm>
          <a:prstGeom prst="rect">
            <a:avLst/>
          </a:prstGeom>
        </p:spPr>
        <p:txBody>
          <a:bodyPr>
            <a:normAutofit/>
          </a:bodyPr>
          <a:lstStyle/>
          <a:p>
            <a:pPr marL="321457" indent="-321457" algn="l" defTabSz="381998">
              <a:spcBef>
                <a:spcPts val="2742"/>
              </a:spcBef>
              <a:buFont typeface="Wingdings" panose="05000000000000000000" pitchFamily="2" charset="2"/>
              <a:buChar char="Ø"/>
              <a:defRPr sz="1800">
                <a:solidFill>
                  <a:srgbClr val="000000"/>
                </a:solidFill>
              </a:defRPr>
            </a:pPr>
            <a:r>
              <a:rPr sz="2000" dirty="0">
                <a:solidFill>
                  <a:schemeClr val="tx1"/>
                </a:solidFill>
              </a:rPr>
              <a:t>The Instruction RCL (Rotate through Carry LEFT) shifts the bits of the destination to the left. </a:t>
            </a:r>
          </a:p>
          <a:p>
            <a:pPr marL="321457" indent="-321457" algn="l" defTabSz="381998">
              <a:spcBef>
                <a:spcPts val="2742"/>
              </a:spcBef>
              <a:buFont typeface="Wingdings" panose="05000000000000000000" pitchFamily="2" charset="2"/>
              <a:buChar char="Ø"/>
              <a:defRPr sz="1800">
                <a:solidFill>
                  <a:srgbClr val="000000"/>
                </a:solidFill>
              </a:defRPr>
            </a:pPr>
            <a:r>
              <a:rPr sz="2000" dirty="0">
                <a:solidFill>
                  <a:schemeClr val="tx1"/>
                </a:solidFill>
              </a:rPr>
              <a:t>The </a:t>
            </a:r>
            <a:r>
              <a:rPr sz="2000" dirty="0" err="1">
                <a:solidFill>
                  <a:schemeClr val="tx1"/>
                </a:solidFill>
              </a:rPr>
              <a:t>msb</a:t>
            </a:r>
            <a:r>
              <a:rPr sz="2000" dirty="0">
                <a:solidFill>
                  <a:schemeClr val="tx1"/>
                </a:solidFill>
              </a:rPr>
              <a:t> is shifted Into the CF and the previous value of CF is shifted Into the rightmost bit. </a:t>
            </a:r>
          </a:p>
          <a:p>
            <a:pPr marL="321457" indent="-321457" algn="l" defTabSz="381998">
              <a:spcBef>
                <a:spcPts val="2742"/>
              </a:spcBef>
              <a:buFont typeface="Wingdings" panose="05000000000000000000" pitchFamily="2" charset="2"/>
              <a:buChar char="Ø"/>
              <a:defRPr sz="1800">
                <a:solidFill>
                  <a:srgbClr val="000000"/>
                </a:solidFill>
              </a:defRPr>
            </a:pPr>
            <a:r>
              <a:rPr sz="2000" dirty="0">
                <a:solidFill>
                  <a:schemeClr val="tx1"/>
                </a:solidFill>
              </a:rPr>
              <a:t>In other words, RCL works like Just like ROL, except that CF is part of the circle of bits being rotated. The syntax is:</a:t>
            </a:r>
          </a:p>
          <a:p>
            <a:pPr marL="321457" indent="-321457" algn="l" defTabSz="381998">
              <a:spcBef>
                <a:spcPts val="2742"/>
              </a:spcBef>
              <a:buFont typeface="Wingdings" panose="05000000000000000000" pitchFamily="2" charset="2"/>
              <a:buChar char="Ø"/>
              <a:defRPr sz="1800">
                <a:solidFill>
                  <a:srgbClr val="000000"/>
                </a:solidFill>
              </a:defRPr>
            </a:pPr>
            <a:r>
              <a:rPr sz="2000" dirty="0">
                <a:solidFill>
                  <a:schemeClr val="tx1"/>
                </a:solidFill>
              </a:rPr>
              <a:t>RCL destination,1</a:t>
            </a:r>
            <a:endParaRPr lang="en-US" sz="2000" dirty="0">
              <a:solidFill>
                <a:schemeClr val="tx1"/>
              </a:solidFill>
            </a:endParaRPr>
          </a:p>
          <a:p>
            <a:pPr marL="321457" indent="-321457" algn="l" defTabSz="381998">
              <a:spcBef>
                <a:spcPts val="2742"/>
              </a:spcBef>
              <a:buFont typeface="Wingdings" panose="05000000000000000000" pitchFamily="2" charset="2"/>
              <a:buChar char="Ø"/>
              <a:defRPr sz="1800">
                <a:solidFill>
                  <a:srgbClr val="000000"/>
                </a:solidFill>
              </a:defRPr>
            </a:pPr>
            <a:r>
              <a:rPr lang="en-US" sz="2000" dirty="0">
                <a:solidFill>
                  <a:schemeClr val="tx1"/>
                </a:solidFill>
              </a:rPr>
              <a:t>and</a:t>
            </a:r>
            <a:endParaRPr sz="2000" dirty="0">
              <a:solidFill>
                <a:schemeClr val="tx1"/>
              </a:solidFill>
            </a:endParaRPr>
          </a:p>
          <a:p>
            <a:pPr marL="321457" indent="-321457" algn="l" defTabSz="381998">
              <a:spcBef>
                <a:spcPts val="2742"/>
              </a:spcBef>
              <a:buFont typeface="Wingdings" panose="05000000000000000000" pitchFamily="2" charset="2"/>
              <a:buChar char="Ø"/>
              <a:defRPr sz="1800">
                <a:solidFill>
                  <a:srgbClr val="000000"/>
                </a:solidFill>
              </a:defRPr>
            </a:pPr>
            <a:r>
              <a:rPr sz="2000" dirty="0">
                <a:solidFill>
                  <a:schemeClr val="tx1"/>
                </a:solidFill>
              </a:rPr>
              <a:t>RCL destination, CL</a:t>
            </a:r>
          </a:p>
        </p:txBody>
      </p:sp>
      <p:pic>
        <p:nvPicPr>
          <p:cNvPr id="173" name="Screen Shot 2015-03-27 at 10.49.39 PM.png"/>
          <p:cNvPicPr/>
          <p:nvPr/>
        </p:nvPicPr>
        <p:blipFill>
          <a:blip r:embed="rId2" cstate="print"/>
          <a:stretch>
            <a:fillRect/>
          </a:stretch>
        </p:blipFill>
        <p:spPr>
          <a:xfrm>
            <a:off x="4777290" y="4819526"/>
            <a:ext cx="3643313" cy="1821656"/>
          </a:xfrm>
          <a:prstGeom prst="rect">
            <a:avLst/>
          </a:prstGeom>
          <a:ln w="12700">
            <a:miter lim="400000"/>
          </a:ln>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7887"/>
            <a:ext cx="9144000" cy="1788416"/>
          </a:xfrm>
          <a:prstGeom prst="rect">
            <a:avLst/>
          </a:prstGeom>
        </p:spPr>
      </p:pic>
      <p:sp>
        <p:nvSpPr>
          <p:cNvPr id="7" name="Shape 38"/>
          <p:cNvSpPr>
            <a:spLocks noGrp="1"/>
          </p:cNvSpPr>
          <p:nvPr>
            <p:ph type="title"/>
          </p:nvPr>
        </p:nvSpPr>
        <p:spPr>
          <a:xfrm>
            <a:off x="203260" y="437491"/>
            <a:ext cx="7358063" cy="880104"/>
          </a:xfrm>
          <a:prstGeom prst="rect">
            <a:avLst/>
          </a:prstGeom>
        </p:spPr>
        <p:txBody>
          <a:bodyPr>
            <a:normAutofit/>
          </a:bodyPr>
          <a:lstStyle/>
          <a:p>
            <a:pPr algn="ctr">
              <a:defRPr sz="1800">
                <a:solidFill>
                  <a:srgbClr val="000000"/>
                </a:solidFill>
              </a:defRPr>
            </a:pPr>
            <a:r>
              <a:rPr lang="en-US" sz="4400" b="1" dirty="0">
                <a:solidFill>
                  <a:schemeClr val="accent3">
                    <a:lumMod val="75000"/>
                  </a:schemeClr>
                </a:solidFill>
              </a:rPr>
              <a:t>RCL (Rotate Carry Left)</a:t>
            </a:r>
            <a:endParaRPr sz="4640" b="1" dirty="0">
              <a:solidFill>
                <a:schemeClr val="accent5"/>
              </a:solidFill>
            </a:endParaRPr>
          </a:p>
        </p:txBody>
      </p:sp>
    </p:spTree>
    <p:extLst>
      <p:ext uri="{BB962C8B-B14F-4D97-AF65-F5344CB8AC3E}">
        <p14:creationId xmlns:p14="http://schemas.microsoft.com/office/powerpoint/2010/main" val="2117273317"/>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Shape 176"/>
          <p:cNvSpPr>
            <a:spLocks noGrp="1"/>
          </p:cNvSpPr>
          <p:nvPr>
            <p:ph type="body" idx="1"/>
          </p:nvPr>
        </p:nvSpPr>
        <p:spPr>
          <a:xfrm>
            <a:off x="178595" y="2244259"/>
            <a:ext cx="9054703" cy="3146608"/>
          </a:xfrm>
          <a:prstGeom prst="rect">
            <a:avLst/>
          </a:prstGeom>
        </p:spPr>
        <p:txBody>
          <a:bodyPr>
            <a:normAutofit/>
          </a:bodyPr>
          <a:lstStyle/>
          <a:p>
            <a:pPr marL="321457" indent="-321457" algn="l">
              <a:lnSpc>
                <a:spcPct val="200000"/>
              </a:lnSpc>
              <a:buFont typeface="Wingdings" panose="05000000000000000000" pitchFamily="2" charset="2"/>
              <a:buChar char="Ø"/>
              <a:defRPr sz="1800">
                <a:solidFill>
                  <a:srgbClr val="000000"/>
                </a:solidFill>
              </a:defRPr>
            </a:pPr>
            <a:r>
              <a:rPr sz="2000" dirty="0">
                <a:solidFill>
                  <a:schemeClr val="tx1"/>
                </a:solidFill>
              </a:rPr>
              <a:t>The Instruction RCR (Rotate through Carry RIGHT) works just like RCL except the bits are rotated to the right. The syntax is:</a:t>
            </a:r>
          </a:p>
          <a:p>
            <a:pPr marL="321457" indent="-321457" algn="l">
              <a:lnSpc>
                <a:spcPct val="200000"/>
              </a:lnSpc>
              <a:buFont typeface="Wingdings" panose="05000000000000000000" pitchFamily="2" charset="2"/>
              <a:buChar char="Ø"/>
              <a:defRPr sz="1800">
                <a:solidFill>
                  <a:srgbClr val="000000"/>
                </a:solidFill>
              </a:defRPr>
            </a:pPr>
            <a:r>
              <a:rPr sz="2000" dirty="0">
                <a:solidFill>
                  <a:schemeClr val="tx1"/>
                </a:solidFill>
              </a:rPr>
              <a:t>RCR destination,1</a:t>
            </a:r>
          </a:p>
          <a:p>
            <a:pPr marL="321457" indent="-321457" algn="l">
              <a:lnSpc>
                <a:spcPct val="200000"/>
              </a:lnSpc>
              <a:buFont typeface="Wingdings" panose="05000000000000000000" pitchFamily="2" charset="2"/>
              <a:buChar char="Ø"/>
              <a:defRPr sz="1800">
                <a:solidFill>
                  <a:srgbClr val="000000"/>
                </a:solidFill>
              </a:defRPr>
            </a:pPr>
            <a:r>
              <a:rPr sz="2000" dirty="0">
                <a:solidFill>
                  <a:schemeClr val="tx1"/>
                </a:solidFill>
              </a:rPr>
              <a:t>and</a:t>
            </a:r>
          </a:p>
          <a:p>
            <a:pPr marL="321457" indent="-321457" algn="l">
              <a:lnSpc>
                <a:spcPct val="200000"/>
              </a:lnSpc>
              <a:buFont typeface="Wingdings" panose="05000000000000000000" pitchFamily="2" charset="2"/>
              <a:buChar char="Ø"/>
              <a:defRPr sz="1800">
                <a:solidFill>
                  <a:srgbClr val="000000"/>
                </a:solidFill>
              </a:defRPr>
            </a:pPr>
            <a:r>
              <a:rPr sz="2000" dirty="0">
                <a:solidFill>
                  <a:schemeClr val="tx1"/>
                </a:solidFill>
              </a:rPr>
              <a:t>RCR destination, CL</a:t>
            </a:r>
          </a:p>
        </p:txBody>
      </p:sp>
      <p:pic>
        <p:nvPicPr>
          <p:cNvPr id="177" name="Screen Shot 2015-03-27 at 10.49.39 PM.png"/>
          <p:cNvPicPr/>
          <p:nvPr/>
        </p:nvPicPr>
        <p:blipFill>
          <a:blip r:embed="rId2" cstate="print"/>
          <a:stretch>
            <a:fillRect/>
          </a:stretch>
        </p:blipFill>
        <p:spPr>
          <a:xfrm>
            <a:off x="4446912" y="3948805"/>
            <a:ext cx="3684990" cy="2694883"/>
          </a:xfrm>
          <a:prstGeom prst="rect">
            <a:avLst/>
          </a:prstGeom>
          <a:ln w="12700">
            <a:miter lim="400000"/>
          </a:ln>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7887"/>
            <a:ext cx="9144000" cy="1788416"/>
          </a:xfrm>
          <a:prstGeom prst="rect">
            <a:avLst/>
          </a:prstGeom>
        </p:spPr>
      </p:pic>
      <p:sp>
        <p:nvSpPr>
          <p:cNvPr id="7" name="Shape 38"/>
          <p:cNvSpPr>
            <a:spLocks noGrp="1"/>
          </p:cNvSpPr>
          <p:nvPr>
            <p:ph type="title"/>
          </p:nvPr>
        </p:nvSpPr>
        <p:spPr>
          <a:xfrm>
            <a:off x="203260" y="437491"/>
            <a:ext cx="7358063" cy="880104"/>
          </a:xfrm>
          <a:prstGeom prst="rect">
            <a:avLst/>
          </a:prstGeom>
        </p:spPr>
        <p:txBody>
          <a:bodyPr>
            <a:normAutofit/>
          </a:bodyPr>
          <a:lstStyle/>
          <a:p>
            <a:pPr algn="ctr">
              <a:defRPr sz="1800">
                <a:solidFill>
                  <a:srgbClr val="000000"/>
                </a:solidFill>
              </a:defRPr>
            </a:pPr>
            <a:r>
              <a:rPr lang="en-US" sz="4400" b="1" dirty="0">
                <a:solidFill>
                  <a:schemeClr val="accent3">
                    <a:lumMod val="75000"/>
                  </a:schemeClr>
                </a:solidFill>
              </a:rPr>
              <a:t>RCR (Rotate Carry Right)</a:t>
            </a:r>
            <a:endParaRPr sz="4640" b="1" dirty="0">
              <a:solidFill>
                <a:schemeClr val="accent5"/>
              </a:solidFill>
            </a:endParaRPr>
          </a:p>
        </p:txBody>
      </p:sp>
    </p:spTree>
    <p:extLst>
      <p:ext uri="{BB962C8B-B14F-4D97-AF65-F5344CB8AC3E}">
        <p14:creationId xmlns:p14="http://schemas.microsoft.com/office/powerpoint/2010/main" val="302828752"/>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Shape 180"/>
          <p:cNvSpPr>
            <a:spLocks noGrp="1"/>
          </p:cNvSpPr>
          <p:nvPr>
            <p:ph type="body" idx="1"/>
          </p:nvPr>
        </p:nvSpPr>
        <p:spPr>
          <a:xfrm>
            <a:off x="669727" y="1702314"/>
            <a:ext cx="7804548" cy="1261505"/>
          </a:xfrm>
          <a:prstGeom prst="rect">
            <a:avLst/>
          </a:prstGeom>
        </p:spPr>
        <p:txBody>
          <a:bodyPr>
            <a:noAutofit/>
          </a:bodyPr>
          <a:lstStyle/>
          <a:p>
            <a:pPr marL="321457" indent="-321457" algn="l" defTabSz="299848">
              <a:spcBef>
                <a:spcPts val="2109"/>
              </a:spcBef>
              <a:buFont typeface="Wingdings" panose="05000000000000000000" pitchFamily="2" charset="2"/>
              <a:buChar char="Ø"/>
              <a:defRPr sz="1800">
                <a:solidFill>
                  <a:srgbClr val="000000"/>
                </a:solidFill>
              </a:defRPr>
            </a:pPr>
            <a:r>
              <a:rPr sz="2257" dirty="0">
                <a:solidFill>
                  <a:schemeClr val="tx1"/>
                </a:solidFill>
              </a:rPr>
              <a:t>Suppose DH contains 8Ah, CF= 1, and CL contains 3. </a:t>
            </a:r>
            <a:endParaRPr lang="en-US" sz="2257" dirty="0">
              <a:solidFill>
                <a:schemeClr val="tx1"/>
              </a:solidFill>
            </a:endParaRPr>
          </a:p>
          <a:p>
            <a:pPr marL="321457" indent="-321457" algn="l" defTabSz="299848">
              <a:spcBef>
                <a:spcPts val="2109"/>
              </a:spcBef>
              <a:buFont typeface="Wingdings" panose="05000000000000000000" pitchFamily="2" charset="2"/>
              <a:buChar char="Ø"/>
              <a:defRPr sz="1800">
                <a:solidFill>
                  <a:srgbClr val="000000"/>
                </a:solidFill>
              </a:defRPr>
            </a:pPr>
            <a:r>
              <a:rPr sz="2257" dirty="0">
                <a:solidFill>
                  <a:schemeClr val="tx1"/>
                </a:solidFill>
              </a:rPr>
              <a:t>What are the values of DH and CF after the instruction RCR DH,CL is executed</a:t>
            </a:r>
            <a:r>
              <a:rPr lang="en-US" sz="2257" dirty="0">
                <a:solidFill>
                  <a:schemeClr val="tx1"/>
                </a:solidFill>
                <a:latin typeface="Arial" panose="020B0604020202020204" pitchFamily="34" charset="0"/>
                <a:cs typeface="Arial" panose="020B0604020202020204" pitchFamily="34" charset="0"/>
              </a:rPr>
              <a:t>?</a:t>
            </a:r>
            <a:endParaRPr sz="2257" dirty="0">
              <a:solidFill>
                <a:schemeClr val="tx1"/>
              </a:solidFill>
            </a:endParaRPr>
          </a:p>
        </p:txBody>
      </p:sp>
      <p:pic>
        <p:nvPicPr>
          <p:cNvPr id="181" name="Screen Shot 2015-03-27 at 10.59.29 PM.png"/>
          <p:cNvPicPr/>
          <p:nvPr/>
        </p:nvPicPr>
        <p:blipFill>
          <a:blip r:embed="rId2" cstate="print"/>
          <a:stretch>
            <a:fillRect/>
          </a:stretch>
        </p:blipFill>
        <p:spPr>
          <a:xfrm>
            <a:off x="1384101" y="3275357"/>
            <a:ext cx="6375797" cy="3446023"/>
          </a:xfrm>
          <a:prstGeom prst="rect">
            <a:avLst/>
          </a:prstGeom>
          <a:ln w="12700">
            <a:miter lim="400000"/>
          </a:ln>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7887"/>
            <a:ext cx="9144000" cy="1788416"/>
          </a:xfrm>
          <a:prstGeom prst="rect">
            <a:avLst/>
          </a:prstGeom>
        </p:spPr>
      </p:pic>
      <p:sp>
        <p:nvSpPr>
          <p:cNvPr id="7" name="Shape 38"/>
          <p:cNvSpPr>
            <a:spLocks noGrp="1"/>
          </p:cNvSpPr>
          <p:nvPr>
            <p:ph type="title"/>
          </p:nvPr>
        </p:nvSpPr>
        <p:spPr>
          <a:xfrm>
            <a:off x="203260" y="437491"/>
            <a:ext cx="7358063" cy="880104"/>
          </a:xfrm>
          <a:prstGeom prst="rect">
            <a:avLst/>
          </a:prstGeom>
        </p:spPr>
        <p:txBody>
          <a:bodyPr>
            <a:normAutofit/>
          </a:bodyPr>
          <a:lstStyle/>
          <a:p>
            <a:pPr algn="ctr">
              <a:defRPr sz="1800">
                <a:solidFill>
                  <a:srgbClr val="000000"/>
                </a:solidFill>
              </a:defRPr>
            </a:pPr>
            <a:r>
              <a:rPr lang="en-US" sz="4400" b="1" dirty="0">
                <a:solidFill>
                  <a:schemeClr val="accent3">
                    <a:lumMod val="75000"/>
                  </a:schemeClr>
                </a:solidFill>
              </a:rPr>
              <a:t>Example</a:t>
            </a:r>
            <a:endParaRPr sz="4640" b="1" dirty="0">
              <a:solidFill>
                <a:schemeClr val="accent5"/>
              </a:solidFill>
            </a:endParaRPr>
          </a:p>
        </p:txBody>
      </p:sp>
    </p:spTree>
    <p:extLst>
      <p:ext uri="{BB962C8B-B14F-4D97-AF65-F5344CB8AC3E}">
        <p14:creationId xmlns:p14="http://schemas.microsoft.com/office/powerpoint/2010/main" val="2892176"/>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55D89-4008-4CB2-811E-7B6680BE2AA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FE2721B-DA91-B6E1-277B-65FA35C4CF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887"/>
            <a:ext cx="9144000" cy="1788416"/>
          </a:xfrm>
          <a:prstGeom prst="rect">
            <a:avLst/>
          </a:prstGeom>
        </p:spPr>
      </p:pic>
      <p:sp>
        <p:nvSpPr>
          <p:cNvPr id="6" name="Shape 38">
            <a:extLst>
              <a:ext uri="{FF2B5EF4-FFF2-40B4-BE49-F238E27FC236}">
                <a16:creationId xmlns:a16="http://schemas.microsoft.com/office/drawing/2014/main" id="{79654F4E-603C-1BB5-2021-9ACBEE4F9962}"/>
              </a:ext>
            </a:extLst>
          </p:cNvPr>
          <p:cNvSpPr>
            <a:spLocks noGrp="1"/>
          </p:cNvSpPr>
          <p:nvPr>
            <p:ph type="title"/>
          </p:nvPr>
        </p:nvSpPr>
        <p:spPr>
          <a:xfrm>
            <a:off x="203260" y="437491"/>
            <a:ext cx="7358063" cy="880104"/>
          </a:xfrm>
          <a:prstGeom prst="rect">
            <a:avLst/>
          </a:prstGeom>
        </p:spPr>
        <p:txBody>
          <a:bodyPr>
            <a:normAutofit/>
          </a:bodyPr>
          <a:lstStyle/>
          <a:p>
            <a:pPr algn="ctr">
              <a:defRPr sz="1800">
                <a:solidFill>
                  <a:srgbClr val="000000"/>
                </a:solidFill>
              </a:defRPr>
            </a:pPr>
            <a:r>
              <a:rPr lang="en-US" sz="4400" b="1" dirty="0">
                <a:solidFill>
                  <a:schemeClr val="accent3">
                    <a:lumMod val="75000"/>
                  </a:schemeClr>
                </a:solidFill>
              </a:rPr>
              <a:t>ROL, ROR and CF</a:t>
            </a:r>
            <a:endParaRPr sz="4640" b="1" dirty="0">
              <a:solidFill>
                <a:schemeClr val="accent5"/>
              </a:solidFill>
            </a:endParaRPr>
          </a:p>
        </p:txBody>
      </p:sp>
      <p:sp>
        <p:nvSpPr>
          <p:cNvPr id="2" name="Text Placeholder 1">
            <a:extLst>
              <a:ext uri="{FF2B5EF4-FFF2-40B4-BE49-F238E27FC236}">
                <a16:creationId xmlns:a16="http://schemas.microsoft.com/office/drawing/2014/main" id="{46DFE5B9-057B-4490-0ED7-FD19948FAD4B}"/>
              </a:ext>
            </a:extLst>
          </p:cNvPr>
          <p:cNvSpPr>
            <a:spLocks noGrp="1" noChangeArrowheads="1"/>
          </p:cNvSpPr>
          <p:nvPr>
            <p:ph type="body" idx="1"/>
          </p:nvPr>
        </p:nvSpPr>
        <p:spPr bwMode="auto">
          <a:xfrm>
            <a:off x="344488" y="1726970"/>
            <a:ext cx="789511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Initial Values: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DH = 8Ah (1000 1010 in binary)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CF = 1</a:t>
            </a:r>
            <a:r>
              <a:rPr kumimoji="0" lang="en-US" altLang="en-US" sz="1800" b="0" i="0" u="none" strike="noStrike" cap="none" normalizeH="0" baseline="0" dirty="0">
                <a:ln>
                  <a:noFill/>
                </a:ln>
                <a:solidFill>
                  <a:schemeClr val="tx1"/>
                </a:solidFill>
                <a:effectLst/>
                <a:latin typeface="Arial" panose="020B0604020202020204" pitchFamily="34" charset="0"/>
              </a:rPr>
              <a:t> (Carry Flag is set).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CL = 3</a:t>
            </a:r>
            <a:r>
              <a:rPr kumimoji="0" lang="en-US" altLang="en-US" sz="1800" b="0" i="0" u="none" strike="noStrike" cap="none" normalizeH="0" baseline="0" dirty="0">
                <a:ln>
                  <a:noFill/>
                </a:ln>
                <a:solidFill>
                  <a:schemeClr val="tx1"/>
                </a:solidFill>
                <a:effectLst/>
                <a:latin typeface="Arial" panose="020B0604020202020204" pitchFamily="34" charset="0"/>
              </a:rPr>
              <a:t> (indicates that the rotation will be by 3 bits).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Instruction: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latin typeface="Arial Unicode MS"/>
              </a:rPr>
              <a:t>RCR DH, CL</a:t>
            </a:r>
            <a:r>
              <a:rPr kumimoji="0" lang="en-US" altLang="en-US" sz="600" b="0" i="0" u="none" strike="noStrike" cap="none" normalizeH="0" baseline="0" dirty="0">
                <a:ln>
                  <a:noFill/>
                </a:ln>
                <a:solidFill>
                  <a:schemeClr val="tx1"/>
                </a:solidFill>
                <a:effectLst/>
              </a:rPr>
              <a:t> → </a:t>
            </a:r>
            <a:r>
              <a:rPr kumimoji="0" lang="en-US" altLang="en-US" sz="1800" b="1" i="0" u="none" strike="noStrike" cap="none" normalizeH="0" baseline="0" dirty="0">
                <a:ln>
                  <a:noFill/>
                </a:ln>
                <a:solidFill>
                  <a:schemeClr val="tx1"/>
                </a:solidFill>
                <a:effectLst/>
                <a:latin typeface="Arial" panose="020B0604020202020204" pitchFamily="34" charset="0"/>
              </a:rPr>
              <a:t>Rotate through Carry Right</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This means the bits of </a:t>
            </a:r>
            <a:r>
              <a:rPr kumimoji="0" lang="en-US" altLang="en-US" sz="1800" b="1" i="0" u="none" strike="noStrike" cap="none" normalizeH="0" baseline="0" dirty="0">
                <a:ln>
                  <a:noFill/>
                </a:ln>
                <a:solidFill>
                  <a:schemeClr val="tx1"/>
                </a:solidFill>
                <a:effectLst/>
                <a:latin typeface="Arial" panose="020B0604020202020204" pitchFamily="34" charset="0"/>
              </a:rPr>
              <a:t>DH</a:t>
            </a:r>
            <a:r>
              <a:rPr kumimoji="0" lang="en-US" altLang="en-US" sz="1800" b="0" i="0" u="none" strike="noStrike" cap="none" normalizeH="0" baseline="0" dirty="0">
                <a:ln>
                  <a:noFill/>
                </a:ln>
                <a:solidFill>
                  <a:schemeClr val="tx1"/>
                </a:solidFill>
                <a:effectLst/>
                <a:latin typeface="Arial" panose="020B0604020202020204" pitchFamily="34" charset="0"/>
              </a:rPr>
              <a:t> are rotated to the right through </a:t>
            </a:r>
            <a:r>
              <a:rPr kumimoji="0" lang="en-US" altLang="en-US" sz="1800" b="1" i="0" u="none" strike="noStrike" cap="none" normalizeH="0" baseline="0" dirty="0">
                <a:ln>
                  <a:noFill/>
                </a:ln>
                <a:solidFill>
                  <a:schemeClr val="tx1"/>
                </a:solidFill>
                <a:effectLst/>
                <a:latin typeface="Arial" panose="020B0604020202020204" pitchFamily="34" charset="0"/>
              </a:rPr>
              <a:t>CF (Carry Flag)</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Since </a:t>
            </a:r>
            <a:r>
              <a:rPr kumimoji="0" lang="en-US" altLang="en-US" sz="1800" b="1" i="0" u="none" strike="noStrike" cap="none" normalizeH="0" baseline="0" dirty="0">
                <a:ln>
                  <a:noFill/>
                </a:ln>
                <a:solidFill>
                  <a:schemeClr val="tx1"/>
                </a:solidFill>
                <a:effectLst/>
                <a:latin typeface="Arial" panose="020B0604020202020204" pitchFamily="34" charset="0"/>
              </a:rPr>
              <a:t>CL = 3</a:t>
            </a:r>
            <a:r>
              <a:rPr kumimoji="0" lang="en-US" altLang="en-US" sz="1800" b="0" i="0" u="none" strike="noStrike" cap="none" normalizeH="0" baseline="0" dirty="0">
                <a:ln>
                  <a:noFill/>
                </a:ln>
                <a:solidFill>
                  <a:schemeClr val="tx1"/>
                </a:solidFill>
                <a:effectLst/>
                <a:latin typeface="Arial" panose="020B0604020202020204" pitchFamily="34" charset="0"/>
              </a:rPr>
              <a:t>, the bits will be rotated right by </a:t>
            </a:r>
            <a:r>
              <a:rPr kumimoji="0" lang="en-US" altLang="en-US" sz="1800" b="1" i="0" u="none" strike="noStrike" cap="none" normalizeH="0" baseline="0" dirty="0">
                <a:ln>
                  <a:noFill/>
                </a:ln>
                <a:solidFill>
                  <a:schemeClr val="tx1"/>
                </a:solidFill>
                <a:effectLst/>
                <a:latin typeface="Arial" panose="020B0604020202020204" pitchFamily="34" charset="0"/>
              </a:rPr>
              <a:t>3 positions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9919117"/>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0A229-064F-20FC-88A2-D70206C5627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59A9377-AC11-467F-882E-7B14D92097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887"/>
            <a:ext cx="9144000" cy="1788416"/>
          </a:xfrm>
          <a:prstGeom prst="rect">
            <a:avLst/>
          </a:prstGeom>
        </p:spPr>
      </p:pic>
      <p:sp>
        <p:nvSpPr>
          <p:cNvPr id="6" name="Shape 38">
            <a:extLst>
              <a:ext uri="{FF2B5EF4-FFF2-40B4-BE49-F238E27FC236}">
                <a16:creationId xmlns:a16="http://schemas.microsoft.com/office/drawing/2014/main" id="{20AAD94D-9122-FA60-7D90-FF7F2A1A01DC}"/>
              </a:ext>
            </a:extLst>
          </p:cNvPr>
          <p:cNvSpPr>
            <a:spLocks noGrp="1"/>
          </p:cNvSpPr>
          <p:nvPr>
            <p:ph type="title"/>
          </p:nvPr>
        </p:nvSpPr>
        <p:spPr>
          <a:xfrm>
            <a:off x="203260" y="437491"/>
            <a:ext cx="7358063" cy="880104"/>
          </a:xfrm>
          <a:prstGeom prst="rect">
            <a:avLst/>
          </a:prstGeom>
        </p:spPr>
        <p:txBody>
          <a:bodyPr>
            <a:normAutofit/>
          </a:bodyPr>
          <a:lstStyle/>
          <a:p>
            <a:pPr algn="ctr">
              <a:defRPr sz="1800">
                <a:solidFill>
                  <a:srgbClr val="000000"/>
                </a:solidFill>
              </a:defRPr>
            </a:pPr>
            <a:r>
              <a:rPr lang="en-US" sz="4400" b="1" dirty="0">
                <a:solidFill>
                  <a:schemeClr val="accent3">
                    <a:lumMod val="75000"/>
                  </a:schemeClr>
                </a:solidFill>
              </a:rPr>
              <a:t>ROL, ROR and CF</a:t>
            </a:r>
            <a:endParaRPr sz="4640" b="1" dirty="0">
              <a:solidFill>
                <a:schemeClr val="accent5"/>
              </a:solidFill>
            </a:endParaRPr>
          </a:p>
        </p:txBody>
      </p:sp>
      <p:sp>
        <p:nvSpPr>
          <p:cNvPr id="2" name="Text Placeholder 1">
            <a:extLst>
              <a:ext uri="{FF2B5EF4-FFF2-40B4-BE49-F238E27FC236}">
                <a16:creationId xmlns:a16="http://schemas.microsoft.com/office/drawing/2014/main" id="{1B63A8B1-81DF-BD50-6941-29F8512246B9}"/>
              </a:ext>
            </a:extLst>
          </p:cNvPr>
          <p:cNvSpPr>
            <a:spLocks noGrp="1" noChangeArrowheads="1"/>
          </p:cNvSpPr>
          <p:nvPr>
            <p:ph type="body" idx="1"/>
          </p:nvPr>
        </p:nvSpPr>
        <p:spPr bwMode="auto">
          <a:xfrm>
            <a:off x="344488" y="2142469"/>
            <a:ext cx="8157255"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RCR (Rotate through Carry Right):The rightmost bit (LSB) is moved to CF (Carry Flag).The previous value of CF is moved to the leftmost bit (MSB).This process is repeated for the number of times specified in </a:t>
            </a:r>
            <a:r>
              <a:rPr kumimoji="0" lang="en-US" altLang="en-US" sz="1800" b="1" i="0" u="none" strike="noStrike" cap="none" normalizeH="0" baseline="0" dirty="0" err="1">
                <a:ln>
                  <a:noFill/>
                </a:ln>
                <a:solidFill>
                  <a:schemeClr val="tx1"/>
                </a:solidFill>
                <a:effectLst/>
                <a:latin typeface="Arial" panose="020B0604020202020204" pitchFamily="34" charset="0"/>
              </a:rPr>
              <a:t>CL.Step</a:t>
            </a:r>
            <a:r>
              <a:rPr kumimoji="0" lang="en-US" altLang="en-US" sz="1800" b="1" i="0" u="none" strike="noStrike" cap="none" normalizeH="0" baseline="0" dirty="0">
                <a:ln>
                  <a:noFill/>
                </a:ln>
                <a:solidFill>
                  <a:schemeClr val="tx1"/>
                </a:solidFill>
                <a:effectLst/>
                <a:latin typeface="Arial" panose="020B0604020202020204" pitchFamily="34" charset="0"/>
              </a:rPr>
              <a:t>-by-Step Execution:1.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Initial Binary </a:t>
            </a:r>
            <a:r>
              <a:rPr kumimoji="0" lang="en-US" altLang="en-US" sz="1800" b="1" i="0" u="none" strike="noStrike" cap="none" normalizeH="0" baseline="0" dirty="0" err="1">
                <a:ln>
                  <a:noFill/>
                </a:ln>
                <a:solidFill>
                  <a:schemeClr val="tx1"/>
                </a:solidFill>
                <a:effectLst/>
                <a:latin typeface="Arial" panose="020B0604020202020204" pitchFamily="34" charset="0"/>
              </a:rPr>
              <a:t>Values:DH</a:t>
            </a:r>
            <a:r>
              <a:rPr kumimoji="0" lang="en-US" altLang="en-US" sz="1800" b="1" i="0" u="none" strike="noStrike" cap="none" normalizeH="0" baseline="0" dirty="0">
                <a:ln>
                  <a:noFill/>
                </a:ln>
                <a:solidFill>
                  <a:schemeClr val="tx1"/>
                </a:solidFill>
                <a:effectLst/>
                <a:latin typeface="Arial" panose="020B0604020202020204" pitchFamily="34" charset="0"/>
              </a:rPr>
              <a:t>: 1000 1010</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CF: 1</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38765408"/>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2DB6F-7650-F457-9CB3-3B7EF89A5F1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0314437-5015-86BB-C4D5-65A6BE901B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887"/>
            <a:ext cx="9144000" cy="1788416"/>
          </a:xfrm>
          <a:prstGeom prst="rect">
            <a:avLst/>
          </a:prstGeom>
        </p:spPr>
      </p:pic>
      <p:sp>
        <p:nvSpPr>
          <p:cNvPr id="6" name="Shape 38">
            <a:extLst>
              <a:ext uri="{FF2B5EF4-FFF2-40B4-BE49-F238E27FC236}">
                <a16:creationId xmlns:a16="http://schemas.microsoft.com/office/drawing/2014/main" id="{77FD72D1-F937-7A14-3407-EFBB600F1B28}"/>
              </a:ext>
            </a:extLst>
          </p:cNvPr>
          <p:cNvSpPr>
            <a:spLocks noGrp="1"/>
          </p:cNvSpPr>
          <p:nvPr>
            <p:ph type="title"/>
          </p:nvPr>
        </p:nvSpPr>
        <p:spPr>
          <a:xfrm>
            <a:off x="203260" y="437491"/>
            <a:ext cx="7358063" cy="880104"/>
          </a:xfrm>
          <a:prstGeom prst="rect">
            <a:avLst/>
          </a:prstGeom>
        </p:spPr>
        <p:txBody>
          <a:bodyPr>
            <a:normAutofit/>
          </a:bodyPr>
          <a:lstStyle/>
          <a:p>
            <a:pPr algn="ctr">
              <a:defRPr sz="1800">
                <a:solidFill>
                  <a:srgbClr val="000000"/>
                </a:solidFill>
              </a:defRPr>
            </a:pPr>
            <a:r>
              <a:rPr lang="en-US" sz="4400" b="1" dirty="0">
                <a:solidFill>
                  <a:schemeClr val="accent3">
                    <a:lumMod val="75000"/>
                  </a:schemeClr>
                </a:solidFill>
              </a:rPr>
              <a:t>ROL, ROR and CF</a:t>
            </a:r>
            <a:endParaRPr sz="4640" b="1" dirty="0">
              <a:solidFill>
                <a:schemeClr val="accent5"/>
              </a:solidFill>
            </a:endParaRPr>
          </a:p>
        </p:txBody>
      </p:sp>
      <p:sp>
        <p:nvSpPr>
          <p:cNvPr id="2" name="Text Placeholder 1">
            <a:extLst>
              <a:ext uri="{FF2B5EF4-FFF2-40B4-BE49-F238E27FC236}">
                <a16:creationId xmlns:a16="http://schemas.microsoft.com/office/drawing/2014/main" id="{ED23C14A-9562-46D1-E294-225EC95507B5}"/>
              </a:ext>
            </a:extLst>
          </p:cNvPr>
          <p:cNvSpPr>
            <a:spLocks noGrp="1" noChangeArrowheads="1"/>
          </p:cNvSpPr>
          <p:nvPr>
            <p:ph type="body" idx="1"/>
          </p:nvPr>
        </p:nvSpPr>
        <p:spPr bwMode="auto">
          <a:xfrm>
            <a:off x="203260" y="1847857"/>
            <a:ext cx="8157255"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RCR (Rotate through Carry Right):The rightmost bit (LSB) is moved to CF (Carry Flag).The previous value of CF is moved to the leftmost bit (MSB).This process is repeated for the number of times specified in </a:t>
            </a:r>
            <a:r>
              <a:rPr kumimoji="0" lang="en-US" altLang="en-US" sz="1800" b="1" i="0" u="none" strike="noStrike" cap="none" normalizeH="0" baseline="0" dirty="0" err="1">
                <a:ln>
                  <a:noFill/>
                </a:ln>
                <a:solidFill>
                  <a:schemeClr val="tx1"/>
                </a:solidFill>
                <a:effectLst/>
                <a:latin typeface="Arial" panose="020B0604020202020204" pitchFamily="34" charset="0"/>
              </a:rPr>
              <a:t>CL.Step</a:t>
            </a:r>
            <a:r>
              <a:rPr kumimoji="0" lang="en-US" altLang="en-US" sz="1800" b="1" i="0" u="none" strike="noStrike" cap="none" normalizeH="0" baseline="0" dirty="0">
                <a:ln>
                  <a:noFill/>
                </a:ln>
                <a:solidFill>
                  <a:schemeClr val="tx1"/>
                </a:solidFill>
                <a:effectLst/>
                <a:latin typeface="Arial" panose="020B0604020202020204" pitchFamily="34" charset="0"/>
              </a:rPr>
              <a:t>-by-Step Execution:1.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Initial Binary </a:t>
            </a:r>
            <a:r>
              <a:rPr kumimoji="0" lang="en-US" altLang="en-US" sz="1800" b="1" i="0" u="none" strike="noStrike" cap="none" normalizeH="0" baseline="0" dirty="0" err="1">
                <a:ln>
                  <a:noFill/>
                </a:ln>
                <a:solidFill>
                  <a:schemeClr val="tx1"/>
                </a:solidFill>
                <a:effectLst/>
                <a:latin typeface="Arial" panose="020B0604020202020204" pitchFamily="34" charset="0"/>
              </a:rPr>
              <a:t>Values:DH</a:t>
            </a:r>
            <a:r>
              <a:rPr kumimoji="0" lang="en-US" altLang="en-US" sz="1800" b="1" i="0" u="none" strike="noStrike" cap="none" normalizeH="0" baseline="0" dirty="0">
                <a:ln>
                  <a:noFill/>
                </a:ln>
                <a:solidFill>
                  <a:schemeClr val="tx1"/>
                </a:solidFill>
                <a:effectLst/>
                <a:latin typeface="Arial" panose="020B0604020202020204" pitchFamily="34" charset="0"/>
              </a:rPr>
              <a:t>: 1000 1010</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CF: 1</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First Rotation (RCR DH, 1):</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Before:</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CF = 1, 1000 1010</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The rightmost bit (0) goes to </a:t>
            </a:r>
            <a:r>
              <a:rPr kumimoji="0" lang="en-US" altLang="en-US" sz="1800" b="0" i="0" u="none" strike="noStrike" cap="none" normalizeH="0" baseline="0" dirty="0" err="1">
                <a:ln>
                  <a:noFill/>
                </a:ln>
                <a:solidFill>
                  <a:schemeClr val="tx1"/>
                </a:solidFill>
                <a:effectLst/>
                <a:latin typeface="Arial" panose="020B0604020202020204" pitchFamily="34" charset="0"/>
              </a:rPr>
              <a:t>CF.The</a:t>
            </a:r>
            <a:r>
              <a:rPr kumimoji="0" lang="en-US" altLang="en-US" sz="1800" b="0" i="0" u="none" strike="noStrike" cap="none" normalizeH="0" baseline="0" dirty="0">
                <a:ln>
                  <a:noFill/>
                </a:ln>
                <a:solidFill>
                  <a:schemeClr val="tx1"/>
                </a:solidFill>
                <a:effectLst/>
                <a:latin typeface="Arial" panose="020B0604020202020204" pitchFamily="34" charset="0"/>
              </a:rPr>
              <a:t> current CF (1) becomes the leftmost bit of DH. After:</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CF = 0, 1100 0101</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28636825"/>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926C5-4438-6573-7274-A1C30CD711D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8B12C97-20D8-FFD9-4683-7ACC6C83EF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4335"/>
            <a:ext cx="9144000" cy="1788416"/>
          </a:xfrm>
          <a:prstGeom prst="rect">
            <a:avLst/>
          </a:prstGeom>
        </p:spPr>
      </p:pic>
      <p:sp>
        <p:nvSpPr>
          <p:cNvPr id="6" name="Shape 38">
            <a:extLst>
              <a:ext uri="{FF2B5EF4-FFF2-40B4-BE49-F238E27FC236}">
                <a16:creationId xmlns:a16="http://schemas.microsoft.com/office/drawing/2014/main" id="{93FA2E95-27EF-031C-B411-703016AE9793}"/>
              </a:ext>
            </a:extLst>
          </p:cNvPr>
          <p:cNvSpPr>
            <a:spLocks noGrp="1"/>
          </p:cNvSpPr>
          <p:nvPr>
            <p:ph type="title"/>
          </p:nvPr>
        </p:nvSpPr>
        <p:spPr>
          <a:xfrm>
            <a:off x="203260" y="437491"/>
            <a:ext cx="7358063" cy="880104"/>
          </a:xfrm>
          <a:prstGeom prst="rect">
            <a:avLst/>
          </a:prstGeom>
        </p:spPr>
        <p:txBody>
          <a:bodyPr>
            <a:normAutofit/>
          </a:bodyPr>
          <a:lstStyle/>
          <a:p>
            <a:pPr algn="ctr">
              <a:defRPr sz="1800">
                <a:solidFill>
                  <a:srgbClr val="000000"/>
                </a:solidFill>
              </a:defRPr>
            </a:pPr>
            <a:r>
              <a:rPr lang="en-US" sz="4400" b="1" dirty="0">
                <a:solidFill>
                  <a:schemeClr val="accent3">
                    <a:lumMod val="75000"/>
                  </a:schemeClr>
                </a:solidFill>
              </a:rPr>
              <a:t>ROL, ROR and CF</a:t>
            </a:r>
            <a:endParaRPr sz="4640" b="1" dirty="0">
              <a:solidFill>
                <a:schemeClr val="accent5"/>
              </a:solidFill>
            </a:endParaRPr>
          </a:p>
        </p:txBody>
      </p:sp>
      <p:sp>
        <p:nvSpPr>
          <p:cNvPr id="2" name="Text Placeholder 1">
            <a:extLst>
              <a:ext uri="{FF2B5EF4-FFF2-40B4-BE49-F238E27FC236}">
                <a16:creationId xmlns:a16="http://schemas.microsoft.com/office/drawing/2014/main" id="{A14531EB-8B87-5309-4856-27171438B00B}"/>
              </a:ext>
            </a:extLst>
          </p:cNvPr>
          <p:cNvSpPr>
            <a:spLocks noGrp="1" noChangeArrowheads="1"/>
          </p:cNvSpPr>
          <p:nvPr>
            <p:ph type="body" idx="1"/>
          </p:nvPr>
        </p:nvSpPr>
        <p:spPr bwMode="auto">
          <a:xfrm>
            <a:off x="203260" y="1692191"/>
            <a:ext cx="8157255"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Second Rotation (RCR DH, 1):Before:</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CF = 0, 1100 0101</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The rightmost bit (1) goes to </a:t>
            </a:r>
            <a:r>
              <a:rPr kumimoji="0" lang="en-US" altLang="en-US" sz="1800" b="0" i="0" u="none" strike="noStrike" cap="none" normalizeH="0" baseline="0" dirty="0" err="1">
                <a:ln>
                  <a:noFill/>
                </a:ln>
                <a:solidFill>
                  <a:schemeClr val="tx1"/>
                </a:solidFill>
                <a:effectLst/>
                <a:latin typeface="Arial" panose="020B0604020202020204" pitchFamily="34" charset="0"/>
              </a:rPr>
              <a:t>CF.The</a:t>
            </a:r>
            <a:r>
              <a:rPr kumimoji="0" lang="en-US" altLang="en-US" sz="1800" b="0" i="0" u="none" strike="noStrike" cap="none" normalizeH="0" baseline="0" dirty="0">
                <a:ln>
                  <a:noFill/>
                </a:ln>
                <a:solidFill>
                  <a:schemeClr val="tx1"/>
                </a:solidFill>
                <a:effectLst/>
                <a:latin typeface="Arial" panose="020B0604020202020204" pitchFamily="34" charset="0"/>
              </a:rPr>
              <a:t> current CF (0) becomes the leftmost bit of </a:t>
            </a:r>
            <a:r>
              <a:rPr kumimoji="0" lang="en-US" altLang="en-US" sz="1800" b="0" i="0" u="none" strike="noStrike" cap="none" normalizeH="0" baseline="0" dirty="0" err="1">
                <a:ln>
                  <a:noFill/>
                </a:ln>
                <a:solidFill>
                  <a:schemeClr val="tx1"/>
                </a:solidFill>
                <a:effectLst/>
                <a:latin typeface="Arial" panose="020B0604020202020204" pitchFamily="34" charset="0"/>
              </a:rPr>
              <a:t>DH.After</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CF = 1, 0110 0010</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Third Rotation (RCR DH, 1):Before:</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CF = 1, 0110 0010</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The rightmost bit (0) goes to </a:t>
            </a:r>
            <a:r>
              <a:rPr kumimoji="0" lang="en-US" altLang="en-US" sz="1800" b="0" i="0" u="none" strike="noStrike" cap="none" normalizeH="0" baseline="0" dirty="0" err="1">
                <a:ln>
                  <a:noFill/>
                </a:ln>
                <a:solidFill>
                  <a:schemeClr val="tx1"/>
                </a:solidFill>
                <a:effectLst/>
                <a:latin typeface="Arial" panose="020B0604020202020204" pitchFamily="34" charset="0"/>
              </a:rPr>
              <a:t>CF.The</a:t>
            </a:r>
            <a:r>
              <a:rPr kumimoji="0" lang="en-US" altLang="en-US" sz="1800" b="0" i="0" u="none" strike="noStrike" cap="none" normalizeH="0" baseline="0" dirty="0">
                <a:ln>
                  <a:noFill/>
                </a:ln>
                <a:solidFill>
                  <a:schemeClr val="tx1"/>
                </a:solidFill>
                <a:effectLst/>
                <a:latin typeface="Arial" panose="020B0604020202020204" pitchFamily="34" charset="0"/>
              </a:rPr>
              <a:t> current CF (1) becomes the leftmost bit of </a:t>
            </a:r>
            <a:r>
              <a:rPr kumimoji="0" lang="en-US" altLang="en-US" sz="1800" b="0" i="0" u="none" strike="noStrike" cap="none" normalizeH="0" baseline="0" dirty="0" err="1">
                <a:ln>
                  <a:noFill/>
                </a:ln>
                <a:solidFill>
                  <a:schemeClr val="tx1"/>
                </a:solidFill>
                <a:effectLst/>
                <a:latin typeface="Arial" panose="020B0604020202020204" pitchFamily="34" charset="0"/>
              </a:rPr>
              <a:t>DH.After</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CF = 0, 1011 0001</a:t>
            </a:r>
          </a:p>
          <a:p>
            <a:pPr marL="0" marR="0" lvl="0" indent="0" algn="l" defTabSz="914400" rtl="0" eaLnBrk="0" fontAlgn="base" latinLnBrk="0" hangingPunct="0">
              <a:lnSpc>
                <a:spcPct val="100000"/>
              </a:lnSpc>
              <a:spcBef>
                <a:spcPct val="0"/>
              </a:spcBef>
              <a:spcAft>
                <a:spcPct val="0"/>
              </a:spcAft>
              <a:buClrTx/>
              <a:buSzTx/>
              <a:tabLst/>
            </a:pPr>
            <a:r>
              <a:rPr kumimoji="0" lang="pt-BR" altLang="en-US" sz="1800" b="0" i="0" u="none" strike="noStrike" cap="none" normalizeH="0" baseline="0" dirty="0">
                <a:ln>
                  <a:noFill/>
                </a:ln>
                <a:solidFill>
                  <a:schemeClr val="tx1"/>
                </a:solidFill>
                <a:effectLst/>
                <a:latin typeface="Arial" panose="020B0604020202020204" pitchFamily="34" charset="0"/>
              </a:rPr>
              <a:t>Final Result:DH = 1011 0001 (B1h),    CF = 0</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Final </a:t>
            </a:r>
            <a:r>
              <a:rPr kumimoji="0" lang="en-US" altLang="en-US" sz="1800" b="0" i="0" u="none" strike="noStrike" cap="none" normalizeH="0" baseline="0" dirty="0" err="1">
                <a:ln>
                  <a:noFill/>
                </a:ln>
                <a:solidFill>
                  <a:schemeClr val="tx1"/>
                </a:solidFill>
                <a:effectLst/>
                <a:latin typeface="Arial" panose="020B0604020202020204" pitchFamily="34" charset="0"/>
              </a:rPr>
              <a:t>Answer:DH</a:t>
            </a:r>
            <a:r>
              <a:rPr kumimoji="0" lang="en-US" altLang="en-US" sz="1800" b="0" i="0" u="none" strike="noStrike" cap="none" normalizeH="0" baseline="0" dirty="0">
                <a:ln>
                  <a:noFill/>
                </a:ln>
                <a:solidFill>
                  <a:schemeClr val="tx1"/>
                </a:solidFill>
                <a:effectLst/>
                <a:latin typeface="Arial" panose="020B0604020202020204" pitchFamily="34" charset="0"/>
              </a:rPr>
              <a:t> = B1h,     CF = 0</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60008523"/>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Shape 184"/>
          <p:cNvSpPr>
            <a:spLocks noGrp="1"/>
          </p:cNvSpPr>
          <p:nvPr>
            <p:ph type="body" idx="1"/>
          </p:nvPr>
        </p:nvSpPr>
        <p:spPr>
          <a:xfrm>
            <a:off x="500063" y="1802973"/>
            <a:ext cx="8112621" cy="4626655"/>
          </a:xfrm>
          <a:prstGeom prst="rect">
            <a:avLst/>
          </a:prstGeom>
        </p:spPr>
        <p:txBody>
          <a:bodyPr>
            <a:normAutofit/>
          </a:bodyPr>
          <a:lstStyle/>
          <a:p>
            <a:pPr marL="321457" indent="-321457" algn="l">
              <a:buFont typeface="Wingdings" panose="05000000000000000000" pitchFamily="2" charset="2"/>
              <a:buChar char="Ø"/>
            </a:pPr>
            <a:endParaRPr lang="en-US" sz="2257" b="1" dirty="0">
              <a:solidFill>
                <a:schemeClr val="tx1"/>
              </a:solidFill>
            </a:endParaRPr>
          </a:p>
          <a:p>
            <a:pPr marL="321457" indent="-321457" algn="l">
              <a:buFont typeface="Wingdings" panose="05000000000000000000" pitchFamily="2" charset="2"/>
              <a:buChar char="Ø"/>
            </a:pPr>
            <a:r>
              <a:rPr lang="en-US" sz="2257" b="1" dirty="0">
                <a:solidFill>
                  <a:schemeClr val="tx1"/>
                </a:solidFill>
              </a:rPr>
              <a:t>Expectation: </a:t>
            </a:r>
            <a:r>
              <a:rPr lang="en-US" sz="2257" dirty="0">
                <a:solidFill>
                  <a:schemeClr val="tx1"/>
                </a:solidFill>
              </a:rPr>
              <a:t>If AL contains </a:t>
            </a:r>
            <a:r>
              <a:rPr lang="en-US" sz="2257" b="1" dirty="0">
                <a:solidFill>
                  <a:schemeClr val="tx1"/>
                </a:solidFill>
              </a:rPr>
              <a:t>11011100</a:t>
            </a:r>
            <a:r>
              <a:rPr lang="en-US" sz="2257" dirty="0">
                <a:solidFill>
                  <a:schemeClr val="tx1"/>
                </a:solidFill>
              </a:rPr>
              <a:t>, we want to make it </a:t>
            </a:r>
            <a:r>
              <a:rPr lang="en-US" sz="2257" b="1" dirty="0">
                <a:solidFill>
                  <a:schemeClr val="tx1"/>
                </a:solidFill>
              </a:rPr>
              <a:t>00111011</a:t>
            </a:r>
            <a:endParaRPr lang="en-US" sz="2257" dirty="0">
              <a:solidFill>
                <a:schemeClr val="tx1"/>
              </a:solidFill>
            </a:endParaRPr>
          </a:p>
          <a:p>
            <a:pPr marL="321457" lvl="1" indent="-321457" algn="l">
              <a:buFont typeface="Wingdings" panose="05000000000000000000" pitchFamily="2" charset="2"/>
              <a:buChar char="Ø"/>
            </a:pPr>
            <a:r>
              <a:rPr lang="en-US" sz="2257" dirty="0">
                <a:solidFill>
                  <a:schemeClr val="tx1"/>
                </a:solidFill>
              </a:rPr>
              <a:t>Use </a:t>
            </a:r>
            <a:r>
              <a:rPr lang="en-US" sz="2257" b="1" dirty="0">
                <a:solidFill>
                  <a:schemeClr val="tx1"/>
                </a:solidFill>
              </a:rPr>
              <a:t>SHL</a:t>
            </a:r>
            <a:r>
              <a:rPr lang="en-US" sz="2257" dirty="0">
                <a:solidFill>
                  <a:schemeClr val="tx1"/>
                </a:solidFill>
              </a:rPr>
              <a:t> to shift the bits out the left end of AL Into CF. </a:t>
            </a:r>
          </a:p>
          <a:p>
            <a:pPr marL="321457" lvl="1" indent="-321457" algn="l">
              <a:buFont typeface="Wingdings" panose="05000000000000000000" pitchFamily="2" charset="2"/>
              <a:buChar char="Ø"/>
            </a:pPr>
            <a:r>
              <a:rPr lang="en-US" sz="2257" dirty="0">
                <a:solidFill>
                  <a:schemeClr val="tx1"/>
                </a:solidFill>
              </a:rPr>
              <a:t>Then use </a:t>
            </a:r>
            <a:r>
              <a:rPr lang="en-US" sz="2257" b="1" dirty="0">
                <a:solidFill>
                  <a:schemeClr val="tx1"/>
                </a:solidFill>
              </a:rPr>
              <a:t>RCR </a:t>
            </a:r>
            <a:r>
              <a:rPr lang="en-US" sz="2257" dirty="0">
                <a:solidFill>
                  <a:schemeClr val="tx1"/>
                </a:solidFill>
              </a:rPr>
              <a:t>to move them Into the left end of another</a:t>
            </a:r>
            <a:br>
              <a:rPr lang="en-US" sz="2257" dirty="0">
                <a:solidFill>
                  <a:schemeClr val="tx1"/>
                </a:solidFill>
              </a:rPr>
            </a:br>
            <a:r>
              <a:rPr lang="en-US" sz="2257" dirty="0">
                <a:solidFill>
                  <a:schemeClr val="tx1"/>
                </a:solidFill>
              </a:rPr>
              <a:t>register (i.e. </a:t>
            </a:r>
            <a:r>
              <a:rPr lang="en-US" sz="2257" b="1" dirty="0">
                <a:solidFill>
                  <a:schemeClr val="tx1"/>
                </a:solidFill>
              </a:rPr>
              <a:t>BL</a:t>
            </a:r>
            <a:r>
              <a:rPr lang="en-US" sz="2257" dirty="0">
                <a:solidFill>
                  <a:schemeClr val="tx1"/>
                </a:solidFill>
              </a:rPr>
              <a:t>)</a:t>
            </a:r>
          </a:p>
          <a:p>
            <a:pPr marL="321457" indent="-321457" algn="l">
              <a:buFont typeface="Wingdings" panose="05000000000000000000" pitchFamily="2" charset="2"/>
              <a:buChar char="Ø"/>
            </a:pPr>
            <a:r>
              <a:rPr lang="en-US" sz="2257" dirty="0">
                <a:solidFill>
                  <a:schemeClr val="tx1"/>
                </a:solidFill>
              </a:rPr>
              <a:t>Run the above operation 8 times for 8 bits</a:t>
            </a:r>
            <a:br>
              <a:rPr lang="en-US" sz="2257" dirty="0">
                <a:solidFill>
                  <a:schemeClr val="tx1"/>
                </a:solidFill>
              </a:rPr>
            </a:br>
            <a:br>
              <a:rPr lang="en-US" sz="2257" dirty="0">
                <a:solidFill>
                  <a:schemeClr val="tx1"/>
                </a:solidFill>
              </a:rPr>
            </a:br>
            <a:br>
              <a:rPr lang="en-US" sz="2257" dirty="0">
                <a:solidFill>
                  <a:schemeClr val="tx1"/>
                </a:solidFill>
              </a:rPr>
            </a:br>
            <a:endParaRPr sz="2257" dirty="0">
              <a:solidFill>
                <a:schemeClr val="tx1"/>
              </a:solidFill>
            </a:endParaRPr>
          </a:p>
        </p:txBody>
      </p:sp>
      <p:pic>
        <p:nvPicPr>
          <p:cNvPr id="2" name="Picture 1"/>
          <p:cNvPicPr>
            <a:picLocks noChangeAspect="1"/>
          </p:cNvPicPr>
          <p:nvPr/>
        </p:nvPicPr>
        <p:blipFill>
          <a:blip r:embed="rId2" cstate="print"/>
          <a:stretch>
            <a:fillRect/>
          </a:stretch>
        </p:blipFill>
        <p:spPr>
          <a:xfrm>
            <a:off x="1250157" y="5033460"/>
            <a:ext cx="6100801" cy="1458612"/>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7887"/>
            <a:ext cx="9144000" cy="1788416"/>
          </a:xfrm>
          <a:prstGeom prst="rect">
            <a:avLst/>
          </a:prstGeom>
        </p:spPr>
      </p:pic>
      <p:sp>
        <p:nvSpPr>
          <p:cNvPr id="7" name="Shape 38"/>
          <p:cNvSpPr>
            <a:spLocks noGrp="1"/>
          </p:cNvSpPr>
          <p:nvPr>
            <p:ph type="title"/>
          </p:nvPr>
        </p:nvSpPr>
        <p:spPr>
          <a:xfrm>
            <a:off x="203260" y="437491"/>
            <a:ext cx="7358063" cy="880104"/>
          </a:xfrm>
          <a:prstGeom prst="rect">
            <a:avLst/>
          </a:prstGeom>
        </p:spPr>
        <p:txBody>
          <a:bodyPr>
            <a:normAutofit/>
          </a:bodyPr>
          <a:lstStyle/>
          <a:p>
            <a:pPr algn="ctr">
              <a:defRPr sz="1800">
                <a:solidFill>
                  <a:srgbClr val="000000"/>
                </a:solidFill>
              </a:defRPr>
            </a:pPr>
            <a:r>
              <a:rPr lang="en-US" sz="3600" b="1" dirty="0">
                <a:solidFill>
                  <a:schemeClr val="accent3">
                    <a:lumMod val="75000"/>
                  </a:schemeClr>
                </a:solidFill>
              </a:rPr>
              <a:t>Reversing Bit Pattern Application</a:t>
            </a:r>
            <a:endParaRPr sz="3600" b="1" dirty="0">
              <a:solidFill>
                <a:schemeClr val="accent5"/>
              </a:solidFill>
            </a:endParaRPr>
          </a:p>
        </p:txBody>
      </p:sp>
    </p:spTree>
    <p:extLst>
      <p:ext uri="{BB962C8B-B14F-4D97-AF65-F5344CB8AC3E}">
        <p14:creationId xmlns:p14="http://schemas.microsoft.com/office/powerpoint/2010/main" val="2180695791"/>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37555" y="1890842"/>
            <a:ext cx="8590359" cy="2678906"/>
          </a:xfrm>
        </p:spPr>
        <p:txBody>
          <a:bodyPr>
            <a:normAutofit/>
          </a:bodyPr>
          <a:lstStyle/>
          <a:p>
            <a:pPr marL="321457" indent="-321457" algn="l">
              <a:buFont typeface="Wingdings" panose="05000000000000000000" pitchFamily="2" charset="2"/>
              <a:buChar char="Ø"/>
            </a:pPr>
            <a:r>
              <a:rPr lang="en-US" sz="2257" b="1" dirty="0">
                <a:solidFill>
                  <a:schemeClr val="tx1"/>
                </a:solidFill>
              </a:rPr>
              <a:t>Binary Input: </a:t>
            </a:r>
            <a:r>
              <a:rPr lang="en-US" sz="2257" dirty="0">
                <a:solidFill>
                  <a:schemeClr val="tx1"/>
                </a:solidFill>
              </a:rPr>
              <a:t>Lets assume a program reads In a binary number from the keyboard, followed by a carriage return.  [i.e. string of 0’s and 1’s]</a:t>
            </a:r>
          </a:p>
          <a:p>
            <a:pPr marL="321457" indent="-321457" algn="l">
              <a:buFont typeface="Wingdings" panose="05000000000000000000" pitchFamily="2" charset="2"/>
              <a:buChar char="Ø"/>
            </a:pPr>
            <a:r>
              <a:rPr lang="en-US" sz="2257" dirty="0">
                <a:solidFill>
                  <a:schemeClr val="tx1"/>
                </a:solidFill>
              </a:rPr>
              <a:t>Conversion in bit value needs to be done  as soon as the input character is entered.</a:t>
            </a:r>
          </a:p>
          <a:p>
            <a:pPr marL="321457" indent="-321457" algn="l">
              <a:buFont typeface="Wingdings" panose="05000000000000000000" pitchFamily="2" charset="2"/>
              <a:buChar char="Ø"/>
            </a:pPr>
            <a:r>
              <a:rPr lang="en-US" sz="2257" dirty="0">
                <a:solidFill>
                  <a:schemeClr val="tx1"/>
                </a:solidFill>
              </a:rPr>
              <a:t>After that collect the bits in register.</a:t>
            </a:r>
          </a:p>
          <a:p>
            <a:pPr marL="321457" indent="-321457" algn="l">
              <a:buFont typeface="Wingdings" panose="05000000000000000000" pitchFamily="2" charset="2"/>
              <a:buChar char="Ø"/>
            </a:pPr>
            <a:r>
              <a:rPr lang="en-US" sz="2257" dirty="0">
                <a:solidFill>
                  <a:schemeClr val="tx1"/>
                </a:solidFill>
              </a:rPr>
              <a:t>To read a binary number from keyboard and store it in BX:</a:t>
            </a:r>
          </a:p>
        </p:txBody>
      </p:sp>
      <p:pic>
        <p:nvPicPr>
          <p:cNvPr id="4" name="Picture 3"/>
          <p:cNvPicPr>
            <a:picLocks noChangeAspect="1"/>
          </p:cNvPicPr>
          <p:nvPr/>
        </p:nvPicPr>
        <p:blipFill>
          <a:blip r:embed="rId2" cstate="print"/>
          <a:stretch>
            <a:fillRect/>
          </a:stretch>
        </p:blipFill>
        <p:spPr>
          <a:xfrm>
            <a:off x="1678781" y="4802839"/>
            <a:ext cx="6001906" cy="1875234"/>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7887"/>
            <a:ext cx="9144000" cy="1788416"/>
          </a:xfrm>
          <a:prstGeom prst="rect">
            <a:avLst/>
          </a:prstGeom>
        </p:spPr>
      </p:pic>
      <p:sp>
        <p:nvSpPr>
          <p:cNvPr id="7" name="Shape 38"/>
          <p:cNvSpPr>
            <a:spLocks noGrp="1"/>
          </p:cNvSpPr>
          <p:nvPr>
            <p:ph type="title"/>
          </p:nvPr>
        </p:nvSpPr>
        <p:spPr>
          <a:xfrm>
            <a:off x="203260" y="437491"/>
            <a:ext cx="7358063" cy="880104"/>
          </a:xfrm>
          <a:prstGeom prst="rect">
            <a:avLst/>
          </a:prstGeom>
        </p:spPr>
        <p:txBody>
          <a:bodyPr>
            <a:normAutofit fontScale="90000"/>
          </a:bodyPr>
          <a:lstStyle/>
          <a:p>
            <a:pPr algn="ctr">
              <a:defRPr sz="1800">
                <a:solidFill>
                  <a:srgbClr val="000000"/>
                </a:solidFill>
              </a:defRPr>
            </a:pPr>
            <a:r>
              <a:rPr lang="en-US" sz="4400" b="1" dirty="0">
                <a:solidFill>
                  <a:schemeClr val="accent3">
                    <a:lumMod val="75000"/>
                  </a:schemeClr>
                </a:solidFill>
              </a:rPr>
              <a:t>Binary and Hex Input &amp; Output</a:t>
            </a:r>
            <a:endParaRPr sz="4640" b="1" dirty="0">
              <a:solidFill>
                <a:schemeClr val="accent5"/>
              </a:solidFill>
            </a:endParaRPr>
          </a:p>
        </p:txBody>
      </p:sp>
    </p:spTree>
    <p:extLst>
      <p:ext uri="{BB962C8B-B14F-4D97-AF65-F5344CB8AC3E}">
        <p14:creationId xmlns:p14="http://schemas.microsoft.com/office/powerpoint/2010/main" val="132661489"/>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stretch>
            <a:fillRect/>
          </a:stretch>
        </p:blipFill>
        <p:spPr>
          <a:xfrm>
            <a:off x="1732359" y="2088107"/>
            <a:ext cx="5587790" cy="4555581"/>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7887"/>
            <a:ext cx="9144000" cy="1788416"/>
          </a:xfrm>
          <a:prstGeom prst="rect">
            <a:avLst/>
          </a:prstGeom>
        </p:spPr>
      </p:pic>
      <p:sp>
        <p:nvSpPr>
          <p:cNvPr id="7" name="Shape 38"/>
          <p:cNvSpPr>
            <a:spLocks noGrp="1"/>
          </p:cNvSpPr>
          <p:nvPr>
            <p:ph type="title"/>
          </p:nvPr>
        </p:nvSpPr>
        <p:spPr>
          <a:xfrm>
            <a:off x="203260" y="437491"/>
            <a:ext cx="7358063" cy="880104"/>
          </a:xfrm>
          <a:prstGeom prst="rect">
            <a:avLst/>
          </a:prstGeom>
        </p:spPr>
        <p:txBody>
          <a:bodyPr>
            <a:normAutofit/>
          </a:bodyPr>
          <a:lstStyle/>
          <a:p>
            <a:pPr algn="ctr">
              <a:defRPr sz="1800">
                <a:solidFill>
                  <a:srgbClr val="000000"/>
                </a:solidFill>
              </a:defRPr>
            </a:pPr>
            <a:r>
              <a:rPr lang="en-US" sz="4400" b="1" dirty="0">
                <a:solidFill>
                  <a:schemeClr val="accent3">
                    <a:lumMod val="75000"/>
                  </a:schemeClr>
                </a:solidFill>
              </a:rPr>
              <a:t>Example: Process Input 110</a:t>
            </a:r>
            <a:endParaRPr sz="4640" b="1" dirty="0">
              <a:solidFill>
                <a:schemeClr val="accent5"/>
              </a:solidFill>
            </a:endParaRPr>
          </a:p>
        </p:txBody>
      </p:sp>
    </p:spTree>
    <p:extLst>
      <p:ext uri="{BB962C8B-B14F-4D97-AF65-F5344CB8AC3E}">
        <p14:creationId xmlns:p14="http://schemas.microsoft.com/office/powerpoint/2010/main" val="2694922458"/>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normAutofit/>
          </a:bodyPr>
          <a:lstStyle/>
          <a:p>
            <a:pPr marL="312528" lvl="1" indent="0">
              <a:lnSpc>
                <a:spcPct val="20000"/>
              </a:lnSpc>
            </a:pPr>
            <a:br>
              <a:rPr lang="en-US" dirty="0"/>
            </a:br>
            <a:endParaRPr lang="en-US" dirty="0"/>
          </a:p>
        </p:txBody>
      </p:sp>
      <p:pic>
        <p:nvPicPr>
          <p:cNvPr id="4" name="Picture 3"/>
          <p:cNvPicPr>
            <a:picLocks noChangeAspect="1"/>
          </p:cNvPicPr>
          <p:nvPr/>
        </p:nvPicPr>
        <p:blipFill>
          <a:blip r:embed="rId2" cstate="print"/>
          <a:stretch>
            <a:fillRect/>
          </a:stretch>
        </p:blipFill>
        <p:spPr>
          <a:xfrm>
            <a:off x="667844" y="2511454"/>
            <a:ext cx="8102992" cy="4045148"/>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7887"/>
            <a:ext cx="9144000" cy="1788416"/>
          </a:xfrm>
          <a:prstGeom prst="rect">
            <a:avLst/>
          </a:prstGeom>
        </p:spPr>
      </p:pic>
      <p:sp>
        <p:nvSpPr>
          <p:cNvPr id="7" name="Shape 38"/>
          <p:cNvSpPr>
            <a:spLocks noGrp="1"/>
          </p:cNvSpPr>
          <p:nvPr>
            <p:ph type="title"/>
          </p:nvPr>
        </p:nvSpPr>
        <p:spPr>
          <a:xfrm>
            <a:off x="203260" y="122830"/>
            <a:ext cx="7358063" cy="1194765"/>
          </a:xfrm>
          <a:prstGeom prst="rect">
            <a:avLst/>
          </a:prstGeom>
        </p:spPr>
        <p:txBody>
          <a:bodyPr>
            <a:noAutofit/>
          </a:bodyPr>
          <a:lstStyle/>
          <a:p>
            <a:pPr algn="ctr">
              <a:defRPr sz="1800">
                <a:solidFill>
                  <a:srgbClr val="000000"/>
                </a:solidFill>
              </a:defRPr>
            </a:pPr>
            <a:r>
              <a:rPr lang="en-US" sz="3600" b="1" dirty="0">
                <a:solidFill>
                  <a:schemeClr val="accent3">
                    <a:lumMod val="75000"/>
                  </a:schemeClr>
                </a:solidFill>
              </a:rPr>
              <a:t>Assembly Conversion for input processing (110)</a:t>
            </a:r>
            <a:endParaRPr sz="3600" b="1" dirty="0">
              <a:solidFill>
                <a:schemeClr val="accent5"/>
              </a:solidFill>
            </a:endParaRPr>
          </a:p>
        </p:txBody>
      </p:sp>
    </p:spTree>
    <p:extLst>
      <p:ext uri="{BB962C8B-B14F-4D97-AF65-F5344CB8AC3E}">
        <p14:creationId xmlns:p14="http://schemas.microsoft.com/office/powerpoint/2010/main" val="4068483931"/>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69727" y="2087116"/>
            <a:ext cx="7804547" cy="1357313"/>
          </a:xfrm>
        </p:spPr>
        <p:txBody>
          <a:bodyPr>
            <a:normAutofit/>
          </a:bodyPr>
          <a:lstStyle/>
          <a:p>
            <a:pPr marL="321457" indent="-321457" algn="l">
              <a:buFont typeface="Wingdings" panose="05000000000000000000" pitchFamily="2" charset="2"/>
              <a:buChar char="Ø"/>
            </a:pPr>
            <a:r>
              <a:rPr lang="en-US" dirty="0">
                <a:solidFill>
                  <a:schemeClr val="tx1"/>
                </a:solidFill>
              </a:rPr>
              <a:t>Outputting the contents of BX in binary also involves the shift operation. </a:t>
            </a:r>
          </a:p>
          <a:p>
            <a:pPr marL="321457" indent="-321457" algn="l">
              <a:buFont typeface="Wingdings" panose="05000000000000000000" pitchFamily="2" charset="2"/>
              <a:buChar char="Ø"/>
            </a:pPr>
            <a:r>
              <a:rPr lang="en-US" b="1" dirty="0">
                <a:solidFill>
                  <a:schemeClr val="tx1"/>
                </a:solidFill>
              </a:rPr>
              <a:t>Algorithm for Binary output:</a:t>
            </a:r>
          </a:p>
        </p:txBody>
      </p:sp>
      <p:pic>
        <p:nvPicPr>
          <p:cNvPr id="4" name="Picture 3"/>
          <p:cNvPicPr>
            <a:picLocks noChangeAspect="1"/>
          </p:cNvPicPr>
          <p:nvPr/>
        </p:nvPicPr>
        <p:blipFill>
          <a:blip r:embed="rId2" cstate="print"/>
          <a:stretch>
            <a:fillRect/>
          </a:stretch>
        </p:blipFill>
        <p:spPr>
          <a:xfrm>
            <a:off x="1401728" y="3492242"/>
            <a:ext cx="6340544" cy="2667744"/>
          </a:xfrm>
          <a:prstGeom prst="rect">
            <a:avLst/>
          </a:prstGeom>
        </p:spPr>
      </p:pic>
      <p:sp>
        <p:nvSpPr>
          <p:cNvPr id="5" name="Rectangle 4"/>
          <p:cNvSpPr/>
          <p:nvPr/>
        </p:nvSpPr>
        <p:spPr>
          <a:xfrm>
            <a:off x="446484" y="6169588"/>
            <a:ext cx="8465344" cy="287130"/>
          </a:xfrm>
          <a:prstGeom prst="rect">
            <a:avLst/>
          </a:prstGeom>
        </p:spPr>
        <p:txBody>
          <a:bodyPr wrap="square">
            <a:spAutoFit/>
          </a:bodyPr>
          <a:lstStyle/>
          <a:p>
            <a:pPr algn="l"/>
            <a:r>
              <a:rPr lang="en-US" sz="1266" dirty="0"/>
              <a:t>Write an assembly code to process the Binary output for this problem.</a:t>
            </a: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7887"/>
            <a:ext cx="9144000" cy="1788416"/>
          </a:xfrm>
          <a:prstGeom prst="rect">
            <a:avLst/>
          </a:prstGeom>
        </p:spPr>
      </p:pic>
      <p:sp>
        <p:nvSpPr>
          <p:cNvPr id="8" name="Shape 38"/>
          <p:cNvSpPr>
            <a:spLocks noGrp="1"/>
          </p:cNvSpPr>
          <p:nvPr>
            <p:ph type="title"/>
          </p:nvPr>
        </p:nvSpPr>
        <p:spPr>
          <a:xfrm>
            <a:off x="203260" y="437491"/>
            <a:ext cx="7358063" cy="880104"/>
          </a:xfrm>
          <a:prstGeom prst="rect">
            <a:avLst/>
          </a:prstGeom>
        </p:spPr>
        <p:txBody>
          <a:bodyPr>
            <a:normAutofit/>
          </a:bodyPr>
          <a:lstStyle/>
          <a:p>
            <a:pPr algn="ctr">
              <a:defRPr sz="1800">
                <a:solidFill>
                  <a:srgbClr val="000000"/>
                </a:solidFill>
              </a:defRPr>
            </a:pPr>
            <a:r>
              <a:rPr lang="en-US" sz="4400" b="1" dirty="0">
                <a:solidFill>
                  <a:schemeClr val="accent3">
                    <a:lumMod val="75000"/>
                  </a:schemeClr>
                </a:solidFill>
              </a:rPr>
              <a:t>Binary Output</a:t>
            </a:r>
            <a:endParaRPr sz="4640" b="1" dirty="0">
              <a:solidFill>
                <a:schemeClr val="accent5"/>
              </a:solidFill>
            </a:endParaRPr>
          </a:p>
        </p:txBody>
      </p:sp>
    </p:spTree>
    <p:extLst>
      <p:ext uri="{BB962C8B-B14F-4D97-AF65-F5344CB8AC3E}">
        <p14:creationId xmlns:p14="http://schemas.microsoft.com/office/powerpoint/2010/main" val="2393177456"/>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53640" y="2099677"/>
            <a:ext cx="8090297" cy="4137351"/>
          </a:xfrm>
        </p:spPr>
        <p:txBody>
          <a:bodyPr>
            <a:normAutofit lnSpcReduction="10000"/>
          </a:bodyPr>
          <a:lstStyle/>
          <a:p>
            <a:pPr marL="321457" indent="-321457" algn="l">
              <a:lnSpc>
                <a:spcPct val="150000"/>
              </a:lnSpc>
              <a:buFont typeface="Wingdings" panose="05000000000000000000" pitchFamily="2" charset="2"/>
              <a:buChar char="Ø"/>
            </a:pPr>
            <a:r>
              <a:rPr lang="en-US" dirty="0"/>
              <a:t>Hex input consists of digits ("0" to "9") and letters ("A" to "F”) followed by a carriage return. </a:t>
            </a:r>
          </a:p>
          <a:p>
            <a:pPr marL="321457" indent="-321457" algn="l">
              <a:lnSpc>
                <a:spcPct val="150000"/>
              </a:lnSpc>
              <a:buFont typeface="Wingdings" panose="05000000000000000000" pitchFamily="2" charset="2"/>
              <a:buChar char="Ø"/>
            </a:pPr>
            <a:r>
              <a:rPr lang="en-US" dirty="0"/>
              <a:t>For simplicity, we will assume that</a:t>
            </a:r>
          </a:p>
          <a:p>
            <a:pPr marL="321457" lvl="1" indent="-321457" algn="l">
              <a:lnSpc>
                <a:spcPct val="150000"/>
              </a:lnSpc>
              <a:buFont typeface="Wingdings" panose="05000000000000000000" pitchFamily="2" charset="2"/>
              <a:buChar char="Ø"/>
            </a:pPr>
            <a:r>
              <a:rPr lang="en-US" dirty="0"/>
              <a:t>Only uppercase letters are used, and</a:t>
            </a:r>
          </a:p>
          <a:p>
            <a:pPr marL="321457" lvl="1" indent="-321457" algn="l">
              <a:lnSpc>
                <a:spcPct val="150000"/>
              </a:lnSpc>
              <a:buFont typeface="Wingdings" panose="05000000000000000000" pitchFamily="2" charset="2"/>
              <a:buChar char="Ø"/>
            </a:pPr>
            <a:r>
              <a:rPr lang="en-US" dirty="0"/>
              <a:t>The user inputs no more than four hex characters.</a:t>
            </a:r>
          </a:p>
          <a:p>
            <a:pPr marL="321457" indent="-321457" algn="l">
              <a:lnSpc>
                <a:spcPct val="150000"/>
              </a:lnSpc>
              <a:buFont typeface="Wingdings" panose="05000000000000000000" pitchFamily="2" charset="2"/>
              <a:buChar char="Ø"/>
            </a:pPr>
            <a:r>
              <a:rPr lang="en-US" dirty="0"/>
              <a:t>The process of converting characters to binary values is more Involved than it was for binary input, and BX must be </a:t>
            </a:r>
            <a:r>
              <a:rPr lang="en-US" b="1" dirty="0">
                <a:solidFill>
                  <a:schemeClr val="tx1"/>
                </a:solidFill>
              </a:rPr>
              <a:t>shifted four times</a:t>
            </a:r>
            <a:r>
              <a:rPr lang="en-US" dirty="0"/>
              <a:t> to make room for a hex value. </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7887"/>
            <a:ext cx="9144000" cy="1788416"/>
          </a:xfrm>
          <a:prstGeom prst="rect">
            <a:avLst/>
          </a:prstGeom>
        </p:spPr>
      </p:pic>
      <p:sp>
        <p:nvSpPr>
          <p:cNvPr id="6" name="Shape 38"/>
          <p:cNvSpPr>
            <a:spLocks noGrp="1"/>
          </p:cNvSpPr>
          <p:nvPr>
            <p:ph type="title"/>
          </p:nvPr>
        </p:nvSpPr>
        <p:spPr>
          <a:xfrm>
            <a:off x="203260" y="437491"/>
            <a:ext cx="7358063" cy="880104"/>
          </a:xfrm>
          <a:prstGeom prst="rect">
            <a:avLst/>
          </a:prstGeom>
        </p:spPr>
        <p:txBody>
          <a:bodyPr>
            <a:normAutofit/>
          </a:bodyPr>
          <a:lstStyle/>
          <a:p>
            <a:pPr algn="ctr">
              <a:defRPr sz="1800">
                <a:solidFill>
                  <a:srgbClr val="000000"/>
                </a:solidFill>
              </a:defRPr>
            </a:pPr>
            <a:r>
              <a:rPr lang="en-US" sz="4400" b="1" dirty="0">
                <a:solidFill>
                  <a:schemeClr val="accent3">
                    <a:lumMod val="75000"/>
                  </a:schemeClr>
                </a:solidFill>
              </a:rPr>
              <a:t>Hex Input</a:t>
            </a:r>
            <a:endParaRPr sz="4640" b="1" dirty="0">
              <a:solidFill>
                <a:schemeClr val="accent5"/>
              </a:solidFill>
            </a:endParaRPr>
          </a:p>
        </p:txBody>
      </p:sp>
    </p:spTree>
    <p:extLst>
      <p:ext uri="{BB962C8B-B14F-4D97-AF65-F5344CB8AC3E}">
        <p14:creationId xmlns:p14="http://schemas.microsoft.com/office/powerpoint/2010/main" val="4104484918"/>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endParaRPr lang="en-US" dirty="0"/>
          </a:p>
        </p:txBody>
      </p:sp>
      <p:pic>
        <p:nvPicPr>
          <p:cNvPr id="5" name="Picture 4"/>
          <p:cNvPicPr>
            <a:picLocks noChangeAspect="1"/>
          </p:cNvPicPr>
          <p:nvPr/>
        </p:nvPicPr>
        <p:blipFill>
          <a:blip r:embed="rId2" cstate="print"/>
          <a:stretch>
            <a:fillRect/>
          </a:stretch>
        </p:blipFill>
        <p:spPr>
          <a:xfrm>
            <a:off x="565744" y="2058292"/>
            <a:ext cx="7842847" cy="4545211"/>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7887"/>
            <a:ext cx="9144000" cy="1788416"/>
          </a:xfrm>
          <a:prstGeom prst="rect">
            <a:avLst/>
          </a:prstGeom>
        </p:spPr>
      </p:pic>
      <p:sp>
        <p:nvSpPr>
          <p:cNvPr id="7" name="Shape 38"/>
          <p:cNvSpPr>
            <a:spLocks noGrp="1"/>
          </p:cNvSpPr>
          <p:nvPr>
            <p:ph type="title"/>
          </p:nvPr>
        </p:nvSpPr>
        <p:spPr>
          <a:xfrm>
            <a:off x="203260" y="437491"/>
            <a:ext cx="7358063" cy="880104"/>
          </a:xfrm>
          <a:prstGeom prst="rect">
            <a:avLst/>
          </a:prstGeom>
        </p:spPr>
        <p:txBody>
          <a:bodyPr>
            <a:normAutofit/>
          </a:bodyPr>
          <a:lstStyle/>
          <a:p>
            <a:pPr algn="ctr">
              <a:defRPr sz="1800">
                <a:solidFill>
                  <a:srgbClr val="000000"/>
                </a:solidFill>
              </a:defRPr>
            </a:pPr>
            <a:r>
              <a:rPr lang="en-US" sz="4400" b="1" dirty="0">
                <a:solidFill>
                  <a:schemeClr val="accent3">
                    <a:lumMod val="75000"/>
                  </a:schemeClr>
                </a:solidFill>
              </a:rPr>
              <a:t>Algorithm for hex input</a:t>
            </a:r>
            <a:endParaRPr sz="4640" b="1" dirty="0">
              <a:solidFill>
                <a:schemeClr val="accent5"/>
              </a:solidFill>
            </a:endParaRPr>
          </a:p>
        </p:txBody>
      </p:sp>
    </p:spTree>
    <p:extLst>
      <p:ext uri="{BB962C8B-B14F-4D97-AF65-F5344CB8AC3E}">
        <p14:creationId xmlns:p14="http://schemas.microsoft.com/office/powerpoint/2010/main" val="1490236842"/>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2214562" y="1977859"/>
            <a:ext cx="4920258" cy="4631539"/>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7887"/>
            <a:ext cx="9144000" cy="1788416"/>
          </a:xfrm>
          <a:prstGeom prst="rect">
            <a:avLst/>
          </a:prstGeom>
        </p:spPr>
      </p:pic>
      <p:sp>
        <p:nvSpPr>
          <p:cNvPr id="6" name="Shape 38"/>
          <p:cNvSpPr>
            <a:spLocks noGrp="1"/>
          </p:cNvSpPr>
          <p:nvPr>
            <p:ph type="title"/>
          </p:nvPr>
        </p:nvSpPr>
        <p:spPr>
          <a:xfrm>
            <a:off x="203260" y="437491"/>
            <a:ext cx="7358063" cy="880104"/>
          </a:xfrm>
          <a:prstGeom prst="rect">
            <a:avLst/>
          </a:prstGeom>
        </p:spPr>
        <p:txBody>
          <a:bodyPr>
            <a:normAutofit/>
          </a:bodyPr>
          <a:lstStyle/>
          <a:p>
            <a:pPr algn="ctr">
              <a:defRPr sz="1800">
                <a:solidFill>
                  <a:srgbClr val="000000"/>
                </a:solidFill>
              </a:defRPr>
            </a:pPr>
            <a:r>
              <a:rPr lang="en-US" sz="4400" b="1" dirty="0">
                <a:solidFill>
                  <a:schemeClr val="accent3">
                    <a:lumMod val="75000"/>
                  </a:schemeClr>
                </a:solidFill>
              </a:rPr>
              <a:t>Example: input </a:t>
            </a:r>
            <a:r>
              <a:rPr lang="en-US" sz="4400" b="1" dirty="0">
                <a:solidFill>
                  <a:srgbClr val="0070C0"/>
                </a:solidFill>
              </a:rPr>
              <a:t>6AB</a:t>
            </a:r>
            <a:endParaRPr sz="4640" b="1" dirty="0">
              <a:solidFill>
                <a:schemeClr val="accent5"/>
              </a:solidFill>
            </a:endParaRPr>
          </a:p>
        </p:txBody>
      </p:sp>
    </p:spTree>
    <p:extLst>
      <p:ext uri="{BB962C8B-B14F-4D97-AF65-F5344CB8AC3E}">
        <p14:creationId xmlns:p14="http://schemas.microsoft.com/office/powerpoint/2010/main" val="1193145433"/>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1554882" y="1910687"/>
            <a:ext cx="6285384" cy="4789607"/>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7887"/>
            <a:ext cx="9144000" cy="1788416"/>
          </a:xfrm>
          <a:prstGeom prst="rect">
            <a:avLst/>
          </a:prstGeom>
        </p:spPr>
      </p:pic>
      <p:sp>
        <p:nvSpPr>
          <p:cNvPr id="6" name="Shape 38"/>
          <p:cNvSpPr>
            <a:spLocks noGrp="1"/>
          </p:cNvSpPr>
          <p:nvPr>
            <p:ph type="title"/>
          </p:nvPr>
        </p:nvSpPr>
        <p:spPr>
          <a:xfrm>
            <a:off x="203260" y="437491"/>
            <a:ext cx="7358063" cy="880104"/>
          </a:xfrm>
          <a:prstGeom prst="rect">
            <a:avLst/>
          </a:prstGeom>
        </p:spPr>
        <p:txBody>
          <a:bodyPr>
            <a:normAutofit/>
          </a:bodyPr>
          <a:lstStyle/>
          <a:p>
            <a:pPr algn="ctr">
              <a:defRPr sz="1800">
                <a:solidFill>
                  <a:srgbClr val="000000"/>
                </a:solidFill>
              </a:defRPr>
            </a:pPr>
            <a:r>
              <a:rPr lang="en-US" sz="3600" b="1" dirty="0">
                <a:solidFill>
                  <a:schemeClr val="accent3">
                    <a:lumMod val="75000"/>
                  </a:schemeClr>
                </a:solidFill>
              </a:rPr>
              <a:t>Assembly Code for Processing </a:t>
            </a:r>
            <a:r>
              <a:rPr lang="en-US" sz="3600" b="1" dirty="0">
                <a:solidFill>
                  <a:srgbClr val="0070C0"/>
                </a:solidFill>
              </a:rPr>
              <a:t>6AB</a:t>
            </a:r>
            <a:endParaRPr sz="3600" b="1" dirty="0">
              <a:solidFill>
                <a:schemeClr val="accent5"/>
              </a:solidFill>
            </a:endParaRPr>
          </a:p>
        </p:txBody>
      </p:sp>
    </p:spTree>
    <p:extLst>
      <p:ext uri="{BB962C8B-B14F-4D97-AF65-F5344CB8AC3E}">
        <p14:creationId xmlns:p14="http://schemas.microsoft.com/office/powerpoint/2010/main" val="3077815033"/>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endParaRPr lang="en-US" dirty="0"/>
          </a:p>
        </p:txBody>
      </p:sp>
      <p:pic>
        <p:nvPicPr>
          <p:cNvPr id="4" name="Picture 3"/>
          <p:cNvPicPr>
            <a:picLocks noChangeAspect="1"/>
          </p:cNvPicPr>
          <p:nvPr/>
        </p:nvPicPr>
        <p:blipFill>
          <a:blip r:embed="rId2" cstate="print"/>
          <a:stretch>
            <a:fillRect/>
          </a:stretch>
        </p:blipFill>
        <p:spPr>
          <a:xfrm>
            <a:off x="500063" y="2415654"/>
            <a:ext cx="8269940" cy="4040510"/>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7887"/>
            <a:ext cx="9144000" cy="1788416"/>
          </a:xfrm>
          <a:prstGeom prst="rect">
            <a:avLst/>
          </a:prstGeom>
        </p:spPr>
      </p:pic>
      <p:sp>
        <p:nvSpPr>
          <p:cNvPr id="7" name="Shape 38"/>
          <p:cNvSpPr>
            <a:spLocks noGrp="1"/>
          </p:cNvSpPr>
          <p:nvPr>
            <p:ph type="title"/>
          </p:nvPr>
        </p:nvSpPr>
        <p:spPr>
          <a:xfrm>
            <a:off x="203260" y="437491"/>
            <a:ext cx="7358063" cy="880104"/>
          </a:xfrm>
          <a:prstGeom prst="rect">
            <a:avLst/>
          </a:prstGeom>
        </p:spPr>
        <p:txBody>
          <a:bodyPr>
            <a:normAutofit/>
          </a:bodyPr>
          <a:lstStyle/>
          <a:p>
            <a:pPr algn="ctr">
              <a:defRPr sz="1800">
                <a:solidFill>
                  <a:srgbClr val="000000"/>
                </a:solidFill>
              </a:defRPr>
            </a:pPr>
            <a:r>
              <a:rPr lang="en-US" sz="4400" b="1" dirty="0">
                <a:solidFill>
                  <a:schemeClr val="accent3">
                    <a:lumMod val="75000"/>
                  </a:schemeClr>
                </a:solidFill>
              </a:rPr>
              <a:t>Algorithm for Hex Output</a:t>
            </a:r>
            <a:endParaRPr sz="4640" b="1" dirty="0">
              <a:solidFill>
                <a:schemeClr val="accent5"/>
              </a:solidFill>
            </a:endParaRPr>
          </a:p>
        </p:txBody>
      </p:sp>
    </p:spTree>
    <p:extLst>
      <p:ext uri="{BB962C8B-B14F-4D97-AF65-F5344CB8AC3E}">
        <p14:creationId xmlns:p14="http://schemas.microsoft.com/office/powerpoint/2010/main" val="1793903636"/>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1421499" y="1992573"/>
            <a:ext cx="5745372" cy="4327298"/>
          </a:xfrm>
          <a:prstGeom prst="rect">
            <a:avLst/>
          </a:prstGeom>
        </p:spPr>
      </p:pic>
      <p:sp>
        <p:nvSpPr>
          <p:cNvPr id="5" name="Rectangle 4"/>
          <p:cNvSpPr/>
          <p:nvPr/>
        </p:nvSpPr>
        <p:spPr>
          <a:xfrm>
            <a:off x="446484" y="6319871"/>
            <a:ext cx="8465344" cy="439672"/>
          </a:xfrm>
          <a:prstGeom prst="rect">
            <a:avLst/>
          </a:prstGeom>
        </p:spPr>
        <p:txBody>
          <a:bodyPr wrap="square">
            <a:spAutoFit/>
          </a:bodyPr>
          <a:lstStyle/>
          <a:p>
            <a:r>
              <a:rPr lang="en-US" sz="2257" dirty="0"/>
              <a:t>Write an assembly code to process the Binary output for this problem.</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7887"/>
            <a:ext cx="9144000" cy="1788416"/>
          </a:xfrm>
          <a:prstGeom prst="rect">
            <a:avLst/>
          </a:prstGeom>
        </p:spPr>
      </p:pic>
      <p:sp>
        <p:nvSpPr>
          <p:cNvPr id="7" name="Shape 38"/>
          <p:cNvSpPr>
            <a:spLocks noGrp="1"/>
          </p:cNvSpPr>
          <p:nvPr>
            <p:ph type="title"/>
          </p:nvPr>
        </p:nvSpPr>
        <p:spPr>
          <a:xfrm>
            <a:off x="203260" y="437491"/>
            <a:ext cx="7358063" cy="880104"/>
          </a:xfrm>
          <a:prstGeom prst="rect">
            <a:avLst/>
          </a:prstGeom>
        </p:spPr>
        <p:txBody>
          <a:bodyPr>
            <a:normAutofit fontScale="90000"/>
          </a:bodyPr>
          <a:lstStyle/>
          <a:p>
            <a:pPr algn="ctr">
              <a:defRPr sz="1800">
                <a:solidFill>
                  <a:srgbClr val="000000"/>
                </a:solidFill>
              </a:defRPr>
            </a:pPr>
            <a:r>
              <a:rPr lang="en-US" sz="4400" b="1" dirty="0">
                <a:solidFill>
                  <a:schemeClr val="accent3">
                    <a:lumMod val="75000"/>
                  </a:schemeClr>
                </a:solidFill>
              </a:rPr>
              <a:t>Conversion of 4CA9h to Binary</a:t>
            </a:r>
            <a:endParaRPr sz="4640" b="1" dirty="0">
              <a:solidFill>
                <a:schemeClr val="accent5"/>
              </a:solidFill>
            </a:endParaRPr>
          </a:p>
        </p:txBody>
      </p:sp>
    </p:spTree>
    <p:extLst>
      <p:ext uri="{BB962C8B-B14F-4D97-AF65-F5344CB8AC3E}">
        <p14:creationId xmlns:p14="http://schemas.microsoft.com/office/powerpoint/2010/main" val="1661326591"/>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2" name="Rectangle 1"/>
          <p:cNvSpPr/>
          <p:nvPr/>
        </p:nvSpPr>
        <p:spPr>
          <a:xfrm>
            <a:off x="581890" y="1942145"/>
            <a:ext cx="7536873" cy="923330"/>
          </a:xfrm>
          <a:prstGeom prst="rect">
            <a:avLst/>
          </a:prstGeom>
        </p:spPr>
        <p:txBody>
          <a:bodyPr wrap="square">
            <a:spAutoFit/>
          </a:bodyPr>
          <a:lstStyle/>
          <a:p>
            <a:pPr marL="342900" marR="0" lvl="0" indent="-342900" algn="just">
              <a:spcBef>
                <a:spcPts val="0"/>
              </a:spcBef>
              <a:spcAft>
                <a:spcPts val="0"/>
              </a:spcAft>
              <a:buFont typeface="Arial" panose="020B0604020202020204" pitchFamily="34" charset="0"/>
              <a:buChar char="•"/>
              <a:tabLst>
                <a:tab pos="228600" algn="l"/>
                <a:tab pos="457200" algn="l"/>
              </a:tabLst>
            </a:pPr>
            <a:r>
              <a:rPr lang="en-US" dirty="0">
                <a:solidFill>
                  <a:srgbClr val="000000"/>
                </a:solidFill>
                <a:ea typeface="Times New Roman" panose="02020603050405020304" pitchFamily="18" charset="0"/>
              </a:rPr>
              <a:t>Assembly Language Programming and Organization of the IBM PC, </a:t>
            </a:r>
            <a:r>
              <a:rPr lang="en-US" dirty="0" err="1">
                <a:solidFill>
                  <a:srgbClr val="000000"/>
                </a:solidFill>
                <a:ea typeface="Times New Roman" panose="02020603050405020304" pitchFamily="18" charset="0"/>
              </a:rPr>
              <a:t>Ytha</a:t>
            </a:r>
            <a:r>
              <a:rPr lang="en-US" dirty="0">
                <a:solidFill>
                  <a:srgbClr val="000000"/>
                </a:solidFill>
                <a:ea typeface="Times New Roman" panose="02020603050405020304" pitchFamily="18" charset="0"/>
              </a:rPr>
              <a:t> Yu and </a:t>
            </a:r>
            <a:r>
              <a:rPr lang="en-US" dirty="0">
                <a:ea typeface="Times New Roman" panose="02020603050405020304" pitchFamily="18" charset="0"/>
              </a:rPr>
              <a:t>Charles </a:t>
            </a:r>
            <a:r>
              <a:rPr lang="en-US" dirty="0" err="1">
                <a:ea typeface="Times New Roman" panose="02020603050405020304" pitchFamily="18" charset="0"/>
              </a:rPr>
              <a:t>Marut</a:t>
            </a:r>
            <a:r>
              <a:rPr lang="en-US" dirty="0">
                <a:solidFill>
                  <a:srgbClr val="000000"/>
                </a:solidFill>
                <a:ea typeface="Times New Roman" panose="02020603050405020304" pitchFamily="18" charset="0"/>
              </a:rPr>
              <a:t>, McGraw Hill, 1992. (ISBN: 0-07-072692-2).</a:t>
            </a:r>
          </a:p>
          <a:p>
            <a:pPr marL="342900" marR="0" lvl="0" indent="-342900" algn="just">
              <a:spcBef>
                <a:spcPts val="0"/>
              </a:spcBef>
              <a:spcAft>
                <a:spcPts val="0"/>
              </a:spcAft>
              <a:buFont typeface="Arial" panose="020B0604020202020204" pitchFamily="34" charset="0"/>
              <a:buChar char="•"/>
              <a:tabLst>
                <a:tab pos="228600" algn="l"/>
                <a:tab pos="457200" algn="l"/>
              </a:tabLst>
            </a:pPr>
            <a:r>
              <a:rPr lang="en-US" dirty="0">
                <a:hlinkClick r:id="rId2"/>
              </a:rPr>
              <a:t>http://faculty.cs.niu.edu/~byrnes/csci360/notes/360shift.htm</a:t>
            </a:r>
            <a:endParaRPr lang="en-US" dirty="0">
              <a:ea typeface="Times New Roman" panose="02020603050405020304" pitchFamily="18" charset="0"/>
            </a:endParaRPr>
          </a:p>
        </p:txBody>
      </p:sp>
    </p:spTree>
    <p:extLst>
      <p:ext uri="{BB962C8B-B14F-4D97-AF65-F5344CB8AC3E}">
        <p14:creationId xmlns:p14="http://schemas.microsoft.com/office/powerpoint/2010/main" val="36565434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2" name="Rectangle 1"/>
          <p:cNvSpPr/>
          <p:nvPr/>
        </p:nvSpPr>
        <p:spPr>
          <a:xfrm>
            <a:off x="678873" y="1998023"/>
            <a:ext cx="7633854" cy="3785652"/>
          </a:xfrm>
          <a:prstGeom prst="rect">
            <a:avLst/>
          </a:prstGeom>
        </p:spPr>
        <p:txBody>
          <a:bodyPr wrap="square">
            <a:spAutoFit/>
          </a:bodyPr>
          <a:lstStyle/>
          <a:p>
            <a:pPr marL="342900" marR="0" lvl="0" indent="-342900" algn="just">
              <a:spcBef>
                <a:spcPts val="0"/>
              </a:spcBef>
              <a:spcAft>
                <a:spcPts val="0"/>
              </a:spcAft>
              <a:buFont typeface="Arial" panose="020B0604020202020204" pitchFamily="34" charset="0"/>
              <a:buChar char="•"/>
              <a:tabLst>
                <a:tab pos="228600" algn="l"/>
                <a:tab pos="457200" algn="l"/>
              </a:tabLst>
            </a:pPr>
            <a:r>
              <a:rPr lang="en-US" sz="2000" dirty="0">
                <a:solidFill>
                  <a:srgbClr val="000000"/>
                </a:solidFill>
                <a:ea typeface="Times New Roman" panose="02020603050405020304" pitchFamily="18" charset="0"/>
              </a:rPr>
              <a:t>Assembly Language Programming and Organization of the IBM PC, </a:t>
            </a:r>
            <a:r>
              <a:rPr lang="en-US" sz="2000" dirty="0" err="1">
                <a:solidFill>
                  <a:srgbClr val="000000"/>
                </a:solidFill>
                <a:ea typeface="Times New Roman" panose="02020603050405020304" pitchFamily="18" charset="0"/>
              </a:rPr>
              <a:t>Ytha</a:t>
            </a:r>
            <a:r>
              <a:rPr lang="en-US" sz="2000" dirty="0">
                <a:solidFill>
                  <a:srgbClr val="000000"/>
                </a:solidFill>
                <a:ea typeface="Times New Roman" panose="02020603050405020304" pitchFamily="18" charset="0"/>
              </a:rPr>
              <a:t> Yu </a:t>
            </a:r>
            <a:r>
              <a:rPr lang="en-US" sz="2000" dirty="0">
                <a:ea typeface="Times New Roman" panose="02020603050405020304" pitchFamily="18" charset="0"/>
              </a:rPr>
              <a:t>and Charles </a:t>
            </a:r>
            <a:r>
              <a:rPr lang="en-US" sz="2000" dirty="0" err="1">
                <a:ea typeface="Times New Roman" panose="02020603050405020304" pitchFamily="18" charset="0"/>
              </a:rPr>
              <a:t>Marut</a:t>
            </a:r>
            <a:r>
              <a:rPr lang="en-US" sz="2000" dirty="0">
                <a:solidFill>
                  <a:srgbClr val="000000"/>
                </a:solidFill>
                <a:ea typeface="Times New Roman" panose="02020603050405020304" pitchFamily="18" charset="0"/>
              </a:rPr>
              <a:t>, McGraw Hill, 1992. (ISBN: 0-07-072692-2).</a:t>
            </a:r>
          </a:p>
          <a:p>
            <a:pPr marR="0" lvl="0" algn="just">
              <a:spcBef>
                <a:spcPts val="0"/>
              </a:spcBef>
              <a:spcAft>
                <a:spcPts val="0"/>
              </a:spcAft>
              <a:tabLst>
                <a:tab pos="228600" algn="l"/>
                <a:tab pos="457200" algn="l"/>
              </a:tabLst>
            </a:pPr>
            <a:endParaRPr lang="en-US" sz="2000" dirty="0">
              <a:ea typeface="Times New Roman" panose="02020603050405020304" pitchFamily="18" charset="0"/>
            </a:endParaRPr>
          </a:p>
          <a:p>
            <a:pPr marL="342900" marR="0" lvl="0" indent="-342900" algn="just">
              <a:spcBef>
                <a:spcPts val="0"/>
              </a:spcBef>
              <a:spcAft>
                <a:spcPts val="0"/>
              </a:spcAft>
              <a:buFont typeface="Arial" panose="020B0604020202020204" pitchFamily="34" charset="0"/>
              <a:buChar char="•"/>
              <a:tabLst>
                <a:tab pos="228600" algn="l"/>
                <a:tab pos="457200" algn="l"/>
              </a:tabLst>
            </a:pPr>
            <a:r>
              <a:rPr lang="en-US" sz="2000" dirty="0">
                <a:solidFill>
                  <a:srgbClr val="000000"/>
                </a:solidFill>
                <a:ea typeface="Times New Roman" panose="02020603050405020304" pitchFamily="18" charset="0"/>
              </a:rPr>
              <a:t>Essentials of Computer Organization and Architecture, (Third Edition), Linda Null and Julia </a:t>
            </a:r>
            <a:r>
              <a:rPr lang="en-US" sz="2000" dirty="0" err="1">
                <a:solidFill>
                  <a:srgbClr val="000000"/>
                </a:solidFill>
                <a:ea typeface="Times New Roman" panose="02020603050405020304" pitchFamily="18" charset="0"/>
              </a:rPr>
              <a:t>Lobur</a:t>
            </a:r>
            <a:endParaRPr lang="en-US" sz="2000" dirty="0">
              <a:solidFill>
                <a:srgbClr val="000000"/>
              </a:solidFill>
              <a:ea typeface="Times New Roman" panose="02020603050405020304" pitchFamily="18" charset="0"/>
            </a:endParaRPr>
          </a:p>
          <a:p>
            <a:pPr marR="0" lvl="0" algn="just">
              <a:spcBef>
                <a:spcPts val="0"/>
              </a:spcBef>
              <a:spcAft>
                <a:spcPts val="0"/>
              </a:spcAft>
              <a:tabLst>
                <a:tab pos="228600" algn="l"/>
                <a:tab pos="457200" algn="l"/>
              </a:tabLst>
            </a:pPr>
            <a:endParaRPr lang="en-US" sz="2000" dirty="0">
              <a:ea typeface="Times New Roman" panose="02020603050405020304" pitchFamily="18" charset="0"/>
            </a:endParaRPr>
          </a:p>
          <a:p>
            <a:pPr marL="342900" marR="0" lvl="0" indent="-342900" algn="just">
              <a:spcBef>
                <a:spcPts val="0"/>
              </a:spcBef>
              <a:spcAft>
                <a:spcPts val="0"/>
              </a:spcAft>
              <a:buFont typeface="Arial" panose="020B0604020202020204" pitchFamily="34" charset="0"/>
              <a:buChar char="•"/>
              <a:tabLst>
                <a:tab pos="228600" algn="l"/>
                <a:tab pos="457200" algn="l"/>
              </a:tabLst>
            </a:pPr>
            <a:r>
              <a:rPr lang="en-US" sz="2000" dirty="0">
                <a:solidFill>
                  <a:srgbClr val="000000"/>
                </a:solidFill>
                <a:ea typeface="Times New Roman" panose="02020603050405020304" pitchFamily="18" charset="0"/>
              </a:rPr>
              <a:t>W. Stallings, “Computer Organization and Architecture: Designing for performance”, 67h Edition, Prentice Hall of India, 2003, ISBN 81 – 203 – 2962 – 7</a:t>
            </a:r>
          </a:p>
          <a:p>
            <a:pPr marR="0" lvl="0" algn="just">
              <a:spcBef>
                <a:spcPts val="0"/>
              </a:spcBef>
              <a:spcAft>
                <a:spcPts val="0"/>
              </a:spcAft>
              <a:tabLst>
                <a:tab pos="228600" algn="l"/>
                <a:tab pos="457200" algn="l"/>
              </a:tabLst>
            </a:pPr>
            <a:endParaRPr lang="en-US" sz="2000" dirty="0">
              <a:ea typeface="Times New Roman" panose="02020603050405020304" pitchFamily="18" charset="0"/>
            </a:endParaRPr>
          </a:p>
          <a:p>
            <a:pPr marL="342900" marR="0" lvl="0" indent="-342900" algn="just">
              <a:spcBef>
                <a:spcPts val="0"/>
              </a:spcBef>
              <a:spcAft>
                <a:spcPts val="0"/>
              </a:spcAft>
              <a:buFont typeface="Arial" panose="020B0604020202020204" pitchFamily="34" charset="0"/>
              <a:buChar char="•"/>
              <a:tabLst>
                <a:tab pos="228600" algn="l"/>
                <a:tab pos="457200" algn="l"/>
              </a:tabLst>
            </a:pPr>
            <a:r>
              <a:rPr lang="en-US" sz="2000" dirty="0">
                <a:solidFill>
                  <a:srgbClr val="000000"/>
                </a:solidFill>
                <a:ea typeface="Times New Roman" panose="02020603050405020304" pitchFamily="18" charset="0"/>
              </a:rPr>
              <a:t>Computer Organization and Architecture by John P. Haynes.</a:t>
            </a:r>
            <a:endParaRPr lang="en-US" sz="2000" dirty="0">
              <a:ea typeface="Times New Roman" panose="02020603050405020304" pitchFamily="18" charset="0"/>
            </a:endParaRPr>
          </a:p>
        </p:txBody>
      </p:sp>
    </p:spTree>
    <p:extLst>
      <p:ext uri="{BB962C8B-B14F-4D97-AF65-F5344CB8AC3E}">
        <p14:creationId xmlns:p14="http://schemas.microsoft.com/office/powerpoint/2010/main" val="1235371660"/>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Spectrum.thmx</Template>
  <TotalTime>350</TotalTime>
  <Words>2906</Words>
  <Application>Microsoft Office PowerPoint</Application>
  <PresentationFormat>On-screen Show (4:3)</PresentationFormat>
  <Paragraphs>262</Paragraphs>
  <Slides>40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40</vt:i4>
      </vt:variant>
    </vt:vector>
  </HeadingPairs>
  <TitlesOfParts>
    <vt:vector size="48" baseType="lpstr">
      <vt:lpstr>Arial</vt:lpstr>
      <vt:lpstr>Arial Unicode MS</vt:lpstr>
      <vt:lpstr>Calibri</vt:lpstr>
      <vt:lpstr>Corbel</vt:lpstr>
      <vt:lpstr>Helvetica</vt:lpstr>
      <vt:lpstr>Times New Roman</vt:lpstr>
      <vt:lpstr>Wingdings</vt:lpstr>
      <vt:lpstr>Spectrum</vt:lpstr>
      <vt:lpstr>SHIFT AND ROTATE</vt:lpstr>
      <vt:lpstr>Overview: ROTATE</vt:lpstr>
      <vt:lpstr>Example SHR</vt:lpstr>
      <vt:lpstr>Example SHR</vt:lpstr>
      <vt:lpstr>SAR Instruction</vt:lpstr>
      <vt:lpstr>SAR Instruction</vt:lpstr>
      <vt:lpstr>SAR Instruction</vt:lpstr>
      <vt:lpstr>SAR Instruction</vt:lpstr>
      <vt:lpstr>Division by Right Shift</vt:lpstr>
      <vt:lpstr>Signed and Unsigned Division</vt:lpstr>
      <vt:lpstr>Signed and Unsigned Division</vt:lpstr>
      <vt:lpstr>SAR</vt:lpstr>
      <vt:lpstr>SAR</vt:lpstr>
      <vt:lpstr>SAR</vt:lpstr>
      <vt:lpstr>SAR</vt:lpstr>
      <vt:lpstr>Rotate Instructions</vt:lpstr>
      <vt:lpstr>Rotate Right (ROR)</vt:lpstr>
      <vt:lpstr>ROL, ROR and CF</vt:lpstr>
      <vt:lpstr>ROL, ROR and CF</vt:lpstr>
      <vt:lpstr>ROL, ROR and CF</vt:lpstr>
      <vt:lpstr>RCL (Rotate Carry Left)</vt:lpstr>
      <vt:lpstr>RCR (Rotate Carry Right)</vt:lpstr>
      <vt:lpstr>Example</vt:lpstr>
      <vt:lpstr>ROL, ROR and CF</vt:lpstr>
      <vt:lpstr>ROL, ROR and CF</vt:lpstr>
      <vt:lpstr>ROL, ROR and CF</vt:lpstr>
      <vt:lpstr>ROL, ROR and CF</vt:lpstr>
      <vt:lpstr>Reversing Bit Pattern Application</vt:lpstr>
      <vt:lpstr>Binary and Hex Input &amp; Output</vt:lpstr>
      <vt:lpstr>Example: Process Input 110</vt:lpstr>
      <vt:lpstr>Assembly Conversion for input processing (110)</vt:lpstr>
      <vt:lpstr>Binary Output</vt:lpstr>
      <vt:lpstr>Hex Input</vt:lpstr>
      <vt:lpstr>Algorithm for hex input</vt:lpstr>
      <vt:lpstr>Example: input 6AB</vt:lpstr>
      <vt:lpstr>Assembly Code for Processing 6AB</vt:lpstr>
      <vt:lpstr>Algorithm for Hex Output</vt:lpstr>
      <vt:lpstr>Conversion of 4CA9h to Binary</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Syeda Asrafa Islam</cp:lastModifiedBy>
  <cp:revision>24</cp:revision>
  <dcterms:created xsi:type="dcterms:W3CDTF">2018-12-10T17:20:29Z</dcterms:created>
  <dcterms:modified xsi:type="dcterms:W3CDTF">2025-05-13T10:04:14Z</dcterms:modified>
</cp:coreProperties>
</file>