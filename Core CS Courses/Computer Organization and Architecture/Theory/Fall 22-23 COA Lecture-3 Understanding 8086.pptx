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307" r:id="rId37"/>
    <p:sldId id="299" r:id="rId38"/>
    <p:sldId id="300" r:id="rId39"/>
    <p:sldId id="301" r:id="rId40"/>
    <p:sldId id="302" r:id="rId41"/>
    <p:sldId id="303" r:id="rId42"/>
    <p:sldId id="304" r:id="rId43"/>
    <p:sldId id="306" r:id="rId44"/>
    <p:sldId id="30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S::mmhasan@aiub.edu::5eb39d97-deb0-466a-af4c-298e34812974" providerId="AD" clId="Web-{AAB93F43-CFF9-DB06-33A2-663D8ABE5782}"/>
    <pc:docChg chg="modSld">
      <pc:chgData name="Dr. Md Mehedi Hasan" userId="S::mmhasan@aiub.edu::5eb39d97-deb0-466a-af4c-298e34812974" providerId="AD" clId="Web-{AAB93F43-CFF9-DB06-33A2-663D8ABE5782}" dt="2022-02-07T17:44:51.733" v="4" actId="20577"/>
      <pc:docMkLst>
        <pc:docMk/>
      </pc:docMkLst>
      <pc:sldChg chg="delSp">
        <pc:chgData name="Dr. Md Mehedi Hasan" userId="S::mmhasan@aiub.edu::5eb39d97-deb0-466a-af4c-298e34812974" providerId="AD" clId="Web-{AAB93F43-CFF9-DB06-33A2-663D8ABE5782}" dt="2022-02-07T17:35:20.373" v="0"/>
        <pc:sldMkLst>
          <pc:docMk/>
          <pc:sldMk cId="3249445261" sldId="290"/>
        </pc:sldMkLst>
      </pc:sldChg>
      <pc:sldChg chg="modSp">
        <pc:chgData name="Dr. Md Mehedi Hasan" userId="S::mmhasan@aiub.edu::5eb39d97-deb0-466a-af4c-298e34812974" providerId="AD" clId="Web-{AAB93F43-CFF9-DB06-33A2-663D8ABE5782}" dt="2022-02-07T17:44:51.733" v="4" actId="20577"/>
        <pc:sldMkLst>
          <pc:docMk/>
          <pc:sldMk cId="1031935112" sldId="294"/>
        </pc:sldMkLst>
      </pc:sldChg>
    </pc:docChg>
  </pc:docChgLst>
  <pc:docChgLst>
    <pc:chgData name="Dr. Md Mehedi Hasan" userId="S::mmhasan@aiub.edu::5eb39d97-deb0-466a-af4c-298e34812974" providerId="AD" clId="Web-{76B3EAD0-9CCB-E1F0-9982-94A3D326C890}"/>
    <pc:docChg chg="modSld">
      <pc:chgData name="Dr. Md Mehedi Hasan" userId="S::mmhasan@aiub.edu::5eb39d97-deb0-466a-af4c-298e34812974" providerId="AD" clId="Web-{76B3EAD0-9CCB-E1F0-9982-94A3D326C890}" dt="2022-02-07T17:25:50.946" v="3"/>
      <pc:docMkLst>
        <pc:docMk/>
      </pc:docMkLst>
      <pc:sldChg chg="addAnim modAnim">
        <pc:chgData name="Dr. Md Mehedi Hasan" userId="S::mmhasan@aiub.edu::5eb39d97-deb0-466a-af4c-298e34812974" providerId="AD" clId="Web-{76B3EAD0-9CCB-E1F0-9982-94A3D326C890}" dt="2022-02-07T17:25:34.227" v="1"/>
        <pc:sldMkLst>
          <pc:docMk/>
          <pc:sldMk cId="1764108910" sldId="286"/>
        </pc:sldMkLst>
      </pc:sldChg>
      <pc:sldChg chg="addAnim modAnim">
        <pc:chgData name="Dr. Md Mehedi Hasan" userId="S::mmhasan@aiub.edu::5eb39d97-deb0-466a-af4c-298e34812974" providerId="AD" clId="Web-{76B3EAD0-9CCB-E1F0-9982-94A3D326C890}" dt="2022-02-07T17:25:50.946" v="3"/>
        <pc:sldMkLst>
          <pc:docMk/>
          <pc:sldMk cId="1378164847" sldId="287"/>
        </pc:sldMkLst>
      </pc:sldChg>
    </pc:docChg>
  </pc:docChgLst>
  <pc:docChgLst>
    <pc:chgData name="Dr. Md Mehedi Hasan" userId="5eb39d97-deb0-466a-af4c-298e34812974" providerId="ADAL" clId="{F8985A6E-683A-488D-93FD-DDC16308C7FF}"/>
    <pc:docChg chg="modSld">
      <pc:chgData name="Dr. Md Mehedi Hasan" userId="5eb39d97-deb0-466a-af4c-298e34812974" providerId="ADAL" clId="{F8985A6E-683A-488D-93FD-DDC16308C7FF}" dt="2022-05-24T04:40:20.690" v="21" actId="404"/>
      <pc:docMkLst>
        <pc:docMk/>
      </pc:docMkLst>
      <pc:sldChg chg="modSp mod">
        <pc:chgData name="Dr. Md Mehedi Hasan" userId="5eb39d97-deb0-466a-af4c-298e34812974" providerId="ADAL" clId="{F8985A6E-683A-488D-93FD-DDC16308C7FF}" dt="2022-05-24T04:39:55.156" v="15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F8985A6E-683A-488D-93FD-DDC16308C7FF}" dt="2022-05-24T04:40:20.690" v="21" actId="404"/>
        <pc:sldMkLst>
          <pc:docMk/>
          <pc:sldMk cId="425554782" sldId="277"/>
        </pc:sldMkLst>
      </pc:sldChg>
    </pc:docChg>
  </pc:docChgLst>
  <pc:docChgLst>
    <pc:chgData name="Dr. Md Mehedi Hasan" userId="S::mmhasan@aiub.edu::5eb39d97-deb0-466a-af4c-298e34812974" providerId="AD" clId="Web-{6DF8C430-B455-5CB4-F95A-5739B498AD49}"/>
    <pc:docChg chg="modSld">
      <pc:chgData name="Dr. Md Mehedi Hasan" userId="S::mmhasan@aiub.edu::5eb39d97-deb0-466a-af4c-298e34812974" providerId="AD" clId="Web-{6DF8C430-B455-5CB4-F95A-5739B498AD49}" dt="2022-02-07T15:48:33.230" v="1" actId="20577"/>
      <pc:docMkLst>
        <pc:docMk/>
      </pc:docMkLst>
      <pc:sldChg chg="modSp">
        <pc:chgData name="Dr. Md Mehedi Hasan" userId="S::mmhasan@aiub.edu::5eb39d97-deb0-466a-af4c-298e34812974" providerId="AD" clId="Web-{6DF8C430-B455-5CB4-F95A-5739B498AD49}" dt="2022-02-07T15:48:33.230" v="1" actId="20577"/>
        <pc:sldMkLst>
          <pc:docMk/>
          <pc:sldMk cId="2103959458" sldId="278"/>
        </pc:sldMkLst>
      </pc:sldChg>
    </pc:docChg>
  </pc:docChgLst>
  <pc:docChgLst>
    <pc:chgData name="Syeda Asrafa Islam" userId="626c424c-c870-4792-90a3-28617519e11b" providerId="ADAL" clId="{E9947140-D384-45AD-80B4-A280C749516C}"/>
    <pc:docChg chg="addSld modSld">
      <pc:chgData name="Syeda Asrafa Islam" userId="626c424c-c870-4792-90a3-28617519e11b" providerId="ADAL" clId="{E9947140-D384-45AD-80B4-A280C749516C}" dt="2025-03-15T07:29:56.771" v="13" actId="14100"/>
      <pc:docMkLst>
        <pc:docMk/>
      </pc:docMkLst>
      <pc:sldChg chg="modSp mod">
        <pc:chgData name="Syeda Asrafa Islam" userId="626c424c-c870-4792-90a3-28617519e11b" providerId="ADAL" clId="{E9947140-D384-45AD-80B4-A280C749516C}" dt="2025-03-15T06:53:52.356" v="1" actId="1076"/>
        <pc:sldMkLst>
          <pc:docMk/>
          <pc:sldMk cId="3848850741" sldId="303"/>
        </pc:sldMkLst>
        <pc:graphicFrameChg chg="mod">
          <ac:chgData name="Syeda Asrafa Islam" userId="626c424c-c870-4792-90a3-28617519e11b" providerId="ADAL" clId="{E9947140-D384-45AD-80B4-A280C749516C}" dt="2025-03-15T06:53:52.356" v="1" actId="1076"/>
          <ac:graphicFrameMkLst>
            <pc:docMk/>
            <pc:sldMk cId="3848850741" sldId="303"/>
            <ac:graphicFrameMk id="168" creationId="{00000000-0000-0000-0000-000000000000}"/>
          </ac:graphicFrameMkLst>
        </pc:graphicFrameChg>
      </pc:sldChg>
      <pc:sldChg chg="addSp modSp add mod">
        <pc:chgData name="Syeda Asrafa Islam" userId="626c424c-c870-4792-90a3-28617519e11b" providerId="ADAL" clId="{E9947140-D384-45AD-80B4-A280C749516C}" dt="2025-03-15T07:29:56.771" v="13" actId="14100"/>
        <pc:sldMkLst>
          <pc:docMk/>
          <pc:sldMk cId="2193051427" sldId="307"/>
        </pc:sldMkLst>
        <pc:spChg chg="mod">
          <ac:chgData name="Syeda Asrafa Islam" userId="626c424c-c870-4792-90a3-28617519e11b" providerId="ADAL" clId="{E9947140-D384-45AD-80B4-A280C749516C}" dt="2025-03-15T07:28:53.891" v="3" actId="21"/>
          <ac:spMkLst>
            <pc:docMk/>
            <pc:sldMk cId="2193051427" sldId="307"/>
            <ac:spMk id="152" creationId="{E0404938-8DA4-4E6A-A0DA-BA19397745D0}"/>
          </ac:spMkLst>
        </pc:spChg>
        <pc:picChg chg="add mod">
          <ac:chgData name="Syeda Asrafa Islam" userId="626c424c-c870-4792-90a3-28617519e11b" providerId="ADAL" clId="{E9947140-D384-45AD-80B4-A280C749516C}" dt="2025-03-15T07:29:44.430" v="9" actId="1076"/>
          <ac:picMkLst>
            <pc:docMk/>
            <pc:sldMk cId="2193051427" sldId="307"/>
            <ac:picMk id="3" creationId="{4897471D-9460-E370-C92D-0094598DE9DB}"/>
          </ac:picMkLst>
        </pc:picChg>
        <pc:picChg chg="add mod">
          <ac:chgData name="Syeda Asrafa Islam" userId="626c424c-c870-4792-90a3-28617519e11b" providerId="ADAL" clId="{E9947140-D384-45AD-80B4-A280C749516C}" dt="2025-03-15T07:29:56.771" v="13" actId="14100"/>
          <ac:picMkLst>
            <pc:docMk/>
            <pc:sldMk cId="2193051427" sldId="307"/>
            <ac:picMk id="5" creationId="{86E489B0-266F-5130-91A5-2D4961B4681C}"/>
          </ac:picMkLst>
        </pc:picChg>
      </pc:sldChg>
    </pc:docChg>
  </pc:docChgLst>
  <pc:docChgLst>
    <pc:chgData name="Dr. Md Mehedi Hasan" userId="5eb39d97-deb0-466a-af4c-298e34812974" providerId="ADAL" clId="{387225D2-26EA-4F31-AE27-573D433CB71C}"/>
    <pc:docChg chg="undo custSel modSld">
      <pc:chgData name="Dr. Md Mehedi Hasan" userId="5eb39d97-deb0-466a-af4c-298e34812974" providerId="ADAL" clId="{387225D2-26EA-4F31-AE27-573D433CB71C}" dt="2022-06-07T02:53:22.561" v="70"/>
      <pc:docMkLst>
        <pc:docMk/>
      </pc:docMkLst>
      <pc:sldChg chg="modSp mod modClrScheme chgLayout">
        <pc:chgData name="Dr. Md Mehedi Hasan" userId="5eb39d97-deb0-466a-af4c-298e34812974" providerId="ADAL" clId="{387225D2-26EA-4F31-AE27-573D433CB71C}" dt="2022-06-07T02:09:47.044" v="69" actId="1037"/>
        <pc:sldMkLst>
          <pc:docMk/>
          <pc:sldMk cId="160189111" sldId="279"/>
        </pc:sldMkLst>
      </pc:sldChg>
      <pc:sldChg chg="modAnim">
        <pc:chgData name="Dr. Md Mehedi Hasan" userId="5eb39d97-deb0-466a-af4c-298e34812974" providerId="ADAL" clId="{387225D2-26EA-4F31-AE27-573D433CB71C}" dt="2022-06-07T02:53:22.561" v="70"/>
        <pc:sldMkLst>
          <pc:docMk/>
          <pc:sldMk cId="1112069274" sldId="285"/>
        </pc:sldMkLst>
      </pc:sldChg>
    </pc:docChg>
  </pc:docChgLst>
  <pc:docChgLst>
    <pc:chgData name="Dr. Md Mehedi Hasan" userId="S::mmhasan@aiub.edu::5eb39d97-deb0-466a-af4c-298e34812974" providerId="AD" clId="Web-{8B0CDC06-60D3-16D9-0F46-7FAAB1F01105}"/>
    <pc:docChg chg="modSld">
      <pc:chgData name="Dr. Md Mehedi Hasan" userId="S::mmhasan@aiub.edu::5eb39d97-deb0-466a-af4c-298e34812974" providerId="AD" clId="Web-{8B0CDC06-60D3-16D9-0F46-7FAAB1F01105}" dt="2022-02-08T02:07:44.966" v="70" actId="20577"/>
      <pc:docMkLst>
        <pc:docMk/>
      </pc:docMkLst>
      <pc:sldChg chg="modSp">
        <pc:chgData name="Dr. Md Mehedi Hasan" userId="S::mmhasan@aiub.edu::5eb39d97-deb0-466a-af4c-298e34812974" providerId="AD" clId="Web-{8B0CDC06-60D3-16D9-0F46-7FAAB1F01105}" dt="2022-02-08T02:07:44.966" v="70" actId="20577"/>
        <pc:sldMkLst>
          <pc:docMk/>
          <pc:sldMk cId="700707328" sldId="256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83149-C61D-4ED7-B50C-58C1A579B08B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007B-5F31-4D36-BB58-3C1CD9CB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975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2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0"/>
            <a:ext cx="7358063" cy="3473648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25092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0" algn="ctr">
              <a:spcBef>
                <a:spcPts val="0"/>
              </a:spcBef>
              <a:buSzTx/>
              <a:buNone/>
              <a:defRPr sz="2250"/>
            </a:lvl2pPr>
            <a:lvl3pPr marL="0" indent="0" algn="ctr">
              <a:spcBef>
                <a:spcPts val="0"/>
              </a:spcBef>
              <a:buSzTx/>
              <a:buNone/>
              <a:defRPr sz="2250"/>
            </a:lvl3pPr>
            <a:lvl4pPr marL="0" indent="0" algn="ctr">
              <a:spcBef>
                <a:spcPts val="0"/>
              </a:spcBef>
              <a:buSzTx/>
              <a:buNone/>
              <a:defRPr sz="2250"/>
            </a:lvl4pPr>
            <a:lvl5pPr marL="0" indent="0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961724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cludehelp.com/embedded-system/memory-organization-in-the-8086-microprocessor.aspx" TargetMode="External"/><Relationship Id="rId2" Type="http://schemas.openxmlformats.org/officeDocument/2006/relationships/hyperlink" Target="https://www.britannica.com/technology/DNA-computing" TargetMode="Externa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8086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9147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379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7968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21-22 Summer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 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1. A brief survey of 8086 family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2. The architecture of the 8086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3. The registers and their special functions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4. Overall structure of the IBM PC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5. The memory organization</a:t>
            </a:r>
          </a:p>
          <a:p>
            <a:pPr>
              <a:buClr>
                <a:schemeClr val="tx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chemeClr val="tx1"/>
                </a:solidFill>
              </a:rPr>
              <a:t>6. I/O ports, DOS and BIOS routines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361727"/>
            <a:ext cx="8574087" cy="96784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Intel 8086 Family of Microprocessors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84163" y="1834533"/>
            <a:ext cx="8017590" cy="4596429"/>
          </a:xfrm>
        </p:spPr>
        <p:txBody>
          <a:bodyPr>
            <a:normAutofit lnSpcReduction="10000"/>
          </a:bodyPr>
          <a:lstStyle/>
          <a:p>
            <a:pPr marL="0" indent="0" defTabSz="496569">
              <a:spcBef>
                <a:spcPts val="3500"/>
              </a:spcBef>
              <a:buClr>
                <a:schemeClr val="tx1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Based on Intel 8086 family of microprocessor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IBM PC (8088)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PC XT (8088)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PC AT (80286)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PS/1 (80286)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PS/2 (8086/ 80286/ 80386/ 80486)</a:t>
            </a:r>
          </a:p>
          <a:p>
            <a:pPr marL="671688" lvl="0" indent="-671688" defTabSz="496569">
              <a:spcBef>
                <a:spcPts val="3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Some PC compatible Laptop models (80186)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The 8086 and 8088 Microprocessors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a-ET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16" y="2313653"/>
            <a:ext cx="6755642" cy="34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80186 and 80188 Microprocessors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128" y="2198976"/>
            <a:ext cx="7077075" cy="38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1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2" y="146462"/>
            <a:ext cx="8574087" cy="96784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The 80286 Microprocessor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1" y="1765109"/>
            <a:ext cx="8574087" cy="5236191"/>
          </a:xfrm>
        </p:spPr>
        <p:txBody>
          <a:bodyPr>
            <a:normAutofit fontScale="55000" lnSpcReduction="20000"/>
          </a:bodyPr>
          <a:lstStyle/>
          <a:p>
            <a:pPr marL="342900" lvl="0" indent="-342900" defTabSz="332992">
              <a:spcBef>
                <a:spcPts val="23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80286</a:t>
            </a:r>
            <a:r>
              <a:rPr lang="en-US" sz="3800" dirty="0">
                <a:solidFill>
                  <a:schemeClr val="tx1"/>
                </a:solidFill>
              </a:rPr>
              <a:t> is 16-bit microprocessor and was introduced in 1982.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dirty="0">
                <a:solidFill>
                  <a:schemeClr val="tx1"/>
                </a:solidFill>
              </a:rPr>
              <a:t>It operates</a:t>
            </a:r>
            <a:r>
              <a:rPr lang="en-US" sz="3800" b="1" dirty="0">
                <a:solidFill>
                  <a:schemeClr val="tx1"/>
                </a:solidFill>
              </a:rPr>
              <a:t> faster </a:t>
            </a:r>
            <a:r>
              <a:rPr lang="en-US" sz="3800" dirty="0">
                <a:solidFill>
                  <a:schemeClr val="tx1"/>
                </a:solidFill>
              </a:rPr>
              <a:t>than the 8086 [12.5 MHz vs 10MHz]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Two modes of operation</a:t>
            </a:r>
          </a:p>
          <a:p>
            <a:pPr marL="596265" lvl="1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Real address:</a:t>
            </a:r>
          </a:p>
          <a:p>
            <a:pPr marL="596265" lvl="4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dirty="0">
                <a:solidFill>
                  <a:schemeClr val="tx1"/>
                </a:solidFill>
              </a:rPr>
              <a:t>In this mode, microprocessor behaves like 8086 and programs for 8086 can be executed without modification.</a:t>
            </a:r>
          </a:p>
          <a:p>
            <a:pPr marL="596265" lvl="1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Protected Virtual address:</a:t>
            </a:r>
          </a:p>
          <a:p>
            <a:pPr marL="849630" lvl="2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Multitasking: </a:t>
            </a:r>
            <a:r>
              <a:rPr lang="en-US" sz="3800" dirty="0">
                <a:solidFill>
                  <a:schemeClr val="tx1"/>
                </a:solidFill>
              </a:rPr>
              <a:t>80286 supports multi-tasking. So, it can operate several tasks at the same time.</a:t>
            </a:r>
          </a:p>
          <a:p>
            <a:pPr marL="849630" lvl="2" indent="-342900" defTabSz="332992">
              <a:spcBef>
                <a:spcPts val="230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3800" b="1" dirty="0">
                <a:solidFill>
                  <a:schemeClr val="tx1"/>
                </a:solidFill>
              </a:rPr>
              <a:t>Memory protection: </a:t>
            </a:r>
            <a:r>
              <a:rPr lang="en-US" sz="3800" dirty="0">
                <a:solidFill>
                  <a:schemeClr val="tx1"/>
                </a:solidFill>
              </a:rPr>
              <a:t>Protects the memory used by one program from the actions of another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49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The 80286 Microprocessor(Cont.)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2133600"/>
            <a:ext cx="8574087" cy="4567451"/>
          </a:xfrm>
        </p:spPr>
        <p:txBody>
          <a:bodyPr/>
          <a:lstStyle/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More addressable Memory: </a:t>
            </a:r>
            <a:r>
              <a:rPr lang="en-US" dirty="0">
                <a:solidFill>
                  <a:schemeClr val="tx1"/>
                </a:solidFill>
              </a:rPr>
              <a:t>The protected mode can address 16 megabytes of memory as opposed to 1MB in 8086 and 8088</a:t>
            </a:r>
          </a:p>
          <a:p>
            <a:pPr marL="342900" lvl="0" indent="-342900" defTabSz="332992">
              <a:spcBef>
                <a:spcPts val="230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Virtual Memory in protected mode: </a:t>
            </a:r>
            <a:r>
              <a:rPr lang="en-US" dirty="0">
                <a:solidFill>
                  <a:schemeClr val="tx1"/>
                </a:solidFill>
              </a:rPr>
              <a:t>80286 can consider external storage or disk as a physical memory and execute large programs [up to 1GB or 2^30 bytes]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03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The 80386 and 80386SX Microprocessor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802" y="1915236"/>
            <a:ext cx="7126807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9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The 80486 and 80486SX Microprocessor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42448"/>
            <a:ext cx="8574087" cy="48858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 80486 or 486 is another 32-bit microprocessor introduced in 1989.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486 is the fastest and most powerful microprocessor in the family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486 incorporates all the functions of the 386 with some other supportive chips including 80387 numeric processor like 80387.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80387 numeric processor performs floating-point number operations.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An 8-KB  cache memory serves as a fast memory area to buffer the data coming from a slower memory unit.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With numeric processor, cache memory and faster design, 486 is three times faster than 386 running at the same clock speed.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80486SX</a:t>
            </a:r>
          </a:p>
          <a:p>
            <a:pPr marL="509484" lvl="0" indent="-509484">
              <a:lnSpc>
                <a:spcPct val="15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</a:rPr>
              <a:t>The 486SX has essentially the same internal structure as the 486, however, it does not have any floating point processor.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1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Organization of the 8086/8088 Microprocessor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2" y="2133600"/>
            <a:ext cx="8574087" cy="4594746"/>
          </a:xfrm>
        </p:spPr>
        <p:txBody>
          <a:bodyPr>
            <a:normAutofit/>
          </a:bodyPr>
          <a:lstStyle/>
          <a:p>
            <a:pPr marL="938388" lvl="0" indent="-938388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8086 and 8088 has the simplest structure and they provide the insights to the most advanced processors.</a:t>
            </a:r>
          </a:p>
          <a:p>
            <a:pPr marL="938388" lvl="0" indent="-938388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As both 8086 and 8088 essentially has the same structure, we will use the term “8086” for both.</a:t>
            </a:r>
          </a:p>
        </p:txBody>
      </p:sp>
    </p:spTree>
    <p:extLst>
      <p:ext uri="{BB962C8B-B14F-4D97-AF65-F5344CB8AC3E}">
        <p14:creationId xmlns:p14="http://schemas.microsoft.com/office/powerpoint/2010/main" val="174583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314204" y="133945"/>
            <a:ext cx="8267226" cy="8272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Registers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589360" y="1125000"/>
            <a:ext cx="8554640" cy="573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Information inside the microprocessor is stored in </a:t>
            </a:r>
            <a:r>
              <a:rPr sz="1969" b="1" dirty="0">
                <a:solidFill>
                  <a:schemeClr val="tx1"/>
                </a:solidFill>
              </a:rPr>
              <a:t>register</a:t>
            </a:r>
            <a:r>
              <a:rPr lang="en-US" sz="1969" b="1" dirty="0">
                <a:solidFill>
                  <a:schemeClr val="tx1"/>
                </a:solidFill>
              </a:rPr>
              <a:t>s</a:t>
            </a:r>
            <a:r>
              <a:rPr sz="1969" b="1" dirty="0">
                <a:solidFill>
                  <a:schemeClr val="tx1"/>
                </a:solidFill>
              </a:rPr>
              <a:t>.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Registers are classified according to their functions. 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Data register holds the data for an operation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Address register holds the address for an instruction or data.</a:t>
            </a:r>
          </a:p>
          <a:p>
            <a:pPr marL="752746" lvl="2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Status register keeps the current status of the processor.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8086 has </a:t>
            </a:r>
            <a:r>
              <a:rPr sz="1969" b="1" dirty="0">
                <a:solidFill>
                  <a:schemeClr val="tx1"/>
                </a:solidFill>
              </a:rPr>
              <a:t>four </a:t>
            </a:r>
            <a:r>
              <a:rPr sz="1969" dirty="0">
                <a:solidFill>
                  <a:schemeClr val="tx1"/>
                </a:solidFill>
              </a:rPr>
              <a:t>general registers.</a:t>
            </a:r>
          </a:p>
          <a:p>
            <a:pPr marL="537102" lvl="1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Address registers: </a:t>
            </a:r>
            <a:r>
              <a:rPr sz="1969" dirty="0">
                <a:solidFill>
                  <a:schemeClr val="tx1"/>
                </a:solidFill>
              </a:rPr>
              <a:t>1) segment 2) pointer and 3) index register</a:t>
            </a:r>
          </a:p>
          <a:p>
            <a:pPr marL="537102" lvl="1" indent="-321457" algn="l" defTabSz="283418">
              <a:spcBef>
                <a:spcPts val="1969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Status Register: </a:t>
            </a:r>
            <a:r>
              <a:rPr sz="1969" dirty="0">
                <a:solidFill>
                  <a:schemeClr val="tx1"/>
                </a:solidFill>
              </a:rPr>
              <a:t>4) FLAGS Register</a:t>
            </a:r>
          </a:p>
          <a:p>
            <a:pPr marL="321457" indent="-321457" algn="l" defTabSz="283418">
              <a:spcBef>
                <a:spcPts val="1969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There are total fourteen 16-bit registers. </a:t>
            </a:r>
          </a:p>
          <a:p>
            <a:pPr algn="l" defTabSz="283418">
              <a:spcBef>
                <a:spcPts val="1969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 *** The good news is, we DO NOT need to memorize them at all. it will become familiar as we go on. :) </a:t>
            </a:r>
          </a:p>
        </p:txBody>
      </p:sp>
    </p:spTree>
    <p:extLst>
      <p:ext uri="{BB962C8B-B14F-4D97-AF65-F5344CB8AC3E}">
        <p14:creationId xmlns:p14="http://schemas.microsoft.com/office/powerpoint/2010/main" val="309377395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562116" y="37156"/>
            <a:ext cx="8180048" cy="77293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73201">
              <a:defRPr sz="64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500" dirty="0">
                <a:solidFill>
                  <a:schemeClr val="accent3">
                    <a:lumMod val="75000"/>
                  </a:schemeClr>
                </a:solidFill>
              </a:rPr>
              <a:t>8086 </a:t>
            </a:r>
            <a:r>
              <a:rPr sz="4219" dirty="0">
                <a:solidFill>
                  <a:schemeClr val="accent3">
                    <a:lumMod val="75000"/>
                  </a:schemeClr>
                </a:solidFill>
              </a:rPr>
              <a:t>Registers</a:t>
            </a:r>
          </a:p>
        </p:txBody>
      </p:sp>
      <p:pic>
        <p:nvPicPr>
          <p:cNvPr id="64" name="image1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2493343" y="810088"/>
            <a:ext cx="6650657" cy="595415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hape 65"/>
          <p:cNvSpPr/>
          <p:nvPr/>
        </p:nvSpPr>
        <p:spPr>
          <a:xfrm>
            <a:off x="562117" y="1205622"/>
            <a:ext cx="2185787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  <a:latin typeface="+mj-lt"/>
              </a:rPr>
              <a:t>General Register</a:t>
            </a:r>
          </a:p>
        </p:txBody>
      </p:sp>
      <p:sp>
        <p:nvSpPr>
          <p:cNvPr id="66" name="Shape 66"/>
          <p:cNvSpPr/>
          <p:nvPr/>
        </p:nvSpPr>
        <p:spPr>
          <a:xfrm>
            <a:off x="562115" y="2765607"/>
            <a:ext cx="218578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Segment Register</a:t>
            </a:r>
          </a:p>
        </p:txBody>
      </p:sp>
      <p:sp>
        <p:nvSpPr>
          <p:cNvPr id="67" name="Shape 67"/>
          <p:cNvSpPr/>
          <p:nvPr/>
        </p:nvSpPr>
        <p:spPr>
          <a:xfrm>
            <a:off x="562114" y="4303171"/>
            <a:ext cx="218578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Pointer and Index Register</a:t>
            </a:r>
          </a:p>
        </p:txBody>
      </p:sp>
      <p:sp>
        <p:nvSpPr>
          <p:cNvPr id="68" name="Shape 68"/>
          <p:cNvSpPr/>
          <p:nvPr/>
        </p:nvSpPr>
        <p:spPr>
          <a:xfrm>
            <a:off x="408047" y="6139817"/>
            <a:ext cx="2185787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0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 b="1" dirty="0">
                <a:solidFill>
                  <a:schemeClr val="tx1"/>
                </a:solidFill>
                <a:latin typeface="+mj-lt"/>
              </a:rPr>
              <a:t>FLAGS Register</a:t>
            </a:r>
          </a:p>
        </p:txBody>
      </p:sp>
      <p:sp>
        <p:nvSpPr>
          <p:cNvPr id="69" name="Shape 69"/>
          <p:cNvSpPr/>
          <p:nvPr/>
        </p:nvSpPr>
        <p:spPr>
          <a:xfrm>
            <a:off x="3199608" y="1290708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Accumulator</a:t>
            </a:r>
          </a:p>
        </p:txBody>
      </p:sp>
      <p:sp>
        <p:nvSpPr>
          <p:cNvPr id="70" name="Shape 70"/>
          <p:cNvSpPr/>
          <p:nvPr/>
        </p:nvSpPr>
        <p:spPr>
          <a:xfrm>
            <a:off x="3199608" y="1629793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Base</a:t>
            </a:r>
          </a:p>
        </p:txBody>
      </p:sp>
      <p:sp>
        <p:nvSpPr>
          <p:cNvPr id="71" name="Shape 71"/>
          <p:cNvSpPr/>
          <p:nvPr/>
        </p:nvSpPr>
        <p:spPr>
          <a:xfrm>
            <a:off x="3199608" y="2006570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720C04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Counter</a:t>
            </a:r>
          </a:p>
        </p:txBody>
      </p:sp>
      <p:sp>
        <p:nvSpPr>
          <p:cNvPr id="72" name="Shape 72"/>
          <p:cNvSpPr/>
          <p:nvPr/>
        </p:nvSpPr>
        <p:spPr>
          <a:xfrm>
            <a:off x="3199608" y="2454444"/>
            <a:ext cx="1231854" cy="288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000">
                <a:solidFill>
                  <a:srgbClr val="971817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6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3161001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1128513" y="288096"/>
            <a:ext cx="7804547" cy="802738"/>
          </a:xfrm>
          <a:prstGeom prst="rect">
            <a:avLst/>
          </a:prstGeom>
        </p:spPr>
        <p:txBody>
          <a:bodyPr>
            <a:normAutofit/>
          </a:bodyPr>
          <a:lstStyle>
            <a:lvl1pPr defTabSz="508254">
              <a:defRPr sz="69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</a:rPr>
              <a:t>AX: Accumulator Register</a:t>
            </a:r>
          </a:p>
        </p:txBody>
      </p:sp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585986" y="1272481"/>
            <a:ext cx="8347074" cy="53310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*** Address registers store addresses and instructions and data in memory.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Use of AX register generates shortest machine code.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Thus, AX is preferred register to use in </a:t>
            </a:r>
            <a:r>
              <a:rPr sz="2531" b="1" dirty="0">
                <a:solidFill>
                  <a:schemeClr val="tx1"/>
                </a:solidFill>
              </a:rPr>
              <a:t>arithmetic, logic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data transfer </a:t>
            </a:r>
            <a:r>
              <a:rPr sz="2531" dirty="0">
                <a:solidFill>
                  <a:schemeClr val="tx1"/>
                </a:solidFill>
              </a:rPr>
              <a:t>instructions.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In</a:t>
            </a:r>
            <a:r>
              <a:rPr lang="en-US" sz="2531" dirty="0">
                <a:solidFill>
                  <a:schemeClr val="tx1"/>
                </a:solidFill>
              </a:rPr>
              <a:t> </a:t>
            </a:r>
            <a:r>
              <a:rPr lang="en-US" sz="2531" b="1" dirty="0">
                <a:solidFill>
                  <a:schemeClr val="tx1"/>
                </a:solidFill>
              </a:rPr>
              <a:t>multiplication</a:t>
            </a:r>
            <a:r>
              <a:rPr sz="2531" b="1" dirty="0">
                <a:solidFill>
                  <a:schemeClr val="tx1"/>
                </a:solidFill>
              </a:rPr>
              <a:t> and </a:t>
            </a:r>
            <a:r>
              <a:rPr lang="en-US" sz="2531" b="1" dirty="0">
                <a:solidFill>
                  <a:schemeClr val="tx1"/>
                </a:solidFill>
              </a:rPr>
              <a:t>division</a:t>
            </a:r>
            <a:r>
              <a:rPr sz="2531" dirty="0">
                <a:solidFill>
                  <a:schemeClr val="tx1"/>
                </a:solidFill>
              </a:rPr>
              <a:t>, one of the numbers involved must be in AX or AL.</a:t>
            </a:r>
          </a:p>
          <a:p>
            <a:pPr marL="600052" indent="-600052" algn="l" defTabSz="394320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Input and Output also require the use of AL or AX</a:t>
            </a:r>
          </a:p>
        </p:txBody>
      </p:sp>
    </p:spTree>
    <p:extLst>
      <p:ext uri="{BB962C8B-B14F-4D97-AF65-F5344CB8AC3E}">
        <p14:creationId xmlns:p14="http://schemas.microsoft.com/office/powerpoint/2010/main" val="17154379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>
            <a:spLocks noGrp="1"/>
          </p:cNvSpPr>
          <p:nvPr>
            <p:ph type="title"/>
          </p:nvPr>
        </p:nvSpPr>
        <p:spPr>
          <a:xfrm>
            <a:off x="260556" y="178593"/>
            <a:ext cx="8321712" cy="688238"/>
          </a:xfrm>
          <a:prstGeom prst="rect">
            <a:avLst/>
          </a:prstGeom>
        </p:spPr>
        <p:txBody>
          <a:bodyPr>
            <a:normAutofit/>
          </a:bodyPr>
          <a:lstStyle>
            <a:lvl1pPr defTabSz="420623">
              <a:defRPr sz="57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</a:rPr>
              <a:t>BX: Base Register</a:t>
            </a:r>
          </a:p>
        </p:txBody>
      </p:sp>
      <p:sp>
        <p:nvSpPr>
          <p:cNvPr id="78" name="Shape 78"/>
          <p:cNvSpPr>
            <a:spLocks noGrp="1"/>
          </p:cNvSpPr>
          <p:nvPr>
            <p:ph type="body" idx="1"/>
          </p:nvPr>
        </p:nvSpPr>
        <p:spPr>
          <a:xfrm>
            <a:off x="616149" y="1115935"/>
            <a:ext cx="7804549" cy="12015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06304" indent="-606304" algn="l" defTabSz="398428">
              <a:spcBef>
                <a:spcPts val="2812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BX also serves as an address register</a:t>
            </a:r>
          </a:p>
          <a:p>
            <a:pPr marL="606304" indent="-606304" algn="l" defTabSz="398428">
              <a:spcBef>
                <a:spcPts val="2812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</a:t>
            </a:r>
            <a:r>
              <a:rPr sz="1969" dirty="0">
                <a:solidFill>
                  <a:schemeClr val="tx1"/>
                </a:solidFill>
              </a:rPr>
              <a:t>i.e. Table look-up instruction </a:t>
            </a:r>
            <a:r>
              <a:rPr lang="en-US" sz="1969" dirty="0">
                <a:solidFill>
                  <a:schemeClr val="tx1"/>
                </a:solidFill>
              </a:rPr>
              <a:t>(XLAT)</a:t>
            </a:r>
            <a:endParaRPr sz="1969" dirty="0">
              <a:solidFill>
                <a:schemeClr val="tx1"/>
              </a:solidFill>
            </a:endParaRPr>
          </a:p>
        </p:txBody>
      </p:sp>
      <p:sp>
        <p:nvSpPr>
          <p:cNvPr id="79" name="Shape 79"/>
          <p:cNvSpPr/>
          <p:nvPr/>
        </p:nvSpPr>
        <p:spPr>
          <a:xfrm>
            <a:off x="1974980" y="2426360"/>
            <a:ext cx="4892863" cy="688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20623">
              <a:defRPr sz="57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CX: Count Register</a:t>
            </a:r>
          </a:p>
        </p:txBody>
      </p:sp>
      <p:sp>
        <p:nvSpPr>
          <p:cNvPr id="80" name="Shape 80"/>
          <p:cNvSpPr/>
          <p:nvPr/>
        </p:nvSpPr>
        <p:spPr>
          <a:xfrm>
            <a:off x="616149" y="3188224"/>
            <a:ext cx="8294378" cy="149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CX used as Program </a:t>
            </a:r>
            <a:r>
              <a:rPr sz="1969" b="1" dirty="0">
                <a:latin typeface="+mj-lt"/>
              </a:rPr>
              <a:t>Loop counter.</a:t>
            </a:r>
          </a:p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CX also used as a counter (REP-repeat) to control </a:t>
            </a:r>
            <a:r>
              <a:rPr sz="1969" b="1" dirty="0">
                <a:latin typeface="+mj-lt"/>
              </a:rPr>
              <a:t>string operations.</a:t>
            </a:r>
          </a:p>
          <a:p>
            <a:pPr marL="342218" indent="-342218" defTabSz="299848">
              <a:spcBef>
                <a:spcPts val="2109"/>
              </a:spcBef>
              <a:buSzPct val="100000"/>
              <a:buFont typeface="Wingdings" panose="05000000000000000000" pitchFamily="2" charset="2"/>
              <a:buChar char="Ø"/>
              <a:defRPr sz="1800"/>
            </a:pPr>
            <a:r>
              <a:rPr sz="1969" dirty="0">
                <a:latin typeface="+mj-lt"/>
              </a:rPr>
              <a:t>CL is used as count in </a:t>
            </a:r>
            <a:r>
              <a:rPr sz="1969" b="1" dirty="0">
                <a:latin typeface="+mj-lt"/>
              </a:rPr>
              <a:t>bit rotation and shifting instructions</a:t>
            </a:r>
          </a:p>
        </p:txBody>
      </p:sp>
      <p:sp>
        <p:nvSpPr>
          <p:cNvPr id="81" name="Shape 81"/>
          <p:cNvSpPr/>
          <p:nvPr/>
        </p:nvSpPr>
        <p:spPr>
          <a:xfrm>
            <a:off x="1974980" y="4862678"/>
            <a:ext cx="4892863" cy="688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20623">
              <a:defRPr sz="57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 b="1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DX: Data Register</a:t>
            </a:r>
          </a:p>
        </p:txBody>
      </p:sp>
      <p:sp>
        <p:nvSpPr>
          <p:cNvPr id="82" name="Shape 82"/>
          <p:cNvSpPr/>
          <p:nvPr/>
        </p:nvSpPr>
        <p:spPr>
          <a:xfrm>
            <a:off x="616149" y="5558168"/>
            <a:ext cx="8294378" cy="95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marL="938388" indent="-938388" algn="l">
              <a:spcBef>
                <a:spcPts val="4200"/>
              </a:spcBef>
              <a:buClr>
                <a:srgbClr val="FFFFFF"/>
              </a:buClr>
              <a:buSzPct val="75000"/>
              <a:buChar char="•"/>
              <a:defRPr sz="3800">
                <a:solidFill>
                  <a:srgbClr val="FFFFFF"/>
                </a:solidFill>
              </a:defRPr>
            </a:lvl1pPr>
          </a:lstStyle>
          <a:p>
            <a:pPr lvl="0">
              <a:buClrTx/>
              <a:buSzPct val="10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  <a:latin typeface="+mj-lt"/>
              </a:rPr>
              <a:t>DX is used in </a:t>
            </a:r>
            <a:r>
              <a:rPr lang="en-US" sz="1969" b="1" dirty="0">
                <a:solidFill>
                  <a:schemeClr val="tx1"/>
                </a:solidFill>
                <a:latin typeface="+mj-lt"/>
              </a:rPr>
              <a:t>m</a:t>
            </a:r>
            <a:r>
              <a:rPr sz="1969" b="1" dirty="0">
                <a:solidFill>
                  <a:schemeClr val="tx1"/>
                </a:solidFill>
                <a:latin typeface="+mj-lt"/>
              </a:rPr>
              <a:t>ultiplication, division and I/O operations</a:t>
            </a:r>
          </a:p>
        </p:txBody>
      </p:sp>
    </p:spTree>
    <p:extLst>
      <p:ext uri="{BB962C8B-B14F-4D97-AF65-F5344CB8AC3E}">
        <p14:creationId xmlns:p14="http://schemas.microsoft.com/office/powerpoint/2010/main" val="4255547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title"/>
          </p:nvPr>
        </p:nvSpPr>
        <p:spPr>
          <a:xfrm>
            <a:off x="87179" y="1061800"/>
            <a:ext cx="9056822" cy="904472"/>
          </a:xfrm>
          <a:prstGeom prst="rect">
            <a:avLst/>
          </a:prstGeom>
        </p:spPr>
        <p:txBody>
          <a:bodyPr>
            <a:normAutofit/>
          </a:bodyPr>
          <a:lstStyle>
            <a:lvl1pPr defTabSz="560831">
              <a:defRPr sz="7679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00" b="1" dirty="0">
                <a:solidFill>
                  <a:schemeClr val="accent3">
                    <a:lumMod val="75000"/>
                  </a:schemeClr>
                </a:solidFill>
              </a:rPr>
              <a:t>Memory Recall</a:t>
            </a:r>
          </a:p>
        </p:txBody>
      </p:sp>
      <p:sp>
        <p:nvSpPr>
          <p:cNvPr id="85" name="Shape 85"/>
          <p:cNvSpPr>
            <a:spLocks noGrp="1"/>
          </p:cNvSpPr>
          <p:nvPr>
            <p:ph type="body" idx="1"/>
          </p:nvPr>
        </p:nvSpPr>
        <p:spPr>
          <a:xfrm>
            <a:off x="408949" y="2836236"/>
            <a:ext cx="8413279" cy="1557171"/>
          </a:xfrm>
          <a:prstGeom prst="rect">
            <a:avLst/>
          </a:prstGeom>
        </p:spPr>
        <p:txBody>
          <a:bodyPr/>
          <a:lstStyle/>
          <a:p>
            <a:pPr marL="401822" indent="-401822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List One special function of AX, BX, CX, and DX</a:t>
            </a:r>
          </a:p>
        </p:txBody>
      </p:sp>
    </p:spTree>
    <p:extLst>
      <p:ext uri="{BB962C8B-B14F-4D97-AF65-F5344CB8AC3E}">
        <p14:creationId xmlns:p14="http://schemas.microsoft.com/office/powerpoint/2010/main" val="21039594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1413">
              <a:defRPr sz="53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</a:rPr>
              <a:t>Segment Registers: CS,DS,SS,ES</a:t>
            </a:r>
          </a:p>
        </p:txBody>
      </p:sp>
      <p:sp>
        <p:nvSpPr>
          <p:cNvPr id="88" name="Shape 8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Memory is a collection of bytes.</a:t>
            </a:r>
          </a:p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Each memory bytes has an address starting with 0.</a:t>
            </a:r>
          </a:p>
          <a:p>
            <a:pPr marL="472264" indent="-472264" algn="l" defTabSz="349138">
              <a:spcBef>
                <a:spcPts val="2461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chemeClr val="tx1"/>
                </a:solidFill>
              </a:rPr>
              <a:t>The 8086 assigns 20-bit physical address to its memory location.[i.e. we can address 2^20(1MB) of memory]. Thus the first byte of the memory addresses:</a:t>
            </a:r>
          </a:p>
        </p:txBody>
      </p:sp>
      <p:graphicFrame>
        <p:nvGraphicFramePr>
          <p:cNvPr id="89" name="Table 89"/>
          <p:cNvGraphicFramePr/>
          <p:nvPr>
            <p:extLst>
              <p:ext uri="{D42A27DB-BD31-4B8C-83A1-F6EECF244321}">
                <p14:modId xmlns:p14="http://schemas.microsoft.com/office/powerpoint/2010/main" val="1430510129"/>
              </p:ext>
            </p:extLst>
          </p:nvPr>
        </p:nvGraphicFramePr>
        <p:xfrm>
          <a:off x="2377439" y="4232106"/>
          <a:ext cx="5671794" cy="21039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7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061"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Binary representation</a:t>
                      </a: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Hex Representation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373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	0000 0000 0000 0000 0000 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00000h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373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/>
                        <a:t>	0000 0000 0000 0000 0001</a:t>
                      </a:r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/>
                        <a:t>00001h</a:t>
                      </a:r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373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/>
                        <a:t>	0000 0000 0000 0000 0010</a:t>
                      </a:r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/>
                        <a:t>00010h</a:t>
                      </a:r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373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/>
                        <a:t>	0000 0000 0000 0000 0011</a:t>
                      </a:r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/>
                        <a:t>00011h</a:t>
                      </a:r>
                      <a:endParaRPr sz="1600" b="1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373">
                <a:tc>
                  <a:txBody>
                    <a:bodyPr/>
                    <a:lstStyle/>
                    <a:p>
                      <a:pPr lvl="0" algn="l">
                        <a:spcBef>
                          <a:spcPts val="4200"/>
                        </a:spcBef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	0000 0000 0000 0000 0100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 dirty="0"/>
                        <a:t>00100h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35719" marR="35719" marT="35719" marB="3571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Shape 90"/>
          <p:cNvSpPr/>
          <p:nvPr/>
        </p:nvSpPr>
        <p:spPr>
          <a:xfrm>
            <a:off x="750094" y="6307276"/>
            <a:ext cx="81435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tx1"/>
                </a:solidFill>
                <a:latin typeface="+mj-lt"/>
              </a:rPr>
              <a:t>***</a:t>
            </a:r>
            <a:r>
              <a:rPr lang="en-US" sz="1969" dirty="0">
                <a:solidFill>
                  <a:schemeClr val="tx1"/>
                </a:solidFill>
                <a:latin typeface="+mj-lt"/>
              </a:rPr>
              <a:t>S</a:t>
            </a:r>
            <a:r>
              <a:rPr sz="1969" dirty="0">
                <a:solidFill>
                  <a:schemeClr val="tx1"/>
                </a:solidFill>
                <a:latin typeface="+mj-lt"/>
              </a:rPr>
              <a:t>o what will be the highest address of 20-bit memory address? </a:t>
            </a:r>
          </a:p>
        </p:txBody>
      </p:sp>
    </p:spTree>
    <p:extLst>
      <p:ext uri="{BB962C8B-B14F-4D97-AF65-F5344CB8AC3E}">
        <p14:creationId xmlns:p14="http://schemas.microsoft.com/office/powerpoint/2010/main" val="160189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xfrm>
            <a:off x="524203" y="205382"/>
            <a:ext cx="8365301" cy="652427"/>
          </a:xfrm>
          <a:prstGeom prst="rect">
            <a:avLst/>
          </a:prstGeom>
        </p:spPr>
        <p:txBody>
          <a:bodyPr/>
          <a:lstStyle>
            <a:lvl1pPr defTabSz="332992">
              <a:defRPr sz="45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164" b="1" dirty="0">
                <a:solidFill>
                  <a:srgbClr val="FFFFFF"/>
                </a:solidFill>
              </a:rPr>
              <a:t>   </a:t>
            </a:r>
            <a:r>
              <a:rPr sz="3164" b="1" dirty="0">
                <a:solidFill>
                  <a:schemeClr val="accent3">
                    <a:lumMod val="75000"/>
                  </a:schemeClr>
                </a:solidFill>
              </a:rPr>
              <a:t>Using 20-bit </a:t>
            </a:r>
            <a:r>
              <a:rPr lang="en-US" sz="3164" b="1" dirty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sz="3164" b="1" dirty="0">
                <a:solidFill>
                  <a:schemeClr val="accent3">
                    <a:lumMod val="75000"/>
                  </a:schemeClr>
                </a:solidFill>
              </a:rPr>
              <a:t>ddress in 16</a:t>
            </a:r>
            <a:r>
              <a:rPr lang="en-US" sz="3164" b="1" dirty="0">
                <a:solidFill>
                  <a:schemeClr val="accent3">
                    <a:lumMod val="75000"/>
                  </a:schemeClr>
                </a:solidFill>
              </a:rPr>
              <a:t>-</a:t>
            </a:r>
            <a:r>
              <a:rPr sz="3164" b="1" dirty="0">
                <a:solidFill>
                  <a:schemeClr val="accent3">
                    <a:lumMod val="75000"/>
                  </a:schemeClr>
                </a:solidFill>
              </a:rPr>
              <a:t>bit </a:t>
            </a:r>
            <a:r>
              <a:rPr lang="en-US" sz="3164" b="1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r>
              <a:rPr sz="3164" b="1" dirty="0">
                <a:solidFill>
                  <a:schemeClr val="accent3">
                    <a:lumMod val="75000"/>
                  </a:schemeClr>
                </a:solidFill>
              </a:rPr>
              <a:t>rocessor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/>
          </p:nvPr>
        </p:nvSpPr>
        <p:spPr>
          <a:xfrm>
            <a:off x="713444" y="1064445"/>
            <a:ext cx="8430556" cy="55359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To explain segment register’s function, lets have a look on the idea of memory segments.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How can we fit 20</a:t>
            </a:r>
            <a:r>
              <a:rPr lang="en-US" sz="1687" dirty="0">
                <a:solidFill>
                  <a:schemeClr val="tx1"/>
                </a:solidFill>
              </a:rPr>
              <a:t> </a:t>
            </a:r>
            <a:r>
              <a:rPr sz="1687" dirty="0">
                <a:solidFill>
                  <a:schemeClr val="tx1"/>
                </a:solidFill>
              </a:rPr>
              <a:t>bit address into 16</a:t>
            </a:r>
            <a:r>
              <a:rPr lang="en-US" sz="1687" dirty="0">
                <a:solidFill>
                  <a:schemeClr val="tx1"/>
                </a:solidFill>
              </a:rPr>
              <a:t> </a:t>
            </a:r>
            <a:r>
              <a:rPr sz="1687" dirty="0">
                <a:solidFill>
                  <a:schemeClr val="tx1"/>
                </a:solidFill>
              </a:rPr>
              <a:t>bit register?</a:t>
            </a:r>
          </a:p>
          <a:p>
            <a:pPr algn="l" defTabSz="254666">
              <a:spcBef>
                <a:spcPts val="1828"/>
              </a:spcBef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				Memory Partitioning into segments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A memory segment is a block of 2^16(64KB) consecutive memory bytes.</a:t>
            </a:r>
          </a:p>
          <a:p>
            <a:pPr marL="241093" indent="-241093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Each segment is identified by segment number.[starts with 0]</a:t>
            </a:r>
          </a:p>
          <a:p>
            <a:pPr marL="241093" indent="-241093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A </a:t>
            </a:r>
            <a:r>
              <a:rPr sz="1687" b="1" dirty="0">
                <a:solidFill>
                  <a:schemeClr val="tx1"/>
                </a:solidFill>
              </a:rPr>
              <a:t>segment </a:t>
            </a:r>
            <a:r>
              <a:rPr sz="1687" dirty="0">
                <a:solidFill>
                  <a:schemeClr val="tx1"/>
                </a:solidFill>
              </a:rPr>
              <a:t>number is 16-bit [thus, highest value </a:t>
            </a:r>
            <a:r>
              <a:rPr sz="1687" dirty="0" err="1">
                <a:solidFill>
                  <a:schemeClr val="tx1"/>
                </a:solidFill>
              </a:rPr>
              <a:t>FFFFh</a:t>
            </a:r>
            <a:r>
              <a:rPr sz="1687" dirty="0">
                <a:solidFill>
                  <a:schemeClr val="tx1"/>
                </a:solidFill>
              </a:rPr>
              <a:t>].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dirty="0">
                <a:solidFill>
                  <a:schemeClr val="tx1"/>
                </a:solidFill>
              </a:rPr>
              <a:t>Within a segment, a memory location is specified by giving an offset.</a:t>
            </a:r>
          </a:p>
          <a:p>
            <a:pPr marL="247591" indent="-247591" algn="l" defTabSz="254666">
              <a:spcBef>
                <a:spcPts val="1828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Offset: </a:t>
            </a:r>
            <a:r>
              <a:rPr sz="1687" dirty="0">
                <a:solidFill>
                  <a:schemeClr val="tx1"/>
                </a:solidFill>
              </a:rPr>
              <a:t>Number of bytes from the beginning of segment.</a:t>
            </a:r>
          </a:p>
          <a:p>
            <a:pPr marL="441358" lvl="1" indent="-247591" algn="l" defTabSz="254666">
              <a:spcBef>
                <a:spcPts val="1828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687" dirty="0">
                <a:solidFill>
                  <a:schemeClr val="tx1"/>
                </a:solidFill>
              </a:rPr>
              <a:t>                </a:t>
            </a:r>
            <a:r>
              <a:rPr sz="1687" dirty="0">
                <a:solidFill>
                  <a:schemeClr val="tx1"/>
                </a:solidFill>
              </a:rPr>
              <a:t>i.e. for a 64KB segment, the offset can be given as16-bit number.</a:t>
            </a:r>
          </a:p>
          <a:p>
            <a:pPr marL="515225" lvl="1" indent="-321457" algn="l" defTabSz="254666">
              <a:spcBef>
                <a:spcPts val="1828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687" b="1" dirty="0">
                <a:solidFill>
                  <a:schemeClr val="tx1"/>
                </a:solidFill>
              </a:rPr>
              <a:t>The first byte in a segment has offset 0000h.</a:t>
            </a:r>
          </a:p>
          <a:p>
            <a:pPr marL="441358" lvl="1" indent="-247591" algn="l" defTabSz="254666">
              <a:spcBef>
                <a:spcPts val="1828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1687" b="1" dirty="0">
                <a:solidFill>
                  <a:schemeClr val="tx1"/>
                </a:solidFill>
              </a:rPr>
              <a:t>T</a:t>
            </a:r>
            <a:r>
              <a:rPr sz="1687" b="1" dirty="0">
                <a:solidFill>
                  <a:schemeClr val="tx1"/>
                </a:solidFill>
              </a:rPr>
              <a:t>he Last byte in a segment has offset </a:t>
            </a:r>
            <a:r>
              <a:rPr sz="1687" b="1" dirty="0" err="1">
                <a:solidFill>
                  <a:schemeClr val="tx1"/>
                </a:solidFill>
              </a:rPr>
              <a:t>FFFFh</a:t>
            </a:r>
            <a:endParaRPr sz="1687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48042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/>
          </p:cNvSpPr>
          <p:nvPr>
            <p:ph type="title"/>
          </p:nvPr>
        </p:nvSpPr>
        <p:spPr>
          <a:xfrm>
            <a:off x="437555" y="434578"/>
            <a:ext cx="8268891" cy="7261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438150">
              <a:defRPr sz="60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Segment</a:t>
            </a:r>
            <a:r>
              <a:rPr lang="en-US" sz="4219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r>
              <a:rPr lang="en-US" sz="4219" b="1" dirty="0">
                <a:solidFill>
                  <a:schemeClr val="accent3">
                    <a:lumMod val="75000"/>
                  </a:schemeClr>
                </a:solidFill>
              </a:rPr>
              <a:t> O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ffset address</a:t>
            </a:r>
          </a:p>
        </p:txBody>
      </p:sp>
      <p:sp>
        <p:nvSpPr>
          <p:cNvPr id="96" name="Shape 96"/>
          <p:cNvSpPr>
            <a:spLocks noGrp="1"/>
          </p:cNvSpPr>
          <p:nvPr>
            <p:ph type="body" idx="1"/>
          </p:nvPr>
        </p:nvSpPr>
        <p:spPr>
          <a:xfrm>
            <a:off x="437555" y="1674216"/>
            <a:ext cx="8733236" cy="3889283"/>
          </a:xfrm>
          <a:prstGeom prst="rect">
            <a:avLst/>
          </a:prstGeom>
        </p:spPr>
        <p:txBody>
          <a:bodyPr/>
          <a:lstStyle/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A memory segment may be specified by providing a segment number and an offset.</a:t>
            </a:r>
          </a:p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Memory segment is written in the form of segment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: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offset.</a:t>
            </a:r>
            <a:endParaRPr lang="en-US" sz="2672" dirty="0">
              <a:solidFill>
                <a:schemeClr val="tx1"/>
              </a:solidFill>
            </a:endParaRPr>
          </a:p>
          <a:p>
            <a:pPr marL="659781" indent="-659781" algn="l">
              <a:buClr>
                <a:srgbClr val="FFFFFF"/>
              </a:buClr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sz="2672" dirty="0">
              <a:solidFill>
                <a:schemeClr val="tx1"/>
              </a:solidFill>
            </a:endParaRPr>
          </a:p>
          <a:p>
            <a:pPr marL="659781" indent="-659781" algn="l"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The representation of segment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:</a:t>
            </a:r>
            <a:r>
              <a:rPr lang="en-US" sz="2672" dirty="0">
                <a:solidFill>
                  <a:schemeClr val="tx1"/>
                </a:solidFill>
              </a:rPr>
              <a:t> </a:t>
            </a:r>
            <a:r>
              <a:rPr sz="2672" dirty="0">
                <a:solidFill>
                  <a:schemeClr val="tx1"/>
                </a:solidFill>
              </a:rPr>
              <a:t>offset is known as logical address.</a:t>
            </a:r>
          </a:p>
          <a:p>
            <a:pPr marL="312528" lvl="1" algn="l"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2672" dirty="0">
                <a:solidFill>
                  <a:schemeClr val="tx1"/>
                </a:solidFill>
              </a:rPr>
              <a:t>		</a:t>
            </a:r>
            <a:r>
              <a:rPr sz="2672" dirty="0">
                <a:solidFill>
                  <a:schemeClr val="tx1"/>
                </a:solidFill>
              </a:rPr>
              <a:t>e.g. A4FB:4872h means offset 4872h within </a:t>
            </a:r>
            <a:r>
              <a:rPr lang="en-US" sz="2672" dirty="0">
                <a:solidFill>
                  <a:schemeClr val="tx1"/>
                </a:solidFill>
              </a:rPr>
              <a:t>			</a:t>
            </a:r>
            <a:r>
              <a:rPr sz="2672" dirty="0">
                <a:solidFill>
                  <a:schemeClr val="tx1"/>
                </a:solidFill>
              </a:rPr>
              <a:t>segment A4FBh</a:t>
            </a:r>
          </a:p>
        </p:txBody>
      </p:sp>
    </p:spTree>
    <p:extLst>
      <p:ext uri="{BB962C8B-B14F-4D97-AF65-F5344CB8AC3E}">
        <p14:creationId xmlns:p14="http://schemas.microsoft.com/office/powerpoint/2010/main" val="245382251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/>
          </p:cNvSpPr>
          <p:nvPr>
            <p:ph type="title"/>
          </p:nvPr>
        </p:nvSpPr>
        <p:spPr>
          <a:xfrm>
            <a:off x="75746" y="312539"/>
            <a:ext cx="8860530" cy="102138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315468">
              <a:defRPr sz="43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3094" b="1" dirty="0">
                <a:solidFill>
                  <a:schemeClr val="accent3">
                    <a:lumMod val="75000"/>
                  </a:schemeClr>
                </a:solidFill>
              </a:rPr>
              <a:t>How to obtain 20-bit physical address in</a:t>
            </a:r>
            <a:br>
              <a:rPr lang="en-US" sz="3094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sz="3094" b="1" dirty="0">
                <a:solidFill>
                  <a:schemeClr val="accent3">
                    <a:lumMod val="75000"/>
                  </a:schemeClr>
                </a:solidFill>
              </a:rPr>
              <a:t> a 16-bit microprocessor?</a:t>
            </a:r>
          </a:p>
        </p:txBody>
      </p:sp>
      <p:sp>
        <p:nvSpPr>
          <p:cNvPr id="99" name="Shape 99"/>
          <p:cNvSpPr>
            <a:spLocks noGrp="1"/>
          </p:cNvSpPr>
          <p:nvPr>
            <p:ph type="body" idx="1"/>
          </p:nvPr>
        </p:nvSpPr>
        <p:spPr>
          <a:xfrm>
            <a:off x="308074" y="1493831"/>
            <a:ext cx="9012022" cy="50953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89355" indent="-789355" algn="l" defTabSz="369675">
              <a:spcBef>
                <a:spcPts val="2601"/>
              </a:spcBef>
              <a:buClrTx/>
              <a:buSzPct val="100000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The 8086 shifts the segment address 4-bits to the left [i.e. multiply by 10h].</a:t>
            </a:r>
            <a:endParaRPr lang="en-US" sz="2391" dirty="0">
              <a:solidFill>
                <a:schemeClr val="tx1"/>
              </a:solidFill>
            </a:endParaRPr>
          </a:p>
          <a:p>
            <a:pPr marL="789355" indent="-789355" algn="l" defTabSz="369675">
              <a:spcBef>
                <a:spcPts val="2601"/>
              </a:spcBef>
              <a:buClrTx/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Add the offset address to the segment address.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</a:t>
            </a:r>
            <a:r>
              <a:rPr sz="2391" b="1" dirty="0">
                <a:solidFill>
                  <a:schemeClr val="tx1"/>
                </a:solidFill>
              </a:rPr>
              <a:t>i.e. to get the 20-bit physical address from A4FB:4872h</a:t>
            </a:r>
            <a:r>
              <a:rPr sz="2391" dirty="0">
                <a:solidFill>
                  <a:schemeClr val="tx1"/>
                </a:solidFill>
              </a:rPr>
              <a:t>, 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				</a:t>
            </a:r>
            <a:r>
              <a:rPr sz="2391" b="1" dirty="0">
                <a:solidFill>
                  <a:schemeClr val="tx1"/>
                </a:solidFill>
              </a:rPr>
              <a:t>	A4FB0h [multiplied segment with 10]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b="1" dirty="0">
                <a:solidFill>
                  <a:schemeClr val="tx1"/>
                </a:solidFill>
              </a:rPr>
              <a:t>							   4872h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b="1" dirty="0">
                <a:solidFill>
                  <a:schemeClr val="tx1"/>
                </a:solidFill>
              </a:rPr>
              <a:t>							</a:t>
            </a:r>
            <a:r>
              <a:rPr lang="en-US" sz="2391" b="1" dirty="0">
                <a:solidFill>
                  <a:schemeClr val="tx1"/>
                </a:solidFill>
              </a:rPr>
              <a:t> =</a:t>
            </a:r>
            <a:r>
              <a:rPr sz="2391" b="1" dirty="0">
                <a:solidFill>
                  <a:schemeClr val="tx1"/>
                </a:solidFill>
              </a:rPr>
              <a:t>=====</a:t>
            </a:r>
          </a:p>
          <a:p>
            <a:pPr lvl="1" indent="144654" algn="l" defTabSz="369675">
              <a:spcBef>
                <a:spcPts val="2601"/>
              </a:spcBef>
              <a:defRPr sz="1800">
                <a:solidFill>
                  <a:srgbClr val="000000"/>
                </a:solidFill>
              </a:defRPr>
            </a:pPr>
            <a:r>
              <a:rPr sz="2391" dirty="0">
                <a:solidFill>
                  <a:schemeClr val="tx1"/>
                </a:solidFill>
              </a:rPr>
              <a:t>						</a:t>
            </a:r>
            <a:r>
              <a:rPr sz="2391" b="1" dirty="0">
                <a:solidFill>
                  <a:schemeClr val="tx1"/>
                </a:solidFill>
              </a:rPr>
              <a:t>	A9822h [20-bit physical address]</a:t>
            </a:r>
          </a:p>
        </p:txBody>
      </p:sp>
    </p:spTree>
    <p:extLst>
      <p:ext uri="{BB962C8B-B14F-4D97-AF65-F5344CB8AC3E}">
        <p14:creationId xmlns:p14="http://schemas.microsoft.com/office/powerpoint/2010/main" val="130749628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/>
          </p:nvPr>
        </p:nvSpPr>
        <p:spPr>
          <a:xfrm>
            <a:off x="566884" y="1007314"/>
            <a:ext cx="7804547" cy="70718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5133" b="1" dirty="0">
                <a:solidFill>
                  <a:schemeClr val="accent3">
                    <a:lumMod val="75000"/>
                  </a:schemeClr>
                </a:solidFill>
              </a:rPr>
              <a:t>Task</a:t>
            </a:r>
            <a:r>
              <a:rPr sz="4219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/>
          </p:nvPr>
        </p:nvSpPr>
        <p:spPr>
          <a:xfrm>
            <a:off x="803218" y="2146303"/>
            <a:ext cx="7804547" cy="4420195"/>
          </a:xfrm>
          <a:prstGeom prst="rect">
            <a:avLst/>
          </a:prstGeom>
        </p:spPr>
        <p:txBody>
          <a:bodyPr/>
          <a:lstStyle>
            <a:lvl1pPr marL="938388" indent="-938388">
              <a:buClr>
                <a:srgbClr val="FFFFFF"/>
              </a:buClr>
            </a:lvl1pPr>
          </a:lstStyle>
          <a:p>
            <a:pPr lvl="0" algn="l"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Find the 20-bit address of ABC4:12BAh?</a:t>
            </a:r>
          </a:p>
        </p:txBody>
      </p:sp>
    </p:spTree>
    <p:extLst>
      <p:ext uri="{BB962C8B-B14F-4D97-AF65-F5344CB8AC3E}">
        <p14:creationId xmlns:p14="http://schemas.microsoft.com/office/powerpoint/2010/main" val="22958980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xfrm>
            <a:off x="214313" y="131897"/>
            <a:ext cx="8474273" cy="809580"/>
          </a:xfrm>
          <a:prstGeom prst="rect">
            <a:avLst/>
          </a:prstGeom>
        </p:spPr>
        <p:txBody>
          <a:bodyPr>
            <a:normAutofit/>
          </a:bodyPr>
          <a:lstStyle>
            <a:lvl1pPr defTabSz="496569">
              <a:defRPr sz="68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Location of Segments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xfrm>
            <a:off x="655651" y="1008449"/>
            <a:ext cx="8354404" cy="5689143"/>
          </a:xfrm>
          <a:prstGeom prst="rect">
            <a:avLst/>
          </a:prstGeom>
        </p:spPr>
        <p:txBody>
          <a:bodyPr/>
          <a:lstStyle/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0 starts at address 0000:0000h=00000h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0000:FFFFh=0FFFFh.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1 starts at address 0001:0000h=00010h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0001:FFFFh=1000Fh.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Segment 2 starts at address 0010:0000h=00100h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nds at 0010:FFFFh=100FFh.</a:t>
            </a:r>
          </a:p>
          <a:p>
            <a:pPr marL="401822" indent="-401822" algn="l" defTabSz="308063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Observations:</a:t>
            </a:r>
            <a:endParaRPr lang="en-US" sz="2531" b="1" dirty="0">
              <a:solidFill>
                <a:schemeClr val="tx1"/>
              </a:solidFill>
            </a:endParaRPr>
          </a:p>
          <a:p>
            <a:pPr marL="321457" indent="-321457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segments start at every 10h =16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bytes</a:t>
            </a:r>
            <a:endParaRPr lang="en-US" sz="1969" dirty="0">
              <a:solidFill>
                <a:schemeClr val="tx1"/>
              </a:solidFill>
            </a:endParaRPr>
          </a:p>
          <a:p>
            <a:pPr marL="321457" indent="-321457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starting address of a segment always ends with 0h.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We call 16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bytes a paragraph.</a:t>
            </a:r>
          </a:p>
          <a:p>
            <a:pPr marL="364616" indent="-364616" algn="l" defTabSz="308063">
              <a:spcBef>
                <a:spcPts val="2180"/>
              </a:spcBef>
              <a:buClrTx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 address divisible by 16 (ends with hex 0 ) is called a </a:t>
            </a:r>
            <a:r>
              <a:rPr sz="1969" b="1" dirty="0">
                <a:solidFill>
                  <a:schemeClr val="tx1"/>
                </a:solidFill>
              </a:rPr>
              <a:t>paragraph boundary.</a:t>
            </a:r>
          </a:p>
        </p:txBody>
      </p:sp>
    </p:spTree>
    <p:extLst>
      <p:ext uri="{BB962C8B-B14F-4D97-AF65-F5344CB8AC3E}">
        <p14:creationId xmlns:p14="http://schemas.microsoft.com/office/powerpoint/2010/main" val="256228931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xfrm>
            <a:off x="276820" y="125015"/>
            <a:ext cx="8289020" cy="880180"/>
          </a:xfrm>
          <a:prstGeom prst="rect">
            <a:avLst/>
          </a:prstGeom>
        </p:spPr>
        <p:txBody>
          <a:bodyPr>
            <a:normAutofit/>
          </a:bodyPr>
          <a:lstStyle>
            <a:lvl1pPr defTabSz="554990">
              <a:defRPr sz="7600"/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Example-1</a:t>
            </a:r>
          </a:p>
        </p:txBody>
      </p:sp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404625" y="1005195"/>
            <a:ext cx="8739375" cy="5495712"/>
          </a:xfrm>
          <a:prstGeom prst="rect">
            <a:avLst/>
          </a:prstGeom>
        </p:spPr>
        <p:txBody>
          <a:bodyPr/>
          <a:lstStyle/>
          <a:p>
            <a:pPr marL="369477" indent="-36947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Physical address of a memory location is 1256Ah, find the address in segment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: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offset form for segment 1256h?</a:t>
            </a:r>
          </a:p>
          <a:p>
            <a:pPr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	Physical address = Segment X 10h + offset</a:t>
            </a:r>
          </a:p>
          <a:p>
            <a:pPr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Offset = Physical address - Segment </a:t>
            </a:r>
          </a:p>
          <a:p>
            <a:pPr marL="369477" indent="-369477" algn="l" defTabSz="312170">
              <a:spcBef>
                <a:spcPts val="218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</a:t>
            </a:r>
            <a:r>
              <a:rPr sz="1969" dirty="0">
                <a:solidFill>
                  <a:schemeClr val="tx1"/>
                </a:solidFill>
              </a:rPr>
              <a:t>Lets consider, X = offset in 1256h. Thus, </a:t>
            </a:r>
          </a:p>
          <a:p>
            <a:pPr marL="321457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1256Ah=12560h [segment 1256 multiplied by 10] + X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1256Ah-12560h 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Ah </a:t>
            </a:r>
          </a:p>
          <a:p>
            <a:pPr marL="321457" lvl="1" indent="-321457" algn="l" defTabSz="312170">
              <a:spcBef>
                <a:spcPts val="2180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X = 000Ah</a:t>
            </a:r>
          </a:p>
          <a:p>
            <a:pPr marL="369477" indent="-369477" algn="l" defTabSz="312170">
              <a:spcBef>
                <a:spcPts val="2180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          </a:t>
            </a:r>
            <a:r>
              <a:rPr sz="1969" dirty="0">
                <a:solidFill>
                  <a:schemeClr val="tx1"/>
                </a:solidFill>
              </a:rPr>
              <a:t>Segment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:</a:t>
            </a:r>
            <a:r>
              <a:rPr lang="en-US" sz="1969" dirty="0">
                <a:solidFill>
                  <a:schemeClr val="tx1"/>
                </a:solidFill>
              </a:rPr>
              <a:t> </a:t>
            </a:r>
            <a:r>
              <a:rPr sz="1969" dirty="0">
                <a:solidFill>
                  <a:schemeClr val="tx1"/>
                </a:solidFill>
              </a:rPr>
              <a:t>offset = 1256:000Ah</a:t>
            </a:r>
          </a:p>
        </p:txBody>
      </p:sp>
    </p:spTree>
    <p:extLst>
      <p:ext uri="{BB962C8B-B14F-4D97-AF65-F5344CB8AC3E}">
        <p14:creationId xmlns:p14="http://schemas.microsoft.com/office/powerpoint/2010/main" val="11120692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title"/>
          </p:nvPr>
        </p:nvSpPr>
        <p:spPr>
          <a:xfrm>
            <a:off x="250637" y="205383"/>
            <a:ext cx="8365301" cy="92202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Example-2</a:t>
            </a:r>
          </a:p>
        </p:txBody>
      </p:sp>
      <p:sp>
        <p:nvSpPr>
          <p:cNvPr id="111" name="Shape 111"/>
          <p:cNvSpPr>
            <a:spLocks noGrp="1"/>
          </p:cNvSpPr>
          <p:nvPr>
            <p:ph type="body" idx="1"/>
          </p:nvPr>
        </p:nvSpPr>
        <p:spPr>
          <a:xfrm>
            <a:off x="826602" y="1251643"/>
            <a:ext cx="8137594" cy="528628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09940" indent="-509940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Physical address of a memory location is 1256Ah, find the address in segment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:</a:t>
            </a:r>
            <a:r>
              <a:rPr lang="en-US" sz="1969" b="1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offset form for segment 1240h?</a:t>
            </a:r>
          </a:p>
          <a:p>
            <a:pPr marL="509940" indent="-509940" algn="l" defTabSz="365568">
              <a:spcBef>
                <a:spcPts val="2601"/>
              </a:spcBef>
              <a:buClr>
                <a:srgbClr val="FFFFFF"/>
              </a:buClr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</a:t>
            </a:r>
            <a:r>
              <a:rPr sz="1969" dirty="0">
                <a:solidFill>
                  <a:schemeClr val="tx1"/>
                </a:solidFill>
              </a:rPr>
              <a:t>Lets consider, X = offset in 1240h. Thus, </a:t>
            </a:r>
          </a:p>
          <a:p>
            <a:pPr marL="321457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1256Ah=12400h [segment 1256 multiplied by 10] + X</a:t>
            </a:r>
          </a:p>
          <a:p>
            <a:pPr marL="321457" lvl="1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1256Ah-12400h </a:t>
            </a:r>
          </a:p>
          <a:p>
            <a:pPr marL="361639" lvl="1" indent="-361639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16Ah </a:t>
            </a:r>
          </a:p>
          <a:p>
            <a:pPr marL="321457" lvl="1" indent="-321457" algn="l" defTabSz="365568">
              <a:spcBef>
                <a:spcPts val="260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	X = 016Ah</a:t>
            </a:r>
          </a:p>
          <a:p>
            <a:pPr algn="l" defTabSz="365568">
              <a:spcBef>
                <a:spcPts val="2601"/>
              </a:spcBef>
              <a:buClrTx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Segment</a:t>
            </a: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969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offset = 1240:016Ah</a:t>
            </a:r>
          </a:p>
        </p:txBody>
      </p:sp>
    </p:spTree>
    <p:extLst>
      <p:ext uri="{BB962C8B-B14F-4D97-AF65-F5344CB8AC3E}">
        <p14:creationId xmlns:p14="http://schemas.microsoft.com/office/powerpoint/2010/main" val="17641089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xfrm>
            <a:off x="321469" y="187524"/>
            <a:ext cx="8474273" cy="76897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spcBef>
                <a:spcPts val="4200"/>
              </a:spcBef>
              <a:defRPr sz="57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3797" dirty="0">
                <a:solidFill>
                  <a:schemeClr val="accent3">
                    <a:lumMod val="75000"/>
                  </a:schemeClr>
                </a:solidFill>
              </a:rPr>
              <a:t>Calculate the </a:t>
            </a:r>
            <a:r>
              <a:rPr lang="en-US" sz="3797" dirty="0">
                <a:solidFill>
                  <a:schemeClr val="accent3">
                    <a:lumMod val="75000"/>
                  </a:schemeClr>
                </a:solidFill>
              </a:rPr>
              <a:t>S</a:t>
            </a:r>
            <a:r>
              <a:rPr sz="3797" dirty="0">
                <a:solidFill>
                  <a:schemeClr val="accent3">
                    <a:lumMod val="75000"/>
                  </a:schemeClr>
                </a:solidFill>
              </a:rPr>
              <a:t>egment </a:t>
            </a:r>
            <a:r>
              <a:rPr lang="en-US" sz="3797" dirty="0">
                <a:solidFill>
                  <a:schemeClr val="accent3">
                    <a:lumMod val="75000"/>
                  </a:schemeClr>
                </a:solidFill>
              </a:rPr>
              <a:t>N</a:t>
            </a:r>
            <a:r>
              <a:rPr sz="3797" dirty="0">
                <a:solidFill>
                  <a:schemeClr val="accent3">
                    <a:lumMod val="75000"/>
                  </a:schemeClr>
                </a:solidFill>
              </a:rPr>
              <a:t>umber </a:t>
            </a:r>
          </a:p>
        </p:txBody>
      </p:sp>
      <p:sp>
        <p:nvSpPr>
          <p:cNvPr id="114" name="Shape 114"/>
          <p:cNvSpPr>
            <a:spLocks noGrp="1"/>
          </p:cNvSpPr>
          <p:nvPr>
            <p:ph type="body" idx="1"/>
          </p:nvPr>
        </p:nvSpPr>
        <p:spPr>
          <a:xfrm>
            <a:off x="566989" y="1188935"/>
            <a:ext cx="8362699" cy="5280330"/>
          </a:xfrm>
          <a:prstGeom prst="rect">
            <a:avLst/>
          </a:prstGeom>
        </p:spPr>
        <p:txBody>
          <a:bodyPr/>
          <a:lstStyle/>
          <a:p>
            <a:pPr marL="446740" indent="-446740" algn="l" defTabSz="340923">
              <a:spcBef>
                <a:spcPts val="2391"/>
              </a:spcBef>
              <a:buClrTx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A physical address 80FD2h and offset BFD2h is given. Calculate the segment .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b="1" dirty="0">
                <a:solidFill>
                  <a:schemeClr val="accent2">
                    <a:lumMod val="75000"/>
                  </a:schemeClr>
                </a:solidFill>
              </a:rPr>
              <a:t>           </a:t>
            </a:r>
            <a:r>
              <a:rPr sz="1969" b="1" dirty="0">
                <a:solidFill>
                  <a:schemeClr val="accent2">
                    <a:lumMod val="75000"/>
                  </a:schemeClr>
                </a:solidFill>
              </a:rPr>
              <a:t>Physical address = Segment X 10h + offset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Thus,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X 10h = Physical address - offset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(Physical address - offset ) / 10h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(80FD2h - BFD2h)/10h </a:t>
            </a:r>
          </a:p>
          <a:p>
            <a:pPr marL="321457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(75000h)/10h</a:t>
            </a:r>
          </a:p>
          <a:p>
            <a:pPr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		Segment = 7500h		</a:t>
            </a:r>
            <a:r>
              <a:rPr sz="2180" dirty="0">
                <a:solidFill>
                  <a:srgbClr val="FFFFFF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78164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/>
          </p:cNvSpPr>
          <p:nvPr>
            <p:ph type="title"/>
          </p:nvPr>
        </p:nvSpPr>
        <p:spPr>
          <a:xfrm>
            <a:off x="696516" y="683121"/>
            <a:ext cx="7804547" cy="778560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Task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xfrm>
            <a:off x="506015" y="1788730"/>
            <a:ext cx="8637985" cy="3890552"/>
          </a:xfrm>
          <a:prstGeom prst="rect">
            <a:avLst/>
          </a:prstGeom>
        </p:spPr>
        <p:txBody>
          <a:bodyPr/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Find the physical address of memory location </a:t>
            </a:r>
            <a:r>
              <a:rPr sz="2672" b="1" dirty="0">
                <a:solidFill>
                  <a:schemeClr val="tx1"/>
                </a:solidFill>
              </a:rPr>
              <a:t>0A51:CD90h ?</a:t>
            </a:r>
            <a:endParaRPr sz="2672" dirty="0">
              <a:solidFill>
                <a:schemeClr val="tx1"/>
              </a:solidFill>
            </a:endParaRPr>
          </a:p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A memory location has physical address</a:t>
            </a:r>
            <a:r>
              <a:rPr sz="2672" b="1" dirty="0">
                <a:solidFill>
                  <a:schemeClr val="tx1"/>
                </a:solidFill>
              </a:rPr>
              <a:t> 4A37Bh</a:t>
            </a:r>
            <a:r>
              <a:rPr sz="2672" dirty="0">
                <a:solidFill>
                  <a:schemeClr val="tx1"/>
                </a:solidFill>
              </a:rPr>
              <a:t>.Compute the offset if segment number is </a:t>
            </a:r>
            <a:r>
              <a:rPr sz="2672" b="1" dirty="0">
                <a:solidFill>
                  <a:schemeClr val="tx1"/>
                </a:solidFill>
              </a:rPr>
              <a:t>40FFh.</a:t>
            </a:r>
            <a:endParaRPr sz="2672" dirty="0">
              <a:solidFill>
                <a:schemeClr val="tx1"/>
              </a:solidFill>
            </a:endParaRPr>
          </a:p>
          <a:p>
            <a:pPr marL="522368" lvl="1" indent="-522368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dirty="0">
                <a:solidFill>
                  <a:schemeClr val="tx1"/>
                </a:solidFill>
              </a:rPr>
              <a:t>Compute the Segment if offset number is </a:t>
            </a:r>
            <a:r>
              <a:rPr sz="2672" b="1" dirty="0">
                <a:solidFill>
                  <a:schemeClr val="tx1"/>
                </a:solidFill>
              </a:rPr>
              <a:t>123Bh.</a:t>
            </a:r>
          </a:p>
        </p:txBody>
      </p:sp>
    </p:spTree>
    <p:extLst>
      <p:ext uri="{BB962C8B-B14F-4D97-AF65-F5344CB8AC3E}">
        <p14:creationId xmlns:p14="http://schemas.microsoft.com/office/powerpoint/2010/main" val="43329369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xfrm>
            <a:off x="669727" y="150500"/>
            <a:ext cx="7804547" cy="9239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Program Segments</a:t>
            </a:r>
          </a:p>
        </p:txBody>
      </p:sp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xfrm>
            <a:off x="380489" y="1424101"/>
            <a:ext cx="8763512" cy="54338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Machine language program consists instruction and data.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P</a:t>
            </a:r>
            <a:r>
              <a:rPr sz="1969" dirty="0">
                <a:solidFill>
                  <a:schemeClr val="tx1"/>
                </a:solidFill>
              </a:rPr>
              <a:t>rocessor uses stack to implement procedure calls.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program code are loaded into </a:t>
            </a:r>
            <a:r>
              <a:rPr sz="1969" b="1" dirty="0">
                <a:solidFill>
                  <a:schemeClr val="tx1"/>
                </a:solidFill>
              </a:rPr>
              <a:t>Code Segment (CS)</a:t>
            </a:r>
            <a:r>
              <a:rPr sz="1969" dirty="0">
                <a:solidFill>
                  <a:schemeClr val="tx1"/>
                </a:solidFill>
              </a:rPr>
              <a:t> of memory.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Data are loaded into </a:t>
            </a:r>
            <a:r>
              <a:rPr sz="1969" b="1" dirty="0">
                <a:solidFill>
                  <a:schemeClr val="tx1"/>
                </a:solidFill>
              </a:rPr>
              <a:t>Data segment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(DS) </a:t>
            </a:r>
            <a:r>
              <a:rPr sz="1969" dirty="0">
                <a:solidFill>
                  <a:schemeClr val="tx1"/>
                </a:solidFill>
              </a:rPr>
              <a:t>of memory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Stack are loaded into </a:t>
            </a:r>
            <a:r>
              <a:rPr sz="1969" b="1" dirty="0">
                <a:solidFill>
                  <a:schemeClr val="tx1"/>
                </a:solidFill>
              </a:rPr>
              <a:t>Stack Segment (SS )</a:t>
            </a:r>
            <a:r>
              <a:rPr sz="1969" dirty="0">
                <a:solidFill>
                  <a:schemeClr val="tx1"/>
                </a:solidFill>
              </a:rPr>
              <a:t> of memory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8086 uses four segment registers (CS,DS,SS, ES) to </a:t>
            </a:r>
            <a:r>
              <a:rPr sz="1969" b="1" dirty="0">
                <a:solidFill>
                  <a:schemeClr val="tx1"/>
                </a:solidFill>
              </a:rPr>
              <a:t>hold segment numbers</a:t>
            </a:r>
            <a:r>
              <a:rPr sz="1969" dirty="0">
                <a:solidFill>
                  <a:schemeClr val="tx1"/>
                </a:solidFill>
              </a:rPr>
              <a:t>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Any program needs access for second data segment may use Extra segment (ES).</a:t>
            </a:r>
          </a:p>
        </p:txBody>
      </p:sp>
    </p:spTree>
    <p:extLst>
      <p:ext uri="{BB962C8B-B14F-4D97-AF65-F5344CB8AC3E}">
        <p14:creationId xmlns:p14="http://schemas.microsoft.com/office/powerpoint/2010/main" val="258478629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xfrm>
            <a:off x="375047" y="230866"/>
            <a:ext cx="8474273" cy="817540"/>
          </a:xfrm>
          <a:prstGeom prst="rect">
            <a:avLst/>
          </a:prstGeom>
        </p:spPr>
        <p:txBody>
          <a:bodyPr>
            <a:normAutofit/>
          </a:bodyPr>
          <a:lstStyle>
            <a:lvl1pPr defTabSz="461518">
              <a:defRPr sz="632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Program Segments(Cont</a:t>
            </a:r>
            <a:r>
              <a:rPr lang="en-US" sz="4640" dirty="0">
                <a:solidFill>
                  <a:schemeClr val="accent3">
                    <a:lumMod val="75000"/>
                  </a:schemeClr>
                </a:solidFill>
              </a:rPr>
              <a:t>'</a:t>
            </a: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d…)</a:t>
            </a:r>
          </a:p>
        </p:txBody>
      </p:sp>
      <p:sp>
        <p:nvSpPr>
          <p:cNvPr id="123" name="Shape 123"/>
          <p:cNvSpPr>
            <a:spLocks noGrp="1"/>
          </p:cNvSpPr>
          <p:nvPr>
            <p:ph type="body" idx="1"/>
          </p:nvPr>
        </p:nvSpPr>
        <p:spPr>
          <a:xfrm>
            <a:off x="736699" y="1275739"/>
            <a:ext cx="7804547" cy="46580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 memory segment does not necessarily occupy the entire 64KB in a memory segment.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Programs segment of less than 64KB are placed close together due to its overlapping nature.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At any given time, only four memories are active and thus these four segments are accessible.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However, </a:t>
            </a:r>
            <a:r>
              <a:rPr lang="en-US" sz="2531" b="1" dirty="0">
                <a:solidFill>
                  <a:schemeClr val="tx1"/>
                </a:solidFill>
              </a:rPr>
              <a:t>c</a:t>
            </a:r>
            <a:r>
              <a:rPr sz="2531" b="1" dirty="0">
                <a:solidFill>
                  <a:schemeClr val="tx1"/>
                </a:solidFill>
              </a:rPr>
              <a:t>ontents</a:t>
            </a:r>
            <a:r>
              <a:rPr sz="2531" dirty="0">
                <a:solidFill>
                  <a:schemeClr val="tx1"/>
                </a:solidFill>
              </a:rPr>
              <a:t> of memory segments can be modified by a program to </a:t>
            </a:r>
            <a:r>
              <a:rPr sz="2531" b="1" dirty="0">
                <a:solidFill>
                  <a:schemeClr val="tx1"/>
                </a:solidFill>
              </a:rPr>
              <a:t>address different segments.</a:t>
            </a:r>
          </a:p>
        </p:txBody>
      </p:sp>
    </p:spTree>
    <p:extLst>
      <p:ext uri="{BB962C8B-B14F-4D97-AF65-F5344CB8AC3E}">
        <p14:creationId xmlns:p14="http://schemas.microsoft.com/office/powerpoint/2010/main" val="324944526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xfrm>
            <a:off x="587745" y="254496"/>
            <a:ext cx="7804547" cy="1477031"/>
          </a:xfrm>
          <a:prstGeom prst="rect">
            <a:avLst/>
          </a:prstGeom>
        </p:spPr>
        <p:txBody>
          <a:bodyPr>
            <a:noAutofit/>
          </a:bodyPr>
          <a:lstStyle>
            <a:lvl1pPr defTabSz="479044">
              <a:defRPr sz="656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Pointer and Index Registers</a:t>
            </a:r>
          </a:p>
        </p:txBody>
      </p:sp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587745" y="2131688"/>
            <a:ext cx="8399860" cy="37753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registers</a:t>
            </a:r>
            <a:r>
              <a:rPr sz="2531" b="1" dirty="0">
                <a:solidFill>
                  <a:schemeClr val="tx1"/>
                </a:solidFill>
              </a:rPr>
              <a:t> SP,BP,SI and DI </a:t>
            </a:r>
            <a:r>
              <a:rPr sz="2531" dirty="0">
                <a:solidFill>
                  <a:schemeClr val="tx1"/>
                </a:solidFill>
              </a:rPr>
              <a:t>usually </a:t>
            </a:r>
            <a:r>
              <a:rPr sz="2531" b="1" dirty="0">
                <a:solidFill>
                  <a:schemeClr val="tx1"/>
                </a:solidFill>
              </a:rPr>
              <a:t>point</a:t>
            </a:r>
            <a:r>
              <a:rPr sz="2531" dirty="0">
                <a:solidFill>
                  <a:schemeClr val="tx1"/>
                </a:solidFill>
              </a:rPr>
              <a:t> to the memory locations.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Registers </a:t>
            </a:r>
            <a:r>
              <a:rPr sz="2531" b="1" dirty="0">
                <a:solidFill>
                  <a:schemeClr val="tx1"/>
                </a:solidFill>
              </a:rPr>
              <a:t>contain the offset address</a:t>
            </a:r>
            <a:r>
              <a:rPr sz="2531" dirty="0">
                <a:solidFill>
                  <a:schemeClr val="tx1"/>
                </a:solidFill>
              </a:rPr>
              <a:t> of Memory location 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Unlike segment registers </a:t>
            </a:r>
            <a:r>
              <a:rPr sz="2531" b="1" dirty="0">
                <a:solidFill>
                  <a:schemeClr val="tx1"/>
                </a:solidFill>
              </a:rPr>
              <a:t>Index</a:t>
            </a:r>
            <a:r>
              <a:rPr sz="2531" dirty="0">
                <a:solidFill>
                  <a:schemeClr val="tx1"/>
                </a:solidFill>
              </a:rPr>
              <a:t> registers can be used in </a:t>
            </a:r>
            <a:r>
              <a:rPr sz="2531" b="1" dirty="0">
                <a:solidFill>
                  <a:schemeClr val="tx1"/>
                </a:solidFill>
              </a:rPr>
              <a:t>arithmetic</a:t>
            </a:r>
            <a:r>
              <a:rPr sz="2531" dirty="0">
                <a:solidFill>
                  <a:schemeClr val="tx1"/>
                </a:solidFill>
              </a:rPr>
              <a:t> and other operations.</a:t>
            </a:r>
          </a:p>
        </p:txBody>
      </p:sp>
    </p:spTree>
    <p:extLst>
      <p:ext uri="{BB962C8B-B14F-4D97-AF65-F5344CB8AC3E}">
        <p14:creationId xmlns:p14="http://schemas.microsoft.com/office/powerpoint/2010/main" val="173721645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/>
          </p:cNvSpPr>
          <p:nvPr>
            <p:ph type="title"/>
          </p:nvPr>
        </p:nvSpPr>
        <p:spPr>
          <a:xfrm>
            <a:off x="451517" y="414397"/>
            <a:ext cx="7804547" cy="68666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</a:rPr>
              <a:t>Stack Pointer (SP)</a:t>
            </a:r>
          </a:p>
        </p:txBody>
      </p:sp>
      <p:sp>
        <p:nvSpPr>
          <p:cNvPr id="130" name="Shape 130"/>
          <p:cNvSpPr>
            <a:spLocks noGrp="1"/>
          </p:cNvSpPr>
          <p:nvPr>
            <p:ph type="body" idx="1"/>
          </p:nvPr>
        </p:nvSpPr>
        <p:spPr>
          <a:xfrm>
            <a:off x="766348" y="1541516"/>
            <a:ext cx="7989211" cy="113685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stack pointer (</a:t>
            </a:r>
            <a:r>
              <a:rPr sz="2531" b="1" dirty="0">
                <a:solidFill>
                  <a:schemeClr val="tx1"/>
                </a:solidFill>
              </a:rPr>
              <a:t>SP</a:t>
            </a:r>
            <a:r>
              <a:rPr sz="2531" dirty="0">
                <a:solidFill>
                  <a:schemeClr val="tx1"/>
                </a:solidFill>
              </a:rPr>
              <a:t>) is used </a:t>
            </a:r>
            <a:r>
              <a:rPr sz="2531" b="1" dirty="0">
                <a:solidFill>
                  <a:schemeClr val="tx1"/>
                </a:solidFill>
              </a:rPr>
              <a:t>together with SS </a:t>
            </a:r>
            <a:r>
              <a:rPr sz="2531" dirty="0">
                <a:solidFill>
                  <a:schemeClr val="tx1"/>
                </a:solidFill>
              </a:rPr>
              <a:t>to </a:t>
            </a:r>
            <a:r>
              <a:rPr sz="2531" b="1" dirty="0">
                <a:solidFill>
                  <a:schemeClr val="tx1"/>
                </a:solidFill>
              </a:rPr>
              <a:t>access </a:t>
            </a:r>
            <a:r>
              <a:rPr sz="2531" dirty="0">
                <a:solidFill>
                  <a:schemeClr val="tx1"/>
                </a:solidFill>
              </a:rPr>
              <a:t>the stack segment.</a:t>
            </a:r>
          </a:p>
        </p:txBody>
      </p:sp>
      <p:sp>
        <p:nvSpPr>
          <p:cNvPr id="131" name="Shape 131"/>
          <p:cNvSpPr/>
          <p:nvPr/>
        </p:nvSpPr>
        <p:spPr>
          <a:xfrm>
            <a:off x="1943342" y="2979497"/>
            <a:ext cx="4820896" cy="68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55675">
              <a:defRPr sz="624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Base Pointer (BP)</a:t>
            </a:r>
          </a:p>
        </p:txBody>
      </p:sp>
      <p:sp>
        <p:nvSpPr>
          <p:cNvPr id="132" name="Shape 132"/>
          <p:cNvSpPr/>
          <p:nvPr/>
        </p:nvSpPr>
        <p:spPr>
          <a:xfrm>
            <a:off x="766348" y="4255688"/>
            <a:ext cx="8173874" cy="1293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Autofit/>
          </a:bodyPr>
          <a:lstStyle/>
          <a:p>
            <a:pPr marL="253148" indent="-253148" defTabSz="332708">
              <a:spcBef>
                <a:spcPts val="2391"/>
              </a:spcBef>
              <a:buSzPct val="75000"/>
              <a:buChar char="•"/>
              <a:defRPr sz="1800"/>
            </a:pPr>
            <a:r>
              <a:rPr sz="2250" dirty="0">
                <a:latin typeface="+mj-lt"/>
              </a:rPr>
              <a:t>BP is used to access data on the stack.</a:t>
            </a:r>
          </a:p>
          <a:p>
            <a:pPr marL="253148" indent="-253148" defTabSz="332708">
              <a:spcBef>
                <a:spcPts val="2391"/>
              </a:spcBef>
              <a:buSzPct val="75000"/>
              <a:buChar char="•"/>
              <a:defRPr sz="1800"/>
            </a:pPr>
            <a:r>
              <a:rPr sz="2250" dirty="0">
                <a:latin typeface="+mj-lt"/>
              </a:rPr>
              <a:t>Unlike </a:t>
            </a:r>
            <a:r>
              <a:rPr sz="2250" b="1" dirty="0">
                <a:latin typeface="+mj-lt"/>
              </a:rPr>
              <a:t>SP, BP </a:t>
            </a:r>
            <a:r>
              <a:rPr sz="2250" dirty="0">
                <a:latin typeface="+mj-lt"/>
              </a:rPr>
              <a:t>can be used to access data in the other segments</a:t>
            </a:r>
          </a:p>
        </p:txBody>
      </p:sp>
    </p:spTree>
    <p:extLst>
      <p:ext uri="{BB962C8B-B14F-4D97-AF65-F5344CB8AC3E}">
        <p14:creationId xmlns:p14="http://schemas.microsoft.com/office/powerpoint/2010/main" val="193385926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/>
          </p:cNvSpPr>
          <p:nvPr>
            <p:ph type="title"/>
          </p:nvPr>
        </p:nvSpPr>
        <p:spPr>
          <a:xfrm>
            <a:off x="277426" y="260538"/>
            <a:ext cx="8343506" cy="686661"/>
          </a:xfrm>
          <a:prstGeom prst="rect">
            <a:avLst/>
          </a:prstGeom>
        </p:spPr>
        <p:txBody>
          <a:bodyPr>
            <a:noAutofit/>
          </a:bodyPr>
          <a:lstStyle>
            <a:lvl1pPr defTabSz="455675">
              <a:defRPr sz="624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</a:rPr>
              <a:t>Source Index (SI)</a:t>
            </a:r>
          </a:p>
        </p:txBody>
      </p:sp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400246" y="1361964"/>
            <a:ext cx="8579027" cy="200154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SI</a:t>
            </a:r>
            <a:r>
              <a:rPr sz="2531" dirty="0">
                <a:solidFill>
                  <a:schemeClr val="tx1"/>
                </a:solidFill>
              </a:rPr>
              <a:t> is used to </a:t>
            </a:r>
            <a:r>
              <a:rPr sz="2531" b="1" dirty="0">
                <a:solidFill>
                  <a:schemeClr val="tx1"/>
                </a:solidFill>
              </a:rPr>
              <a:t>point</a:t>
            </a:r>
            <a:r>
              <a:rPr sz="2531" dirty="0">
                <a:solidFill>
                  <a:schemeClr val="tx1"/>
                </a:solidFill>
              </a:rPr>
              <a:t> </a:t>
            </a:r>
            <a:r>
              <a:rPr sz="2531" b="1" dirty="0">
                <a:solidFill>
                  <a:schemeClr val="tx1"/>
                </a:solidFill>
              </a:rPr>
              <a:t>to memory locations</a:t>
            </a:r>
            <a:r>
              <a:rPr sz="2531" dirty="0">
                <a:solidFill>
                  <a:schemeClr val="tx1"/>
                </a:solidFill>
              </a:rPr>
              <a:t> in the data segment addressed by </a:t>
            </a:r>
            <a:r>
              <a:rPr sz="2531" b="1" dirty="0">
                <a:solidFill>
                  <a:schemeClr val="tx1"/>
                </a:solidFill>
              </a:rPr>
              <a:t>DS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Consecutive memory locations can be accessed by </a:t>
            </a:r>
            <a:r>
              <a:rPr sz="2531" b="1" dirty="0">
                <a:solidFill>
                  <a:schemeClr val="tx1"/>
                </a:solidFill>
              </a:rPr>
              <a:t>incrementing</a:t>
            </a:r>
            <a:r>
              <a:rPr sz="2531" dirty="0">
                <a:solidFill>
                  <a:schemeClr val="tx1"/>
                </a:solidFill>
              </a:rPr>
              <a:t> the content of SI.</a:t>
            </a:r>
          </a:p>
        </p:txBody>
      </p:sp>
      <p:sp>
        <p:nvSpPr>
          <p:cNvPr id="136" name="Shape 136"/>
          <p:cNvSpPr/>
          <p:nvPr/>
        </p:nvSpPr>
        <p:spPr>
          <a:xfrm>
            <a:off x="1641029" y="3778277"/>
            <a:ext cx="6097463" cy="686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defTabSz="455675">
              <a:defRPr sz="6240" b="1">
                <a:solidFill>
                  <a:srgbClr val="FFFFFF"/>
                </a:solid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4219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Destination Index (DI)</a:t>
            </a:r>
          </a:p>
        </p:txBody>
      </p:sp>
      <p:sp>
        <p:nvSpPr>
          <p:cNvPr id="137" name="Shape 137"/>
          <p:cNvSpPr/>
          <p:nvPr/>
        </p:nvSpPr>
        <p:spPr>
          <a:xfrm>
            <a:off x="669727" y="4612652"/>
            <a:ext cx="8040068" cy="174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marL="312528" indent="-312528">
              <a:spcBef>
                <a:spcPts val="2953"/>
              </a:spcBef>
              <a:buSzPct val="75000"/>
              <a:buChar char="•"/>
              <a:defRPr sz="1800"/>
            </a:pPr>
            <a:r>
              <a:rPr sz="2812" b="1" dirty="0">
                <a:latin typeface="+mj-lt"/>
              </a:rPr>
              <a:t>DI</a:t>
            </a:r>
            <a:r>
              <a:rPr sz="2812" dirty="0">
                <a:latin typeface="+mj-lt"/>
              </a:rPr>
              <a:t> is also used to point memory location.</a:t>
            </a:r>
          </a:p>
          <a:p>
            <a:pPr marL="312528" indent="-312528">
              <a:spcBef>
                <a:spcPts val="2953"/>
              </a:spcBef>
              <a:buSzPct val="75000"/>
              <a:buChar char="•"/>
              <a:defRPr sz="1800"/>
            </a:pPr>
            <a:r>
              <a:rPr sz="2812" b="1" dirty="0">
                <a:latin typeface="+mj-lt"/>
              </a:rPr>
              <a:t>String operations</a:t>
            </a:r>
            <a:r>
              <a:rPr sz="2812" dirty="0">
                <a:latin typeface="+mj-lt"/>
              </a:rPr>
              <a:t> use </a:t>
            </a:r>
            <a:r>
              <a:rPr sz="2812" b="1" dirty="0">
                <a:latin typeface="+mj-lt"/>
              </a:rPr>
              <a:t>DI</a:t>
            </a:r>
            <a:r>
              <a:rPr sz="2812" dirty="0">
                <a:latin typeface="+mj-lt"/>
              </a:rPr>
              <a:t> to access memory locations addressed by ES.</a:t>
            </a:r>
          </a:p>
        </p:txBody>
      </p:sp>
    </p:spTree>
    <p:extLst>
      <p:ext uri="{BB962C8B-B14F-4D97-AF65-F5344CB8AC3E}">
        <p14:creationId xmlns:p14="http://schemas.microsoft.com/office/powerpoint/2010/main" val="408946820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title"/>
          </p:nvPr>
        </p:nvSpPr>
        <p:spPr>
          <a:xfrm>
            <a:off x="696440" y="696743"/>
            <a:ext cx="8174750" cy="82819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31622">
              <a:defRPr sz="728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5100" dirty="0">
                <a:solidFill>
                  <a:schemeClr val="accent3">
                    <a:lumMod val="75000"/>
                  </a:schemeClr>
                </a:solidFill>
              </a:rPr>
              <a:t>Memory Recall</a:t>
            </a:r>
            <a:endParaRPr sz="5119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0" name="Shape 140"/>
          <p:cNvSpPr>
            <a:spLocks noGrp="1"/>
          </p:cNvSpPr>
          <p:nvPr>
            <p:ph type="body" idx="1"/>
          </p:nvPr>
        </p:nvSpPr>
        <p:spPr>
          <a:xfrm>
            <a:off x="1104784" y="2258227"/>
            <a:ext cx="7358063" cy="2509242"/>
          </a:xfrm>
          <a:prstGeom prst="rect">
            <a:avLst/>
          </a:prstGeom>
        </p:spPr>
        <p:txBody>
          <a:bodyPr/>
          <a:lstStyle/>
          <a:p>
            <a:pPr marL="401822" indent="-401822" algn="l"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672" b="1" dirty="0">
                <a:solidFill>
                  <a:schemeClr val="tx1"/>
                </a:solidFill>
              </a:rPr>
              <a:t>What is the primary difference between Index registers and segment registers?</a:t>
            </a:r>
          </a:p>
        </p:txBody>
      </p:sp>
    </p:spTree>
    <p:extLst>
      <p:ext uri="{BB962C8B-B14F-4D97-AF65-F5344CB8AC3E}">
        <p14:creationId xmlns:p14="http://schemas.microsoft.com/office/powerpoint/2010/main" val="103193511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/>
          </p:cNvSpPr>
          <p:nvPr>
            <p:ph type="title"/>
          </p:nvPr>
        </p:nvSpPr>
        <p:spPr>
          <a:xfrm>
            <a:off x="495263" y="174129"/>
            <a:ext cx="8267226" cy="8390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Instruction Pointer (IP)</a:t>
            </a:r>
          </a:p>
        </p:txBody>
      </p:sp>
      <p:sp>
        <p:nvSpPr>
          <p:cNvPr id="143" name="Shape 143"/>
          <p:cNvSpPr>
            <a:spLocks noGrp="1"/>
          </p:cNvSpPr>
          <p:nvPr>
            <p:ph type="body" idx="1"/>
          </p:nvPr>
        </p:nvSpPr>
        <p:spPr>
          <a:xfrm>
            <a:off x="595824" y="1162164"/>
            <a:ext cx="8380977" cy="52876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memory registers are for </a:t>
            </a:r>
            <a:r>
              <a:rPr sz="2531" b="1" dirty="0">
                <a:solidFill>
                  <a:schemeClr val="tx1"/>
                </a:solidFill>
              </a:rPr>
              <a:t>data access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8086  uses </a:t>
            </a:r>
            <a:r>
              <a:rPr sz="2531" b="1" dirty="0">
                <a:solidFill>
                  <a:schemeClr val="tx1"/>
                </a:solidFill>
              </a:rPr>
              <a:t>CS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IP</a:t>
            </a:r>
            <a:r>
              <a:rPr sz="2531" dirty="0">
                <a:solidFill>
                  <a:schemeClr val="tx1"/>
                </a:solidFill>
              </a:rPr>
              <a:t> registers to </a:t>
            </a:r>
            <a:r>
              <a:rPr sz="2531" b="1" dirty="0">
                <a:solidFill>
                  <a:schemeClr val="tx1"/>
                </a:solidFill>
              </a:rPr>
              <a:t>access instructions.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b="1" dirty="0">
                <a:solidFill>
                  <a:schemeClr val="tx1"/>
                </a:solidFill>
              </a:rPr>
              <a:t>CS</a:t>
            </a:r>
            <a:r>
              <a:rPr sz="2531" dirty="0">
                <a:solidFill>
                  <a:schemeClr val="tx1"/>
                </a:solidFill>
              </a:rPr>
              <a:t> contains the </a:t>
            </a:r>
            <a:r>
              <a:rPr sz="2531" b="1" dirty="0">
                <a:solidFill>
                  <a:schemeClr val="tx1"/>
                </a:solidFill>
              </a:rPr>
              <a:t>segment number</a:t>
            </a:r>
            <a:r>
              <a:rPr sz="2531" dirty="0">
                <a:solidFill>
                  <a:schemeClr val="tx1"/>
                </a:solidFill>
              </a:rPr>
              <a:t> and IP contains the </a:t>
            </a:r>
            <a:r>
              <a:rPr sz="2531" b="1" dirty="0">
                <a:solidFill>
                  <a:schemeClr val="tx1"/>
                </a:solidFill>
              </a:rPr>
              <a:t>offset</a:t>
            </a:r>
            <a:r>
              <a:rPr sz="2531" dirty="0">
                <a:solidFill>
                  <a:schemeClr val="tx1"/>
                </a:solidFill>
              </a:rPr>
              <a:t> of next register.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IP is updated each time after an instruction execution to </a:t>
            </a:r>
            <a:r>
              <a:rPr sz="2531" b="1" dirty="0">
                <a:solidFill>
                  <a:schemeClr val="tx1"/>
                </a:solidFill>
              </a:rPr>
              <a:t>point to the next pointer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indent="-401822" algn="l" defTabSz="381998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Unlike other registers, IP can </a:t>
            </a:r>
            <a:r>
              <a:rPr sz="2531" b="1" dirty="0">
                <a:solidFill>
                  <a:schemeClr val="tx1"/>
                </a:solidFill>
              </a:rPr>
              <a:t>not be directly </a:t>
            </a:r>
            <a:r>
              <a:rPr sz="2531" dirty="0">
                <a:solidFill>
                  <a:schemeClr val="tx1"/>
                </a:solidFill>
              </a:rPr>
              <a:t>manipulated by an instruction. (i.e. an instruction may </a:t>
            </a:r>
            <a:r>
              <a:rPr sz="2531" b="1" dirty="0">
                <a:solidFill>
                  <a:schemeClr val="tx1"/>
                </a:solidFill>
              </a:rPr>
              <a:t>not</a:t>
            </a:r>
            <a:r>
              <a:rPr sz="2531" dirty="0">
                <a:solidFill>
                  <a:schemeClr val="tx1"/>
                </a:solidFill>
              </a:rPr>
              <a:t> contain IP as its </a:t>
            </a:r>
            <a:r>
              <a:rPr sz="2531" b="1" dirty="0">
                <a:solidFill>
                  <a:schemeClr val="tx1"/>
                </a:solidFill>
              </a:rPr>
              <a:t>operand</a:t>
            </a:r>
            <a:r>
              <a:rPr sz="2531" dirty="0">
                <a:solidFill>
                  <a:schemeClr val="tx1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9028772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417207" y="214313"/>
            <a:ext cx="8180048" cy="80897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FLAGS</a:t>
            </a: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 Register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631520" y="1227369"/>
            <a:ext cx="8309586" cy="52322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FLAGS</a:t>
            </a:r>
            <a:r>
              <a:rPr sz="1969" dirty="0">
                <a:solidFill>
                  <a:schemeClr val="tx1"/>
                </a:solidFill>
              </a:rPr>
              <a:t> register is used to </a:t>
            </a:r>
            <a:r>
              <a:rPr sz="1969" b="1" dirty="0">
                <a:solidFill>
                  <a:schemeClr val="tx1"/>
                </a:solidFill>
              </a:rPr>
              <a:t>indicate the status</a:t>
            </a:r>
            <a:r>
              <a:rPr sz="1969" dirty="0">
                <a:solidFill>
                  <a:schemeClr val="tx1"/>
                </a:solidFill>
              </a:rPr>
              <a:t> of the microprocessor.</a:t>
            </a:r>
          </a:p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Indication is done by setting of </a:t>
            </a:r>
            <a:r>
              <a:rPr sz="1969" b="1" dirty="0">
                <a:solidFill>
                  <a:schemeClr val="tx1"/>
                </a:solidFill>
              </a:rPr>
              <a:t>individual bits</a:t>
            </a:r>
            <a:r>
              <a:rPr sz="1969" dirty="0">
                <a:solidFill>
                  <a:schemeClr val="tx1"/>
                </a:solidFill>
              </a:rPr>
              <a:t> [flags].</a:t>
            </a:r>
          </a:p>
          <a:p>
            <a:pPr marL="321457" indent="-321457" algn="l" defTabSz="312170">
              <a:spcBef>
                <a:spcPts val="2180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There are two kinds of FLAGS</a:t>
            </a:r>
          </a:p>
          <a:p>
            <a:pPr marL="558979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Status flags: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Reflect the result </a:t>
            </a:r>
            <a:r>
              <a:rPr sz="1969" dirty="0">
                <a:solidFill>
                  <a:schemeClr val="tx1"/>
                </a:solidFill>
              </a:rPr>
              <a:t>of an instruction executed by the processor. [More: chapter-5]</a:t>
            </a:r>
          </a:p>
          <a:p>
            <a:pPr marL="712564" lvl="3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e.g. If AX-BX results to </a:t>
            </a:r>
            <a:r>
              <a:rPr sz="1969" b="1" dirty="0">
                <a:solidFill>
                  <a:schemeClr val="tx1"/>
                </a:solidFill>
              </a:rPr>
              <a:t>0</a:t>
            </a:r>
            <a:r>
              <a:rPr sz="1969" dirty="0">
                <a:solidFill>
                  <a:schemeClr val="tx1"/>
                </a:solidFill>
              </a:rPr>
              <a:t>, the</a:t>
            </a:r>
            <a:r>
              <a:rPr sz="1969" b="1" dirty="0">
                <a:solidFill>
                  <a:schemeClr val="tx1"/>
                </a:solidFill>
              </a:rPr>
              <a:t> ZF</a:t>
            </a:r>
            <a:r>
              <a:rPr sz="1969" dirty="0">
                <a:solidFill>
                  <a:schemeClr val="tx1"/>
                </a:solidFill>
              </a:rPr>
              <a:t> (Zero Flag) is set to </a:t>
            </a:r>
            <a:r>
              <a:rPr sz="1969" b="1" dirty="0">
                <a:solidFill>
                  <a:schemeClr val="tx1"/>
                </a:solidFill>
              </a:rPr>
              <a:t>1 </a:t>
            </a:r>
            <a:r>
              <a:rPr sz="1969" dirty="0">
                <a:solidFill>
                  <a:schemeClr val="tx1"/>
                </a:solidFill>
              </a:rPr>
              <a:t>(True)</a:t>
            </a:r>
            <a:r>
              <a:rPr sz="1969" b="1" dirty="0">
                <a:solidFill>
                  <a:schemeClr val="tx1"/>
                </a:solidFill>
              </a:rPr>
              <a:t>.</a:t>
            </a:r>
            <a:endParaRPr sz="1969" dirty="0">
              <a:solidFill>
                <a:schemeClr val="tx1"/>
              </a:solidFill>
            </a:endParaRPr>
          </a:p>
          <a:p>
            <a:pPr marL="558979" lvl="1" indent="-321457" algn="l" defTabSz="312170">
              <a:spcBef>
                <a:spcPts val="218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Control flags:</a:t>
            </a:r>
            <a:r>
              <a:rPr sz="1969" dirty="0">
                <a:solidFill>
                  <a:schemeClr val="tx1"/>
                </a:solidFill>
              </a:rPr>
              <a:t> </a:t>
            </a:r>
            <a:r>
              <a:rPr sz="1969" b="1" dirty="0">
                <a:solidFill>
                  <a:schemeClr val="tx1"/>
                </a:solidFill>
              </a:rPr>
              <a:t>Enable</a:t>
            </a:r>
            <a:r>
              <a:rPr sz="1969" dirty="0">
                <a:solidFill>
                  <a:schemeClr val="tx1"/>
                </a:solidFill>
              </a:rPr>
              <a:t> or </a:t>
            </a:r>
            <a:r>
              <a:rPr sz="1969" b="1" dirty="0">
                <a:solidFill>
                  <a:schemeClr val="tx1"/>
                </a:solidFill>
              </a:rPr>
              <a:t>Disable</a:t>
            </a:r>
            <a:r>
              <a:rPr sz="1969" dirty="0">
                <a:solidFill>
                  <a:schemeClr val="tx1"/>
                </a:solidFill>
              </a:rPr>
              <a:t> certain operations of the processor </a:t>
            </a:r>
          </a:p>
          <a:p>
            <a:pPr marL="475042" lvl="2" algn="l" defTabSz="312170">
              <a:spcBef>
                <a:spcPts val="2180"/>
              </a:spcBef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e.g. if </a:t>
            </a:r>
            <a:r>
              <a:rPr sz="1969" b="1" dirty="0" err="1">
                <a:solidFill>
                  <a:schemeClr val="tx1"/>
                </a:solidFill>
              </a:rPr>
              <a:t>IF</a:t>
            </a:r>
            <a:r>
              <a:rPr sz="1969" b="1" dirty="0">
                <a:solidFill>
                  <a:schemeClr val="tx1"/>
                </a:solidFill>
              </a:rPr>
              <a:t> (Interrupt Flag) </a:t>
            </a:r>
            <a:r>
              <a:rPr sz="1969" dirty="0">
                <a:solidFill>
                  <a:schemeClr val="tx1"/>
                </a:solidFill>
              </a:rPr>
              <a:t>is cleared (set to 0), inputs from keyboard are ignored by the processor. [More: chapter-11]</a:t>
            </a:r>
          </a:p>
        </p:txBody>
      </p:sp>
    </p:spTree>
    <p:extLst>
      <p:ext uri="{BB962C8B-B14F-4D97-AF65-F5344CB8AC3E}">
        <p14:creationId xmlns:p14="http://schemas.microsoft.com/office/powerpoint/2010/main" val="412474754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/>
          </p:cNvSpPr>
          <p:nvPr>
            <p:ph type="title"/>
          </p:nvPr>
        </p:nvSpPr>
        <p:spPr>
          <a:xfrm>
            <a:off x="321469" y="458574"/>
            <a:ext cx="8474273" cy="862944"/>
          </a:xfrm>
          <a:prstGeom prst="rect">
            <a:avLst/>
          </a:prstGeom>
        </p:spPr>
        <p:txBody>
          <a:bodyPr>
            <a:normAutofit/>
          </a:bodyPr>
          <a:lstStyle>
            <a:lvl1pPr defTabSz="496570">
              <a:defRPr sz="68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The Organization of the PC</a:t>
            </a:r>
          </a:p>
        </p:txBody>
      </p:sp>
      <p:sp>
        <p:nvSpPr>
          <p:cNvPr id="149" name="Shape 149"/>
          <p:cNvSpPr>
            <a:spLocks noGrp="1"/>
          </p:cNvSpPr>
          <p:nvPr>
            <p:ph type="body" idx="1"/>
          </p:nvPr>
        </p:nvSpPr>
        <p:spPr>
          <a:xfrm>
            <a:off x="798450" y="1808943"/>
            <a:ext cx="7749758" cy="40512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A computer is made up of both Hardware and Software.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S</a:t>
            </a:r>
            <a:r>
              <a:rPr sz="2531" dirty="0">
                <a:solidFill>
                  <a:schemeClr val="tx1"/>
                </a:solidFill>
              </a:rPr>
              <a:t>oftware controls the hardware operations.</a:t>
            </a:r>
          </a:p>
          <a:p>
            <a:pPr marL="401822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Thus, we need to understand the coordination of hardware and software</a:t>
            </a:r>
            <a:r>
              <a:rPr lang="en-US" sz="2531" dirty="0">
                <a:solidFill>
                  <a:schemeClr val="tx1"/>
                </a:solidFill>
              </a:rPr>
              <a:t> </a:t>
            </a:r>
            <a:r>
              <a:rPr sz="2531" dirty="0">
                <a:solidFill>
                  <a:schemeClr val="tx1"/>
                </a:solidFill>
              </a:rPr>
              <a:t>to completely understand the operation of computer.</a:t>
            </a:r>
          </a:p>
        </p:txBody>
      </p:sp>
    </p:spTree>
    <p:extLst>
      <p:ext uri="{BB962C8B-B14F-4D97-AF65-F5344CB8AC3E}">
        <p14:creationId xmlns:p14="http://schemas.microsoft.com/office/powerpoint/2010/main" val="118210416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xfrm>
            <a:off x="669727" y="150500"/>
            <a:ext cx="7804547" cy="77874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25779">
              <a:defRPr sz="72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The Operating System</a:t>
            </a:r>
          </a:p>
        </p:txBody>
      </p:sp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431601" y="1098352"/>
            <a:ext cx="8468554" cy="55486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The purpose of </a:t>
            </a:r>
            <a:r>
              <a:rPr sz="1969" b="1" dirty="0">
                <a:solidFill>
                  <a:schemeClr val="tx1"/>
                </a:solidFill>
              </a:rPr>
              <a:t>OS</a:t>
            </a:r>
            <a:r>
              <a:rPr sz="1969" dirty="0">
                <a:solidFill>
                  <a:schemeClr val="tx1"/>
                </a:solidFill>
              </a:rPr>
              <a:t> is to </a:t>
            </a:r>
            <a:r>
              <a:rPr sz="1969" b="1" dirty="0">
                <a:solidFill>
                  <a:schemeClr val="tx1"/>
                </a:solidFill>
              </a:rPr>
              <a:t>coordinate</a:t>
            </a:r>
            <a:r>
              <a:rPr sz="1969" dirty="0">
                <a:solidFill>
                  <a:schemeClr val="tx1"/>
                </a:solidFill>
              </a:rPr>
              <a:t> the operations between all the devices of the computer system.</a:t>
            </a:r>
          </a:p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b="1" dirty="0">
                <a:solidFill>
                  <a:schemeClr val="tx1"/>
                </a:solidFill>
              </a:rPr>
              <a:t>The OS functions: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Reading and </a:t>
            </a:r>
            <a:r>
              <a:rPr lang="en-US" sz="1969" dirty="0">
                <a:solidFill>
                  <a:schemeClr val="tx1"/>
                </a:solidFill>
              </a:rPr>
              <a:t>e</a:t>
            </a:r>
            <a:r>
              <a:rPr sz="1969" dirty="0">
                <a:solidFill>
                  <a:schemeClr val="tx1"/>
                </a:solidFill>
              </a:rPr>
              <a:t>xecuting the command typed by users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Performing I/O operations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Generating error messages</a:t>
            </a:r>
          </a:p>
          <a:p>
            <a:pPr marL="580856" lvl="1" indent="-321457" algn="l" defTabSz="340923">
              <a:spcBef>
                <a:spcPts val="239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Managing memory and other resources</a:t>
            </a:r>
          </a:p>
          <a:p>
            <a:pPr marL="580856" lvl="1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969" dirty="0">
                <a:solidFill>
                  <a:schemeClr val="tx1"/>
                </a:solidFill>
              </a:rPr>
              <a:t>DOS was designed for 8086 processors</a:t>
            </a:r>
          </a:p>
          <a:p>
            <a:pPr marL="259397" indent="-259397" algn="l" defTabSz="340923">
              <a:spcBef>
                <a:spcPts val="2391"/>
              </a:spcBef>
              <a:defRPr sz="180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tx1"/>
                </a:solidFill>
              </a:rPr>
              <a:t>           </a:t>
            </a:r>
            <a:r>
              <a:rPr sz="1969" dirty="0">
                <a:solidFill>
                  <a:schemeClr val="tx1"/>
                </a:solidFill>
              </a:rPr>
              <a:t>DOS could manage only 1 MB memory and doesn’t support </a:t>
            </a:r>
            <a:r>
              <a:rPr lang="en-US" sz="1969" dirty="0">
                <a:solidFill>
                  <a:schemeClr val="tx1"/>
                </a:solidFill>
              </a:rPr>
              <a:t>   </a:t>
            </a:r>
            <a:r>
              <a:rPr sz="1969" dirty="0">
                <a:solidFill>
                  <a:schemeClr val="tx1"/>
                </a:solidFill>
              </a:rPr>
              <a:t>multitasking.</a:t>
            </a:r>
          </a:p>
        </p:txBody>
      </p:sp>
    </p:spTree>
    <p:extLst>
      <p:ext uri="{BB962C8B-B14F-4D97-AF65-F5344CB8AC3E}">
        <p14:creationId xmlns:p14="http://schemas.microsoft.com/office/powerpoint/2010/main" val="292853903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D2E38-20DE-CBC9-6361-D83719E2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>
            <a:extLst>
              <a:ext uri="{FF2B5EF4-FFF2-40B4-BE49-F238E27FC236}">
                <a16:creationId xmlns:a16="http://schemas.microsoft.com/office/drawing/2014/main" id="{CD00B810-6D95-74F8-895D-F11B6F5A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27" y="150500"/>
            <a:ext cx="7804547" cy="77874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25779">
              <a:defRPr sz="7200"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The Operating System</a:t>
            </a:r>
          </a:p>
        </p:txBody>
      </p:sp>
      <p:sp>
        <p:nvSpPr>
          <p:cNvPr id="152" name="Shape 152">
            <a:extLst>
              <a:ext uri="{FF2B5EF4-FFF2-40B4-BE49-F238E27FC236}">
                <a16:creationId xmlns:a16="http://schemas.microsoft.com/office/drawing/2014/main" id="{E0404938-8DA4-4E6A-A0DA-BA1939774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601" y="1098352"/>
            <a:ext cx="8468554" cy="554863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0923">
              <a:spcBef>
                <a:spcPts val="2391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sz="1969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7471D-9460-E370-C92D-0094598D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64" y="1098352"/>
            <a:ext cx="6601161" cy="1699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E489B0-266F-5130-91A5-2D4961B46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27" y="2971004"/>
            <a:ext cx="7962644" cy="28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5142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xfrm>
            <a:off x="751910" y="602981"/>
            <a:ext cx="7597197" cy="78460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DOS</a:t>
            </a: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OS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1158060" y="1893397"/>
            <a:ext cx="7401046" cy="339736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DOS performs reading and writing information on disk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Programs and other information stored on a disk are organized into </a:t>
            </a:r>
            <a:r>
              <a:rPr sz="2531" b="1" dirty="0">
                <a:solidFill>
                  <a:schemeClr val="tx1"/>
                </a:solidFill>
              </a:rPr>
              <a:t>files.</a:t>
            </a:r>
            <a:endParaRPr sz="2531" dirty="0">
              <a:solidFill>
                <a:schemeClr val="tx1"/>
              </a:solidFill>
            </a:endParaRP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Each file has a </a:t>
            </a:r>
            <a:r>
              <a:rPr sz="2531" b="1" dirty="0">
                <a:solidFill>
                  <a:schemeClr val="tx1"/>
                </a:solidFill>
              </a:rPr>
              <a:t>file name</a:t>
            </a:r>
            <a:r>
              <a:rPr sz="2531" dirty="0">
                <a:solidFill>
                  <a:schemeClr val="tx1"/>
                </a:solidFill>
              </a:rPr>
              <a:t> [within 1 t0 8 characters.] followed by an </a:t>
            </a:r>
            <a:r>
              <a:rPr sz="2531" b="1" dirty="0">
                <a:solidFill>
                  <a:schemeClr val="tx1"/>
                </a:solidFill>
              </a:rPr>
              <a:t>extension</a:t>
            </a:r>
            <a:r>
              <a:rPr sz="2531" dirty="0">
                <a:solidFill>
                  <a:schemeClr val="tx1"/>
                </a:solidFill>
              </a:rPr>
              <a:t>.</a:t>
            </a:r>
          </a:p>
          <a:p>
            <a:pPr marL="401822" lvl="1" indent="-401822" algn="l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extension is used for file type.</a:t>
            </a:r>
          </a:p>
        </p:txBody>
      </p:sp>
    </p:spTree>
    <p:extLst>
      <p:ext uri="{BB962C8B-B14F-4D97-AF65-F5344CB8AC3E}">
        <p14:creationId xmlns:p14="http://schemas.microsoft.com/office/powerpoint/2010/main" val="421120268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xfrm>
            <a:off x="669727" y="276449"/>
            <a:ext cx="7804547" cy="8699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1"/>
            </a:lvl1pPr>
          </a:lstStyle>
          <a:p>
            <a:pPr lvl="0" algn="ctr">
              <a:defRPr sz="1800" b="0">
                <a:solidFill>
                  <a:srgbClr val="000000"/>
                </a:solidFill>
              </a:defRPr>
            </a:pPr>
            <a:r>
              <a:rPr sz="4640" dirty="0">
                <a:solidFill>
                  <a:schemeClr val="accent3">
                    <a:lumMod val="75000"/>
                  </a:schemeClr>
                </a:solidFill>
              </a:rPr>
              <a:t>BIOS</a:t>
            </a:r>
          </a:p>
        </p:txBody>
      </p:sp>
      <p:sp>
        <p:nvSpPr>
          <p:cNvPr id="158" name="Shape 158"/>
          <p:cNvSpPr>
            <a:spLocks noGrp="1"/>
          </p:cNvSpPr>
          <p:nvPr>
            <p:ph type="body" idx="1"/>
          </p:nvPr>
        </p:nvSpPr>
        <p:spPr>
          <a:xfrm>
            <a:off x="910828" y="1358617"/>
            <a:ext cx="7804547" cy="50339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BIOS routine perform I/O operation for the PC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However, DOS routine operates over the entire PC family.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BIOS routines are </a:t>
            </a:r>
            <a:r>
              <a:rPr sz="2531" b="1" dirty="0">
                <a:solidFill>
                  <a:schemeClr val="tx1"/>
                </a:solidFill>
              </a:rPr>
              <a:t>machine specific.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BIOS also performs </a:t>
            </a:r>
            <a:r>
              <a:rPr sz="2531" b="1" dirty="0">
                <a:solidFill>
                  <a:schemeClr val="tx1"/>
                </a:solidFill>
              </a:rPr>
              <a:t>circuit checking</a:t>
            </a:r>
            <a:r>
              <a:rPr sz="2531" dirty="0">
                <a:solidFill>
                  <a:schemeClr val="tx1"/>
                </a:solidFill>
              </a:rPr>
              <a:t> and </a:t>
            </a:r>
            <a:r>
              <a:rPr sz="2531" b="1" dirty="0">
                <a:solidFill>
                  <a:schemeClr val="tx1"/>
                </a:solidFill>
              </a:rPr>
              <a:t>loading</a:t>
            </a:r>
            <a:r>
              <a:rPr sz="2531" dirty="0">
                <a:solidFill>
                  <a:schemeClr val="tx1"/>
                </a:solidFill>
              </a:rPr>
              <a:t> of DOS routine.</a:t>
            </a:r>
          </a:p>
          <a:p>
            <a:pPr marL="401822" indent="-401822" algn="l" defTabSz="398428">
              <a:spcBef>
                <a:spcPts val="281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The address of the BIOS routines is called </a:t>
            </a:r>
            <a:r>
              <a:rPr sz="2531" b="1" dirty="0">
                <a:solidFill>
                  <a:schemeClr val="tx1"/>
                </a:solidFill>
              </a:rPr>
              <a:t>interrupt vectors.</a:t>
            </a:r>
          </a:p>
        </p:txBody>
      </p:sp>
    </p:spTree>
    <p:extLst>
      <p:ext uri="{BB962C8B-B14F-4D97-AF65-F5344CB8AC3E}">
        <p14:creationId xmlns:p14="http://schemas.microsoft.com/office/powerpoint/2010/main" val="4127679171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title"/>
          </p:nvPr>
        </p:nvSpPr>
        <p:spPr>
          <a:xfrm>
            <a:off x="418356" y="257656"/>
            <a:ext cx="8387096" cy="72128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 defTabSz="303956">
              <a:defRPr sz="1800">
                <a:solidFill>
                  <a:srgbClr val="000000"/>
                </a:solidFill>
              </a:defRPr>
            </a:pPr>
            <a:r>
              <a:rPr sz="4162" b="1" dirty="0">
                <a:solidFill>
                  <a:schemeClr val="accent3">
                    <a:lumMod val="75000"/>
                  </a:schemeClr>
                </a:solidFill>
              </a:rPr>
              <a:t>Memory Organization of the PC</a:t>
            </a:r>
          </a:p>
        </p:txBody>
      </p:sp>
      <p:sp>
        <p:nvSpPr>
          <p:cNvPr id="161" name="Shape 161"/>
          <p:cNvSpPr>
            <a:spLocks noGrp="1"/>
          </p:cNvSpPr>
          <p:nvPr>
            <p:ph type="body" idx="1"/>
          </p:nvPr>
        </p:nvSpPr>
        <p:spPr>
          <a:xfrm>
            <a:off x="418357" y="1279180"/>
            <a:ext cx="8525806" cy="542143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8086/8088 processor is capable of addressing 1MB or memory.</a:t>
            </a:r>
          </a:p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But, all the memory </a:t>
            </a:r>
            <a:r>
              <a:rPr sz="2531" b="1" dirty="0">
                <a:solidFill>
                  <a:schemeClr val="tx1"/>
                </a:solidFill>
              </a:rPr>
              <a:t>can not be used</a:t>
            </a:r>
            <a:r>
              <a:rPr sz="2531" dirty="0">
                <a:solidFill>
                  <a:schemeClr val="tx1"/>
                </a:solidFill>
              </a:rPr>
              <a:t> by application program as some memory locations have special meaning to the processor. </a:t>
            </a:r>
          </a:p>
          <a:p>
            <a:pPr marL="593803" lvl="2" algn="l" defTabSz="390213">
              <a:spcBef>
                <a:spcPts val="2742"/>
              </a:spcBef>
              <a:defRPr sz="1800">
                <a:solidFill>
                  <a:srgbClr val="000000"/>
                </a:solidFill>
              </a:defRPr>
            </a:pPr>
            <a:r>
              <a:rPr lang="en-US" sz="2531" dirty="0">
                <a:solidFill>
                  <a:schemeClr val="tx1"/>
                </a:solidFill>
              </a:rPr>
              <a:t>	</a:t>
            </a:r>
            <a:r>
              <a:rPr sz="2531" dirty="0">
                <a:solidFill>
                  <a:schemeClr val="tx1"/>
                </a:solidFill>
              </a:rPr>
              <a:t>e.g. First KB (00000h to 003FFh) is used for interrupt vectors.</a:t>
            </a:r>
          </a:p>
          <a:p>
            <a:pPr marL="401822" indent="-401822" algn="l" defTabSz="390213">
              <a:spcBef>
                <a:spcPts val="2742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2531" dirty="0">
                <a:solidFill>
                  <a:schemeClr val="tx1"/>
                </a:solidFill>
              </a:rPr>
              <a:t>Other memory locations are reserved by IBM for special purposes (i.e. BIOS routines and Video display memory).</a:t>
            </a:r>
          </a:p>
        </p:txBody>
      </p:sp>
    </p:spTree>
    <p:extLst>
      <p:ext uri="{BB962C8B-B14F-4D97-AF65-F5344CB8AC3E}">
        <p14:creationId xmlns:p14="http://schemas.microsoft.com/office/powerpoint/2010/main" val="115858568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title"/>
          </p:nvPr>
        </p:nvSpPr>
        <p:spPr>
          <a:xfrm>
            <a:off x="267007" y="149155"/>
            <a:ext cx="8609987" cy="7893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defTabSz="254666">
              <a:defRPr sz="1800">
                <a:solidFill>
                  <a:srgbClr val="000000"/>
                </a:solidFill>
              </a:defRPr>
            </a:pPr>
            <a:r>
              <a:rPr sz="3375" b="1" dirty="0">
                <a:solidFill>
                  <a:schemeClr val="accent3">
                    <a:lumMod val="75000"/>
                  </a:schemeClr>
                </a:solidFill>
              </a:rPr>
              <a:t>Memory </a:t>
            </a:r>
            <a:r>
              <a:rPr lang="en-US" sz="3375" b="1" dirty="0">
                <a:solidFill>
                  <a:schemeClr val="accent3">
                    <a:lumMod val="75000"/>
                  </a:schemeClr>
                </a:solidFill>
              </a:rPr>
              <a:t>P</a:t>
            </a:r>
            <a:r>
              <a:rPr sz="3375" b="1" dirty="0">
                <a:solidFill>
                  <a:schemeClr val="accent3">
                    <a:lumMod val="75000"/>
                  </a:schemeClr>
                </a:solidFill>
              </a:rPr>
              <a:t>artition into </a:t>
            </a:r>
            <a:r>
              <a:rPr lang="en-US" sz="3375" b="1" dirty="0">
                <a:solidFill>
                  <a:schemeClr val="accent3">
                    <a:lumMod val="75000"/>
                  </a:schemeClr>
                </a:solidFill>
              </a:rPr>
              <a:t>D</a:t>
            </a:r>
            <a:r>
              <a:rPr sz="3375" b="1" dirty="0">
                <a:solidFill>
                  <a:schemeClr val="accent3">
                    <a:lumMod val="75000"/>
                  </a:schemeClr>
                </a:solidFill>
              </a:rPr>
              <a:t>isjoint </a:t>
            </a:r>
            <a:r>
              <a:rPr lang="en-US" sz="3375" b="1" dirty="0">
                <a:solidFill>
                  <a:schemeClr val="accent3">
                    <a:lumMod val="75000"/>
                  </a:schemeClr>
                </a:solidFill>
              </a:rPr>
              <a:t>S</a:t>
            </a:r>
            <a:r>
              <a:rPr sz="3375" b="1" dirty="0">
                <a:solidFill>
                  <a:schemeClr val="accent3">
                    <a:lumMod val="75000"/>
                  </a:schemeClr>
                </a:solidFill>
              </a:rPr>
              <a:t>egments</a:t>
            </a:r>
          </a:p>
        </p:txBody>
      </p:sp>
      <p:sp>
        <p:nvSpPr>
          <p:cNvPr id="164" name="Shape 164"/>
          <p:cNvSpPr>
            <a:spLocks noGrp="1"/>
          </p:cNvSpPr>
          <p:nvPr>
            <p:ph type="body" idx="1"/>
          </p:nvPr>
        </p:nvSpPr>
        <p:spPr>
          <a:xfrm>
            <a:off x="267006" y="1123189"/>
            <a:ext cx="8848112" cy="5415945"/>
          </a:xfrm>
          <a:prstGeom prst="rect">
            <a:avLst/>
          </a:prstGeom>
        </p:spPr>
        <p:txBody>
          <a:bodyPr/>
          <a:lstStyle/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Partitioning the memory into disjoint segments. [Ref: Figure: 3.4]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00000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 0000:0000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0FFFF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10000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=1000:0000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1FFFF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20000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=2000:0000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2FFFF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endParaRPr sz="1737" b="1" dirty="0">
              <a:solidFill>
                <a:schemeClr val="tx1"/>
              </a:solidFill>
            </a:endParaRPr>
          </a:p>
          <a:p>
            <a:pPr algn="l" defTabSz="266987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37" b="1" dirty="0">
                <a:solidFill>
                  <a:schemeClr val="tx1"/>
                </a:solidFill>
              </a:rPr>
              <a:t>	</a:t>
            </a:r>
            <a:r>
              <a:rPr sz="1737" b="1" dirty="0">
                <a:solidFill>
                  <a:schemeClr val="tx1"/>
                </a:solidFill>
              </a:rPr>
              <a:t>… … …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start </a:t>
            </a:r>
            <a:r>
              <a:rPr sz="1737" b="1" dirty="0">
                <a:solidFill>
                  <a:schemeClr val="tx1"/>
                </a:solidFill>
              </a:rPr>
              <a:t>Segment F0000</a:t>
            </a:r>
            <a:r>
              <a:rPr lang="en-US" sz="1737" b="1" dirty="0">
                <a:solidFill>
                  <a:schemeClr val="tx1"/>
                </a:solidFill>
              </a:rPr>
              <a:t>h</a:t>
            </a:r>
            <a:r>
              <a:rPr sz="1737" dirty="0">
                <a:solidFill>
                  <a:schemeClr val="tx1"/>
                </a:solidFill>
              </a:rPr>
              <a:t> ends at </a:t>
            </a:r>
            <a:r>
              <a:rPr sz="1737" b="1" dirty="0">
                <a:solidFill>
                  <a:schemeClr val="tx1"/>
                </a:solidFill>
              </a:rPr>
              <a:t>Segment </a:t>
            </a:r>
            <a:r>
              <a:rPr sz="1737" b="1" dirty="0" err="1">
                <a:solidFill>
                  <a:schemeClr val="tx1"/>
                </a:solidFill>
              </a:rPr>
              <a:t>FFFFF</a:t>
            </a:r>
            <a:r>
              <a:rPr lang="en-US" sz="1737" b="1" dirty="0" err="1">
                <a:solidFill>
                  <a:schemeClr val="tx1"/>
                </a:solidFill>
              </a:rPr>
              <a:t>h</a:t>
            </a:r>
            <a:r>
              <a:rPr sz="1737" b="1" dirty="0">
                <a:solidFill>
                  <a:schemeClr val="tx1"/>
                </a:solidFill>
              </a:rPr>
              <a:t> </a:t>
            </a:r>
            <a:r>
              <a:rPr sz="1737" dirty="0">
                <a:solidFill>
                  <a:schemeClr val="tx1"/>
                </a:solidFill>
              </a:rPr>
              <a:t>[Total 16 disjoint segments]</a:t>
            </a:r>
            <a:endParaRPr sz="1737" b="1" dirty="0">
              <a:solidFill>
                <a:schemeClr val="tx1"/>
              </a:solidFill>
            </a:endParaRP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Only first 10 disjoint memory segments are used by DOS for </a:t>
            </a:r>
            <a:r>
              <a:rPr sz="1737" b="1" dirty="0">
                <a:solidFill>
                  <a:schemeClr val="tx1"/>
                </a:solidFill>
              </a:rPr>
              <a:t>loading</a:t>
            </a:r>
            <a:r>
              <a:rPr sz="1737" dirty="0">
                <a:solidFill>
                  <a:schemeClr val="tx1"/>
                </a:solidFill>
              </a:rPr>
              <a:t> and </a:t>
            </a:r>
            <a:r>
              <a:rPr sz="1737" b="1" dirty="0">
                <a:solidFill>
                  <a:schemeClr val="tx1"/>
                </a:solidFill>
              </a:rPr>
              <a:t>running </a:t>
            </a:r>
            <a:r>
              <a:rPr sz="1737" dirty="0">
                <a:solidFill>
                  <a:schemeClr val="tx1"/>
                </a:solidFill>
              </a:rPr>
              <a:t>application programs.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ten segments </a:t>
            </a:r>
            <a:r>
              <a:rPr sz="1737" b="1" dirty="0">
                <a:solidFill>
                  <a:schemeClr val="tx1"/>
                </a:solidFill>
              </a:rPr>
              <a:t>0000h to 9000h </a:t>
            </a:r>
            <a:r>
              <a:rPr sz="1737" dirty="0">
                <a:solidFill>
                  <a:schemeClr val="tx1"/>
                </a:solidFill>
              </a:rPr>
              <a:t>gives 640KB.</a:t>
            </a:r>
          </a:p>
          <a:p>
            <a:pPr marL="241093" indent="-241093" algn="l" defTabSz="266987">
              <a:spcBef>
                <a:spcPts val="189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737" dirty="0">
                <a:solidFill>
                  <a:schemeClr val="tx1"/>
                </a:solidFill>
              </a:rPr>
              <a:t>The memory sizes of 8086/8088 based PCs are given in terms of these memory segments.</a:t>
            </a:r>
          </a:p>
          <a:p>
            <a:pPr algn="l" defTabSz="266987">
              <a:spcBef>
                <a:spcPts val="1898"/>
              </a:spcBef>
              <a:defRPr sz="1800">
                <a:solidFill>
                  <a:srgbClr val="000000"/>
                </a:solidFill>
              </a:defRPr>
            </a:pPr>
            <a:r>
              <a:rPr lang="en-US" sz="1737" dirty="0">
                <a:solidFill>
                  <a:schemeClr val="tx1"/>
                </a:solidFill>
              </a:rPr>
              <a:t>	</a:t>
            </a:r>
            <a:r>
              <a:rPr sz="1737" dirty="0">
                <a:solidFill>
                  <a:schemeClr val="tx1"/>
                </a:solidFill>
              </a:rPr>
              <a:t>e.g. a PC with 512-KB memory has </a:t>
            </a:r>
            <a:r>
              <a:rPr sz="1737" b="1" dirty="0">
                <a:solidFill>
                  <a:schemeClr val="tx1"/>
                </a:solidFill>
              </a:rPr>
              <a:t>eight</a:t>
            </a:r>
            <a:r>
              <a:rPr sz="1737" dirty="0">
                <a:solidFill>
                  <a:schemeClr val="tx1"/>
                </a:solidFill>
              </a:rPr>
              <a:t> of these memory segments.</a:t>
            </a:r>
          </a:p>
        </p:txBody>
      </p:sp>
    </p:spTree>
    <p:extLst>
      <p:ext uri="{BB962C8B-B14F-4D97-AF65-F5344CB8AC3E}">
        <p14:creationId xmlns:p14="http://schemas.microsoft.com/office/powerpoint/2010/main" val="217823265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title"/>
          </p:nvPr>
        </p:nvSpPr>
        <p:spPr>
          <a:xfrm>
            <a:off x="1204146" y="288328"/>
            <a:ext cx="8423571" cy="86902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40" b="1" dirty="0">
                <a:solidFill>
                  <a:schemeClr val="accent3">
                    <a:lumMod val="75000"/>
                  </a:schemeClr>
                </a:solidFill>
              </a:rPr>
              <a:t>Memory Map of the PC</a:t>
            </a:r>
          </a:p>
        </p:txBody>
      </p:sp>
      <p:graphicFrame>
        <p:nvGraphicFramePr>
          <p:cNvPr id="168" name="Table 168"/>
          <p:cNvGraphicFramePr/>
          <p:nvPr>
            <p:extLst>
              <p:ext uri="{D42A27DB-BD31-4B8C-83A1-F6EECF244321}">
                <p14:modId xmlns:p14="http://schemas.microsoft.com/office/powerpoint/2010/main" val="3613977854"/>
              </p:ext>
            </p:extLst>
          </p:nvPr>
        </p:nvGraphicFramePr>
        <p:xfrm>
          <a:off x="1625464" y="1575197"/>
          <a:ext cx="6579450" cy="4223285"/>
        </p:xfrm>
        <a:graphic>
          <a:graphicData uri="http://schemas.openxmlformats.org/drawingml/2006/table">
            <a:tbl>
              <a:tblPr bandRow="1"/>
              <a:tblGrid>
                <a:gridCol w="3445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72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 dirty="0"/>
                        <a:t>BIOS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 dirty="0"/>
                        <a:t>F0000h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8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 dirty="0" err="1"/>
                        <a:t>Researved</a:t>
                      </a:r>
                      <a:endParaRPr sz="1300" b="1" dirty="0"/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E0000h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93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Researved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 dirty="0"/>
                        <a:t>D0000h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80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Researved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C0000h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178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Video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B0000h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178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Video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A0000h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1246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Application Program Area
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i="0"/>
                      </a:pPr>
                      <a:endParaRPr sz="1300"/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306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DOS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i="0"/>
                      </a:pPr>
                      <a:endParaRPr sz="1300"/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61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BIOS and DOS data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/>
                        <a:t>00400h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0115"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 dirty="0"/>
                        <a:t>Interrupt Vectors</a:t>
                      </a:r>
                    </a:p>
                  </a:txBody>
                  <a:tcPr marL="44648" marR="44648" marT="44648" marB="44648" horzOverflow="overflow"/>
                </a:tc>
                <a:tc>
                  <a:txBody>
                    <a:bodyPr/>
                    <a:lstStyle/>
                    <a:p>
                      <a:pPr lvl="0" indent="228600" algn="ctr">
                        <a:defRPr sz="1800" b="0" i="0"/>
                      </a:pPr>
                      <a:r>
                        <a:rPr sz="1300" b="1" dirty="0"/>
                        <a:t>00000h</a:t>
                      </a:r>
                    </a:p>
                  </a:txBody>
                  <a:tcPr marL="44648" marR="44648" marT="44648" marB="44648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5074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/>
          </p:cNvSpPr>
          <p:nvPr>
            <p:ph type="title"/>
          </p:nvPr>
        </p:nvSpPr>
        <p:spPr>
          <a:xfrm>
            <a:off x="237171" y="184799"/>
            <a:ext cx="8354404" cy="57759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275203">
              <a:defRPr sz="1800">
                <a:solidFill>
                  <a:srgbClr val="000000"/>
                </a:solidFill>
              </a:defRPr>
            </a:pPr>
            <a:r>
              <a:rPr sz="3797" b="1" dirty="0">
                <a:solidFill>
                  <a:schemeClr val="accent3">
                    <a:lumMod val="75000"/>
                  </a:schemeClr>
                </a:solidFill>
              </a:rPr>
              <a:t>Start-up</a:t>
            </a:r>
            <a:r>
              <a:rPr sz="3797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797" dirty="0">
                <a:solidFill>
                  <a:schemeClr val="accent3">
                    <a:lumMod val="75000"/>
                  </a:schemeClr>
                </a:solidFill>
              </a:rPr>
              <a:t>O</a:t>
            </a:r>
            <a:r>
              <a:rPr sz="3797" dirty="0">
                <a:solidFill>
                  <a:schemeClr val="accent3">
                    <a:lumMod val="75000"/>
                  </a:schemeClr>
                </a:solidFill>
              </a:rPr>
              <a:t>peration</a:t>
            </a:r>
          </a:p>
        </p:txBody>
      </p:sp>
      <p:sp>
        <p:nvSpPr>
          <p:cNvPr id="171" name="Shape 171"/>
          <p:cNvSpPr>
            <a:spLocks noGrp="1"/>
          </p:cNvSpPr>
          <p:nvPr>
            <p:ph type="body" idx="1"/>
          </p:nvPr>
        </p:nvSpPr>
        <p:spPr>
          <a:xfrm>
            <a:off x="474342" y="856159"/>
            <a:ext cx="8669658" cy="5902148"/>
          </a:xfrm>
          <a:prstGeom prst="rect">
            <a:avLst/>
          </a:prstGeom>
        </p:spPr>
        <p:txBody>
          <a:bodyPr/>
          <a:lstStyle/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When PC is powered up, the 8086/8088 processor is put in reset state.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The register CS =</a:t>
            </a:r>
            <a:r>
              <a:rPr lang="en-US" sz="1657" b="1" dirty="0">
                <a:solidFill>
                  <a:schemeClr val="tx1"/>
                </a:solidFill>
              </a:rPr>
              <a:t> </a:t>
            </a:r>
            <a:r>
              <a:rPr sz="1657" b="1" dirty="0" err="1">
                <a:solidFill>
                  <a:schemeClr val="tx1"/>
                </a:solidFill>
              </a:rPr>
              <a:t>FFFF</a:t>
            </a:r>
            <a:r>
              <a:rPr lang="en-US" sz="1657" b="1" dirty="0" err="1">
                <a:solidFill>
                  <a:schemeClr val="tx1"/>
                </a:solidFill>
              </a:rPr>
              <a:t>h</a:t>
            </a:r>
            <a:r>
              <a:rPr sz="1657" b="1" dirty="0">
                <a:solidFill>
                  <a:schemeClr val="tx1"/>
                </a:solidFill>
              </a:rPr>
              <a:t> and IP = 0000h.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First instruction it executes, is located at FFFF0h.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This memory location is ROM.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ROM contains an instruction that transfers control to the starting point of the BIOS routines.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The BIOS routine first check for system and memory errors.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BIOS routines then initialize the interrupt vectors and BIOS data area.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Finally, BIOS loads the operating system from the system disk.</a:t>
            </a:r>
          </a:p>
          <a:p>
            <a:pPr marL="434860" lvl="1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step-1: BIOS loads boot program</a:t>
            </a:r>
          </a:p>
          <a:p>
            <a:pPr marL="434860" lvl="1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step-2: Boot program loads the actual operating systems routines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Boot program is named so because computer pulling itself by bootstraps.</a:t>
            </a:r>
          </a:p>
          <a:p>
            <a:pPr marL="241093" indent="-241093" algn="l" defTabSz="254666">
              <a:spcBef>
                <a:spcPts val="1828"/>
              </a:spcBef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sz="1657" b="1" dirty="0">
                <a:solidFill>
                  <a:schemeClr val="tx1"/>
                </a:solidFill>
              </a:rPr>
              <a:t>Once OS is loaded into memory, COMMAND.COM is given control</a:t>
            </a:r>
          </a:p>
        </p:txBody>
      </p:sp>
    </p:spTree>
    <p:extLst>
      <p:ext uri="{BB962C8B-B14F-4D97-AF65-F5344CB8AC3E}">
        <p14:creationId xmlns:p14="http://schemas.microsoft.com/office/powerpoint/2010/main" val="733023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https://www.britannica.com/technology/DNA-computing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3"/>
              </a:rPr>
              <a:t>https://www.includehelp.com/embedded-system/memory-organization-in-the-8086-microprocessor.aspx</a:t>
            </a:r>
            <a:endParaRPr lang="en-US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538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14333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231</TotalTime>
  <Words>2824</Words>
  <Application>Microsoft Office PowerPoint</Application>
  <PresentationFormat>On-screen Show (4:3)</PresentationFormat>
  <Paragraphs>311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Corbel</vt:lpstr>
      <vt:lpstr>Times New Roman</vt:lpstr>
      <vt:lpstr>Wingdings</vt:lpstr>
      <vt:lpstr>Spectrum</vt:lpstr>
      <vt:lpstr>Understanding 8086</vt:lpstr>
      <vt:lpstr>Lecture Outline</vt:lpstr>
      <vt:lpstr>Intel 8086 Family of Microprocessors</vt:lpstr>
      <vt:lpstr>The 8086 and 8088 Microprocessors</vt:lpstr>
      <vt:lpstr>80186 and 80188 Microprocessors</vt:lpstr>
      <vt:lpstr>The 80286 Microprocessor</vt:lpstr>
      <vt:lpstr>The 80286 Microprocessor(Cont.)</vt:lpstr>
      <vt:lpstr>The 80386 and 80386SX Microprocessor</vt:lpstr>
      <vt:lpstr>The 80486 and 80486SX Microprocessor</vt:lpstr>
      <vt:lpstr>Organization of the 8086/8088 Microprocessor</vt:lpstr>
      <vt:lpstr>Registers</vt:lpstr>
      <vt:lpstr>8086 Registers</vt:lpstr>
      <vt:lpstr>AX: Accumulator Register</vt:lpstr>
      <vt:lpstr>BX: Base Register</vt:lpstr>
      <vt:lpstr>Memory Recall</vt:lpstr>
      <vt:lpstr>Segment Registers: CS,DS,SS,ES</vt:lpstr>
      <vt:lpstr>   Using 20-bit Address in 16-bit Processor</vt:lpstr>
      <vt:lpstr>Segment : Offset address</vt:lpstr>
      <vt:lpstr>How to obtain 20-bit physical address in  a 16-bit microprocessor?</vt:lpstr>
      <vt:lpstr>Task </vt:lpstr>
      <vt:lpstr>Location of Segments</vt:lpstr>
      <vt:lpstr>Example-1</vt:lpstr>
      <vt:lpstr>Example-2</vt:lpstr>
      <vt:lpstr>Calculate the Segment Number </vt:lpstr>
      <vt:lpstr>Task</vt:lpstr>
      <vt:lpstr>Program Segments</vt:lpstr>
      <vt:lpstr>Program Segments(Cont'd…)</vt:lpstr>
      <vt:lpstr>Pointer and Index Registers</vt:lpstr>
      <vt:lpstr>Stack Pointer (SP)</vt:lpstr>
      <vt:lpstr>Source Index (SI)</vt:lpstr>
      <vt:lpstr>Memory Recall</vt:lpstr>
      <vt:lpstr>Instruction Pointer (IP)</vt:lpstr>
      <vt:lpstr>FLAGS Register</vt:lpstr>
      <vt:lpstr>The Organization of the PC</vt:lpstr>
      <vt:lpstr>The Operating System</vt:lpstr>
      <vt:lpstr>The Operating System</vt:lpstr>
      <vt:lpstr>DOS OS</vt:lpstr>
      <vt:lpstr>BIOS</vt:lpstr>
      <vt:lpstr>Memory Organization of the PC</vt:lpstr>
      <vt:lpstr>Memory Partition into Disjoint Segments</vt:lpstr>
      <vt:lpstr>Memory Map of the PC</vt:lpstr>
      <vt:lpstr>Start-up Operation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30</cp:revision>
  <dcterms:created xsi:type="dcterms:W3CDTF">2018-12-10T17:20:29Z</dcterms:created>
  <dcterms:modified xsi:type="dcterms:W3CDTF">2025-03-15T07:29:58Z</dcterms:modified>
</cp:coreProperties>
</file>