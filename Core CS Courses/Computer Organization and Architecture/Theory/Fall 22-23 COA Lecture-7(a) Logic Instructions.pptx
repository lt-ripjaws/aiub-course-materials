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88" r:id="rId14"/>
    <p:sldId id="289" r:id="rId15"/>
    <p:sldId id="290" r:id="rId16"/>
    <p:sldId id="272" r:id="rId17"/>
    <p:sldId id="273" r:id="rId18"/>
    <p:sldId id="274" r:id="rId19"/>
    <p:sldId id="291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2" r:id="rId31"/>
    <p:sldId id="293" r:id="rId32"/>
    <p:sldId id="285" r:id="rId33"/>
    <p:sldId id="286" r:id="rId34"/>
    <p:sldId id="287" r:id="rId35"/>
    <p:sldId id="258" r:id="rId36"/>
    <p:sldId id="25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9C848-662F-4EFF-8735-F8459B38DEA0}" v="10" dt="2025-05-13T09:41:48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Dr. Md Mehedi Hasan" userId="5eb39d97-deb0-466a-af4c-298e34812974" providerId="ADAL" clId="{423082C2-F8F3-4845-A1A3-4B3961032C97}"/>
    <pc:docChg chg="undo custSel modSld">
      <pc:chgData name="Dr. Md Mehedi Hasan" userId="5eb39d97-deb0-466a-af4c-298e34812974" providerId="ADAL" clId="{423082C2-F8F3-4845-A1A3-4B3961032C97}" dt="2022-03-29T09:19:07.066" v="105" actId="20577"/>
      <pc:docMkLst>
        <pc:docMk/>
      </pc:docMkLst>
      <pc:sldChg chg="modSp mod">
        <pc:chgData name="Dr. Md Mehedi Hasan" userId="5eb39d97-deb0-466a-af4c-298e34812974" providerId="ADAL" clId="{423082C2-F8F3-4845-A1A3-4B3961032C97}" dt="2022-03-27T07:47:02.583" v="103" actId="6549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423082C2-F8F3-4845-A1A3-4B3961032C97}" dt="2022-03-29T09:19:07.066" v="105" actId="20577"/>
        <pc:sldMkLst>
          <pc:docMk/>
          <pc:sldMk cId="3011809273" sldId="286"/>
        </pc:sldMkLst>
      </pc:sldChg>
      <pc:sldChg chg="modSp mod">
        <pc:chgData name="Dr. Md Mehedi Hasan" userId="5eb39d97-deb0-466a-af4c-298e34812974" providerId="ADAL" clId="{423082C2-F8F3-4845-A1A3-4B3961032C97}" dt="2022-03-29T09:18:47.434" v="104" actId="20577"/>
        <pc:sldMkLst>
          <pc:docMk/>
          <pc:sldMk cId="1560302096" sldId="287"/>
        </pc:sldMkLst>
      </pc:sldChg>
    </pc:docChg>
  </pc:docChgLst>
  <pc:docChgLst>
    <pc:chgData name="Dr. Md Mehedi Hasan" userId="5eb39d97-deb0-466a-af4c-298e34812974" providerId="ADAL" clId="{1D875347-39C0-42E0-B4AC-A9E3596BB8EF}"/>
    <pc:docChg chg="modSld">
      <pc:chgData name="Dr. Md Mehedi Hasan" userId="5eb39d97-deb0-466a-af4c-298e34812974" providerId="ADAL" clId="{1D875347-39C0-42E0-B4AC-A9E3596BB8EF}" dt="2022-07-18T04:02:01.186" v="11" actId="20577"/>
      <pc:docMkLst>
        <pc:docMk/>
      </pc:docMkLst>
      <pc:sldChg chg="modSp mod">
        <pc:chgData name="Dr. Md Mehedi Hasan" userId="5eb39d97-deb0-466a-af4c-298e34812974" providerId="ADAL" clId="{1D875347-39C0-42E0-B4AC-A9E3596BB8EF}" dt="2022-07-18T04:02:01.186" v="11" actId="20577"/>
        <pc:sldMkLst>
          <pc:docMk/>
          <pc:sldMk cId="700707328" sldId="256"/>
        </pc:sldMkLst>
      </pc:sldChg>
    </pc:docChg>
  </pc:docChgLst>
  <pc:docChgLst>
    <pc:chgData name="Syeda Asrafa Islam" userId="626c424c-c870-4792-90a3-28617519e11b" providerId="ADAL" clId="{6429C848-662F-4EFF-8735-F8459B38DEA0}"/>
    <pc:docChg chg="custSel addSld modSld sldOrd">
      <pc:chgData name="Syeda Asrafa Islam" userId="626c424c-c870-4792-90a3-28617519e11b" providerId="ADAL" clId="{6429C848-662F-4EFF-8735-F8459B38DEA0}" dt="2025-05-13T09:41:48.738" v="48" actId="1076"/>
      <pc:docMkLst>
        <pc:docMk/>
      </pc:docMkLst>
      <pc:sldChg chg="modSp mod">
        <pc:chgData name="Syeda Asrafa Islam" userId="626c424c-c870-4792-90a3-28617519e11b" providerId="ADAL" clId="{6429C848-662F-4EFF-8735-F8459B38DEA0}" dt="2025-05-13T09:26:58.222" v="46" actId="20577"/>
        <pc:sldMkLst>
          <pc:docMk/>
          <pc:sldMk cId="1898315496" sldId="271"/>
        </pc:sldMkLst>
        <pc:spChg chg="mod">
          <ac:chgData name="Syeda Asrafa Islam" userId="626c424c-c870-4792-90a3-28617519e11b" providerId="ADAL" clId="{6429C848-662F-4EFF-8735-F8459B38DEA0}" dt="2025-05-13T09:26:58.222" v="46" actId="20577"/>
          <ac:spMkLst>
            <pc:docMk/>
            <pc:sldMk cId="1898315496" sldId="271"/>
            <ac:spMk id="81" creationId="{00000000-0000-0000-0000-000000000000}"/>
          </ac:spMkLst>
        </pc:spChg>
      </pc:sldChg>
      <pc:sldChg chg="modSp mod">
        <pc:chgData name="Syeda Asrafa Islam" userId="626c424c-c870-4792-90a3-28617519e11b" providerId="ADAL" clId="{6429C848-662F-4EFF-8735-F8459B38DEA0}" dt="2025-05-13T07:15:39.440" v="38" actId="20577"/>
        <pc:sldMkLst>
          <pc:docMk/>
          <pc:sldMk cId="4104602524" sldId="272"/>
        </pc:sldMkLst>
        <pc:spChg chg="mod">
          <ac:chgData name="Syeda Asrafa Islam" userId="626c424c-c870-4792-90a3-28617519e11b" providerId="ADAL" clId="{6429C848-662F-4EFF-8735-F8459B38DEA0}" dt="2025-05-13T07:15:39.440" v="38" actId="20577"/>
          <ac:spMkLst>
            <pc:docMk/>
            <pc:sldMk cId="4104602524" sldId="272"/>
            <ac:spMk id="84" creationId="{00000000-0000-0000-0000-000000000000}"/>
          </ac:spMkLst>
        </pc:spChg>
      </pc:sldChg>
      <pc:sldChg chg="modSp mod">
        <pc:chgData name="Syeda Asrafa Islam" userId="626c424c-c870-4792-90a3-28617519e11b" providerId="ADAL" clId="{6429C848-662F-4EFF-8735-F8459B38DEA0}" dt="2025-05-13T07:22:03.485" v="39" actId="20577"/>
        <pc:sldMkLst>
          <pc:docMk/>
          <pc:sldMk cId="2431689109" sldId="284"/>
        </pc:sldMkLst>
        <pc:spChg chg="mod">
          <ac:chgData name="Syeda Asrafa Islam" userId="626c424c-c870-4792-90a3-28617519e11b" providerId="ADAL" clId="{6429C848-662F-4EFF-8735-F8459B38DEA0}" dt="2025-05-13T07:22:03.485" v="39" actId="20577"/>
          <ac:spMkLst>
            <pc:docMk/>
            <pc:sldMk cId="2431689109" sldId="284"/>
            <ac:spMk id="131" creationId="{00000000-0000-0000-0000-000000000000}"/>
          </ac:spMkLst>
        </pc:spChg>
      </pc:sldChg>
      <pc:sldChg chg="modSp mod">
        <pc:chgData name="Syeda Asrafa Islam" userId="626c424c-c870-4792-90a3-28617519e11b" providerId="ADAL" clId="{6429C848-662F-4EFF-8735-F8459B38DEA0}" dt="2025-05-13T07:27:25.665" v="45" actId="20577"/>
        <pc:sldMkLst>
          <pc:docMk/>
          <pc:sldMk cId="1518258610" sldId="285"/>
        </pc:sldMkLst>
        <pc:spChg chg="mod">
          <ac:chgData name="Syeda Asrafa Islam" userId="626c424c-c870-4792-90a3-28617519e11b" providerId="ADAL" clId="{6429C848-662F-4EFF-8735-F8459B38DEA0}" dt="2025-05-13T07:27:25.665" v="45" actId="20577"/>
          <ac:spMkLst>
            <pc:docMk/>
            <pc:sldMk cId="1518258610" sldId="285"/>
            <ac:spMk id="135" creationId="{00000000-0000-0000-0000-000000000000}"/>
          </ac:spMkLst>
        </pc:spChg>
      </pc:sldChg>
      <pc:sldChg chg="modSp add mod">
        <pc:chgData name="Syeda Asrafa Islam" userId="626c424c-c870-4792-90a3-28617519e11b" providerId="ADAL" clId="{6429C848-662F-4EFF-8735-F8459B38DEA0}" dt="2025-05-10T05:30:26.232" v="3"/>
        <pc:sldMkLst>
          <pc:docMk/>
          <pc:sldMk cId="152766117" sldId="288"/>
        </pc:sldMkLst>
        <pc:spChg chg="mod">
          <ac:chgData name="Syeda Asrafa Islam" userId="626c424c-c870-4792-90a3-28617519e11b" providerId="ADAL" clId="{6429C848-662F-4EFF-8735-F8459B38DEA0}" dt="2025-05-10T05:30:26.232" v="3"/>
          <ac:spMkLst>
            <pc:docMk/>
            <pc:sldMk cId="152766117" sldId="288"/>
            <ac:spMk id="81" creationId="{72CD5152-8FCC-825B-CD3D-DAEB759F47E4}"/>
          </ac:spMkLst>
        </pc:spChg>
      </pc:sldChg>
      <pc:sldChg chg="modSp add mod">
        <pc:chgData name="Syeda Asrafa Islam" userId="626c424c-c870-4792-90a3-28617519e11b" providerId="ADAL" clId="{6429C848-662F-4EFF-8735-F8459B38DEA0}" dt="2025-05-10T05:31:17.062" v="7"/>
        <pc:sldMkLst>
          <pc:docMk/>
          <pc:sldMk cId="919139944" sldId="289"/>
        </pc:sldMkLst>
        <pc:spChg chg="mod">
          <ac:chgData name="Syeda Asrafa Islam" userId="626c424c-c870-4792-90a3-28617519e11b" providerId="ADAL" clId="{6429C848-662F-4EFF-8735-F8459B38DEA0}" dt="2025-05-10T05:31:17.062" v="7"/>
          <ac:spMkLst>
            <pc:docMk/>
            <pc:sldMk cId="919139944" sldId="289"/>
            <ac:spMk id="81" creationId="{0F87BCC8-ADE9-563A-391A-BB34093D1934}"/>
          </ac:spMkLst>
        </pc:spChg>
      </pc:sldChg>
      <pc:sldChg chg="modSp add mod">
        <pc:chgData name="Syeda Asrafa Islam" userId="626c424c-c870-4792-90a3-28617519e11b" providerId="ADAL" clId="{6429C848-662F-4EFF-8735-F8459B38DEA0}" dt="2025-05-10T05:32:04.134" v="14"/>
        <pc:sldMkLst>
          <pc:docMk/>
          <pc:sldMk cId="3177033392" sldId="290"/>
        </pc:sldMkLst>
        <pc:spChg chg="mod">
          <ac:chgData name="Syeda Asrafa Islam" userId="626c424c-c870-4792-90a3-28617519e11b" providerId="ADAL" clId="{6429C848-662F-4EFF-8735-F8459B38DEA0}" dt="2025-05-10T05:32:04.134" v="14"/>
          <ac:spMkLst>
            <pc:docMk/>
            <pc:sldMk cId="3177033392" sldId="290"/>
            <ac:spMk id="81" creationId="{5AE60732-01DC-F57A-934C-E59CAD7C0CAD}"/>
          </ac:spMkLst>
        </pc:spChg>
      </pc:sldChg>
      <pc:sldChg chg="modSp add mod">
        <pc:chgData name="Syeda Asrafa Islam" userId="626c424c-c870-4792-90a3-28617519e11b" providerId="ADAL" clId="{6429C848-662F-4EFF-8735-F8459B38DEA0}" dt="2025-05-10T05:53:00.476" v="19"/>
        <pc:sldMkLst>
          <pc:docMk/>
          <pc:sldMk cId="2777951400" sldId="291"/>
        </pc:sldMkLst>
        <pc:spChg chg="mod">
          <ac:chgData name="Syeda Asrafa Islam" userId="626c424c-c870-4792-90a3-28617519e11b" providerId="ADAL" clId="{6429C848-662F-4EFF-8735-F8459B38DEA0}" dt="2025-05-10T05:53:00.476" v="19"/>
          <ac:spMkLst>
            <pc:docMk/>
            <pc:sldMk cId="2777951400" sldId="291"/>
            <ac:spMk id="91" creationId="{90C35F01-766D-B793-48A2-58838EEC6DD6}"/>
          </ac:spMkLst>
        </pc:spChg>
      </pc:sldChg>
      <pc:sldChg chg="addSp delSp modSp add mod ord">
        <pc:chgData name="Syeda Asrafa Islam" userId="626c424c-c870-4792-90a3-28617519e11b" providerId="ADAL" clId="{6429C848-662F-4EFF-8735-F8459B38DEA0}" dt="2025-05-13T09:39:13.948" v="47" actId="20577"/>
        <pc:sldMkLst>
          <pc:docMk/>
          <pc:sldMk cId="1135806087" sldId="292"/>
        </pc:sldMkLst>
        <pc:spChg chg="add mod">
          <ac:chgData name="Syeda Asrafa Islam" userId="626c424c-c870-4792-90a3-28617519e11b" providerId="ADAL" clId="{6429C848-662F-4EFF-8735-F8459B38DEA0}" dt="2025-05-13T09:39:13.948" v="47" actId="20577"/>
          <ac:spMkLst>
            <pc:docMk/>
            <pc:sldMk cId="1135806087" sldId="292"/>
            <ac:spMk id="2" creationId="{D05202B6-D5FA-4F57-42D2-8283A1B93CF5}"/>
          </ac:spMkLst>
        </pc:spChg>
      </pc:sldChg>
      <pc:sldChg chg="modSp add mod">
        <pc:chgData name="Syeda Asrafa Islam" userId="626c424c-c870-4792-90a3-28617519e11b" providerId="ADAL" clId="{6429C848-662F-4EFF-8735-F8459B38DEA0}" dt="2025-05-13T09:41:48.738" v="48" actId="1076"/>
        <pc:sldMkLst>
          <pc:docMk/>
          <pc:sldMk cId="2610543080" sldId="293"/>
        </pc:sldMkLst>
        <pc:spChg chg="mod">
          <ac:chgData name="Syeda Asrafa Islam" userId="626c424c-c870-4792-90a3-28617519e11b" providerId="ADAL" clId="{6429C848-662F-4EFF-8735-F8459B38DEA0}" dt="2025-05-13T09:41:48.738" v="48" actId="1076"/>
          <ac:spMkLst>
            <pc:docMk/>
            <pc:sldMk cId="2610543080" sldId="293"/>
            <ac:spMk id="2" creationId="{B5F2D41C-E3F5-7D16-A673-BB7E0EEFBB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/>
              <a:t>Logic Instructions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6804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9523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355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7815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</a:t>
                      </a:r>
                      <a:r>
                        <a:rPr lang="en-US" dirty="0"/>
                        <a:t>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mmhasan@aiub.edu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53640" y="1768078"/>
            <a:ext cx="7929563" cy="4232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Bits can be shifted </a:t>
            </a:r>
            <a:r>
              <a:rPr sz="2257" b="1" dirty="0">
                <a:solidFill>
                  <a:schemeClr val="tx1"/>
                </a:solidFill>
              </a:rPr>
              <a:t>left or right </a:t>
            </a:r>
            <a:r>
              <a:rPr sz="2257" dirty="0">
                <a:solidFill>
                  <a:schemeClr val="tx1"/>
                </a:solidFill>
              </a:rPr>
              <a:t>in a register or memory location.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W</a:t>
            </a:r>
            <a:r>
              <a:rPr sz="2257" dirty="0">
                <a:solidFill>
                  <a:schemeClr val="tx1"/>
                </a:solidFill>
              </a:rPr>
              <a:t>hen a bit is shifted out, it goes into CF.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Because a </a:t>
            </a:r>
            <a:r>
              <a:rPr sz="2257" b="1" dirty="0">
                <a:solidFill>
                  <a:schemeClr val="tx1"/>
                </a:solidFill>
              </a:rPr>
              <a:t>left shift doubles </a:t>
            </a:r>
            <a:r>
              <a:rPr sz="2257" dirty="0">
                <a:solidFill>
                  <a:schemeClr val="tx1"/>
                </a:solidFill>
              </a:rPr>
              <a:t>a number and a </a:t>
            </a:r>
            <a:r>
              <a:rPr sz="2257" b="1" dirty="0">
                <a:solidFill>
                  <a:schemeClr val="tx1"/>
                </a:solidFill>
              </a:rPr>
              <a:t>right shift halves </a:t>
            </a:r>
            <a:r>
              <a:rPr sz="2257" dirty="0">
                <a:solidFill>
                  <a:schemeClr val="tx1"/>
                </a:solidFill>
              </a:rPr>
              <a:t>it, these instructions give us a way to multiply and divide powers of 2.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Shifting is much </a:t>
            </a:r>
            <a:r>
              <a:rPr sz="2257" b="1" dirty="0">
                <a:solidFill>
                  <a:schemeClr val="tx1"/>
                </a:solidFill>
              </a:rPr>
              <a:t>faster</a:t>
            </a:r>
            <a:r>
              <a:rPr sz="2257" dirty="0">
                <a:solidFill>
                  <a:schemeClr val="tx1"/>
                </a:solidFill>
              </a:rPr>
              <a:t> than Multiplication and Division.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341194"/>
            <a:ext cx="7358063" cy="122829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SHIFT</a:t>
            </a:r>
            <a:b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</a:b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699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510945" y="2132036"/>
            <a:ext cx="8090297" cy="48756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individual bits </a:t>
            </a:r>
            <a:r>
              <a:rPr sz="2257" dirty="0">
                <a:solidFill>
                  <a:schemeClr val="tx1"/>
                </a:solidFill>
              </a:rPr>
              <a:t>is one the main advantages of assembly language.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Individual bits can be changed in computer by using logic operations.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binary values of </a:t>
            </a:r>
            <a:r>
              <a:rPr sz="2257" b="1" dirty="0">
                <a:solidFill>
                  <a:schemeClr val="tx1"/>
                </a:solidFill>
              </a:rPr>
              <a:t>0 = False and 1= True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When a logic operation is applied to 8- or 16-bit operands, the result is obtained by applying the logic operation at </a:t>
            </a:r>
            <a:r>
              <a:rPr sz="2257" b="1" dirty="0">
                <a:solidFill>
                  <a:schemeClr val="tx1"/>
                </a:solidFill>
              </a:rPr>
              <a:t>each bit position.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LOGIC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422" y="2135074"/>
            <a:ext cx="7072313" cy="45541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236914"/>
            <a:ext cx="7358063" cy="115683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Truth Table for AND, OR, XOR and NOT</a:t>
            </a:r>
          </a:p>
        </p:txBody>
      </p:sp>
    </p:spTree>
    <p:extLst>
      <p:ext uri="{BB962C8B-B14F-4D97-AF65-F5344CB8AC3E}">
        <p14:creationId xmlns:p14="http://schemas.microsoft.com/office/powerpoint/2010/main" val="15080280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892969" y="2263097"/>
            <a:ext cx="7358063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AND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AND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OR Operation:   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XOR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XOR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NOT Operation:  NOT</a:t>
            </a:r>
            <a:r>
              <a:rPr sz="2672" dirty="0">
                <a:solidFill>
                  <a:schemeClr val="tx1"/>
                </a:solidFill>
              </a:rPr>
              <a:t> 10101010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533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483379" y="2154699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AND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=10100000</a:t>
            </a:r>
          </a:p>
        </p:txBody>
      </p:sp>
      <p:sp>
        <p:nvSpPr>
          <p:cNvPr id="56" name="Shape 56"/>
          <p:cNvSpPr/>
          <p:nvPr/>
        </p:nvSpPr>
        <p:spPr>
          <a:xfrm>
            <a:off x="2063785" y="3612247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57" name="Shape 57"/>
          <p:cNvSpPr/>
          <p:nvPr/>
        </p:nvSpPr>
        <p:spPr>
          <a:xfrm>
            <a:off x="5271968" y="2149229"/>
            <a:ext cx="2268232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=11111010</a:t>
            </a:r>
          </a:p>
        </p:txBody>
      </p:sp>
      <p:sp>
        <p:nvSpPr>
          <p:cNvPr id="58" name="Shape 58"/>
          <p:cNvSpPr/>
          <p:nvPr/>
        </p:nvSpPr>
        <p:spPr>
          <a:xfrm>
            <a:off x="459310" y="4421425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XOR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 01011010</a:t>
            </a:r>
          </a:p>
        </p:txBody>
      </p:sp>
      <p:sp>
        <p:nvSpPr>
          <p:cNvPr id="59" name="Shape 59"/>
          <p:cNvSpPr/>
          <p:nvPr/>
        </p:nvSpPr>
        <p:spPr>
          <a:xfrm>
            <a:off x="4950499" y="4521432"/>
            <a:ext cx="2589701" cy="1279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NOT</a:t>
            </a:r>
            <a:r>
              <a:rPr sz="2672" dirty="0"/>
              <a:t>  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</a:t>
            </a:r>
            <a:r>
              <a:rPr lang="en-US" sz="2672" dirty="0"/>
              <a:t>0101</a:t>
            </a:r>
            <a:r>
              <a:rPr sz="2672" dirty="0"/>
              <a:t>0</a:t>
            </a:r>
            <a:r>
              <a:rPr lang="en-US" sz="2672" dirty="0"/>
              <a:t>1</a:t>
            </a:r>
            <a:r>
              <a:rPr sz="2672" dirty="0"/>
              <a:t>0</a:t>
            </a:r>
            <a:r>
              <a:rPr lang="en-US" sz="2672" dirty="0"/>
              <a:t>1</a:t>
            </a:r>
            <a:endParaRPr sz="2672" dirty="0"/>
          </a:p>
        </p:txBody>
      </p:sp>
      <p:sp>
        <p:nvSpPr>
          <p:cNvPr id="60" name="Shape 60"/>
          <p:cNvSpPr/>
          <p:nvPr/>
        </p:nvSpPr>
        <p:spPr>
          <a:xfrm>
            <a:off x="5955597" y="3601334"/>
            <a:ext cx="1520072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1" name="Shape 61"/>
          <p:cNvSpPr/>
          <p:nvPr/>
        </p:nvSpPr>
        <p:spPr>
          <a:xfrm>
            <a:off x="6020128" y="5143500"/>
            <a:ext cx="1520072" cy="0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2" name="Shape 62"/>
          <p:cNvSpPr/>
          <p:nvPr/>
        </p:nvSpPr>
        <p:spPr>
          <a:xfrm>
            <a:off x="1933056" y="5916104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3" name="Shape 63"/>
          <p:cNvSpPr/>
          <p:nvPr/>
        </p:nvSpPr>
        <p:spPr>
          <a:xfrm>
            <a:off x="748872" y="4527084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3</a:t>
            </a:r>
          </a:p>
        </p:txBody>
      </p:sp>
      <p:sp>
        <p:nvSpPr>
          <p:cNvPr id="64" name="Shape 64"/>
          <p:cNvSpPr/>
          <p:nvPr/>
        </p:nvSpPr>
        <p:spPr>
          <a:xfrm>
            <a:off x="748872" y="2138932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1</a:t>
            </a:r>
          </a:p>
        </p:txBody>
      </p:sp>
      <p:sp>
        <p:nvSpPr>
          <p:cNvPr id="65" name="Shape 65"/>
          <p:cNvSpPr/>
          <p:nvPr/>
        </p:nvSpPr>
        <p:spPr>
          <a:xfrm>
            <a:off x="5288379" y="2154699"/>
            <a:ext cx="26762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2</a:t>
            </a:r>
          </a:p>
        </p:txBody>
      </p:sp>
      <p:sp>
        <p:nvSpPr>
          <p:cNvPr id="66" name="Shape 66"/>
          <p:cNvSpPr/>
          <p:nvPr/>
        </p:nvSpPr>
        <p:spPr>
          <a:xfrm>
            <a:off x="4679156" y="4568608"/>
            <a:ext cx="24896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4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2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0057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381790" y="1788415"/>
            <a:ext cx="8583616" cy="518281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AND, OR, and XOR </a:t>
            </a:r>
            <a:r>
              <a:rPr sz="2257" dirty="0">
                <a:solidFill>
                  <a:schemeClr val="tx1"/>
                </a:solidFill>
              </a:rPr>
              <a:t>instructions perform the named logic operations. The formats are:</a:t>
            </a: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result of the operation is stored in the destination, which must be a register or memory location. 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source may be a constant, register, or memory location.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However, memory-to-memory operations are not allowed.</a:t>
            </a:r>
          </a:p>
        </p:txBody>
      </p:sp>
      <p:sp>
        <p:nvSpPr>
          <p:cNvPr id="2" name="Rectangle 1"/>
          <p:cNvSpPr/>
          <p:nvPr/>
        </p:nvSpPr>
        <p:spPr>
          <a:xfrm>
            <a:off x="1475596" y="2845360"/>
            <a:ext cx="5684840" cy="1775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AND </a:t>
            </a:r>
            <a:r>
              <a:rPr lang="fr-FR" sz="2257" b="1" dirty="0"/>
              <a:t>destination</a:t>
            </a:r>
            <a:r>
              <a:rPr lang="fr-FR" sz="2257" dirty="0"/>
              <a:t>, source 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XOR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300251"/>
            <a:ext cx="7358063" cy="126716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AND, OR, and XOR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415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496528" y="1791937"/>
            <a:ext cx="8147410" cy="51980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is undefined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OF= 0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One use of AND, OR, and XOR is to </a:t>
            </a:r>
            <a:r>
              <a:rPr sz="2257" b="1" dirty="0">
                <a:solidFill>
                  <a:schemeClr val="tx1"/>
                </a:solidFill>
              </a:rPr>
              <a:t>selectively modify the bits </a:t>
            </a:r>
            <a:r>
              <a:rPr sz="2257" dirty="0">
                <a:solidFill>
                  <a:schemeClr val="tx1"/>
                </a:solidFill>
              </a:rPr>
              <a:t>in the destination.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do this, we construct a </a:t>
            </a:r>
            <a:r>
              <a:rPr sz="2257" b="1" dirty="0">
                <a:solidFill>
                  <a:schemeClr val="tx1"/>
                </a:solidFill>
              </a:rPr>
              <a:t>source bit pattern </a:t>
            </a:r>
            <a:r>
              <a:rPr sz="2257" dirty="0">
                <a:solidFill>
                  <a:schemeClr val="tx1"/>
                </a:solidFill>
              </a:rPr>
              <a:t>known as </a:t>
            </a:r>
            <a:r>
              <a:rPr sz="2257" b="1" dirty="0">
                <a:solidFill>
                  <a:schemeClr val="tx1"/>
                </a:solidFill>
              </a:rPr>
              <a:t>mask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mask bits</a:t>
            </a:r>
            <a:r>
              <a:rPr sz="2257" dirty="0">
                <a:solidFill>
                  <a:schemeClr val="tx1"/>
                </a:solidFill>
              </a:rPr>
              <a:t> are chosen so that the </a:t>
            </a:r>
            <a:r>
              <a:rPr sz="2257" b="1" dirty="0">
                <a:solidFill>
                  <a:schemeClr val="tx1"/>
                </a:solidFill>
              </a:rPr>
              <a:t>corresponding destination</a:t>
            </a:r>
            <a:r>
              <a:rPr sz="2257" dirty="0">
                <a:solidFill>
                  <a:schemeClr val="tx1"/>
                </a:solidFill>
              </a:rPr>
              <a:t> </a:t>
            </a:r>
            <a:r>
              <a:rPr sz="2257" b="1" dirty="0">
                <a:solidFill>
                  <a:schemeClr val="tx1"/>
                </a:solidFill>
              </a:rPr>
              <a:t>bits</a:t>
            </a:r>
            <a:r>
              <a:rPr sz="2257" dirty="0">
                <a:solidFill>
                  <a:schemeClr val="tx1"/>
                </a:solidFill>
              </a:rPr>
              <a:t> are </a:t>
            </a:r>
            <a:r>
              <a:rPr sz="2257" b="1" dirty="0">
                <a:solidFill>
                  <a:schemeClr val="tx1"/>
                </a:solidFill>
              </a:rPr>
              <a:t>modified in the desired manner</a:t>
            </a:r>
            <a:r>
              <a:rPr sz="2257" dirty="0">
                <a:solidFill>
                  <a:schemeClr val="tx1"/>
                </a:solidFill>
              </a:rPr>
              <a:t> when the instruction is executed.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Effect on Flags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570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669727" y="1951137"/>
            <a:ext cx="7804547" cy="49068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choose the mask bits, we make use of the following properties of AND, OR, and XOR: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1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0 =0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1 = 1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1 = </a:t>
            </a:r>
            <a:r>
              <a:rPr lang="en-US" sz="2257" dirty="0">
                <a:solidFill>
                  <a:schemeClr val="tx1"/>
                </a:solidFill>
              </a:rPr>
              <a:t>~</a:t>
            </a:r>
            <a:r>
              <a:rPr sz="2257" dirty="0">
                <a:solidFill>
                  <a:schemeClr val="tx1"/>
                </a:solidFill>
              </a:rPr>
              <a:t>b (complement of b)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MASK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5006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553640" y="873456"/>
            <a:ext cx="8411766" cy="581394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AND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CLEAR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clears</a:t>
            </a:r>
            <a:r>
              <a:rPr sz="2109" dirty="0">
                <a:solidFill>
                  <a:schemeClr val="tx1"/>
                </a:solidFill>
              </a:rPr>
              <a:t> the corresponding destination bit.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 </a:t>
            </a:r>
            <a:r>
              <a:rPr sz="2109" dirty="0">
                <a:solidFill>
                  <a:schemeClr val="tx1"/>
                </a:solidFill>
              </a:rPr>
              <a:t>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SET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sets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·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XOR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complement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complements</a:t>
            </a:r>
            <a:r>
              <a:rPr sz="2109" dirty="0">
                <a:solidFill>
                  <a:schemeClr val="tx1"/>
                </a:solidFill>
              </a:rPr>
              <a:t> the corresponding destination bit;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preserves the corresponding destination bit.</a:t>
            </a:r>
          </a:p>
        </p:txBody>
      </p:sp>
    </p:spTree>
    <p:extLst>
      <p:ext uri="{BB962C8B-B14F-4D97-AF65-F5344CB8AC3E}">
        <p14:creationId xmlns:p14="http://schemas.microsoft.com/office/powerpoint/2010/main" val="7827959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r>
              <a:rPr sz="2257" dirty="0">
                <a:solidFill>
                  <a:schemeClr val="tx1"/>
                </a:solidFill>
              </a:rPr>
              <a:t> 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Clear the sign bit of AL while leaving the other bits unchanged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Use the AND instruction with 0111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1111b=7Fh as the mask.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Thus. AND AL,7Fh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31549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5059-148A-5445-B63B-913A65DC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>
            <a:extLst>
              <a:ext uri="{FF2B5EF4-FFF2-40B4-BE49-F238E27FC236}">
                <a16:creationId xmlns:a16="http://schemas.microsoft.com/office/drawing/2014/main" id="{72CD5152-8FCC-825B-CD3D-DAEB759F4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endParaRPr lang="en-US" sz="2257" b="1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 </a:t>
            </a:r>
            <a:r>
              <a:rPr lang="en-US" sz="2257" dirty="0">
                <a:solidFill>
                  <a:schemeClr val="tx1"/>
                </a:solidFill>
              </a:rPr>
              <a:t>AND </a:t>
            </a:r>
            <a:r>
              <a:rPr lang="en-US" sz="2257" dirty="0" err="1">
                <a:solidFill>
                  <a:schemeClr val="tx1"/>
                </a:solidFill>
              </a:rPr>
              <a:t>Instruction:The</a:t>
            </a:r>
            <a:r>
              <a:rPr lang="en-US" sz="2257" dirty="0">
                <a:solidFill>
                  <a:schemeClr val="tx1"/>
                </a:solidFill>
              </a:rPr>
              <a:t> AND instruction is a bitwise logical AND </a:t>
            </a:r>
            <a:r>
              <a:rPr lang="en-US" sz="2257" dirty="0" err="1">
                <a:solidFill>
                  <a:schemeClr val="tx1"/>
                </a:solidFill>
              </a:rPr>
              <a:t>operation.It</a:t>
            </a:r>
            <a:r>
              <a:rPr lang="en-US" sz="2257" dirty="0">
                <a:solidFill>
                  <a:schemeClr val="tx1"/>
                </a:solidFill>
              </a:rPr>
              <a:t> works by comparing each corresponding bit of the destination (AL) and the mask (7Fh) and following these rules:0 AND any value = 0 (clears the bit)1 AND any value = that value (preserves the bit)</a:t>
            </a: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D4ACB-A476-5F04-C0B0-C921B6677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B46CB2CE-2837-C29E-424E-93764084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661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90E6-916D-C2B1-8772-9CBDD5D67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>
            <a:extLst>
              <a:ext uri="{FF2B5EF4-FFF2-40B4-BE49-F238E27FC236}">
                <a16:creationId xmlns:a16="http://schemas.microsoft.com/office/drawing/2014/main" id="{0F87BCC8-ADE9-563A-391A-BB34093D1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endParaRPr lang="en-US" sz="2257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257" dirty="0">
                <a:solidFill>
                  <a:schemeClr val="tx1"/>
                </a:solidFill>
              </a:rPr>
              <a:t> </a:t>
            </a:r>
            <a:r>
              <a:rPr lang="en-US" b="1" dirty="0"/>
              <a:t>Step-by-Step Solution:</a:t>
            </a:r>
          </a:p>
          <a:p>
            <a:pPr>
              <a:buFont typeface="+mj-lt"/>
              <a:buAutoNum type="arabicPeriod"/>
            </a:pPr>
            <a:r>
              <a:rPr lang="en-US" dirty="0"/>
              <a:t>We want to clear only the </a:t>
            </a:r>
            <a:r>
              <a:rPr lang="en-US" b="1" dirty="0"/>
              <a:t>sign bit (b7)</a:t>
            </a:r>
            <a:r>
              <a:rPr lang="en-US" dirty="0"/>
              <a:t> of AL, so it must become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All other bits (b6 to b0) should remain unchanged.</a:t>
            </a:r>
          </a:p>
          <a:p>
            <a:pPr>
              <a:buFont typeface="+mj-lt"/>
              <a:buAutoNum type="arabicPeriod"/>
            </a:pPr>
            <a:r>
              <a:rPr lang="en-US" dirty="0"/>
              <a:t>We use a mask of </a:t>
            </a:r>
            <a:r>
              <a:rPr lang="en-US" b="1" dirty="0"/>
              <a:t>0111 1111b</a:t>
            </a:r>
            <a:r>
              <a:rPr lang="en-US" dirty="0"/>
              <a:t>, which is </a:t>
            </a:r>
            <a:r>
              <a:rPr lang="en-US" b="1" dirty="0"/>
              <a:t>7Fh</a:t>
            </a:r>
            <a:r>
              <a:rPr lang="en-US" dirty="0"/>
              <a:t> in hexadecimal.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mask has </a:t>
            </a:r>
            <a:r>
              <a:rPr lang="en-US" b="1" dirty="0"/>
              <a:t>0</a:t>
            </a:r>
            <a:r>
              <a:rPr lang="en-US" dirty="0"/>
              <a:t> at the </a:t>
            </a:r>
            <a:r>
              <a:rPr lang="en-US" b="1" dirty="0"/>
              <a:t>b7</a:t>
            </a:r>
            <a:r>
              <a:rPr lang="en-US" dirty="0"/>
              <a:t> position (the sign bit), which will clear it.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All other bits are </a:t>
            </a:r>
            <a:r>
              <a:rPr lang="en-US" b="1" dirty="0"/>
              <a:t>1</a:t>
            </a:r>
            <a:r>
              <a:rPr lang="en-US" dirty="0"/>
              <a:t>, so they will preserve the corresponding bits in AL.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instruction used is: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 AL, 7Fh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E7562-9BE8-BBBB-EA90-303222065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D338DF60-75B0-D779-0B8A-AE0A456F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1399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9200-2375-E61D-80FB-94845AA3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>
            <a:extLst>
              <a:ext uri="{FF2B5EF4-FFF2-40B4-BE49-F238E27FC236}">
                <a16:creationId xmlns:a16="http://schemas.microsoft.com/office/drawing/2014/main" id="{5AE60732-01DC-F57A-934C-E59CAD7C0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endParaRPr lang="en-US" sz="2257" b="1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 1001 1010 (AL value)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 0111 1111 (Mask 7Fh)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------------------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  0001 1010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Result: 0001 1010b (1Ah in hexadecimal).The sign bit (b7) is cleared, while all other bits remain unchanged.</a:t>
            </a: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309CA-4C0A-C11A-D039-C1BE61D72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C3B439A7-6F46-F0D3-627A-A16B9D09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03339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xfrm>
            <a:off x="584080" y="1800359"/>
            <a:ext cx="7975839" cy="40609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 </a:t>
            </a: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Set the most significant and least significant bits of AL while preserving the other bits.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OR instruction with 1000</a:t>
            </a:r>
            <a:r>
              <a:rPr lang="en-US" sz="2244" dirty="0">
                <a:solidFill>
                  <a:schemeClr val="tx1"/>
                </a:solidFill>
              </a:rPr>
              <a:t> </a:t>
            </a:r>
            <a:r>
              <a:rPr sz="2244" dirty="0">
                <a:solidFill>
                  <a:schemeClr val="tx1"/>
                </a:solidFill>
              </a:rPr>
              <a:t>0001b =81h as the mask.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OR AL,81h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Change the sign bit of DX.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XOR instruction with a mask of 8000h.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XOR DX,8000h</a:t>
            </a:r>
          </a:p>
        </p:txBody>
      </p:sp>
      <p:sp>
        <p:nvSpPr>
          <p:cNvPr id="85" name="Shape 85"/>
          <p:cNvSpPr/>
          <p:nvPr/>
        </p:nvSpPr>
        <p:spPr>
          <a:xfrm>
            <a:off x="500063" y="5790455"/>
            <a:ext cx="8370839" cy="1020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 algn="l">
              <a:buSzPct val="75000"/>
              <a:defRPr sz="1800">
                <a:solidFill>
                  <a:srgbClr val="000000"/>
                </a:solidFill>
              </a:defRPr>
            </a:pPr>
            <a:r>
              <a:rPr sz="2109" dirty="0"/>
              <a:t>*** To avoid typing errors, it's best to express the mask in </a:t>
            </a:r>
            <a:r>
              <a:rPr sz="2109" b="1" dirty="0"/>
              <a:t>hex rather than binary</a:t>
            </a:r>
            <a:r>
              <a:rPr sz="2109" dirty="0"/>
              <a:t>, especially if the mask would be 16 bits long.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Set or Complement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0252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541408" y="1897039"/>
            <a:ext cx="8263264" cy="479770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when program reads a character or digit from the keyboard, AL gets the ASCII code of the character.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For example, if the "5" key is </a:t>
            </a:r>
            <a:r>
              <a:rPr lang="en-US" sz="1844" dirty="0">
                <a:solidFill>
                  <a:schemeClr val="tx1"/>
                </a:solidFill>
              </a:rPr>
              <a:t>pressed, AL</a:t>
            </a:r>
            <a:r>
              <a:rPr sz="1844" dirty="0">
                <a:solidFill>
                  <a:schemeClr val="tx1"/>
                </a:solidFill>
              </a:rPr>
              <a:t> gets 35h instead of </a:t>
            </a:r>
            <a:r>
              <a:rPr sz="1844" i="1" dirty="0">
                <a:solidFill>
                  <a:schemeClr val="tx1"/>
                </a:solidFill>
              </a:rPr>
              <a:t>5. </a:t>
            </a:r>
            <a:r>
              <a:rPr sz="1844" dirty="0">
                <a:solidFill>
                  <a:schemeClr val="tx1"/>
                </a:solidFill>
              </a:rPr>
              <a:t>To get 5 in AL, we did 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SUB AL,30h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We can also do this by using an AND instructions to </a:t>
            </a:r>
            <a:r>
              <a:rPr sz="1844" b="1" dirty="0">
                <a:solidFill>
                  <a:schemeClr val="tx1"/>
                </a:solidFill>
              </a:rPr>
              <a:t>clear the high four bits of AL.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AND AL,0Fh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As the ASCII codes of "0" to "9" are 30h to 39h, this method will convert any ASCII digit to a decimal value.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Using AND emphasizes on modifying bit pattern of AL and makes program more readable.</a:t>
            </a:r>
          </a:p>
          <a:p>
            <a:pPr marL="215644" indent="-215644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rgbClr val="002060"/>
                </a:solidFill>
              </a:rPr>
              <a:t>Problem: convert a stored decimal digit to Its ASCII code?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191069"/>
            <a:ext cx="7358063" cy="114319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Converting an ASCII Digit to a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5475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body" idx="1"/>
          </p:nvPr>
        </p:nvSpPr>
        <p:spPr>
          <a:xfrm>
            <a:off x="969382" y="1846028"/>
            <a:ext cx="8174618" cy="337713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The ASCII codes range for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“z" is 61h to 7Ah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"Z" is 41h to 5Ah.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So, to convert a lowercase to UPPERCASE we use the following operation: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Sub DL,20h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However, if we compare binary codes of corresponding lower and uppercase letters,</a:t>
            </a:r>
          </a:p>
        </p:txBody>
      </p:sp>
      <p:pic>
        <p:nvPicPr>
          <p:cNvPr id="92" name="Screen Shot 2015-03-27 at 10.13.21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562" y="5305702"/>
            <a:ext cx="5144875" cy="155229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hape 93"/>
          <p:cNvSpPr/>
          <p:nvPr/>
        </p:nvSpPr>
        <p:spPr>
          <a:xfrm>
            <a:off x="3510185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94" name="Shape 94"/>
          <p:cNvSpPr/>
          <p:nvPr/>
        </p:nvSpPr>
        <p:spPr>
          <a:xfrm>
            <a:off x="6500813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pic>
        <p:nvPicPr>
          <p:cNvPr id="95" name="Picture 94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6555755" y="5644950"/>
            <a:ext cx="774605" cy="247665"/>
          </a:xfrm>
          <a:prstGeom prst="rect">
            <a:avLst/>
          </a:prstGeom>
        </p:spPr>
      </p:pic>
      <p:pic>
        <p:nvPicPr>
          <p:cNvPr id="97" name="Picture 96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3635297" y="5644951"/>
            <a:ext cx="774605" cy="2476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1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Converting a Lowercase Letter to Upper Case</a:t>
            </a:r>
            <a:endParaRPr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5771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7194-6E75-1F4A-E95F-2972CD73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>
            <a:extLst>
              <a:ext uri="{FF2B5EF4-FFF2-40B4-BE49-F238E27FC236}">
                <a16:creationId xmlns:a16="http://schemas.microsoft.com/office/drawing/2014/main" id="{90C35F01-766D-B793-48A2-58838EEC6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9382" y="1846028"/>
            <a:ext cx="8174618" cy="337713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The ASCII codes range for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“z" is 61h to 7Ah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"Z" is 41h to 5Ah. </a:t>
            </a:r>
            <a:endParaRPr lang="en-US" sz="195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000" b="1" dirty="0"/>
              <a:t>ASCII Code and Bit Representation: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ASCII codes for </a:t>
            </a:r>
            <a:r>
              <a:rPr lang="en-US" sz="2000" b="1" dirty="0"/>
              <a:t>lowercase letters ('a' to 'z')</a:t>
            </a:r>
            <a:r>
              <a:rPr lang="en-US" sz="2000" dirty="0"/>
              <a:t> range from </a:t>
            </a:r>
            <a:r>
              <a:rPr lang="en-US" sz="2000" b="1" dirty="0"/>
              <a:t>61h (0110 0001b)</a:t>
            </a:r>
            <a:r>
              <a:rPr lang="en-US" sz="2000" dirty="0"/>
              <a:t> to </a:t>
            </a:r>
            <a:r>
              <a:rPr lang="en-US" sz="2000" b="1" dirty="0"/>
              <a:t>7Ah (0111 1010b)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ASCII codes for </a:t>
            </a:r>
            <a:r>
              <a:rPr lang="en-US" sz="2000" b="1" dirty="0"/>
              <a:t>uppercase letters ('A' to 'Z')</a:t>
            </a:r>
            <a:r>
              <a:rPr lang="en-US" sz="2000" dirty="0"/>
              <a:t> range from </a:t>
            </a:r>
            <a:r>
              <a:rPr lang="en-US" sz="2000" b="1" dirty="0"/>
              <a:t>41h (0100 0001b)</a:t>
            </a:r>
            <a:r>
              <a:rPr lang="en-US" sz="2000" dirty="0"/>
              <a:t> to </a:t>
            </a:r>
            <a:r>
              <a:rPr lang="en-US" sz="2000" b="1" dirty="0"/>
              <a:t>5Ah (0101 1010b)</a:t>
            </a:r>
            <a:r>
              <a:rPr lang="en-US" sz="2000" dirty="0"/>
              <a:t>.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endParaRPr sz="1950" dirty="0">
              <a:solidFill>
                <a:schemeClr val="tx1"/>
              </a:solidFill>
            </a:endParaRPr>
          </a:p>
        </p:txBody>
      </p:sp>
      <p:pic>
        <p:nvPicPr>
          <p:cNvPr id="92" name="Screen Shot 2015-03-27 at 10.13.21 AM.png">
            <a:extLst>
              <a:ext uri="{FF2B5EF4-FFF2-40B4-BE49-F238E27FC236}">
                <a16:creationId xmlns:a16="http://schemas.microsoft.com/office/drawing/2014/main" id="{C486F148-6465-7A8B-ACDC-5F04702A1C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562" y="5305702"/>
            <a:ext cx="5144875" cy="155229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hape 93">
            <a:extLst>
              <a:ext uri="{FF2B5EF4-FFF2-40B4-BE49-F238E27FC236}">
                <a16:creationId xmlns:a16="http://schemas.microsoft.com/office/drawing/2014/main" id="{A1D2B0FC-5A3A-970B-7805-44FB6747F691}"/>
              </a:ext>
            </a:extLst>
          </p:cNvPr>
          <p:cNvSpPr/>
          <p:nvPr/>
        </p:nvSpPr>
        <p:spPr>
          <a:xfrm>
            <a:off x="3510185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94" name="Shape 94">
            <a:extLst>
              <a:ext uri="{FF2B5EF4-FFF2-40B4-BE49-F238E27FC236}">
                <a16:creationId xmlns:a16="http://schemas.microsoft.com/office/drawing/2014/main" id="{AC112C0E-4A70-1335-EEE5-1E025B28CADF}"/>
              </a:ext>
            </a:extLst>
          </p:cNvPr>
          <p:cNvSpPr/>
          <p:nvPr/>
        </p:nvSpPr>
        <p:spPr>
          <a:xfrm>
            <a:off x="6500813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BCCA86C-11E8-0AD3-DB49-7A33899647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6555755" y="5644950"/>
            <a:ext cx="774605" cy="24766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9393180-0752-226C-818A-EF17BC903E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3635297" y="5644951"/>
            <a:ext cx="774605" cy="247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00AF8A-1AD2-3484-C8E1-10CE4054C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11" name="Shape 38">
            <a:extLst>
              <a:ext uri="{FF2B5EF4-FFF2-40B4-BE49-F238E27FC236}">
                <a16:creationId xmlns:a16="http://schemas.microsoft.com/office/drawing/2014/main" id="{FDDF3D9B-03FE-845B-B457-56F3BB69C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Converting a Lowercase Letter to Upper Case</a:t>
            </a:r>
            <a:endParaRPr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95140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idx="1"/>
          </p:nvPr>
        </p:nvSpPr>
        <p:spPr>
          <a:xfrm>
            <a:off x="607219" y="2138594"/>
            <a:ext cx="8251031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convert lower to upper case we need to clear only bit 5. This can be done by using an AND instruction with the mask </a:t>
            </a:r>
            <a:r>
              <a:rPr sz="2257" b="1" dirty="0">
                <a:solidFill>
                  <a:schemeClr val="tx1"/>
                </a:solidFill>
              </a:rPr>
              <a:t>11011111 </a:t>
            </a:r>
            <a:r>
              <a:rPr sz="2257" dirty="0">
                <a:solidFill>
                  <a:schemeClr val="tx1"/>
                </a:solidFill>
              </a:rPr>
              <a:t>or</a:t>
            </a:r>
            <a:r>
              <a:rPr sz="2257" b="1" dirty="0">
                <a:solidFill>
                  <a:schemeClr val="tx1"/>
                </a:solidFill>
              </a:rPr>
              <a:t> </a:t>
            </a:r>
            <a:r>
              <a:rPr lang="en-US" sz="2257" b="1" dirty="0">
                <a:solidFill>
                  <a:schemeClr val="tx1"/>
                </a:solidFill>
              </a:rPr>
              <a:t>0</a:t>
            </a:r>
            <a:r>
              <a:rPr sz="2257" b="1" dirty="0">
                <a:solidFill>
                  <a:schemeClr val="tx1"/>
                </a:solidFill>
              </a:rPr>
              <a:t>DFh</a:t>
            </a:r>
            <a:r>
              <a:rPr sz="2257" dirty="0">
                <a:solidFill>
                  <a:schemeClr val="tx1"/>
                </a:solidFill>
              </a:rPr>
              <a:t>. So if the lowercase character to be converted is In DL, we execute</a:t>
            </a:r>
          </a:p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AND DL, 0DFh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Conversion using AND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776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687585" y="1893016"/>
            <a:ext cx="7804548" cy="172105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MOV AX,0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SUB AX</a:t>
            </a:r>
            <a:r>
              <a:rPr lang="en-US" sz="2257" dirty="0">
                <a:solidFill>
                  <a:schemeClr val="tx1"/>
                </a:solidFill>
                <a:latin typeface="+mj-lt"/>
              </a:rPr>
              <a:t>,</a:t>
            </a:r>
            <a:r>
              <a:rPr sz="2257" dirty="0">
                <a:solidFill>
                  <a:schemeClr val="tx1"/>
                </a:solidFill>
                <a:latin typeface="+mj-lt"/>
              </a:rPr>
              <a:t>AX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XOR AX,AX [1 XOR 1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0 and 0 XOR 0=0]</a:t>
            </a:r>
          </a:p>
        </p:txBody>
      </p:sp>
      <p:sp>
        <p:nvSpPr>
          <p:cNvPr id="105" name="Shape 105"/>
          <p:cNvSpPr/>
          <p:nvPr/>
        </p:nvSpPr>
        <p:spPr>
          <a:xfrm>
            <a:off x="669726" y="3584823"/>
            <a:ext cx="7804548" cy="104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defTabSz="496570">
              <a:defRPr sz="68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375" dirty="0">
                <a:solidFill>
                  <a:schemeClr val="accent3">
                    <a:lumMod val="75000"/>
                  </a:schemeClr>
                </a:solidFill>
              </a:rPr>
              <a:t>Testing a Register for Zero</a:t>
            </a:r>
          </a:p>
        </p:txBody>
      </p:sp>
      <p:sp>
        <p:nvSpPr>
          <p:cNvPr id="106" name="Shape 106"/>
          <p:cNvSpPr/>
          <p:nvPr/>
        </p:nvSpPr>
        <p:spPr>
          <a:xfrm>
            <a:off x="687585" y="4618579"/>
            <a:ext cx="7804548" cy="2008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To test the contents of a register for zero, or to check the sign of the contents, we may use:</a:t>
            </a:r>
          </a:p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CMP CX,0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Clearing a Register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422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674192" y="1768078"/>
            <a:ext cx="8242102" cy="39945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The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NOT </a:t>
            </a:r>
            <a:r>
              <a:rPr sz="2257" dirty="0">
                <a:solidFill>
                  <a:schemeClr val="tx1"/>
                </a:solidFill>
                <a:latin typeface="+mj-lt"/>
              </a:rPr>
              <a:t>instruction performs the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one's complement</a:t>
            </a:r>
            <a:r>
              <a:rPr sz="2257" dirty="0">
                <a:solidFill>
                  <a:schemeClr val="tx1"/>
                </a:solidFill>
                <a:latin typeface="+mj-lt"/>
              </a:rPr>
              <a:t> operation on the destination. The format is: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destination </a:t>
            </a:r>
            <a:r>
              <a:rPr sz="2257" dirty="0">
                <a:solidFill>
                  <a:schemeClr val="tx1"/>
                </a:solidFill>
                <a:latin typeface="+mj-lt"/>
              </a:rPr>
              <a:t>(**No effect on status flags)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Example: Complement the bits in AX:</a:t>
            </a:r>
          </a:p>
          <a:p>
            <a:pPr marL="401822" lvl="3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Not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29326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/>
          </p:cNvSpPr>
          <p:nvPr>
            <p:ph type="body" idx="1"/>
          </p:nvPr>
        </p:nvSpPr>
        <p:spPr>
          <a:xfrm>
            <a:off x="607219" y="1788416"/>
            <a:ext cx="8295680" cy="50117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TEST </a:t>
            </a:r>
            <a:r>
              <a:rPr sz="2257" dirty="0">
                <a:solidFill>
                  <a:schemeClr val="tx1"/>
                </a:solidFill>
              </a:rPr>
              <a:t>Instruction performs an AND operation of the destination with the source but </a:t>
            </a:r>
            <a:r>
              <a:rPr sz="2257" b="1" dirty="0">
                <a:solidFill>
                  <a:schemeClr val="tx1"/>
                </a:solidFill>
              </a:rPr>
              <a:t>does not change </a:t>
            </a:r>
            <a:r>
              <a:rPr sz="2257" dirty="0">
                <a:solidFill>
                  <a:schemeClr val="tx1"/>
                </a:solidFill>
              </a:rPr>
              <a:t>the destination contents.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purpose of the test instruction is to </a:t>
            </a:r>
            <a:r>
              <a:rPr sz="2257" b="1" dirty="0">
                <a:solidFill>
                  <a:schemeClr val="tx1"/>
                </a:solidFill>
              </a:rPr>
              <a:t>set the status flags</a:t>
            </a:r>
            <a:r>
              <a:rPr sz="2257" dirty="0">
                <a:solidFill>
                  <a:schemeClr val="tx1"/>
                </a:solidFill>
              </a:rPr>
              <a:t>. The format is:</a:t>
            </a:r>
          </a:p>
          <a:p>
            <a:pPr marL="846504" lvl="2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destination, Source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Effects of flags on test operation: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 =0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= Undefined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TEST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19200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body" idx="1"/>
          </p:nvPr>
        </p:nvSpPr>
        <p:spPr>
          <a:xfrm>
            <a:off x="661872" y="1746013"/>
            <a:ext cx="8340236" cy="49004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instruction can be used to examine individual bits in operand.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mask should contain </a:t>
            </a:r>
            <a:r>
              <a:rPr sz="2257" b="1" dirty="0">
                <a:solidFill>
                  <a:schemeClr val="tx1"/>
                </a:solidFill>
              </a:rPr>
              <a:t>1's</a:t>
            </a:r>
            <a:r>
              <a:rPr sz="2257" dirty="0">
                <a:solidFill>
                  <a:schemeClr val="tx1"/>
                </a:solidFill>
              </a:rPr>
              <a:t> in the bit positions to be tested and </a:t>
            </a:r>
            <a:r>
              <a:rPr sz="2257" b="1" dirty="0">
                <a:solidFill>
                  <a:schemeClr val="tx1"/>
                </a:solidFill>
              </a:rPr>
              <a:t>0’s</a:t>
            </a:r>
            <a:r>
              <a:rPr sz="2257" dirty="0">
                <a:solidFill>
                  <a:schemeClr val="tx1"/>
                </a:solidFill>
              </a:rPr>
              <a:t> elsewhere</a:t>
            </a:r>
          </a:p>
          <a:p>
            <a:pPr marL="884008" lvl="2" indent="-321457" algn="l" defTabSz="369675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As </a:t>
            </a:r>
            <a:r>
              <a:rPr sz="2257" b="1" dirty="0">
                <a:solidFill>
                  <a:schemeClr val="tx1"/>
                </a:solidFill>
              </a:rPr>
              <a:t>1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b="1" dirty="0">
                <a:solidFill>
                  <a:schemeClr val="tx1"/>
                </a:solidFill>
              </a:rPr>
              <a:t>b</a:t>
            </a:r>
            <a:r>
              <a:rPr sz="2257" dirty="0">
                <a:solidFill>
                  <a:schemeClr val="tx1"/>
                </a:solidFill>
              </a:rPr>
              <a:t>, </a:t>
            </a:r>
            <a:r>
              <a:rPr sz="2257" b="1" dirty="0">
                <a:solidFill>
                  <a:schemeClr val="tx1"/>
                </a:solidFill>
              </a:rPr>
              <a:t>0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0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The operation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TEST destination, mask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Will have 1's in the tested bit positions if and only if the destination has 1’s in these positions; and 0’s elsewhere.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the destination has 0’s in all the tested positions, the result will be 0 and thus ZF=1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Bit Examination on TEST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9402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body" idx="1"/>
          </p:nvPr>
        </p:nvSpPr>
        <p:spPr>
          <a:xfrm>
            <a:off x="892968" y="1821656"/>
            <a:ext cx="7572376" cy="26253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Example: </a:t>
            </a:r>
            <a:r>
              <a:rPr sz="2257" dirty="0">
                <a:solidFill>
                  <a:schemeClr val="tx1"/>
                </a:solidFill>
              </a:rPr>
              <a:t>Jump to label BELOW If AL contains an even number.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  <a:r>
              <a:rPr sz="2257" dirty="0">
                <a:solidFill>
                  <a:schemeClr val="tx1"/>
                </a:solidFill>
              </a:rPr>
              <a:t>Even numbers have a 0 in bit 0. Thus, the mask is 00000001b=1</a:t>
            </a:r>
          </a:p>
        </p:txBody>
      </p:sp>
      <p:sp>
        <p:nvSpPr>
          <p:cNvPr id="2" name="Rectangle 1"/>
          <p:cNvSpPr/>
          <p:nvPr/>
        </p:nvSpPr>
        <p:spPr>
          <a:xfrm>
            <a:off x="1839516" y="4067193"/>
            <a:ext cx="4572000" cy="1134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TEST AL, 1</a:t>
            </a:r>
          </a:p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JZ BELOW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Find Even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2826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body" idx="1"/>
          </p:nvPr>
        </p:nvSpPr>
        <p:spPr>
          <a:xfrm>
            <a:off x="500063" y="857251"/>
            <a:ext cx="8197453" cy="57864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shift and rotate instructions </a:t>
            </a:r>
            <a:r>
              <a:rPr sz="2039" b="1" dirty="0">
                <a:solidFill>
                  <a:schemeClr val="tx1"/>
                </a:solidFill>
              </a:rPr>
              <a:t>shift the bits</a:t>
            </a:r>
            <a:r>
              <a:rPr sz="2039" dirty="0">
                <a:solidFill>
                  <a:schemeClr val="tx1"/>
                </a:solidFill>
              </a:rPr>
              <a:t> in the </a:t>
            </a:r>
            <a:r>
              <a:rPr sz="2039" b="1" dirty="0">
                <a:solidFill>
                  <a:schemeClr val="tx1"/>
                </a:solidFill>
              </a:rPr>
              <a:t>destination operand</a:t>
            </a:r>
            <a:r>
              <a:rPr sz="2039" dirty="0">
                <a:solidFill>
                  <a:schemeClr val="tx1"/>
                </a:solidFill>
              </a:rPr>
              <a:t> by one or more positions either to the left or right.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instruction, the bits shifted out are lost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rotate instruction, bits shifted out from one end of the operand are put back into the other end.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instruction have two possible formats. For a single shift or rotate, the form is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destination,1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or rotate of</a:t>
            </a:r>
            <a:r>
              <a:rPr sz="2039" b="1" dirty="0">
                <a:solidFill>
                  <a:schemeClr val="tx1"/>
                </a:solidFill>
              </a:rPr>
              <a:t> N </a:t>
            </a:r>
            <a:r>
              <a:rPr sz="2039" dirty="0">
                <a:solidFill>
                  <a:schemeClr val="tx1"/>
                </a:solidFill>
              </a:rPr>
              <a:t>positions, the form is </a:t>
            </a:r>
          </a:p>
          <a:p>
            <a:pPr marL="777748" lvl="2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 destination, CL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Where CL contains N In both cases, destination is an 8- or 16-bit register or memory location. </a:t>
            </a:r>
          </a:p>
        </p:txBody>
      </p:sp>
    </p:spTree>
    <p:extLst>
      <p:ext uri="{BB962C8B-B14F-4D97-AF65-F5344CB8AC3E}">
        <p14:creationId xmlns:p14="http://schemas.microsoft.com/office/powerpoint/2010/main" val="415751646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xfrm>
            <a:off x="892969" y="1875234"/>
            <a:ext cx="7358063" cy="33754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 or Rotate instructions can be used to </a:t>
            </a:r>
            <a:r>
              <a:rPr sz="2257" b="1" dirty="0">
                <a:solidFill>
                  <a:schemeClr val="tx1"/>
                </a:solidFill>
              </a:rPr>
              <a:t>multiply and divide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by </a:t>
            </a:r>
            <a:r>
              <a:rPr sz="2257" b="1" dirty="0">
                <a:solidFill>
                  <a:schemeClr val="tx1"/>
                </a:solidFill>
              </a:rPr>
              <a:t>powers of 2</a:t>
            </a:r>
            <a:r>
              <a:rPr sz="2257" dirty="0">
                <a:solidFill>
                  <a:schemeClr val="tx1"/>
                </a:solidFill>
              </a:rPr>
              <a:t>, and we will use them in programs for binary and hex I/O</a:t>
            </a: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***Note that for Intel's more advanced processors, a shift or rotate instruction also allows the use of an 8-bit </a:t>
            </a:r>
            <a:r>
              <a:rPr lang="en-US" sz="2257" b="1" dirty="0">
                <a:solidFill>
                  <a:schemeClr val="tx1"/>
                </a:solidFill>
              </a:rPr>
              <a:t>constant</a:t>
            </a:r>
            <a:r>
              <a:rPr lang="en-US" sz="2257" dirty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Instructions…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80205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288789" y="2019868"/>
            <a:ext cx="9018984" cy="3860051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SHL (shift left) instruction shifts the bits in the destination to the left. The format for a single shift is</a:t>
            </a:r>
          </a:p>
          <a:p>
            <a:pPr marL="1005894" lvl="3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SHL destination, 1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A 0 is shifted into the</a:t>
            </a:r>
            <a:r>
              <a:rPr sz="1800" b="1" dirty="0">
                <a:solidFill>
                  <a:schemeClr val="tx1"/>
                </a:solidFill>
              </a:rPr>
              <a:t> rightmost bit position</a:t>
            </a:r>
            <a:r>
              <a:rPr sz="1800" dirty="0">
                <a:solidFill>
                  <a:schemeClr val="tx1"/>
                </a:solidFill>
              </a:rPr>
              <a:t> and the </a:t>
            </a:r>
            <a:r>
              <a:rPr sz="1800" b="1" dirty="0" err="1">
                <a:solidFill>
                  <a:schemeClr val="tx1"/>
                </a:solidFill>
              </a:rPr>
              <a:t>msb</a:t>
            </a:r>
            <a:r>
              <a:rPr sz="1800" b="1" dirty="0">
                <a:solidFill>
                  <a:schemeClr val="tx1"/>
                </a:solidFill>
              </a:rPr>
              <a:t> is shifted into CF</a:t>
            </a:r>
            <a:r>
              <a:rPr sz="1800" dirty="0">
                <a:solidFill>
                  <a:schemeClr val="tx1"/>
                </a:solidFill>
              </a:rPr>
              <a:t>. </a:t>
            </a:r>
            <a:r>
              <a:rPr sz="180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</a:t>
            </a:r>
            <a:r>
              <a:rPr sz="1800" dirty="0">
                <a:solidFill>
                  <a:schemeClr val="tx1"/>
                </a:solidFill>
              </a:rPr>
              <a:t>the shift count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is different from 1, the instruction takes the form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b="1" dirty="0">
                <a:solidFill>
                  <a:schemeClr val="tx1"/>
                </a:solidFill>
              </a:rPr>
              <a:t>SHL destination, CL</a:t>
            </a:r>
            <a:r>
              <a:rPr sz="1800" dirty="0">
                <a:solidFill>
                  <a:schemeClr val="tx1"/>
                </a:solidFill>
              </a:rPr>
              <a:t> (Here </a:t>
            </a:r>
            <a:r>
              <a:rPr sz="1800" b="1" dirty="0">
                <a:solidFill>
                  <a:schemeClr val="tx1"/>
                </a:solidFill>
              </a:rPr>
              <a:t>CL</a:t>
            </a:r>
            <a:r>
              <a:rPr sz="1800" dirty="0">
                <a:solidFill>
                  <a:schemeClr val="tx1"/>
                </a:solidFill>
              </a:rPr>
              <a:t> contains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and the above instruction made N single shifts)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value of CL remains the same after the shift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sz="1800" dirty="0">
                <a:solidFill>
                  <a:schemeClr val="tx1"/>
                </a:solidFill>
              </a:rPr>
              <a:t>operation</a:t>
            </a:r>
          </a:p>
        </p:txBody>
      </p:sp>
      <p:pic>
        <p:nvPicPr>
          <p:cNvPr id="128" name="Screen Shot 2015-03-27 at 11.36.13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60" y="5191657"/>
            <a:ext cx="4284987" cy="1376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Left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9694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39328" y="1992572"/>
            <a:ext cx="8465344" cy="36557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Example: Suppose DH contains </a:t>
            </a:r>
            <a:r>
              <a:rPr sz="2000" b="1" dirty="0">
                <a:solidFill>
                  <a:schemeClr val="tx1"/>
                </a:solidFill>
              </a:rPr>
              <a:t>8Ah</a:t>
            </a:r>
            <a:r>
              <a:rPr sz="2000" dirty="0">
                <a:solidFill>
                  <a:schemeClr val="tx1"/>
                </a:solidFill>
              </a:rPr>
              <a:t> and </a:t>
            </a:r>
            <a:r>
              <a:rPr sz="2000" b="1" dirty="0">
                <a:solidFill>
                  <a:schemeClr val="tx1"/>
                </a:solidFill>
              </a:rPr>
              <a:t>CL</a:t>
            </a:r>
            <a:r>
              <a:rPr sz="2000" dirty="0">
                <a:solidFill>
                  <a:schemeClr val="tx1"/>
                </a:solidFill>
              </a:rPr>
              <a:t> contains</a:t>
            </a:r>
            <a:r>
              <a:rPr sz="2000" b="1" dirty="0">
                <a:solidFill>
                  <a:schemeClr val="tx1"/>
                </a:solidFill>
              </a:rPr>
              <a:t> 3</a:t>
            </a:r>
            <a:r>
              <a:rPr sz="2000" dirty="0">
                <a:solidFill>
                  <a:schemeClr val="tx1"/>
                </a:solidFill>
              </a:rPr>
              <a:t>.  What are the values of DH and of CF after the instruction </a:t>
            </a:r>
            <a:r>
              <a:rPr sz="2000" b="1" i="1" dirty="0">
                <a:solidFill>
                  <a:schemeClr val="tx1"/>
                </a:solidFill>
              </a:rPr>
              <a:t>SHL DH,CL</a:t>
            </a:r>
            <a:r>
              <a:rPr sz="2000" dirty="0">
                <a:solidFill>
                  <a:schemeClr val="tx1"/>
                </a:solidFill>
              </a:rPr>
              <a:t> is executed?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binary value of DH is </a:t>
            </a:r>
            <a:r>
              <a:rPr sz="2000" b="1" dirty="0">
                <a:solidFill>
                  <a:schemeClr val="tx1"/>
                </a:solidFill>
              </a:rPr>
              <a:t>1000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sz="2000" b="1" dirty="0">
                <a:solidFill>
                  <a:schemeClr val="tx1"/>
                </a:solidFill>
              </a:rPr>
              <a:t>1010</a:t>
            </a:r>
            <a:r>
              <a:rPr sz="2000" dirty="0">
                <a:solidFill>
                  <a:schemeClr val="tx1"/>
                </a:solidFill>
              </a:rPr>
              <a:t>. After </a:t>
            </a:r>
            <a:r>
              <a:rPr sz="2000" b="1" dirty="0">
                <a:solidFill>
                  <a:schemeClr val="tx1"/>
                </a:solidFill>
              </a:rPr>
              <a:t>3 left shifts, </a:t>
            </a:r>
            <a:r>
              <a:rPr sz="2000" dirty="0">
                <a:solidFill>
                  <a:schemeClr val="tx1"/>
                </a:solidFill>
              </a:rPr>
              <a:t>CF will contain 0. The new contents of DH may be obtained by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Erasing the leftmost three bits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Adding three zero bits to the right end, thus 01010000b = 50h.</a:t>
            </a:r>
          </a:p>
          <a:p>
            <a:pPr marL="321457" indent="-321457" algn="l" defTabSz="234664">
              <a:spcBef>
                <a:spcPts val="56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sz="2000" dirty="0">
              <a:solidFill>
                <a:schemeClr val="tx1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32" name="Screen Shot 2015-03-27 at 11.41.51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001" y="4665342"/>
            <a:ext cx="4394580" cy="1966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SHL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8910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57B8-83EF-83EB-DA20-21286901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E2FE41-276C-F054-C2F7-6F79D04A8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>
            <a:extLst>
              <a:ext uri="{FF2B5EF4-FFF2-40B4-BE49-F238E27FC236}">
                <a16:creationId xmlns:a16="http://schemas.microsoft.com/office/drawing/2014/main" id="{E706383E-1770-5B8F-DBAF-202DBED7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Left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5202B6-D5FA-4F57-42D2-8283A1B93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753" y="1582306"/>
            <a:ext cx="8550275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SHL Operation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Values: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 = 3 (Number of positions to shift left)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SHL DH, CL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 = 8Ah (Binary: 1000 1010)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Binary Value of DH: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1000 1010 (Binary for 8Ah)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Shifting Left by 3 Positions: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First Shift: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0001 0100 (The bit '1' that is shifted out is saved in CF) CF = 1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Second Shift: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0010 1000 (The bit '0' is shifted out) CF = 0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Third Shift: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0101 0000 (The bit '0' is shifted out) CF = 0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Value of DH = 50h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(Binary: 01010000)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Value of CF = 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80608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CCE2-BA55-73F6-48F3-C6E837B2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6EF908-066F-353E-08F3-3C046AE3F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>
            <a:extLst>
              <a:ext uri="{FF2B5EF4-FFF2-40B4-BE49-F238E27FC236}">
                <a16:creationId xmlns:a16="http://schemas.microsoft.com/office/drawing/2014/main" id="{E8AF7D31-AF39-4C62-79A0-11761A60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Left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F2D41C-E3F5-7D16-A673-BB7E0EEFB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8268" y="2690336"/>
            <a:ext cx="74834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Carry Flag (CF) in a shift operation (SHL) captures the last bit that is shifted out of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register.For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shift left, the leftmost bit is removed (shifted out), and a new bit (0) is introduced on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right.If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bit that is shifted out is 1, then CF = 1.If the bit that is shifted out is 0, then CF = 0.</a:t>
            </a:r>
          </a:p>
        </p:txBody>
      </p:sp>
    </p:spTree>
    <p:extLst>
      <p:ext uri="{BB962C8B-B14F-4D97-AF65-F5344CB8AC3E}">
        <p14:creationId xmlns:p14="http://schemas.microsoft.com/office/powerpoint/2010/main" val="261054308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178594" y="1928812"/>
            <a:ext cx="8786813" cy="49291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Let us consider a decimal number 235.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If each digit is shifted left and 0 is attached on the right end, we get 2350 which is same as multiplying by 10.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Similarly, a left shift on a binary number multiplies it by 2.</a:t>
            </a:r>
          </a:p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For example, suppose that AL contains 5=0000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0101b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 left shift gives 0000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1010b = 10 thus doubling its value.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Another left shift </a:t>
            </a:r>
            <a:r>
              <a:rPr sz="2257">
                <a:solidFill>
                  <a:schemeClr val="tx1"/>
                </a:solidFill>
              </a:rPr>
              <a:t>yields </a:t>
            </a:r>
            <a:r>
              <a:rPr sz="2257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0001</a:t>
            </a:r>
            <a:r>
              <a:rPr lang="en-US" sz="2257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0100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</a:rPr>
              <a:t>20d, so it is doubled again.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Multiplication by Left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25861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455414" y="1910687"/>
            <a:ext cx="8456414" cy="478657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SHL Instruction can be used to multiply an operand by multiples of 2.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to emphasize the arithmetic nature of the operation the opcode SAL (shift arithmetic left)often used in instances for numeric multiplication.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Both instructions generate the </a:t>
            </a:r>
            <a:r>
              <a:rPr sz="2000">
                <a:solidFill>
                  <a:schemeClr val="tx1"/>
                </a:solidFill>
              </a:rPr>
              <a:t>same machine </a:t>
            </a:r>
            <a:r>
              <a:rPr sz="2000" dirty="0">
                <a:solidFill>
                  <a:schemeClr val="tx1"/>
                </a:solidFill>
              </a:rPr>
              <a:t>code.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When </a:t>
            </a:r>
            <a:r>
              <a:rPr sz="2000" i="1" dirty="0">
                <a:solidFill>
                  <a:schemeClr val="tx1"/>
                </a:solidFill>
              </a:rPr>
              <a:t>we </a:t>
            </a:r>
            <a:r>
              <a:rPr sz="2000" dirty="0">
                <a:solidFill>
                  <a:schemeClr val="tx1"/>
                </a:solidFill>
              </a:rPr>
              <a:t>treat left shifts as multiplication, overflow may occur.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For a single left shift, CF and OF accurately indicate unsigned and signed over- flow, respectively.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the overflow flags are not reliable indicators for a multiple left shift as multiple shift is really a series of single shifts, and OF and CF only reflect the </a:t>
            </a:r>
            <a:r>
              <a:rPr sz="2000" b="1" dirty="0">
                <a:solidFill>
                  <a:schemeClr val="tx1"/>
                </a:solidFill>
              </a:rPr>
              <a:t>result of the last shift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  <a:endParaRPr sz="20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Arithmetic Left (SAL)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0927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178594" y="1869744"/>
            <a:ext cx="8733234" cy="322726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SHR (shift right) performs right shifts on the destination operand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 1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 0 is shifted Into the </a:t>
            </a:r>
            <a:r>
              <a:rPr sz="2000" dirty="0" err="1">
                <a:solidFill>
                  <a:schemeClr val="tx1"/>
                </a:solidFill>
              </a:rPr>
              <a:t>msb</a:t>
            </a:r>
            <a:r>
              <a:rPr sz="2000" dirty="0">
                <a:solidFill>
                  <a:schemeClr val="tx1"/>
                </a:solidFill>
              </a:rPr>
              <a:t> position, and the rightmost bit is shifted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sz="2000" dirty="0">
                <a:solidFill>
                  <a:schemeClr val="tx1"/>
                </a:solidFill>
              </a:rPr>
              <a:t>CL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** here CL contains N In this case N single right shifts are made. The effect on the flags is the same as for SHL</a:t>
            </a:r>
          </a:p>
        </p:txBody>
      </p:sp>
      <p:pic>
        <p:nvPicPr>
          <p:cNvPr id="142" name="Screen Shot 2015-03-27 at 12.32.34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076" y="5178341"/>
            <a:ext cx="4292646" cy="1590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Right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0209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445</TotalTime>
  <Words>2625</Words>
  <Application>Microsoft Office PowerPoint</Application>
  <PresentationFormat>On-screen Show (4:3)</PresentationFormat>
  <Paragraphs>255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Unicode MS</vt:lpstr>
      <vt:lpstr>Calibri</vt:lpstr>
      <vt:lpstr>Corbel</vt:lpstr>
      <vt:lpstr>Helvetica</vt:lpstr>
      <vt:lpstr>Times New Roman</vt:lpstr>
      <vt:lpstr>Times Roman</vt:lpstr>
      <vt:lpstr>Wingdings</vt:lpstr>
      <vt:lpstr>Spectrum</vt:lpstr>
      <vt:lpstr> Logic Instructions</vt:lpstr>
      <vt:lpstr>Overview : LOGIC</vt:lpstr>
      <vt:lpstr>Overview: SHIFT </vt:lpstr>
      <vt:lpstr>LOGIC Instructions</vt:lpstr>
      <vt:lpstr>Truth Table for AND, OR, XOR and NOT</vt:lpstr>
      <vt:lpstr>Solve the Following</vt:lpstr>
      <vt:lpstr>Solution</vt:lpstr>
      <vt:lpstr>AND, OR, and XOR instructions</vt:lpstr>
      <vt:lpstr>Effect on Flags</vt:lpstr>
      <vt:lpstr>MASK</vt:lpstr>
      <vt:lpstr>PowerPoint Presentation</vt:lpstr>
      <vt:lpstr>Clear bit</vt:lpstr>
      <vt:lpstr>Clear bit</vt:lpstr>
      <vt:lpstr>Clear bit</vt:lpstr>
      <vt:lpstr>Clear bit</vt:lpstr>
      <vt:lpstr>Set or Complement Bit</vt:lpstr>
      <vt:lpstr>Converting an ASCII Digit to a Number</vt:lpstr>
      <vt:lpstr>Converting a Lowercase Letter to Upper Case</vt:lpstr>
      <vt:lpstr>Converting a Lowercase Letter to Upper Case</vt:lpstr>
      <vt:lpstr>Conversion using AND</vt:lpstr>
      <vt:lpstr>Clearing a Register</vt:lpstr>
      <vt:lpstr>Not Instruction</vt:lpstr>
      <vt:lpstr>TEST Instruction</vt:lpstr>
      <vt:lpstr>Bit Examination on TEST</vt:lpstr>
      <vt:lpstr>Find Even Number</vt:lpstr>
      <vt:lpstr>PowerPoint Presentation</vt:lpstr>
      <vt:lpstr>Shift Instructions…</vt:lpstr>
      <vt:lpstr>Left Shift (SHL) Instructions</vt:lpstr>
      <vt:lpstr>SHL Instruction</vt:lpstr>
      <vt:lpstr>Left Shift (SHL) Instructions</vt:lpstr>
      <vt:lpstr>Left Shift (SHL) Instructions</vt:lpstr>
      <vt:lpstr>Multiplication by Left Shift</vt:lpstr>
      <vt:lpstr>Shift Arithmetic Left (SAL)</vt:lpstr>
      <vt:lpstr>Right Shift (SHL) Instructions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18</cp:revision>
  <dcterms:created xsi:type="dcterms:W3CDTF">2018-12-10T17:20:29Z</dcterms:created>
  <dcterms:modified xsi:type="dcterms:W3CDTF">2025-05-13T09:41:59Z</dcterms:modified>
</cp:coreProperties>
</file>