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  <p:sldMasterId id="2147483852" r:id="rId2"/>
  </p:sldMasterIdLst>
  <p:sldIdLst>
    <p:sldId id="256" r:id="rId3"/>
    <p:sldId id="262" r:id="rId4"/>
    <p:sldId id="257" r:id="rId5"/>
    <p:sldId id="261" r:id="rId6"/>
    <p:sldId id="272" r:id="rId7"/>
    <p:sldId id="265" r:id="rId8"/>
    <p:sldId id="266" r:id="rId9"/>
    <p:sldId id="356" r:id="rId10"/>
    <p:sldId id="267" r:id="rId11"/>
    <p:sldId id="268" r:id="rId12"/>
    <p:sldId id="269" r:id="rId13"/>
    <p:sldId id="274" r:id="rId14"/>
    <p:sldId id="301" r:id="rId15"/>
    <p:sldId id="273" r:id="rId16"/>
    <p:sldId id="323" r:id="rId17"/>
    <p:sldId id="263" r:id="rId18"/>
    <p:sldId id="264" r:id="rId19"/>
    <p:sldId id="324" r:id="rId20"/>
    <p:sldId id="303" r:id="rId21"/>
    <p:sldId id="283" r:id="rId22"/>
    <p:sldId id="284" r:id="rId23"/>
    <p:sldId id="285" r:id="rId24"/>
    <p:sldId id="298" r:id="rId25"/>
    <p:sldId id="320" r:id="rId26"/>
    <p:sldId id="331" r:id="rId27"/>
    <p:sldId id="332" r:id="rId28"/>
    <p:sldId id="343" r:id="rId29"/>
    <p:sldId id="344" r:id="rId30"/>
    <p:sldId id="345" r:id="rId31"/>
    <p:sldId id="346" r:id="rId32"/>
    <p:sldId id="355" r:id="rId33"/>
    <p:sldId id="354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12A1"/>
    <a:srgbClr val="009900"/>
    <a:srgbClr val="CC3300"/>
    <a:srgbClr val="FF0000"/>
    <a:srgbClr val="00800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DC631A-44E7-4CB3-808D-2B5CF2257C43}" v="1" dt="2023-04-05T05:10:16.4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91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6/11/relationships/changesInfo" Target="changesInfos/changesInfo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nley Rodrick" userId="8969fbcc-7c96-46fb-a663-9e2e5920ff04" providerId="ADAL" clId="{3C7CB3AF-152F-D949-90C8-3A8205FD3A3E}"/>
    <pc:docChg chg="modSld">
      <pc:chgData name="Stanley Rodrick" userId="8969fbcc-7c96-46fb-a663-9e2e5920ff04" providerId="ADAL" clId="{3C7CB3AF-152F-D949-90C8-3A8205FD3A3E}" dt="2022-06-18T15:08:51.191" v="0"/>
      <pc:docMkLst>
        <pc:docMk/>
      </pc:docMkLst>
      <pc:sldChg chg="modAnim">
        <pc:chgData name="Stanley Rodrick" userId="8969fbcc-7c96-46fb-a663-9e2e5920ff04" providerId="ADAL" clId="{3C7CB3AF-152F-D949-90C8-3A8205FD3A3E}" dt="2022-06-18T15:08:51.191" v="0"/>
        <pc:sldMkLst>
          <pc:docMk/>
          <pc:sldMk cId="2969759283" sldId="270"/>
        </pc:sldMkLst>
      </pc:sldChg>
    </pc:docChg>
  </pc:docChgLst>
  <pc:docChgLst>
    <pc:chgData name="Stanley Rodrick" userId="8969fbcc-7c96-46fb-a663-9e2e5920ff04" providerId="ADAL" clId="{BBE6F5AD-4BFC-47CF-854A-D317113EBDB7}"/>
    <pc:docChg chg="undo custSel modSld">
      <pc:chgData name="Stanley Rodrick" userId="8969fbcc-7c96-46fb-a663-9e2e5920ff04" providerId="ADAL" clId="{BBE6F5AD-4BFC-47CF-854A-D317113EBDB7}" dt="2022-06-18T15:49:55.263" v="221" actId="122"/>
      <pc:docMkLst>
        <pc:docMk/>
      </pc:docMkLst>
      <pc:sldChg chg="modSp mod">
        <pc:chgData name="Stanley Rodrick" userId="8969fbcc-7c96-46fb-a663-9e2e5920ff04" providerId="ADAL" clId="{BBE6F5AD-4BFC-47CF-854A-D317113EBDB7}" dt="2022-06-18T15:36:56.638" v="0" actId="207"/>
        <pc:sldMkLst>
          <pc:docMk/>
          <pc:sldMk cId="38392622" sldId="256"/>
        </pc:sldMkLst>
        <pc:spChg chg="mod">
          <ac:chgData name="Stanley Rodrick" userId="8969fbcc-7c96-46fb-a663-9e2e5920ff04" providerId="ADAL" clId="{BBE6F5AD-4BFC-47CF-854A-D317113EBDB7}" dt="2022-06-18T15:36:56.638" v="0" actId="207"/>
          <ac:spMkLst>
            <pc:docMk/>
            <pc:sldMk cId="38392622" sldId="256"/>
            <ac:spMk id="6" creationId="{38A6B45F-9B3F-1379-7F3B-2FC05240D6A0}"/>
          </ac:spMkLst>
        </pc:spChg>
      </pc:sldChg>
      <pc:sldChg chg="modSp mod">
        <pc:chgData name="Stanley Rodrick" userId="8969fbcc-7c96-46fb-a663-9e2e5920ff04" providerId="ADAL" clId="{BBE6F5AD-4BFC-47CF-854A-D317113EBDB7}" dt="2022-06-18T15:40:24.731" v="40" actId="207"/>
        <pc:sldMkLst>
          <pc:docMk/>
          <pc:sldMk cId="2258628257" sldId="257"/>
        </pc:sldMkLst>
        <pc:spChg chg="mod">
          <ac:chgData name="Stanley Rodrick" userId="8969fbcc-7c96-46fb-a663-9e2e5920ff04" providerId="ADAL" clId="{BBE6F5AD-4BFC-47CF-854A-D317113EBDB7}" dt="2022-06-18T15:37:06.685" v="1"/>
          <ac:spMkLst>
            <pc:docMk/>
            <pc:sldMk cId="2258628257" sldId="257"/>
            <ac:spMk id="4" creationId="{E9D56ED5-6DAC-7709-922E-42724A8A0D8D}"/>
          </ac:spMkLst>
        </pc:spChg>
        <pc:spChg chg="mod">
          <ac:chgData name="Stanley Rodrick" userId="8969fbcc-7c96-46fb-a663-9e2e5920ff04" providerId="ADAL" clId="{BBE6F5AD-4BFC-47CF-854A-D317113EBDB7}" dt="2022-06-18T15:40:24.731" v="40" actId="207"/>
          <ac:spMkLst>
            <pc:docMk/>
            <pc:sldMk cId="2258628257" sldId="257"/>
            <ac:spMk id="5" creationId="{C2FBA749-3F67-78E1-45BC-0A85FAB5BCDF}"/>
          </ac:spMkLst>
        </pc:spChg>
      </pc:sldChg>
      <pc:sldChg chg="modSp mod">
        <pc:chgData name="Stanley Rodrick" userId="8969fbcc-7c96-46fb-a663-9e2e5920ff04" providerId="ADAL" clId="{BBE6F5AD-4BFC-47CF-854A-D317113EBDB7}" dt="2022-06-18T15:40:33.467" v="43"/>
        <pc:sldMkLst>
          <pc:docMk/>
          <pc:sldMk cId="2635811928" sldId="258"/>
        </pc:sldMkLst>
        <pc:spChg chg="mod">
          <ac:chgData name="Stanley Rodrick" userId="8969fbcc-7c96-46fb-a663-9e2e5920ff04" providerId="ADAL" clId="{BBE6F5AD-4BFC-47CF-854A-D317113EBDB7}" dt="2022-06-18T15:39:39.398" v="32"/>
          <ac:spMkLst>
            <pc:docMk/>
            <pc:sldMk cId="2635811928" sldId="258"/>
            <ac:spMk id="4" creationId="{E9D56ED5-6DAC-7709-922E-42724A8A0D8D}"/>
          </ac:spMkLst>
        </pc:spChg>
        <pc:spChg chg="mod">
          <ac:chgData name="Stanley Rodrick" userId="8969fbcc-7c96-46fb-a663-9e2e5920ff04" providerId="ADAL" clId="{BBE6F5AD-4BFC-47CF-854A-D317113EBDB7}" dt="2022-06-18T15:40:33.467" v="43"/>
          <ac:spMkLst>
            <pc:docMk/>
            <pc:sldMk cId="2635811928" sldId="258"/>
            <ac:spMk id="5" creationId="{C2FBA749-3F67-78E1-45BC-0A85FAB5BCDF}"/>
          </ac:spMkLst>
        </pc:spChg>
      </pc:sldChg>
      <pc:sldChg chg="modSp mod">
        <pc:chgData name="Stanley Rodrick" userId="8969fbcc-7c96-46fb-a663-9e2e5920ff04" providerId="ADAL" clId="{BBE6F5AD-4BFC-47CF-854A-D317113EBDB7}" dt="2022-06-18T15:40:54.513" v="47"/>
        <pc:sldMkLst>
          <pc:docMk/>
          <pc:sldMk cId="19373711" sldId="259"/>
        </pc:sldMkLst>
        <pc:spChg chg="mod">
          <ac:chgData name="Stanley Rodrick" userId="8969fbcc-7c96-46fb-a663-9e2e5920ff04" providerId="ADAL" clId="{BBE6F5AD-4BFC-47CF-854A-D317113EBDB7}" dt="2022-06-18T15:40:40.462" v="44"/>
          <ac:spMkLst>
            <pc:docMk/>
            <pc:sldMk cId="19373711" sldId="259"/>
            <ac:spMk id="4" creationId="{E9D56ED5-6DAC-7709-922E-42724A8A0D8D}"/>
          </ac:spMkLst>
        </pc:spChg>
        <pc:spChg chg="mod">
          <ac:chgData name="Stanley Rodrick" userId="8969fbcc-7c96-46fb-a663-9e2e5920ff04" providerId="ADAL" clId="{BBE6F5AD-4BFC-47CF-854A-D317113EBDB7}" dt="2022-06-18T15:40:54.513" v="47"/>
          <ac:spMkLst>
            <pc:docMk/>
            <pc:sldMk cId="19373711" sldId="259"/>
            <ac:spMk id="5" creationId="{C2FBA749-3F67-78E1-45BC-0A85FAB5BCDF}"/>
          </ac:spMkLst>
        </pc:spChg>
      </pc:sldChg>
      <pc:sldChg chg="modSp mod">
        <pc:chgData name="Stanley Rodrick" userId="8969fbcc-7c96-46fb-a663-9e2e5920ff04" providerId="ADAL" clId="{BBE6F5AD-4BFC-47CF-854A-D317113EBDB7}" dt="2022-06-18T15:41:10.562" v="53"/>
        <pc:sldMkLst>
          <pc:docMk/>
          <pc:sldMk cId="3832123466" sldId="260"/>
        </pc:sldMkLst>
        <pc:spChg chg="mod">
          <ac:chgData name="Stanley Rodrick" userId="8969fbcc-7c96-46fb-a663-9e2e5920ff04" providerId="ADAL" clId="{BBE6F5AD-4BFC-47CF-854A-D317113EBDB7}" dt="2022-06-18T15:41:01.590" v="48"/>
          <ac:spMkLst>
            <pc:docMk/>
            <pc:sldMk cId="3832123466" sldId="260"/>
            <ac:spMk id="4" creationId="{E9D56ED5-6DAC-7709-922E-42724A8A0D8D}"/>
          </ac:spMkLst>
        </pc:spChg>
        <pc:spChg chg="mod">
          <ac:chgData name="Stanley Rodrick" userId="8969fbcc-7c96-46fb-a663-9e2e5920ff04" providerId="ADAL" clId="{BBE6F5AD-4BFC-47CF-854A-D317113EBDB7}" dt="2022-06-18T15:41:10.562" v="53"/>
          <ac:spMkLst>
            <pc:docMk/>
            <pc:sldMk cId="3832123466" sldId="260"/>
            <ac:spMk id="5" creationId="{C2FBA749-3F67-78E1-45BC-0A85FAB5BCDF}"/>
          </ac:spMkLst>
        </pc:spChg>
      </pc:sldChg>
      <pc:sldChg chg="modSp mod">
        <pc:chgData name="Stanley Rodrick" userId="8969fbcc-7c96-46fb-a663-9e2e5920ff04" providerId="ADAL" clId="{BBE6F5AD-4BFC-47CF-854A-D317113EBDB7}" dt="2022-06-18T15:41:39.458" v="61"/>
        <pc:sldMkLst>
          <pc:docMk/>
          <pc:sldMk cId="1348009566" sldId="261"/>
        </pc:sldMkLst>
        <pc:spChg chg="mod">
          <ac:chgData name="Stanley Rodrick" userId="8969fbcc-7c96-46fb-a663-9e2e5920ff04" providerId="ADAL" clId="{BBE6F5AD-4BFC-47CF-854A-D317113EBDB7}" dt="2022-06-18T15:41:39.458" v="61"/>
          <ac:spMkLst>
            <pc:docMk/>
            <pc:sldMk cId="1348009566" sldId="261"/>
            <ac:spMk id="5" creationId="{C2FBA749-3F67-78E1-45BC-0A85FAB5BCDF}"/>
          </ac:spMkLst>
        </pc:spChg>
      </pc:sldChg>
      <pc:sldChg chg="modSp mod">
        <pc:chgData name="Stanley Rodrick" userId="8969fbcc-7c96-46fb-a663-9e2e5920ff04" providerId="ADAL" clId="{BBE6F5AD-4BFC-47CF-854A-D317113EBDB7}" dt="2022-06-18T15:42:46.293" v="80"/>
        <pc:sldMkLst>
          <pc:docMk/>
          <pc:sldMk cId="3007282456" sldId="264"/>
        </pc:sldMkLst>
        <pc:spChg chg="mod">
          <ac:chgData name="Stanley Rodrick" userId="8969fbcc-7c96-46fb-a663-9e2e5920ff04" providerId="ADAL" clId="{BBE6F5AD-4BFC-47CF-854A-D317113EBDB7}" dt="2022-06-18T15:42:15.341" v="71" actId="1076"/>
          <ac:spMkLst>
            <pc:docMk/>
            <pc:sldMk cId="3007282456" sldId="264"/>
            <ac:spMk id="4" creationId="{E9D56ED5-6DAC-7709-922E-42724A8A0D8D}"/>
          </ac:spMkLst>
        </pc:spChg>
        <pc:spChg chg="mod">
          <ac:chgData name="Stanley Rodrick" userId="8969fbcc-7c96-46fb-a663-9e2e5920ff04" providerId="ADAL" clId="{BBE6F5AD-4BFC-47CF-854A-D317113EBDB7}" dt="2022-06-18T15:42:46.293" v="80"/>
          <ac:spMkLst>
            <pc:docMk/>
            <pc:sldMk cId="3007282456" sldId="264"/>
            <ac:spMk id="9" creationId="{A7C65CB2-43EB-0C55-2264-6B5C7BCC5D44}"/>
          </ac:spMkLst>
        </pc:spChg>
      </pc:sldChg>
      <pc:sldChg chg="modSp mod">
        <pc:chgData name="Stanley Rodrick" userId="8969fbcc-7c96-46fb-a663-9e2e5920ff04" providerId="ADAL" clId="{BBE6F5AD-4BFC-47CF-854A-D317113EBDB7}" dt="2022-06-18T15:45:08.132" v="126"/>
        <pc:sldMkLst>
          <pc:docMk/>
          <pc:sldMk cId="598086555" sldId="265"/>
        </pc:sldMkLst>
        <pc:spChg chg="mod">
          <ac:chgData name="Stanley Rodrick" userId="8969fbcc-7c96-46fb-a663-9e2e5920ff04" providerId="ADAL" clId="{BBE6F5AD-4BFC-47CF-854A-D317113EBDB7}" dt="2022-06-18T15:45:08.132" v="126"/>
          <ac:spMkLst>
            <pc:docMk/>
            <pc:sldMk cId="598086555" sldId="265"/>
            <ac:spMk id="2" creationId="{35E4B773-AF8C-BCDF-115B-3EEDC8E69E14}"/>
          </ac:spMkLst>
        </pc:spChg>
        <pc:spChg chg="mod">
          <ac:chgData name="Stanley Rodrick" userId="8969fbcc-7c96-46fb-a663-9e2e5920ff04" providerId="ADAL" clId="{BBE6F5AD-4BFC-47CF-854A-D317113EBDB7}" dt="2022-06-18T15:44:31.207" v="118"/>
          <ac:spMkLst>
            <pc:docMk/>
            <pc:sldMk cId="598086555" sldId="265"/>
            <ac:spMk id="10" creationId="{C6E18D8F-ADB1-56A9-D95E-4EEF09E17B0D}"/>
          </ac:spMkLst>
        </pc:spChg>
      </pc:sldChg>
      <pc:sldChg chg="modSp">
        <pc:chgData name="Stanley Rodrick" userId="8969fbcc-7c96-46fb-a663-9e2e5920ff04" providerId="ADAL" clId="{BBE6F5AD-4BFC-47CF-854A-D317113EBDB7}" dt="2022-06-18T15:45:22.834" v="128"/>
        <pc:sldMkLst>
          <pc:docMk/>
          <pc:sldMk cId="894680936" sldId="266"/>
        </pc:sldMkLst>
        <pc:spChg chg="mod">
          <ac:chgData name="Stanley Rodrick" userId="8969fbcc-7c96-46fb-a663-9e2e5920ff04" providerId="ADAL" clId="{BBE6F5AD-4BFC-47CF-854A-D317113EBDB7}" dt="2022-06-18T15:45:22.834" v="128"/>
          <ac:spMkLst>
            <pc:docMk/>
            <pc:sldMk cId="894680936" sldId="266"/>
            <ac:spMk id="2" creationId="{35E4B773-AF8C-BCDF-115B-3EEDC8E69E14}"/>
          </ac:spMkLst>
        </pc:spChg>
        <pc:spChg chg="mod">
          <ac:chgData name="Stanley Rodrick" userId="8969fbcc-7c96-46fb-a663-9e2e5920ff04" providerId="ADAL" clId="{BBE6F5AD-4BFC-47CF-854A-D317113EBDB7}" dt="2022-06-18T15:45:20.414" v="127"/>
          <ac:spMkLst>
            <pc:docMk/>
            <pc:sldMk cId="894680936" sldId="266"/>
            <ac:spMk id="4" creationId="{E9D56ED5-6DAC-7709-922E-42724A8A0D8D}"/>
          </ac:spMkLst>
        </pc:spChg>
      </pc:sldChg>
      <pc:sldChg chg="delSp modSp mod">
        <pc:chgData name="Stanley Rodrick" userId="8969fbcc-7c96-46fb-a663-9e2e5920ff04" providerId="ADAL" clId="{BBE6F5AD-4BFC-47CF-854A-D317113EBDB7}" dt="2022-06-18T15:49:55.263" v="221" actId="122"/>
        <pc:sldMkLst>
          <pc:docMk/>
          <pc:sldMk cId="3720470322" sldId="267"/>
        </pc:sldMkLst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19" creationId="{D3DAE192-2848-0405-E213-2549FAA0D73E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20" creationId="{2FD91FC1-BA29-B095-D3D0-CE269FAB770C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21" creationId="{00F87345-785B-B3D5-2CA5-A8266006B8EA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22" creationId="{0B512BFB-EC81-9A87-6AA3-E1B0614113B4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23" creationId="{00E3C00F-4FEE-0EAA-BF51-3FCFC62CC510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24" creationId="{6D84BF28-356F-9C2A-FE51-53D0E6BCDA94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25" creationId="{71F70120-C568-2F30-DAD5-55FB24E8045F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26" creationId="{08C88F21-CEEC-0D7D-830F-89F2D78211E2}"/>
          </ac:spMkLst>
        </pc:spChg>
        <pc:spChg chg="mod">
          <ac:chgData name="Stanley Rodrick" userId="8969fbcc-7c96-46fb-a663-9e2e5920ff04" providerId="ADAL" clId="{BBE6F5AD-4BFC-47CF-854A-D317113EBDB7}" dt="2022-06-18T15:49:55.263" v="221" actId="122"/>
          <ac:spMkLst>
            <pc:docMk/>
            <pc:sldMk cId="3720470322" sldId="267"/>
            <ac:spMk id="27" creationId="{F0E50C5D-476F-0536-3BEB-61363176B7B5}"/>
          </ac:spMkLst>
        </pc:spChg>
        <pc:spChg chg="del mod">
          <ac:chgData name="Stanley Rodrick" userId="8969fbcc-7c96-46fb-a663-9e2e5920ff04" providerId="ADAL" clId="{BBE6F5AD-4BFC-47CF-854A-D317113EBDB7}" dt="2022-06-18T15:48:34.250" v="193" actId="478"/>
          <ac:spMkLst>
            <pc:docMk/>
            <pc:sldMk cId="3720470322" sldId="267"/>
            <ac:spMk id="28" creationId="{1517C8A5-BB2E-D044-D82F-82F66A8B47E6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29" creationId="{C7AF0741-D48B-7592-8A8A-3257ED136C30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30" creationId="{6286FC07-ABCC-AC65-85FE-4E941369D70B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31" creationId="{FB8DEB5E-B7EE-66F8-B6BE-CED292DC0C14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32" creationId="{03D12BE4-FD19-EEB6-F111-E716CD122B02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33" creationId="{CB978943-F81C-CF61-7E17-44A1B546E3D3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34" creationId="{5C706B6A-0A7E-9172-5B3B-C13EE37303EC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35" creationId="{F1F3D4BD-58A9-44F6-09AD-BF94021CC00D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36" creationId="{0204E362-D60A-728F-DD2A-E2D3848D2E75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37" creationId="{915D1BC8-4EA4-FF1A-B583-AA1A156DD9F2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38" creationId="{06E7BFBC-0B2F-4947-0B8E-6A5DB0D1A8FC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39" creationId="{ED24A196-74CE-60A4-9E78-5B69CAF3066B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40" creationId="{5AAEB205-DC11-055B-6A7E-CC77F305B9CA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41" creationId="{B3DD8D7D-9718-E036-2479-4CE1CD1908EA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42" creationId="{DB7C3E3F-DF14-1214-43C3-CA3B08A92AE8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43" creationId="{EE0BF67B-DE43-FFAC-C583-783E3D5E8305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44" creationId="{76FD1B19-4945-C5EA-6E19-DFF10D58BC23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45" creationId="{E345221F-C1AA-FC91-541E-9F5192E9C317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46" creationId="{C983CD83-57E1-423A-6992-F12BA205A8D0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47" creationId="{793682DB-479C-59D3-2216-F74D8C0186ED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48" creationId="{C7337454-2DB8-F57E-93C6-4805E0BE4F44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49" creationId="{7BCAC95F-1695-5875-669C-1B259EABC0A6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50" creationId="{6EECF9DD-31FD-9E8A-9144-6BB78BACD20D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51" creationId="{00C173AD-CD48-A498-47F5-2CA9F4E75539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52" creationId="{26FD9EAA-394E-5ABC-29F7-714F29410D90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53" creationId="{7F6EC312-E8FA-FDD9-1FA7-4E79557B92A9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54" creationId="{E636DD71-AF5C-693D-4957-F25899EC2063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55" creationId="{0B036193-FC1B-25EF-EDFE-13077F495F5E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56" creationId="{81D565A7-2AD6-2E1F-C0A7-C0882A1689A2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57" creationId="{B78B29B7-7D7E-38FC-57C5-E8E8B6166D98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58" creationId="{B10D1E2F-2C3A-7F3E-60EC-536EC215380C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59" creationId="{ADCBC781-E5B0-C8CF-0E65-172637BE0329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60" creationId="{7B4E8D59-AA5F-FFEE-3DB4-9781A57BC061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61" creationId="{6BFA417E-18D9-6938-EFEA-55222C4D7AB6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62" creationId="{441CBA57-D82C-B677-C3EC-D348166E4E4B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63" creationId="{34BE5D30-4B51-2562-2C0F-A981447B7B90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64" creationId="{1D31F36F-45B7-BF9A-1564-267F0D38438A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65" creationId="{195A0F9D-0B7B-E676-23A1-4B4DC9762587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66" creationId="{32A43B4D-6F25-C6EB-1377-C8108BE79909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67" creationId="{BD83827C-8BD1-8337-BCEF-5FCC158F87A2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68" creationId="{E6B659BB-7CBE-D9C5-3C34-9406B005E3B2}"/>
          </ac:spMkLst>
        </pc:spChg>
        <pc:spChg chg="mod">
          <ac:chgData name="Stanley Rodrick" userId="8969fbcc-7c96-46fb-a663-9e2e5920ff04" providerId="ADAL" clId="{BBE6F5AD-4BFC-47CF-854A-D317113EBDB7}" dt="2022-06-18T15:49:53.944" v="220" actId="1076"/>
          <ac:spMkLst>
            <pc:docMk/>
            <pc:sldMk cId="3720470322" sldId="267"/>
            <ac:spMk id="69" creationId="{E1DFB718-3E82-9C28-4442-E2E6F740C61E}"/>
          </ac:spMkLst>
        </pc:spChg>
        <pc:grpChg chg="mod">
          <ac:chgData name="Stanley Rodrick" userId="8969fbcc-7c96-46fb-a663-9e2e5920ff04" providerId="ADAL" clId="{BBE6F5AD-4BFC-47CF-854A-D317113EBDB7}" dt="2022-06-18T15:49:53.944" v="220" actId="1076"/>
          <ac:grpSpMkLst>
            <pc:docMk/>
            <pc:sldMk cId="3720470322" sldId="267"/>
            <ac:grpSpMk id="13" creationId="{01235ABF-531D-AE1A-1380-46D42B2A8A99}"/>
          </ac:grpSpMkLst>
        </pc:grpChg>
      </pc:sldChg>
      <pc:sldChg chg="modSp mod">
        <pc:chgData name="Stanley Rodrick" userId="8969fbcc-7c96-46fb-a663-9e2e5920ff04" providerId="ADAL" clId="{BBE6F5AD-4BFC-47CF-854A-D317113EBDB7}" dt="2022-06-18T15:48:05.501" v="181"/>
        <pc:sldMkLst>
          <pc:docMk/>
          <pc:sldMk cId="1501681067" sldId="268"/>
        </pc:sldMkLst>
        <pc:spChg chg="mod">
          <ac:chgData name="Stanley Rodrick" userId="8969fbcc-7c96-46fb-a663-9e2e5920ff04" providerId="ADAL" clId="{BBE6F5AD-4BFC-47CF-854A-D317113EBDB7}" dt="2022-06-18T15:48:05.501" v="181"/>
          <ac:spMkLst>
            <pc:docMk/>
            <pc:sldMk cId="1501681067" sldId="268"/>
            <ac:spMk id="71" creationId="{2AD7DD12-1A87-A57E-DC12-89969F36B6D7}"/>
          </ac:spMkLst>
        </pc:spChg>
      </pc:sldChg>
      <pc:sldChg chg="modSp mod">
        <pc:chgData name="Stanley Rodrick" userId="8969fbcc-7c96-46fb-a663-9e2e5920ff04" providerId="ADAL" clId="{BBE6F5AD-4BFC-47CF-854A-D317113EBDB7}" dt="2022-06-18T15:48:15.317" v="189"/>
        <pc:sldMkLst>
          <pc:docMk/>
          <pc:sldMk cId="3462955566" sldId="269"/>
        </pc:sldMkLst>
        <pc:spChg chg="mod">
          <ac:chgData name="Stanley Rodrick" userId="8969fbcc-7c96-46fb-a663-9e2e5920ff04" providerId="ADAL" clId="{BBE6F5AD-4BFC-47CF-854A-D317113EBDB7}" dt="2022-06-18T15:48:15.317" v="189"/>
          <ac:spMkLst>
            <pc:docMk/>
            <pc:sldMk cId="3462955566" sldId="269"/>
            <ac:spMk id="11" creationId="{E53D50A7-B48C-99B4-EA98-A8386E11B807}"/>
          </ac:spMkLst>
        </pc:spChg>
      </pc:sldChg>
      <pc:sldChg chg="modSp mod">
        <pc:chgData name="Stanley Rodrick" userId="8969fbcc-7c96-46fb-a663-9e2e5920ff04" providerId="ADAL" clId="{BBE6F5AD-4BFC-47CF-854A-D317113EBDB7}" dt="2022-06-18T15:44:24.350" v="117" actId="20577"/>
        <pc:sldMkLst>
          <pc:docMk/>
          <pc:sldMk cId="2969759283" sldId="270"/>
        </pc:sldMkLst>
        <pc:spChg chg="mod">
          <ac:chgData name="Stanley Rodrick" userId="8969fbcc-7c96-46fb-a663-9e2e5920ff04" providerId="ADAL" clId="{BBE6F5AD-4BFC-47CF-854A-D317113EBDB7}" dt="2022-06-18T15:42:55.939" v="82"/>
          <ac:spMkLst>
            <pc:docMk/>
            <pc:sldMk cId="2969759283" sldId="270"/>
            <ac:spMk id="4" creationId="{E9D56ED5-6DAC-7709-922E-42724A8A0D8D}"/>
          </ac:spMkLst>
        </pc:spChg>
        <pc:spChg chg="mod">
          <ac:chgData name="Stanley Rodrick" userId="8969fbcc-7c96-46fb-a663-9e2e5920ff04" providerId="ADAL" clId="{BBE6F5AD-4BFC-47CF-854A-D317113EBDB7}" dt="2022-06-18T15:44:24.350" v="117" actId="20577"/>
          <ac:spMkLst>
            <pc:docMk/>
            <pc:sldMk cId="2969759283" sldId="270"/>
            <ac:spMk id="10" creationId="{C7AA7A7A-FEEF-E9B2-40C6-291F953FD3AA}"/>
          </ac:spMkLst>
        </pc:spChg>
      </pc:sldChg>
    </pc:docChg>
  </pc:docChgLst>
  <pc:docChgLst>
    <pc:chgData name="Hasibul Islam" userId="7a1954ca182d2d6d" providerId="LiveId" clId="{0FDC631A-44E7-4CB3-808D-2B5CF2257C43}"/>
    <pc:docChg chg="addSld delSld modSld">
      <pc:chgData name="Hasibul Islam" userId="7a1954ca182d2d6d" providerId="LiveId" clId="{0FDC631A-44E7-4CB3-808D-2B5CF2257C43}" dt="2023-04-05T05:10:16.417" v="69"/>
      <pc:docMkLst>
        <pc:docMk/>
      </pc:docMkLst>
      <pc:sldChg chg="add">
        <pc:chgData name="Hasibul Islam" userId="7a1954ca182d2d6d" providerId="LiveId" clId="{0FDC631A-44E7-4CB3-808D-2B5CF2257C43}" dt="2023-04-05T05:10:16.417" v="69"/>
        <pc:sldMkLst>
          <pc:docMk/>
          <pc:sldMk cId="2933192730" sldId="272"/>
        </pc:sldMkLst>
      </pc:sldChg>
      <pc:sldChg chg="addSp delSp modSp new del mod">
        <pc:chgData name="Hasibul Islam" userId="7a1954ca182d2d6d" providerId="LiveId" clId="{0FDC631A-44E7-4CB3-808D-2B5CF2257C43}" dt="2023-04-05T05:09:38.211" v="68" actId="2696"/>
        <pc:sldMkLst>
          <pc:docMk/>
          <pc:sldMk cId="3581447464" sldId="272"/>
        </pc:sldMkLst>
        <pc:spChg chg="mod">
          <ac:chgData name="Hasibul Islam" userId="7a1954ca182d2d6d" providerId="LiveId" clId="{0FDC631A-44E7-4CB3-808D-2B5CF2257C43}" dt="2023-04-05T05:01:41.962" v="60" actId="20577"/>
          <ac:spMkLst>
            <pc:docMk/>
            <pc:sldMk cId="3581447464" sldId="272"/>
            <ac:spMk id="2" creationId="{AD4F88CE-CFD2-D092-89FA-41466950D446}"/>
          </ac:spMkLst>
        </pc:spChg>
        <pc:spChg chg="del">
          <ac:chgData name="Hasibul Islam" userId="7a1954ca182d2d6d" providerId="LiveId" clId="{0FDC631A-44E7-4CB3-808D-2B5CF2257C43}" dt="2023-04-05T05:01:15.960" v="1" actId="22"/>
          <ac:spMkLst>
            <pc:docMk/>
            <pc:sldMk cId="3581447464" sldId="272"/>
            <ac:spMk id="3" creationId="{BCF936E7-588D-A047-BC62-9AFE17FC03B4}"/>
          </ac:spMkLst>
        </pc:spChg>
        <pc:picChg chg="add mod ord">
          <ac:chgData name="Hasibul Islam" userId="7a1954ca182d2d6d" providerId="LiveId" clId="{0FDC631A-44E7-4CB3-808D-2B5CF2257C43}" dt="2023-04-05T05:02:13.003" v="65" actId="1076"/>
          <ac:picMkLst>
            <pc:docMk/>
            <pc:sldMk cId="3581447464" sldId="272"/>
            <ac:picMk id="5" creationId="{7F45FFED-0EDB-E08F-9D4B-C974E6E992B7}"/>
          </ac:picMkLst>
        </pc:picChg>
        <pc:picChg chg="add mod">
          <ac:chgData name="Hasibul Islam" userId="7a1954ca182d2d6d" providerId="LiveId" clId="{0FDC631A-44E7-4CB3-808D-2B5CF2257C43}" dt="2023-04-05T05:02:20.314" v="67" actId="14100"/>
          <ac:picMkLst>
            <pc:docMk/>
            <pc:sldMk cId="3581447464" sldId="272"/>
            <ac:picMk id="7" creationId="{5AC8D213-D4E8-DD56-5156-282AB2F65306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6:59:36.0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5:58:40.8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24575,'4'0'0,"6"0"0,13 0 0,12 0 0,16 0 0,29 0 0,26 0 0,21 9 0,21 6 0,3 2 0,-4-3 0,-13-4 0,-14-3 0,-14-3 0,-21-2 0,-21-2 0,-21 0-8191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7:00:38.1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7:00:38.6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7:00:39.0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24575,'3'0'0,"5"0"0,0 0-8191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5:59:23.4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24575,'4'4'0,"6"1"0,13 13 0,20 3 0,24-2 0,21-5 0,21-4 0,12-4 0,12-3 0,3-2 0,-3-1 0,-5 0 0,-15-6 0,-19 0 0,-20 0 0,-24 1-8191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5:59:24.6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94 24575,'101'-4'0,"-1"-6"0,114-25 0,-141 22 0,5 3 51,-46 7-759,50-12 0,-66 11-6118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7:01:15.9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7:01:16.4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7:01:16.9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7:01:17.7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7:01:18.6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7:01:19.3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7:07:18.020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6995.11328"/>
      <inkml:brushProperty name="anchorY" value="-2867.34717"/>
      <inkml:brushProperty name="scaleFactor" value="0.5"/>
    </inkml:brush>
  </inkml:definitions>
  <inkml:trace contextRef="#ctx0" brushRef="#br0">1 1 24575,'0'0'0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3T02:30:25.4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64 24575,'18'-7'0,"0"0"0,0 1 0,32-5 0,-8 1 0,-9 2 0,2 2 0,67-3 0,73 11 0,-60 0 0,35-2-1365,-124 0-5461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3T02:30:28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24575,'39'1'0,"0"2"0,62 12 0,-52-8 0,-1-3 0,1-2 0,51-4 0,81 4 0,-57 25-1365,-101-25-5461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3T02:30:30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24575,'909'0'-1365,"-883"0"-5461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3T02:32:39.4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24575,'727'0'-1365,"-702"0"-5461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3T02:33:00.8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3T02:33:29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24575,'638'30'0,"-307"-30"-1365,-305 0-5461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3T02:34:37.4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24575,'1120'0'-1365,"-1094"0"-5461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76279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A9439A3E-6463-FB42-88BA-C9A1DA8E9BC8}" type="datetime1">
              <a:rPr lang="en-US" smtClean="0"/>
              <a:t>12/3/2025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63575" y="3226820"/>
            <a:ext cx="3859795" cy="304801"/>
          </a:xfrm>
        </p:spPr>
        <p:txBody>
          <a:bodyPr anchor="b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BD"/>
          </a:p>
        </p:txBody>
      </p:sp>
      <p:sp>
        <p:nvSpPr>
          <p:cNvPr id="17" name="Rectangle 16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/>
            </a:lvl1pPr>
          </a:lstStyle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9445417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39782-DDF6-1642-8714-9655F8771739}" type="datetime1">
              <a:rPr lang="en-US" smtClean="0"/>
              <a:t>12/3/2025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869244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4"/>
            <a:ext cx="4351023" cy="2283823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4783C-99C7-D540-BA83-8B6D52E357C4}" type="datetime1">
              <a:rPr lang="en-US" smtClean="0"/>
              <a:t>12/3/2025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535507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1368" y="2603500"/>
            <a:ext cx="4828744" cy="34163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1" y="2603500"/>
            <a:ext cx="4825159" cy="3377705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D2C00-E535-F547-A1D6-5BB87F9E3659}" type="datetime1">
              <a:rPr lang="en-US" smtClean="0"/>
              <a:t>12/3/2025</a:t>
            </a:fld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3724896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36063"/>
            <a:ext cx="48251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212326"/>
            <a:ext cx="4825158" cy="2807476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1" y="2603499"/>
            <a:ext cx="4825160" cy="60882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212327"/>
            <a:ext cx="4825159" cy="280747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5F0A-B544-EA47-B757-579AF77C3A79}" type="datetime1">
              <a:rPr lang="en-US" smtClean="0"/>
              <a:t>12/3/2025</a:t>
            </a:fld>
            <a:endParaRPr lang="en-B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8862868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6EDD9-A5B3-784E-A5F7-6D68C3506069}" type="datetime1">
              <a:rPr lang="en-US" smtClean="0"/>
              <a:t>12/3/2025</a:t>
            </a:fld>
            <a:endParaRPr lang="en-B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9178714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2B1D1-EACF-4E4A-9BB8-F85F170AEE03}" type="datetime1">
              <a:rPr lang="en-US" smtClean="0"/>
              <a:t>12/3/2025</a:t>
            </a:fld>
            <a:endParaRPr lang="en-B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Rectangle 5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2885989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20E4-EB73-DD45-B262-E19755950D70}" type="datetime1">
              <a:rPr lang="en-US" smtClean="0"/>
              <a:t>12/3/2025</a:t>
            </a:fld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8259988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2" y="1143000"/>
            <a:ext cx="3227192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BC6F-0222-9946-A1EB-102CCD45D469}" type="datetime1">
              <a:rPr lang="en-US" smtClean="0"/>
              <a:t>12/3/2025</a:t>
            </a:fld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3546006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5945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2683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DEA80-27A5-2445-BF3C-1D00DD0261A8}" type="datetime1">
              <a:rPr lang="en-US" smtClean="0"/>
              <a:t>12/3/2025</a:t>
            </a:fld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7793813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0D89B-5C78-DA43-BC76-D03C51C8CCBD}" type="datetime1">
              <a:rPr lang="en-US" smtClean="0"/>
              <a:t>12/3/2025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4189506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TextBox 10"/>
          <p:cNvSpPr txBox="1"/>
          <p:nvPr/>
        </p:nvSpPr>
        <p:spPr bwMode="gray">
          <a:xfrm>
            <a:off x="898295" y="603589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705137" y="261378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705034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86515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14393"/>
            <a:ext cx="8825659" cy="101266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69C7E-12F7-2448-ACB3-7A941E65CC04}" type="datetime1">
              <a:rPr lang="en-US" smtClean="0"/>
              <a:t>12/3/2025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24" name="Rectangle 23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4614442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2404477"/>
            <a:ext cx="8825659" cy="178870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8587" y="5024967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30498-921B-0B4C-9395-CB7FAB1B69E6}" type="datetime1">
              <a:rPr lang="en-US" smtClean="0"/>
              <a:t>12/3/2025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12" name="Rectangle 11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687253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09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87261"/>
            <a:ext cx="3129168" cy="28397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10999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87261"/>
            <a:ext cx="3145380" cy="28397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1" y="2603500"/>
            <a:ext cx="315744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87261"/>
            <a:ext cx="3161029" cy="283979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DE1A9-140E-C14F-98BA-27D64610FC5F}" type="datetime1">
              <a:rPr lang="en-US" smtClean="0"/>
              <a:t>12/3/2025</a:t>
            </a:fld>
            <a:endParaRPr lang="en-B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587101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20744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1246"/>
            <a:ext cx="2691242" cy="158376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20745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42840"/>
            <a:ext cx="2691242" cy="155217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7"/>
            <a:ext cx="3050438" cy="92140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18992"/>
            <a:ext cx="2691242" cy="157601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09107"/>
            <a:ext cx="3054127" cy="89634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E0E00-B608-4442-B1B0-EF3883EDC83E}" type="datetime1">
              <a:rPr lang="en-US" smtClean="0"/>
              <a:t>12/3/2025</a:t>
            </a:fld>
            <a:endParaRPr lang="en-B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3268133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4F2FF-641F-444D-BEF5-46719F640F38}" type="datetime1">
              <a:rPr lang="en-US" smtClean="0"/>
              <a:t>12/3/2025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2798403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97430"/>
            <a:ext cx="1409965" cy="4729626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97429"/>
            <a:ext cx="6247546" cy="472962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9214-55CA-AD46-A8AB-D24042FB8861}" type="datetime1">
              <a:rPr lang="en-US" smtClean="0"/>
              <a:t>12/3/2025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18" name="Rectangle 17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484502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9" name="Oval 4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B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407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EC90941-B14E-AF40-ADF6-131216519A48}" type="datetime1">
              <a:rPr lang="en-US" smtClean="0"/>
              <a:t>12/3/2025</a:t>
            </a:fld>
            <a:endParaRPr lang="en-BD"/>
          </a:p>
        </p:txBody>
      </p:sp>
      <p:sp>
        <p:nvSpPr>
          <p:cNvPr id="20" name="Rectangle 19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5F5D740-CA27-A546-B322-EE83DC7B618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869048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  <p:sldLayoutId id="2147483865" r:id="rId13"/>
    <p:sldLayoutId id="2147483866" r:id="rId14"/>
    <p:sldLayoutId id="2147483867" r:id="rId15"/>
    <p:sldLayoutId id="2147483868" r:id="rId16"/>
    <p:sldLayoutId id="2147483869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3.xml"/><Relationship Id="rId79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png"/><Relationship Id="rId3" Type="http://schemas.openxmlformats.org/officeDocument/2006/relationships/image" Target="../media/image1790.png"/><Relationship Id="rId7" Type="http://schemas.openxmlformats.org/officeDocument/2006/relationships/customXml" Target="../ink/ink5.xml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4.xml"/><Relationship Id="rId5" Type="http://schemas.openxmlformats.org/officeDocument/2006/relationships/image" Target="../media/image40.png"/><Relationship Id="rId4" Type="http://schemas.openxmlformats.org/officeDocument/2006/relationships/customXml" Target="../ink/ink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0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11.png"/><Relationship Id="rId4" Type="http://schemas.openxmlformats.org/officeDocument/2006/relationships/customXml" Target="../ink/ink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image" Target="../media/image40.png"/><Relationship Id="rId7" Type="http://schemas.openxmlformats.org/officeDocument/2006/relationships/customXml" Target="../ink/ink12.xml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11.xml"/><Relationship Id="rId5" Type="http://schemas.openxmlformats.org/officeDocument/2006/relationships/customXml" Target="../ink/ink10.xml"/><Relationship Id="rId4" Type="http://schemas.openxmlformats.org/officeDocument/2006/relationships/customXml" Target="../ink/ink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13.xml"/><Relationship Id="rId225" Type="http://schemas.openxmlformats.org/officeDocument/2006/relationships/image" Target="../media/image29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.xml"/><Relationship Id="rId13" Type="http://schemas.openxmlformats.org/officeDocument/2006/relationships/image" Target="../media/image1610.png"/><Relationship Id="rId3" Type="http://schemas.openxmlformats.org/officeDocument/2006/relationships/image" Target="../media/image910.png"/><Relationship Id="rId7" Type="http://schemas.openxmlformats.org/officeDocument/2006/relationships/image" Target="../media/image1110.png"/><Relationship Id="rId12" Type="http://schemas.openxmlformats.org/officeDocument/2006/relationships/customXml" Target="../ink/ink20.xml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17.xml"/><Relationship Id="rId11" Type="http://schemas.openxmlformats.org/officeDocument/2006/relationships/image" Target="../media/image1410.png"/><Relationship Id="rId5" Type="http://schemas.openxmlformats.org/officeDocument/2006/relationships/image" Target="../media/image1010.png"/><Relationship Id="rId15" Type="http://schemas.openxmlformats.org/officeDocument/2006/relationships/image" Target="../media/image1960.png"/><Relationship Id="rId10" Type="http://schemas.openxmlformats.org/officeDocument/2006/relationships/customXml" Target="../ink/ink19.xml"/><Relationship Id="rId4" Type="http://schemas.openxmlformats.org/officeDocument/2006/relationships/customXml" Target="../ink/ink16.xml"/><Relationship Id="rId9" Type="http://schemas.openxmlformats.org/officeDocument/2006/relationships/image" Target="../media/image1310.png"/><Relationship Id="rId14" Type="http://schemas.openxmlformats.org/officeDocument/2006/relationships/customXml" Target="../ink/ink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F1F91BE-DD23-D205-C4EC-84E51A1A9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009" y="2057373"/>
            <a:ext cx="8449733" cy="2653172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4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Supply Chain Management</a:t>
            </a:r>
            <a:br>
              <a:rPr lang="en-US" sz="4400" dirty="0">
                <a:solidFill>
                  <a:srgbClr val="002060"/>
                </a:solidFill>
                <a:latin typeface="Arial Rounded MT Bold" panose="020F0704030504030204" pitchFamily="34" charset="0"/>
              </a:rPr>
            </a:br>
            <a:r>
              <a:rPr lang="en-US" sz="44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&amp;</a:t>
            </a:r>
            <a:br>
              <a:rPr lang="en-US" sz="4400" dirty="0">
                <a:solidFill>
                  <a:srgbClr val="002060"/>
                </a:solidFill>
                <a:latin typeface="Arial Rounded MT Bold" panose="020F0704030504030204" pitchFamily="34" charset="0"/>
              </a:rPr>
            </a:br>
            <a:r>
              <a:rPr lang="en-US" sz="44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Transportation Model</a:t>
            </a:r>
            <a:endParaRPr lang="en-US" sz="400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8A6B45F-9B3F-1379-7F3B-2FC05240D6A0}"/>
              </a:ext>
            </a:extLst>
          </p:cNvPr>
          <p:cNvSpPr txBox="1">
            <a:spLocks/>
          </p:cNvSpPr>
          <p:nvPr/>
        </p:nvSpPr>
        <p:spPr>
          <a:xfrm>
            <a:off x="7599285" y="4426856"/>
            <a:ext cx="4592715" cy="5673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en-US" sz="3100" dirty="0">
                <a:solidFill>
                  <a:schemeClr val="accent4">
                    <a:lumMod val="50000"/>
                  </a:schemeClr>
                </a:solidFill>
                <a:latin typeface="Arial Rounded MT Bold" panose="020F0704030504030204" pitchFamily="34" charset="0"/>
              </a:rPr>
              <a:t>Chapter#  5, 11</a:t>
            </a:r>
            <a:endParaRPr lang="en-US" sz="4000" dirty="0">
              <a:solidFill>
                <a:schemeClr val="accent4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8890E03-A797-7F0F-C29D-6707F3385F0F}"/>
              </a:ext>
            </a:extLst>
          </p:cNvPr>
          <p:cNvSpPr txBox="1">
            <a:spLocks/>
          </p:cNvSpPr>
          <p:nvPr/>
        </p:nvSpPr>
        <p:spPr>
          <a:xfrm>
            <a:off x="764275" y="1060258"/>
            <a:ext cx="7318371" cy="997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ENGINEERING MANAGEMENT</a:t>
            </a:r>
            <a:endParaRPr lang="en-US" sz="4400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D56ED5-6DAC-7709-922E-42724A8A0D8D}"/>
              </a:ext>
            </a:extLst>
          </p:cNvPr>
          <p:cNvSpPr/>
          <p:nvPr/>
        </p:nvSpPr>
        <p:spPr>
          <a:xfrm>
            <a:off x="3591134" y="577333"/>
            <a:ext cx="426110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b="1" u="sng" dirty="0">
                <a:solidFill>
                  <a:srgbClr val="0072E5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INTRODUCTION </a:t>
            </a:r>
            <a:endParaRPr lang="en-GB" sz="4000" u="sng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3" name="Picture 2" descr="Chart, waterfall chart&#10;&#10;Description automatically generated">
            <a:extLst>
              <a:ext uri="{FF2B5EF4-FFF2-40B4-BE49-F238E27FC236}">
                <a16:creationId xmlns:a16="http://schemas.microsoft.com/office/drawing/2014/main" id="{6162B4F1-7DB3-ECC2-6EFA-82B7F01D1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934" y="1469885"/>
            <a:ext cx="10944785" cy="462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8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D56ED5-6DAC-7709-922E-42724A8A0D8D}"/>
              </a:ext>
            </a:extLst>
          </p:cNvPr>
          <p:cNvSpPr/>
          <p:nvPr/>
        </p:nvSpPr>
        <p:spPr>
          <a:xfrm>
            <a:off x="1549898" y="577333"/>
            <a:ext cx="426110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b="1" u="sng" dirty="0">
                <a:solidFill>
                  <a:srgbClr val="0072E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INTRODUCTION </a:t>
            </a:r>
            <a:endParaRPr lang="en-GB" sz="4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FBA749-3F67-78E1-45BC-0A85FAB5BCDF}"/>
              </a:ext>
            </a:extLst>
          </p:cNvPr>
          <p:cNvSpPr/>
          <p:nvPr/>
        </p:nvSpPr>
        <p:spPr>
          <a:xfrm>
            <a:off x="1549898" y="1367159"/>
            <a:ext cx="985963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</a:t>
            </a:r>
            <a:r>
              <a:rPr lang="en-GB" sz="28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supply chain </a:t>
            </a:r>
            <a:r>
              <a:rPr lang="en-GB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is the sequence of organizations - their facilities, functions, and activities that are involved in producing and delivering a product or service.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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sequence begins with </a:t>
            </a:r>
            <a:r>
              <a:rPr lang="en-GB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basic suppliers of raw materials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and </a:t>
            </a:r>
            <a:r>
              <a:rPr lang="en-GB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extends all the way to their final customers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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Facilities include </a:t>
            </a:r>
            <a:r>
              <a:rPr lang="en-GB" sz="24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warehouses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r>
              <a:rPr lang="en-GB" sz="24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factories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r>
              <a:rPr lang="en-GB" sz="2400" b="1" dirty="0">
                <a:solidFill>
                  <a:srgbClr val="BD12A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processing centres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r>
              <a:rPr lang="en-GB" sz="2400" b="1" dirty="0">
                <a:solidFill>
                  <a:srgbClr val="00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distribution centres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r>
              <a:rPr lang="en-GB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retail outlets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and </a:t>
            </a:r>
            <a:r>
              <a:rPr lang="en-GB" sz="24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offices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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Functions and activities include forecasting, purchasing, inventory management, information management, quality assurance, scheduling, production, distribution, delivery, and customer service. </a:t>
            </a:r>
          </a:p>
        </p:txBody>
      </p:sp>
    </p:spTree>
    <p:extLst>
      <p:ext uri="{BB962C8B-B14F-4D97-AF65-F5344CB8AC3E}">
        <p14:creationId xmlns:p14="http://schemas.microsoft.com/office/powerpoint/2010/main" val="2258628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D56ED5-6DAC-7709-922E-42724A8A0D8D}"/>
              </a:ext>
            </a:extLst>
          </p:cNvPr>
          <p:cNvSpPr/>
          <p:nvPr/>
        </p:nvSpPr>
        <p:spPr>
          <a:xfrm>
            <a:off x="1549898" y="577333"/>
            <a:ext cx="426110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b="1" u="sng" dirty="0">
                <a:solidFill>
                  <a:srgbClr val="0072E5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INTRODUCTION </a:t>
            </a:r>
            <a:endParaRPr lang="en-GB" sz="4000" u="sng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FBA749-3F67-78E1-45BC-0A85FAB5BCDF}"/>
              </a:ext>
            </a:extLst>
          </p:cNvPr>
          <p:cNvSpPr/>
          <p:nvPr/>
        </p:nvSpPr>
        <p:spPr>
          <a:xfrm>
            <a:off x="1549898" y="1367159"/>
            <a:ext cx="985963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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An important aspect of supply chain management is </a:t>
            </a:r>
            <a:r>
              <a:rPr lang="en-GB" sz="2400" b="1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flow management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 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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three types of flow that need to be managed are </a:t>
            </a:r>
            <a:r>
              <a:rPr lang="en-GB" sz="2400" b="1" dirty="0">
                <a:solidFill>
                  <a:schemeClr val="accent3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product and service flow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r>
              <a:rPr lang="en-GB" sz="2400" b="1" dirty="0">
                <a:solidFill>
                  <a:srgbClr val="0070C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information flow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and </a:t>
            </a:r>
            <a:r>
              <a:rPr lang="en-GB" sz="2400" b="1" dirty="0">
                <a:solidFill>
                  <a:srgbClr val="7030A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financial flow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b="1" dirty="0">
                <a:solidFill>
                  <a:srgbClr val="00206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</a:t>
            </a:r>
            <a:r>
              <a:rPr lang="en-GB" sz="2400" b="1" dirty="0">
                <a:solidFill>
                  <a:schemeClr val="accent3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 </a:t>
            </a:r>
            <a:r>
              <a:rPr lang="en-GB" sz="2400" b="1" dirty="0">
                <a:solidFill>
                  <a:schemeClr val="accent3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Product and service flow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involves the movement of goods or services from suppliers to customers, as well as handling customer service needs and product returns.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b="1" dirty="0">
                <a:solidFill>
                  <a:srgbClr val="00206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GB" sz="2400" b="1" dirty="0">
                <a:solidFill>
                  <a:srgbClr val="0070C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Information flow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involves sharing forecast and sales data, transmitting orders, tracking shipments, and updating order status.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b="1" dirty="0">
                <a:solidFill>
                  <a:srgbClr val="00206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GB" sz="2400" b="1" dirty="0">
                <a:solidFill>
                  <a:srgbClr val="7030A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Financial flow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involves credit terms, payments, and consignment and title ownership arrangements. </a:t>
            </a:r>
            <a:endParaRPr lang="en-GB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48009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F88CE-CFD2-D092-89FA-41466950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Closed loop supply chain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and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Circular Economy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45FFED-0EDB-E08F-9D4B-C974E6E992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1088" y="197167"/>
            <a:ext cx="6858000" cy="28575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C8D213-D4E8-DD56-5156-282AB2F65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88" y="3054668"/>
            <a:ext cx="7810500" cy="360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192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E4B773-AF8C-BCDF-115B-3EEDC8E69E14}"/>
              </a:ext>
            </a:extLst>
          </p:cNvPr>
          <p:cNvSpPr/>
          <p:nvPr/>
        </p:nvSpPr>
        <p:spPr>
          <a:xfrm>
            <a:off x="1549898" y="1285219"/>
            <a:ext cx="1000723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b="1" dirty="0">
                <a:solidFill>
                  <a:srgbClr val="0068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Logistics</a:t>
            </a:r>
            <a:r>
              <a:rPr lang="en-GB" sz="2400" b="1" dirty="0">
                <a:solidFill>
                  <a:srgbClr val="0068FF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refers to the movement of materials, services, cash, and information in a supply chain.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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Materials include all of the physical items used in a production process. 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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 addition to raw materials and work in process, there are support items such as fuels, equipment, parts, tools, lubricants, office supplies, and more.</a:t>
            </a:r>
          </a:p>
          <a:p>
            <a:pPr algn="just"/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just"/>
            <a:r>
              <a:rPr lang="en-GB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 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Logistics includes movement within a facility, overseeing incoming and outgoing shipments of goods and materials, and information flow throughout the supply chain.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E18D8F-ADB1-56A9-D95E-4EEF09E17B0D}"/>
              </a:ext>
            </a:extLst>
          </p:cNvPr>
          <p:cNvSpPr/>
          <p:nvPr/>
        </p:nvSpPr>
        <p:spPr>
          <a:xfrm>
            <a:off x="1528950" y="523219"/>
            <a:ext cx="61606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600" b="1" u="sng" dirty="0">
                <a:solidFill>
                  <a:srgbClr val="BD12A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LOGISTICS MANAGEMENT</a:t>
            </a:r>
            <a:endParaRPr lang="en-GB" sz="3600" u="sng" dirty="0">
              <a:solidFill>
                <a:srgbClr val="BD12A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98086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D56ED5-6DAC-7709-922E-42724A8A0D8D}"/>
              </a:ext>
            </a:extLst>
          </p:cNvPr>
          <p:cNvSpPr/>
          <p:nvPr/>
        </p:nvSpPr>
        <p:spPr>
          <a:xfrm>
            <a:off x="1511088" y="180944"/>
            <a:ext cx="61606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600" b="1" u="sng" dirty="0">
                <a:solidFill>
                  <a:srgbClr val="BD12A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LOGISTICS MANAGEMENT</a:t>
            </a:r>
            <a:endParaRPr lang="en-GB" sz="3600" u="sng" dirty="0">
              <a:solidFill>
                <a:srgbClr val="BD12A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E4B773-AF8C-BCDF-115B-3EEDC8E69E14}"/>
              </a:ext>
            </a:extLst>
          </p:cNvPr>
          <p:cNvSpPr/>
          <p:nvPr/>
        </p:nvSpPr>
        <p:spPr>
          <a:xfrm>
            <a:off x="1509297" y="866943"/>
            <a:ext cx="41139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Movement within a Facility </a:t>
            </a:r>
            <a:endParaRPr lang="en-GB" sz="3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F28555-8E76-01F3-03B8-06044765A808}"/>
              </a:ext>
            </a:extLst>
          </p:cNvPr>
          <p:cNvSpPr/>
          <p:nvPr/>
        </p:nvSpPr>
        <p:spPr>
          <a:xfrm>
            <a:off x="1509298" y="1339463"/>
            <a:ext cx="293987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Movement of goods within a manufacturing facility is part of production control</a:t>
            </a:r>
            <a:r>
              <a:rPr lang="en-GB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15CB7C-7B98-F689-DB06-2D8C29D21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865" y="1489219"/>
            <a:ext cx="7280228" cy="528864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11B6D93-651B-1C94-C7EC-2B84999F3398}"/>
              </a:ext>
            </a:extLst>
          </p:cNvPr>
          <p:cNvSpPr/>
          <p:nvPr/>
        </p:nvSpPr>
        <p:spPr>
          <a:xfrm>
            <a:off x="1522809" y="2783458"/>
            <a:ext cx="4796104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models shows the many steps where materials move within a manufacturing facility: </a:t>
            </a:r>
          </a:p>
          <a:p>
            <a:endParaRPr lang="en-GB" sz="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From incoming vehicles to receiving </a:t>
            </a:r>
          </a:p>
          <a:p>
            <a:pPr marL="342900" indent="-342900">
              <a:buFont typeface="+mj-lt"/>
              <a:buAutoNum type="arabicPeriod"/>
            </a:pPr>
            <a:endParaRPr lang="en-GB" sz="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From receiving to storage </a:t>
            </a:r>
          </a:p>
          <a:p>
            <a:pPr marL="342900" indent="-342900">
              <a:buFont typeface="+mj-lt"/>
              <a:buAutoNum type="arabicPeriod"/>
            </a:pPr>
            <a:endParaRPr lang="en-GB" sz="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From storage to the point of use (e.g., a work </a:t>
            </a:r>
            <a:r>
              <a:rPr lang="en-GB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center</a:t>
            </a: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 </a:t>
            </a:r>
          </a:p>
          <a:p>
            <a:pPr marL="342900" indent="-342900">
              <a:buFont typeface="+mj-lt"/>
              <a:buAutoNum type="arabicPeriod"/>
            </a:pPr>
            <a:endParaRPr lang="en-GB" sz="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From one work </a:t>
            </a:r>
            <a:r>
              <a:rPr lang="en-GB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center</a:t>
            </a: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to the next or to temporary storage </a:t>
            </a:r>
          </a:p>
          <a:p>
            <a:pPr marL="342900" indent="-342900">
              <a:buFont typeface="+mj-lt"/>
              <a:buAutoNum type="arabicPeriod"/>
            </a:pPr>
            <a:endParaRPr lang="en-GB" sz="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From the last operation to final storage </a:t>
            </a:r>
          </a:p>
          <a:p>
            <a:pPr marL="342900" indent="-342900">
              <a:buFont typeface="+mj-lt"/>
              <a:buAutoNum type="arabicPeriod"/>
            </a:pPr>
            <a:endParaRPr lang="en-GB" sz="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From storage to packaging/shipping </a:t>
            </a:r>
          </a:p>
          <a:p>
            <a:pPr marL="342900" indent="-342900">
              <a:buFont typeface="+mj-lt"/>
              <a:buAutoNum type="arabicPeriod"/>
            </a:pPr>
            <a:endParaRPr lang="en-GB" sz="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From shipping to outgoing vehicles </a:t>
            </a:r>
          </a:p>
        </p:txBody>
      </p:sp>
    </p:spTree>
    <p:extLst>
      <p:ext uri="{BB962C8B-B14F-4D97-AF65-F5344CB8AC3E}">
        <p14:creationId xmlns:p14="http://schemas.microsoft.com/office/powerpoint/2010/main" val="894680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78451F-8AD2-A145-B01D-C44B686F95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48030" y="848879"/>
            <a:ext cx="5499533" cy="553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008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026">
            <a:extLst>
              <a:ext uri="{FF2B5EF4-FFF2-40B4-BE49-F238E27FC236}">
                <a16:creationId xmlns:a16="http://schemas.microsoft.com/office/drawing/2014/main" id="{59B2B5E9-E22B-90F4-B3D1-0870887452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07406" y="200024"/>
            <a:ext cx="7977188" cy="561975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000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A Framework for Structuring Drivers</a:t>
            </a:r>
          </a:p>
        </p:txBody>
      </p:sp>
      <p:grpSp>
        <p:nvGrpSpPr>
          <p:cNvPr id="13" name="Group 1099">
            <a:extLst>
              <a:ext uri="{FF2B5EF4-FFF2-40B4-BE49-F238E27FC236}">
                <a16:creationId xmlns:a16="http://schemas.microsoft.com/office/drawing/2014/main" id="{01235ABF-531D-AE1A-1380-46D42B2A8A99}"/>
              </a:ext>
            </a:extLst>
          </p:cNvPr>
          <p:cNvGrpSpPr>
            <a:grpSpLocks/>
          </p:cNvGrpSpPr>
          <p:nvPr/>
        </p:nvGrpSpPr>
        <p:grpSpPr bwMode="auto">
          <a:xfrm>
            <a:off x="1383307" y="769758"/>
            <a:ext cx="9209714" cy="5721089"/>
            <a:chOff x="-4" y="958"/>
            <a:chExt cx="5380" cy="3050"/>
          </a:xfrm>
        </p:grpSpPr>
        <p:sp>
          <p:nvSpPr>
            <p:cNvPr id="19" name="AutoShape 1045">
              <a:extLst>
                <a:ext uri="{FF2B5EF4-FFF2-40B4-BE49-F238E27FC236}">
                  <a16:creationId xmlns:a16="http://schemas.microsoft.com/office/drawing/2014/main" id="{D3DAE192-2848-0405-E213-2549FAA0D73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720" y="960"/>
              <a:ext cx="4656" cy="3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20" name="Rectangle 1047">
              <a:extLst>
                <a:ext uri="{FF2B5EF4-FFF2-40B4-BE49-F238E27FC236}">
                  <a16:creationId xmlns:a16="http://schemas.microsoft.com/office/drawing/2014/main" id="{2FD91FC1-BA29-B095-D3D0-CE269FAB7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" y="958"/>
              <a:ext cx="4660" cy="30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sz="2000"/>
            </a:p>
          </p:txBody>
        </p:sp>
        <p:sp>
          <p:nvSpPr>
            <p:cNvPr id="21" name="Freeform 1048">
              <a:extLst>
                <a:ext uri="{FF2B5EF4-FFF2-40B4-BE49-F238E27FC236}">
                  <a16:creationId xmlns:a16="http://schemas.microsoft.com/office/drawing/2014/main" id="{00F87345-785B-B3D5-2CA5-A8266006B8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73" y="2310"/>
              <a:ext cx="1168" cy="985"/>
            </a:xfrm>
            <a:custGeom>
              <a:avLst/>
              <a:gdLst>
                <a:gd name="T0" fmla="*/ 1166 w 1168"/>
                <a:gd name="T1" fmla="*/ 5 h 985"/>
                <a:gd name="T2" fmla="*/ 26 w 1168"/>
                <a:gd name="T3" fmla="*/ 968 h 985"/>
                <a:gd name="T4" fmla="*/ 24 w 1168"/>
                <a:gd name="T5" fmla="*/ 968 h 985"/>
                <a:gd name="T6" fmla="*/ 21 w 1168"/>
                <a:gd name="T7" fmla="*/ 968 h 985"/>
                <a:gd name="T8" fmla="*/ 21 w 1168"/>
                <a:gd name="T9" fmla="*/ 966 h 985"/>
                <a:gd name="T10" fmla="*/ 21 w 1168"/>
                <a:gd name="T11" fmla="*/ 966 h 985"/>
                <a:gd name="T12" fmla="*/ 21 w 1168"/>
                <a:gd name="T13" fmla="*/ 965 h 985"/>
                <a:gd name="T14" fmla="*/ 21 w 1168"/>
                <a:gd name="T15" fmla="*/ 963 h 985"/>
                <a:gd name="T16" fmla="*/ 1163 w 1168"/>
                <a:gd name="T17" fmla="*/ 2 h 985"/>
                <a:gd name="T18" fmla="*/ 1163 w 1168"/>
                <a:gd name="T19" fmla="*/ 0 h 985"/>
                <a:gd name="T20" fmla="*/ 1165 w 1168"/>
                <a:gd name="T21" fmla="*/ 0 h 985"/>
                <a:gd name="T22" fmla="*/ 1166 w 1168"/>
                <a:gd name="T23" fmla="*/ 0 h 985"/>
                <a:gd name="T24" fmla="*/ 1166 w 1168"/>
                <a:gd name="T25" fmla="*/ 2 h 985"/>
                <a:gd name="T26" fmla="*/ 1168 w 1168"/>
                <a:gd name="T27" fmla="*/ 3 h 985"/>
                <a:gd name="T28" fmla="*/ 1166 w 1168"/>
                <a:gd name="T29" fmla="*/ 5 h 985"/>
                <a:gd name="T30" fmla="*/ 1166 w 1168"/>
                <a:gd name="T31" fmla="*/ 5 h 985"/>
                <a:gd name="T32" fmla="*/ 42 w 1168"/>
                <a:gd name="T33" fmla="*/ 974 h 985"/>
                <a:gd name="T34" fmla="*/ 0 w 1168"/>
                <a:gd name="T35" fmla="*/ 985 h 985"/>
                <a:gd name="T36" fmla="*/ 15 w 1168"/>
                <a:gd name="T37" fmla="*/ 950 h 985"/>
                <a:gd name="T38" fmla="*/ 42 w 1168"/>
                <a:gd name="T39" fmla="*/ 974 h 98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168"/>
                <a:gd name="T61" fmla="*/ 0 h 985"/>
                <a:gd name="T62" fmla="*/ 1168 w 1168"/>
                <a:gd name="T63" fmla="*/ 985 h 98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168" h="985">
                  <a:moveTo>
                    <a:pt x="1166" y="5"/>
                  </a:moveTo>
                  <a:lnTo>
                    <a:pt x="26" y="968"/>
                  </a:lnTo>
                  <a:lnTo>
                    <a:pt x="24" y="968"/>
                  </a:lnTo>
                  <a:lnTo>
                    <a:pt x="21" y="968"/>
                  </a:lnTo>
                  <a:lnTo>
                    <a:pt x="21" y="966"/>
                  </a:lnTo>
                  <a:lnTo>
                    <a:pt x="21" y="965"/>
                  </a:lnTo>
                  <a:lnTo>
                    <a:pt x="21" y="963"/>
                  </a:lnTo>
                  <a:lnTo>
                    <a:pt x="1163" y="2"/>
                  </a:lnTo>
                  <a:lnTo>
                    <a:pt x="1163" y="0"/>
                  </a:lnTo>
                  <a:lnTo>
                    <a:pt x="1165" y="0"/>
                  </a:lnTo>
                  <a:lnTo>
                    <a:pt x="1166" y="0"/>
                  </a:lnTo>
                  <a:lnTo>
                    <a:pt x="1166" y="2"/>
                  </a:lnTo>
                  <a:lnTo>
                    <a:pt x="1168" y="3"/>
                  </a:lnTo>
                  <a:lnTo>
                    <a:pt x="1166" y="5"/>
                  </a:lnTo>
                  <a:close/>
                  <a:moveTo>
                    <a:pt x="42" y="974"/>
                  </a:moveTo>
                  <a:lnTo>
                    <a:pt x="0" y="985"/>
                  </a:lnTo>
                  <a:lnTo>
                    <a:pt x="15" y="950"/>
                  </a:lnTo>
                  <a:lnTo>
                    <a:pt x="42" y="974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22" name="Freeform 1049">
              <a:extLst>
                <a:ext uri="{FF2B5EF4-FFF2-40B4-BE49-F238E27FC236}">
                  <a16:creationId xmlns:a16="http://schemas.microsoft.com/office/drawing/2014/main" id="{0B512BFB-EC81-9A87-6AA3-E1B0614113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12" y="2310"/>
              <a:ext cx="1285" cy="985"/>
            </a:xfrm>
            <a:custGeom>
              <a:avLst/>
              <a:gdLst>
                <a:gd name="T0" fmla="*/ 6 w 1285"/>
                <a:gd name="T1" fmla="*/ 2 h 985"/>
                <a:gd name="T2" fmla="*/ 1261 w 1285"/>
                <a:gd name="T3" fmla="*/ 965 h 985"/>
                <a:gd name="T4" fmla="*/ 1263 w 1285"/>
                <a:gd name="T5" fmla="*/ 966 h 985"/>
                <a:gd name="T6" fmla="*/ 1263 w 1285"/>
                <a:gd name="T7" fmla="*/ 966 h 985"/>
                <a:gd name="T8" fmla="*/ 1263 w 1285"/>
                <a:gd name="T9" fmla="*/ 968 h 985"/>
                <a:gd name="T10" fmla="*/ 1263 w 1285"/>
                <a:gd name="T11" fmla="*/ 968 h 985"/>
                <a:gd name="T12" fmla="*/ 1261 w 1285"/>
                <a:gd name="T13" fmla="*/ 969 h 985"/>
                <a:gd name="T14" fmla="*/ 1260 w 1285"/>
                <a:gd name="T15" fmla="*/ 969 h 985"/>
                <a:gd name="T16" fmla="*/ 1260 w 1285"/>
                <a:gd name="T17" fmla="*/ 969 h 985"/>
                <a:gd name="T18" fmla="*/ 1258 w 1285"/>
                <a:gd name="T19" fmla="*/ 969 h 985"/>
                <a:gd name="T20" fmla="*/ 0 w 1285"/>
                <a:gd name="T21" fmla="*/ 5 h 985"/>
                <a:gd name="T22" fmla="*/ 0 w 1285"/>
                <a:gd name="T23" fmla="*/ 3 h 985"/>
                <a:gd name="T24" fmla="*/ 0 w 1285"/>
                <a:gd name="T25" fmla="*/ 3 h 985"/>
                <a:gd name="T26" fmla="*/ 0 w 1285"/>
                <a:gd name="T27" fmla="*/ 2 h 985"/>
                <a:gd name="T28" fmla="*/ 2 w 1285"/>
                <a:gd name="T29" fmla="*/ 0 h 985"/>
                <a:gd name="T30" fmla="*/ 4 w 1285"/>
                <a:gd name="T31" fmla="*/ 0 h 985"/>
                <a:gd name="T32" fmla="*/ 6 w 1285"/>
                <a:gd name="T33" fmla="*/ 2 h 985"/>
                <a:gd name="T34" fmla="*/ 6 w 1285"/>
                <a:gd name="T35" fmla="*/ 2 h 985"/>
                <a:gd name="T36" fmla="*/ 1269 w 1285"/>
                <a:gd name="T37" fmla="*/ 950 h 985"/>
                <a:gd name="T38" fmla="*/ 1285 w 1285"/>
                <a:gd name="T39" fmla="*/ 985 h 985"/>
                <a:gd name="T40" fmla="*/ 1243 w 1285"/>
                <a:gd name="T41" fmla="*/ 976 h 985"/>
                <a:gd name="T42" fmla="*/ 1269 w 1285"/>
                <a:gd name="T43" fmla="*/ 950 h 98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85"/>
                <a:gd name="T67" fmla="*/ 0 h 985"/>
                <a:gd name="T68" fmla="*/ 1285 w 1285"/>
                <a:gd name="T69" fmla="*/ 985 h 985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85" h="985">
                  <a:moveTo>
                    <a:pt x="6" y="2"/>
                  </a:moveTo>
                  <a:lnTo>
                    <a:pt x="1261" y="965"/>
                  </a:lnTo>
                  <a:lnTo>
                    <a:pt x="1263" y="966"/>
                  </a:lnTo>
                  <a:lnTo>
                    <a:pt x="1263" y="968"/>
                  </a:lnTo>
                  <a:lnTo>
                    <a:pt x="1261" y="969"/>
                  </a:lnTo>
                  <a:lnTo>
                    <a:pt x="1260" y="969"/>
                  </a:lnTo>
                  <a:lnTo>
                    <a:pt x="1258" y="969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2"/>
                  </a:lnTo>
                  <a:lnTo>
                    <a:pt x="2" y="0"/>
                  </a:lnTo>
                  <a:lnTo>
                    <a:pt x="4" y="0"/>
                  </a:lnTo>
                  <a:lnTo>
                    <a:pt x="6" y="2"/>
                  </a:lnTo>
                  <a:close/>
                  <a:moveTo>
                    <a:pt x="1269" y="950"/>
                  </a:moveTo>
                  <a:lnTo>
                    <a:pt x="1285" y="985"/>
                  </a:lnTo>
                  <a:lnTo>
                    <a:pt x="1243" y="976"/>
                  </a:lnTo>
                  <a:lnTo>
                    <a:pt x="1269" y="950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23" name="Freeform 1050">
              <a:extLst>
                <a:ext uri="{FF2B5EF4-FFF2-40B4-BE49-F238E27FC236}">
                  <a16:creationId xmlns:a16="http://schemas.microsoft.com/office/drawing/2014/main" id="{00E3C00F-4FEE-0EAA-BF51-3FCFC62CC5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34" y="2310"/>
              <a:ext cx="39" cy="985"/>
            </a:xfrm>
            <a:custGeom>
              <a:avLst/>
              <a:gdLst>
                <a:gd name="T0" fmla="*/ 24 w 39"/>
                <a:gd name="T1" fmla="*/ 3 h 985"/>
                <a:gd name="T2" fmla="*/ 24 w 39"/>
                <a:gd name="T3" fmla="*/ 957 h 985"/>
                <a:gd name="T4" fmla="*/ 22 w 39"/>
                <a:gd name="T5" fmla="*/ 958 h 985"/>
                <a:gd name="T6" fmla="*/ 22 w 39"/>
                <a:gd name="T7" fmla="*/ 960 h 985"/>
                <a:gd name="T8" fmla="*/ 22 w 39"/>
                <a:gd name="T9" fmla="*/ 960 h 985"/>
                <a:gd name="T10" fmla="*/ 20 w 39"/>
                <a:gd name="T11" fmla="*/ 960 h 985"/>
                <a:gd name="T12" fmla="*/ 19 w 39"/>
                <a:gd name="T13" fmla="*/ 960 h 985"/>
                <a:gd name="T14" fmla="*/ 19 w 39"/>
                <a:gd name="T15" fmla="*/ 960 h 985"/>
                <a:gd name="T16" fmla="*/ 17 w 39"/>
                <a:gd name="T17" fmla="*/ 958 h 985"/>
                <a:gd name="T18" fmla="*/ 17 w 39"/>
                <a:gd name="T19" fmla="*/ 957 h 985"/>
                <a:gd name="T20" fmla="*/ 17 w 39"/>
                <a:gd name="T21" fmla="*/ 3 h 985"/>
                <a:gd name="T22" fmla="*/ 17 w 39"/>
                <a:gd name="T23" fmla="*/ 2 h 985"/>
                <a:gd name="T24" fmla="*/ 19 w 39"/>
                <a:gd name="T25" fmla="*/ 2 h 985"/>
                <a:gd name="T26" fmla="*/ 19 w 39"/>
                <a:gd name="T27" fmla="*/ 0 h 985"/>
                <a:gd name="T28" fmla="*/ 20 w 39"/>
                <a:gd name="T29" fmla="*/ 0 h 985"/>
                <a:gd name="T30" fmla="*/ 22 w 39"/>
                <a:gd name="T31" fmla="*/ 0 h 985"/>
                <a:gd name="T32" fmla="*/ 22 w 39"/>
                <a:gd name="T33" fmla="*/ 2 h 985"/>
                <a:gd name="T34" fmla="*/ 22 w 39"/>
                <a:gd name="T35" fmla="*/ 2 h 985"/>
                <a:gd name="T36" fmla="*/ 24 w 39"/>
                <a:gd name="T37" fmla="*/ 3 h 985"/>
                <a:gd name="T38" fmla="*/ 24 w 39"/>
                <a:gd name="T39" fmla="*/ 3 h 985"/>
                <a:gd name="T40" fmla="*/ 39 w 39"/>
                <a:gd name="T41" fmla="*/ 952 h 985"/>
                <a:gd name="T42" fmla="*/ 20 w 39"/>
                <a:gd name="T43" fmla="*/ 985 h 985"/>
                <a:gd name="T44" fmla="*/ 0 w 39"/>
                <a:gd name="T45" fmla="*/ 952 h 985"/>
                <a:gd name="T46" fmla="*/ 39 w 39"/>
                <a:gd name="T47" fmla="*/ 952 h 98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39"/>
                <a:gd name="T73" fmla="*/ 0 h 985"/>
                <a:gd name="T74" fmla="*/ 39 w 39"/>
                <a:gd name="T75" fmla="*/ 985 h 985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39" h="985">
                  <a:moveTo>
                    <a:pt x="24" y="3"/>
                  </a:moveTo>
                  <a:lnTo>
                    <a:pt x="24" y="957"/>
                  </a:lnTo>
                  <a:lnTo>
                    <a:pt x="22" y="958"/>
                  </a:lnTo>
                  <a:lnTo>
                    <a:pt x="22" y="960"/>
                  </a:lnTo>
                  <a:lnTo>
                    <a:pt x="20" y="960"/>
                  </a:lnTo>
                  <a:lnTo>
                    <a:pt x="19" y="960"/>
                  </a:lnTo>
                  <a:lnTo>
                    <a:pt x="17" y="958"/>
                  </a:lnTo>
                  <a:lnTo>
                    <a:pt x="17" y="957"/>
                  </a:lnTo>
                  <a:lnTo>
                    <a:pt x="17" y="3"/>
                  </a:lnTo>
                  <a:lnTo>
                    <a:pt x="17" y="2"/>
                  </a:lnTo>
                  <a:lnTo>
                    <a:pt x="19" y="2"/>
                  </a:lnTo>
                  <a:lnTo>
                    <a:pt x="19" y="0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24" y="3"/>
                  </a:lnTo>
                  <a:close/>
                  <a:moveTo>
                    <a:pt x="39" y="952"/>
                  </a:moveTo>
                  <a:lnTo>
                    <a:pt x="20" y="985"/>
                  </a:lnTo>
                  <a:lnTo>
                    <a:pt x="0" y="952"/>
                  </a:lnTo>
                  <a:lnTo>
                    <a:pt x="39" y="952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24" name="Rectangle 1051">
              <a:extLst>
                <a:ext uri="{FF2B5EF4-FFF2-40B4-BE49-F238E27FC236}">
                  <a16:creationId xmlns:a16="http://schemas.microsoft.com/office/drawing/2014/main" id="{6D84BF28-356F-9C2A-FE51-53D0E6BCDA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1" y="1129"/>
              <a:ext cx="1407" cy="271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" name="Rectangle 1052">
              <a:extLst>
                <a:ext uri="{FF2B5EF4-FFF2-40B4-BE49-F238E27FC236}">
                  <a16:creationId xmlns:a16="http://schemas.microsoft.com/office/drawing/2014/main" id="{71F70120-C568-2F30-DAD5-55FB24E80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9" y="1191"/>
              <a:ext cx="1109" cy="1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500" b="1" i="1" dirty="0">
                  <a:solidFill>
                    <a:srgbClr val="000000"/>
                  </a:solidFill>
                </a:rPr>
                <a:t>Competitive Strategy</a:t>
              </a:r>
              <a:endParaRPr lang="en-US" altLang="en-US" dirty="0"/>
            </a:p>
          </p:txBody>
        </p:sp>
        <p:sp>
          <p:nvSpPr>
            <p:cNvPr id="26" name="Rectangle 1053">
              <a:extLst>
                <a:ext uri="{FF2B5EF4-FFF2-40B4-BE49-F238E27FC236}">
                  <a16:creationId xmlns:a16="http://schemas.microsoft.com/office/drawing/2014/main" id="{08C88F21-CEEC-0D7D-830F-89F2D7821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3" y="1535"/>
              <a:ext cx="1407" cy="440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7" name="Rectangle 1054">
              <a:extLst>
                <a:ext uri="{FF2B5EF4-FFF2-40B4-BE49-F238E27FC236}">
                  <a16:creationId xmlns:a16="http://schemas.microsoft.com/office/drawing/2014/main" id="{F0E50C5D-476F-0536-3BEB-61363176B7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3" y="1693"/>
              <a:ext cx="1070" cy="1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500" b="1" i="1" dirty="0">
                  <a:solidFill>
                    <a:srgbClr val="000000"/>
                  </a:solidFill>
                </a:rPr>
                <a:t>Supply Chain Strategy </a:t>
              </a:r>
              <a:endParaRPr lang="en-US" altLang="en-US" dirty="0"/>
            </a:p>
          </p:txBody>
        </p:sp>
        <p:sp>
          <p:nvSpPr>
            <p:cNvPr id="29" name="Freeform 1056">
              <a:extLst>
                <a:ext uri="{FF2B5EF4-FFF2-40B4-BE49-F238E27FC236}">
                  <a16:creationId xmlns:a16="http://schemas.microsoft.com/office/drawing/2014/main" id="{C7AF0741-D48B-7592-8A8A-3257ED136C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46" y="2262"/>
              <a:ext cx="1979" cy="102"/>
            </a:xfrm>
            <a:custGeom>
              <a:avLst/>
              <a:gdLst>
                <a:gd name="T0" fmla="*/ 97 w 1979"/>
                <a:gd name="T1" fmla="*/ 34 h 102"/>
                <a:gd name="T2" fmla="*/ 1882 w 1979"/>
                <a:gd name="T3" fmla="*/ 34 h 102"/>
                <a:gd name="T4" fmla="*/ 1882 w 1979"/>
                <a:gd name="T5" fmla="*/ 69 h 102"/>
                <a:gd name="T6" fmla="*/ 97 w 1979"/>
                <a:gd name="T7" fmla="*/ 69 h 102"/>
                <a:gd name="T8" fmla="*/ 97 w 1979"/>
                <a:gd name="T9" fmla="*/ 34 h 102"/>
                <a:gd name="T10" fmla="*/ 115 w 1979"/>
                <a:gd name="T11" fmla="*/ 102 h 102"/>
                <a:gd name="T12" fmla="*/ 0 w 1979"/>
                <a:gd name="T13" fmla="*/ 51 h 102"/>
                <a:gd name="T14" fmla="*/ 115 w 1979"/>
                <a:gd name="T15" fmla="*/ 0 h 102"/>
                <a:gd name="T16" fmla="*/ 115 w 1979"/>
                <a:gd name="T17" fmla="*/ 102 h 102"/>
                <a:gd name="T18" fmla="*/ 1862 w 1979"/>
                <a:gd name="T19" fmla="*/ 0 h 102"/>
                <a:gd name="T20" fmla="*/ 1979 w 1979"/>
                <a:gd name="T21" fmla="*/ 51 h 102"/>
                <a:gd name="T22" fmla="*/ 1862 w 1979"/>
                <a:gd name="T23" fmla="*/ 102 h 102"/>
                <a:gd name="T24" fmla="*/ 1862 w 1979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979"/>
                <a:gd name="T40" fmla="*/ 0 h 102"/>
                <a:gd name="T41" fmla="*/ 1979 w 1979"/>
                <a:gd name="T42" fmla="*/ 102 h 10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979" h="102">
                  <a:moveTo>
                    <a:pt x="97" y="34"/>
                  </a:moveTo>
                  <a:lnTo>
                    <a:pt x="1882" y="34"/>
                  </a:lnTo>
                  <a:lnTo>
                    <a:pt x="1882" y="69"/>
                  </a:lnTo>
                  <a:lnTo>
                    <a:pt x="97" y="69"/>
                  </a:lnTo>
                  <a:lnTo>
                    <a:pt x="97" y="34"/>
                  </a:lnTo>
                  <a:close/>
                  <a:moveTo>
                    <a:pt x="115" y="102"/>
                  </a:moveTo>
                  <a:lnTo>
                    <a:pt x="0" y="51"/>
                  </a:lnTo>
                  <a:lnTo>
                    <a:pt x="115" y="0"/>
                  </a:lnTo>
                  <a:lnTo>
                    <a:pt x="115" y="102"/>
                  </a:lnTo>
                  <a:close/>
                  <a:moveTo>
                    <a:pt x="1862" y="0"/>
                  </a:moveTo>
                  <a:lnTo>
                    <a:pt x="1979" y="51"/>
                  </a:lnTo>
                  <a:lnTo>
                    <a:pt x="1862" y="102"/>
                  </a:lnTo>
                  <a:lnTo>
                    <a:pt x="1862" y="0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30" name="Rectangle 1057">
              <a:extLst>
                <a:ext uri="{FF2B5EF4-FFF2-40B4-BE49-F238E27FC236}">
                  <a16:creationId xmlns:a16="http://schemas.microsoft.com/office/drawing/2014/main" id="{6286FC07-ABCC-AC65-85FE-4E941369D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2018"/>
              <a:ext cx="564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500" b="1" i="1">
                  <a:solidFill>
                    <a:srgbClr val="000000"/>
                  </a:solidFill>
                </a:rPr>
                <a:t>Efficiency</a:t>
              </a:r>
              <a:endParaRPr lang="en-US" altLang="en-US"/>
            </a:p>
          </p:txBody>
        </p:sp>
        <p:sp>
          <p:nvSpPr>
            <p:cNvPr id="31" name="Rectangle 1058">
              <a:extLst>
                <a:ext uri="{FF2B5EF4-FFF2-40B4-BE49-F238E27FC236}">
                  <a16:creationId xmlns:a16="http://schemas.microsoft.com/office/drawing/2014/main" id="{FB8DEB5E-B7EE-66F8-B6BE-CED292DC0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3" y="2053"/>
              <a:ext cx="861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500" b="1" i="1">
                  <a:solidFill>
                    <a:srgbClr val="000000"/>
                  </a:solidFill>
                </a:rPr>
                <a:t>Responsiveness</a:t>
              </a:r>
              <a:endParaRPr lang="en-US" altLang="en-US"/>
            </a:p>
          </p:txBody>
        </p:sp>
        <p:sp>
          <p:nvSpPr>
            <p:cNvPr id="32" name="Rectangle 1059">
              <a:extLst>
                <a:ext uri="{FF2B5EF4-FFF2-40B4-BE49-F238E27FC236}">
                  <a16:creationId xmlns:a16="http://schemas.microsoft.com/office/drawing/2014/main" id="{03D12BE4-FD19-EEB6-F111-E716CD122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" y="2753"/>
              <a:ext cx="1049" cy="3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800"/>
            </a:p>
            <a:p>
              <a:pPr algn="ctr"/>
              <a:endParaRPr lang="en-US" altLang="en-US" b="1"/>
            </a:p>
          </p:txBody>
        </p:sp>
        <p:sp>
          <p:nvSpPr>
            <p:cNvPr id="33" name="Rectangle 1060">
              <a:extLst>
                <a:ext uri="{FF2B5EF4-FFF2-40B4-BE49-F238E27FC236}">
                  <a16:creationId xmlns:a16="http://schemas.microsoft.com/office/drawing/2014/main" id="{CB978943-F81C-CF61-7E17-44A1B546E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" y="2753"/>
              <a:ext cx="1049" cy="340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4" name="Rectangle 1061">
              <a:extLst>
                <a:ext uri="{FF2B5EF4-FFF2-40B4-BE49-F238E27FC236}">
                  <a16:creationId xmlns:a16="http://schemas.microsoft.com/office/drawing/2014/main" id="{5C706B6A-0A7E-9172-5B3B-C13EE3730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1" y="2850"/>
              <a:ext cx="572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 b="1" dirty="0"/>
                <a:t>Facilities</a:t>
              </a:r>
            </a:p>
          </p:txBody>
        </p:sp>
        <p:sp>
          <p:nvSpPr>
            <p:cNvPr id="35" name="Rectangle 1062">
              <a:extLst>
                <a:ext uri="{FF2B5EF4-FFF2-40B4-BE49-F238E27FC236}">
                  <a16:creationId xmlns:a16="http://schemas.microsoft.com/office/drawing/2014/main" id="{F1F3D4BD-58A9-44F6-09AD-BF94021CC0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8" y="2753"/>
              <a:ext cx="1049" cy="3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sz="2000"/>
            </a:p>
          </p:txBody>
        </p:sp>
        <p:sp>
          <p:nvSpPr>
            <p:cNvPr id="36" name="Rectangle 1063">
              <a:extLst>
                <a:ext uri="{FF2B5EF4-FFF2-40B4-BE49-F238E27FC236}">
                  <a16:creationId xmlns:a16="http://schemas.microsoft.com/office/drawing/2014/main" id="{0204E362-D60A-728F-DD2A-E2D3848D2E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8" y="2753"/>
              <a:ext cx="1049" cy="340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7" name="Rectangle 1064">
              <a:extLst>
                <a:ext uri="{FF2B5EF4-FFF2-40B4-BE49-F238E27FC236}">
                  <a16:creationId xmlns:a16="http://schemas.microsoft.com/office/drawing/2014/main" id="{915D1BC8-4EA4-FF1A-B583-AA1A156DD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3" y="2841"/>
              <a:ext cx="632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 b="1" dirty="0"/>
                <a:t>Inventory</a:t>
              </a:r>
            </a:p>
          </p:txBody>
        </p:sp>
        <p:sp>
          <p:nvSpPr>
            <p:cNvPr id="38" name="Rectangle 1065">
              <a:extLst>
                <a:ext uri="{FF2B5EF4-FFF2-40B4-BE49-F238E27FC236}">
                  <a16:creationId xmlns:a16="http://schemas.microsoft.com/office/drawing/2014/main" id="{06E7BFBC-0B2F-4947-0B8E-6A5DB0D1A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1" y="2753"/>
              <a:ext cx="1049" cy="3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000" dirty="0"/>
            </a:p>
          </p:txBody>
        </p:sp>
        <p:sp>
          <p:nvSpPr>
            <p:cNvPr id="39" name="Rectangle 1066">
              <a:extLst>
                <a:ext uri="{FF2B5EF4-FFF2-40B4-BE49-F238E27FC236}">
                  <a16:creationId xmlns:a16="http://schemas.microsoft.com/office/drawing/2014/main" id="{ED24A196-74CE-60A4-9E78-5B69CAF306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1" y="2753"/>
              <a:ext cx="1049" cy="340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0" name="Rectangle 1067">
              <a:extLst>
                <a:ext uri="{FF2B5EF4-FFF2-40B4-BE49-F238E27FC236}">
                  <a16:creationId xmlns:a16="http://schemas.microsoft.com/office/drawing/2014/main" id="{5AAEB205-DC11-055B-6A7E-CC77F305B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6" y="2872"/>
              <a:ext cx="826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700" b="1" dirty="0"/>
                <a:t>Transportation</a:t>
              </a:r>
            </a:p>
          </p:txBody>
        </p:sp>
        <p:sp>
          <p:nvSpPr>
            <p:cNvPr id="41" name="Rectangle 1068">
              <a:extLst>
                <a:ext uri="{FF2B5EF4-FFF2-40B4-BE49-F238E27FC236}">
                  <a16:creationId xmlns:a16="http://schemas.microsoft.com/office/drawing/2014/main" id="{B3DD8D7D-9718-E036-2479-4CE1CD190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" y="3295"/>
              <a:ext cx="1049" cy="338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2" name="Rectangle 1069">
              <a:extLst>
                <a:ext uri="{FF2B5EF4-FFF2-40B4-BE49-F238E27FC236}">
                  <a16:creationId xmlns:a16="http://schemas.microsoft.com/office/drawing/2014/main" id="{DB7C3E3F-DF14-1214-43C3-CA3B08A92A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3383"/>
              <a:ext cx="781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 b="1" dirty="0"/>
                <a:t>Information</a:t>
              </a:r>
            </a:p>
          </p:txBody>
        </p:sp>
        <p:sp>
          <p:nvSpPr>
            <p:cNvPr id="43" name="Freeform 1070">
              <a:extLst>
                <a:ext uri="{FF2B5EF4-FFF2-40B4-BE49-F238E27FC236}">
                  <a16:creationId xmlns:a16="http://schemas.microsoft.com/office/drawing/2014/main" id="{EE0BF67B-DE43-FFAC-C583-783E3D5E83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50" y="2310"/>
              <a:ext cx="1130" cy="413"/>
            </a:xfrm>
            <a:custGeom>
              <a:avLst/>
              <a:gdLst>
                <a:gd name="T0" fmla="*/ 1128 w 1130"/>
                <a:gd name="T1" fmla="*/ 7 h 413"/>
                <a:gd name="T2" fmla="*/ 31 w 1130"/>
                <a:gd name="T3" fmla="*/ 402 h 413"/>
                <a:gd name="T4" fmla="*/ 31 w 1130"/>
                <a:gd name="T5" fmla="*/ 402 h 413"/>
                <a:gd name="T6" fmla="*/ 29 w 1130"/>
                <a:gd name="T7" fmla="*/ 402 h 413"/>
                <a:gd name="T8" fmla="*/ 28 w 1130"/>
                <a:gd name="T9" fmla="*/ 400 h 413"/>
                <a:gd name="T10" fmla="*/ 28 w 1130"/>
                <a:gd name="T11" fmla="*/ 399 h 413"/>
                <a:gd name="T12" fmla="*/ 28 w 1130"/>
                <a:gd name="T13" fmla="*/ 399 h 413"/>
                <a:gd name="T14" fmla="*/ 28 w 1130"/>
                <a:gd name="T15" fmla="*/ 397 h 413"/>
                <a:gd name="T16" fmla="*/ 29 w 1130"/>
                <a:gd name="T17" fmla="*/ 397 h 413"/>
                <a:gd name="T18" fmla="*/ 1126 w 1130"/>
                <a:gd name="T19" fmla="*/ 0 h 413"/>
                <a:gd name="T20" fmla="*/ 1126 w 1130"/>
                <a:gd name="T21" fmla="*/ 0 h 413"/>
                <a:gd name="T22" fmla="*/ 1128 w 1130"/>
                <a:gd name="T23" fmla="*/ 0 h 413"/>
                <a:gd name="T24" fmla="*/ 1130 w 1130"/>
                <a:gd name="T25" fmla="*/ 2 h 413"/>
                <a:gd name="T26" fmla="*/ 1130 w 1130"/>
                <a:gd name="T27" fmla="*/ 3 h 413"/>
                <a:gd name="T28" fmla="*/ 1130 w 1130"/>
                <a:gd name="T29" fmla="*/ 5 h 413"/>
                <a:gd name="T30" fmla="*/ 1128 w 1130"/>
                <a:gd name="T31" fmla="*/ 7 h 413"/>
                <a:gd name="T32" fmla="*/ 1128 w 1130"/>
                <a:gd name="T33" fmla="*/ 7 h 413"/>
                <a:gd name="T34" fmla="*/ 44 w 1130"/>
                <a:gd name="T35" fmla="*/ 413 h 413"/>
                <a:gd name="T36" fmla="*/ 0 w 1130"/>
                <a:gd name="T37" fmla="*/ 410 h 413"/>
                <a:gd name="T38" fmla="*/ 29 w 1130"/>
                <a:gd name="T39" fmla="*/ 381 h 413"/>
                <a:gd name="T40" fmla="*/ 44 w 1130"/>
                <a:gd name="T41" fmla="*/ 413 h 41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130"/>
                <a:gd name="T64" fmla="*/ 0 h 413"/>
                <a:gd name="T65" fmla="*/ 1130 w 1130"/>
                <a:gd name="T66" fmla="*/ 413 h 41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130" h="413">
                  <a:moveTo>
                    <a:pt x="1128" y="7"/>
                  </a:moveTo>
                  <a:lnTo>
                    <a:pt x="31" y="402"/>
                  </a:lnTo>
                  <a:lnTo>
                    <a:pt x="29" y="402"/>
                  </a:lnTo>
                  <a:lnTo>
                    <a:pt x="28" y="400"/>
                  </a:lnTo>
                  <a:lnTo>
                    <a:pt x="28" y="399"/>
                  </a:lnTo>
                  <a:lnTo>
                    <a:pt x="28" y="397"/>
                  </a:lnTo>
                  <a:lnTo>
                    <a:pt x="29" y="397"/>
                  </a:lnTo>
                  <a:lnTo>
                    <a:pt x="1126" y="0"/>
                  </a:lnTo>
                  <a:lnTo>
                    <a:pt x="1128" y="0"/>
                  </a:lnTo>
                  <a:lnTo>
                    <a:pt x="1130" y="2"/>
                  </a:lnTo>
                  <a:lnTo>
                    <a:pt x="1130" y="3"/>
                  </a:lnTo>
                  <a:lnTo>
                    <a:pt x="1130" y="5"/>
                  </a:lnTo>
                  <a:lnTo>
                    <a:pt x="1128" y="7"/>
                  </a:lnTo>
                  <a:close/>
                  <a:moveTo>
                    <a:pt x="44" y="413"/>
                  </a:moveTo>
                  <a:lnTo>
                    <a:pt x="0" y="410"/>
                  </a:lnTo>
                  <a:lnTo>
                    <a:pt x="29" y="381"/>
                  </a:lnTo>
                  <a:lnTo>
                    <a:pt x="44" y="413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44" name="Freeform 1071">
              <a:extLst>
                <a:ext uri="{FF2B5EF4-FFF2-40B4-BE49-F238E27FC236}">
                  <a16:creationId xmlns:a16="http://schemas.microsoft.com/office/drawing/2014/main" id="{76FD1B19-4945-C5EA-6E19-DFF10D58BC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8" y="2310"/>
              <a:ext cx="38" cy="443"/>
            </a:xfrm>
            <a:custGeom>
              <a:avLst/>
              <a:gdLst>
                <a:gd name="T0" fmla="*/ 22 w 38"/>
                <a:gd name="T1" fmla="*/ 3 h 443"/>
                <a:gd name="T2" fmla="*/ 22 w 38"/>
                <a:gd name="T3" fmla="*/ 415 h 443"/>
                <a:gd name="T4" fmla="*/ 22 w 38"/>
                <a:gd name="T5" fmla="*/ 416 h 443"/>
                <a:gd name="T6" fmla="*/ 22 w 38"/>
                <a:gd name="T7" fmla="*/ 418 h 443"/>
                <a:gd name="T8" fmla="*/ 20 w 38"/>
                <a:gd name="T9" fmla="*/ 418 h 443"/>
                <a:gd name="T10" fmla="*/ 18 w 38"/>
                <a:gd name="T11" fmla="*/ 418 h 443"/>
                <a:gd name="T12" fmla="*/ 18 w 38"/>
                <a:gd name="T13" fmla="*/ 418 h 443"/>
                <a:gd name="T14" fmla="*/ 16 w 38"/>
                <a:gd name="T15" fmla="*/ 418 h 443"/>
                <a:gd name="T16" fmla="*/ 16 w 38"/>
                <a:gd name="T17" fmla="*/ 416 h 443"/>
                <a:gd name="T18" fmla="*/ 16 w 38"/>
                <a:gd name="T19" fmla="*/ 415 h 443"/>
                <a:gd name="T20" fmla="*/ 16 w 38"/>
                <a:gd name="T21" fmla="*/ 3 h 443"/>
                <a:gd name="T22" fmla="*/ 16 w 38"/>
                <a:gd name="T23" fmla="*/ 2 h 443"/>
                <a:gd name="T24" fmla="*/ 16 w 38"/>
                <a:gd name="T25" fmla="*/ 2 h 443"/>
                <a:gd name="T26" fmla="*/ 18 w 38"/>
                <a:gd name="T27" fmla="*/ 0 h 443"/>
                <a:gd name="T28" fmla="*/ 18 w 38"/>
                <a:gd name="T29" fmla="*/ 0 h 443"/>
                <a:gd name="T30" fmla="*/ 20 w 38"/>
                <a:gd name="T31" fmla="*/ 0 h 443"/>
                <a:gd name="T32" fmla="*/ 22 w 38"/>
                <a:gd name="T33" fmla="*/ 2 h 443"/>
                <a:gd name="T34" fmla="*/ 22 w 38"/>
                <a:gd name="T35" fmla="*/ 2 h 443"/>
                <a:gd name="T36" fmla="*/ 22 w 38"/>
                <a:gd name="T37" fmla="*/ 3 h 443"/>
                <a:gd name="T38" fmla="*/ 22 w 38"/>
                <a:gd name="T39" fmla="*/ 3 h 443"/>
                <a:gd name="T40" fmla="*/ 38 w 38"/>
                <a:gd name="T41" fmla="*/ 410 h 443"/>
                <a:gd name="T42" fmla="*/ 18 w 38"/>
                <a:gd name="T43" fmla="*/ 443 h 443"/>
                <a:gd name="T44" fmla="*/ 0 w 38"/>
                <a:gd name="T45" fmla="*/ 410 h 443"/>
                <a:gd name="T46" fmla="*/ 38 w 38"/>
                <a:gd name="T47" fmla="*/ 410 h 44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38"/>
                <a:gd name="T73" fmla="*/ 0 h 443"/>
                <a:gd name="T74" fmla="*/ 38 w 38"/>
                <a:gd name="T75" fmla="*/ 443 h 443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38" h="443">
                  <a:moveTo>
                    <a:pt x="22" y="3"/>
                  </a:moveTo>
                  <a:lnTo>
                    <a:pt x="22" y="415"/>
                  </a:lnTo>
                  <a:lnTo>
                    <a:pt x="22" y="416"/>
                  </a:lnTo>
                  <a:lnTo>
                    <a:pt x="22" y="418"/>
                  </a:lnTo>
                  <a:lnTo>
                    <a:pt x="20" y="418"/>
                  </a:lnTo>
                  <a:lnTo>
                    <a:pt x="18" y="418"/>
                  </a:lnTo>
                  <a:lnTo>
                    <a:pt x="16" y="418"/>
                  </a:lnTo>
                  <a:lnTo>
                    <a:pt x="16" y="416"/>
                  </a:lnTo>
                  <a:lnTo>
                    <a:pt x="16" y="415"/>
                  </a:lnTo>
                  <a:lnTo>
                    <a:pt x="16" y="3"/>
                  </a:lnTo>
                  <a:lnTo>
                    <a:pt x="16" y="2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2" y="2"/>
                  </a:lnTo>
                  <a:lnTo>
                    <a:pt x="22" y="3"/>
                  </a:lnTo>
                  <a:close/>
                  <a:moveTo>
                    <a:pt x="38" y="410"/>
                  </a:moveTo>
                  <a:lnTo>
                    <a:pt x="18" y="443"/>
                  </a:lnTo>
                  <a:lnTo>
                    <a:pt x="0" y="410"/>
                  </a:lnTo>
                  <a:lnTo>
                    <a:pt x="38" y="410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45" name="Freeform 1072">
              <a:extLst>
                <a:ext uri="{FF2B5EF4-FFF2-40B4-BE49-F238E27FC236}">
                  <a16:creationId xmlns:a16="http://schemas.microsoft.com/office/drawing/2014/main" id="{E345221F-C1AA-FC91-541E-9F5192E9C3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74" y="2310"/>
              <a:ext cx="1283" cy="415"/>
            </a:xfrm>
            <a:custGeom>
              <a:avLst/>
              <a:gdLst>
                <a:gd name="T0" fmla="*/ 4 w 1283"/>
                <a:gd name="T1" fmla="*/ 0 h 415"/>
                <a:gd name="T2" fmla="*/ 1254 w 1283"/>
                <a:gd name="T3" fmla="*/ 397 h 415"/>
                <a:gd name="T4" fmla="*/ 1256 w 1283"/>
                <a:gd name="T5" fmla="*/ 399 h 415"/>
                <a:gd name="T6" fmla="*/ 1256 w 1283"/>
                <a:gd name="T7" fmla="*/ 400 h 415"/>
                <a:gd name="T8" fmla="*/ 1256 w 1283"/>
                <a:gd name="T9" fmla="*/ 402 h 415"/>
                <a:gd name="T10" fmla="*/ 1256 w 1283"/>
                <a:gd name="T11" fmla="*/ 402 h 415"/>
                <a:gd name="T12" fmla="*/ 1254 w 1283"/>
                <a:gd name="T13" fmla="*/ 404 h 415"/>
                <a:gd name="T14" fmla="*/ 1254 w 1283"/>
                <a:gd name="T15" fmla="*/ 404 h 415"/>
                <a:gd name="T16" fmla="*/ 1252 w 1283"/>
                <a:gd name="T17" fmla="*/ 404 h 415"/>
                <a:gd name="T18" fmla="*/ 2 w 1283"/>
                <a:gd name="T19" fmla="*/ 7 h 415"/>
                <a:gd name="T20" fmla="*/ 0 w 1283"/>
                <a:gd name="T21" fmla="*/ 5 h 415"/>
                <a:gd name="T22" fmla="*/ 0 w 1283"/>
                <a:gd name="T23" fmla="*/ 3 h 415"/>
                <a:gd name="T24" fmla="*/ 0 w 1283"/>
                <a:gd name="T25" fmla="*/ 2 h 415"/>
                <a:gd name="T26" fmla="*/ 2 w 1283"/>
                <a:gd name="T27" fmla="*/ 2 h 415"/>
                <a:gd name="T28" fmla="*/ 2 w 1283"/>
                <a:gd name="T29" fmla="*/ 0 h 415"/>
                <a:gd name="T30" fmla="*/ 4 w 1283"/>
                <a:gd name="T31" fmla="*/ 0 h 415"/>
                <a:gd name="T32" fmla="*/ 4 w 1283"/>
                <a:gd name="T33" fmla="*/ 0 h 415"/>
                <a:gd name="T34" fmla="*/ 1254 w 1283"/>
                <a:gd name="T35" fmla="*/ 383 h 415"/>
                <a:gd name="T36" fmla="*/ 1283 w 1283"/>
                <a:gd name="T37" fmla="*/ 410 h 415"/>
                <a:gd name="T38" fmla="*/ 1241 w 1283"/>
                <a:gd name="T39" fmla="*/ 415 h 415"/>
                <a:gd name="T40" fmla="*/ 1254 w 1283"/>
                <a:gd name="T41" fmla="*/ 383 h 41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283"/>
                <a:gd name="T64" fmla="*/ 0 h 415"/>
                <a:gd name="T65" fmla="*/ 1283 w 1283"/>
                <a:gd name="T66" fmla="*/ 415 h 41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283" h="415">
                  <a:moveTo>
                    <a:pt x="4" y="0"/>
                  </a:moveTo>
                  <a:lnTo>
                    <a:pt x="1254" y="397"/>
                  </a:lnTo>
                  <a:lnTo>
                    <a:pt x="1256" y="399"/>
                  </a:lnTo>
                  <a:lnTo>
                    <a:pt x="1256" y="400"/>
                  </a:lnTo>
                  <a:lnTo>
                    <a:pt x="1256" y="402"/>
                  </a:lnTo>
                  <a:lnTo>
                    <a:pt x="1254" y="404"/>
                  </a:lnTo>
                  <a:lnTo>
                    <a:pt x="1252" y="404"/>
                  </a:lnTo>
                  <a:lnTo>
                    <a:pt x="2" y="7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4" y="0"/>
                  </a:lnTo>
                  <a:close/>
                  <a:moveTo>
                    <a:pt x="1254" y="383"/>
                  </a:moveTo>
                  <a:lnTo>
                    <a:pt x="1283" y="410"/>
                  </a:lnTo>
                  <a:lnTo>
                    <a:pt x="1241" y="415"/>
                  </a:lnTo>
                  <a:lnTo>
                    <a:pt x="1254" y="383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46" name="Freeform 1073">
              <a:extLst>
                <a:ext uri="{FF2B5EF4-FFF2-40B4-BE49-F238E27FC236}">
                  <a16:creationId xmlns:a16="http://schemas.microsoft.com/office/drawing/2014/main" id="{C983CD83-57E1-423A-6992-F12BA205A8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34" y="1972"/>
              <a:ext cx="39" cy="139"/>
            </a:xfrm>
            <a:custGeom>
              <a:avLst/>
              <a:gdLst>
                <a:gd name="T0" fmla="*/ 24 w 39"/>
                <a:gd name="T1" fmla="*/ 3 h 139"/>
                <a:gd name="T2" fmla="*/ 24 w 39"/>
                <a:gd name="T3" fmla="*/ 110 h 139"/>
                <a:gd name="T4" fmla="*/ 22 w 39"/>
                <a:gd name="T5" fmla="*/ 112 h 139"/>
                <a:gd name="T6" fmla="*/ 22 w 39"/>
                <a:gd name="T7" fmla="*/ 112 h 139"/>
                <a:gd name="T8" fmla="*/ 22 w 39"/>
                <a:gd name="T9" fmla="*/ 113 h 139"/>
                <a:gd name="T10" fmla="*/ 20 w 39"/>
                <a:gd name="T11" fmla="*/ 113 h 139"/>
                <a:gd name="T12" fmla="*/ 19 w 39"/>
                <a:gd name="T13" fmla="*/ 113 h 139"/>
                <a:gd name="T14" fmla="*/ 19 w 39"/>
                <a:gd name="T15" fmla="*/ 112 h 139"/>
                <a:gd name="T16" fmla="*/ 17 w 39"/>
                <a:gd name="T17" fmla="*/ 112 h 139"/>
                <a:gd name="T18" fmla="*/ 17 w 39"/>
                <a:gd name="T19" fmla="*/ 110 h 139"/>
                <a:gd name="T20" fmla="*/ 17 w 39"/>
                <a:gd name="T21" fmla="*/ 3 h 139"/>
                <a:gd name="T22" fmla="*/ 17 w 39"/>
                <a:gd name="T23" fmla="*/ 2 h 139"/>
                <a:gd name="T24" fmla="*/ 19 w 39"/>
                <a:gd name="T25" fmla="*/ 0 h 139"/>
                <a:gd name="T26" fmla="*/ 19 w 39"/>
                <a:gd name="T27" fmla="*/ 0 h 139"/>
                <a:gd name="T28" fmla="*/ 20 w 39"/>
                <a:gd name="T29" fmla="*/ 0 h 139"/>
                <a:gd name="T30" fmla="*/ 22 w 39"/>
                <a:gd name="T31" fmla="*/ 0 h 139"/>
                <a:gd name="T32" fmla="*/ 22 w 39"/>
                <a:gd name="T33" fmla="*/ 0 h 139"/>
                <a:gd name="T34" fmla="*/ 22 w 39"/>
                <a:gd name="T35" fmla="*/ 2 h 139"/>
                <a:gd name="T36" fmla="*/ 24 w 39"/>
                <a:gd name="T37" fmla="*/ 3 h 139"/>
                <a:gd name="T38" fmla="*/ 24 w 39"/>
                <a:gd name="T39" fmla="*/ 3 h 139"/>
                <a:gd name="T40" fmla="*/ 39 w 39"/>
                <a:gd name="T41" fmla="*/ 104 h 139"/>
                <a:gd name="T42" fmla="*/ 20 w 39"/>
                <a:gd name="T43" fmla="*/ 139 h 139"/>
                <a:gd name="T44" fmla="*/ 0 w 39"/>
                <a:gd name="T45" fmla="*/ 104 h 139"/>
                <a:gd name="T46" fmla="*/ 39 w 39"/>
                <a:gd name="T47" fmla="*/ 104 h 13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39"/>
                <a:gd name="T73" fmla="*/ 0 h 139"/>
                <a:gd name="T74" fmla="*/ 39 w 39"/>
                <a:gd name="T75" fmla="*/ 139 h 139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39" h="139">
                  <a:moveTo>
                    <a:pt x="24" y="3"/>
                  </a:moveTo>
                  <a:lnTo>
                    <a:pt x="24" y="110"/>
                  </a:lnTo>
                  <a:lnTo>
                    <a:pt x="22" y="112"/>
                  </a:lnTo>
                  <a:lnTo>
                    <a:pt x="22" y="113"/>
                  </a:lnTo>
                  <a:lnTo>
                    <a:pt x="20" y="113"/>
                  </a:lnTo>
                  <a:lnTo>
                    <a:pt x="19" y="113"/>
                  </a:lnTo>
                  <a:lnTo>
                    <a:pt x="19" y="112"/>
                  </a:lnTo>
                  <a:lnTo>
                    <a:pt x="17" y="112"/>
                  </a:lnTo>
                  <a:lnTo>
                    <a:pt x="17" y="110"/>
                  </a:lnTo>
                  <a:lnTo>
                    <a:pt x="17" y="3"/>
                  </a:lnTo>
                  <a:lnTo>
                    <a:pt x="17" y="2"/>
                  </a:lnTo>
                  <a:lnTo>
                    <a:pt x="19" y="0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24" y="3"/>
                  </a:lnTo>
                  <a:close/>
                  <a:moveTo>
                    <a:pt x="39" y="104"/>
                  </a:moveTo>
                  <a:lnTo>
                    <a:pt x="20" y="139"/>
                  </a:lnTo>
                  <a:lnTo>
                    <a:pt x="0" y="104"/>
                  </a:lnTo>
                  <a:lnTo>
                    <a:pt x="39" y="104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47" name="Freeform 1074">
              <a:extLst>
                <a:ext uri="{FF2B5EF4-FFF2-40B4-BE49-F238E27FC236}">
                  <a16:creationId xmlns:a16="http://schemas.microsoft.com/office/drawing/2014/main" id="{793682DB-479C-59D3-2216-F74D8C0186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34" y="1397"/>
              <a:ext cx="39" cy="138"/>
            </a:xfrm>
            <a:custGeom>
              <a:avLst/>
              <a:gdLst>
                <a:gd name="T0" fmla="*/ 24 w 39"/>
                <a:gd name="T1" fmla="*/ 3 h 138"/>
                <a:gd name="T2" fmla="*/ 24 w 39"/>
                <a:gd name="T3" fmla="*/ 110 h 138"/>
                <a:gd name="T4" fmla="*/ 22 w 39"/>
                <a:gd name="T5" fmla="*/ 111 h 138"/>
                <a:gd name="T6" fmla="*/ 22 w 39"/>
                <a:gd name="T7" fmla="*/ 111 h 138"/>
                <a:gd name="T8" fmla="*/ 22 w 39"/>
                <a:gd name="T9" fmla="*/ 113 h 138"/>
                <a:gd name="T10" fmla="*/ 20 w 39"/>
                <a:gd name="T11" fmla="*/ 113 h 138"/>
                <a:gd name="T12" fmla="*/ 19 w 39"/>
                <a:gd name="T13" fmla="*/ 113 h 138"/>
                <a:gd name="T14" fmla="*/ 19 w 39"/>
                <a:gd name="T15" fmla="*/ 111 h 138"/>
                <a:gd name="T16" fmla="*/ 17 w 39"/>
                <a:gd name="T17" fmla="*/ 111 h 138"/>
                <a:gd name="T18" fmla="*/ 17 w 39"/>
                <a:gd name="T19" fmla="*/ 110 h 138"/>
                <a:gd name="T20" fmla="*/ 17 w 39"/>
                <a:gd name="T21" fmla="*/ 3 h 138"/>
                <a:gd name="T22" fmla="*/ 17 w 39"/>
                <a:gd name="T23" fmla="*/ 1 h 138"/>
                <a:gd name="T24" fmla="*/ 19 w 39"/>
                <a:gd name="T25" fmla="*/ 0 h 138"/>
                <a:gd name="T26" fmla="*/ 19 w 39"/>
                <a:gd name="T27" fmla="*/ 0 h 138"/>
                <a:gd name="T28" fmla="*/ 20 w 39"/>
                <a:gd name="T29" fmla="*/ 0 h 138"/>
                <a:gd name="T30" fmla="*/ 22 w 39"/>
                <a:gd name="T31" fmla="*/ 0 h 138"/>
                <a:gd name="T32" fmla="*/ 22 w 39"/>
                <a:gd name="T33" fmla="*/ 0 h 138"/>
                <a:gd name="T34" fmla="*/ 22 w 39"/>
                <a:gd name="T35" fmla="*/ 1 h 138"/>
                <a:gd name="T36" fmla="*/ 24 w 39"/>
                <a:gd name="T37" fmla="*/ 3 h 138"/>
                <a:gd name="T38" fmla="*/ 24 w 39"/>
                <a:gd name="T39" fmla="*/ 3 h 138"/>
                <a:gd name="T40" fmla="*/ 39 w 39"/>
                <a:gd name="T41" fmla="*/ 103 h 138"/>
                <a:gd name="T42" fmla="*/ 20 w 39"/>
                <a:gd name="T43" fmla="*/ 138 h 138"/>
                <a:gd name="T44" fmla="*/ 0 w 39"/>
                <a:gd name="T45" fmla="*/ 103 h 138"/>
                <a:gd name="T46" fmla="*/ 39 w 39"/>
                <a:gd name="T47" fmla="*/ 103 h 13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39"/>
                <a:gd name="T73" fmla="*/ 0 h 138"/>
                <a:gd name="T74" fmla="*/ 39 w 39"/>
                <a:gd name="T75" fmla="*/ 138 h 138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39" h="138">
                  <a:moveTo>
                    <a:pt x="24" y="3"/>
                  </a:moveTo>
                  <a:lnTo>
                    <a:pt x="24" y="110"/>
                  </a:lnTo>
                  <a:lnTo>
                    <a:pt x="22" y="111"/>
                  </a:lnTo>
                  <a:lnTo>
                    <a:pt x="22" y="113"/>
                  </a:lnTo>
                  <a:lnTo>
                    <a:pt x="20" y="113"/>
                  </a:lnTo>
                  <a:lnTo>
                    <a:pt x="19" y="113"/>
                  </a:lnTo>
                  <a:lnTo>
                    <a:pt x="19" y="111"/>
                  </a:lnTo>
                  <a:lnTo>
                    <a:pt x="17" y="111"/>
                  </a:lnTo>
                  <a:lnTo>
                    <a:pt x="17" y="110"/>
                  </a:lnTo>
                  <a:lnTo>
                    <a:pt x="17" y="3"/>
                  </a:lnTo>
                  <a:lnTo>
                    <a:pt x="17" y="1"/>
                  </a:lnTo>
                  <a:lnTo>
                    <a:pt x="19" y="0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2" y="1"/>
                  </a:lnTo>
                  <a:lnTo>
                    <a:pt x="24" y="3"/>
                  </a:lnTo>
                  <a:close/>
                  <a:moveTo>
                    <a:pt x="39" y="103"/>
                  </a:moveTo>
                  <a:lnTo>
                    <a:pt x="20" y="138"/>
                  </a:lnTo>
                  <a:lnTo>
                    <a:pt x="0" y="103"/>
                  </a:lnTo>
                  <a:lnTo>
                    <a:pt x="39" y="103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48" name="Rectangle 1075">
              <a:extLst>
                <a:ext uri="{FF2B5EF4-FFF2-40B4-BE49-F238E27FC236}">
                  <a16:creationId xmlns:a16="http://schemas.microsoft.com/office/drawing/2014/main" id="{C7337454-2DB8-F57E-93C6-4805E0BE4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2139"/>
              <a:ext cx="1264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500" b="1" i="1">
                  <a:solidFill>
                    <a:srgbClr val="000000"/>
                  </a:solidFill>
                </a:rPr>
                <a:t>Supply chain structure</a:t>
              </a:r>
              <a:endParaRPr lang="en-US" altLang="en-US"/>
            </a:p>
          </p:txBody>
        </p:sp>
        <p:sp>
          <p:nvSpPr>
            <p:cNvPr id="49" name="Freeform 1076">
              <a:extLst>
                <a:ext uri="{FF2B5EF4-FFF2-40B4-BE49-F238E27FC236}">
                  <a16:creationId xmlns:a16="http://schemas.microsoft.com/office/drawing/2014/main" id="{7BCAC95F-1695-5875-669C-1B259EABC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" y="3633"/>
              <a:ext cx="3726" cy="136"/>
            </a:xfrm>
            <a:custGeom>
              <a:avLst/>
              <a:gdLst>
                <a:gd name="T0" fmla="*/ 0 w 3726"/>
                <a:gd name="T1" fmla="*/ 5 h 136"/>
                <a:gd name="T2" fmla="*/ 4 w 3726"/>
                <a:gd name="T3" fmla="*/ 12 h 136"/>
                <a:gd name="T4" fmla="*/ 9 w 3726"/>
                <a:gd name="T5" fmla="*/ 18 h 136"/>
                <a:gd name="T6" fmla="*/ 18 w 3726"/>
                <a:gd name="T7" fmla="*/ 24 h 136"/>
                <a:gd name="T8" fmla="*/ 31 w 3726"/>
                <a:gd name="T9" fmla="*/ 31 h 136"/>
                <a:gd name="T10" fmla="*/ 44 w 3726"/>
                <a:gd name="T11" fmla="*/ 35 h 136"/>
                <a:gd name="T12" fmla="*/ 62 w 3726"/>
                <a:gd name="T13" fmla="*/ 42 h 136"/>
                <a:gd name="T14" fmla="*/ 80 w 3726"/>
                <a:gd name="T15" fmla="*/ 47 h 136"/>
                <a:gd name="T16" fmla="*/ 101 w 3726"/>
                <a:gd name="T17" fmla="*/ 51 h 136"/>
                <a:gd name="T18" fmla="*/ 124 w 3726"/>
                <a:gd name="T19" fmla="*/ 55 h 136"/>
                <a:gd name="T20" fmla="*/ 163 w 3726"/>
                <a:gd name="T21" fmla="*/ 61 h 136"/>
                <a:gd name="T22" fmla="*/ 218 w 3726"/>
                <a:gd name="T23" fmla="*/ 66 h 136"/>
                <a:gd name="T24" fmla="*/ 278 w 3726"/>
                <a:gd name="T25" fmla="*/ 69 h 136"/>
                <a:gd name="T26" fmla="*/ 1552 w 3726"/>
                <a:gd name="T27" fmla="*/ 69 h 136"/>
                <a:gd name="T28" fmla="*/ 1614 w 3726"/>
                <a:gd name="T29" fmla="*/ 71 h 136"/>
                <a:gd name="T30" fmla="*/ 1672 w 3726"/>
                <a:gd name="T31" fmla="*/ 74 h 136"/>
                <a:gd name="T32" fmla="*/ 1725 w 3726"/>
                <a:gd name="T33" fmla="*/ 80 h 136"/>
                <a:gd name="T34" fmla="*/ 1749 w 3726"/>
                <a:gd name="T35" fmla="*/ 85 h 136"/>
                <a:gd name="T36" fmla="*/ 1771 w 3726"/>
                <a:gd name="T37" fmla="*/ 88 h 136"/>
                <a:gd name="T38" fmla="*/ 1791 w 3726"/>
                <a:gd name="T39" fmla="*/ 93 h 136"/>
                <a:gd name="T40" fmla="*/ 1809 w 3726"/>
                <a:gd name="T41" fmla="*/ 99 h 136"/>
                <a:gd name="T42" fmla="*/ 1824 w 3726"/>
                <a:gd name="T43" fmla="*/ 104 h 136"/>
                <a:gd name="T44" fmla="*/ 1838 w 3726"/>
                <a:gd name="T45" fmla="*/ 110 h 136"/>
                <a:gd name="T46" fmla="*/ 1848 w 3726"/>
                <a:gd name="T47" fmla="*/ 117 h 136"/>
                <a:gd name="T48" fmla="*/ 1855 w 3726"/>
                <a:gd name="T49" fmla="*/ 123 h 136"/>
                <a:gd name="T50" fmla="*/ 1860 w 3726"/>
                <a:gd name="T51" fmla="*/ 130 h 136"/>
                <a:gd name="T52" fmla="*/ 1862 w 3726"/>
                <a:gd name="T53" fmla="*/ 136 h 136"/>
                <a:gd name="T54" fmla="*/ 1864 w 3726"/>
                <a:gd name="T55" fmla="*/ 130 h 136"/>
                <a:gd name="T56" fmla="*/ 1868 w 3726"/>
                <a:gd name="T57" fmla="*/ 123 h 136"/>
                <a:gd name="T58" fmla="*/ 1877 w 3726"/>
                <a:gd name="T59" fmla="*/ 117 h 136"/>
                <a:gd name="T60" fmla="*/ 1886 w 3726"/>
                <a:gd name="T61" fmla="*/ 110 h 136"/>
                <a:gd name="T62" fmla="*/ 1899 w 3726"/>
                <a:gd name="T63" fmla="*/ 104 h 136"/>
                <a:gd name="T64" fmla="*/ 1915 w 3726"/>
                <a:gd name="T65" fmla="*/ 99 h 136"/>
                <a:gd name="T66" fmla="*/ 1933 w 3726"/>
                <a:gd name="T67" fmla="*/ 93 h 136"/>
                <a:gd name="T68" fmla="*/ 1954 w 3726"/>
                <a:gd name="T69" fmla="*/ 88 h 136"/>
                <a:gd name="T70" fmla="*/ 1976 w 3726"/>
                <a:gd name="T71" fmla="*/ 85 h 136"/>
                <a:gd name="T72" fmla="*/ 1999 w 3726"/>
                <a:gd name="T73" fmla="*/ 80 h 136"/>
                <a:gd name="T74" fmla="*/ 2052 w 3726"/>
                <a:gd name="T75" fmla="*/ 74 h 136"/>
                <a:gd name="T76" fmla="*/ 2111 w 3726"/>
                <a:gd name="T77" fmla="*/ 71 h 136"/>
                <a:gd name="T78" fmla="*/ 2173 w 3726"/>
                <a:gd name="T79" fmla="*/ 69 h 136"/>
                <a:gd name="T80" fmla="*/ 3447 w 3726"/>
                <a:gd name="T81" fmla="*/ 69 h 136"/>
                <a:gd name="T82" fmla="*/ 3509 w 3726"/>
                <a:gd name="T83" fmla="*/ 66 h 136"/>
                <a:gd name="T84" fmla="*/ 3564 w 3726"/>
                <a:gd name="T85" fmla="*/ 61 h 136"/>
                <a:gd name="T86" fmla="*/ 3602 w 3726"/>
                <a:gd name="T87" fmla="*/ 55 h 136"/>
                <a:gd name="T88" fmla="*/ 3624 w 3726"/>
                <a:gd name="T89" fmla="*/ 51 h 136"/>
                <a:gd name="T90" fmla="*/ 3646 w 3726"/>
                <a:gd name="T91" fmla="*/ 47 h 136"/>
                <a:gd name="T92" fmla="*/ 3664 w 3726"/>
                <a:gd name="T93" fmla="*/ 42 h 136"/>
                <a:gd name="T94" fmla="*/ 3681 w 3726"/>
                <a:gd name="T95" fmla="*/ 35 h 136"/>
                <a:gd name="T96" fmla="*/ 3695 w 3726"/>
                <a:gd name="T97" fmla="*/ 31 h 136"/>
                <a:gd name="T98" fmla="*/ 3708 w 3726"/>
                <a:gd name="T99" fmla="*/ 24 h 136"/>
                <a:gd name="T100" fmla="*/ 3717 w 3726"/>
                <a:gd name="T101" fmla="*/ 18 h 136"/>
                <a:gd name="T102" fmla="*/ 3723 w 3726"/>
                <a:gd name="T103" fmla="*/ 12 h 136"/>
                <a:gd name="T104" fmla="*/ 3726 w 3726"/>
                <a:gd name="T105" fmla="*/ 5 h 1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3726"/>
                <a:gd name="T160" fmla="*/ 0 h 136"/>
                <a:gd name="T161" fmla="*/ 3726 w 3726"/>
                <a:gd name="T162" fmla="*/ 136 h 1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3726" h="136">
                  <a:moveTo>
                    <a:pt x="0" y="0"/>
                  </a:moveTo>
                  <a:lnTo>
                    <a:pt x="0" y="5"/>
                  </a:lnTo>
                  <a:lnTo>
                    <a:pt x="2" y="8"/>
                  </a:lnTo>
                  <a:lnTo>
                    <a:pt x="4" y="12"/>
                  </a:lnTo>
                  <a:lnTo>
                    <a:pt x="6" y="15"/>
                  </a:lnTo>
                  <a:lnTo>
                    <a:pt x="9" y="18"/>
                  </a:lnTo>
                  <a:lnTo>
                    <a:pt x="13" y="21"/>
                  </a:lnTo>
                  <a:lnTo>
                    <a:pt x="18" y="24"/>
                  </a:lnTo>
                  <a:lnTo>
                    <a:pt x="24" y="27"/>
                  </a:lnTo>
                  <a:lnTo>
                    <a:pt x="31" y="31"/>
                  </a:lnTo>
                  <a:lnTo>
                    <a:pt x="37" y="34"/>
                  </a:lnTo>
                  <a:lnTo>
                    <a:pt x="44" y="35"/>
                  </a:lnTo>
                  <a:lnTo>
                    <a:pt x="53" y="39"/>
                  </a:lnTo>
                  <a:lnTo>
                    <a:pt x="62" y="42"/>
                  </a:lnTo>
                  <a:lnTo>
                    <a:pt x="71" y="43"/>
                  </a:lnTo>
                  <a:lnTo>
                    <a:pt x="80" y="47"/>
                  </a:lnTo>
                  <a:lnTo>
                    <a:pt x="91" y="48"/>
                  </a:lnTo>
                  <a:lnTo>
                    <a:pt x="101" y="51"/>
                  </a:lnTo>
                  <a:lnTo>
                    <a:pt x="113" y="53"/>
                  </a:lnTo>
                  <a:lnTo>
                    <a:pt x="124" y="55"/>
                  </a:lnTo>
                  <a:lnTo>
                    <a:pt x="137" y="58"/>
                  </a:lnTo>
                  <a:lnTo>
                    <a:pt x="163" y="61"/>
                  </a:lnTo>
                  <a:lnTo>
                    <a:pt x="190" y="64"/>
                  </a:lnTo>
                  <a:lnTo>
                    <a:pt x="218" y="66"/>
                  </a:lnTo>
                  <a:lnTo>
                    <a:pt x="247" y="67"/>
                  </a:lnTo>
                  <a:lnTo>
                    <a:pt x="278" y="69"/>
                  </a:lnTo>
                  <a:lnTo>
                    <a:pt x="311" y="69"/>
                  </a:lnTo>
                  <a:lnTo>
                    <a:pt x="1552" y="69"/>
                  </a:lnTo>
                  <a:lnTo>
                    <a:pt x="1583" y="69"/>
                  </a:lnTo>
                  <a:lnTo>
                    <a:pt x="1614" y="71"/>
                  </a:lnTo>
                  <a:lnTo>
                    <a:pt x="1645" y="72"/>
                  </a:lnTo>
                  <a:lnTo>
                    <a:pt x="1672" y="74"/>
                  </a:lnTo>
                  <a:lnTo>
                    <a:pt x="1700" y="77"/>
                  </a:lnTo>
                  <a:lnTo>
                    <a:pt x="1725" y="80"/>
                  </a:lnTo>
                  <a:lnTo>
                    <a:pt x="1738" y="82"/>
                  </a:lnTo>
                  <a:lnTo>
                    <a:pt x="1749" y="85"/>
                  </a:lnTo>
                  <a:lnTo>
                    <a:pt x="1760" y="86"/>
                  </a:lnTo>
                  <a:lnTo>
                    <a:pt x="1771" y="88"/>
                  </a:lnTo>
                  <a:lnTo>
                    <a:pt x="1782" y="91"/>
                  </a:lnTo>
                  <a:lnTo>
                    <a:pt x="1791" y="93"/>
                  </a:lnTo>
                  <a:lnTo>
                    <a:pt x="1800" y="96"/>
                  </a:lnTo>
                  <a:lnTo>
                    <a:pt x="1809" y="99"/>
                  </a:lnTo>
                  <a:lnTo>
                    <a:pt x="1817" y="101"/>
                  </a:lnTo>
                  <a:lnTo>
                    <a:pt x="1824" y="104"/>
                  </a:lnTo>
                  <a:lnTo>
                    <a:pt x="1831" y="107"/>
                  </a:lnTo>
                  <a:lnTo>
                    <a:pt x="1838" y="110"/>
                  </a:lnTo>
                  <a:lnTo>
                    <a:pt x="1844" y="114"/>
                  </a:lnTo>
                  <a:lnTo>
                    <a:pt x="1848" y="117"/>
                  </a:lnTo>
                  <a:lnTo>
                    <a:pt x="1853" y="120"/>
                  </a:lnTo>
                  <a:lnTo>
                    <a:pt x="1855" y="123"/>
                  </a:lnTo>
                  <a:lnTo>
                    <a:pt x="1859" y="126"/>
                  </a:lnTo>
                  <a:lnTo>
                    <a:pt x="1860" y="130"/>
                  </a:lnTo>
                  <a:lnTo>
                    <a:pt x="1862" y="133"/>
                  </a:lnTo>
                  <a:lnTo>
                    <a:pt x="1862" y="136"/>
                  </a:lnTo>
                  <a:lnTo>
                    <a:pt x="1862" y="133"/>
                  </a:lnTo>
                  <a:lnTo>
                    <a:pt x="1864" y="130"/>
                  </a:lnTo>
                  <a:lnTo>
                    <a:pt x="1866" y="126"/>
                  </a:lnTo>
                  <a:lnTo>
                    <a:pt x="1868" y="123"/>
                  </a:lnTo>
                  <a:lnTo>
                    <a:pt x="1871" y="120"/>
                  </a:lnTo>
                  <a:lnTo>
                    <a:pt x="1877" y="117"/>
                  </a:lnTo>
                  <a:lnTo>
                    <a:pt x="1880" y="114"/>
                  </a:lnTo>
                  <a:lnTo>
                    <a:pt x="1886" y="110"/>
                  </a:lnTo>
                  <a:lnTo>
                    <a:pt x="1893" y="107"/>
                  </a:lnTo>
                  <a:lnTo>
                    <a:pt x="1899" y="104"/>
                  </a:lnTo>
                  <a:lnTo>
                    <a:pt x="1908" y="101"/>
                  </a:lnTo>
                  <a:lnTo>
                    <a:pt x="1915" y="99"/>
                  </a:lnTo>
                  <a:lnTo>
                    <a:pt x="1924" y="96"/>
                  </a:lnTo>
                  <a:lnTo>
                    <a:pt x="1933" y="93"/>
                  </a:lnTo>
                  <a:lnTo>
                    <a:pt x="1943" y="91"/>
                  </a:lnTo>
                  <a:lnTo>
                    <a:pt x="1954" y="88"/>
                  </a:lnTo>
                  <a:lnTo>
                    <a:pt x="1965" y="86"/>
                  </a:lnTo>
                  <a:lnTo>
                    <a:pt x="1976" y="85"/>
                  </a:lnTo>
                  <a:lnTo>
                    <a:pt x="1986" y="82"/>
                  </a:lnTo>
                  <a:lnTo>
                    <a:pt x="1999" y="80"/>
                  </a:lnTo>
                  <a:lnTo>
                    <a:pt x="2025" y="77"/>
                  </a:lnTo>
                  <a:lnTo>
                    <a:pt x="2052" y="74"/>
                  </a:lnTo>
                  <a:lnTo>
                    <a:pt x="2080" y="72"/>
                  </a:lnTo>
                  <a:lnTo>
                    <a:pt x="2111" y="71"/>
                  </a:lnTo>
                  <a:lnTo>
                    <a:pt x="2142" y="69"/>
                  </a:lnTo>
                  <a:lnTo>
                    <a:pt x="2173" y="69"/>
                  </a:lnTo>
                  <a:lnTo>
                    <a:pt x="3416" y="69"/>
                  </a:lnTo>
                  <a:lnTo>
                    <a:pt x="3447" y="69"/>
                  </a:lnTo>
                  <a:lnTo>
                    <a:pt x="3478" y="67"/>
                  </a:lnTo>
                  <a:lnTo>
                    <a:pt x="3509" y="66"/>
                  </a:lnTo>
                  <a:lnTo>
                    <a:pt x="3536" y="64"/>
                  </a:lnTo>
                  <a:lnTo>
                    <a:pt x="3564" y="61"/>
                  </a:lnTo>
                  <a:lnTo>
                    <a:pt x="3589" y="58"/>
                  </a:lnTo>
                  <a:lnTo>
                    <a:pt x="3602" y="55"/>
                  </a:lnTo>
                  <a:lnTo>
                    <a:pt x="3613" y="53"/>
                  </a:lnTo>
                  <a:lnTo>
                    <a:pt x="3624" y="51"/>
                  </a:lnTo>
                  <a:lnTo>
                    <a:pt x="3635" y="48"/>
                  </a:lnTo>
                  <a:lnTo>
                    <a:pt x="3646" y="47"/>
                  </a:lnTo>
                  <a:lnTo>
                    <a:pt x="3655" y="43"/>
                  </a:lnTo>
                  <a:lnTo>
                    <a:pt x="3664" y="42"/>
                  </a:lnTo>
                  <a:lnTo>
                    <a:pt x="3673" y="39"/>
                  </a:lnTo>
                  <a:lnTo>
                    <a:pt x="3681" y="35"/>
                  </a:lnTo>
                  <a:lnTo>
                    <a:pt x="3688" y="34"/>
                  </a:lnTo>
                  <a:lnTo>
                    <a:pt x="3695" y="31"/>
                  </a:lnTo>
                  <a:lnTo>
                    <a:pt x="3702" y="27"/>
                  </a:lnTo>
                  <a:lnTo>
                    <a:pt x="3708" y="24"/>
                  </a:lnTo>
                  <a:lnTo>
                    <a:pt x="3712" y="21"/>
                  </a:lnTo>
                  <a:lnTo>
                    <a:pt x="3717" y="18"/>
                  </a:lnTo>
                  <a:lnTo>
                    <a:pt x="3719" y="15"/>
                  </a:lnTo>
                  <a:lnTo>
                    <a:pt x="3723" y="12"/>
                  </a:lnTo>
                  <a:lnTo>
                    <a:pt x="3724" y="8"/>
                  </a:lnTo>
                  <a:lnTo>
                    <a:pt x="3726" y="5"/>
                  </a:lnTo>
                  <a:lnTo>
                    <a:pt x="3726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50" name="Rectangle 1077">
              <a:extLst>
                <a:ext uri="{FF2B5EF4-FFF2-40B4-BE49-F238E27FC236}">
                  <a16:creationId xmlns:a16="http://schemas.microsoft.com/office/drawing/2014/main" id="{6EECF9DD-31FD-9E8A-9144-6BB78BACD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6" y="3834"/>
              <a:ext cx="1209" cy="1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5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Cross Functional Drivers</a:t>
              </a:r>
              <a:endParaRPr lang="en-US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" name="Rectangle 1078">
              <a:extLst>
                <a:ext uri="{FF2B5EF4-FFF2-40B4-BE49-F238E27FC236}">
                  <a16:creationId xmlns:a16="http://schemas.microsoft.com/office/drawing/2014/main" id="{00C173AD-CD48-A498-47F5-2CA9F4E755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8" y="3295"/>
              <a:ext cx="1049" cy="338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2" name="Rectangle 1079">
              <a:extLst>
                <a:ext uri="{FF2B5EF4-FFF2-40B4-BE49-F238E27FC236}">
                  <a16:creationId xmlns:a16="http://schemas.microsoft.com/office/drawing/2014/main" id="{26FD9EAA-394E-5ABC-29F7-714F29410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0" y="3392"/>
              <a:ext cx="685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 b="1"/>
                <a:t>Sourcing</a:t>
              </a:r>
            </a:p>
          </p:txBody>
        </p:sp>
        <p:sp>
          <p:nvSpPr>
            <p:cNvPr id="53" name="Rectangle 1080">
              <a:extLst>
                <a:ext uri="{FF2B5EF4-FFF2-40B4-BE49-F238E27FC236}">
                  <a16:creationId xmlns:a16="http://schemas.microsoft.com/office/drawing/2014/main" id="{7F6EC312-E8FA-FDD9-1FA7-4E79557B9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1" y="3295"/>
              <a:ext cx="1049" cy="338"/>
            </a:xfrm>
            <a:prstGeom prst="rect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" name="Rectangle 1081">
              <a:extLst>
                <a:ext uri="{FF2B5EF4-FFF2-40B4-BE49-F238E27FC236}">
                  <a16:creationId xmlns:a16="http://schemas.microsoft.com/office/drawing/2014/main" id="{E636DD71-AF5C-693D-4957-F25899EC20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" y="3377"/>
              <a:ext cx="558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 b="1" dirty="0"/>
                <a:t>Pricing</a:t>
              </a:r>
            </a:p>
          </p:txBody>
        </p:sp>
        <p:sp>
          <p:nvSpPr>
            <p:cNvPr id="55" name="Freeform 1082">
              <a:extLst>
                <a:ext uri="{FF2B5EF4-FFF2-40B4-BE49-F238E27FC236}">
                  <a16:creationId xmlns:a16="http://schemas.microsoft.com/office/drawing/2014/main" id="{0B036193-FC1B-25EF-EDFE-13077F495F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98" y="3093"/>
              <a:ext cx="40" cy="202"/>
            </a:xfrm>
            <a:custGeom>
              <a:avLst/>
              <a:gdLst>
                <a:gd name="T0" fmla="*/ 24 w 40"/>
                <a:gd name="T1" fmla="*/ 27 h 202"/>
                <a:gd name="T2" fmla="*/ 24 w 40"/>
                <a:gd name="T3" fmla="*/ 174 h 202"/>
                <a:gd name="T4" fmla="*/ 24 w 40"/>
                <a:gd name="T5" fmla="*/ 175 h 202"/>
                <a:gd name="T6" fmla="*/ 22 w 40"/>
                <a:gd name="T7" fmla="*/ 177 h 202"/>
                <a:gd name="T8" fmla="*/ 22 w 40"/>
                <a:gd name="T9" fmla="*/ 177 h 202"/>
                <a:gd name="T10" fmla="*/ 20 w 40"/>
                <a:gd name="T11" fmla="*/ 177 h 202"/>
                <a:gd name="T12" fmla="*/ 18 w 40"/>
                <a:gd name="T13" fmla="*/ 177 h 202"/>
                <a:gd name="T14" fmla="*/ 18 w 40"/>
                <a:gd name="T15" fmla="*/ 177 h 202"/>
                <a:gd name="T16" fmla="*/ 16 w 40"/>
                <a:gd name="T17" fmla="*/ 175 h 202"/>
                <a:gd name="T18" fmla="*/ 16 w 40"/>
                <a:gd name="T19" fmla="*/ 174 h 202"/>
                <a:gd name="T20" fmla="*/ 16 w 40"/>
                <a:gd name="T21" fmla="*/ 27 h 202"/>
                <a:gd name="T22" fmla="*/ 16 w 40"/>
                <a:gd name="T23" fmla="*/ 27 h 202"/>
                <a:gd name="T24" fmla="*/ 18 w 40"/>
                <a:gd name="T25" fmla="*/ 25 h 202"/>
                <a:gd name="T26" fmla="*/ 18 w 40"/>
                <a:gd name="T27" fmla="*/ 25 h 202"/>
                <a:gd name="T28" fmla="*/ 20 w 40"/>
                <a:gd name="T29" fmla="*/ 25 h 202"/>
                <a:gd name="T30" fmla="*/ 22 w 40"/>
                <a:gd name="T31" fmla="*/ 25 h 202"/>
                <a:gd name="T32" fmla="*/ 22 w 40"/>
                <a:gd name="T33" fmla="*/ 25 h 202"/>
                <a:gd name="T34" fmla="*/ 24 w 40"/>
                <a:gd name="T35" fmla="*/ 27 h 202"/>
                <a:gd name="T36" fmla="*/ 24 w 40"/>
                <a:gd name="T37" fmla="*/ 27 h 202"/>
                <a:gd name="T38" fmla="*/ 24 w 40"/>
                <a:gd name="T39" fmla="*/ 27 h 202"/>
                <a:gd name="T40" fmla="*/ 0 w 40"/>
                <a:gd name="T41" fmla="*/ 33 h 202"/>
                <a:gd name="T42" fmla="*/ 20 w 40"/>
                <a:gd name="T43" fmla="*/ 0 h 202"/>
                <a:gd name="T44" fmla="*/ 40 w 40"/>
                <a:gd name="T45" fmla="*/ 33 h 202"/>
                <a:gd name="T46" fmla="*/ 0 w 40"/>
                <a:gd name="T47" fmla="*/ 33 h 202"/>
                <a:gd name="T48" fmla="*/ 40 w 40"/>
                <a:gd name="T49" fmla="*/ 169 h 202"/>
                <a:gd name="T50" fmla="*/ 20 w 40"/>
                <a:gd name="T51" fmla="*/ 202 h 202"/>
                <a:gd name="T52" fmla="*/ 0 w 40"/>
                <a:gd name="T53" fmla="*/ 169 h 202"/>
                <a:gd name="T54" fmla="*/ 40 w 40"/>
                <a:gd name="T55" fmla="*/ 169 h 20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0"/>
                <a:gd name="T85" fmla="*/ 0 h 202"/>
                <a:gd name="T86" fmla="*/ 40 w 40"/>
                <a:gd name="T87" fmla="*/ 202 h 202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0" h="202">
                  <a:moveTo>
                    <a:pt x="24" y="27"/>
                  </a:moveTo>
                  <a:lnTo>
                    <a:pt x="24" y="174"/>
                  </a:lnTo>
                  <a:lnTo>
                    <a:pt x="24" y="175"/>
                  </a:lnTo>
                  <a:lnTo>
                    <a:pt x="22" y="177"/>
                  </a:lnTo>
                  <a:lnTo>
                    <a:pt x="20" y="177"/>
                  </a:lnTo>
                  <a:lnTo>
                    <a:pt x="18" y="177"/>
                  </a:lnTo>
                  <a:lnTo>
                    <a:pt x="16" y="175"/>
                  </a:lnTo>
                  <a:lnTo>
                    <a:pt x="16" y="174"/>
                  </a:lnTo>
                  <a:lnTo>
                    <a:pt x="16" y="27"/>
                  </a:lnTo>
                  <a:lnTo>
                    <a:pt x="18" y="25"/>
                  </a:lnTo>
                  <a:lnTo>
                    <a:pt x="20" y="25"/>
                  </a:lnTo>
                  <a:lnTo>
                    <a:pt x="22" y="25"/>
                  </a:lnTo>
                  <a:lnTo>
                    <a:pt x="24" y="27"/>
                  </a:lnTo>
                  <a:close/>
                  <a:moveTo>
                    <a:pt x="0" y="33"/>
                  </a:moveTo>
                  <a:lnTo>
                    <a:pt x="20" y="0"/>
                  </a:lnTo>
                  <a:lnTo>
                    <a:pt x="40" y="33"/>
                  </a:lnTo>
                  <a:lnTo>
                    <a:pt x="0" y="33"/>
                  </a:lnTo>
                  <a:close/>
                  <a:moveTo>
                    <a:pt x="40" y="169"/>
                  </a:moveTo>
                  <a:lnTo>
                    <a:pt x="20" y="202"/>
                  </a:lnTo>
                  <a:lnTo>
                    <a:pt x="0" y="169"/>
                  </a:lnTo>
                  <a:lnTo>
                    <a:pt x="40" y="169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56" name="Freeform 1083">
              <a:extLst>
                <a:ext uri="{FF2B5EF4-FFF2-40B4-BE49-F238E27FC236}">
                  <a16:creationId xmlns:a16="http://schemas.microsoft.com/office/drawing/2014/main" id="{81D565A7-2AD6-2E1F-C0A7-C0882A168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" y="2584"/>
              <a:ext cx="3610" cy="169"/>
            </a:xfrm>
            <a:custGeom>
              <a:avLst/>
              <a:gdLst>
                <a:gd name="T0" fmla="*/ 0 w 3610"/>
                <a:gd name="T1" fmla="*/ 166 h 169"/>
                <a:gd name="T2" fmla="*/ 4 w 3610"/>
                <a:gd name="T3" fmla="*/ 157 h 169"/>
                <a:gd name="T4" fmla="*/ 10 w 3610"/>
                <a:gd name="T5" fmla="*/ 149 h 169"/>
                <a:gd name="T6" fmla="*/ 19 w 3610"/>
                <a:gd name="T7" fmla="*/ 141 h 169"/>
                <a:gd name="T8" fmla="*/ 30 w 3610"/>
                <a:gd name="T9" fmla="*/ 133 h 169"/>
                <a:gd name="T10" fmla="*/ 44 w 3610"/>
                <a:gd name="T11" fmla="*/ 126 h 169"/>
                <a:gd name="T12" fmla="*/ 61 w 3610"/>
                <a:gd name="T13" fmla="*/ 118 h 169"/>
                <a:gd name="T14" fmla="*/ 79 w 3610"/>
                <a:gd name="T15" fmla="*/ 114 h 169"/>
                <a:gd name="T16" fmla="*/ 99 w 3610"/>
                <a:gd name="T17" fmla="*/ 107 h 169"/>
                <a:gd name="T18" fmla="*/ 134 w 3610"/>
                <a:gd name="T19" fmla="*/ 99 h 169"/>
                <a:gd name="T20" fmla="*/ 185 w 3610"/>
                <a:gd name="T21" fmla="*/ 91 h 169"/>
                <a:gd name="T22" fmla="*/ 240 w 3610"/>
                <a:gd name="T23" fmla="*/ 87 h 169"/>
                <a:gd name="T24" fmla="*/ 302 w 3610"/>
                <a:gd name="T25" fmla="*/ 85 h 169"/>
                <a:gd name="T26" fmla="*/ 1535 w 3610"/>
                <a:gd name="T27" fmla="*/ 85 h 169"/>
                <a:gd name="T28" fmla="*/ 1594 w 3610"/>
                <a:gd name="T29" fmla="*/ 82 h 169"/>
                <a:gd name="T30" fmla="*/ 1649 w 3610"/>
                <a:gd name="T31" fmla="*/ 75 h 169"/>
                <a:gd name="T32" fmla="*/ 1696 w 3610"/>
                <a:gd name="T33" fmla="*/ 66 h 169"/>
                <a:gd name="T34" fmla="*/ 1718 w 3610"/>
                <a:gd name="T35" fmla="*/ 61 h 169"/>
                <a:gd name="T36" fmla="*/ 1736 w 3610"/>
                <a:gd name="T37" fmla="*/ 55 h 169"/>
                <a:gd name="T38" fmla="*/ 1755 w 3610"/>
                <a:gd name="T39" fmla="*/ 48 h 169"/>
                <a:gd name="T40" fmla="*/ 1769 w 3610"/>
                <a:gd name="T41" fmla="*/ 40 h 169"/>
                <a:gd name="T42" fmla="*/ 1782 w 3610"/>
                <a:gd name="T43" fmla="*/ 34 h 169"/>
                <a:gd name="T44" fmla="*/ 1791 w 3610"/>
                <a:gd name="T45" fmla="*/ 26 h 169"/>
                <a:gd name="T46" fmla="*/ 1799 w 3610"/>
                <a:gd name="T47" fmla="*/ 18 h 169"/>
                <a:gd name="T48" fmla="*/ 1804 w 3610"/>
                <a:gd name="T49" fmla="*/ 8 h 169"/>
                <a:gd name="T50" fmla="*/ 1806 w 3610"/>
                <a:gd name="T51" fmla="*/ 0 h 169"/>
                <a:gd name="T52" fmla="*/ 1808 w 3610"/>
                <a:gd name="T53" fmla="*/ 8 h 169"/>
                <a:gd name="T54" fmla="*/ 1811 w 3610"/>
                <a:gd name="T55" fmla="*/ 18 h 169"/>
                <a:gd name="T56" fmla="*/ 1819 w 3610"/>
                <a:gd name="T57" fmla="*/ 26 h 169"/>
                <a:gd name="T58" fmla="*/ 1830 w 3610"/>
                <a:gd name="T59" fmla="*/ 34 h 169"/>
                <a:gd name="T60" fmla="*/ 1842 w 3610"/>
                <a:gd name="T61" fmla="*/ 40 h 169"/>
                <a:gd name="T62" fmla="*/ 1857 w 3610"/>
                <a:gd name="T63" fmla="*/ 48 h 169"/>
                <a:gd name="T64" fmla="*/ 1874 w 3610"/>
                <a:gd name="T65" fmla="*/ 55 h 169"/>
                <a:gd name="T66" fmla="*/ 1894 w 3610"/>
                <a:gd name="T67" fmla="*/ 61 h 169"/>
                <a:gd name="T68" fmla="*/ 1916 w 3610"/>
                <a:gd name="T69" fmla="*/ 66 h 169"/>
                <a:gd name="T70" fmla="*/ 1963 w 3610"/>
                <a:gd name="T71" fmla="*/ 75 h 169"/>
                <a:gd name="T72" fmla="*/ 2016 w 3610"/>
                <a:gd name="T73" fmla="*/ 82 h 169"/>
                <a:gd name="T74" fmla="*/ 2076 w 3610"/>
                <a:gd name="T75" fmla="*/ 85 h 169"/>
                <a:gd name="T76" fmla="*/ 3310 w 3610"/>
                <a:gd name="T77" fmla="*/ 85 h 169"/>
                <a:gd name="T78" fmla="*/ 3370 w 3610"/>
                <a:gd name="T79" fmla="*/ 87 h 169"/>
                <a:gd name="T80" fmla="*/ 3427 w 3610"/>
                <a:gd name="T81" fmla="*/ 91 h 169"/>
                <a:gd name="T82" fmla="*/ 3478 w 3610"/>
                <a:gd name="T83" fmla="*/ 99 h 169"/>
                <a:gd name="T84" fmla="*/ 3511 w 3610"/>
                <a:gd name="T85" fmla="*/ 107 h 169"/>
                <a:gd name="T86" fmla="*/ 3533 w 3610"/>
                <a:gd name="T87" fmla="*/ 114 h 169"/>
                <a:gd name="T88" fmla="*/ 3551 w 3610"/>
                <a:gd name="T89" fmla="*/ 118 h 169"/>
                <a:gd name="T90" fmla="*/ 3568 w 3610"/>
                <a:gd name="T91" fmla="*/ 126 h 169"/>
                <a:gd name="T92" fmla="*/ 3580 w 3610"/>
                <a:gd name="T93" fmla="*/ 133 h 169"/>
                <a:gd name="T94" fmla="*/ 3591 w 3610"/>
                <a:gd name="T95" fmla="*/ 141 h 169"/>
                <a:gd name="T96" fmla="*/ 3600 w 3610"/>
                <a:gd name="T97" fmla="*/ 149 h 169"/>
                <a:gd name="T98" fmla="*/ 3608 w 3610"/>
                <a:gd name="T99" fmla="*/ 157 h 169"/>
                <a:gd name="T100" fmla="*/ 3610 w 3610"/>
                <a:gd name="T101" fmla="*/ 166 h 16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3610"/>
                <a:gd name="T154" fmla="*/ 0 h 169"/>
                <a:gd name="T155" fmla="*/ 3610 w 3610"/>
                <a:gd name="T156" fmla="*/ 169 h 16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3610" h="169">
                  <a:moveTo>
                    <a:pt x="0" y="169"/>
                  </a:moveTo>
                  <a:lnTo>
                    <a:pt x="0" y="166"/>
                  </a:lnTo>
                  <a:lnTo>
                    <a:pt x="2" y="161"/>
                  </a:lnTo>
                  <a:lnTo>
                    <a:pt x="4" y="157"/>
                  </a:lnTo>
                  <a:lnTo>
                    <a:pt x="6" y="153"/>
                  </a:lnTo>
                  <a:lnTo>
                    <a:pt x="10" y="149"/>
                  </a:lnTo>
                  <a:lnTo>
                    <a:pt x="13" y="144"/>
                  </a:lnTo>
                  <a:lnTo>
                    <a:pt x="19" y="141"/>
                  </a:lnTo>
                  <a:lnTo>
                    <a:pt x="24" y="138"/>
                  </a:lnTo>
                  <a:lnTo>
                    <a:pt x="30" y="133"/>
                  </a:lnTo>
                  <a:lnTo>
                    <a:pt x="37" y="130"/>
                  </a:lnTo>
                  <a:lnTo>
                    <a:pt x="44" y="126"/>
                  </a:lnTo>
                  <a:lnTo>
                    <a:pt x="52" y="123"/>
                  </a:lnTo>
                  <a:lnTo>
                    <a:pt x="61" y="118"/>
                  </a:lnTo>
                  <a:lnTo>
                    <a:pt x="70" y="115"/>
                  </a:lnTo>
                  <a:lnTo>
                    <a:pt x="79" y="114"/>
                  </a:lnTo>
                  <a:lnTo>
                    <a:pt x="88" y="110"/>
                  </a:lnTo>
                  <a:lnTo>
                    <a:pt x="99" y="107"/>
                  </a:lnTo>
                  <a:lnTo>
                    <a:pt x="110" y="104"/>
                  </a:lnTo>
                  <a:lnTo>
                    <a:pt x="134" y="99"/>
                  </a:lnTo>
                  <a:lnTo>
                    <a:pt x="158" y="96"/>
                  </a:lnTo>
                  <a:lnTo>
                    <a:pt x="185" y="91"/>
                  </a:lnTo>
                  <a:lnTo>
                    <a:pt x="212" y="90"/>
                  </a:lnTo>
                  <a:lnTo>
                    <a:pt x="240" y="87"/>
                  </a:lnTo>
                  <a:lnTo>
                    <a:pt x="271" y="85"/>
                  </a:lnTo>
                  <a:lnTo>
                    <a:pt x="302" y="85"/>
                  </a:lnTo>
                  <a:lnTo>
                    <a:pt x="1504" y="85"/>
                  </a:lnTo>
                  <a:lnTo>
                    <a:pt x="1535" y="85"/>
                  </a:lnTo>
                  <a:lnTo>
                    <a:pt x="1565" y="83"/>
                  </a:lnTo>
                  <a:lnTo>
                    <a:pt x="1594" y="82"/>
                  </a:lnTo>
                  <a:lnTo>
                    <a:pt x="1621" y="79"/>
                  </a:lnTo>
                  <a:lnTo>
                    <a:pt x="1649" y="75"/>
                  </a:lnTo>
                  <a:lnTo>
                    <a:pt x="1673" y="71"/>
                  </a:lnTo>
                  <a:lnTo>
                    <a:pt x="1696" y="66"/>
                  </a:lnTo>
                  <a:lnTo>
                    <a:pt x="1707" y="63"/>
                  </a:lnTo>
                  <a:lnTo>
                    <a:pt x="1718" y="61"/>
                  </a:lnTo>
                  <a:lnTo>
                    <a:pt x="1727" y="58"/>
                  </a:lnTo>
                  <a:lnTo>
                    <a:pt x="1736" y="55"/>
                  </a:lnTo>
                  <a:lnTo>
                    <a:pt x="1746" y="51"/>
                  </a:lnTo>
                  <a:lnTo>
                    <a:pt x="1755" y="48"/>
                  </a:lnTo>
                  <a:lnTo>
                    <a:pt x="1762" y="45"/>
                  </a:lnTo>
                  <a:lnTo>
                    <a:pt x="1769" y="40"/>
                  </a:lnTo>
                  <a:lnTo>
                    <a:pt x="1777" y="37"/>
                  </a:lnTo>
                  <a:lnTo>
                    <a:pt x="1782" y="34"/>
                  </a:lnTo>
                  <a:lnTo>
                    <a:pt x="1788" y="29"/>
                  </a:lnTo>
                  <a:lnTo>
                    <a:pt x="1791" y="26"/>
                  </a:lnTo>
                  <a:lnTo>
                    <a:pt x="1797" y="21"/>
                  </a:lnTo>
                  <a:lnTo>
                    <a:pt x="1799" y="18"/>
                  </a:lnTo>
                  <a:lnTo>
                    <a:pt x="1802" y="13"/>
                  </a:lnTo>
                  <a:lnTo>
                    <a:pt x="1804" y="8"/>
                  </a:lnTo>
                  <a:lnTo>
                    <a:pt x="1806" y="5"/>
                  </a:lnTo>
                  <a:lnTo>
                    <a:pt x="1806" y="0"/>
                  </a:lnTo>
                  <a:lnTo>
                    <a:pt x="1806" y="5"/>
                  </a:lnTo>
                  <a:lnTo>
                    <a:pt x="1808" y="8"/>
                  </a:lnTo>
                  <a:lnTo>
                    <a:pt x="1810" y="13"/>
                  </a:lnTo>
                  <a:lnTo>
                    <a:pt x="1811" y="18"/>
                  </a:lnTo>
                  <a:lnTo>
                    <a:pt x="1815" y="21"/>
                  </a:lnTo>
                  <a:lnTo>
                    <a:pt x="1819" y="26"/>
                  </a:lnTo>
                  <a:lnTo>
                    <a:pt x="1824" y="29"/>
                  </a:lnTo>
                  <a:lnTo>
                    <a:pt x="1830" y="34"/>
                  </a:lnTo>
                  <a:lnTo>
                    <a:pt x="1835" y="37"/>
                  </a:lnTo>
                  <a:lnTo>
                    <a:pt x="1842" y="40"/>
                  </a:lnTo>
                  <a:lnTo>
                    <a:pt x="1850" y="45"/>
                  </a:lnTo>
                  <a:lnTo>
                    <a:pt x="1857" y="48"/>
                  </a:lnTo>
                  <a:lnTo>
                    <a:pt x="1864" y="51"/>
                  </a:lnTo>
                  <a:lnTo>
                    <a:pt x="1874" y="55"/>
                  </a:lnTo>
                  <a:lnTo>
                    <a:pt x="1885" y="58"/>
                  </a:lnTo>
                  <a:lnTo>
                    <a:pt x="1894" y="61"/>
                  </a:lnTo>
                  <a:lnTo>
                    <a:pt x="1905" y="63"/>
                  </a:lnTo>
                  <a:lnTo>
                    <a:pt x="1916" y="66"/>
                  </a:lnTo>
                  <a:lnTo>
                    <a:pt x="1938" y="71"/>
                  </a:lnTo>
                  <a:lnTo>
                    <a:pt x="1963" y="75"/>
                  </a:lnTo>
                  <a:lnTo>
                    <a:pt x="1989" y="79"/>
                  </a:lnTo>
                  <a:lnTo>
                    <a:pt x="2016" y="82"/>
                  </a:lnTo>
                  <a:lnTo>
                    <a:pt x="2045" y="83"/>
                  </a:lnTo>
                  <a:lnTo>
                    <a:pt x="2076" y="85"/>
                  </a:lnTo>
                  <a:lnTo>
                    <a:pt x="2106" y="85"/>
                  </a:lnTo>
                  <a:lnTo>
                    <a:pt x="3310" y="85"/>
                  </a:lnTo>
                  <a:lnTo>
                    <a:pt x="3341" y="85"/>
                  </a:lnTo>
                  <a:lnTo>
                    <a:pt x="3370" y="87"/>
                  </a:lnTo>
                  <a:lnTo>
                    <a:pt x="3399" y="90"/>
                  </a:lnTo>
                  <a:lnTo>
                    <a:pt x="3427" y="91"/>
                  </a:lnTo>
                  <a:lnTo>
                    <a:pt x="3452" y="96"/>
                  </a:lnTo>
                  <a:lnTo>
                    <a:pt x="3478" y="99"/>
                  </a:lnTo>
                  <a:lnTo>
                    <a:pt x="3502" y="104"/>
                  </a:lnTo>
                  <a:lnTo>
                    <a:pt x="3511" y="107"/>
                  </a:lnTo>
                  <a:lnTo>
                    <a:pt x="3522" y="110"/>
                  </a:lnTo>
                  <a:lnTo>
                    <a:pt x="3533" y="114"/>
                  </a:lnTo>
                  <a:lnTo>
                    <a:pt x="3542" y="115"/>
                  </a:lnTo>
                  <a:lnTo>
                    <a:pt x="3551" y="118"/>
                  </a:lnTo>
                  <a:lnTo>
                    <a:pt x="3558" y="123"/>
                  </a:lnTo>
                  <a:lnTo>
                    <a:pt x="3568" y="126"/>
                  </a:lnTo>
                  <a:lnTo>
                    <a:pt x="3575" y="130"/>
                  </a:lnTo>
                  <a:lnTo>
                    <a:pt x="3580" y="133"/>
                  </a:lnTo>
                  <a:lnTo>
                    <a:pt x="3586" y="138"/>
                  </a:lnTo>
                  <a:lnTo>
                    <a:pt x="3591" y="141"/>
                  </a:lnTo>
                  <a:lnTo>
                    <a:pt x="3597" y="144"/>
                  </a:lnTo>
                  <a:lnTo>
                    <a:pt x="3600" y="149"/>
                  </a:lnTo>
                  <a:lnTo>
                    <a:pt x="3604" y="153"/>
                  </a:lnTo>
                  <a:lnTo>
                    <a:pt x="3608" y="157"/>
                  </a:lnTo>
                  <a:lnTo>
                    <a:pt x="3610" y="161"/>
                  </a:lnTo>
                  <a:lnTo>
                    <a:pt x="3610" y="166"/>
                  </a:lnTo>
                  <a:lnTo>
                    <a:pt x="3610" y="169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57" name="Rectangle 1084">
              <a:extLst>
                <a:ext uri="{FF2B5EF4-FFF2-40B4-BE49-F238E27FC236}">
                  <a16:creationId xmlns:a16="http://schemas.microsoft.com/office/drawing/2014/main" id="{B78B29B7-7D7E-38FC-57C5-E8E8B6166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3" y="2455"/>
              <a:ext cx="1076" cy="1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5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Logistical Drivers</a:t>
              </a:r>
              <a:endParaRPr lang="en-US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8" name="Freeform 1085">
              <a:extLst>
                <a:ext uri="{FF2B5EF4-FFF2-40B4-BE49-F238E27FC236}">
                  <a16:creationId xmlns:a16="http://schemas.microsoft.com/office/drawing/2014/main" id="{B10D1E2F-2C3A-7F3E-60EC-536EC21538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17" y="3093"/>
              <a:ext cx="41" cy="202"/>
            </a:xfrm>
            <a:custGeom>
              <a:avLst/>
              <a:gdLst>
                <a:gd name="T0" fmla="*/ 24 w 41"/>
                <a:gd name="T1" fmla="*/ 27 h 202"/>
                <a:gd name="T2" fmla="*/ 24 w 41"/>
                <a:gd name="T3" fmla="*/ 174 h 202"/>
                <a:gd name="T4" fmla="*/ 24 w 41"/>
                <a:gd name="T5" fmla="*/ 175 h 202"/>
                <a:gd name="T6" fmla="*/ 22 w 41"/>
                <a:gd name="T7" fmla="*/ 177 h 202"/>
                <a:gd name="T8" fmla="*/ 22 w 41"/>
                <a:gd name="T9" fmla="*/ 177 h 202"/>
                <a:gd name="T10" fmla="*/ 21 w 41"/>
                <a:gd name="T11" fmla="*/ 177 h 202"/>
                <a:gd name="T12" fmla="*/ 19 w 41"/>
                <a:gd name="T13" fmla="*/ 177 h 202"/>
                <a:gd name="T14" fmla="*/ 19 w 41"/>
                <a:gd name="T15" fmla="*/ 177 h 202"/>
                <a:gd name="T16" fmla="*/ 17 w 41"/>
                <a:gd name="T17" fmla="*/ 175 h 202"/>
                <a:gd name="T18" fmla="*/ 17 w 41"/>
                <a:gd name="T19" fmla="*/ 174 h 202"/>
                <a:gd name="T20" fmla="*/ 17 w 41"/>
                <a:gd name="T21" fmla="*/ 27 h 202"/>
                <a:gd name="T22" fmla="*/ 17 w 41"/>
                <a:gd name="T23" fmla="*/ 27 h 202"/>
                <a:gd name="T24" fmla="*/ 19 w 41"/>
                <a:gd name="T25" fmla="*/ 25 h 202"/>
                <a:gd name="T26" fmla="*/ 19 w 41"/>
                <a:gd name="T27" fmla="*/ 25 h 202"/>
                <a:gd name="T28" fmla="*/ 21 w 41"/>
                <a:gd name="T29" fmla="*/ 25 h 202"/>
                <a:gd name="T30" fmla="*/ 22 w 41"/>
                <a:gd name="T31" fmla="*/ 25 h 202"/>
                <a:gd name="T32" fmla="*/ 22 w 41"/>
                <a:gd name="T33" fmla="*/ 25 h 202"/>
                <a:gd name="T34" fmla="*/ 24 w 41"/>
                <a:gd name="T35" fmla="*/ 27 h 202"/>
                <a:gd name="T36" fmla="*/ 24 w 41"/>
                <a:gd name="T37" fmla="*/ 27 h 202"/>
                <a:gd name="T38" fmla="*/ 24 w 41"/>
                <a:gd name="T39" fmla="*/ 27 h 202"/>
                <a:gd name="T40" fmla="*/ 0 w 41"/>
                <a:gd name="T41" fmla="*/ 33 h 202"/>
                <a:gd name="T42" fmla="*/ 21 w 41"/>
                <a:gd name="T43" fmla="*/ 0 h 202"/>
                <a:gd name="T44" fmla="*/ 41 w 41"/>
                <a:gd name="T45" fmla="*/ 33 h 202"/>
                <a:gd name="T46" fmla="*/ 0 w 41"/>
                <a:gd name="T47" fmla="*/ 33 h 202"/>
                <a:gd name="T48" fmla="*/ 41 w 41"/>
                <a:gd name="T49" fmla="*/ 169 h 202"/>
                <a:gd name="T50" fmla="*/ 21 w 41"/>
                <a:gd name="T51" fmla="*/ 202 h 202"/>
                <a:gd name="T52" fmla="*/ 0 w 41"/>
                <a:gd name="T53" fmla="*/ 169 h 202"/>
                <a:gd name="T54" fmla="*/ 41 w 41"/>
                <a:gd name="T55" fmla="*/ 169 h 20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1"/>
                <a:gd name="T85" fmla="*/ 0 h 202"/>
                <a:gd name="T86" fmla="*/ 41 w 41"/>
                <a:gd name="T87" fmla="*/ 202 h 202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1" h="202">
                  <a:moveTo>
                    <a:pt x="24" y="27"/>
                  </a:moveTo>
                  <a:lnTo>
                    <a:pt x="24" y="174"/>
                  </a:lnTo>
                  <a:lnTo>
                    <a:pt x="24" y="175"/>
                  </a:lnTo>
                  <a:lnTo>
                    <a:pt x="22" y="177"/>
                  </a:lnTo>
                  <a:lnTo>
                    <a:pt x="21" y="177"/>
                  </a:lnTo>
                  <a:lnTo>
                    <a:pt x="19" y="177"/>
                  </a:lnTo>
                  <a:lnTo>
                    <a:pt x="17" y="175"/>
                  </a:lnTo>
                  <a:lnTo>
                    <a:pt x="17" y="174"/>
                  </a:lnTo>
                  <a:lnTo>
                    <a:pt x="17" y="27"/>
                  </a:lnTo>
                  <a:lnTo>
                    <a:pt x="19" y="25"/>
                  </a:lnTo>
                  <a:lnTo>
                    <a:pt x="21" y="25"/>
                  </a:lnTo>
                  <a:lnTo>
                    <a:pt x="22" y="25"/>
                  </a:lnTo>
                  <a:lnTo>
                    <a:pt x="24" y="27"/>
                  </a:lnTo>
                  <a:close/>
                  <a:moveTo>
                    <a:pt x="0" y="33"/>
                  </a:moveTo>
                  <a:lnTo>
                    <a:pt x="21" y="0"/>
                  </a:lnTo>
                  <a:lnTo>
                    <a:pt x="41" y="33"/>
                  </a:lnTo>
                  <a:lnTo>
                    <a:pt x="0" y="33"/>
                  </a:lnTo>
                  <a:close/>
                  <a:moveTo>
                    <a:pt x="41" y="169"/>
                  </a:moveTo>
                  <a:lnTo>
                    <a:pt x="21" y="202"/>
                  </a:lnTo>
                  <a:lnTo>
                    <a:pt x="0" y="169"/>
                  </a:lnTo>
                  <a:lnTo>
                    <a:pt x="41" y="169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59" name="Freeform 1086">
              <a:extLst>
                <a:ext uri="{FF2B5EF4-FFF2-40B4-BE49-F238E27FC236}">
                  <a16:creationId xmlns:a16="http://schemas.microsoft.com/office/drawing/2014/main" id="{ADCBC781-E5B0-C8CF-0E65-172637BE03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4" y="3093"/>
              <a:ext cx="40" cy="202"/>
            </a:xfrm>
            <a:custGeom>
              <a:avLst/>
              <a:gdLst>
                <a:gd name="T0" fmla="*/ 24 w 40"/>
                <a:gd name="T1" fmla="*/ 27 h 202"/>
                <a:gd name="T2" fmla="*/ 24 w 40"/>
                <a:gd name="T3" fmla="*/ 174 h 202"/>
                <a:gd name="T4" fmla="*/ 24 w 40"/>
                <a:gd name="T5" fmla="*/ 175 h 202"/>
                <a:gd name="T6" fmla="*/ 22 w 40"/>
                <a:gd name="T7" fmla="*/ 177 h 202"/>
                <a:gd name="T8" fmla="*/ 22 w 40"/>
                <a:gd name="T9" fmla="*/ 177 h 202"/>
                <a:gd name="T10" fmla="*/ 20 w 40"/>
                <a:gd name="T11" fmla="*/ 177 h 202"/>
                <a:gd name="T12" fmla="*/ 18 w 40"/>
                <a:gd name="T13" fmla="*/ 177 h 202"/>
                <a:gd name="T14" fmla="*/ 18 w 40"/>
                <a:gd name="T15" fmla="*/ 177 h 202"/>
                <a:gd name="T16" fmla="*/ 16 w 40"/>
                <a:gd name="T17" fmla="*/ 175 h 202"/>
                <a:gd name="T18" fmla="*/ 16 w 40"/>
                <a:gd name="T19" fmla="*/ 174 h 202"/>
                <a:gd name="T20" fmla="*/ 16 w 40"/>
                <a:gd name="T21" fmla="*/ 27 h 202"/>
                <a:gd name="T22" fmla="*/ 16 w 40"/>
                <a:gd name="T23" fmla="*/ 27 h 202"/>
                <a:gd name="T24" fmla="*/ 18 w 40"/>
                <a:gd name="T25" fmla="*/ 25 h 202"/>
                <a:gd name="T26" fmla="*/ 18 w 40"/>
                <a:gd name="T27" fmla="*/ 25 h 202"/>
                <a:gd name="T28" fmla="*/ 20 w 40"/>
                <a:gd name="T29" fmla="*/ 25 h 202"/>
                <a:gd name="T30" fmla="*/ 22 w 40"/>
                <a:gd name="T31" fmla="*/ 25 h 202"/>
                <a:gd name="T32" fmla="*/ 22 w 40"/>
                <a:gd name="T33" fmla="*/ 25 h 202"/>
                <a:gd name="T34" fmla="*/ 24 w 40"/>
                <a:gd name="T35" fmla="*/ 27 h 202"/>
                <a:gd name="T36" fmla="*/ 24 w 40"/>
                <a:gd name="T37" fmla="*/ 27 h 202"/>
                <a:gd name="T38" fmla="*/ 24 w 40"/>
                <a:gd name="T39" fmla="*/ 27 h 202"/>
                <a:gd name="T40" fmla="*/ 0 w 40"/>
                <a:gd name="T41" fmla="*/ 33 h 202"/>
                <a:gd name="T42" fmla="*/ 20 w 40"/>
                <a:gd name="T43" fmla="*/ 0 h 202"/>
                <a:gd name="T44" fmla="*/ 40 w 40"/>
                <a:gd name="T45" fmla="*/ 33 h 202"/>
                <a:gd name="T46" fmla="*/ 0 w 40"/>
                <a:gd name="T47" fmla="*/ 33 h 202"/>
                <a:gd name="T48" fmla="*/ 40 w 40"/>
                <a:gd name="T49" fmla="*/ 169 h 202"/>
                <a:gd name="T50" fmla="*/ 20 w 40"/>
                <a:gd name="T51" fmla="*/ 202 h 202"/>
                <a:gd name="T52" fmla="*/ 0 w 40"/>
                <a:gd name="T53" fmla="*/ 169 h 202"/>
                <a:gd name="T54" fmla="*/ 40 w 40"/>
                <a:gd name="T55" fmla="*/ 169 h 20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0"/>
                <a:gd name="T85" fmla="*/ 0 h 202"/>
                <a:gd name="T86" fmla="*/ 40 w 40"/>
                <a:gd name="T87" fmla="*/ 202 h 202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0" h="202">
                  <a:moveTo>
                    <a:pt x="24" y="27"/>
                  </a:moveTo>
                  <a:lnTo>
                    <a:pt x="24" y="174"/>
                  </a:lnTo>
                  <a:lnTo>
                    <a:pt x="24" y="175"/>
                  </a:lnTo>
                  <a:lnTo>
                    <a:pt x="22" y="177"/>
                  </a:lnTo>
                  <a:lnTo>
                    <a:pt x="20" y="177"/>
                  </a:lnTo>
                  <a:lnTo>
                    <a:pt x="18" y="177"/>
                  </a:lnTo>
                  <a:lnTo>
                    <a:pt x="16" y="175"/>
                  </a:lnTo>
                  <a:lnTo>
                    <a:pt x="16" y="174"/>
                  </a:lnTo>
                  <a:lnTo>
                    <a:pt x="16" y="27"/>
                  </a:lnTo>
                  <a:lnTo>
                    <a:pt x="18" y="25"/>
                  </a:lnTo>
                  <a:lnTo>
                    <a:pt x="20" y="25"/>
                  </a:lnTo>
                  <a:lnTo>
                    <a:pt x="22" y="25"/>
                  </a:lnTo>
                  <a:lnTo>
                    <a:pt x="24" y="27"/>
                  </a:lnTo>
                  <a:close/>
                  <a:moveTo>
                    <a:pt x="0" y="33"/>
                  </a:moveTo>
                  <a:lnTo>
                    <a:pt x="20" y="0"/>
                  </a:lnTo>
                  <a:lnTo>
                    <a:pt x="40" y="33"/>
                  </a:lnTo>
                  <a:lnTo>
                    <a:pt x="0" y="33"/>
                  </a:lnTo>
                  <a:close/>
                  <a:moveTo>
                    <a:pt x="40" y="169"/>
                  </a:moveTo>
                  <a:lnTo>
                    <a:pt x="20" y="202"/>
                  </a:lnTo>
                  <a:lnTo>
                    <a:pt x="0" y="169"/>
                  </a:lnTo>
                  <a:lnTo>
                    <a:pt x="40" y="169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0" name="Freeform 1087">
              <a:extLst>
                <a:ext uri="{FF2B5EF4-FFF2-40B4-BE49-F238E27FC236}">
                  <a16:creationId xmlns:a16="http://schemas.microsoft.com/office/drawing/2014/main" id="{7B4E8D59-AA5F-FFEE-3DB4-9781A57BC0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5" y="3448"/>
              <a:ext cx="155" cy="34"/>
            </a:xfrm>
            <a:custGeom>
              <a:avLst/>
              <a:gdLst>
                <a:gd name="T0" fmla="*/ 31 w 155"/>
                <a:gd name="T1" fmla="*/ 13 h 34"/>
                <a:gd name="T2" fmla="*/ 122 w 155"/>
                <a:gd name="T3" fmla="*/ 13 h 34"/>
                <a:gd name="T4" fmla="*/ 124 w 155"/>
                <a:gd name="T5" fmla="*/ 15 h 34"/>
                <a:gd name="T6" fmla="*/ 124 w 155"/>
                <a:gd name="T7" fmla="*/ 15 h 34"/>
                <a:gd name="T8" fmla="*/ 126 w 155"/>
                <a:gd name="T9" fmla="*/ 16 h 34"/>
                <a:gd name="T10" fmla="*/ 126 w 155"/>
                <a:gd name="T11" fmla="*/ 16 h 34"/>
                <a:gd name="T12" fmla="*/ 126 w 155"/>
                <a:gd name="T13" fmla="*/ 18 h 34"/>
                <a:gd name="T14" fmla="*/ 124 w 155"/>
                <a:gd name="T15" fmla="*/ 18 h 34"/>
                <a:gd name="T16" fmla="*/ 124 w 155"/>
                <a:gd name="T17" fmla="*/ 20 h 34"/>
                <a:gd name="T18" fmla="*/ 122 w 155"/>
                <a:gd name="T19" fmla="*/ 20 h 34"/>
                <a:gd name="T20" fmla="*/ 31 w 155"/>
                <a:gd name="T21" fmla="*/ 20 h 34"/>
                <a:gd name="T22" fmla="*/ 31 w 155"/>
                <a:gd name="T23" fmla="*/ 20 h 34"/>
                <a:gd name="T24" fmla="*/ 29 w 155"/>
                <a:gd name="T25" fmla="*/ 18 h 34"/>
                <a:gd name="T26" fmla="*/ 29 w 155"/>
                <a:gd name="T27" fmla="*/ 18 h 34"/>
                <a:gd name="T28" fmla="*/ 29 w 155"/>
                <a:gd name="T29" fmla="*/ 16 h 34"/>
                <a:gd name="T30" fmla="*/ 29 w 155"/>
                <a:gd name="T31" fmla="*/ 16 h 34"/>
                <a:gd name="T32" fmla="*/ 29 w 155"/>
                <a:gd name="T33" fmla="*/ 15 h 34"/>
                <a:gd name="T34" fmla="*/ 31 w 155"/>
                <a:gd name="T35" fmla="*/ 15 h 34"/>
                <a:gd name="T36" fmla="*/ 31 w 155"/>
                <a:gd name="T37" fmla="*/ 13 h 34"/>
                <a:gd name="T38" fmla="*/ 31 w 155"/>
                <a:gd name="T39" fmla="*/ 13 h 34"/>
                <a:gd name="T40" fmla="*/ 38 w 155"/>
                <a:gd name="T41" fmla="*/ 34 h 34"/>
                <a:gd name="T42" fmla="*/ 0 w 155"/>
                <a:gd name="T43" fmla="*/ 16 h 34"/>
                <a:gd name="T44" fmla="*/ 38 w 155"/>
                <a:gd name="T45" fmla="*/ 0 h 34"/>
                <a:gd name="T46" fmla="*/ 38 w 155"/>
                <a:gd name="T47" fmla="*/ 34 h 34"/>
                <a:gd name="T48" fmla="*/ 115 w 155"/>
                <a:gd name="T49" fmla="*/ 0 h 34"/>
                <a:gd name="T50" fmla="*/ 155 w 155"/>
                <a:gd name="T51" fmla="*/ 16 h 34"/>
                <a:gd name="T52" fmla="*/ 115 w 155"/>
                <a:gd name="T53" fmla="*/ 34 h 34"/>
                <a:gd name="T54" fmla="*/ 115 w 155"/>
                <a:gd name="T55" fmla="*/ 0 h 3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55"/>
                <a:gd name="T85" fmla="*/ 0 h 34"/>
                <a:gd name="T86" fmla="*/ 155 w 155"/>
                <a:gd name="T87" fmla="*/ 34 h 3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55" h="34">
                  <a:moveTo>
                    <a:pt x="31" y="13"/>
                  </a:moveTo>
                  <a:lnTo>
                    <a:pt x="122" y="13"/>
                  </a:lnTo>
                  <a:lnTo>
                    <a:pt x="124" y="15"/>
                  </a:lnTo>
                  <a:lnTo>
                    <a:pt x="126" y="16"/>
                  </a:lnTo>
                  <a:lnTo>
                    <a:pt x="126" y="18"/>
                  </a:lnTo>
                  <a:lnTo>
                    <a:pt x="124" y="18"/>
                  </a:lnTo>
                  <a:lnTo>
                    <a:pt x="124" y="20"/>
                  </a:lnTo>
                  <a:lnTo>
                    <a:pt x="122" y="20"/>
                  </a:lnTo>
                  <a:lnTo>
                    <a:pt x="31" y="20"/>
                  </a:lnTo>
                  <a:lnTo>
                    <a:pt x="29" y="18"/>
                  </a:lnTo>
                  <a:lnTo>
                    <a:pt x="29" y="16"/>
                  </a:lnTo>
                  <a:lnTo>
                    <a:pt x="29" y="15"/>
                  </a:lnTo>
                  <a:lnTo>
                    <a:pt x="31" y="15"/>
                  </a:lnTo>
                  <a:lnTo>
                    <a:pt x="31" y="13"/>
                  </a:lnTo>
                  <a:close/>
                  <a:moveTo>
                    <a:pt x="38" y="34"/>
                  </a:moveTo>
                  <a:lnTo>
                    <a:pt x="0" y="16"/>
                  </a:lnTo>
                  <a:lnTo>
                    <a:pt x="38" y="0"/>
                  </a:lnTo>
                  <a:lnTo>
                    <a:pt x="38" y="34"/>
                  </a:lnTo>
                  <a:close/>
                  <a:moveTo>
                    <a:pt x="115" y="0"/>
                  </a:moveTo>
                  <a:lnTo>
                    <a:pt x="155" y="16"/>
                  </a:lnTo>
                  <a:lnTo>
                    <a:pt x="115" y="34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1" name="Freeform 1088">
              <a:extLst>
                <a:ext uri="{FF2B5EF4-FFF2-40B4-BE49-F238E27FC236}">
                  <a16:creationId xmlns:a16="http://schemas.microsoft.com/office/drawing/2014/main" id="{6BFA417E-18D9-6938-EFEA-55222C4D7A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6" y="3448"/>
              <a:ext cx="155" cy="34"/>
            </a:xfrm>
            <a:custGeom>
              <a:avLst/>
              <a:gdLst>
                <a:gd name="T0" fmla="*/ 32 w 155"/>
                <a:gd name="T1" fmla="*/ 13 h 34"/>
                <a:gd name="T2" fmla="*/ 124 w 155"/>
                <a:gd name="T3" fmla="*/ 13 h 34"/>
                <a:gd name="T4" fmla="*/ 124 w 155"/>
                <a:gd name="T5" fmla="*/ 15 h 34"/>
                <a:gd name="T6" fmla="*/ 126 w 155"/>
                <a:gd name="T7" fmla="*/ 15 h 34"/>
                <a:gd name="T8" fmla="*/ 126 w 155"/>
                <a:gd name="T9" fmla="*/ 16 h 34"/>
                <a:gd name="T10" fmla="*/ 126 w 155"/>
                <a:gd name="T11" fmla="*/ 16 h 34"/>
                <a:gd name="T12" fmla="*/ 126 w 155"/>
                <a:gd name="T13" fmla="*/ 18 h 34"/>
                <a:gd name="T14" fmla="*/ 126 w 155"/>
                <a:gd name="T15" fmla="*/ 18 h 34"/>
                <a:gd name="T16" fmla="*/ 124 w 155"/>
                <a:gd name="T17" fmla="*/ 20 h 34"/>
                <a:gd name="T18" fmla="*/ 124 w 155"/>
                <a:gd name="T19" fmla="*/ 20 h 34"/>
                <a:gd name="T20" fmla="*/ 32 w 155"/>
                <a:gd name="T21" fmla="*/ 20 h 34"/>
                <a:gd name="T22" fmla="*/ 31 w 155"/>
                <a:gd name="T23" fmla="*/ 20 h 34"/>
                <a:gd name="T24" fmla="*/ 31 w 155"/>
                <a:gd name="T25" fmla="*/ 18 h 34"/>
                <a:gd name="T26" fmla="*/ 31 w 155"/>
                <a:gd name="T27" fmla="*/ 18 h 34"/>
                <a:gd name="T28" fmla="*/ 29 w 155"/>
                <a:gd name="T29" fmla="*/ 16 h 34"/>
                <a:gd name="T30" fmla="*/ 31 w 155"/>
                <a:gd name="T31" fmla="*/ 16 h 34"/>
                <a:gd name="T32" fmla="*/ 31 w 155"/>
                <a:gd name="T33" fmla="*/ 15 h 34"/>
                <a:gd name="T34" fmla="*/ 31 w 155"/>
                <a:gd name="T35" fmla="*/ 15 h 34"/>
                <a:gd name="T36" fmla="*/ 32 w 155"/>
                <a:gd name="T37" fmla="*/ 13 h 34"/>
                <a:gd name="T38" fmla="*/ 32 w 155"/>
                <a:gd name="T39" fmla="*/ 13 h 34"/>
                <a:gd name="T40" fmla="*/ 40 w 155"/>
                <a:gd name="T41" fmla="*/ 34 h 34"/>
                <a:gd name="T42" fmla="*/ 0 w 155"/>
                <a:gd name="T43" fmla="*/ 16 h 34"/>
                <a:gd name="T44" fmla="*/ 40 w 155"/>
                <a:gd name="T45" fmla="*/ 0 h 34"/>
                <a:gd name="T46" fmla="*/ 40 w 155"/>
                <a:gd name="T47" fmla="*/ 34 h 34"/>
                <a:gd name="T48" fmla="*/ 117 w 155"/>
                <a:gd name="T49" fmla="*/ 0 h 34"/>
                <a:gd name="T50" fmla="*/ 155 w 155"/>
                <a:gd name="T51" fmla="*/ 16 h 34"/>
                <a:gd name="T52" fmla="*/ 117 w 155"/>
                <a:gd name="T53" fmla="*/ 34 h 34"/>
                <a:gd name="T54" fmla="*/ 117 w 155"/>
                <a:gd name="T55" fmla="*/ 0 h 3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55"/>
                <a:gd name="T85" fmla="*/ 0 h 34"/>
                <a:gd name="T86" fmla="*/ 155 w 155"/>
                <a:gd name="T87" fmla="*/ 34 h 3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55" h="34">
                  <a:moveTo>
                    <a:pt x="32" y="13"/>
                  </a:moveTo>
                  <a:lnTo>
                    <a:pt x="124" y="13"/>
                  </a:lnTo>
                  <a:lnTo>
                    <a:pt x="124" y="15"/>
                  </a:lnTo>
                  <a:lnTo>
                    <a:pt x="126" y="15"/>
                  </a:lnTo>
                  <a:lnTo>
                    <a:pt x="126" y="16"/>
                  </a:lnTo>
                  <a:lnTo>
                    <a:pt x="126" y="18"/>
                  </a:lnTo>
                  <a:lnTo>
                    <a:pt x="124" y="20"/>
                  </a:lnTo>
                  <a:lnTo>
                    <a:pt x="32" y="20"/>
                  </a:lnTo>
                  <a:lnTo>
                    <a:pt x="31" y="20"/>
                  </a:lnTo>
                  <a:lnTo>
                    <a:pt x="31" y="18"/>
                  </a:lnTo>
                  <a:lnTo>
                    <a:pt x="29" y="16"/>
                  </a:lnTo>
                  <a:lnTo>
                    <a:pt x="31" y="16"/>
                  </a:lnTo>
                  <a:lnTo>
                    <a:pt x="31" y="15"/>
                  </a:lnTo>
                  <a:lnTo>
                    <a:pt x="32" y="13"/>
                  </a:lnTo>
                  <a:close/>
                  <a:moveTo>
                    <a:pt x="40" y="34"/>
                  </a:moveTo>
                  <a:lnTo>
                    <a:pt x="0" y="16"/>
                  </a:lnTo>
                  <a:lnTo>
                    <a:pt x="40" y="0"/>
                  </a:lnTo>
                  <a:lnTo>
                    <a:pt x="40" y="34"/>
                  </a:lnTo>
                  <a:close/>
                  <a:moveTo>
                    <a:pt x="117" y="0"/>
                  </a:moveTo>
                  <a:lnTo>
                    <a:pt x="155" y="16"/>
                  </a:lnTo>
                  <a:lnTo>
                    <a:pt x="117" y="3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2" name="Freeform 1089">
              <a:extLst>
                <a:ext uri="{FF2B5EF4-FFF2-40B4-BE49-F238E27FC236}">
                  <a16:creationId xmlns:a16="http://schemas.microsoft.com/office/drawing/2014/main" id="{441CBA57-D82C-B677-C3EC-D348166E4E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5" y="2940"/>
              <a:ext cx="155" cy="33"/>
            </a:xfrm>
            <a:custGeom>
              <a:avLst/>
              <a:gdLst>
                <a:gd name="T0" fmla="*/ 31 w 155"/>
                <a:gd name="T1" fmla="*/ 14 h 33"/>
                <a:gd name="T2" fmla="*/ 122 w 155"/>
                <a:gd name="T3" fmla="*/ 14 h 33"/>
                <a:gd name="T4" fmla="*/ 124 w 155"/>
                <a:gd name="T5" fmla="*/ 14 h 33"/>
                <a:gd name="T6" fmla="*/ 124 w 155"/>
                <a:gd name="T7" fmla="*/ 14 h 33"/>
                <a:gd name="T8" fmla="*/ 126 w 155"/>
                <a:gd name="T9" fmla="*/ 16 h 33"/>
                <a:gd name="T10" fmla="*/ 126 w 155"/>
                <a:gd name="T11" fmla="*/ 17 h 33"/>
                <a:gd name="T12" fmla="*/ 126 w 155"/>
                <a:gd name="T13" fmla="*/ 17 h 33"/>
                <a:gd name="T14" fmla="*/ 124 w 155"/>
                <a:gd name="T15" fmla="*/ 19 h 33"/>
                <a:gd name="T16" fmla="*/ 124 w 155"/>
                <a:gd name="T17" fmla="*/ 19 h 33"/>
                <a:gd name="T18" fmla="*/ 122 w 155"/>
                <a:gd name="T19" fmla="*/ 19 h 33"/>
                <a:gd name="T20" fmla="*/ 31 w 155"/>
                <a:gd name="T21" fmla="*/ 19 h 33"/>
                <a:gd name="T22" fmla="*/ 31 w 155"/>
                <a:gd name="T23" fmla="*/ 19 h 33"/>
                <a:gd name="T24" fmla="*/ 29 w 155"/>
                <a:gd name="T25" fmla="*/ 19 h 33"/>
                <a:gd name="T26" fmla="*/ 29 w 155"/>
                <a:gd name="T27" fmla="*/ 17 h 33"/>
                <a:gd name="T28" fmla="*/ 29 w 155"/>
                <a:gd name="T29" fmla="*/ 17 h 33"/>
                <a:gd name="T30" fmla="*/ 29 w 155"/>
                <a:gd name="T31" fmla="*/ 16 h 33"/>
                <a:gd name="T32" fmla="*/ 29 w 155"/>
                <a:gd name="T33" fmla="*/ 14 h 33"/>
                <a:gd name="T34" fmla="*/ 31 w 155"/>
                <a:gd name="T35" fmla="*/ 14 h 33"/>
                <a:gd name="T36" fmla="*/ 31 w 155"/>
                <a:gd name="T37" fmla="*/ 14 h 33"/>
                <a:gd name="T38" fmla="*/ 31 w 155"/>
                <a:gd name="T39" fmla="*/ 14 h 33"/>
                <a:gd name="T40" fmla="*/ 38 w 155"/>
                <a:gd name="T41" fmla="*/ 33 h 33"/>
                <a:gd name="T42" fmla="*/ 0 w 155"/>
                <a:gd name="T43" fmla="*/ 17 h 33"/>
                <a:gd name="T44" fmla="*/ 38 w 155"/>
                <a:gd name="T45" fmla="*/ 0 h 33"/>
                <a:gd name="T46" fmla="*/ 38 w 155"/>
                <a:gd name="T47" fmla="*/ 33 h 33"/>
                <a:gd name="T48" fmla="*/ 115 w 155"/>
                <a:gd name="T49" fmla="*/ 0 h 33"/>
                <a:gd name="T50" fmla="*/ 155 w 155"/>
                <a:gd name="T51" fmla="*/ 17 h 33"/>
                <a:gd name="T52" fmla="*/ 115 w 155"/>
                <a:gd name="T53" fmla="*/ 33 h 33"/>
                <a:gd name="T54" fmla="*/ 115 w 155"/>
                <a:gd name="T55" fmla="*/ 0 h 3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55"/>
                <a:gd name="T85" fmla="*/ 0 h 33"/>
                <a:gd name="T86" fmla="*/ 155 w 155"/>
                <a:gd name="T87" fmla="*/ 33 h 3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55" h="33">
                  <a:moveTo>
                    <a:pt x="31" y="14"/>
                  </a:moveTo>
                  <a:lnTo>
                    <a:pt x="122" y="14"/>
                  </a:lnTo>
                  <a:lnTo>
                    <a:pt x="124" y="14"/>
                  </a:lnTo>
                  <a:lnTo>
                    <a:pt x="126" y="16"/>
                  </a:lnTo>
                  <a:lnTo>
                    <a:pt x="126" y="17"/>
                  </a:lnTo>
                  <a:lnTo>
                    <a:pt x="124" y="19"/>
                  </a:lnTo>
                  <a:lnTo>
                    <a:pt x="122" y="19"/>
                  </a:lnTo>
                  <a:lnTo>
                    <a:pt x="31" y="19"/>
                  </a:lnTo>
                  <a:lnTo>
                    <a:pt x="29" y="19"/>
                  </a:lnTo>
                  <a:lnTo>
                    <a:pt x="29" y="17"/>
                  </a:lnTo>
                  <a:lnTo>
                    <a:pt x="29" y="16"/>
                  </a:lnTo>
                  <a:lnTo>
                    <a:pt x="29" y="14"/>
                  </a:lnTo>
                  <a:lnTo>
                    <a:pt x="31" y="14"/>
                  </a:lnTo>
                  <a:close/>
                  <a:moveTo>
                    <a:pt x="38" y="33"/>
                  </a:moveTo>
                  <a:lnTo>
                    <a:pt x="0" y="17"/>
                  </a:lnTo>
                  <a:lnTo>
                    <a:pt x="38" y="0"/>
                  </a:lnTo>
                  <a:lnTo>
                    <a:pt x="38" y="33"/>
                  </a:lnTo>
                  <a:close/>
                  <a:moveTo>
                    <a:pt x="115" y="0"/>
                  </a:moveTo>
                  <a:lnTo>
                    <a:pt x="155" y="17"/>
                  </a:lnTo>
                  <a:lnTo>
                    <a:pt x="115" y="33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3" name="Freeform 1090">
              <a:extLst>
                <a:ext uri="{FF2B5EF4-FFF2-40B4-BE49-F238E27FC236}">
                  <a16:creationId xmlns:a16="http://schemas.microsoft.com/office/drawing/2014/main" id="{34BE5D30-4B51-2562-2C0F-A981447B7B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6" y="2940"/>
              <a:ext cx="155" cy="33"/>
            </a:xfrm>
            <a:custGeom>
              <a:avLst/>
              <a:gdLst>
                <a:gd name="T0" fmla="*/ 32 w 155"/>
                <a:gd name="T1" fmla="*/ 14 h 33"/>
                <a:gd name="T2" fmla="*/ 124 w 155"/>
                <a:gd name="T3" fmla="*/ 14 h 33"/>
                <a:gd name="T4" fmla="*/ 124 w 155"/>
                <a:gd name="T5" fmla="*/ 14 h 33"/>
                <a:gd name="T6" fmla="*/ 126 w 155"/>
                <a:gd name="T7" fmla="*/ 14 h 33"/>
                <a:gd name="T8" fmla="*/ 126 w 155"/>
                <a:gd name="T9" fmla="*/ 16 h 33"/>
                <a:gd name="T10" fmla="*/ 126 w 155"/>
                <a:gd name="T11" fmla="*/ 17 h 33"/>
                <a:gd name="T12" fmla="*/ 126 w 155"/>
                <a:gd name="T13" fmla="*/ 17 h 33"/>
                <a:gd name="T14" fmla="*/ 126 w 155"/>
                <a:gd name="T15" fmla="*/ 19 h 33"/>
                <a:gd name="T16" fmla="*/ 124 w 155"/>
                <a:gd name="T17" fmla="*/ 19 h 33"/>
                <a:gd name="T18" fmla="*/ 124 w 155"/>
                <a:gd name="T19" fmla="*/ 19 h 33"/>
                <a:gd name="T20" fmla="*/ 32 w 155"/>
                <a:gd name="T21" fmla="*/ 19 h 33"/>
                <a:gd name="T22" fmla="*/ 31 w 155"/>
                <a:gd name="T23" fmla="*/ 19 h 33"/>
                <a:gd name="T24" fmla="*/ 31 w 155"/>
                <a:gd name="T25" fmla="*/ 19 h 33"/>
                <a:gd name="T26" fmla="*/ 31 w 155"/>
                <a:gd name="T27" fmla="*/ 17 h 33"/>
                <a:gd name="T28" fmla="*/ 29 w 155"/>
                <a:gd name="T29" fmla="*/ 17 h 33"/>
                <a:gd name="T30" fmla="*/ 31 w 155"/>
                <a:gd name="T31" fmla="*/ 16 h 33"/>
                <a:gd name="T32" fmla="*/ 31 w 155"/>
                <a:gd name="T33" fmla="*/ 14 h 33"/>
                <a:gd name="T34" fmla="*/ 31 w 155"/>
                <a:gd name="T35" fmla="*/ 14 h 33"/>
                <a:gd name="T36" fmla="*/ 32 w 155"/>
                <a:gd name="T37" fmla="*/ 14 h 33"/>
                <a:gd name="T38" fmla="*/ 32 w 155"/>
                <a:gd name="T39" fmla="*/ 14 h 33"/>
                <a:gd name="T40" fmla="*/ 40 w 155"/>
                <a:gd name="T41" fmla="*/ 33 h 33"/>
                <a:gd name="T42" fmla="*/ 0 w 155"/>
                <a:gd name="T43" fmla="*/ 17 h 33"/>
                <a:gd name="T44" fmla="*/ 40 w 155"/>
                <a:gd name="T45" fmla="*/ 0 h 33"/>
                <a:gd name="T46" fmla="*/ 40 w 155"/>
                <a:gd name="T47" fmla="*/ 33 h 33"/>
                <a:gd name="T48" fmla="*/ 117 w 155"/>
                <a:gd name="T49" fmla="*/ 0 h 33"/>
                <a:gd name="T50" fmla="*/ 155 w 155"/>
                <a:gd name="T51" fmla="*/ 17 h 33"/>
                <a:gd name="T52" fmla="*/ 117 w 155"/>
                <a:gd name="T53" fmla="*/ 33 h 33"/>
                <a:gd name="T54" fmla="*/ 117 w 155"/>
                <a:gd name="T55" fmla="*/ 0 h 3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55"/>
                <a:gd name="T85" fmla="*/ 0 h 33"/>
                <a:gd name="T86" fmla="*/ 155 w 155"/>
                <a:gd name="T87" fmla="*/ 33 h 3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55" h="33">
                  <a:moveTo>
                    <a:pt x="32" y="14"/>
                  </a:moveTo>
                  <a:lnTo>
                    <a:pt x="124" y="14"/>
                  </a:lnTo>
                  <a:lnTo>
                    <a:pt x="126" y="14"/>
                  </a:lnTo>
                  <a:lnTo>
                    <a:pt x="126" y="16"/>
                  </a:lnTo>
                  <a:lnTo>
                    <a:pt x="126" y="17"/>
                  </a:lnTo>
                  <a:lnTo>
                    <a:pt x="126" y="19"/>
                  </a:lnTo>
                  <a:lnTo>
                    <a:pt x="124" y="19"/>
                  </a:lnTo>
                  <a:lnTo>
                    <a:pt x="32" y="19"/>
                  </a:lnTo>
                  <a:lnTo>
                    <a:pt x="31" y="19"/>
                  </a:lnTo>
                  <a:lnTo>
                    <a:pt x="31" y="17"/>
                  </a:lnTo>
                  <a:lnTo>
                    <a:pt x="29" y="17"/>
                  </a:lnTo>
                  <a:lnTo>
                    <a:pt x="31" y="16"/>
                  </a:lnTo>
                  <a:lnTo>
                    <a:pt x="31" y="14"/>
                  </a:lnTo>
                  <a:lnTo>
                    <a:pt x="32" y="14"/>
                  </a:lnTo>
                  <a:close/>
                  <a:moveTo>
                    <a:pt x="40" y="33"/>
                  </a:moveTo>
                  <a:lnTo>
                    <a:pt x="0" y="17"/>
                  </a:lnTo>
                  <a:lnTo>
                    <a:pt x="40" y="0"/>
                  </a:lnTo>
                  <a:lnTo>
                    <a:pt x="40" y="33"/>
                  </a:lnTo>
                  <a:close/>
                  <a:moveTo>
                    <a:pt x="117" y="0"/>
                  </a:moveTo>
                  <a:lnTo>
                    <a:pt x="155" y="17"/>
                  </a:lnTo>
                  <a:lnTo>
                    <a:pt x="117" y="33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4" name="Freeform 1091">
              <a:extLst>
                <a:ext uri="{FF2B5EF4-FFF2-40B4-BE49-F238E27FC236}">
                  <a16:creationId xmlns:a16="http://schemas.microsoft.com/office/drawing/2014/main" id="{1D31F36F-45B7-BF9A-1564-267F0D3843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5" y="3093"/>
              <a:ext cx="193" cy="202"/>
            </a:xfrm>
            <a:custGeom>
              <a:avLst/>
              <a:gdLst>
                <a:gd name="T0" fmla="*/ 22 w 193"/>
                <a:gd name="T1" fmla="*/ 19 h 202"/>
                <a:gd name="T2" fmla="*/ 175 w 193"/>
                <a:gd name="T3" fmla="*/ 179 h 202"/>
                <a:gd name="T4" fmla="*/ 175 w 193"/>
                <a:gd name="T5" fmla="*/ 180 h 202"/>
                <a:gd name="T6" fmla="*/ 175 w 193"/>
                <a:gd name="T7" fmla="*/ 182 h 202"/>
                <a:gd name="T8" fmla="*/ 175 w 193"/>
                <a:gd name="T9" fmla="*/ 182 h 202"/>
                <a:gd name="T10" fmla="*/ 175 w 193"/>
                <a:gd name="T11" fmla="*/ 183 h 202"/>
                <a:gd name="T12" fmla="*/ 173 w 193"/>
                <a:gd name="T13" fmla="*/ 183 h 202"/>
                <a:gd name="T14" fmla="*/ 172 w 193"/>
                <a:gd name="T15" fmla="*/ 183 h 202"/>
                <a:gd name="T16" fmla="*/ 172 w 193"/>
                <a:gd name="T17" fmla="*/ 183 h 202"/>
                <a:gd name="T18" fmla="*/ 170 w 193"/>
                <a:gd name="T19" fmla="*/ 183 h 202"/>
                <a:gd name="T20" fmla="*/ 18 w 193"/>
                <a:gd name="T21" fmla="*/ 22 h 202"/>
                <a:gd name="T22" fmla="*/ 16 w 193"/>
                <a:gd name="T23" fmla="*/ 22 h 202"/>
                <a:gd name="T24" fmla="*/ 16 w 193"/>
                <a:gd name="T25" fmla="*/ 21 h 202"/>
                <a:gd name="T26" fmla="*/ 16 w 193"/>
                <a:gd name="T27" fmla="*/ 19 h 202"/>
                <a:gd name="T28" fmla="*/ 18 w 193"/>
                <a:gd name="T29" fmla="*/ 19 h 202"/>
                <a:gd name="T30" fmla="*/ 20 w 193"/>
                <a:gd name="T31" fmla="*/ 19 h 202"/>
                <a:gd name="T32" fmla="*/ 20 w 193"/>
                <a:gd name="T33" fmla="*/ 17 h 202"/>
                <a:gd name="T34" fmla="*/ 22 w 193"/>
                <a:gd name="T35" fmla="*/ 19 h 202"/>
                <a:gd name="T36" fmla="*/ 22 w 193"/>
                <a:gd name="T37" fmla="*/ 19 h 202"/>
                <a:gd name="T38" fmla="*/ 22 w 193"/>
                <a:gd name="T39" fmla="*/ 19 h 202"/>
                <a:gd name="T40" fmla="*/ 9 w 193"/>
                <a:gd name="T41" fmla="*/ 37 h 202"/>
                <a:gd name="T42" fmla="*/ 0 w 193"/>
                <a:gd name="T43" fmla="*/ 0 h 202"/>
                <a:gd name="T44" fmla="*/ 38 w 193"/>
                <a:gd name="T45" fmla="*/ 14 h 202"/>
                <a:gd name="T46" fmla="*/ 9 w 193"/>
                <a:gd name="T47" fmla="*/ 37 h 202"/>
                <a:gd name="T48" fmla="*/ 182 w 193"/>
                <a:gd name="T49" fmla="*/ 166 h 202"/>
                <a:gd name="T50" fmla="*/ 193 w 193"/>
                <a:gd name="T51" fmla="*/ 202 h 202"/>
                <a:gd name="T52" fmla="*/ 153 w 193"/>
                <a:gd name="T53" fmla="*/ 186 h 202"/>
                <a:gd name="T54" fmla="*/ 182 w 193"/>
                <a:gd name="T55" fmla="*/ 166 h 20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93"/>
                <a:gd name="T85" fmla="*/ 0 h 202"/>
                <a:gd name="T86" fmla="*/ 193 w 193"/>
                <a:gd name="T87" fmla="*/ 202 h 202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93" h="202">
                  <a:moveTo>
                    <a:pt x="22" y="19"/>
                  </a:moveTo>
                  <a:lnTo>
                    <a:pt x="175" y="179"/>
                  </a:lnTo>
                  <a:lnTo>
                    <a:pt x="175" y="180"/>
                  </a:lnTo>
                  <a:lnTo>
                    <a:pt x="175" y="182"/>
                  </a:lnTo>
                  <a:lnTo>
                    <a:pt x="175" y="183"/>
                  </a:lnTo>
                  <a:lnTo>
                    <a:pt x="173" y="183"/>
                  </a:lnTo>
                  <a:lnTo>
                    <a:pt x="172" y="183"/>
                  </a:lnTo>
                  <a:lnTo>
                    <a:pt x="170" y="183"/>
                  </a:lnTo>
                  <a:lnTo>
                    <a:pt x="18" y="22"/>
                  </a:lnTo>
                  <a:lnTo>
                    <a:pt x="16" y="22"/>
                  </a:lnTo>
                  <a:lnTo>
                    <a:pt x="16" y="21"/>
                  </a:lnTo>
                  <a:lnTo>
                    <a:pt x="16" y="19"/>
                  </a:lnTo>
                  <a:lnTo>
                    <a:pt x="18" y="19"/>
                  </a:lnTo>
                  <a:lnTo>
                    <a:pt x="20" y="19"/>
                  </a:lnTo>
                  <a:lnTo>
                    <a:pt x="20" y="17"/>
                  </a:lnTo>
                  <a:lnTo>
                    <a:pt x="22" y="19"/>
                  </a:lnTo>
                  <a:close/>
                  <a:moveTo>
                    <a:pt x="9" y="37"/>
                  </a:moveTo>
                  <a:lnTo>
                    <a:pt x="0" y="0"/>
                  </a:lnTo>
                  <a:lnTo>
                    <a:pt x="38" y="14"/>
                  </a:lnTo>
                  <a:lnTo>
                    <a:pt x="9" y="37"/>
                  </a:lnTo>
                  <a:close/>
                  <a:moveTo>
                    <a:pt x="182" y="166"/>
                  </a:moveTo>
                  <a:lnTo>
                    <a:pt x="193" y="202"/>
                  </a:lnTo>
                  <a:lnTo>
                    <a:pt x="153" y="186"/>
                  </a:lnTo>
                  <a:lnTo>
                    <a:pt x="182" y="166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5" name="Freeform 1092">
              <a:extLst>
                <a:ext uri="{FF2B5EF4-FFF2-40B4-BE49-F238E27FC236}">
                  <a16:creationId xmlns:a16="http://schemas.microsoft.com/office/drawing/2014/main" id="{195A0F9D-0B7B-E676-23A1-4B4DC97625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5" y="3093"/>
              <a:ext cx="193" cy="202"/>
            </a:xfrm>
            <a:custGeom>
              <a:avLst/>
              <a:gdLst>
                <a:gd name="T0" fmla="*/ 175 w 193"/>
                <a:gd name="T1" fmla="*/ 22 h 202"/>
                <a:gd name="T2" fmla="*/ 22 w 193"/>
                <a:gd name="T3" fmla="*/ 183 h 202"/>
                <a:gd name="T4" fmla="*/ 22 w 193"/>
                <a:gd name="T5" fmla="*/ 183 h 202"/>
                <a:gd name="T6" fmla="*/ 20 w 193"/>
                <a:gd name="T7" fmla="*/ 183 h 202"/>
                <a:gd name="T8" fmla="*/ 20 w 193"/>
                <a:gd name="T9" fmla="*/ 183 h 202"/>
                <a:gd name="T10" fmla="*/ 18 w 193"/>
                <a:gd name="T11" fmla="*/ 183 h 202"/>
                <a:gd name="T12" fmla="*/ 16 w 193"/>
                <a:gd name="T13" fmla="*/ 182 h 202"/>
                <a:gd name="T14" fmla="*/ 16 w 193"/>
                <a:gd name="T15" fmla="*/ 182 h 202"/>
                <a:gd name="T16" fmla="*/ 16 w 193"/>
                <a:gd name="T17" fmla="*/ 180 h 202"/>
                <a:gd name="T18" fmla="*/ 18 w 193"/>
                <a:gd name="T19" fmla="*/ 179 h 202"/>
                <a:gd name="T20" fmla="*/ 170 w 193"/>
                <a:gd name="T21" fmla="*/ 19 h 202"/>
                <a:gd name="T22" fmla="*/ 172 w 193"/>
                <a:gd name="T23" fmla="*/ 19 h 202"/>
                <a:gd name="T24" fmla="*/ 172 w 193"/>
                <a:gd name="T25" fmla="*/ 17 h 202"/>
                <a:gd name="T26" fmla="*/ 173 w 193"/>
                <a:gd name="T27" fmla="*/ 19 h 202"/>
                <a:gd name="T28" fmla="*/ 175 w 193"/>
                <a:gd name="T29" fmla="*/ 19 h 202"/>
                <a:gd name="T30" fmla="*/ 175 w 193"/>
                <a:gd name="T31" fmla="*/ 19 h 202"/>
                <a:gd name="T32" fmla="*/ 175 w 193"/>
                <a:gd name="T33" fmla="*/ 21 h 202"/>
                <a:gd name="T34" fmla="*/ 175 w 193"/>
                <a:gd name="T35" fmla="*/ 22 h 202"/>
                <a:gd name="T36" fmla="*/ 175 w 193"/>
                <a:gd name="T37" fmla="*/ 22 h 202"/>
                <a:gd name="T38" fmla="*/ 175 w 193"/>
                <a:gd name="T39" fmla="*/ 22 h 202"/>
                <a:gd name="T40" fmla="*/ 153 w 193"/>
                <a:gd name="T41" fmla="*/ 14 h 202"/>
                <a:gd name="T42" fmla="*/ 193 w 193"/>
                <a:gd name="T43" fmla="*/ 0 h 202"/>
                <a:gd name="T44" fmla="*/ 182 w 193"/>
                <a:gd name="T45" fmla="*/ 37 h 202"/>
                <a:gd name="T46" fmla="*/ 153 w 193"/>
                <a:gd name="T47" fmla="*/ 14 h 202"/>
                <a:gd name="T48" fmla="*/ 38 w 193"/>
                <a:gd name="T49" fmla="*/ 186 h 202"/>
                <a:gd name="T50" fmla="*/ 0 w 193"/>
                <a:gd name="T51" fmla="*/ 202 h 202"/>
                <a:gd name="T52" fmla="*/ 9 w 193"/>
                <a:gd name="T53" fmla="*/ 166 h 202"/>
                <a:gd name="T54" fmla="*/ 38 w 193"/>
                <a:gd name="T55" fmla="*/ 186 h 20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93"/>
                <a:gd name="T85" fmla="*/ 0 h 202"/>
                <a:gd name="T86" fmla="*/ 193 w 193"/>
                <a:gd name="T87" fmla="*/ 202 h 202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93" h="202">
                  <a:moveTo>
                    <a:pt x="175" y="22"/>
                  </a:moveTo>
                  <a:lnTo>
                    <a:pt x="22" y="183"/>
                  </a:lnTo>
                  <a:lnTo>
                    <a:pt x="20" y="183"/>
                  </a:lnTo>
                  <a:lnTo>
                    <a:pt x="18" y="183"/>
                  </a:lnTo>
                  <a:lnTo>
                    <a:pt x="16" y="182"/>
                  </a:lnTo>
                  <a:lnTo>
                    <a:pt x="16" y="180"/>
                  </a:lnTo>
                  <a:lnTo>
                    <a:pt x="18" y="179"/>
                  </a:lnTo>
                  <a:lnTo>
                    <a:pt x="170" y="19"/>
                  </a:lnTo>
                  <a:lnTo>
                    <a:pt x="172" y="19"/>
                  </a:lnTo>
                  <a:lnTo>
                    <a:pt x="172" y="17"/>
                  </a:lnTo>
                  <a:lnTo>
                    <a:pt x="173" y="19"/>
                  </a:lnTo>
                  <a:lnTo>
                    <a:pt x="175" y="19"/>
                  </a:lnTo>
                  <a:lnTo>
                    <a:pt x="175" y="21"/>
                  </a:lnTo>
                  <a:lnTo>
                    <a:pt x="175" y="22"/>
                  </a:lnTo>
                  <a:close/>
                  <a:moveTo>
                    <a:pt x="153" y="14"/>
                  </a:moveTo>
                  <a:lnTo>
                    <a:pt x="193" y="0"/>
                  </a:lnTo>
                  <a:lnTo>
                    <a:pt x="182" y="37"/>
                  </a:lnTo>
                  <a:lnTo>
                    <a:pt x="153" y="14"/>
                  </a:lnTo>
                  <a:close/>
                  <a:moveTo>
                    <a:pt x="38" y="186"/>
                  </a:moveTo>
                  <a:lnTo>
                    <a:pt x="0" y="202"/>
                  </a:lnTo>
                  <a:lnTo>
                    <a:pt x="9" y="166"/>
                  </a:lnTo>
                  <a:lnTo>
                    <a:pt x="38" y="186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6" name="Freeform 1093">
              <a:extLst>
                <a:ext uri="{FF2B5EF4-FFF2-40B4-BE49-F238E27FC236}">
                  <a16:creationId xmlns:a16="http://schemas.microsoft.com/office/drawing/2014/main" id="{32A43B4D-6F25-C6EB-1377-C8108BE799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7" y="3093"/>
              <a:ext cx="194" cy="202"/>
            </a:xfrm>
            <a:custGeom>
              <a:avLst/>
              <a:gdLst>
                <a:gd name="T0" fmla="*/ 24 w 194"/>
                <a:gd name="T1" fmla="*/ 19 h 202"/>
                <a:gd name="T2" fmla="*/ 176 w 194"/>
                <a:gd name="T3" fmla="*/ 179 h 202"/>
                <a:gd name="T4" fmla="*/ 177 w 194"/>
                <a:gd name="T5" fmla="*/ 180 h 202"/>
                <a:gd name="T6" fmla="*/ 177 w 194"/>
                <a:gd name="T7" fmla="*/ 182 h 202"/>
                <a:gd name="T8" fmla="*/ 177 w 194"/>
                <a:gd name="T9" fmla="*/ 182 h 202"/>
                <a:gd name="T10" fmla="*/ 176 w 194"/>
                <a:gd name="T11" fmla="*/ 183 h 202"/>
                <a:gd name="T12" fmla="*/ 176 w 194"/>
                <a:gd name="T13" fmla="*/ 183 h 202"/>
                <a:gd name="T14" fmla="*/ 174 w 194"/>
                <a:gd name="T15" fmla="*/ 183 h 202"/>
                <a:gd name="T16" fmla="*/ 172 w 194"/>
                <a:gd name="T17" fmla="*/ 183 h 202"/>
                <a:gd name="T18" fmla="*/ 172 w 194"/>
                <a:gd name="T19" fmla="*/ 183 h 202"/>
                <a:gd name="T20" fmla="*/ 18 w 194"/>
                <a:gd name="T21" fmla="*/ 22 h 202"/>
                <a:gd name="T22" fmla="*/ 18 w 194"/>
                <a:gd name="T23" fmla="*/ 22 h 202"/>
                <a:gd name="T24" fmla="*/ 18 w 194"/>
                <a:gd name="T25" fmla="*/ 21 h 202"/>
                <a:gd name="T26" fmla="*/ 18 w 194"/>
                <a:gd name="T27" fmla="*/ 19 h 202"/>
                <a:gd name="T28" fmla="*/ 18 w 194"/>
                <a:gd name="T29" fmla="*/ 19 h 202"/>
                <a:gd name="T30" fmla="*/ 20 w 194"/>
                <a:gd name="T31" fmla="*/ 19 h 202"/>
                <a:gd name="T32" fmla="*/ 22 w 194"/>
                <a:gd name="T33" fmla="*/ 17 h 202"/>
                <a:gd name="T34" fmla="*/ 22 w 194"/>
                <a:gd name="T35" fmla="*/ 19 h 202"/>
                <a:gd name="T36" fmla="*/ 24 w 194"/>
                <a:gd name="T37" fmla="*/ 19 h 202"/>
                <a:gd name="T38" fmla="*/ 24 w 194"/>
                <a:gd name="T39" fmla="*/ 19 h 202"/>
                <a:gd name="T40" fmla="*/ 11 w 194"/>
                <a:gd name="T41" fmla="*/ 37 h 202"/>
                <a:gd name="T42" fmla="*/ 0 w 194"/>
                <a:gd name="T43" fmla="*/ 0 h 202"/>
                <a:gd name="T44" fmla="*/ 40 w 194"/>
                <a:gd name="T45" fmla="*/ 14 h 202"/>
                <a:gd name="T46" fmla="*/ 11 w 194"/>
                <a:gd name="T47" fmla="*/ 37 h 202"/>
                <a:gd name="T48" fmla="*/ 185 w 194"/>
                <a:gd name="T49" fmla="*/ 166 h 202"/>
                <a:gd name="T50" fmla="*/ 194 w 194"/>
                <a:gd name="T51" fmla="*/ 202 h 202"/>
                <a:gd name="T52" fmla="*/ 156 w 194"/>
                <a:gd name="T53" fmla="*/ 186 h 202"/>
                <a:gd name="T54" fmla="*/ 185 w 194"/>
                <a:gd name="T55" fmla="*/ 166 h 20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94"/>
                <a:gd name="T85" fmla="*/ 0 h 202"/>
                <a:gd name="T86" fmla="*/ 194 w 194"/>
                <a:gd name="T87" fmla="*/ 202 h 202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94" h="202">
                  <a:moveTo>
                    <a:pt x="24" y="19"/>
                  </a:moveTo>
                  <a:lnTo>
                    <a:pt x="176" y="179"/>
                  </a:lnTo>
                  <a:lnTo>
                    <a:pt x="177" y="180"/>
                  </a:lnTo>
                  <a:lnTo>
                    <a:pt x="177" y="182"/>
                  </a:lnTo>
                  <a:lnTo>
                    <a:pt x="176" y="183"/>
                  </a:lnTo>
                  <a:lnTo>
                    <a:pt x="174" y="183"/>
                  </a:lnTo>
                  <a:lnTo>
                    <a:pt x="172" y="183"/>
                  </a:lnTo>
                  <a:lnTo>
                    <a:pt x="18" y="22"/>
                  </a:lnTo>
                  <a:lnTo>
                    <a:pt x="18" y="21"/>
                  </a:lnTo>
                  <a:lnTo>
                    <a:pt x="18" y="19"/>
                  </a:lnTo>
                  <a:lnTo>
                    <a:pt x="20" y="19"/>
                  </a:lnTo>
                  <a:lnTo>
                    <a:pt x="22" y="17"/>
                  </a:lnTo>
                  <a:lnTo>
                    <a:pt x="22" y="19"/>
                  </a:lnTo>
                  <a:lnTo>
                    <a:pt x="24" y="19"/>
                  </a:lnTo>
                  <a:close/>
                  <a:moveTo>
                    <a:pt x="11" y="37"/>
                  </a:moveTo>
                  <a:lnTo>
                    <a:pt x="0" y="0"/>
                  </a:lnTo>
                  <a:lnTo>
                    <a:pt x="40" y="14"/>
                  </a:lnTo>
                  <a:lnTo>
                    <a:pt x="11" y="37"/>
                  </a:lnTo>
                  <a:close/>
                  <a:moveTo>
                    <a:pt x="185" y="166"/>
                  </a:moveTo>
                  <a:lnTo>
                    <a:pt x="194" y="202"/>
                  </a:lnTo>
                  <a:lnTo>
                    <a:pt x="156" y="186"/>
                  </a:lnTo>
                  <a:lnTo>
                    <a:pt x="185" y="166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7" name="Freeform 1094">
              <a:extLst>
                <a:ext uri="{FF2B5EF4-FFF2-40B4-BE49-F238E27FC236}">
                  <a16:creationId xmlns:a16="http://schemas.microsoft.com/office/drawing/2014/main" id="{BD83827C-8BD1-8337-BCEF-5FCC158F87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7" y="3093"/>
              <a:ext cx="194" cy="202"/>
            </a:xfrm>
            <a:custGeom>
              <a:avLst/>
              <a:gdLst>
                <a:gd name="T0" fmla="*/ 176 w 194"/>
                <a:gd name="T1" fmla="*/ 22 h 202"/>
                <a:gd name="T2" fmla="*/ 24 w 194"/>
                <a:gd name="T3" fmla="*/ 183 h 202"/>
                <a:gd name="T4" fmla="*/ 22 w 194"/>
                <a:gd name="T5" fmla="*/ 183 h 202"/>
                <a:gd name="T6" fmla="*/ 22 w 194"/>
                <a:gd name="T7" fmla="*/ 183 h 202"/>
                <a:gd name="T8" fmla="*/ 20 w 194"/>
                <a:gd name="T9" fmla="*/ 183 h 202"/>
                <a:gd name="T10" fmla="*/ 18 w 194"/>
                <a:gd name="T11" fmla="*/ 183 h 202"/>
                <a:gd name="T12" fmla="*/ 18 w 194"/>
                <a:gd name="T13" fmla="*/ 182 h 202"/>
                <a:gd name="T14" fmla="*/ 18 w 194"/>
                <a:gd name="T15" fmla="*/ 182 h 202"/>
                <a:gd name="T16" fmla="*/ 18 w 194"/>
                <a:gd name="T17" fmla="*/ 180 h 202"/>
                <a:gd name="T18" fmla="*/ 18 w 194"/>
                <a:gd name="T19" fmla="*/ 179 h 202"/>
                <a:gd name="T20" fmla="*/ 172 w 194"/>
                <a:gd name="T21" fmla="*/ 19 h 202"/>
                <a:gd name="T22" fmla="*/ 172 w 194"/>
                <a:gd name="T23" fmla="*/ 19 h 202"/>
                <a:gd name="T24" fmla="*/ 174 w 194"/>
                <a:gd name="T25" fmla="*/ 17 h 202"/>
                <a:gd name="T26" fmla="*/ 176 w 194"/>
                <a:gd name="T27" fmla="*/ 19 h 202"/>
                <a:gd name="T28" fmla="*/ 176 w 194"/>
                <a:gd name="T29" fmla="*/ 19 h 202"/>
                <a:gd name="T30" fmla="*/ 177 w 194"/>
                <a:gd name="T31" fmla="*/ 19 h 202"/>
                <a:gd name="T32" fmla="*/ 177 w 194"/>
                <a:gd name="T33" fmla="*/ 21 h 202"/>
                <a:gd name="T34" fmla="*/ 177 w 194"/>
                <a:gd name="T35" fmla="*/ 22 h 202"/>
                <a:gd name="T36" fmla="*/ 176 w 194"/>
                <a:gd name="T37" fmla="*/ 22 h 202"/>
                <a:gd name="T38" fmla="*/ 176 w 194"/>
                <a:gd name="T39" fmla="*/ 22 h 202"/>
                <a:gd name="T40" fmla="*/ 156 w 194"/>
                <a:gd name="T41" fmla="*/ 14 h 202"/>
                <a:gd name="T42" fmla="*/ 194 w 194"/>
                <a:gd name="T43" fmla="*/ 0 h 202"/>
                <a:gd name="T44" fmla="*/ 185 w 194"/>
                <a:gd name="T45" fmla="*/ 37 h 202"/>
                <a:gd name="T46" fmla="*/ 156 w 194"/>
                <a:gd name="T47" fmla="*/ 14 h 202"/>
                <a:gd name="T48" fmla="*/ 40 w 194"/>
                <a:gd name="T49" fmla="*/ 186 h 202"/>
                <a:gd name="T50" fmla="*/ 0 w 194"/>
                <a:gd name="T51" fmla="*/ 202 h 202"/>
                <a:gd name="T52" fmla="*/ 11 w 194"/>
                <a:gd name="T53" fmla="*/ 166 h 202"/>
                <a:gd name="T54" fmla="*/ 40 w 194"/>
                <a:gd name="T55" fmla="*/ 186 h 20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94"/>
                <a:gd name="T85" fmla="*/ 0 h 202"/>
                <a:gd name="T86" fmla="*/ 194 w 194"/>
                <a:gd name="T87" fmla="*/ 202 h 202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94" h="202">
                  <a:moveTo>
                    <a:pt x="176" y="22"/>
                  </a:moveTo>
                  <a:lnTo>
                    <a:pt x="24" y="183"/>
                  </a:lnTo>
                  <a:lnTo>
                    <a:pt x="22" y="183"/>
                  </a:lnTo>
                  <a:lnTo>
                    <a:pt x="20" y="183"/>
                  </a:lnTo>
                  <a:lnTo>
                    <a:pt x="18" y="183"/>
                  </a:lnTo>
                  <a:lnTo>
                    <a:pt x="18" y="182"/>
                  </a:lnTo>
                  <a:lnTo>
                    <a:pt x="18" y="180"/>
                  </a:lnTo>
                  <a:lnTo>
                    <a:pt x="18" y="179"/>
                  </a:lnTo>
                  <a:lnTo>
                    <a:pt x="172" y="19"/>
                  </a:lnTo>
                  <a:lnTo>
                    <a:pt x="174" y="17"/>
                  </a:lnTo>
                  <a:lnTo>
                    <a:pt x="176" y="19"/>
                  </a:lnTo>
                  <a:lnTo>
                    <a:pt x="177" y="19"/>
                  </a:lnTo>
                  <a:lnTo>
                    <a:pt x="177" y="21"/>
                  </a:lnTo>
                  <a:lnTo>
                    <a:pt x="177" y="22"/>
                  </a:lnTo>
                  <a:lnTo>
                    <a:pt x="176" y="22"/>
                  </a:lnTo>
                  <a:close/>
                  <a:moveTo>
                    <a:pt x="156" y="14"/>
                  </a:moveTo>
                  <a:lnTo>
                    <a:pt x="194" y="0"/>
                  </a:lnTo>
                  <a:lnTo>
                    <a:pt x="185" y="37"/>
                  </a:lnTo>
                  <a:lnTo>
                    <a:pt x="156" y="14"/>
                  </a:lnTo>
                  <a:close/>
                  <a:moveTo>
                    <a:pt x="40" y="186"/>
                  </a:moveTo>
                  <a:lnTo>
                    <a:pt x="0" y="202"/>
                  </a:lnTo>
                  <a:lnTo>
                    <a:pt x="11" y="166"/>
                  </a:lnTo>
                  <a:lnTo>
                    <a:pt x="40" y="186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8" name="Freeform 1095">
              <a:extLst>
                <a:ext uri="{FF2B5EF4-FFF2-40B4-BE49-F238E27FC236}">
                  <a16:creationId xmlns:a16="http://schemas.microsoft.com/office/drawing/2014/main" id="{E6B659BB-7CBE-D9C5-3C34-9406B005E3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5" y="3082"/>
              <a:ext cx="1396" cy="225"/>
            </a:xfrm>
            <a:custGeom>
              <a:avLst/>
              <a:gdLst>
                <a:gd name="T0" fmla="*/ 31 w 1396"/>
                <a:gd name="T1" fmla="*/ 13 h 225"/>
                <a:gd name="T2" fmla="*/ 1365 w 1396"/>
                <a:gd name="T3" fmla="*/ 205 h 225"/>
                <a:gd name="T4" fmla="*/ 1367 w 1396"/>
                <a:gd name="T5" fmla="*/ 207 h 225"/>
                <a:gd name="T6" fmla="*/ 1367 w 1396"/>
                <a:gd name="T7" fmla="*/ 207 h 225"/>
                <a:gd name="T8" fmla="*/ 1369 w 1396"/>
                <a:gd name="T9" fmla="*/ 209 h 225"/>
                <a:gd name="T10" fmla="*/ 1369 w 1396"/>
                <a:gd name="T11" fmla="*/ 209 h 225"/>
                <a:gd name="T12" fmla="*/ 1367 w 1396"/>
                <a:gd name="T13" fmla="*/ 212 h 225"/>
                <a:gd name="T14" fmla="*/ 1365 w 1396"/>
                <a:gd name="T15" fmla="*/ 212 h 225"/>
                <a:gd name="T16" fmla="*/ 1365 w 1396"/>
                <a:gd name="T17" fmla="*/ 212 h 225"/>
                <a:gd name="T18" fmla="*/ 31 w 1396"/>
                <a:gd name="T19" fmla="*/ 17 h 225"/>
                <a:gd name="T20" fmla="*/ 29 w 1396"/>
                <a:gd name="T21" fmla="*/ 17 h 225"/>
                <a:gd name="T22" fmla="*/ 29 w 1396"/>
                <a:gd name="T23" fmla="*/ 17 h 225"/>
                <a:gd name="T24" fmla="*/ 27 w 1396"/>
                <a:gd name="T25" fmla="*/ 16 h 225"/>
                <a:gd name="T26" fmla="*/ 27 w 1396"/>
                <a:gd name="T27" fmla="*/ 14 h 225"/>
                <a:gd name="T28" fmla="*/ 29 w 1396"/>
                <a:gd name="T29" fmla="*/ 14 h 225"/>
                <a:gd name="T30" fmla="*/ 29 w 1396"/>
                <a:gd name="T31" fmla="*/ 13 h 225"/>
                <a:gd name="T32" fmla="*/ 31 w 1396"/>
                <a:gd name="T33" fmla="*/ 13 h 225"/>
                <a:gd name="T34" fmla="*/ 31 w 1396"/>
                <a:gd name="T35" fmla="*/ 13 h 225"/>
                <a:gd name="T36" fmla="*/ 31 w 1396"/>
                <a:gd name="T37" fmla="*/ 13 h 225"/>
                <a:gd name="T38" fmla="*/ 34 w 1396"/>
                <a:gd name="T39" fmla="*/ 33 h 225"/>
                <a:gd name="T40" fmla="*/ 0 w 1396"/>
                <a:gd name="T41" fmla="*/ 11 h 225"/>
                <a:gd name="T42" fmla="*/ 40 w 1396"/>
                <a:gd name="T43" fmla="*/ 0 h 225"/>
                <a:gd name="T44" fmla="*/ 34 w 1396"/>
                <a:gd name="T45" fmla="*/ 33 h 225"/>
                <a:gd name="T46" fmla="*/ 1361 w 1396"/>
                <a:gd name="T47" fmla="*/ 191 h 225"/>
                <a:gd name="T48" fmla="*/ 1396 w 1396"/>
                <a:gd name="T49" fmla="*/ 213 h 225"/>
                <a:gd name="T50" fmla="*/ 1356 w 1396"/>
                <a:gd name="T51" fmla="*/ 225 h 225"/>
                <a:gd name="T52" fmla="*/ 1361 w 1396"/>
                <a:gd name="T53" fmla="*/ 191 h 225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396"/>
                <a:gd name="T82" fmla="*/ 0 h 225"/>
                <a:gd name="T83" fmla="*/ 1396 w 1396"/>
                <a:gd name="T84" fmla="*/ 225 h 225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396" h="225">
                  <a:moveTo>
                    <a:pt x="31" y="13"/>
                  </a:moveTo>
                  <a:lnTo>
                    <a:pt x="1365" y="205"/>
                  </a:lnTo>
                  <a:lnTo>
                    <a:pt x="1367" y="207"/>
                  </a:lnTo>
                  <a:lnTo>
                    <a:pt x="1369" y="209"/>
                  </a:lnTo>
                  <a:lnTo>
                    <a:pt x="1367" y="212"/>
                  </a:lnTo>
                  <a:lnTo>
                    <a:pt x="1365" y="212"/>
                  </a:lnTo>
                  <a:lnTo>
                    <a:pt x="31" y="17"/>
                  </a:lnTo>
                  <a:lnTo>
                    <a:pt x="29" y="17"/>
                  </a:lnTo>
                  <a:lnTo>
                    <a:pt x="27" y="16"/>
                  </a:lnTo>
                  <a:lnTo>
                    <a:pt x="27" y="14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31" y="13"/>
                  </a:lnTo>
                  <a:close/>
                  <a:moveTo>
                    <a:pt x="34" y="33"/>
                  </a:moveTo>
                  <a:lnTo>
                    <a:pt x="0" y="11"/>
                  </a:lnTo>
                  <a:lnTo>
                    <a:pt x="40" y="0"/>
                  </a:lnTo>
                  <a:lnTo>
                    <a:pt x="34" y="33"/>
                  </a:lnTo>
                  <a:close/>
                  <a:moveTo>
                    <a:pt x="1361" y="191"/>
                  </a:moveTo>
                  <a:lnTo>
                    <a:pt x="1396" y="213"/>
                  </a:lnTo>
                  <a:lnTo>
                    <a:pt x="1356" y="225"/>
                  </a:lnTo>
                  <a:lnTo>
                    <a:pt x="1361" y="191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69" name="Freeform 1096">
              <a:extLst>
                <a:ext uri="{FF2B5EF4-FFF2-40B4-BE49-F238E27FC236}">
                  <a16:creationId xmlns:a16="http://schemas.microsoft.com/office/drawing/2014/main" id="{E1DFB718-3E82-9C28-4442-E2E6F740C6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5" y="3082"/>
              <a:ext cx="1396" cy="225"/>
            </a:xfrm>
            <a:custGeom>
              <a:avLst/>
              <a:gdLst>
                <a:gd name="T0" fmla="*/ 31 w 1396"/>
                <a:gd name="T1" fmla="*/ 205 h 225"/>
                <a:gd name="T2" fmla="*/ 1365 w 1396"/>
                <a:gd name="T3" fmla="*/ 13 h 225"/>
                <a:gd name="T4" fmla="*/ 1365 w 1396"/>
                <a:gd name="T5" fmla="*/ 13 h 225"/>
                <a:gd name="T6" fmla="*/ 1367 w 1396"/>
                <a:gd name="T7" fmla="*/ 13 h 225"/>
                <a:gd name="T8" fmla="*/ 1369 w 1396"/>
                <a:gd name="T9" fmla="*/ 14 h 225"/>
                <a:gd name="T10" fmla="*/ 1369 w 1396"/>
                <a:gd name="T11" fmla="*/ 16 h 225"/>
                <a:gd name="T12" fmla="*/ 1367 w 1396"/>
                <a:gd name="T13" fmla="*/ 17 h 225"/>
                <a:gd name="T14" fmla="*/ 1367 w 1396"/>
                <a:gd name="T15" fmla="*/ 17 h 225"/>
                <a:gd name="T16" fmla="*/ 1365 w 1396"/>
                <a:gd name="T17" fmla="*/ 17 h 225"/>
                <a:gd name="T18" fmla="*/ 31 w 1396"/>
                <a:gd name="T19" fmla="*/ 212 h 225"/>
                <a:gd name="T20" fmla="*/ 31 w 1396"/>
                <a:gd name="T21" fmla="*/ 212 h 225"/>
                <a:gd name="T22" fmla="*/ 29 w 1396"/>
                <a:gd name="T23" fmla="*/ 212 h 225"/>
                <a:gd name="T24" fmla="*/ 29 w 1396"/>
                <a:gd name="T25" fmla="*/ 210 h 225"/>
                <a:gd name="T26" fmla="*/ 27 w 1396"/>
                <a:gd name="T27" fmla="*/ 209 h 225"/>
                <a:gd name="T28" fmla="*/ 27 w 1396"/>
                <a:gd name="T29" fmla="*/ 209 h 225"/>
                <a:gd name="T30" fmla="*/ 29 w 1396"/>
                <a:gd name="T31" fmla="*/ 207 h 225"/>
                <a:gd name="T32" fmla="*/ 29 w 1396"/>
                <a:gd name="T33" fmla="*/ 207 h 225"/>
                <a:gd name="T34" fmla="*/ 31 w 1396"/>
                <a:gd name="T35" fmla="*/ 205 h 225"/>
                <a:gd name="T36" fmla="*/ 31 w 1396"/>
                <a:gd name="T37" fmla="*/ 205 h 225"/>
                <a:gd name="T38" fmla="*/ 40 w 1396"/>
                <a:gd name="T39" fmla="*/ 225 h 225"/>
                <a:gd name="T40" fmla="*/ 0 w 1396"/>
                <a:gd name="T41" fmla="*/ 213 h 225"/>
                <a:gd name="T42" fmla="*/ 34 w 1396"/>
                <a:gd name="T43" fmla="*/ 191 h 225"/>
                <a:gd name="T44" fmla="*/ 40 w 1396"/>
                <a:gd name="T45" fmla="*/ 225 h 225"/>
                <a:gd name="T46" fmla="*/ 1356 w 1396"/>
                <a:gd name="T47" fmla="*/ 0 h 225"/>
                <a:gd name="T48" fmla="*/ 1396 w 1396"/>
                <a:gd name="T49" fmla="*/ 11 h 225"/>
                <a:gd name="T50" fmla="*/ 1361 w 1396"/>
                <a:gd name="T51" fmla="*/ 33 h 225"/>
                <a:gd name="T52" fmla="*/ 1356 w 1396"/>
                <a:gd name="T53" fmla="*/ 0 h 225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396"/>
                <a:gd name="T82" fmla="*/ 0 h 225"/>
                <a:gd name="T83" fmla="*/ 1396 w 1396"/>
                <a:gd name="T84" fmla="*/ 225 h 225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396" h="225">
                  <a:moveTo>
                    <a:pt x="31" y="205"/>
                  </a:moveTo>
                  <a:lnTo>
                    <a:pt x="1365" y="13"/>
                  </a:lnTo>
                  <a:lnTo>
                    <a:pt x="1367" y="13"/>
                  </a:lnTo>
                  <a:lnTo>
                    <a:pt x="1369" y="14"/>
                  </a:lnTo>
                  <a:lnTo>
                    <a:pt x="1369" y="16"/>
                  </a:lnTo>
                  <a:lnTo>
                    <a:pt x="1367" y="17"/>
                  </a:lnTo>
                  <a:lnTo>
                    <a:pt x="1365" y="17"/>
                  </a:lnTo>
                  <a:lnTo>
                    <a:pt x="31" y="212"/>
                  </a:lnTo>
                  <a:lnTo>
                    <a:pt x="29" y="212"/>
                  </a:lnTo>
                  <a:lnTo>
                    <a:pt x="29" y="210"/>
                  </a:lnTo>
                  <a:lnTo>
                    <a:pt x="27" y="209"/>
                  </a:lnTo>
                  <a:lnTo>
                    <a:pt x="29" y="207"/>
                  </a:lnTo>
                  <a:lnTo>
                    <a:pt x="31" y="205"/>
                  </a:lnTo>
                  <a:close/>
                  <a:moveTo>
                    <a:pt x="40" y="225"/>
                  </a:moveTo>
                  <a:lnTo>
                    <a:pt x="0" y="213"/>
                  </a:lnTo>
                  <a:lnTo>
                    <a:pt x="34" y="191"/>
                  </a:lnTo>
                  <a:lnTo>
                    <a:pt x="40" y="225"/>
                  </a:lnTo>
                  <a:close/>
                  <a:moveTo>
                    <a:pt x="1356" y="0"/>
                  </a:moveTo>
                  <a:lnTo>
                    <a:pt x="1396" y="11"/>
                  </a:lnTo>
                  <a:lnTo>
                    <a:pt x="1361" y="33"/>
                  </a:lnTo>
                  <a:lnTo>
                    <a:pt x="1356" y="0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BD"/>
            </a:p>
          </p:txBody>
        </p:sp>
      </p:grpSp>
    </p:spTree>
    <p:extLst>
      <p:ext uri="{BB962C8B-B14F-4D97-AF65-F5344CB8AC3E}">
        <p14:creationId xmlns:p14="http://schemas.microsoft.com/office/powerpoint/2010/main" val="3720470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3">
            <a:extLst>
              <a:ext uri="{FF2B5EF4-FFF2-40B4-BE49-F238E27FC236}">
                <a16:creationId xmlns:a16="http://schemas.microsoft.com/office/drawing/2014/main" id="{2AD7DD12-1A87-A57E-DC12-89969F36B6D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541211" y="963611"/>
            <a:ext cx="9772783" cy="4765675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>
                <a:solidFill>
                  <a:srgbClr val="0099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</a:t>
            </a:r>
            <a:r>
              <a:rPr lang="en-US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Facilities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places where inventory is stored, assembled, or fabricated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production sites and storage sites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>
                <a:solidFill>
                  <a:srgbClr val="7030A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</a:t>
            </a:r>
            <a:r>
              <a:rPr lang="en-US" altLang="en-US" sz="2400" b="1" dirty="0">
                <a:solidFill>
                  <a:srgbClr val="0099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Inventory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raw materials, WIP (work in progress), finished goods within a supply chain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inventory policies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>
                <a:solidFill>
                  <a:srgbClr val="0099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 </a:t>
            </a:r>
            <a:r>
              <a:rPr lang="en-US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Transportation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moving inventory from point to point in a supply chain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combinations of transportation modes and routes</a:t>
            </a:r>
          </a:p>
        </p:txBody>
      </p:sp>
      <p:sp>
        <p:nvSpPr>
          <p:cNvPr id="72" name="Rectangle 2">
            <a:extLst>
              <a:ext uri="{FF2B5EF4-FFF2-40B4-BE49-F238E27FC236}">
                <a16:creationId xmlns:a16="http://schemas.microsoft.com/office/drawing/2014/main" id="{9A68B0AB-6581-5FFC-5E70-203757D5DC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9175" y="201612"/>
            <a:ext cx="7613650" cy="560387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Drivers of Supply Chain Performance</a:t>
            </a:r>
          </a:p>
        </p:txBody>
      </p:sp>
    </p:spTree>
    <p:extLst>
      <p:ext uri="{BB962C8B-B14F-4D97-AF65-F5344CB8AC3E}">
        <p14:creationId xmlns:p14="http://schemas.microsoft.com/office/powerpoint/2010/main" val="1501681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2">
            <a:extLst>
              <a:ext uri="{FF2B5EF4-FFF2-40B4-BE49-F238E27FC236}">
                <a16:creationId xmlns:a16="http://schemas.microsoft.com/office/drawing/2014/main" id="{57EA5C50-8FFC-9F2F-6BCE-69884AD96C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9175" y="201612"/>
            <a:ext cx="7613650" cy="560387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cap="small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Drivers of Supply Chain Performance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53D50A7-B48C-99B4-EA98-A8386E11B80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542040" y="963612"/>
            <a:ext cx="9676420" cy="3922288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>
                <a:solidFill>
                  <a:srgbClr val="7030A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 </a:t>
            </a:r>
            <a:r>
              <a:rPr lang="en-US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Information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data and analysis regarding inventory, transportation, facilities throughout the supply chain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potentially the biggest driver of supply chain performance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>
                <a:solidFill>
                  <a:srgbClr val="0099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</a:t>
            </a:r>
            <a:r>
              <a:rPr lang="en-US" altLang="en-US" sz="2400" b="1" dirty="0">
                <a:solidFill>
                  <a:srgbClr val="7030A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Sourcing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functions a firm performs and functions that are outsourced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>
                <a:solidFill>
                  <a:srgbClr val="7030A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 </a:t>
            </a:r>
            <a:r>
              <a:rPr lang="en-US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Pricing</a:t>
            </a:r>
          </a:p>
          <a:p>
            <a:pPr marL="502920" lvl="1" indent="0" algn="just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BD12A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 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Price associated with goods and services provided by a firm to the supply chain</a:t>
            </a:r>
          </a:p>
        </p:txBody>
      </p:sp>
    </p:spTree>
    <p:extLst>
      <p:ext uri="{BB962C8B-B14F-4D97-AF65-F5344CB8AC3E}">
        <p14:creationId xmlns:p14="http://schemas.microsoft.com/office/powerpoint/2010/main" val="3462955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9;p17">
            <a:extLst>
              <a:ext uri="{FF2B5EF4-FFF2-40B4-BE49-F238E27FC236}">
                <a16:creationId xmlns:a16="http://schemas.microsoft.com/office/drawing/2014/main" id="{FD23A84E-76E0-087F-001A-9AC453C521E2}"/>
              </a:ext>
            </a:extLst>
          </p:cNvPr>
          <p:cNvSpPr txBox="1">
            <a:spLocks/>
          </p:cNvSpPr>
          <p:nvPr/>
        </p:nvSpPr>
        <p:spPr>
          <a:xfrm>
            <a:off x="640913" y="584038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What is TRANSPORTATION MODEL?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12FF90-66F7-DF16-DCD9-C8A06622EABA}"/>
              </a:ext>
            </a:extLst>
          </p:cNvPr>
          <p:cNvSpPr txBox="1"/>
          <p:nvPr/>
        </p:nvSpPr>
        <p:spPr>
          <a:xfrm>
            <a:off x="461970" y="2397948"/>
            <a:ext cx="111027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BD" sz="2000" b="1" dirty="0">
                <a:solidFill>
                  <a:srgbClr val="ED299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Transportation Model </a:t>
            </a:r>
            <a:r>
              <a:rPr lang="en-B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a special case of LPP (Linear Programming Problem) in which the main objective is </a:t>
            </a:r>
            <a:r>
              <a:rPr lang="en-BD" sz="20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transport a product from various sources various destinations at total minimum costs</a:t>
            </a:r>
            <a:r>
              <a:rPr lang="en-B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A7E783-228D-E2F6-E399-EE7A8CFCB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12</a:t>
            </a:fld>
            <a:endParaRPr lang="en-BD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51518DD-52BE-AD30-91DA-2C2F7A2F602A}"/>
              </a:ext>
            </a:extLst>
          </p:cNvPr>
          <p:cNvGrpSpPr/>
          <p:nvPr/>
        </p:nvGrpSpPr>
        <p:grpSpPr>
          <a:xfrm>
            <a:off x="5407863" y="3168698"/>
            <a:ext cx="4114828" cy="3453342"/>
            <a:chOff x="3308506" y="0"/>
            <a:chExt cx="5522808" cy="685800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515F550-0DB5-6DD6-48DB-B564A0A41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05681" y="0"/>
              <a:ext cx="5425633" cy="6858000"/>
            </a:xfrm>
            <a:prstGeom prst="rect">
              <a:avLst/>
            </a:prstGeom>
          </p:spPr>
        </p:pic>
        <p:sp>
          <p:nvSpPr>
            <p:cNvPr id="16" name="Rounded Rectangle 6">
              <a:extLst>
                <a:ext uri="{FF2B5EF4-FFF2-40B4-BE49-F238E27FC236}">
                  <a16:creationId xmlns:a16="http://schemas.microsoft.com/office/drawing/2014/main" id="{AC71F727-7B15-7770-C419-DF5F8D379AB8}"/>
                </a:ext>
              </a:extLst>
            </p:cNvPr>
            <p:cNvSpPr/>
            <p:nvPr/>
          </p:nvSpPr>
          <p:spPr>
            <a:xfrm>
              <a:off x="7013716" y="2119494"/>
              <a:ext cx="619033" cy="191385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D" sz="600" b="1" dirty="0"/>
                <a:t>Destination 2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52A185F-1401-5364-9906-56FECD202A89}"/>
                </a:ext>
              </a:extLst>
            </p:cNvPr>
            <p:cNvCxnSpPr>
              <a:cxnSpLocks/>
            </p:cNvCxnSpPr>
            <p:nvPr/>
          </p:nvCxnSpPr>
          <p:spPr>
            <a:xfrm>
              <a:off x="4961365" y="1666754"/>
              <a:ext cx="2580665" cy="3378397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FBEEBAE-68C2-470F-1190-214F0991CC29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4936425" y="1666754"/>
              <a:ext cx="2077291" cy="548433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0AE8F0F-EEE6-ED27-D33D-79CCADE984B3}"/>
                </a:ext>
              </a:extLst>
            </p:cNvPr>
            <p:cNvCxnSpPr>
              <a:cxnSpLocks/>
            </p:cNvCxnSpPr>
            <p:nvPr/>
          </p:nvCxnSpPr>
          <p:spPr>
            <a:xfrm>
              <a:off x="4936425" y="1666754"/>
              <a:ext cx="718561" cy="1622296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60817A0-5489-CC14-487A-60703556C1D6}"/>
                </a:ext>
              </a:extLst>
            </p:cNvPr>
            <p:cNvCxnSpPr>
              <a:cxnSpLocks/>
              <a:endCxn id="37" idx="1"/>
            </p:cNvCxnSpPr>
            <p:nvPr/>
          </p:nvCxnSpPr>
          <p:spPr>
            <a:xfrm>
              <a:off x="4282272" y="2778248"/>
              <a:ext cx="1166650" cy="585695"/>
            </a:xfrm>
            <a:prstGeom prst="straightConnector1">
              <a:avLst/>
            </a:prstGeom>
            <a:ln w="3175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6EE028A-E8BF-686E-46D3-BC2B54E488B5}"/>
                </a:ext>
              </a:extLst>
            </p:cNvPr>
            <p:cNvCxnSpPr>
              <a:cxnSpLocks/>
              <a:endCxn id="38" idx="1"/>
            </p:cNvCxnSpPr>
            <p:nvPr/>
          </p:nvCxnSpPr>
          <p:spPr>
            <a:xfrm>
              <a:off x="4362962" y="2809085"/>
              <a:ext cx="3124307" cy="2355300"/>
            </a:xfrm>
            <a:prstGeom prst="straightConnector1">
              <a:avLst/>
            </a:prstGeom>
            <a:ln w="3175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1FAC330-FA59-9F45-AF7A-F1379BFD2F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3339" y="2315028"/>
              <a:ext cx="2705948" cy="494057"/>
            </a:xfrm>
            <a:prstGeom prst="straightConnector1">
              <a:avLst/>
            </a:prstGeom>
            <a:ln w="3175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B09FFD2-DC90-3F0E-C37D-BACB361992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37863" y="3472093"/>
              <a:ext cx="405575" cy="1079342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FD5CF82-011C-92C5-9142-D7D7965216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62431" y="2320314"/>
              <a:ext cx="1037808" cy="2231121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9D1D6EE-E4BB-021F-B64B-45ACB9C0D8E2}"/>
                </a:ext>
              </a:extLst>
            </p:cNvPr>
            <p:cNvCxnSpPr>
              <a:cxnSpLocks/>
            </p:cNvCxnSpPr>
            <p:nvPr/>
          </p:nvCxnSpPr>
          <p:spPr>
            <a:xfrm>
              <a:off x="6162431" y="4574976"/>
              <a:ext cx="1307061" cy="653096"/>
            </a:xfrm>
            <a:prstGeom prst="straightConnector1">
              <a:avLst/>
            </a:prstGeom>
            <a:ln w="317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ounded Rectangle 20">
              <a:extLst>
                <a:ext uri="{FF2B5EF4-FFF2-40B4-BE49-F238E27FC236}">
                  <a16:creationId xmlns:a16="http://schemas.microsoft.com/office/drawing/2014/main" id="{A1A978CD-F548-7171-6E84-B63CA8F80FF8}"/>
                </a:ext>
              </a:extLst>
            </p:cNvPr>
            <p:cNvSpPr/>
            <p:nvPr/>
          </p:nvSpPr>
          <p:spPr>
            <a:xfrm>
              <a:off x="5448922" y="3268250"/>
              <a:ext cx="647077" cy="191385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D" sz="600" b="1" dirty="0"/>
                <a:t>Destination 1</a:t>
              </a:r>
            </a:p>
          </p:txBody>
        </p:sp>
        <p:sp>
          <p:nvSpPr>
            <p:cNvPr id="38" name="Rounded Rectangle 21">
              <a:extLst>
                <a:ext uri="{FF2B5EF4-FFF2-40B4-BE49-F238E27FC236}">
                  <a16:creationId xmlns:a16="http://schemas.microsoft.com/office/drawing/2014/main" id="{51E06C67-4371-C004-1D87-D5865B35CF2F}"/>
                </a:ext>
              </a:extLst>
            </p:cNvPr>
            <p:cNvSpPr/>
            <p:nvPr/>
          </p:nvSpPr>
          <p:spPr>
            <a:xfrm>
              <a:off x="7487269" y="5068692"/>
              <a:ext cx="659950" cy="191385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D" sz="600" b="1" dirty="0"/>
                <a:t>Destination 3</a:t>
              </a:r>
            </a:p>
          </p:txBody>
        </p:sp>
        <p:pic>
          <p:nvPicPr>
            <p:cNvPr id="39" name="Graphic 38" descr="Production with solid fill">
              <a:extLst>
                <a:ext uri="{FF2B5EF4-FFF2-40B4-BE49-F238E27FC236}">
                  <a16:creationId xmlns:a16="http://schemas.microsoft.com/office/drawing/2014/main" id="{8E11B131-1503-9C62-EE6B-900583759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596911" y="4204062"/>
              <a:ext cx="543553" cy="543553"/>
            </a:xfrm>
            <a:prstGeom prst="rect">
              <a:avLst/>
            </a:prstGeom>
          </p:spPr>
        </p:pic>
        <p:pic>
          <p:nvPicPr>
            <p:cNvPr id="40" name="Graphic 39" descr="Production with solid fill">
              <a:extLst>
                <a:ext uri="{FF2B5EF4-FFF2-40B4-BE49-F238E27FC236}">
                  <a16:creationId xmlns:a16="http://schemas.microsoft.com/office/drawing/2014/main" id="{FA68DED0-386E-B00D-21C2-BD6343CEE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33726" y="2194216"/>
              <a:ext cx="543553" cy="543553"/>
            </a:xfrm>
            <a:prstGeom prst="rect">
              <a:avLst/>
            </a:prstGeom>
          </p:spPr>
        </p:pic>
        <p:pic>
          <p:nvPicPr>
            <p:cNvPr id="41" name="Graphic 40" descr="Production with solid fill">
              <a:extLst>
                <a:ext uri="{FF2B5EF4-FFF2-40B4-BE49-F238E27FC236}">
                  <a16:creationId xmlns:a16="http://schemas.microsoft.com/office/drawing/2014/main" id="{9E080309-3E40-9AA8-B9EE-D1522C3D1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57994" y="1203592"/>
              <a:ext cx="543553" cy="543553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91DCAF2-0294-C76F-7345-2111196701BC}"/>
                </a:ext>
              </a:extLst>
            </p:cNvPr>
            <p:cNvSpPr txBox="1"/>
            <p:nvPr/>
          </p:nvSpPr>
          <p:spPr>
            <a:xfrm>
              <a:off x="5484704" y="4656562"/>
              <a:ext cx="12225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D" sz="1200" b="1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Source 1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EB9ABDE-CFBC-1A7E-769F-82C03E024405}"/>
                </a:ext>
              </a:extLst>
            </p:cNvPr>
            <p:cNvSpPr txBox="1"/>
            <p:nvPr/>
          </p:nvSpPr>
          <p:spPr>
            <a:xfrm>
              <a:off x="3308506" y="2700752"/>
              <a:ext cx="12225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D" sz="1200" b="1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Source 2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3581C95-B38A-976D-ABFD-A34F615E1B57}"/>
                </a:ext>
              </a:extLst>
            </p:cNvPr>
            <p:cNvSpPr txBox="1"/>
            <p:nvPr/>
          </p:nvSpPr>
          <p:spPr>
            <a:xfrm>
              <a:off x="3976967" y="1635532"/>
              <a:ext cx="12225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D" sz="1200" b="1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Source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7853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E461209-22E0-BBF7-5299-13A066FF6AE2}"/>
              </a:ext>
            </a:extLst>
          </p:cNvPr>
          <p:cNvSpPr/>
          <p:nvPr/>
        </p:nvSpPr>
        <p:spPr>
          <a:xfrm>
            <a:off x="2859964" y="3025251"/>
            <a:ext cx="1050877" cy="873457"/>
          </a:xfrm>
          <a:prstGeom prst="ellipse">
            <a:avLst/>
          </a:prstGeom>
          <a:solidFill>
            <a:srgbClr val="ED299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D" sz="4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AEDA43D-9C35-4CC1-C456-FBDA0F0333E9}"/>
              </a:ext>
            </a:extLst>
          </p:cNvPr>
          <p:cNvSpPr/>
          <p:nvPr/>
        </p:nvSpPr>
        <p:spPr>
          <a:xfrm>
            <a:off x="2859963" y="4269472"/>
            <a:ext cx="1050877" cy="873457"/>
          </a:xfrm>
          <a:prstGeom prst="ellipse">
            <a:avLst/>
          </a:prstGeom>
          <a:solidFill>
            <a:srgbClr val="ED299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D" sz="4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E3FFB97-1682-B71E-6E5D-49BC2196392D}"/>
              </a:ext>
            </a:extLst>
          </p:cNvPr>
          <p:cNvSpPr/>
          <p:nvPr/>
        </p:nvSpPr>
        <p:spPr>
          <a:xfrm>
            <a:off x="2859963" y="5512556"/>
            <a:ext cx="1050877" cy="873457"/>
          </a:xfrm>
          <a:prstGeom prst="ellipse">
            <a:avLst/>
          </a:prstGeom>
          <a:solidFill>
            <a:srgbClr val="ED299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D" sz="4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8B3913-C0E9-90B2-546B-2D8127C7053C}"/>
              </a:ext>
            </a:extLst>
          </p:cNvPr>
          <p:cNvSpPr/>
          <p:nvPr/>
        </p:nvSpPr>
        <p:spPr>
          <a:xfrm>
            <a:off x="7878550" y="3025251"/>
            <a:ext cx="996287" cy="873457"/>
          </a:xfrm>
          <a:prstGeom prst="roundRect">
            <a:avLst/>
          </a:prstGeom>
          <a:solidFill>
            <a:srgbClr val="A768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D" sz="4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5986AA9-021B-D4A3-F9B2-5A1DC18243FF}"/>
              </a:ext>
            </a:extLst>
          </p:cNvPr>
          <p:cNvSpPr/>
          <p:nvPr/>
        </p:nvSpPr>
        <p:spPr>
          <a:xfrm>
            <a:off x="7878550" y="4238765"/>
            <a:ext cx="996287" cy="873457"/>
          </a:xfrm>
          <a:prstGeom prst="roundRect">
            <a:avLst/>
          </a:prstGeom>
          <a:solidFill>
            <a:srgbClr val="A768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D" sz="4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11E4C23-8DEE-9EF2-0147-9396C5FDB428}"/>
              </a:ext>
            </a:extLst>
          </p:cNvPr>
          <p:cNvSpPr/>
          <p:nvPr/>
        </p:nvSpPr>
        <p:spPr>
          <a:xfrm>
            <a:off x="7878550" y="5452279"/>
            <a:ext cx="996287" cy="873457"/>
          </a:xfrm>
          <a:prstGeom prst="roundRect">
            <a:avLst/>
          </a:prstGeom>
          <a:solidFill>
            <a:srgbClr val="A768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D" sz="4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49D051-3BC2-93F1-4015-0605B51E55ED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3910840" y="3461980"/>
            <a:ext cx="3967710" cy="11309"/>
          </a:xfrm>
          <a:prstGeom prst="straightConnector1">
            <a:avLst/>
          </a:prstGeom>
          <a:ln w="666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33674F5-C1A9-6099-C748-C4076330857C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903006" y="3493444"/>
            <a:ext cx="3975544" cy="1182050"/>
          </a:xfrm>
          <a:prstGeom prst="straightConnector1">
            <a:avLst/>
          </a:prstGeom>
          <a:ln w="666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A297C2D-9BCF-0100-7418-2641BC7EBE6B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3903006" y="3526585"/>
            <a:ext cx="3975544" cy="2362423"/>
          </a:xfrm>
          <a:prstGeom prst="straightConnector1">
            <a:avLst/>
          </a:prstGeom>
          <a:ln w="666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895C4F6-EDF7-F32B-1AF7-16D82C89C3A5}"/>
              </a:ext>
            </a:extLst>
          </p:cNvPr>
          <p:cNvCxnSpPr>
            <a:cxnSpLocks/>
          </p:cNvCxnSpPr>
          <p:nvPr/>
        </p:nvCxnSpPr>
        <p:spPr>
          <a:xfrm flipV="1">
            <a:off x="3903006" y="5901329"/>
            <a:ext cx="3967710" cy="11309"/>
          </a:xfrm>
          <a:prstGeom prst="straightConnector1">
            <a:avLst/>
          </a:prstGeom>
          <a:ln w="66675">
            <a:solidFill>
              <a:srgbClr val="C0AB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6C1FA80-C176-EF75-6C71-D799C071628D}"/>
              </a:ext>
            </a:extLst>
          </p:cNvPr>
          <p:cNvCxnSpPr>
            <a:cxnSpLocks/>
          </p:cNvCxnSpPr>
          <p:nvPr/>
        </p:nvCxnSpPr>
        <p:spPr>
          <a:xfrm flipV="1">
            <a:off x="3903006" y="4680912"/>
            <a:ext cx="3975544" cy="1233639"/>
          </a:xfrm>
          <a:prstGeom prst="straightConnector1">
            <a:avLst/>
          </a:prstGeom>
          <a:ln w="66675">
            <a:solidFill>
              <a:srgbClr val="C0AB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957FEB9-3B34-AC86-58CC-2CB2DE587456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3903006" y="4778894"/>
            <a:ext cx="3975544" cy="1110114"/>
          </a:xfrm>
          <a:prstGeom prst="straightConnector1">
            <a:avLst/>
          </a:prstGeom>
          <a:ln w="666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D59B26E-C657-325C-EB71-7B473BAF5B95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3918674" y="3461980"/>
            <a:ext cx="3959876" cy="2436640"/>
          </a:xfrm>
          <a:prstGeom prst="straightConnector1">
            <a:avLst/>
          </a:prstGeom>
          <a:ln w="66675">
            <a:solidFill>
              <a:srgbClr val="C0AB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1D4F0F2-F7C6-C906-2CBB-E3063F6BEFCB}"/>
              </a:ext>
            </a:extLst>
          </p:cNvPr>
          <p:cNvCxnSpPr>
            <a:cxnSpLocks/>
          </p:cNvCxnSpPr>
          <p:nvPr/>
        </p:nvCxnSpPr>
        <p:spPr>
          <a:xfrm flipV="1">
            <a:off x="3926508" y="4730116"/>
            <a:ext cx="3967710" cy="11309"/>
          </a:xfrm>
          <a:prstGeom prst="straightConnector1">
            <a:avLst/>
          </a:prstGeom>
          <a:ln w="666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8AC7C84-20E0-5996-4A01-3EEC4761365D}"/>
              </a:ext>
            </a:extLst>
          </p:cNvPr>
          <p:cNvCxnSpPr>
            <a:cxnSpLocks/>
          </p:cNvCxnSpPr>
          <p:nvPr/>
        </p:nvCxnSpPr>
        <p:spPr>
          <a:xfrm flipV="1">
            <a:off x="3918674" y="3493768"/>
            <a:ext cx="3975544" cy="1233639"/>
          </a:xfrm>
          <a:prstGeom prst="straightConnector1">
            <a:avLst/>
          </a:prstGeom>
          <a:ln w="666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DC4CA0B-5943-6970-226A-34D63DAB796C}"/>
              </a:ext>
            </a:extLst>
          </p:cNvPr>
          <p:cNvSpPr txBox="1"/>
          <p:nvPr/>
        </p:nvSpPr>
        <p:spPr>
          <a:xfrm>
            <a:off x="2142698" y="2553789"/>
            <a:ext cx="21477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D" sz="2000" b="1" dirty="0">
                <a:solidFill>
                  <a:schemeClr val="tx2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Supply Origin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4EA93D-AFD4-ED2B-0C18-8A183DF84FFE}"/>
              </a:ext>
            </a:extLst>
          </p:cNvPr>
          <p:cNvSpPr txBox="1"/>
          <p:nvPr/>
        </p:nvSpPr>
        <p:spPr>
          <a:xfrm>
            <a:off x="6869373" y="2553789"/>
            <a:ext cx="3152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D" sz="2000" b="1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Demand Destination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F0D570-1D3F-5538-604E-426D354AB73C}"/>
              </a:ext>
            </a:extLst>
          </p:cNvPr>
          <p:cNvSpPr txBox="1"/>
          <p:nvPr/>
        </p:nvSpPr>
        <p:spPr>
          <a:xfrm rot="914921">
            <a:off x="4614456" y="3526677"/>
            <a:ext cx="818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D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Cost </a:t>
            </a:r>
            <a:r>
              <a:rPr lang="en-BD" sz="1200" b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36348A-2CF8-A0ED-F35F-6D7827B2D2BF}"/>
              </a:ext>
            </a:extLst>
          </p:cNvPr>
          <p:cNvSpPr txBox="1"/>
          <p:nvPr/>
        </p:nvSpPr>
        <p:spPr>
          <a:xfrm>
            <a:off x="3814184" y="3140204"/>
            <a:ext cx="8708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D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Cost </a:t>
            </a:r>
            <a:r>
              <a:rPr lang="en-BD" sz="1200" b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6E6F05-7801-E5BE-F157-C1C57AF32680}"/>
              </a:ext>
            </a:extLst>
          </p:cNvPr>
          <p:cNvSpPr txBox="1"/>
          <p:nvPr/>
        </p:nvSpPr>
        <p:spPr>
          <a:xfrm rot="1588606">
            <a:off x="4514886" y="3867970"/>
            <a:ext cx="959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D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Cost </a:t>
            </a:r>
            <a:r>
              <a:rPr lang="en-BD" sz="1200" b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E6577D-C9B1-4B61-0726-01C14AA06784}"/>
              </a:ext>
            </a:extLst>
          </p:cNvPr>
          <p:cNvSpPr txBox="1"/>
          <p:nvPr/>
        </p:nvSpPr>
        <p:spPr>
          <a:xfrm rot="20646968">
            <a:off x="3734630" y="4334033"/>
            <a:ext cx="959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D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Cost </a:t>
            </a:r>
            <a:r>
              <a:rPr lang="en-BD" sz="1200" b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286366-0753-377A-5C44-DD0138FFBDF2}"/>
              </a:ext>
            </a:extLst>
          </p:cNvPr>
          <p:cNvSpPr txBox="1"/>
          <p:nvPr/>
        </p:nvSpPr>
        <p:spPr>
          <a:xfrm>
            <a:off x="4496580" y="4465588"/>
            <a:ext cx="959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D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Cost </a:t>
            </a:r>
            <a:r>
              <a:rPr lang="en-BD" sz="1200" b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271376-148C-10E3-9A64-79D317908403}"/>
              </a:ext>
            </a:extLst>
          </p:cNvPr>
          <p:cNvSpPr txBox="1"/>
          <p:nvPr/>
        </p:nvSpPr>
        <p:spPr>
          <a:xfrm rot="773915">
            <a:off x="4296916" y="4754532"/>
            <a:ext cx="959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D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Cost </a:t>
            </a:r>
            <a:r>
              <a:rPr lang="en-BD" sz="1200" b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F36DC8-23FB-C171-FBDB-323F1385B028}"/>
              </a:ext>
            </a:extLst>
          </p:cNvPr>
          <p:cNvSpPr txBox="1"/>
          <p:nvPr/>
        </p:nvSpPr>
        <p:spPr>
          <a:xfrm rot="19555153">
            <a:off x="3619201" y="5447338"/>
            <a:ext cx="959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D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Cost </a:t>
            </a:r>
            <a:r>
              <a:rPr lang="en-BD" sz="1200" b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BD2B52-C84F-2C2D-DE14-3AE0806EBEE0}"/>
              </a:ext>
            </a:extLst>
          </p:cNvPr>
          <p:cNvSpPr txBox="1"/>
          <p:nvPr/>
        </p:nvSpPr>
        <p:spPr>
          <a:xfrm rot="20454546">
            <a:off x="4373087" y="5356768"/>
            <a:ext cx="959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D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Cost </a:t>
            </a:r>
            <a:r>
              <a:rPr lang="en-BD" sz="1200" b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FB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04953D-53B3-C3E9-F02B-6C6F8BED6FCB}"/>
              </a:ext>
            </a:extLst>
          </p:cNvPr>
          <p:cNvSpPr txBox="1"/>
          <p:nvPr/>
        </p:nvSpPr>
        <p:spPr>
          <a:xfrm>
            <a:off x="4437315" y="5633775"/>
            <a:ext cx="959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D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Cost </a:t>
            </a:r>
            <a:r>
              <a:rPr lang="en-BD" sz="1200" b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98395-D187-A04F-2FBB-554219B66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13</a:t>
            </a:fld>
            <a:endParaRPr lang="en-BD"/>
          </a:p>
        </p:txBody>
      </p:sp>
      <p:sp>
        <p:nvSpPr>
          <p:cNvPr id="10" name="Google Shape;199;p17">
            <a:extLst>
              <a:ext uri="{FF2B5EF4-FFF2-40B4-BE49-F238E27FC236}">
                <a16:creationId xmlns:a16="http://schemas.microsoft.com/office/drawing/2014/main" id="{838B02BC-0B8C-608B-1386-93F142376EE5}"/>
              </a:ext>
            </a:extLst>
          </p:cNvPr>
          <p:cNvSpPr txBox="1">
            <a:spLocks/>
          </p:cNvSpPr>
          <p:nvPr/>
        </p:nvSpPr>
        <p:spPr>
          <a:xfrm>
            <a:off x="640913" y="584038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What is TRANSPORTATION MODEL?</a:t>
            </a:r>
          </a:p>
        </p:txBody>
      </p:sp>
    </p:spTree>
    <p:extLst>
      <p:ext uri="{BB962C8B-B14F-4D97-AF65-F5344CB8AC3E}">
        <p14:creationId xmlns:p14="http://schemas.microsoft.com/office/powerpoint/2010/main" val="3472443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9;p17">
            <a:extLst>
              <a:ext uri="{FF2B5EF4-FFF2-40B4-BE49-F238E27FC236}">
                <a16:creationId xmlns:a16="http://schemas.microsoft.com/office/drawing/2014/main" id="{FD23A84E-76E0-087F-001A-9AC453C521E2}"/>
              </a:ext>
            </a:extLst>
          </p:cNvPr>
          <p:cNvSpPr txBox="1">
            <a:spLocks/>
          </p:cNvSpPr>
          <p:nvPr/>
        </p:nvSpPr>
        <p:spPr>
          <a:xfrm>
            <a:off x="695506" y="679572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1" i="0" u="none" strike="noStrike" kern="1200" cap="all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AIM OF TRANSPORTATION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12FF90-66F7-DF16-DCD9-C8A06622EABA}"/>
              </a:ext>
            </a:extLst>
          </p:cNvPr>
          <p:cNvSpPr txBox="1"/>
          <p:nvPr/>
        </p:nvSpPr>
        <p:spPr>
          <a:xfrm>
            <a:off x="461970" y="2521059"/>
            <a:ext cx="1126145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 2" panose="05020102010507070707" pitchFamily="18" charset="2"/>
              </a:rPr>
              <a:t> </a:t>
            </a:r>
            <a:r>
              <a:rPr kumimoji="0" lang="en-BD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find out the </a:t>
            </a:r>
            <a:r>
              <a:rPr kumimoji="0" lang="en-BD" sz="2800" b="1" i="0" u="none" strike="noStrike" kern="1200" cap="none" spc="0" normalizeH="0" baseline="0" noProof="0" dirty="0">
                <a:ln>
                  <a:noFill/>
                </a:ln>
                <a:solidFill>
                  <a:srgbClr val="ED299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optimum transportation schedule </a:t>
            </a:r>
            <a:r>
              <a:rPr kumimoji="0" lang="en-BD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keeping in mind the cost of transportation to be </a:t>
            </a:r>
            <a:r>
              <a:rPr kumimoji="0" lang="en-BD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minimized</a:t>
            </a:r>
            <a:r>
              <a:rPr kumimoji="0" lang="en-BD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kumimoji="0" lang="en-BD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385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C12FF90-66F7-DF16-DCD9-C8A06622EABA}"/>
              </a:ext>
            </a:extLst>
          </p:cNvPr>
          <p:cNvSpPr txBox="1"/>
          <p:nvPr/>
        </p:nvSpPr>
        <p:spPr>
          <a:xfrm>
            <a:off x="495629" y="2445488"/>
            <a:ext cx="11377923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400" b="1" dirty="0">
                <a:solidFill>
                  <a:srgbClr val="ED299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</a:t>
            </a:r>
            <a:r>
              <a:rPr lang="en-GB" sz="2400" b="1" dirty="0">
                <a:solidFill>
                  <a:srgbClr val="88FF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BD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Let, 	Company 1 produces 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BD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units, </a:t>
            </a:r>
          </a:p>
          <a:p>
            <a:pPr algn="just"/>
            <a:r>
              <a:rPr lang="en-BD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Company 2 produces 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BD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units, and </a:t>
            </a:r>
          </a:p>
          <a:p>
            <a:pPr algn="just"/>
            <a:r>
              <a:rPr lang="en-BD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Company 3 produces 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BD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 units,</a:t>
            </a:r>
          </a:p>
          <a:p>
            <a:pPr algn="just"/>
            <a:endParaRPr lang="en-B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400" b="1" dirty="0">
                <a:solidFill>
                  <a:srgbClr val="ED299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</a:t>
            </a:r>
            <a:r>
              <a:rPr lang="en-GB" sz="2400" b="1" dirty="0">
                <a:solidFill>
                  <a:srgbClr val="88FF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BD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Let, 	demand in City A is 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BD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units, </a:t>
            </a:r>
          </a:p>
          <a:p>
            <a:pPr algn="just"/>
            <a:r>
              <a:rPr lang="en-BD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demand in City B is 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BD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units, and</a:t>
            </a:r>
          </a:p>
          <a:p>
            <a:pPr algn="just"/>
            <a:r>
              <a:rPr lang="en-BD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demand in City C is </a:t>
            </a:r>
            <a:r>
              <a:rPr lang="en-US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BD"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 units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99C2D-C4F2-1FD7-36C1-4B91102DE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15</a:t>
            </a:fld>
            <a:endParaRPr lang="en-BD"/>
          </a:p>
        </p:txBody>
      </p:sp>
      <p:sp>
        <p:nvSpPr>
          <p:cNvPr id="8" name="Google Shape;199;p17">
            <a:extLst>
              <a:ext uri="{FF2B5EF4-FFF2-40B4-BE49-F238E27FC236}">
                <a16:creationId xmlns:a16="http://schemas.microsoft.com/office/drawing/2014/main" id="{29922E6A-B57A-B779-0A52-15C87E4F8D64}"/>
              </a:ext>
            </a:extLst>
          </p:cNvPr>
          <p:cNvSpPr txBox="1">
            <a:spLocks/>
          </p:cNvSpPr>
          <p:nvPr/>
        </p:nvSpPr>
        <p:spPr>
          <a:xfrm>
            <a:off x="640913" y="584038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What is TRANSPORTATION MODEL?</a:t>
            </a:r>
          </a:p>
        </p:txBody>
      </p:sp>
    </p:spTree>
    <p:extLst>
      <p:ext uri="{BB962C8B-B14F-4D97-AF65-F5344CB8AC3E}">
        <p14:creationId xmlns:p14="http://schemas.microsoft.com/office/powerpoint/2010/main" val="1525981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613C9F-80DB-F02B-AB1F-8E3B9964BB38}"/>
              </a:ext>
            </a:extLst>
          </p:cNvPr>
          <p:cNvSpPr txBox="1"/>
          <p:nvPr/>
        </p:nvSpPr>
        <p:spPr>
          <a:xfrm>
            <a:off x="495629" y="2436962"/>
            <a:ext cx="111868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BD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lang="en-BD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 cost of transportation from each source to destination is given in table.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ED3AE70B-A4FC-A8FA-B305-B0AE91122605}"/>
              </a:ext>
            </a:extLst>
          </p:cNvPr>
          <p:cNvGraphicFramePr>
            <a:graphicFrameLocks noGrp="1"/>
          </p:cNvGraphicFramePr>
          <p:nvPr/>
        </p:nvGraphicFramePr>
        <p:xfrm>
          <a:off x="2025055" y="3273720"/>
          <a:ext cx="8128002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734276881"/>
                    </a:ext>
                  </a:extLst>
                </a:gridCol>
                <a:gridCol w="1502328">
                  <a:extLst>
                    <a:ext uri="{9D8B030D-6E8A-4147-A177-3AD203B41FA5}">
                      <a16:colId xmlns:a16="http://schemas.microsoft.com/office/drawing/2014/main" val="1740679715"/>
                    </a:ext>
                  </a:extLst>
                </a:gridCol>
                <a:gridCol w="1207006">
                  <a:extLst>
                    <a:ext uri="{9D8B030D-6E8A-4147-A177-3AD203B41FA5}">
                      <a16:colId xmlns:a16="http://schemas.microsoft.com/office/drawing/2014/main" val="19316413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6891858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0282461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87991008"/>
                    </a:ext>
                  </a:extLst>
                </a:gridCol>
              </a:tblGrid>
              <a:tr h="363546">
                <a:tc gridSpan="6">
                  <a:txBody>
                    <a:bodyPr/>
                    <a:lstStyle/>
                    <a:p>
                      <a:pPr algn="ctr"/>
                      <a:r>
                        <a:rPr lang="en-BD" sz="1800" b="1" dirty="0">
                          <a:solidFill>
                            <a:srgbClr val="00206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DESTINATIONS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845636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/>
                      <a:r>
                        <a:rPr lang="en-BD" sz="1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BD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CITY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CITY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CITY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sz="1800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SUPPLY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96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COMPANY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sz="1800" b="1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  <a:r>
                        <a:rPr lang="en-BD" sz="1800" b="1" baseline="-2500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  <a:r>
                        <a:rPr lang="en-BD" sz="1800" b="1" baseline="-2500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  <a:r>
                        <a:rPr lang="en-BD" sz="1800" b="1" baseline="-2500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</a:t>
                      </a:r>
                      <a:r>
                        <a:rPr lang="en-BD" sz="1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22761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COMPANY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  <a:r>
                        <a:rPr lang="en-BD" sz="1800" b="1" baseline="-2500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  <a:r>
                        <a:rPr lang="en-BD" sz="1800" b="1" baseline="-2500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  <a:r>
                        <a:rPr lang="en-BD" sz="1800" b="1" baseline="-2500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</a:t>
                      </a:r>
                      <a:r>
                        <a:rPr lang="en-BD" sz="1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65192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COMPANY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  <a:r>
                        <a:rPr lang="en-BD" sz="1800" b="1" baseline="-2500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  <a:r>
                        <a:rPr lang="en-BD" sz="1800" b="1" baseline="-2500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  <a:r>
                        <a:rPr lang="en-BD" sz="1800" b="1" baseline="-2500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</a:t>
                      </a:r>
                      <a:r>
                        <a:rPr lang="en-BD" sz="1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41144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</a:t>
                      </a:r>
                      <a:r>
                        <a:rPr lang="en-BD" sz="1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</a:t>
                      </a:r>
                      <a:r>
                        <a:rPr lang="en-BD" sz="1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</a:t>
                      </a:r>
                      <a:r>
                        <a:rPr lang="en-BD" sz="18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sz="1800" b="1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∑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</a:t>
                      </a:r>
                      <a:r>
                        <a:rPr lang="en-BD" sz="1800" b="1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= ∑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</a:t>
                      </a:r>
                      <a:endParaRPr lang="en-BD" sz="1800" b="1" dirty="0">
                        <a:solidFill>
                          <a:srgbClr val="FF000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9440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A40F6D-6115-3A8A-418D-4D759DEC867F}"/>
              </a:ext>
            </a:extLst>
          </p:cNvPr>
          <p:cNvSpPr txBox="1"/>
          <p:nvPr/>
        </p:nvSpPr>
        <p:spPr>
          <a:xfrm>
            <a:off x="495628" y="5669719"/>
            <a:ext cx="111868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B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transportation of mobile phones should be done in such a way, that the total transportation cost is</a:t>
            </a:r>
            <a:r>
              <a:rPr lang="en-BD" sz="2800" b="1" dirty="0">
                <a:solidFill>
                  <a:srgbClr val="ED299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BD" sz="3200" b="1" dirty="0">
                <a:solidFill>
                  <a:srgbClr val="ED299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minimum</a:t>
            </a:r>
            <a:r>
              <a:rPr lang="en-BD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99C2D-C4F2-1FD7-36C1-4B91102DE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16</a:t>
            </a:fld>
            <a:endParaRPr lang="en-BD"/>
          </a:p>
        </p:txBody>
      </p:sp>
      <p:sp>
        <p:nvSpPr>
          <p:cNvPr id="8" name="Google Shape;199;p17">
            <a:extLst>
              <a:ext uri="{FF2B5EF4-FFF2-40B4-BE49-F238E27FC236}">
                <a16:creationId xmlns:a16="http://schemas.microsoft.com/office/drawing/2014/main" id="{29922E6A-B57A-B779-0A52-15C87E4F8D64}"/>
              </a:ext>
            </a:extLst>
          </p:cNvPr>
          <p:cNvSpPr txBox="1">
            <a:spLocks/>
          </p:cNvSpPr>
          <p:nvPr/>
        </p:nvSpPr>
        <p:spPr>
          <a:xfrm>
            <a:off x="640913" y="584038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What is TRANSPORTATION MODEL?</a:t>
            </a:r>
          </a:p>
        </p:txBody>
      </p:sp>
    </p:spTree>
    <p:extLst>
      <p:ext uri="{BB962C8B-B14F-4D97-AF65-F5344CB8AC3E}">
        <p14:creationId xmlns:p14="http://schemas.microsoft.com/office/powerpoint/2010/main" val="1393560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9;p17">
            <a:extLst>
              <a:ext uri="{FF2B5EF4-FFF2-40B4-BE49-F238E27FC236}">
                <a16:creationId xmlns:a16="http://schemas.microsoft.com/office/drawing/2014/main" id="{FD23A84E-76E0-087F-001A-9AC453C521E2}"/>
              </a:ext>
            </a:extLst>
          </p:cNvPr>
          <p:cNvSpPr txBox="1">
            <a:spLocks/>
          </p:cNvSpPr>
          <p:nvPr/>
        </p:nvSpPr>
        <p:spPr>
          <a:xfrm>
            <a:off x="613620" y="679572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TYPES OF TRANSPORTATION PROBLEMS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12FF90-66F7-DF16-DCD9-C8A06622EABA}"/>
              </a:ext>
            </a:extLst>
          </p:cNvPr>
          <p:cNvSpPr txBox="1"/>
          <p:nvPr/>
        </p:nvSpPr>
        <p:spPr>
          <a:xfrm>
            <a:off x="468336" y="2463667"/>
            <a:ext cx="10600237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 are two types of transportation problems.</a:t>
            </a:r>
          </a:p>
          <a:p>
            <a:pPr algn="just"/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US" sz="2800" b="1" dirty="0" err="1">
                <a:solidFill>
                  <a:srgbClr val="ED299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sz="2800" b="1" dirty="0">
                <a:solidFill>
                  <a:srgbClr val="ED299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Balanced Transportation Problems</a:t>
            </a:r>
          </a:p>
          <a:p>
            <a:pPr algn="just"/>
            <a:r>
              <a:rPr lang="en-BD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The sum of supply and sum of demand are same.</a:t>
            </a:r>
          </a:p>
          <a:p>
            <a:pPr algn="just"/>
            <a:r>
              <a:rPr lang="en-BD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∑ Supply = ∑ Demand</a:t>
            </a:r>
          </a:p>
          <a:p>
            <a:pPr algn="just"/>
            <a:endParaRPr lang="en-BD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ii) Unbalanced Transportation Problems</a:t>
            </a:r>
          </a:p>
          <a:p>
            <a:pPr algn="just"/>
            <a:r>
              <a:rPr lang="en-BD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The sum of supply and sum of demand are different.</a:t>
            </a:r>
          </a:p>
          <a:p>
            <a:pPr algn="just"/>
            <a:r>
              <a:rPr lang="en-BD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∑ Supply ≠ ∑ Demand</a:t>
            </a:r>
          </a:p>
          <a:p>
            <a:pPr algn="just"/>
            <a:endParaRPr lang="en-BD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9BE945-404C-C9DA-0971-B5CD73FF8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17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793830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9;p17">
            <a:extLst>
              <a:ext uri="{FF2B5EF4-FFF2-40B4-BE49-F238E27FC236}">
                <a16:creationId xmlns:a16="http://schemas.microsoft.com/office/drawing/2014/main" id="{FD23A84E-76E0-087F-001A-9AC453C521E2}"/>
              </a:ext>
            </a:extLst>
          </p:cNvPr>
          <p:cNvSpPr txBox="1">
            <a:spLocks/>
          </p:cNvSpPr>
          <p:nvPr/>
        </p:nvSpPr>
        <p:spPr>
          <a:xfrm>
            <a:off x="735785" y="586889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Methods to solve transportation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12FF90-66F7-DF16-DCD9-C8A06622EABA}"/>
              </a:ext>
            </a:extLst>
          </p:cNvPr>
          <p:cNvSpPr txBox="1"/>
          <p:nvPr/>
        </p:nvSpPr>
        <p:spPr>
          <a:xfrm>
            <a:off x="590502" y="2676139"/>
            <a:ext cx="10600237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Font typeface="+mj-lt"/>
              <a:buAutoNum type="romanLcPeriod"/>
            </a:pPr>
            <a:r>
              <a:rPr lang="en-US" sz="3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North-West Corner Method</a:t>
            </a:r>
            <a:endParaRPr lang="en-US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514350" algn="just">
              <a:buFont typeface="+mj-lt"/>
              <a:buAutoNum type="romanLcPeriod"/>
            </a:pPr>
            <a:r>
              <a:rPr lang="en-US" sz="3200" b="1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Least Cost Method </a:t>
            </a:r>
          </a:p>
          <a:p>
            <a:pPr marL="514350" indent="-514350" algn="just">
              <a:buFont typeface="+mj-lt"/>
              <a:buAutoNum type="romanLcPeriod"/>
            </a:pPr>
            <a:r>
              <a:rPr lang="en-US" sz="3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Vogel's Approximation Method</a:t>
            </a:r>
          </a:p>
          <a:p>
            <a:pPr algn="just"/>
            <a:endParaRPr lang="en-US" sz="32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Least cost method will not always provide minimum cost, </a:t>
            </a:r>
          </a:p>
          <a:p>
            <a:pPr algn="just"/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identify minimum cost we need to solve the problem using Optimization techniques</a:t>
            </a:r>
          </a:p>
          <a:p>
            <a:pPr algn="just"/>
            <a:endParaRPr lang="en-US" sz="32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12F767-321C-B0F0-864D-13811DEB0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18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845168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E816D-9E43-AA2B-7A3D-E2A4A5D7D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079018"/>
            <a:ext cx="9905998" cy="2378682"/>
          </a:xfrm>
        </p:spPr>
        <p:txBody>
          <a:bodyPr>
            <a:normAutofit/>
          </a:bodyPr>
          <a:lstStyle/>
          <a:p>
            <a:pPr algn="ctr"/>
            <a:r>
              <a:rPr lang="en-BD" sz="6000" b="1" dirty="0">
                <a:solidFill>
                  <a:srgbClr val="419BFF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LEAST COST METHOD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701190-98F7-F779-1BC8-05251A516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19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943891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C12FF90-66F7-DF16-DCD9-C8A06622EABA}"/>
              </a:ext>
            </a:extLst>
          </p:cNvPr>
          <p:cNvSpPr txBox="1"/>
          <p:nvPr/>
        </p:nvSpPr>
        <p:spPr>
          <a:xfrm>
            <a:off x="405697" y="2270119"/>
            <a:ext cx="10600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Least Cost Method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05CAC3-BD3B-B4CB-7987-335F4C23964F}"/>
              </a:ext>
            </a:extLst>
          </p:cNvPr>
          <p:cNvSpPr txBox="1"/>
          <p:nvPr/>
        </p:nvSpPr>
        <p:spPr>
          <a:xfrm>
            <a:off x="405696" y="2731784"/>
            <a:ext cx="11252904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200" b="1" u="sng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Sample Problem# 2</a:t>
            </a:r>
          </a:p>
          <a:p>
            <a:pPr algn="just"/>
            <a:endParaRPr lang="en-GB"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mobile phone manufacturing company has three branches located in three different regions, say </a:t>
            </a:r>
            <a:r>
              <a:rPr lang="en-GB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Barishal</a:t>
            </a: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GB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Rajshahi</a:t>
            </a: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and Rangpur. </a:t>
            </a:r>
          </a:p>
          <a:p>
            <a:pPr algn="just"/>
            <a:endParaRPr lang="en-GB"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company has to transport mobile phones to three destinations, say Dhaka, Sylhet and Chittagong.</a:t>
            </a:r>
          </a:p>
          <a:p>
            <a:pPr algn="just"/>
            <a:endParaRPr lang="en-GB"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availability from </a:t>
            </a:r>
            <a:r>
              <a:rPr lang="en-GB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Barishal</a:t>
            </a: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GB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Rajshahi</a:t>
            </a: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and Rangpur is 40, 60 and 70 units respectively.</a:t>
            </a:r>
          </a:p>
          <a:p>
            <a:pPr algn="just"/>
            <a:endParaRPr lang="en-GB"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demand at Dhaka, Sylhet, and Chittagong are 70, 40 and 60 respectively.</a:t>
            </a:r>
          </a:p>
          <a:p>
            <a:pPr algn="just"/>
            <a:endParaRPr lang="en-GB"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transportation cost is shown in the matrix below (in Tk.).</a:t>
            </a:r>
          </a:p>
          <a:p>
            <a:pPr algn="just"/>
            <a:endParaRPr lang="en-GB"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the </a:t>
            </a:r>
            <a:r>
              <a:rPr lang="en-GB" sz="2200" b="1" u="sng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Least Cost Method </a:t>
            </a: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find a </a:t>
            </a:r>
            <a:r>
              <a:rPr lang="en-GB" sz="2200" b="1" dirty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basic feasible solution </a:t>
            </a: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GB" sz="2200" b="1" dirty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BFS</a:t>
            </a: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  <a:endParaRPr lang="en-GB" sz="22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605E89-9575-2DE6-A8A9-FB0BCDEFB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20</a:t>
            </a:fld>
            <a:endParaRPr lang="en-BD"/>
          </a:p>
        </p:txBody>
      </p:sp>
      <p:sp>
        <p:nvSpPr>
          <p:cNvPr id="5" name="Google Shape;199;p17">
            <a:extLst>
              <a:ext uri="{FF2B5EF4-FFF2-40B4-BE49-F238E27FC236}">
                <a16:creationId xmlns:a16="http://schemas.microsoft.com/office/drawing/2014/main" id="{8E25B02F-85C7-3306-1E9D-A6601C546AD3}"/>
              </a:ext>
            </a:extLst>
          </p:cNvPr>
          <p:cNvSpPr txBox="1">
            <a:spLocks/>
          </p:cNvSpPr>
          <p:nvPr/>
        </p:nvSpPr>
        <p:spPr>
          <a:xfrm>
            <a:off x="696264" y="568037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Methods to solve transportation model</a:t>
            </a:r>
          </a:p>
        </p:txBody>
      </p:sp>
    </p:spTree>
    <p:extLst>
      <p:ext uri="{BB962C8B-B14F-4D97-AF65-F5344CB8AC3E}">
        <p14:creationId xmlns:p14="http://schemas.microsoft.com/office/powerpoint/2010/main" val="492961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05CAC3-BD3B-B4CB-7987-335F4C23964F}"/>
              </a:ext>
            </a:extLst>
          </p:cNvPr>
          <p:cNvSpPr txBox="1"/>
          <p:nvPr/>
        </p:nvSpPr>
        <p:spPr>
          <a:xfrm>
            <a:off x="590501" y="2960384"/>
            <a:ext cx="106002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200" b="1" u="sng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Sample Problem# 2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D4EAB41F-4CDF-C987-CAD0-653AF9F99569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3608178"/>
          <a:ext cx="812800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734276881"/>
                    </a:ext>
                  </a:extLst>
                </a:gridCol>
                <a:gridCol w="1502328">
                  <a:extLst>
                    <a:ext uri="{9D8B030D-6E8A-4147-A177-3AD203B41FA5}">
                      <a16:colId xmlns:a16="http://schemas.microsoft.com/office/drawing/2014/main" val="1740679715"/>
                    </a:ext>
                  </a:extLst>
                </a:gridCol>
                <a:gridCol w="1207006">
                  <a:extLst>
                    <a:ext uri="{9D8B030D-6E8A-4147-A177-3AD203B41FA5}">
                      <a16:colId xmlns:a16="http://schemas.microsoft.com/office/drawing/2014/main" val="19316413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6891858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0282461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87991008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00206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DESTINATIONS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845636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/>
                      <a:r>
                        <a:rPr lang="en-BD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SOURCES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Dhaka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Sylhet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Chittagong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SUPPLY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96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Barishal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22761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Rajshahi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65192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Rangpur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41144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170</a:t>
                      </a:r>
                      <a:endParaRPr lang="en-BD" b="1" dirty="0">
                        <a:solidFill>
                          <a:srgbClr val="FF000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9440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0C04E7F-4265-B144-7C89-E3AC7E5C3FE7}"/>
              </a:ext>
            </a:extLst>
          </p:cNvPr>
          <p:cNvSpPr txBox="1"/>
          <p:nvPr/>
        </p:nvSpPr>
        <p:spPr>
          <a:xfrm>
            <a:off x="590502" y="2498719"/>
            <a:ext cx="10600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Least Cost Method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73D0C-ADF3-D053-811A-B90EA28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21</a:t>
            </a:fld>
            <a:endParaRPr lang="en-BD"/>
          </a:p>
        </p:txBody>
      </p:sp>
      <p:sp>
        <p:nvSpPr>
          <p:cNvPr id="7" name="Google Shape;199;p17">
            <a:extLst>
              <a:ext uri="{FF2B5EF4-FFF2-40B4-BE49-F238E27FC236}">
                <a16:creationId xmlns:a16="http://schemas.microsoft.com/office/drawing/2014/main" id="{5C6AC119-1F24-9FED-A368-5FA2ED2CB664}"/>
              </a:ext>
            </a:extLst>
          </p:cNvPr>
          <p:cNvSpPr txBox="1">
            <a:spLocks/>
          </p:cNvSpPr>
          <p:nvPr/>
        </p:nvSpPr>
        <p:spPr>
          <a:xfrm>
            <a:off x="696264" y="568037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Methods to solve transportation model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DE0F2365-07AF-09C6-1FB1-2128D21AA780}"/>
                  </a:ext>
                </a:extLst>
              </p14:cNvPr>
              <p14:cNvContentPartPr/>
              <p14:nvPr/>
            </p14:nvContentPartPr>
            <p14:xfrm>
              <a:off x="5714978" y="5347636"/>
              <a:ext cx="360" cy="3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DE0F2365-07AF-09C6-1FB1-2128D21AA78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710658" y="5342956"/>
                <a:ext cx="9000" cy="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66330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B7C5AF-7344-F5FD-F7AE-309C8674BDF8}"/>
              </a:ext>
            </a:extLst>
          </p:cNvPr>
          <p:cNvSpPr txBox="1"/>
          <p:nvPr/>
        </p:nvSpPr>
        <p:spPr>
          <a:xfrm>
            <a:off x="405697" y="3290393"/>
            <a:ext cx="10600237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2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Solution</a:t>
            </a:r>
          </a:p>
          <a:p>
            <a:pPr algn="just"/>
            <a:endParaRPr lang="en-GB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b="1" dirty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1: Balance the problem</a:t>
            </a:r>
          </a:p>
          <a:p>
            <a:pPr algn="just"/>
            <a:endParaRPr lang="en-GB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given Transportation problem is balanced as the ∑ Supply = ∑ Demand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5A45C3-24C2-3B10-91A2-C5FD41448E49}"/>
              </a:ext>
            </a:extLst>
          </p:cNvPr>
          <p:cNvSpPr txBox="1"/>
          <p:nvPr/>
        </p:nvSpPr>
        <p:spPr>
          <a:xfrm>
            <a:off x="405697" y="2844118"/>
            <a:ext cx="106002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200" b="1" u="sng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Sample Problem#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B1407E-BD30-429A-0909-FED935997A32}"/>
              </a:ext>
            </a:extLst>
          </p:cNvPr>
          <p:cNvSpPr txBox="1"/>
          <p:nvPr/>
        </p:nvSpPr>
        <p:spPr>
          <a:xfrm>
            <a:off x="405698" y="2382453"/>
            <a:ext cx="10600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Least Cost Method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D16741-50B1-ABDF-54FB-0E4385D23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22</a:t>
            </a:fld>
            <a:endParaRPr lang="en-BD"/>
          </a:p>
        </p:txBody>
      </p:sp>
      <p:sp>
        <p:nvSpPr>
          <p:cNvPr id="7" name="Google Shape;199;p17">
            <a:extLst>
              <a:ext uri="{FF2B5EF4-FFF2-40B4-BE49-F238E27FC236}">
                <a16:creationId xmlns:a16="http://schemas.microsoft.com/office/drawing/2014/main" id="{EE29EA10-88F7-E276-2F00-0EA7E8A469D9}"/>
              </a:ext>
            </a:extLst>
          </p:cNvPr>
          <p:cNvSpPr txBox="1">
            <a:spLocks/>
          </p:cNvSpPr>
          <p:nvPr/>
        </p:nvSpPr>
        <p:spPr>
          <a:xfrm>
            <a:off x="696264" y="568037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Methods to solve transportation model</a:t>
            </a:r>
          </a:p>
        </p:txBody>
      </p:sp>
    </p:spTree>
    <p:extLst>
      <p:ext uri="{BB962C8B-B14F-4D97-AF65-F5344CB8AC3E}">
        <p14:creationId xmlns:p14="http://schemas.microsoft.com/office/powerpoint/2010/main" val="11095329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B7C5AF-7344-F5FD-F7AE-309C8674BDF8}"/>
              </a:ext>
            </a:extLst>
          </p:cNvPr>
          <p:cNvSpPr txBox="1"/>
          <p:nvPr/>
        </p:nvSpPr>
        <p:spPr>
          <a:xfrm>
            <a:off x="398578" y="3083297"/>
            <a:ext cx="106002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2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5A45C3-24C2-3B10-91A2-C5FD41448E49}"/>
              </a:ext>
            </a:extLst>
          </p:cNvPr>
          <p:cNvSpPr txBox="1"/>
          <p:nvPr/>
        </p:nvSpPr>
        <p:spPr>
          <a:xfrm>
            <a:off x="398579" y="2640868"/>
            <a:ext cx="106002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200" b="1" u="sng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Sample Problem#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B1407E-BD30-429A-0909-FED935997A32}"/>
              </a:ext>
            </a:extLst>
          </p:cNvPr>
          <p:cNvSpPr txBox="1"/>
          <p:nvPr/>
        </p:nvSpPr>
        <p:spPr>
          <a:xfrm>
            <a:off x="398579" y="2198439"/>
            <a:ext cx="10600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Least Cost Method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57EAF7E3-9ED7-2380-902F-A694C8151588}"/>
              </a:ext>
            </a:extLst>
          </p:cNvPr>
          <p:cNvGraphicFramePr>
            <a:graphicFrameLocks noGrp="1"/>
          </p:cNvGraphicFramePr>
          <p:nvPr/>
        </p:nvGraphicFramePr>
        <p:xfrm>
          <a:off x="2344773" y="3395827"/>
          <a:ext cx="812800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734276881"/>
                    </a:ext>
                  </a:extLst>
                </a:gridCol>
                <a:gridCol w="1502328">
                  <a:extLst>
                    <a:ext uri="{9D8B030D-6E8A-4147-A177-3AD203B41FA5}">
                      <a16:colId xmlns:a16="http://schemas.microsoft.com/office/drawing/2014/main" val="1740679715"/>
                    </a:ext>
                  </a:extLst>
                </a:gridCol>
                <a:gridCol w="1207006">
                  <a:extLst>
                    <a:ext uri="{9D8B030D-6E8A-4147-A177-3AD203B41FA5}">
                      <a16:colId xmlns:a16="http://schemas.microsoft.com/office/drawing/2014/main" val="19316413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6891858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0282461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87991008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00206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DESTINATIONS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845636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/>
                      <a:r>
                        <a:rPr lang="en-BD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SOURCES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Dhaka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Sylhet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Chittagong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SUPPLY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96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Barishal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BD" b="1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(40)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22761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Rajshahi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(60)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65192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Rangpur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41144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7030A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170</a:t>
                      </a:r>
                      <a:endParaRPr lang="en-BD" b="1" dirty="0">
                        <a:solidFill>
                          <a:srgbClr val="7030A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9440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9E704A8-D25B-C9BD-5737-438374DA324B}"/>
              </a:ext>
            </a:extLst>
          </p:cNvPr>
          <p:cNvSpPr txBox="1"/>
          <p:nvPr/>
        </p:nvSpPr>
        <p:spPr>
          <a:xfrm>
            <a:off x="398578" y="5854385"/>
            <a:ext cx="113616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Transportation Costs = (1×40)+(3×60)+(6×10)+(2×40)+(8×20)</a:t>
            </a:r>
          </a:p>
          <a:p>
            <a:pPr algn="just"/>
            <a:r>
              <a:rPr lang="en-GB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				           = </a:t>
            </a:r>
            <a:r>
              <a:rPr lang="en-GB" sz="24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Tk. 520​​/-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CF02CD-731C-1873-2890-9A655EF79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23</a:t>
            </a:fld>
            <a:endParaRPr lang="en-BD"/>
          </a:p>
        </p:txBody>
      </p:sp>
      <p:sp>
        <p:nvSpPr>
          <p:cNvPr id="7" name="Google Shape;199;p17">
            <a:extLst>
              <a:ext uri="{FF2B5EF4-FFF2-40B4-BE49-F238E27FC236}">
                <a16:creationId xmlns:a16="http://schemas.microsoft.com/office/drawing/2014/main" id="{64714549-6CAB-4787-0CC2-E629233E20F1}"/>
              </a:ext>
            </a:extLst>
          </p:cNvPr>
          <p:cNvSpPr txBox="1">
            <a:spLocks/>
          </p:cNvSpPr>
          <p:nvPr/>
        </p:nvSpPr>
        <p:spPr>
          <a:xfrm>
            <a:off x="689145" y="608109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Methods to solve transportation model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018A702-958B-305F-5738-DD83CAEA0CAD}"/>
                  </a:ext>
                </a:extLst>
              </p14:cNvPr>
              <p14:cNvContentPartPr/>
              <p14:nvPr/>
            </p14:nvContentPartPr>
            <p14:xfrm>
              <a:off x="5503753" y="6657868"/>
              <a:ext cx="516600" cy="28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018A702-958B-305F-5738-DD83CAEA0CA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99433" y="6653548"/>
                <a:ext cx="5252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7FA03A3-F743-0DE9-3401-CF95E8584190}"/>
                  </a:ext>
                </a:extLst>
              </p14:cNvPr>
              <p14:cNvContentPartPr/>
              <p14:nvPr/>
            </p14:nvContentPartPr>
            <p14:xfrm>
              <a:off x="6081818" y="4862716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7FA03A3-F743-0DE9-3401-CF95E85841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77498" y="485839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FCE9828-799F-1F2B-1D55-ED92C6AA0101}"/>
                  </a:ext>
                </a:extLst>
              </p14:cNvPr>
              <p14:cNvContentPartPr/>
              <p14:nvPr/>
            </p14:nvContentPartPr>
            <p14:xfrm>
              <a:off x="6081818" y="5181316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FCE9828-799F-1F2B-1D55-ED92C6AA010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77498" y="517699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4EE803C-53DB-EA0F-9B66-4D3FE4272B85}"/>
                  </a:ext>
                </a:extLst>
              </p14:cNvPr>
              <p14:cNvContentPartPr/>
              <p14:nvPr/>
            </p14:nvContentPartPr>
            <p14:xfrm>
              <a:off x="7494818" y="5292196"/>
              <a:ext cx="75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4EE803C-53DB-EA0F-9B66-4D3FE4272B8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90498" y="5287876"/>
                <a:ext cx="16200" cy="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42807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E816D-9E43-AA2B-7A3D-E2A4A5D7D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72718"/>
            <a:ext cx="9905998" cy="2378682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Unbalanced Transportation Problems</a:t>
            </a:r>
            <a:endParaRPr lang="en-BD" sz="5400" b="1" dirty="0">
              <a:solidFill>
                <a:schemeClr val="accent4">
                  <a:lumMod val="50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4FCA4F-D9FB-E5AD-E339-04C04A2F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24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5150950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B7C5AF-7344-F5FD-F7AE-309C8674BDF8}"/>
              </a:ext>
            </a:extLst>
          </p:cNvPr>
          <p:cNvSpPr txBox="1"/>
          <p:nvPr/>
        </p:nvSpPr>
        <p:spPr>
          <a:xfrm>
            <a:off x="590502" y="3444388"/>
            <a:ext cx="4495848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2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Solution</a:t>
            </a:r>
          </a:p>
          <a:p>
            <a:pPr algn="just"/>
            <a:endParaRPr lang="en-GB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b="1" dirty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1: Balance the problem</a:t>
            </a:r>
          </a:p>
          <a:p>
            <a:pPr algn="just"/>
            <a:endParaRPr lang="en-GB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given Transportation problem is unbalanced as the </a:t>
            </a:r>
          </a:p>
          <a:p>
            <a:pPr algn="just"/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∑ Supply </a:t>
            </a:r>
            <a:r>
              <a:rPr lang="en-B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≠</a:t>
            </a: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∑ Demand</a:t>
            </a:r>
          </a:p>
          <a:p>
            <a:pPr algn="just"/>
            <a:endParaRPr lang="en-GB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 the ∑ Supply = 115 and the </a:t>
            </a:r>
          </a:p>
          <a:p>
            <a:pPr algn="just"/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∑ Demand  = 145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1AB7F3-A75E-9194-4D85-4FA87B36CCEA}"/>
              </a:ext>
            </a:extLst>
          </p:cNvPr>
          <p:cNvSpPr txBox="1"/>
          <p:nvPr/>
        </p:nvSpPr>
        <p:spPr>
          <a:xfrm>
            <a:off x="590501" y="2998113"/>
            <a:ext cx="106002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200" b="1" u="sng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Sample Problem# 4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0125BF-A441-6336-5D87-134E3DF76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25</a:t>
            </a:fld>
            <a:endParaRPr lang="en-BD"/>
          </a:p>
        </p:txBody>
      </p:sp>
      <p:sp>
        <p:nvSpPr>
          <p:cNvPr id="6" name="Google Shape;199;p17">
            <a:extLst>
              <a:ext uri="{FF2B5EF4-FFF2-40B4-BE49-F238E27FC236}">
                <a16:creationId xmlns:a16="http://schemas.microsoft.com/office/drawing/2014/main" id="{E5F3FF44-BB00-7475-8F6F-2C52E85712BC}"/>
              </a:ext>
            </a:extLst>
          </p:cNvPr>
          <p:cNvSpPr txBox="1">
            <a:spLocks/>
          </p:cNvSpPr>
          <p:nvPr/>
        </p:nvSpPr>
        <p:spPr>
          <a:xfrm>
            <a:off x="689145" y="608109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Methods to solve transportation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421399-A304-B2A3-AB57-1A265F7C4E63}"/>
              </a:ext>
            </a:extLst>
          </p:cNvPr>
          <p:cNvSpPr txBox="1"/>
          <p:nvPr/>
        </p:nvSpPr>
        <p:spPr>
          <a:xfrm>
            <a:off x="590502" y="2551615"/>
            <a:ext cx="106002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200" b="1" u="sng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Solve the following problem for BFS using Least Cost Method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9B91FE0E-FE55-9B63-44D3-16205B3E37EA}"/>
              </a:ext>
            </a:extLst>
          </p:cNvPr>
          <p:cNvGraphicFramePr>
            <a:graphicFrameLocks noGrp="1"/>
          </p:cNvGraphicFramePr>
          <p:nvPr/>
        </p:nvGraphicFramePr>
        <p:xfrm>
          <a:off x="5343526" y="4470701"/>
          <a:ext cx="655796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035">
                  <a:extLst>
                    <a:ext uri="{9D8B030D-6E8A-4147-A177-3AD203B41FA5}">
                      <a16:colId xmlns:a16="http://schemas.microsoft.com/office/drawing/2014/main" val="1734276881"/>
                    </a:ext>
                  </a:extLst>
                </a:gridCol>
                <a:gridCol w="1185163">
                  <a:extLst>
                    <a:ext uri="{9D8B030D-6E8A-4147-A177-3AD203B41FA5}">
                      <a16:colId xmlns:a16="http://schemas.microsoft.com/office/drawing/2014/main" val="1740679715"/>
                    </a:ext>
                  </a:extLst>
                </a:gridCol>
                <a:gridCol w="688783">
                  <a:extLst>
                    <a:ext uri="{9D8B030D-6E8A-4147-A177-3AD203B41FA5}">
                      <a16:colId xmlns:a16="http://schemas.microsoft.com/office/drawing/2014/main" val="1931641329"/>
                    </a:ext>
                  </a:extLst>
                </a:gridCol>
                <a:gridCol w="590189">
                  <a:extLst>
                    <a:ext uri="{9D8B030D-6E8A-4147-A177-3AD203B41FA5}">
                      <a16:colId xmlns:a16="http://schemas.microsoft.com/office/drawing/2014/main" val="668918580"/>
                    </a:ext>
                  </a:extLst>
                </a:gridCol>
                <a:gridCol w="852529">
                  <a:extLst>
                    <a:ext uri="{9D8B030D-6E8A-4147-A177-3AD203B41FA5}">
                      <a16:colId xmlns:a16="http://schemas.microsoft.com/office/drawing/2014/main" val="1053297598"/>
                    </a:ext>
                  </a:extLst>
                </a:gridCol>
                <a:gridCol w="1836262">
                  <a:extLst>
                    <a:ext uri="{9D8B030D-6E8A-4147-A177-3AD203B41FA5}">
                      <a16:colId xmlns:a16="http://schemas.microsoft.com/office/drawing/2014/main" val="3287991008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00206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DESTINATIONS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845636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/>
                      <a:r>
                        <a:rPr lang="en-BD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SOURCES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SUPPLY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96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BD" b="1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22761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65192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41144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65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145//115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94409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9A3147B-CF2A-A332-638C-87C00E94484F}"/>
                  </a:ext>
                </a:extLst>
              </p14:cNvPr>
              <p14:cNvContentPartPr/>
              <p14:nvPr/>
            </p14:nvContentPartPr>
            <p14:xfrm>
              <a:off x="11114353" y="6640228"/>
              <a:ext cx="477720" cy="37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9A3147B-CF2A-A332-638C-87C00E94484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10033" y="6635908"/>
                <a:ext cx="48636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5302DEA-7884-F6AF-4EC3-8DCCBABD20D7}"/>
                  </a:ext>
                </a:extLst>
              </p14:cNvPr>
              <p14:cNvContentPartPr/>
              <p14:nvPr/>
            </p14:nvContentPartPr>
            <p14:xfrm>
              <a:off x="10475353" y="6677308"/>
              <a:ext cx="250920" cy="34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5302DEA-7884-F6AF-4EC3-8DCCBABD20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71033" y="6672988"/>
                <a:ext cx="259560" cy="4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70284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B7C5AF-7344-F5FD-F7AE-309C8674BDF8}"/>
              </a:ext>
            </a:extLst>
          </p:cNvPr>
          <p:cNvSpPr txBox="1"/>
          <p:nvPr/>
        </p:nvSpPr>
        <p:spPr>
          <a:xfrm>
            <a:off x="689145" y="2203377"/>
            <a:ext cx="10600237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2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Solution</a:t>
            </a:r>
          </a:p>
          <a:p>
            <a:pPr algn="just"/>
            <a:endParaRPr lang="en-GB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b="1" dirty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1: Balance the problem (Using Dummy)</a:t>
            </a:r>
          </a:p>
          <a:p>
            <a:pPr algn="just"/>
            <a:endParaRPr lang="en-GB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Therefore, Dummy Row ‘D</a:t>
            </a:r>
            <a:r>
              <a:rPr lang="en-US" sz="22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 is added with the supply of 30 units in order to balance the Transport problem.</a:t>
            </a:r>
            <a:endParaRPr lang="en-GB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0125BF-A441-6336-5D87-134E3DF76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26</a:t>
            </a:fld>
            <a:endParaRPr lang="en-BD"/>
          </a:p>
        </p:txBody>
      </p:sp>
      <p:sp>
        <p:nvSpPr>
          <p:cNvPr id="6" name="Google Shape;199;p17">
            <a:extLst>
              <a:ext uri="{FF2B5EF4-FFF2-40B4-BE49-F238E27FC236}">
                <a16:creationId xmlns:a16="http://schemas.microsoft.com/office/drawing/2014/main" id="{E5F3FF44-BB00-7475-8F6F-2C52E85712BC}"/>
              </a:ext>
            </a:extLst>
          </p:cNvPr>
          <p:cNvSpPr txBox="1">
            <a:spLocks/>
          </p:cNvSpPr>
          <p:nvPr/>
        </p:nvSpPr>
        <p:spPr>
          <a:xfrm>
            <a:off x="689145" y="608109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 (With Dummy)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8635F9CC-8AD6-5124-A733-073B5F87B771}"/>
              </a:ext>
            </a:extLst>
          </p:cNvPr>
          <p:cNvGraphicFramePr>
            <a:graphicFrameLocks noGrp="1"/>
          </p:cNvGraphicFramePr>
          <p:nvPr/>
        </p:nvGraphicFramePr>
        <p:xfrm>
          <a:off x="2459321" y="4108255"/>
          <a:ext cx="727335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1734276881"/>
                    </a:ext>
                  </a:extLst>
                </a:gridCol>
                <a:gridCol w="1235787">
                  <a:extLst>
                    <a:ext uri="{9D8B030D-6E8A-4147-A177-3AD203B41FA5}">
                      <a16:colId xmlns:a16="http://schemas.microsoft.com/office/drawing/2014/main" val="1740679715"/>
                    </a:ext>
                  </a:extLst>
                </a:gridCol>
                <a:gridCol w="1080092">
                  <a:extLst>
                    <a:ext uri="{9D8B030D-6E8A-4147-A177-3AD203B41FA5}">
                      <a16:colId xmlns:a16="http://schemas.microsoft.com/office/drawing/2014/main" val="1931641329"/>
                    </a:ext>
                  </a:extLst>
                </a:gridCol>
                <a:gridCol w="1212226">
                  <a:extLst>
                    <a:ext uri="{9D8B030D-6E8A-4147-A177-3AD203B41FA5}">
                      <a16:colId xmlns:a16="http://schemas.microsoft.com/office/drawing/2014/main" val="668918580"/>
                    </a:ext>
                  </a:extLst>
                </a:gridCol>
                <a:gridCol w="1212226">
                  <a:extLst>
                    <a:ext uri="{9D8B030D-6E8A-4147-A177-3AD203B41FA5}">
                      <a16:colId xmlns:a16="http://schemas.microsoft.com/office/drawing/2014/main" val="1053297598"/>
                    </a:ext>
                  </a:extLst>
                </a:gridCol>
                <a:gridCol w="1212226">
                  <a:extLst>
                    <a:ext uri="{9D8B030D-6E8A-4147-A177-3AD203B41FA5}">
                      <a16:colId xmlns:a16="http://schemas.microsoft.com/office/drawing/2014/main" val="3287991008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00206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DESTINATIONS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845636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SUPPLY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96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BD" b="1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22761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65192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41144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</a:t>
                      </a:r>
                      <a:r>
                        <a:rPr lang="en-US" sz="1800" baseline="-25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BD" b="1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944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65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7030A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12086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C7F14CE-485F-4496-AB0F-507BD177163A}"/>
                  </a:ext>
                </a:extLst>
              </p14:cNvPr>
              <p14:cNvContentPartPr/>
              <p14:nvPr/>
            </p14:nvContentPartPr>
            <p14:xfrm>
              <a:off x="5582858" y="6213436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C7F14CE-485F-4496-AB0F-507BD17716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78538" y="620911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09175AE-B3C5-E95C-ECC9-4A79B743999E}"/>
                  </a:ext>
                </a:extLst>
              </p14:cNvPr>
              <p14:cNvContentPartPr/>
              <p14:nvPr/>
            </p14:nvContentPartPr>
            <p14:xfrm>
              <a:off x="6587618" y="6206596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09175AE-B3C5-E95C-ECC9-4A79B74399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83298" y="620227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6E6040-3203-B92A-AD74-A417A4071479}"/>
                  </a:ext>
                </a:extLst>
              </p14:cNvPr>
              <p14:cNvContentPartPr/>
              <p14:nvPr/>
            </p14:nvContentPartPr>
            <p14:xfrm>
              <a:off x="7820618" y="6220276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6E6040-3203-B92A-AD74-A417A407147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16298" y="621595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25032AF-02A7-0A1A-8172-646A805EE750}"/>
                  </a:ext>
                </a:extLst>
              </p14:cNvPr>
              <p14:cNvContentPartPr/>
              <p14:nvPr/>
            </p14:nvContentPartPr>
            <p14:xfrm>
              <a:off x="6739898" y="6220276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25032AF-02A7-0A1A-8172-646A805EE7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35578" y="621595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FA30245-C1B8-4048-85CB-94C86B41B782}"/>
                  </a:ext>
                </a:extLst>
              </p14:cNvPr>
              <p14:cNvContentPartPr/>
              <p14:nvPr/>
            </p14:nvContentPartPr>
            <p14:xfrm>
              <a:off x="5541458" y="6171676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FA30245-C1B8-4048-85CB-94C86B41B7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37138" y="616735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B7D9911-68EA-A2FE-4C8F-DF7C4CF4CD84}"/>
                  </a:ext>
                </a:extLst>
              </p14:cNvPr>
              <p14:cNvContentPartPr/>
              <p14:nvPr/>
            </p14:nvContentPartPr>
            <p14:xfrm>
              <a:off x="6643058" y="6143956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B7D9911-68EA-A2FE-4C8F-DF7C4CF4CD8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38738" y="6139636"/>
                <a:ext cx="9000" cy="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25279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B7C5AF-7344-F5FD-F7AE-309C8674BDF8}"/>
              </a:ext>
            </a:extLst>
          </p:cNvPr>
          <p:cNvSpPr txBox="1"/>
          <p:nvPr/>
        </p:nvSpPr>
        <p:spPr>
          <a:xfrm>
            <a:off x="543861" y="2105561"/>
            <a:ext cx="10600237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2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Solution</a:t>
            </a:r>
          </a:p>
          <a:p>
            <a:pPr algn="just"/>
            <a:endParaRPr lang="en-GB" sz="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b="1" dirty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5: After all allocations are over, write all the allocations and calculate the transportation cost.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0125BF-A441-6336-5D87-134E3DF76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27</a:t>
            </a:fld>
            <a:endParaRPr lang="en-BD"/>
          </a:p>
        </p:txBody>
      </p:sp>
      <p:sp>
        <p:nvSpPr>
          <p:cNvPr id="6" name="Google Shape;199;p17">
            <a:extLst>
              <a:ext uri="{FF2B5EF4-FFF2-40B4-BE49-F238E27FC236}">
                <a16:creationId xmlns:a16="http://schemas.microsoft.com/office/drawing/2014/main" id="{E5F3FF44-BB00-7475-8F6F-2C52E85712BC}"/>
              </a:ext>
            </a:extLst>
          </p:cNvPr>
          <p:cNvSpPr txBox="1">
            <a:spLocks/>
          </p:cNvSpPr>
          <p:nvPr/>
        </p:nvSpPr>
        <p:spPr>
          <a:xfrm>
            <a:off x="689145" y="608109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Methods to solve transportation model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8EC68907-82CD-4CD1-59F3-AE9DBF923CE4}"/>
              </a:ext>
            </a:extLst>
          </p:cNvPr>
          <p:cNvGraphicFramePr>
            <a:graphicFrameLocks noGrp="1"/>
          </p:cNvGraphicFramePr>
          <p:nvPr/>
        </p:nvGraphicFramePr>
        <p:xfrm>
          <a:off x="2702208" y="3259723"/>
          <a:ext cx="727335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1734276881"/>
                    </a:ext>
                  </a:extLst>
                </a:gridCol>
                <a:gridCol w="1235787">
                  <a:extLst>
                    <a:ext uri="{9D8B030D-6E8A-4147-A177-3AD203B41FA5}">
                      <a16:colId xmlns:a16="http://schemas.microsoft.com/office/drawing/2014/main" val="1740679715"/>
                    </a:ext>
                  </a:extLst>
                </a:gridCol>
                <a:gridCol w="1080092">
                  <a:extLst>
                    <a:ext uri="{9D8B030D-6E8A-4147-A177-3AD203B41FA5}">
                      <a16:colId xmlns:a16="http://schemas.microsoft.com/office/drawing/2014/main" val="1931641329"/>
                    </a:ext>
                  </a:extLst>
                </a:gridCol>
                <a:gridCol w="1212226">
                  <a:extLst>
                    <a:ext uri="{9D8B030D-6E8A-4147-A177-3AD203B41FA5}">
                      <a16:colId xmlns:a16="http://schemas.microsoft.com/office/drawing/2014/main" val="668918580"/>
                    </a:ext>
                  </a:extLst>
                </a:gridCol>
                <a:gridCol w="1212226">
                  <a:extLst>
                    <a:ext uri="{9D8B030D-6E8A-4147-A177-3AD203B41FA5}">
                      <a16:colId xmlns:a16="http://schemas.microsoft.com/office/drawing/2014/main" val="1053297598"/>
                    </a:ext>
                  </a:extLst>
                </a:gridCol>
                <a:gridCol w="1212226">
                  <a:extLst>
                    <a:ext uri="{9D8B030D-6E8A-4147-A177-3AD203B41FA5}">
                      <a16:colId xmlns:a16="http://schemas.microsoft.com/office/drawing/2014/main" val="3287991008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00206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DESTINATIONS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845636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SUPPLY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96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BD" b="1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(20)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22761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(20)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(50)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65192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(15)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(10)</a:t>
                      </a:r>
                      <a:endParaRPr lang="en-BD" sz="1800" b="1" kern="1200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41144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</a:t>
                      </a:r>
                      <a:r>
                        <a:rPr lang="en-US" sz="1800" baseline="-25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BD" b="1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944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65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7030A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12086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0F4B2B2-646B-D834-2A47-E7F218892FCC}"/>
              </a:ext>
            </a:extLst>
          </p:cNvPr>
          <p:cNvSpPr txBox="1"/>
          <p:nvPr/>
        </p:nvSpPr>
        <p:spPr>
          <a:xfrm>
            <a:off x="275844" y="5965448"/>
            <a:ext cx="1164031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Transportation Costs = (1×20)+(7×20)+(6×50)+(3×15)+(2×10)+(0×30)</a:t>
            </a:r>
          </a:p>
          <a:p>
            <a:pPr algn="just"/>
            <a:r>
              <a:rPr lang="en-GB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				           = </a:t>
            </a:r>
            <a:r>
              <a:rPr lang="en-GB" sz="24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Tk. 525​​/-</a:t>
            </a:r>
            <a:endParaRPr lang="en-GB" sz="2000" b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2572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82D77-08A8-9945-9532-3BBA00859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(Without Dummy)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E90B9-E0DB-AEEA-A9FD-B1B99DF3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28</a:t>
            </a:fld>
            <a:endParaRPr lang="en-BD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BEAD7D-5360-7FE1-21B0-53D5113421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159835"/>
              </p:ext>
            </p:extLst>
          </p:nvPr>
        </p:nvGraphicFramePr>
        <p:xfrm>
          <a:off x="1455300" y="2465396"/>
          <a:ext cx="7938081" cy="3116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510">
                  <a:extLst>
                    <a:ext uri="{9D8B030D-6E8A-4147-A177-3AD203B41FA5}">
                      <a16:colId xmlns:a16="http://schemas.microsoft.com/office/drawing/2014/main" val="1734276881"/>
                    </a:ext>
                  </a:extLst>
                </a:gridCol>
                <a:gridCol w="1348728">
                  <a:extLst>
                    <a:ext uri="{9D8B030D-6E8A-4147-A177-3AD203B41FA5}">
                      <a16:colId xmlns:a16="http://schemas.microsoft.com/office/drawing/2014/main" val="1740679715"/>
                    </a:ext>
                  </a:extLst>
                </a:gridCol>
                <a:gridCol w="1178804">
                  <a:extLst>
                    <a:ext uri="{9D8B030D-6E8A-4147-A177-3AD203B41FA5}">
                      <a16:colId xmlns:a16="http://schemas.microsoft.com/office/drawing/2014/main" val="1931641329"/>
                    </a:ext>
                  </a:extLst>
                </a:gridCol>
                <a:gridCol w="1323013">
                  <a:extLst>
                    <a:ext uri="{9D8B030D-6E8A-4147-A177-3AD203B41FA5}">
                      <a16:colId xmlns:a16="http://schemas.microsoft.com/office/drawing/2014/main" val="668918580"/>
                    </a:ext>
                  </a:extLst>
                </a:gridCol>
                <a:gridCol w="1323013">
                  <a:extLst>
                    <a:ext uri="{9D8B030D-6E8A-4147-A177-3AD203B41FA5}">
                      <a16:colId xmlns:a16="http://schemas.microsoft.com/office/drawing/2014/main" val="1053297598"/>
                    </a:ext>
                  </a:extLst>
                </a:gridCol>
                <a:gridCol w="1323013">
                  <a:extLst>
                    <a:ext uri="{9D8B030D-6E8A-4147-A177-3AD203B41FA5}">
                      <a16:colId xmlns:a16="http://schemas.microsoft.com/office/drawing/2014/main" val="3287991008"/>
                    </a:ext>
                  </a:extLst>
                </a:gridCol>
              </a:tblGrid>
              <a:tr h="440386">
                <a:tc gridSpan="6"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00206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DESTINATIONS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845636"/>
                  </a:ext>
                </a:extLst>
              </a:tr>
              <a:tr h="440386">
                <a:tc rowSpan="5"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SUPPLY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96928"/>
                  </a:ext>
                </a:extLst>
              </a:tr>
              <a:tr h="440386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BD" b="1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(20)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227616"/>
                  </a:ext>
                </a:extLst>
              </a:tr>
              <a:tr h="440386">
                <a:tc v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(20)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(50)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651929"/>
                  </a:ext>
                </a:extLst>
              </a:tr>
              <a:tr h="440386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(15)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 </a:t>
                      </a:r>
                      <a:r>
                        <a:rPr lang="en-BD" b="1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(10)</a:t>
                      </a:r>
                      <a:endParaRPr lang="en-BD" sz="1800" b="1" kern="1200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411444"/>
                  </a:ext>
                </a:extLst>
              </a:tr>
              <a:tr h="440386">
                <a:tc vMerge="1">
                  <a:txBody>
                    <a:bodyPr/>
                    <a:lstStyle/>
                    <a:p>
                      <a:pPr algn="ctr"/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65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(30 unit extra)</a:t>
                      </a:r>
                      <a:endParaRPr lang="en-BD" b="1" dirty="0">
                        <a:solidFill>
                          <a:srgbClr val="FF000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7030A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145</a:t>
                      </a:r>
                      <a:r>
                        <a:rPr lang="en-US" b="1" dirty="0">
                          <a:solidFill>
                            <a:srgbClr val="7030A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/115</a:t>
                      </a:r>
                      <a:endParaRPr lang="en-BD" b="1" dirty="0">
                        <a:solidFill>
                          <a:srgbClr val="7030A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1208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927CA43-0182-ADB8-F169-D67D6DC1E7B5}"/>
              </a:ext>
            </a:extLst>
          </p:cNvPr>
          <p:cNvSpPr txBox="1"/>
          <p:nvPr/>
        </p:nvSpPr>
        <p:spPr>
          <a:xfrm>
            <a:off x="275844" y="5792830"/>
            <a:ext cx="1164031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Transportation Costs = (1×20)+(7×20)+(6×50)+(3×15)+(2×10)							          					 = </a:t>
            </a:r>
            <a:r>
              <a:rPr lang="en-GB" sz="24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Tk. 525​​/-</a:t>
            </a:r>
            <a:endParaRPr lang="en-GB" sz="2000" b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8017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B7C5AF-7344-F5FD-F7AE-309C8674BDF8}"/>
              </a:ext>
            </a:extLst>
          </p:cNvPr>
          <p:cNvSpPr txBox="1"/>
          <p:nvPr/>
        </p:nvSpPr>
        <p:spPr>
          <a:xfrm>
            <a:off x="590502" y="2274838"/>
            <a:ext cx="10600237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</a:t>
            </a:r>
          </a:p>
          <a:p>
            <a:pPr algn="just"/>
            <a:endParaRPr lang="en-GB" sz="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GB" sz="800" b="1" dirty="0">
              <a:solidFill>
                <a:schemeClr val="accent3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b="1" dirty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the sum of demand is less than the sum of supply, then we </a:t>
            </a:r>
            <a:r>
              <a:rPr lang="en-GB" sz="2200" b="1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have to </a:t>
            </a:r>
            <a:r>
              <a:rPr lang="en-GB" sz="2200" b="1" dirty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a </a:t>
            </a:r>
            <a:r>
              <a:rPr lang="en-GB" sz="22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“Dummy Column”</a:t>
            </a:r>
            <a:r>
              <a:rPr lang="en-GB" sz="2200" b="1" dirty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0125BF-A441-6336-5D87-134E3DF76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29</a:t>
            </a:fld>
            <a:endParaRPr lang="en-BD"/>
          </a:p>
        </p:txBody>
      </p:sp>
      <p:sp>
        <p:nvSpPr>
          <p:cNvPr id="6" name="Google Shape;199;p17">
            <a:extLst>
              <a:ext uri="{FF2B5EF4-FFF2-40B4-BE49-F238E27FC236}">
                <a16:creationId xmlns:a16="http://schemas.microsoft.com/office/drawing/2014/main" id="{E5F3FF44-BB00-7475-8F6F-2C52E85712BC}"/>
              </a:ext>
            </a:extLst>
          </p:cNvPr>
          <p:cNvSpPr txBox="1">
            <a:spLocks/>
          </p:cNvSpPr>
          <p:nvPr/>
        </p:nvSpPr>
        <p:spPr>
          <a:xfrm>
            <a:off x="689145" y="608109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Dummy: How to consider it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7995F7D8-FFF1-809A-07DB-8453E77889C8}"/>
              </a:ext>
            </a:extLst>
          </p:cNvPr>
          <p:cNvGraphicFramePr>
            <a:graphicFrameLocks noGrp="1"/>
          </p:cNvGraphicFramePr>
          <p:nvPr/>
        </p:nvGraphicFramePr>
        <p:xfrm>
          <a:off x="2253941" y="3671887"/>
          <a:ext cx="8290232" cy="2626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5459">
                  <a:extLst>
                    <a:ext uri="{9D8B030D-6E8A-4147-A177-3AD203B41FA5}">
                      <a16:colId xmlns:a16="http://schemas.microsoft.com/office/drawing/2014/main" val="1734276881"/>
                    </a:ext>
                  </a:extLst>
                </a:gridCol>
                <a:gridCol w="1408560">
                  <a:extLst>
                    <a:ext uri="{9D8B030D-6E8A-4147-A177-3AD203B41FA5}">
                      <a16:colId xmlns:a16="http://schemas.microsoft.com/office/drawing/2014/main" val="1740679715"/>
                    </a:ext>
                  </a:extLst>
                </a:gridCol>
                <a:gridCol w="1231098">
                  <a:extLst>
                    <a:ext uri="{9D8B030D-6E8A-4147-A177-3AD203B41FA5}">
                      <a16:colId xmlns:a16="http://schemas.microsoft.com/office/drawing/2014/main" val="1931641329"/>
                    </a:ext>
                  </a:extLst>
                </a:gridCol>
                <a:gridCol w="1381705">
                  <a:extLst>
                    <a:ext uri="{9D8B030D-6E8A-4147-A177-3AD203B41FA5}">
                      <a16:colId xmlns:a16="http://schemas.microsoft.com/office/drawing/2014/main" val="668918580"/>
                    </a:ext>
                  </a:extLst>
                </a:gridCol>
                <a:gridCol w="1381705">
                  <a:extLst>
                    <a:ext uri="{9D8B030D-6E8A-4147-A177-3AD203B41FA5}">
                      <a16:colId xmlns:a16="http://schemas.microsoft.com/office/drawing/2014/main" val="1053297598"/>
                    </a:ext>
                  </a:extLst>
                </a:gridCol>
                <a:gridCol w="1381705">
                  <a:extLst>
                    <a:ext uri="{9D8B030D-6E8A-4147-A177-3AD203B41FA5}">
                      <a16:colId xmlns:a16="http://schemas.microsoft.com/office/drawing/2014/main" val="3287991008"/>
                    </a:ext>
                  </a:extLst>
                </a:gridCol>
              </a:tblGrid>
              <a:tr h="317029">
                <a:tc gridSpan="6"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00206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DESTINATIONS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845636"/>
                  </a:ext>
                </a:extLst>
              </a:tr>
              <a:tr h="452195">
                <a:tc rowSpan="5">
                  <a:txBody>
                    <a:bodyPr/>
                    <a:lstStyle/>
                    <a:p>
                      <a:pPr algn="ctr"/>
                      <a:r>
                        <a:rPr lang="en-BD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SOURCES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SUPPLY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96928"/>
                  </a:ext>
                </a:extLst>
              </a:tr>
              <a:tr h="452195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BD" b="1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227616"/>
                  </a:ext>
                </a:extLst>
              </a:tr>
              <a:tr h="452195">
                <a:tc v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651929"/>
                  </a:ext>
                </a:extLst>
              </a:tr>
              <a:tr h="452195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411444"/>
                  </a:ext>
                </a:extLst>
              </a:tr>
              <a:tr h="452195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115//145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94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06966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B7C5AF-7344-F5FD-F7AE-309C8674BDF8}"/>
              </a:ext>
            </a:extLst>
          </p:cNvPr>
          <p:cNvSpPr txBox="1"/>
          <p:nvPr/>
        </p:nvSpPr>
        <p:spPr>
          <a:xfrm>
            <a:off x="590502" y="2274838"/>
            <a:ext cx="10600237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2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</a:t>
            </a:r>
          </a:p>
          <a:p>
            <a:pPr algn="just"/>
            <a:endParaRPr lang="en-GB" sz="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GB" sz="800" b="1" dirty="0">
              <a:solidFill>
                <a:schemeClr val="accent3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200" b="1" dirty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order to balance the Transportation problem, we have to add </a:t>
            </a:r>
            <a:r>
              <a:rPr lang="en-GB" sz="22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“0” </a:t>
            </a:r>
            <a:r>
              <a:rPr lang="en-GB" sz="2200" b="1" dirty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the </a:t>
            </a:r>
            <a:r>
              <a:rPr lang="en-GB" sz="2200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“Dummy Column</a:t>
            </a:r>
            <a:r>
              <a:rPr lang="en-GB" sz="2200" b="1" dirty="0">
                <a:solidFill>
                  <a:schemeClr val="accent3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 having demand of 30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0125BF-A441-6336-5D87-134E3DF76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30</a:t>
            </a:fld>
            <a:endParaRPr lang="en-BD"/>
          </a:p>
        </p:txBody>
      </p:sp>
      <p:sp>
        <p:nvSpPr>
          <p:cNvPr id="6" name="Google Shape;199;p17">
            <a:extLst>
              <a:ext uri="{FF2B5EF4-FFF2-40B4-BE49-F238E27FC236}">
                <a16:creationId xmlns:a16="http://schemas.microsoft.com/office/drawing/2014/main" id="{E5F3FF44-BB00-7475-8F6F-2C52E85712BC}"/>
              </a:ext>
            </a:extLst>
          </p:cNvPr>
          <p:cNvSpPr txBox="1">
            <a:spLocks/>
          </p:cNvSpPr>
          <p:nvPr/>
        </p:nvSpPr>
        <p:spPr>
          <a:xfrm>
            <a:off x="689145" y="608109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Methods to solve transportation model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7995F7D8-FFF1-809A-07DB-8453E77889C8}"/>
              </a:ext>
            </a:extLst>
          </p:cNvPr>
          <p:cNvGraphicFramePr>
            <a:graphicFrameLocks noGrp="1"/>
          </p:cNvGraphicFramePr>
          <p:nvPr/>
        </p:nvGraphicFramePr>
        <p:xfrm>
          <a:off x="504826" y="3623156"/>
          <a:ext cx="7214546" cy="2626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681">
                  <a:extLst>
                    <a:ext uri="{9D8B030D-6E8A-4147-A177-3AD203B41FA5}">
                      <a16:colId xmlns:a16="http://schemas.microsoft.com/office/drawing/2014/main" val="1734276881"/>
                    </a:ext>
                  </a:extLst>
                </a:gridCol>
                <a:gridCol w="1181270">
                  <a:extLst>
                    <a:ext uri="{9D8B030D-6E8A-4147-A177-3AD203B41FA5}">
                      <a16:colId xmlns:a16="http://schemas.microsoft.com/office/drawing/2014/main" val="1740679715"/>
                    </a:ext>
                  </a:extLst>
                </a:gridCol>
                <a:gridCol w="552608">
                  <a:extLst>
                    <a:ext uri="{9D8B030D-6E8A-4147-A177-3AD203B41FA5}">
                      <a16:colId xmlns:a16="http://schemas.microsoft.com/office/drawing/2014/main" val="1931641329"/>
                    </a:ext>
                  </a:extLst>
                </a:gridCol>
                <a:gridCol w="531350">
                  <a:extLst>
                    <a:ext uri="{9D8B030D-6E8A-4147-A177-3AD203B41FA5}">
                      <a16:colId xmlns:a16="http://schemas.microsoft.com/office/drawing/2014/main" val="668918580"/>
                    </a:ext>
                  </a:extLst>
                </a:gridCol>
                <a:gridCol w="615247">
                  <a:extLst>
                    <a:ext uri="{9D8B030D-6E8A-4147-A177-3AD203B41FA5}">
                      <a16:colId xmlns:a16="http://schemas.microsoft.com/office/drawing/2014/main" val="1053297598"/>
                    </a:ext>
                  </a:extLst>
                </a:gridCol>
                <a:gridCol w="657196">
                  <a:extLst>
                    <a:ext uri="{9D8B030D-6E8A-4147-A177-3AD203B41FA5}">
                      <a16:colId xmlns:a16="http://schemas.microsoft.com/office/drawing/2014/main" val="1075221595"/>
                    </a:ext>
                  </a:extLst>
                </a:gridCol>
                <a:gridCol w="2293194">
                  <a:extLst>
                    <a:ext uri="{9D8B030D-6E8A-4147-A177-3AD203B41FA5}">
                      <a16:colId xmlns:a16="http://schemas.microsoft.com/office/drawing/2014/main" val="3287991008"/>
                    </a:ext>
                  </a:extLst>
                </a:gridCol>
              </a:tblGrid>
              <a:tr h="317029">
                <a:tc gridSpan="7"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00206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DESTINATIONS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845636"/>
                  </a:ext>
                </a:extLst>
              </a:tr>
              <a:tr h="452195">
                <a:tc rowSpan="5">
                  <a:txBody>
                    <a:bodyPr/>
                    <a:lstStyle/>
                    <a:p>
                      <a:pPr algn="ctr"/>
                      <a:r>
                        <a:rPr lang="en-BD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SOURCES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</a:t>
                      </a:r>
                      <a:r>
                        <a:rPr lang="en-BD" baseline="-25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SUPPLY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96928"/>
                  </a:ext>
                </a:extLst>
              </a:tr>
              <a:tr h="452195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BD" b="1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227616"/>
                  </a:ext>
                </a:extLst>
              </a:tr>
              <a:tr h="452195">
                <a:tc v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651929"/>
                  </a:ext>
                </a:extLst>
              </a:tr>
              <a:tr h="452195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411444"/>
                  </a:ext>
                </a:extLst>
              </a:tr>
              <a:tr h="452195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145//145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9440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CCEE134-AF69-13E5-1A92-870C6A79D69F}"/>
              </a:ext>
            </a:extLst>
          </p:cNvPr>
          <p:cNvSpPr txBox="1"/>
          <p:nvPr/>
        </p:nvSpPr>
        <p:spPr>
          <a:xfrm>
            <a:off x="7719372" y="4059360"/>
            <a:ext cx="411480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Further, we can solve this by using any of the discussed method (NWCM, LCM or VAM)</a:t>
            </a:r>
          </a:p>
        </p:txBody>
      </p:sp>
    </p:spTree>
    <p:extLst>
      <p:ext uri="{BB962C8B-B14F-4D97-AF65-F5344CB8AC3E}">
        <p14:creationId xmlns:p14="http://schemas.microsoft.com/office/powerpoint/2010/main" val="36227959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AFEB1-5DE0-166E-490F-04EB0FAFD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2E0440-8A2A-F3A2-03EA-DD21383A8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31</a:t>
            </a:fld>
            <a:endParaRPr lang="en-BD"/>
          </a:p>
        </p:txBody>
      </p:sp>
      <p:sp>
        <p:nvSpPr>
          <p:cNvPr id="6" name="Google Shape;199;p17">
            <a:extLst>
              <a:ext uri="{FF2B5EF4-FFF2-40B4-BE49-F238E27FC236}">
                <a16:creationId xmlns:a16="http://schemas.microsoft.com/office/drawing/2014/main" id="{E68A8C0F-4E26-CEA1-14ED-0956B1446298}"/>
              </a:ext>
            </a:extLst>
          </p:cNvPr>
          <p:cNvSpPr txBox="1">
            <a:spLocks/>
          </p:cNvSpPr>
          <p:nvPr/>
        </p:nvSpPr>
        <p:spPr>
          <a:xfrm>
            <a:off x="689145" y="608109"/>
            <a:ext cx="10309670" cy="128288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Practice problem…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B24AB68-18AF-A7C1-ADA0-082F80F301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308026"/>
              </p:ext>
            </p:extLst>
          </p:nvPr>
        </p:nvGraphicFramePr>
        <p:xfrm>
          <a:off x="1754448" y="3059727"/>
          <a:ext cx="8598092" cy="319016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38312">
                  <a:extLst>
                    <a:ext uri="{9D8B030D-6E8A-4147-A177-3AD203B41FA5}">
                      <a16:colId xmlns:a16="http://schemas.microsoft.com/office/drawing/2014/main" val="1734276881"/>
                    </a:ext>
                  </a:extLst>
                </a:gridCol>
                <a:gridCol w="1401912">
                  <a:extLst>
                    <a:ext uri="{9D8B030D-6E8A-4147-A177-3AD203B41FA5}">
                      <a16:colId xmlns:a16="http://schemas.microsoft.com/office/drawing/2014/main" val="1740679715"/>
                    </a:ext>
                  </a:extLst>
                </a:gridCol>
                <a:gridCol w="944672">
                  <a:extLst>
                    <a:ext uri="{9D8B030D-6E8A-4147-A177-3AD203B41FA5}">
                      <a16:colId xmlns:a16="http://schemas.microsoft.com/office/drawing/2014/main" val="1931641329"/>
                    </a:ext>
                  </a:extLst>
                </a:gridCol>
                <a:gridCol w="1228299">
                  <a:extLst>
                    <a:ext uri="{9D8B030D-6E8A-4147-A177-3AD203B41FA5}">
                      <a16:colId xmlns:a16="http://schemas.microsoft.com/office/drawing/2014/main" val="668918580"/>
                    </a:ext>
                  </a:extLst>
                </a:gridCol>
                <a:gridCol w="1228299">
                  <a:extLst>
                    <a:ext uri="{9D8B030D-6E8A-4147-A177-3AD203B41FA5}">
                      <a16:colId xmlns:a16="http://schemas.microsoft.com/office/drawing/2014/main" val="1053297598"/>
                    </a:ext>
                  </a:extLst>
                </a:gridCol>
                <a:gridCol w="1228299">
                  <a:extLst>
                    <a:ext uri="{9D8B030D-6E8A-4147-A177-3AD203B41FA5}">
                      <a16:colId xmlns:a16="http://schemas.microsoft.com/office/drawing/2014/main" val="1878609947"/>
                    </a:ext>
                  </a:extLst>
                </a:gridCol>
                <a:gridCol w="1228299">
                  <a:extLst>
                    <a:ext uri="{9D8B030D-6E8A-4147-A177-3AD203B41FA5}">
                      <a16:colId xmlns:a16="http://schemas.microsoft.com/office/drawing/2014/main" val="3287991008"/>
                    </a:ext>
                  </a:extLst>
                </a:gridCol>
              </a:tblGrid>
              <a:tr h="531694">
                <a:tc gridSpan="7"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002060"/>
                          </a:solidFill>
                        </a:rPr>
                        <a:t>DESTINATIONS</a:t>
                      </a:r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845636"/>
                  </a:ext>
                </a:extLst>
              </a:tr>
              <a:tr h="531694">
                <a:tc rowSpan="5">
                  <a:txBody>
                    <a:bodyPr/>
                    <a:lstStyle/>
                    <a:p>
                      <a:pPr algn="ctr"/>
                      <a:r>
                        <a:rPr lang="en-BD" b="1"/>
                        <a:t>SOURCES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SUPPLY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96928"/>
                  </a:ext>
                </a:extLst>
              </a:tr>
              <a:tr h="531694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BD" b="1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</a:rPr>
                        <a:t>7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227616"/>
                  </a:ext>
                </a:extLst>
              </a:tr>
              <a:tr h="531694">
                <a:tc v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651929"/>
                  </a:ext>
                </a:extLst>
              </a:tr>
              <a:tr h="531694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</a:rPr>
                        <a:t>8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411444"/>
                  </a:ext>
                </a:extLst>
              </a:tr>
              <a:tr h="531694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350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/>
                        <a:t>400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FF000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94409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993C8BBE-D7F3-E24B-417C-E0BCB7F34E3A}"/>
                  </a:ext>
                </a:extLst>
              </p14:cNvPr>
              <p14:cNvContentPartPr/>
              <p14:nvPr/>
            </p14:nvContentPartPr>
            <p14:xfrm>
              <a:off x="3684938" y="2403196"/>
              <a:ext cx="360" cy="36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3E73AFDA-EDC3-E86C-01D1-9B4B046C28C3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3667298" y="2385556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58156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DC501-D079-6B34-A57A-5162AE31F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4B622-D65B-E166-753E-01467BC5A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2122237"/>
            <a:ext cx="8761413" cy="34163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585B1-6B78-8B26-050A-1A1BA2BF3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5D740-CA27-A546-B322-EE83DC7B618B}" type="slidenum">
              <a:rPr lang="en-BD" smtClean="0"/>
              <a:t>32</a:t>
            </a:fld>
            <a:endParaRPr lang="en-BD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3ACF32-7D32-9D9D-E18C-1098679C8780}"/>
              </a:ext>
            </a:extLst>
          </p:cNvPr>
          <p:cNvGraphicFramePr>
            <a:graphicFrameLocks noGrp="1"/>
          </p:cNvGraphicFramePr>
          <p:nvPr/>
        </p:nvGraphicFramePr>
        <p:xfrm>
          <a:off x="593558" y="2525362"/>
          <a:ext cx="10491537" cy="33070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75874">
                  <a:extLst>
                    <a:ext uri="{9D8B030D-6E8A-4147-A177-3AD203B41FA5}">
                      <a16:colId xmlns:a16="http://schemas.microsoft.com/office/drawing/2014/main" val="1734276881"/>
                    </a:ext>
                  </a:extLst>
                </a:gridCol>
                <a:gridCol w="1347536">
                  <a:extLst>
                    <a:ext uri="{9D8B030D-6E8A-4147-A177-3AD203B41FA5}">
                      <a16:colId xmlns:a16="http://schemas.microsoft.com/office/drawing/2014/main" val="1740679715"/>
                    </a:ext>
                  </a:extLst>
                </a:gridCol>
                <a:gridCol w="1780674">
                  <a:extLst>
                    <a:ext uri="{9D8B030D-6E8A-4147-A177-3AD203B41FA5}">
                      <a16:colId xmlns:a16="http://schemas.microsoft.com/office/drawing/2014/main" val="1931641329"/>
                    </a:ext>
                  </a:extLst>
                </a:gridCol>
                <a:gridCol w="1597846">
                  <a:extLst>
                    <a:ext uri="{9D8B030D-6E8A-4147-A177-3AD203B41FA5}">
                      <a16:colId xmlns:a16="http://schemas.microsoft.com/office/drawing/2014/main" val="668918580"/>
                    </a:ext>
                  </a:extLst>
                </a:gridCol>
                <a:gridCol w="1305775">
                  <a:extLst>
                    <a:ext uri="{9D8B030D-6E8A-4147-A177-3AD203B41FA5}">
                      <a16:colId xmlns:a16="http://schemas.microsoft.com/office/drawing/2014/main" val="1053297598"/>
                    </a:ext>
                  </a:extLst>
                </a:gridCol>
                <a:gridCol w="1443790">
                  <a:extLst>
                    <a:ext uri="{9D8B030D-6E8A-4147-A177-3AD203B41FA5}">
                      <a16:colId xmlns:a16="http://schemas.microsoft.com/office/drawing/2014/main" val="1878609947"/>
                    </a:ext>
                  </a:extLst>
                </a:gridCol>
                <a:gridCol w="1540042">
                  <a:extLst>
                    <a:ext uri="{9D8B030D-6E8A-4147-A177-3AD203B41FA5}">
                      <a16:colId xmlns:a16="http://schemas.microsoft.com/office/drawing/2014/main" val="3287991008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rgbClr val="002060"/>
                          </a:solidFill>
                        </a:rPr>
                        <a:t>DESTINATIONS</a:t>
                      </a:r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00206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845636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/>
                      <a:r>
                        <a:rPr lang="en-BD" b="1"/>
                        <a:t>SOURCES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SUPPLY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96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BD" b="1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b="1" baseline="0" dirty="0">
                          <a:solidFill>
                            <a:srgbClr val="0070C0"/>
                          </a:solidFill>
                        </a:rPr>
                        <a:t> (300)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</a:rPr>
                        <a:t>7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300</a:t>
                      </a: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(0)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22761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r>
                        <a:rPr lang="en-US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(250)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r>
                        <a:rPr lang="en-US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(100)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400</a:t>
                      </a: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(100)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(0)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65192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baseline="0" dirty="0">
                          <a:solidFill>
                            <a:srgbClr val="0070C0"/>
                          </a:solidFill>
                        </a:rPr>
                        <a:t>8</a:t>
                      </a:r>
                      <a:endParaRPr lang="en-BD" b="1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r>
                        <a:rPr lang="en-US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(50)</a:t>
                      </a:r>
                      <a:endParaRPr lang="en-BD" sz="1800" b="1" kern="1200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r>
                        <a:rPr lang="en-US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(300)</a:t>
                      </a:r>
                      <a:endParaRPr lang="en-BD" sz="1800" b="1" kern="1200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r>
                        <a:rPr lang="en-US" sz="1800" b="1" kern="1200" baseline="0" dirty="0">
                          <a:solidFill>
                            <a:srgbClr val="0070C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(200)</a:t>
                      </a:r>
                      <a:endParaRPr lang="en-BD" sz="1800" b="1" kern="1200" baseline="0" dirty="0">
                        <a:solidFill>
                          <a:srgbClr val="0070C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500</a:t>
                      </a: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(300)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(0)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41144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250</a:t>
                      </a:r>
                    </a:p>
                    <a:p>
                      <a:pPr algn="ctr"/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(0)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350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(50)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(0)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/>
                        <a:t>400</a:t>
                      </a:r>
                      <a:endParaRPr lang="en-US" b="1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(100)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(0)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D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200</a:t>
                      </a:r>
                      <a:endParaRPr lang="en-US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(0)</a:t>
                      </a:r>
                      <a:endParaRPr lang="en-BD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BD" b="1" dirty="0">
                        <a:solidFill>
                          <a:srgbClr val="FF000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94409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7502A58-90AC-F6BA-B600-58117D280585}"/>
                  </a:ext>
                </a:extLst>
              </p14:cNvPr>
              <p14:cNvContentPartPr/>
              <p14:nvPr/>
            </p14:nvContentPartPr>
            <p14:xfrm>
              <a:off x="4169143" y="3405566"/>
              <a:ext cx="281880" cy="23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7502A58-90AC-F6BA-B600-58117D2805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60143" y="3396566"/>
                <a:ext cx="2995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9D81C15-7409-81D4-BE4A-06DEDD488053}"/>
                  </a:ext>
                </a:extLst>
              </p14:cNvPr>
              <p14:cNvContentPartPr/>
              <p14:nvPr/>
            </p14:nvContentPartPr>
            <p14:xfrm>
              <a:off x="7304383" y="3439406"/>
              <a:ext cx="271440" cy="22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9D81C15-7409-81D4-BE4A-06DEDD48805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95383" y="3430406"/>
                <a:ext cx="28908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C40D370-EF61-8465-00CC-7E1A3B331B84}"/>
                  </a:ext>
                </a:extLst>
              </p14:cNvPr>
              <p14:cNvContentPartPr/>
              <p14:nvPr/>
            </p14:nvContentPartPr>
            <p14:xfrm>
              <a:off x="8664823" y="3428606"/>
              <a:ext cx="3369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C40D370-EF61-8465-00CC-7E1A3B331B8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655823" y="3419606"/>
                <a:ext cx="3546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DF62BED-619D-D8A2-849F-79DBFE9A23F0}"/>
                  </a:ext>
                </a:extLst>
              </p14:cNvPr>
              <p14:cNvContentPartPr/>
              <p14:nvPr/>
            </p14:nvContentPartPr>
            <p14:xfrm>
              <a:off x="4179943" y="4495425"/>
              <a:ext cx="27108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DF62BED-619D-D8A2-849F-79DBFE9A23F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70943" y="4486425"/>
                <a:ext cx="2887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BB7F02C-FD07-8B04-AFED-BC9025DB7B6C}"/>
                  </a:ext>
                </a:extLst>
              </p14:cNvPr>
              <p14:cNvContentPartPr/>
              <p14:nvPr/>
            </p14:nvContentPartPr>
            <p14:xfrm>
              <a:off x="4506463" y="4920086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BB7F02C-FD07-8B04-AFED-BC9025DB7B6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97463" y="491108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912FF36-E8F7-0517-BFE7-AD33F1397C64}"/>
                  </a:ext>
                </a:extLst>
              </p14:cNvPr>
              <p14:cNvContentPartPr/>
              <p14:nvPr/>
            </p14:nvContentPartPr>
            <p14:xfrm>
              <a:off x="8643223" y="3820286"/>
              <a:ext cx="358560" cy="111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912FF36-E8F7-0517-BFE7-AD33F1397C6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634223" y="3811286"/>
                <a:ext cx="37620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AD21F10-3B95-63CD-6506-56BABB8D4DA6}"/>
                  </a:ext>
                </a:extLst>
              </p14:cNvPr>
              <p14:cNvContentPartPr/>
              <p14:nvPr/>
            </p14:nvContentPartPr>
            <p14:xfrm>
              <a:off x="5812903" y="3809486"/>
              <a:ext cx="4125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AD21F10-3B95-63CD-6506-56BABB8D4DA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803911" y="3800486"/>
                <a:ext cx="430185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7E0AA845-2EEB-5A7C-D926-0BBF4BCC7AD6}"/>
              </a:ext>
            </a:extLst>
          </p:cNvPr>
          <p:cNvSpPr txBox="1"/>
          <p:nvPr/>
        </p:nvSpPr>
        <p:spPr>
          <a:xfrm>
            <a:off x="652072" y="5989320"/>
            <a:ext cx="10491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cost: (1x300) + (2x250) + (5x100) + (3x50) + (3x300) + (2x200) = $2750 </a:t>
            </a:r>
          </a:p>
        </p:txBody>
      </p:sp>
    </p:spTree>
    <p:extLst>
      <p:ext uri="{BB962C8B-B14F-4D97-AF65-F5344CB8AC3E}">
        <p14:creationId xmlns:p14="http://schemas.microsoft.com/office/powerpoint/2010/main" val="500478510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82</TotalTime>
  <Words>1849</Words>
  <Application>Microsoft Office PowerPoint</Application>
  <PresentationFormat>Widescreen</PresentationFormat>
  <Paragraphs>550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 Unicode MS</vt:lpstr>
      <vt:lpstr>Arial Rounded MT Bold</vt:lpstr>
      <vt:lpstr>Calibri</vt:lpstr>
      <vt:lpstr>Century Gothic</vt:lpstr>
      <vt:lpstr>Corbel</vt:lpstr>
      <vt:lpstr>Tahoma</vt:lpstr>
      <vt:lpstr>Wingdings 2</vt:lpstr>
      <vt:lpstr>Wingdings 3</vt:lpstr>
      <vt:lpstr>Frame</vt:lpstr>
      <vt:lpstr>Ion Boardroom</vt:lpstr>
      <vt:lpstr>Supply Chain Management &amp; Transportation Model</vt:lpstr>
      <vt:lpstr>PowerPoint Presentation</vt:lpstr>
      <vt:lpstr>PowerPoint Presentation</vt:lpstr>
      <vt:lpstr>PowerPoint Presentation</vt:lpstr>
      <vt:lpstr>Closed loop supply chain  and  Circular Economy</vt:lpstr>
      <vt:lpstr>PowerPoint Presentation</vt:lpstr>
      <vt:lpstr>PowerPoint Presentation</vt:lpstr>
      <vt:lpstr>PowerPoint Presentation</vt:lpstr>
      <vt:lpstr>A Framework for Structuring Drivers</vt:lpstr>
      <vt:lpstr>Drivers of Supply Chain Performance</vt:lpstr>
      <vt:lpstr>Drivers of Supply Chain Performance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LEAST COST METHOD</vt:lpstr>
      <vt:lpstr>PowerPoint Presentation</vt:lpstr>
      <vt:lpstr>PowerPoint Presentation</vt:lpstr>
      <vt:lpstr>PowerPoint Presentation</vt:lpstr>
      <vt:lpstr>PowerPoint Presentation</vt:lpstr>
      <vt:lpstr>Unbalanced Transportation Problems</vt:lpstr>
      <vt:lpstr>PowerPoint Presentation</vt:lpstr>
      <vt:lpstr>PowerPoint Presentation</vt:lpstr>
      <vt:lpstr>PowerPoint Presentation</vt:lpstr>
      <vt:lpstr>Solution (Without Dummy)</vt:lpstr>
      <vt:lpstr>PowerPoint Presentation</vt:lpstr>
      <vt:lpstr>PowerPoint Presentation</vt:lpstr>
      <vt:lpstr>PowerPoint Presentation</vt:lpstr>
      <vt:lpstr>Practical problem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Management</dc:title>
  <dc:subject>Engineering Management</dc:subject>
  <dc:creator>Stanley Rodrick</dc:creator>
  <cp:keywords>Chapter # 11</cp:keywords>
  <cp:lastModifiedBy>Hasibul Islam</cp:lastModifiedBy>
  <cp:revision>3</cp:revision>
  <dcterms:created xsi:type="dcterms:W3CDTF">2022-06-18T14:31:37Z</dcterms:created>
  <dcterms:modified xsi:type="dcterms:W3CDTF">2025-12-03T05:47:54Z</dcterms:modified>
</cp:coreProperties>
</file>