
<file path=[Content_Types].xml><?xml version="1.0" encoding="utf-8"?>
<Types xmlns="http://schemas.openxmlformats.org/package/2006/content-types">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s/slide18.xml" ContentType="application/vnd.openxmlformats-officedocument.presentationml.sl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6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00071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68926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4660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71173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6345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386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7764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99747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
        <p:nvSpPr>
          <p:cNvPr id="5" name="Date Placeholder 4"/>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3462279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28851740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80109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69611516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855565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13992904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162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1306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155381766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2855912" y="2514600"/>
            <a:ext cx="6480175" cy="12954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5400"/>
              <a:buFont typeface="Twentieth Century"/>
              <a:buNone/>
            </a:pPr>
            <a:r>
              <a:rPr lang="en-US" sz="5400" b="1" i="0" u="none" dirty="0">
                <a:solidFill>
                  <a:schemeClr val="accent2">
                    <a:lumMod val="75000"/>
                  </a:schemeClr>
                </a:solidFill>
                <a:latin typeface="Twentieth Century"/>
                <a:ea typeface="Twentieth Century"/>
                <a:cs typeface="Twentieth Century"/>
                <a:sym typeface="Twentieth Century"/>
              </a:rPr>
              <a:t>Interview preparation</a:t>
            </a:r>
            <a:endParaRPr b="1" dirty="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1028700" y="443132"/>
            <a:ext cx="10134600" cy="1066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Twentieth Century"/>
              <a:buNone/>
            </a:pPr>
            <a:r>
              <a:rPr lang="en-US" sz="3600" b="1" i="0" u="none" dirty="0">
                <a:solidFill>
                  <a:schemeClr val="accent1">
                    <a:lumMod val="50000"/>
                  </a:schemeClr>
                </a:solidFill>
                <a:latin typeface="Twentieth Century"/>
                <a:ea typeface="Twentieth Century"/>
                <a:cs typeface="Twentieth Century"/>
                <a:sym typeface="Twentieth Century"/>
              </a:rPr>
              <a:t>In the beginning.. The Job Search</a:t>
            </a:r>
            <a:endParaRPr b="1" dirty="0">
              <a:solidFill>
                <a:schemeClr val="accent1">
                  <a:lumMod val="50000"/>
                </a:schemeClr>
              </a:solidFill>
            </a:endParaRPr>
          </a:p>
        </p:txBody>
      </p:sp>
      <p:sp>
        <p:nvSpPr>
          <p:cNvPr id="90" name="Google Shape;90;p14"/>
          <p:cNvSpPr txBox="1">
            <a:spLocks noGrp="1"/>
          </p:cNvSpPr>
          <p:nvPr>
            <p:ph idx="1"/>
          </p:nvPr>
        </p:nvSpPr>
        <p:spPr>
          <a:xfrm>
            <a:off x="838200" y="1828800"/>
            <a:ext cx="10591800" cy="43434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Twentieth Century"/>
                <a:ea typeface="Twentieth Century"/>
                <a:cs typeface="Twentieth Century"/>
                <a:sym typeface="Twentieth Century"/>
              </a:rPr>
              <a:t>Read the duties and the knowledge, skills and abilities required of each position </a:t>
            </a:r>
            <a:r>
              <a:rPr lang="en-US" sz="2000" b="0" i="0" u="sng" strike="noStrike" cap="none">
                <a:solidFill>
                  <a:schemeClr val="dk1"/>
                </a:solidFill>
                <a:latin typeface="Twentieth Century"/>
                <a:ea typeface="Twentieth Century"/>
                <a:cs typeface="Twentieth Century"/>
                <a:sym typeface="Twentieth Century"/>
              </a:rPr>
              <a:t>CAREFULLY</a:t>
            </a:r>
            <a:r>
              <a:rPr lang="en-US" sz="2000" b="0" i="0" u="none" strike="noStrike" cap="none">
                <a:solidFill>
                  <a:schemeClr val="dk1"/>
                </a:solidFill>
                <a:latin typeface="Twentieth Century"/>
                <a:ea typeface="Twentieth Century"/>
                <a:cs typeface="Twentieth Century"/>
                <a:sym typeface="Twentieth Century"/>
              </a:rPr>
              <a:t> before applying.</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a:solidFill>
                  <a:schemeClr val="dk1"/>
                </a:solidFill>
                <a:latin typeface="Twentieth Century"/>
                <a:ea typeface="Twentieth Century"/>
                <a:cs typeface="Twentieth Century"/>
                <a:sym typeface="Twentieth Century"/>
              </a:rPr>
              <a:t>Assess the value of what you have to offer to each position and the organization.  How does your experience apply to what is required for the job?  Think deeply about yourself:  How have you grown over time?  How do you interact with others?  What could you have done differently for better results?  What motivates you? </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a:solidFill>
                  <a:schemeClr val="dk1"/>
                </a:solidFill>
                <a:latin typeface="Twentieth Century"/>
                <a:ea typeface="Twentieth Century"/>
                <a:cs typeface="Twentieth Century"/>
                <a:sym typeface="Twentieth Century"/>
              </a:rPr>
              <a:t>Become familiar with the organization so you can demonstrate how and why you will be an effective employee.  Ask the agency or company to send you material (brochure, job description, newsletter, etc.)</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a:solidFill>
                  <a:schemeClr val="dk1"/>
                </a:solidFill>
                <a:latin typeface="Twentieth Century"/>
                <a:ea typeface="Twentieth Century"/>
                <a:cs typeface="Twentieth Century"/>
                <a:sym typeface="Twentieth Century"/>
              </a:rPr>
              <a:t>Be realistic!  Know your qualifications and limitations.  Wanting a job does not necessarily mean you’re qualified for it.  Also, a job that pays well for duties you don’t like will not be rewarding in the long run.</a:t>
            </a:r>
            <a:endParaRPr/>
          </a:p>
          <a:p>
            <a:pPr marL="228600" marR="0" lvl="0" indent="-76200" algn="l" rtl="0">
              <a:lnSpc>
                <a:spcPct val="90000"/>
              </a:lnSpc>
              <a:spcBef>
                <a:spcPts val="1000"/>
              </a:spcBef>
              <a:spcAft>
                <a:spcPts val="0"/>
              </a:spcAft>
              <a:buClr>
                <a:schemeClr val="dk1"/>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a:p>
            <a:pPr marL="228600" marR="0" lvl="0" indent="-76200" algn="l" rtl="0">
              <a:lnSpc>
                <a:spcPct val="90000"/>
              </a:lnSpc>
              <a:spcBef>
                <a:spcPts val="1000"/>
              </a:spcBef>
              <a:spcAft>
                <a:spcPts val="0"/>
              </a:spcAft>
              <a:buClr>
                <a:schemeClr val="dk1"/>
              </a:buClr>
              <a:buSzPts val="2400"/>
              <a:buFont typeface="Arial"/>
              <a:buNone/>
            </a:pPr>
            <a:endParaRPr sz="2400" b="0" i="0" u="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990600" y="457200"/>
            <a:ext cx="9067800" cy="838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1" i="0" u="none" dirty="0">
                <a:solidFill>
                  <a:schemeClr val="accent1">
                    <a:lumMod val="50000"/>
                  </a:schemeClr>
                </a:solidFill>
                <a:latin typeface="Twentieth Century"/>
                <a:ea typeface="Twentieth Century"/>
                <a:cs typeface="Twentieth Century"/>
                <a:sym typeface="Twentieth Century"/>
              </a:rPr>
              <a:t>Applications &amp; Resumes</a:t>
            </a:r>
            <a:endParaRPr b="1" dirty="0">
              <a:solidFill>
                <a:schemeClr val="accent1">
                  <a:lumMod val="50000"/>
                </a:schemeClr>
              </a:solidFill>
            </a:endParaRPr>
          </a:p>
        </p:txBody>
      </p:sp>
      <p:sp>
        <p:nvSpPr>
          <p:cNvPr id="96" name="Google Shape;96;p15"/>
          <p:cNvSpPr txBox="1">
            <a:spLocks noGrp="1"/>
          </p:cNvSpPr>
          <p:nvPr>
            <p:ph idx="1"/>
          </p:nvPr>
        </p:nvSpPr>
        <p:spPr>
          <a:xfrm>
            <a:off x="838200" y="1524000"/>
            <a:ext cx="10439400" cy="4876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Fully complete the given application (if any) without being too wordy.  CVs and Resumes should be brief and ERROR FREE!</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Make sure all information is accurate and captures your qualifications + what you have done in each previous job.</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Document your qualifications.  </a:t>
            </a:r>
            <a:r>
              <a:rPr lang="en-US" sz="2800" b="0" i="0" u="sng">
                <a:solidFill>
                  <a:schemeClr val="dk1"/>
                </a:solidFill>
                <a:latin typeface="Twentieth Century"/>
                <a:ea typeface="Twentieth Century"/>
                <a:cs typeface="Twentieth Century"/>
                <a:sym typeface="Twentieth Century"/>
              </a:rPr>
              <a:t>NEVER</a:t>
            </a:r>
            <a:r>
              <a:rPr lang="en-US" sz="2800" b="0" i="0" u="none">
                <a:solidFill>
                  <a:schemeClr val="dk1"/>
                </a:solidFill>
                <a:latin typeface="Twentieth Century"/>
                <a:ea typeface="Twentieth Century"/>
                <a:cs typeface="Twentieth Century"/>
                <a:sym typeface="Twentieth Century"/>
              </a:rPr>
              <a:t> assume anything.  </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The application </a:t>
            </a:r>
            <a:r>
              <a:rPr lang="en-US" sz="2800" b="0" i="0" u="sng">
                <a:solidFill>
                  <a:schemeClr val="dk1"/>
                </a:solidFill>
                <a:latin typeface="Twentieth Century"/>
                <a:ea typeface="Twentieth Century"/>
                <a:cs typeface="Twentieth Century"/>
                <a:sym typeface="Twentieth Century"/>
              </a:rPr>
              <a:t>DEADLINE</a:t>
            </a:r>
            <a:r>
              <a:rPr lang="en-US" sz="2800" b="0" i="0" u="none">
                <a:solidFill>
                  <a:schemeClr val="dk1"/>
                </a:solidFill>
                <a:latin typeface="Twentieth Century"/>
                <a:ea typeface="Twentieth Century"/>
                <a:cs typeface="Twentieth Century"/>
                <a:sym typeface="Twentieth Century"/>
              </a:rPr>
              <a:t> date is exactly that.  Plan ahead!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1" i="0" u="none" dirty="0">
                <a:solidFill>
                  <a:schemeClr val="accent1">
                    <a:lumMod val="50000"/>
                  </a:schemeClr>
                </a:solidFill>
                <a:latin typeface="Twentieth Century"/>
                <a:ea typeface="Twentieth Century"/>
                <a:cs typeface="Twentieth Century"/>
                <a:sym typeface="Twentieth Century"/>
              </a:rPr>
              <a:t>Before The Interview</a:t>
            </a:r>
            <a:endParaRPr b="1" dirty="0">
              <a:solidFill>
                <a:schemeClr val="accent1">
                  <a:lumMod val="50000"/>
                </a:schemeClr>
              </a:solidFill>
            </a:endParaRPr>
          </a:p>
        </p:txBody>
      </p:sp>
      <p:sp>
        <p:nvSpPr>
          <p:cNvPr id="102" name="Google Shape;102;p16"/>
          <p:cNvSpPr txBox="1">
            <a:spLocks noGrp="1"/>
          </p:cNvSpPr>
          <p:nvPr>
            <p:ph idx="1"/>
          </p:nvPr>
        </p:nvSpPr>
        <p:spPr>
          <a:xfrm>
            <a:off x="838200" y="1828800"/>
            <a:ext cx="10515600" cy="4348162"/>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Research the potential employer</a:t>
            </a:r>
            <a:endParaRPr dirty="0"/>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Review the job description and be able to match your experience and education with the duties of the position</a:t>
            </a:r>
            <a:endParaRPr dirty="0"/>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Prepare a 1-to-2-minute script about yourself</a:t>
            </a:r>
            <a:endParaRPr dirty="0"/>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Make sure you have the appropriate interview attire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2000"/>
                                        <p:tgtEl>
                                          <p:spTgt spid="10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
                                            <p:txEl>
                                              <p:pRg st="1" end="1"/>
                                            </p:txEl>
                                          </p:spTgt>
                                        </p:tgtEl>
                                        <p:attrNameLst>
                                          <p:attrName>style.visibility</p:attrName>
                                        </p:attrNameLst>
                                      </p:cBhvr>
                                      <p:to>
                                        <p:strVal val="visible"/>
                                      </p:to>
                                    </p:set>
                                    <p:animEffect transition="in" filter="fade">
                                      <p:cBhvr>
                                        <p:cTn id="10" dur="2000"/>
                                        <p:tgtEl>
                                          <p:spTgt spid="10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xEl>
                                              <p:pRg st="2" end="2"/>
                                            </p:txEl>
                                          </p:spTgt>
                                        </p:tgtEl>
                                        <p:attrNameLst>
                                          <p:attrName>style.visibility</p:attrName>
                                        </p:attrNameLst>
                                      </p:cBhvr>
                                      <p:to>
                                        <p:strVal val="visible"/>
                                      </p:to>
                                    </p:set>
                                    <p:animEffect transition="in" filter="fade">
                                      <p:cBhvr>
                                        <p:cTn id="13" dur="2000"/>
                                        <p:tgtEl>
                                          <p:spTgt spid="10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xEl>
                                              <p:pRg st="3" end="3"/>
                                            </p:txEl>
                                          </p:spTgt>
                                        </p:tgtEl>
                                        <p:attrNameLst>
                                          <p:attrName>style.visibility</p:attrName>
                                        </p:attrNameLst>
                                      </p:cBhvr>
                                      <p:to>
                                        <p:strVal val="visible"/>
                                      </p:to>
                                    </p:set>
                                    <p:animEffect transition="in" filter="fade">
                                      <p:cBhvr>
                                        <p:cTn id="16" dur="2000"/>
                                        <p:tgtEl>
                                          <p:spTgt spid="10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6"/>
        <p:cNvGrpSpPr/>
        <p:nvPr/>
      </p:nvGrpSpPr>
      <p:grpSpPr>
        <a:xfrm>
          <a:off x="0" y="0"/>
          <a:ext cx="0" cy="0"/>
          <a:chOff x="0" y="0"/>
          <a:chExt cx="0" cy="0"/>
        </a:xfrm>
      </p:grpSpPr>
      <p:sp useBgFill="1">
        <p:nvSpPr>
          <p:cNvPr id="112" name="Rectangle 112">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Google Shape;107;p17"/>
          <p:cNvSpPr txBox="1">
            <a:spLocks noGrp="1"/>
          </p:cNvSpPr>
          <p:nvPr>
            <p:ph type="title"/>
          </p:nvPr>
        </p:nvSpPr>
        <p:spPr>
          <a:xfrm>
            <a:off x="1333502" y="609600"/>
            <a:ext cx="8596668" cy="1320800"/>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Twentieth Century"/>
              <a:buNone/>
            </a:pPr>
            <a:r>
              <a:rPr lang="en-US" b="1" i="0" u="none" dirty="0">
                <a:solidFill>
                  <a:schemeClr val="accent1">
                    <a:lumMod val="50000"/>
                  </a:schemeClr>
                </a:solidFill>
                <a:latin typeface="Twentieth Century"/>
                <a:ea typeface="Twentieth Century"/>
                <a:cs typeface="Twentieth Century"/>
                <a:sym typeface="Twentieth Century"/>
              </a:rPr>
              <a:t>Tips Regarding Attire (Men)</a:t>
            </a:r>
            <a:endParaRPr lang="en-US" b="1" dirty="0">
              <a:solidFill>
                <a:schemeClr val="accent1">
                  <a:lumMod val="50000"/>
                </a:schemeClr>
              </a:solidFill>
            </a:endParaRPr>
          </a:p>
        </p:txBody>
      </p:sp>
      <p:sp>
        <p:nvSpPr>
          <p:cNvPr id="115" name="Isosceles Triangle 114">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7" name="Isosceles Triangle 116">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119" name="Straight Connector 118">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108" name="Google Shape;108;p17"/>
          <p:cNvSpPr txBox="1">
            <a:spLocks noGrp="1"/>
          </p:cNvSpPr>
          <p:nvPr>
            <p:ph idx="1"/>
          </p:nvPr>
        </p:nvSpPr>
        <p:spPr>
          <a:xfrm>
            <a:off x="1333502" y="2160590"/>
            <a:ext cx="8470898" cy="4324616"/>
          </a:xfrm>
          <a:prstGeom prst="rect">
            <a:avLst/>
          </a:prstGeom>
        </p:spPr>
        <p:txBody>
          <a:bodyPr spcFirstLastPara="1" lIns="91425" tIns="45700" rIns="91425" bIns="45700" anchorCtr="0">
            <a:normAutofit/>
          </a:bodyPr>
          <a:lstStyle/>
          <a:p>
            <a:pPr marL="228600" marR="0" lvl="0" indent="-228600" rtl="0">
              <a:spcBef>
                <a:spcPts val="0"/>
              </a:spcBef>
              <a:spcAft>
                <a:spcPts val="0"/>
              </a:spcAft>
              <a:buClr>
                <a:schemeClr val="dk1"/>
              </a:buClr>
              <a:buSzPts val="2600"/>
              <a:buFont typeface="Arial"/>
              <a:buChar char="•"/>
            </a:pPr>
            <a:r>
              <a:rPr lang="en-US" sz="2400" b="0" i="0" u="none" dirty="0">
                <a:latin typeface="Twentieth Century"/>
                <a:ea typeface="Twentieth Century"/>
                <a:cs typeface="Twentieth Century"/>
                <a:sym typeface="Twentieth Century"/>
              </a:rPr>
              <a:t>If possible, wear a suit to the interview. Otherwise, formal trousers and full-sleeve shirt.</a:t>
            </a:r>
            <a:endParaRPr lang="en-US" sz="2400" dirty="0"/>
          </a:p>
          <a:p>
            <a:pPr marL="228600" marR="0" lvl="0" indent="-228600" rtl="0">
              <a:spcBef>
                <a:spcPts val="1000"/>
              </a:spcBef>
              <a:spcAft>
                <a:spcPts val="0"/>
              </a:spcAft>
              <a:buClr>
                <a:schemeClr val="dk1"/>
              </a:buClr>
              <a:buSzPts val="2600"/>
              <a:buFont typeface="Arial"/>
              <a:buChar char="•"/>
            </a:pPr>
            <a:r>
              <a:rPr lang="en-US" sz="2400" b="0" i="0" u="none" dirty="0">
                <a:latin typeface="Twentieth Century"/>
                <a:ea typeface="Twentieth Century"/>
                <a:cs typeface="Twentieth Century"/>
                <a:sym typeface="Twentieth Century"/>
              </a:rPr>
              <a:t>Belt and shoes should be same color</a:t>
            </a:r>
            <a:endParaRPr lang="en-US" sz="2400" dirty="0"/>
          </a:p>
          <a:p>
            <a:pPr marL="228600" marR="0" lvl="0" indent="-228600" rtl="0">
              <a:spcBef>
                <a:spcPts val="1000"/>
              </a:spcBef>
              <a:spcAft>
                <a:spcPts val="0"/>
              </a:spcAft>
              <a:buClr>
                <a:schemeClr val="dk1"/>
              </a:buClr>
              <a:buSzPts val="2600"/>
              <a:buFont typeface="Arial"/>
              <a:buChar char="•"/>
            </a:pPr>
            <a:r>
              <a:rPr lang="en-US" sz="2400" b="0" i="0" u="none" dirty="0">
                <a:latin typeface="Twentieth Century"/>
                <a:ea typeface="Twentieth Century"/>
                <a:cs typeface="Twentieth Century"/>
                <a:sym typeface="Twentieth Century"/>
              </a:rPr>
              <a:t>Avoid ties with elaborate patterns or too many colors</a:t>
            </a:r>
            <a:endParaRPr lang="en-US" sz="2400" dirty="0"/>
          </a:p>
          <a:p>
            <a:pPr marL="228600" marR="0" lvl="0" indent="-228600" rtl="0">
              <a:spcBef>
                <a:spcPts val="1000"/>
              </a:spcBef>
              <a:spcAft>
                <a:spcPts val="0"/>
              </a:spcAft>
              <a:buClr>
                <a:schemeClr val="dk1"/>
              </a:buClr>
              <a:buSzPts val="2600"/>
              <a:buFont typeface="Arial"/>
              <a:buChar char="•"/>
            </a:pPr>
            <a:r>
              <a:rPr lang="en-US" sz="2400" b="0" i="0" u="none" dirty="0">
                <a:latin typeface="Twentieth Century"/>
                <a:ea typeface="Twentieth Century"/>
                <a:cs typeface="Twentieth Century"/>
                <a:sym typeface="Twentieth Century"/>
              </a:rPr>
              <a:t>A wedding ring and/or watch is generally the only jewelry that should be worn</a:t>
            </a:r>
            <a:endParaRPr lang="en-US" sz="2400" dirty="0"/>
          </a:p>
          <a:p>
            <a:pPr marL="228600" marR="0" lvl="0" indent="-228600" rtl="0">
              <a:spcBef>
                <a:spcPts val="1000"/>
              </a:spcBef>
              <a:spcAft>
                <a:spcPts val="0"/>
              </a:spcAft>
              <a:buClr>
                <a:schemeClr val="dk1"/>
              </a:buClr>
              <a:buSzPts val="2600"/>
              <a:buFont typeface="Arial"/>
              <a:buChar char="•"/>
            </a:pPr>
            <a:r>
              <a:rPr lang="en-US" sz="2400" b="0" i="0" u="none" dirty="0">
                <a:latin typeface="Twentieth Century"/>
                <a:ea typeface="Twentieth Century"/>
                <a:cs typeface="Twentieth Century"/>
                <a:sym typeface="Twentieth Century"/>
              </a:rPr>
              <a:t>Head to Toe: Hair should be well groomed, and shoes should be polished</a:t>
            </a:r>
          </a:p>
          <a:p>
            <a:pPr marL="228600" marR="0" lvl="0" indent="-228600" rtl="0">
              <a:spcBef>
                <a:spcPts val="1000"/>
              </a:spcBef>
              <a:spcAft>
                <a:spcPts val="0"/>
              </a:spcAft>
              <a:buClr>
                <a:schemeClr val="dk1"/>
              </a:buClr>
              <a:buSzPts val="2600"/>
              <a:buFont typeface="Arial"/>
              <a:buChar char="•"/>
            </a:pPr>
            <a:r>
              <a:rPr lang="en-US" sz="2400" dirty="0"/>
              <a:t>Avoid strong perfumes</a:t>
            </a:r>
          </a:p>
          <a:p>
            <a:pPr marL="228600" marR="0" lvl="0" indent="-228600" rtl="0">
              <a:spcBef>
                <a:spcPts val="1000"/>
              </a:spcBef>
              <a:spcAft>
                <a:spcPts val="0"/>
              </a:spcAft>
              <a:buClr>
                <a:schemeClr val="dk1"/>
              </a:buClr>
              <a:buSzPts val="2600"/>
              <a:buFont typeface="Arial"/>
              <a:buChar char="•"/>
            </a:pPr>
            <a:endParaRPr lang="en-US" dirty="0"/>
          </a:p>
        </p:txBody>
      </p:sp>
      <p:sp>
        <p:nvSpPr>
          <p:cNvPr id="123"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xEl>
                                              <p:pRg st="0" end="0"/>
                                            </p:txEl>
                                          </p:spTgt>
                                        </p:tgtEl>
                                        <p:attrNameLst>
                                          <p:attrName>style.visibility</p:attrName>
                                        </p:attrNameLst>
                                      </p:cBhvr>
                                      <p:to>
                                        <p:strVal val="visible"/>
                                      </p:to>
                                    </p:set>
                                    <p:animEffect transition="in" filter="fade">
                                      <p:cBhvr>
                                        <p:cTn id="7" dur="2000"/>
                                        <p:tgtEl>
                                          <p:spTgt spid="10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8">
                                            <p:txEl>
                                              <p:pRg st="1" end="1"/>
                                            </p:txEl>
                                          </p:spTgt>
                                        </p:tgtEl>
                                        <p:attrNameLst>
                                          <p:attrName>style.visibility</p:attrName>
                                        </p:attrNameLst>
                                      </p:cBhvr>
                                      <p:to>
                                        <p:strVal val="visible"/>
                                      </p:to>
                                    </p:set>
                                    <p:animEffect transition="in" filter="fade">
                                      <p:cBhvr>
                                        <p:cTn id="10" dur="2000"/>
                                        <p:tgtEl>
                                          <p:spTgt spid="10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8">
                                            <p:txEl>
                                              <p:pRg st="2" end="2"/>
                                            </p:txEl>
                                          </p:spTgt>
                                        </p:tgtEl>
                                        <p:attrNameLst>
                                          <p:attrName>style.visibility</p:attrName>
                                        </p:attrNameLst>
                                      </p:cBhvr>
                                      <p:to>
                                        <p:strVal val="visible"/>
                                      </p:to>
                                    </p:set>
                                    <p:animEffect transition="in" filter="fade">
                                      <p:cBhvr>
                                        <p:cTn id="13" dur="2000"/>
                                        <p:tgtEl>
                                          <p:spTgt spid="10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8">
                                            <p:txEl>
                                              <p:pRg st="3" end="3"/>
                                            </p:txEl>
                                          </p:spTgt>
                                        </p:tgtEl>
                                        <p:attrNameLst>
                                          <p:attrName>style.visibility</p:attrName>
                                        </p:attrNameLst>
                                      </p:cBhvr>
                                      <p:to>
                                        <p:strVal val="visible"/>
                                      </p:to>
                                    </p:set>
                                    <p:animEffect transition="in" filter="fade">
                                      <p:cBhvr>
                                        <p:cTn id="16" dur="2000"/>
                                        <p:tgtEl>
                                          <p:spTgt spid="10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8">
                                            <p:txEl>
                                              <p:pRg st="4" end="4"/>
                                            </p:txEl>
                                          </p:spTgt>
                                        </p:tgtEl>
                                        <p:attrNameLst>
                                          <p:attrName>style.visibility</p:attrName>
                                        </p:attrNameLst>
                                      </p:cBhvr>
                                      <p:to>
                                        <p:strVal val="visible"/>
                                      </p:to>
                                    </p:set>
                                    <p:animEffect transition="in" filter="fade">
                                      <p:cBhvr>
                                        <p:cTn id="19" dur="2000"/>
                                        <p:tgtEl>
                                          <p:spTgt spid="108">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8">
                                            <p:txEl>
                                              <p:pRg st="5" end="5"/>
                                            </p:txEl>
                                          </p:spTgt>
                                        </p:tgtEl>
                                        <p:attrNameLst>
                                          <p:attrName>style.visibility</p:attrName>
                                        </p:attrNameLst>
                                      </p:cBhvr>
                                      <p:to>
                                        <p:strVal val="visible"/>
                                      </p:to>
                                    </p:set>
                                    <p:animEffect transition="in" filter="fade">
                                      <p:cBhvr>
                                        <p:cTn id="22" dur="2000"/>
                                        <p:tgtEl>
                                          <p:spTgt spid="10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1" i="0" u="none" dirty="0">
                <a:solidFill>
                  <a:schemeClr val="accent1">
                    <a:lumMod val="50000"/>
                  </a:schemeClr>
                </a:solidFill>
                <a:latin typeface="Twentieth Century"/>
                <a:ea typeface="Twentieth Century"/>
                <a:cs typeface="Twentieth Century"/>
                <a:sym typeface="Twentieth Century"/>
              </a:rPr>
              <a:t>Tips Regarding Attire (Women)</a:t>
            </a:r>
            <a:endParaRPr b="1" dirty="0">
              <a:solidFill>
                <a:schemeClr val="accent1">
                  <a:lumMod val="50000"/>
                </a:schemeClr>
              </a:solidFill>
            </a:endParaRPr>
          </a:p>
        </p:txBody>
      </p:sp>
      <p:sp>
        <p:nvSpPr>
          <p:cNvPr id="117" name="Google Shape;117;p18"/>
          <p:cNvSpPr txBox="1">
            <a:spLocks noGrp="1"/>
          </p:cNvSpPr>
          <p:nvPr>
            <p:ph idx="1"/>
          </p:nvPr>
        </p:nvSpPr>
        <p:spPr>
          <a:xfrm>
            <a:off x="838200" y="1825625"/>
            <a:ext cx="10219006" cy="435133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dirty="0">
                <a:solidFill>
                  <a:schemeClr val="tx1"/>
                </a:solidFill>
                <a:latin typeface="Twentieth Century"/>
                <a:ea typeface="Twentieth Century"/>
                <a:cs typeface="Twentieth Century"/>
                <a:sym typeface="Twentieth Century"/>
              </a:rPr>
              <a:t>A suit or dress is preferable</a:t>
            </a:r>
          </a:p>
          <a:p>
            <a:pPr marL="228600" marR="0" lvl="0" indent="-228600" algn="l" rtl="0">
              <a:lnSpc>
                <a:spcPct val="90000"/>
              </a:lnSpc>
              <a:spcBef>
                <a:spcPts val="0"/>
              </a:spcBef>
              <a:spcAft>
                <a:spcPts val="0"/>
              </a:spcAft>
              <a:buClr>
                <a:schemeClr val="dk1"/>
              </a:buClr>
              <a:buSzPts val="2800"/>
              <a:buFont typeface="Arial"/>
              <a:buChar char="•"/>
            </a:pPr>
            <a:endParaRPr lang="en-US" sz="2800" dirty="0">
              <a:solidFill>
                <a:schemeClr val="tx1"/>
              </a:solidFill>
              <a:latin typeface="Twentieth Century"/>
              <a:sym typeface="Twentieth Century"/>
            </a:endParaRPr>
          </a:p>
          <a:p>
            <a:pPr marL="228600" marR="0" lvl="0" indent="-228600" algn="l" rtl="0">
              <a:lnSpc>
                <a:spcPct val="90000"/>
              </a:lnSpc>
              <a:spcBef>
                <a:spcPts val="0"/>
              </a:spcBef>
              <a:spcAft>
                <a:spcPts val="0"/>
              </a:spcAft>
              <a:buClr>
                <a:schemeClr val="dk1"/>
              </a:buClr>
              <a:buSzPts val="2800"/>
              <a:buFont typeface="Arial"/>
              <a:buChar char="•"/>
            </a:pPr>
            <a:r>
              <a:rPr lang="en-US" sz="2800" dirty="0">
                <a:solidFill>
                  <a:schemeClr val="tx1"/>
                </a:solidFill>
              </a:rPr>
              <a:t>If </a:t>
            </a:r>
            <a:r>
              <a:rPr lang="en-US" sz="2800" dirty="0">
                <a:solidFill>
                  <a:schemeClr val="tx1"/>
                </a:solidFill>
                <a:latin typeface="Twentieth Century"/>
              </a:rPr>
              <a:t>wearing traditional attire (Saree or salwar), avoid using elaborate patterns or too many colors</a:t>
            </a:r>
            <a:endParaRPr sz="2800" dirty="0">
              <a:solidFill>
                <a:schemeClr val="tx1"/>
              </a:solidFill>
              <a:latin typeface="Twentieth Century"/>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tx1"/>
                </a:solidFill>
                <a:latin typeface="Twentieth Century"/>
                <a:ea typeface="Twentieth Century"/>
                <a:cs typeface="Twentieth Century"/>
                <a:sym typeface="Twentieth Century"/>
              </a:rPr>
              <a:t>Skirts (if applicable) should meet at the top of the knee or longer</a:t>
            </a:r>
            <a:endParaRPr sz="2800" dirty="0">
              <a:solidFill>
                <a:schemeClr val="tx1"/>
              </a:solidFill>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tx1"/>
                </a:solidFill>
                <a:latin typeface="Twentieth Century"/>
                <a:ea typeface="Twentieth Century"/>
                <a:cs typeface="Twentieth Century"/>
                <a:sym typeface="Twentieth Century"/>
              </a:rPr>
              <a:t>The amount of jewelry should be minimized</a:t>
            </a:r>
            <a:endParaRPr sz="2800" dirty="0">
              <a:solidFill>
                <a:schemeClr val="tx1"/>
              </a:solidFill>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tx1"/>
                </a:solidFill>
                <a:latin typeface="Twentieth Century"/>
                <a:ea typeface="Twentieth Century"/>
                <a:cs typeface="Twentieth Century"/>
                <a:sym typeface="Twentieth Century"/>
              </a:rPr>
              <a:t>Make-up should be light</a:t>
            </a:r>
            <a:endParaRPr sz="2800" dirty="0">
              <a:solidFill>
                <a:schemeClr val="tx1"/>
              </a:solidFill>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tx1"/>
                </a:solidFill>
                <a:latin typeface="Twentieth Century"/>
                <a:ea typeface="Twentieth Century"/>
                <a:cs typeface="Twentieth Century"/>
                <a:sym typeface="Twentieth Century"/>
              </a:rPr>
              <a:t>Avoid strong perfumes</a:t>
            </a:r>
            <a:endParaRPr sz="2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1000"/>
                                        <p:tgtEl>
                                          <p:spTgt spid="1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7">
                                            <p:txEl>
                                              <p:pRg st="2" end="2"/>
                                            </p:txEl>
                                          </p:spTgt>
                                        </p:tgtEl>
                                        <p:attrNameLst>
                                          <p:attrName>style.visibility</p:attrName>
                                        </p:attrNameLst>
                                      </p:cBhvr>
                                      <p:to>
                                        <p:strVal val="visible"/>
                                      </p:to>
                                    </p:set>
                                    <p:animEffect transition="in" filter="fade">
                                      <p:cBhvr>
                                        <p:cTn id="10" dur="1000"/>
                                        <p:tgtEl>
                                          <p:spTgt spid="11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7">
                                            <p:txEl>
                                              <p:pRg st="3" end="3"/>
                                            </p:txEl>
                                          </p:spTgt>
                                        </p:tgtEl>
                                        <p:attrNameLst>
                                          <p:attrName>style.visibility</p:attrName>
                                        </p:attrNameLst>
                                      </p:cBhvr>
                                      <p:to>
                                        <p:strVal val="visible"/>
                                      </p:to>
                                    </p:set>
                                    <p:animEffect transition="in" filter="fade">
                                      <p:cBhvr>
                                        <p:cTn id="13" dur="1000"/>
                                        <p:tgtEl>
                                          <p:spTgt spid="117">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7">
                                            <p:txEl>
                                              <p:pRg st="4" end="4"/>
                                            </p:txEl>
                                          </p:spTgt>
                                        </p:tgtEl>
                                        <p:attrNameLst>
                                          <p:attrName>style.visibility</p:attrName>
                                        </p:attrNameLst>
                                      </p:cBhvr>
                                      <p:to>
                                        <p:strVal val="visible"/>
                                      </p:to>
                                    </p:set>
                                    <p:animEffect transition="in" filter="fade">
                                      <p:cBhvr>
                                        <p:cTn id="16" dur="1000"/>
                                        <p:tgtEl>
                                          <p:spTgt spid="117">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xEl>
                                              <p:pRg st="5" end="5"/>
                                            </p:txEl>
                                          </p:spTgt>
                                        </p:tgtEl>
                                        <p:attrNameLst>
                                          <p:attrName>style.visibility</p:attrName>
                                        </p:attrNameLst>
                                      </p:cBhvr>
                                      <p:to>
                                        <p:strVal val="visible"/>
                                      </p:to>
                                    </p:set>
                                    <p:animEffect transition="in" filter="fade">
                                      <p:cBhvr>
                                        <p:cTn id="19" dur="1000"/>
                                        <p:tgtEl>
                                          <p:spTgt spid="117">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7">
                                            <p:txEl>
                                              <p:pRg st="6" end="6"/>
                                            </p:txEl>
                                          </p:spTgt>
                                        </p:tgtEl>
                                        <p:attrNameLst>
                                          <p:attrName>style.visibility</p:attrName>
                                        </p:attrNameLst>
                                      </p:cBhvr>
                                      <p:to>
                                        <p:strVal val="visible"/>
                                      </p:to>
                                    </p:set>
                                    <p:animEffect transition="in" filter="fade">
                                      <p:cBhvr>
                                        <p:cTn id="22" dur="1000"/>
                                        <p:tgtEl>
                                          <p:spTgt spid="1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1" i="0" u="none" dirty="0">
                <a:solidFill>
                  <a:schemeClr val="accent2">
                    <a:lumMod val="75000"/>
                  </a:schemeClr>
                </a:solidFill>
                <a:latin typeface="Twentieth Century"/>
                <a:ea typeface="Twentieth Century"/>
                <a:cs typeface="Twentieth Century"/>
                <a:sym typeface="Twentieth Century"/>
              </a:rPr>
              <a:t>Starting The Interview</a:t>
            </a:r>
            <a:endParaRPr b="1" dirty="0">
              <a:solidFill>
                <a:schemeClr val="accent2">
                  <a:lumMod val="75000"/>
                </a:schemeClr>
              </a:solidFill>
            </a:endParaRPr>
          </a:p>
        </p:txBody>
      </p:sp>
      <p:sp>
        <p:nvSpPr>
          <p:cNvPr id="124" name="Google Shape;124;p19"/>
          <p:cNvSpPr txBox="1">
            <a:spLocks noGrp="1"/>
          </p:cNvSpPr>
          <p:nvPr>
            <p:ph sz="half" idx="1"/>
          </p:nvPr>
        </p:nvSpPr>
        <p:spPr>
          <a:xfrm>
            <a:off x="838200" y="1825625"/>
            <a:ext cx="10287000" cy="4351337"/>
          </a:xfrm>
          <a:prstGeom prst="rect">
            <a:avLst/>
          </a:prstGeom>
          <a:noFill/>
          <a:ln>
            <a:noFill/>
          </a:ln>
        </p:spPr>
        <p:txBody>
          <a:bodyPr spcFirstLastPara="1" wrap="square" lIns="91425" tIns="45700" rIns="91425" bIns="45700" anchor="t" anchorCtr="0">
            <a:noAutofit/>
          </a:bodyPr>
          <a:lstStyle/>
          <a:p>
            <a:pPr marL="493712" marR="0" lvl="0" indent="-457199"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Be sure to arrive 10 to 15 minutes prior to the start of the interview</a:t>
            </a:r>
            <a:endParaRPr dirty="0"/>
          </a:p>
          <a:p>
            <a:pPr marL="493712" marR="0" lvl="0" indent="-457199"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Greet the interviewer with a firm handshake (if applicable)</a:t>
            </a:r>
            <a:endParaRPr dirty="0"/>
          </a:p>
          <a:p>
            <a:pPr marL="493712" marR="0" lvl="0" indent="-457199"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Maintain good eye contact and posture</a:t>
            </a:r>
            <a:endParaRPr dirty="0"/>
          </a:p>
          <a:p>
            <a:pPr marL="493712" marR="0" lvl="0" indent="-457199"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Make sure you are energetic and enthusiastic</a:t>
            </a:r>
            <a:endParaRPr dirty="0"/>
          </a:p>
          <a:p>
            <a:pPr marL="493712" marR="0" lvl="0" indent="-457199"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Twentieth Century"/>
                <a:ea typeface="Twentieth Century"/>
                <a:cs typeface="Twentieth Century"/>
                <a:sym typeface="Twentieth Century"/>
              </a:rPr>
              <a:t>Speak clearly and articulate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762000" y="76200"/>
            <a:ext cx="9296400" cy="1295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Twentieth Century"/>
              <a:buNone/>
            </a:pPr>
            <a:br>
              <a:rPr lang="en-US" sz="3600" b="0" i="0" u="none" dirty="0">
                <a:solidFill>
                  <a:schemeClr val="dk1"/>
                </a:solidFill>
                <a:latin typeface="Twentieth Century"/>
                <a:ea typeface="Twentieth Century"/>
                <a:cs typeface="Twentieth Century"/>
                <a:sym typeface="Twentieth Century"/>
              </a:rPr>
            </a:br>
            <a:r>
              <a:rPr lang="en-US" sz="3600" b="1" i="0" u="none" dirty="0">
                <a:solidFill>
                  <a:schemeClr val="accent2">
                    <a:lumMod val="75000"/>
                  </a:schemeClr>
                </a:solidFill>
                <a:latin typeface="Twentieth Century"/>
                <a:ea typeface="Twentieth Century"/>
                <a:cs typeface="Twentieth Century"/>
                <a:sym typeface="Twentieth Century"/>
              </a:rPr>
              <a:t>Interview </a:t>
            </a:r>
            <a:r>
              <a:rPr lang="en-US" sz="3600" b="1" i="0" u="none" dirty="0">
                <a:solidFill>
                  <a:schemeClr val="accent1">
                    <a:lumMod val="75000"/>
                  </a:schemeClr>
                </a:solidFill>
                <a:latin typeface="Twentieth Century"/>
                <a:ea typeface="Twentieth Century"/>
                <a:cs typeface="Twentieth Century"/>
                <a:sym typeface="Twentieth Century"/>
              </a:rPr>
              <a:t>DO’s</a:t>
            </a:r>
            <a:endParaRPr b="1" dirty="0">
              <a:solidFill>
                <a:schemeClr val="accent1">
                  <a:lumMod val="75000"/>
                </a:schemeClr>
              </a:solidFill>
            </a:endParaRPr>
          </a:p>
        </p:txBody>
      </p:sp>
      <p:sp>
        <p:nvSpPr>
          <p:cNvPr id="130" name="Google Shape;130;p20"/>
          <p:cNvSpPr txBox="1">
            <a:spLocks noGrp="1"/>
          </p:cNvSpPr>
          <p:nvPr>
            <p:ph idx="1"/>
          </p:nvPr>
        </p:nvSpPr>
        <p:spPr>
          <a:xfrm>
            <a:off x="762000" y="1371600"/>
            <a:ext cx="10668000" cy="52578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400"/>
              <a:buFont typeface="Arial"/>
              <a:buChar char="•"/>
            </a:pPr>
            <a:r>
              <a:rPr lang="en-US" sz="2400" b="0" i="0" u="none" dirty="0">
                <a:solidFill>
                  <a:schemeClr val="dk1"/>
                </a:solidFill>
                <a:latin typeface="Twentieth Century"/>
                <a:ea typeface="Twentieth Century"/>
                <a:cs typeface="Twentieth Century"/>
                <a:sym typeface="Twentieth Century"/>
              </a:rPr>
              <a:t>Dress appropriately. Your cleanliness should be impeccable. Keep cologne or perfume to a minimum.  Pay particular attention to hands and fingernails.</a:t>
            </a:r>
            <a:endParaRPr dirty="0"/>
          </a:p>
          <a:p>
            <a:pPr marL="228600" marR="0" lvl="0" indent="-228600" algn="l" rtl="0">
              <a:lnSpc>
                <a:spcPct val="90000"/>
              </a:lnSpc>
              <a:spcBef>
                <a:spcPts val="1000"/>
              </a:spcBef>
              <a:spcAft>
                <a:spcPts val="0"/>
              </a:spcAft>
              <a:buClr>
                <a:schemeClr val="dk1"/>
              </a:buClr>
              <a:buSzPts val="2400"/>
              <a:buFont typeface="Arial"/>
              <a:buChar char="•"/>
            </a:pPr>
            <a:r>
              <a:rPr lang="en-US" sz="2400" b="0" i="0" u="none" dirty="0">
                <a:solidFill>
                  <a:schemeClr val="dk1"/>
                </a:solidFill>
                <a:latin typeface="Twentieth Century"/>
                <a:ea typeface="Twentieth Century"/>
                <a:cs typeface="Twentieth Century"/>
                <a:sym typeface="Twentieth Century"/>
              </a:rPr>
              <a:t>Arrive 10 minutes early.  Know the exact time and location of your interview; know how long it takes to get there, park, and find a restroom to freshen up.</a:t>
            </a:r>
            <a:endParaRPr dirty="0"/>
          </a:p>
          <a:p>
            <a:pPr marL="228600" marR="0" lvl="0" indent="-228600" algn="l" rtl="0">
              <a:lnSpc>
                <a:spcPct val="90000"/>
              </a:lnSpc>
              <a:spcBef>
                <a:spcPts val="1000"/>
              </a:spcBef>
              <a:spcAft>
                <a:spcPts val="0"/>
              </a:spcAft>
              <a:buClr>
                <a:schemeClr val="dk1"/>
              </a:buClr>
              <a:buSzPts val="2400"/>
              <a:buFont typeface="Arial"/>
              <a:buChar char="•"/>
            </a:pPr>
            <a:r>
              <a:rPr lang="en-US" sz="2400" b="0" i="0" u="none" dirty="0">
                <a:solidFill>
                  <a:schemeClr val="dk1"/>
                </a:solidFill>
                <a:latin typeface="Twentieth Century"/>
                <a:ea typeface="Twentieth Century"/>
                <a:cs typeface="Twentieth Century"/>
                <a:sym typeface="Twentieth Century"/>
              </a:rPr>
              <a:t>Treat other people you encounter with courtesy and respect.  Their opinions of you might be solicited during the hiring process.</a:t>
            </a:r>
            <a:endParaRPr dirty="0"/>
          </a:p>
          <a:p>
            <a:pPr marL="228600" marR="0" lvl="0" indent="-228600" algn="l" rtl="0">
              <a:lnSpc>
                <a:spcPct val="90000"/>
              </a:lnSpc>
              <a:spcBef>
                <a:spcPts val="1000"/>
              </a:spcBef>
              <a:spcAft>
                <a:spcPts val="0"/>
              </a:spcAft>
              <a:buClr>
                <a:schemeClr val="dk1"/>
              </a:buClr>
              <a:buSzPts val="2400"/>
              <a:buFont typeface="Arial"/>
              <a:buChar char="•"/>
            </a:pPr>
            <a:r>
              <a:rPr lang="en-US" sz="2400" b="0" i="0" u="none" dirty="0">
                <a:solidFill>
                  <a:schemeClr val="dk1"/>
                </a:solidFill>
                <a:latin typeface="Twentieth Century"/>
                <a:ea typeface="Twentieth Century"/>
                <a:cs typeface="Twentieth Century"/>
                <a:sym typeface="Twentieth Century"/>
              </a:rPr>
              <a:t>Offer a firm handshake, make eye contact, and have a friendly expression when you are greeted by the interviewer.</a:t>
            </a:r>
            <a:endParaRPr dirty="0"/>
          </a:p>
          <a:p>
            <a:pPr marL="228600" marR="0" lvl="0" indent="-228600" algn="l" rtl="0">
              <a:lnSpc>
                <a:spcPct val="90000"/>
              </a:lnSpc>
              <a:spcBef>
                <a:spcPts val="1000"/>
              </a:spcBef>
              <a:spcAft>
                <a:spcPts val="0"/>
              </a:spcAft>
              <a:buClr>
                <a:schemeClr val="dk1"/>
              </a:buClr>
              <a:buSzPts val="2400"/>
              <a:buFont typeface="Arial"/>
              <a:buChar char="•"/>
            </a:pPr>
            <a:r>
              <a:rPr lang="en-US" sz="2400" b="0" i="0" u="none" dirty="0">
                <a:solidFill>
                  <a:schemeClr val="dk1"/>
                </a:solidFill>
                <a:latin typeface="Twentieth Century"/>
                <a:ea typeface="Twentieth Century"/>
                <a:cs typeface="Twentieth Century"/>
                <a:sym typeface="Twentieth Century"/>
              </a:rPr>
              <a:t>Listen to be sure you understand your interviewer’s name and the correct pronunciation. </a:t>
            </a:r>
            <a:endParaRPr dirty="0"/>
          </a:p>
          <a:p>
            <a:pPr marL="228600" marR="0" lvl="0" indent="-76200" algn="l" rtl="0">
              <a:lnSpc>
                <a:spcPct val="90000"/>
              </a:lnSpc>
              <a:spcBef>
                <a:spcPts val="1000"/>
              </a:spcBef>
              <a:spcAft>
                <a:spcPts val="0"/>
              </a:spcAft>
              <a:buClr>
                <a:schemeClr val="dk1"/>
              </a:buClr>
              <a:buSzPts val="2400"/>
              <a:buFont typeface="Arial"/>
              <a:buNone/>
            </a:pPr>
            <a:endParaRPr sz="2400" b="0" i="0" u="none" dirty="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2209800" y="-533400"/>
            <a:ext cx="7772400" cy="304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Twentieth Century"/>
              <a:ea typeface="Twentieth Century"/>
              <a:cs typeface="Twentieth Century"/>
              <a:sym typeface="Twentieth Century"/>
            </a:endParaRPr>
          </a:p>
        </p:txBody>
      </p:sp>
      <p:sp>
        <p:nvSpPr>
          <p:cNvPr id="136" name="Google Shape;136;p21"/>
          <p:cNvSpPr txBox="1">
            <a:spLocks noGrp="1"/>
          </p:cNvSpPr>
          <p:nvPr>
            <p:ph idx="1"/>
          </p:nvPr>
        </p:nvSpPr>
        <p:spPr>
          <a:xfrm>
            <a:off x="838200" y="1524000"/>
            <a:ext cx="10668000" cy="49530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Even when your interviewer gives you a first and last name, address your interviewer by Mr. Or Ms. And the last name, until invited to do otherwise. </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Maintain good eye contact during the interview.</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Sit still in your seat; avoid fidgeting and slouching.</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Respond to questions and back up your statements about yourself with specific examples whenever possible.</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Ask for clarification if you don’t understand a question; and be thorough in your responses while being concise in your wording.</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Use good grammar and good diction.  Say “yes”, not “yeah.”  Don’t fill pauses with “um,” uh” or “ah”.  Don’t punctuate sentences with “you know”, “like”, “see” or “okay”.</a:t>
            </a:r>
            <a:endParaRPr/>
          </a:p>
          <a:p>
            <a:pPr marL="228600" marR="0" lvl="0" indent="-76200" algn="l" rtl="0">
              <a:lnSpc>
                <a:spcPct val="90000"/>
              </a:lnSpc>
              <a:spcBef>
                <a:spcPts val="1000"/>
              </a:spcBef>
              <a:spcAft>
                <a:spcPts val="0"/>
              </a:spcAft>
              <a:buClr>
                <a:schemeClr val="dk1"/>
              </a:buClr>
              <a:buSzPts val="2400"/>
              <a:buFont typeface="Arial"/>
              <a:buNone/>
            </a:pPr>
            <a:endParaRPr sz="2400" b="0" i="0" u="none">
              <a:solidFill>
                <a:schemeClr val="dk1"/>
              </a:solidFill>
              <a:latin typeface="Twentieth Century"/>
              <a:ea typeface="Twentieth Century"/>
              <a:cs typeface="Twentieth Century"/>
              <a:sym typeface="Twentieth Century"/>
            </a:endParaRPr>
          </a:p>
        </p:txBody>
      </p:sp>
      <p:sp>
        <p:nvSpPr>
          <p:cNvPr id="137" name="Google Shape;137;p21"/>
          <p:cNvSpPr txBox="1"/>
          <p:nvPr/>
        </p:nvSpPr>
        <p:spPr>
          <a:xfrm>
            <a:off x="1055076" y="228600"/>
            <a:ext cx="9144000" cy="12954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3600"/>
              <a:buFont typeface="Twentieth Century"/>
              <a:buNone/>
            </a:pPr>
            <a:br>
              <a:rPr lang="en-US" sz="3600" b="0" i="0" u="none" strike="noStrike" cap="none" dirty="0">
                <a:solidFill>
                  <a:schemeClr val="dk1"/>
                </a:solidFill>
                <a:latin typeface="Twentieth Century"/>
                <a:ea typeface="Twentieth Century"/>
                <a:cs typeface="Twentieth Century"/>
                <a:sym typeface="Twentieth Century"/>
              </a:rPr>
            </a:br>
            <a:r>
              <a:rPr lang="en-US" sz="3600" b="1" i="0" u="none" strike="noStrike" cap="none" dirty="0">
                <a:solidFill>
                  <a:schemeClr val="accent2">
                    <a:lumMod val="75000"/>
                  </a:schemeClr>
                </a:solidFill>
                <a:latin typeface="Twentieth Century"/>
                <a:ea typeface="Twentieth Century"/>
                <a:cs typeface="Twentieth Century"/>
                <a:sym typeface="Twentieth Century"/>
              </a:rPr>
              <a:t>Interview </a:t>
            </a:r>
            <a:r>
              <a:rPr lang="en-US" sz="3600" b="1" i="0" u="none" strike="noStrike" cap="none" dirty="0">
                <a:solidFill>
                  <a:schemeClr val="accent1">
                    <a:lumMod val="75000"/>
                  </a:schemeClr>
                </a:solidFill>
                <a:latin typeface="Twentieth Century"/>
                <a:ea typeface="Twentieth Century"/>
                <a:cs typeface="Twentieth Century"/>
                <a:sym typeface="Twentieth Century"/>
              </a:rPr>
              <a:t>DO’s</a:t>
            </a:r>
            <a:endParaRPr b="1" dirty="0">
              <a:solidFill>
                <a:schemeClr val="accent1">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idx="1"/>
          </p:nvPr>
        </p:nvSpPr>
        <p:spPr>
          <a:xfrm>
            <a:off x="914400" y="1524000"/>
            <a:ext cx="10591800" cy="45720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80000"/>
              </a:lnSpc>
              <a:spcBef>
                <a:spcPts val="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Treat the interview seriously and show interest in the employer and the opportunity presented and respond to questions in a positive manner.</a:t>
            </a:r>
            <a:endParaRPr/>
          </a:p>
          <a:p>
            <a:pPr marL="228600" marR="0" lvl="0" indent="-228600" algn="l" rtl="0">
              <a:lnSpc>
                <a:spcPct val="8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Watch the tone of your voice. </a:t>
            </a:r>
            <a:endParaRPr/>
          </a:p>
          <a:p>
            <a:pPr marL="228600" marR="0" lvl="0" indent="-228600" algn="l" rtl="0">
              <a:lnSpc>
                <a:spcPct val="8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Answer the question and use professional experiences or descriptive information to demonstrate how you would react or respond to a situation.</a:t>
            </a:r>
            <a:endParaRPr/>
          </a:p>
          <a:p>
            <a:pPr marL="228600" marR="0" lvl="0" indent="-228600" algn="l" rtl="0">
              <a:lnSpc>
                <a:spcPct val="8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Make sure answers have a definite flow.  In the beginning state major points you want to make; in the middle expand upon those points or ideas, and in the end reinforce your key points and end on a positive note.</a:t>
            </a:r>
            <a:endParaRPr/>
          </a:p>
          <a:p>
            <a:pPr marL="228600" marR="0" lvl="0" indent="-228600" algn="l" rtl="0">
              <a:lnSpc>
                <a:spcPct val="8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Evaluate the interviewer and the organization.  An interview is a two-way street.</a:t>
            </a:r>
            <a:endParaRPr/>
          </a:p>
          <a:p>
            <a:pPr marL="228600" marR="0" lvl="0" indent="-228600" algn="l" rtl="0">
              <a:lnSpc>
                <a:spcPct val="8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Make sure you understand the employer’s next step in the hiring process; know when and from whom you should expect to hear next.</a:t>
            </a:r>
            <a:endParaRPr/>
          </a:p>
        </p:txBody>
      </p:sp>
      <p:sp>
        <p:nvSpPr>
          <p:cNvPr id="143" name="Google Shape;143;p22"/>
          <p:cNvSpPr txBox="1"/>
          <p:nvPr/>
        </p:nvSpPr>
        <p:spPr>
          <a:xfrm>
            <a:off x="914400" y="76200"/>
            <a:ext cx="9144000" cy="12954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3600"/>
              <a:buFont typeface="Twentieth Century"/>
              <a:buNone/>
            </a:pPr>
            <a:br>
              <a:rPr lang="en-US" sz="3600" b="0" i="0" u="none" strike="noStrike" cap="none" dirty="0">
                <a:solidFill>
                  <a:schemeClr val="dk1"/>
                </a:solidFill>
                <a:latin typeface="Twentieth Century"/>
                <a:ea typeface="Twentieth Century"/>
                <a:cs typeface="Twentieth Century"/>
                <a:sym typeface="Twentieth Century"/>
              </a:rPr>
            </a:br>
            <a:r>
              <a:rPr lang="en-US" sz="3600" b="1" i="0" u="none" strike="noStrike" cap="none" dirty="0">
                <a:solidFill>
                  <a:schemeClr val="accent2">
                    <a:lumMod val="75000"/>
                  </a:schemeClr>
                </a:solidFill>
                <a:latin typeface="Twentieth Century"/>
                <a:ea typeface="Twentieth Century"/>
                <a:cs typeface="Twentieth Century"/>
                <a:sym typeface="Twentieth Century"/>
              </a:rPr>
              <a:t>Interview </a:t>
            </a:r>
            <a:r>
              <a:rPr lang="en-US" sz="3600" b="1" i="0" u="none" strike="noStrike" cap="none" dirty="0">
                <a:solidFill>
                  <a:schemeClr val="accent1">
                    <a:lumMod val="75000"/>
                  </a:schemeClr>
                </a:solidFill>
                <a:latin typeface="Twentieth Century"/>
                <a:ea typeface="Twentieth Century"/>
                <a:cs typeface="Twentieth Century"/>
                <a:sym typeface="Twentieth Century"/>
              </a:rPr>
              <a:t>DO’s</a:t>
            </a:r>
            <a:endParaRPr b="1" dirty="0">
              <a:solidFill>
                <a:schemeClr val="accent1">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990600" y="533400"/>
            <a:ext cx="8991600" cy="1066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Twentieth Century"/>
              <a:buNone/>
            </a:pPr>
            <a:r>
              <a:rPr lang="en-US" sz="3600" b="1" i="0" u="none" dirty="0">
                <a:solidFill>
                  <a:schemeClr val="accent2">
                    <a:lumMod val="75000"/>
                  </a:schemeClr>
                </a:solidFill>
                <a:latin typeface="Twentieth Century"/>
                <a:ea typeface="Twentieth Century"/>
                <a:cs typeface="Twentieth Century"/>
                <a:sym typeface="Twentieth Century"/>
              </a:rPr>
              <a:t>Interview </a:t>
            </a:r>
            <a:r>
              <a:rPr lang="en-US" sz="3600" b="1" i="0" u="none" dirty="0">
                <a:solidFill>
                  <a:schemeClr val="accent1">
                    <a:lumMod val="75000"/>
                  </a:schemeClr>
                </a:solidFill>
                <a:latin typeface="Twentieth Century"/>
                <a:ea typeface="Twentieth Century"/>
                <a:cs typeface="Twentieth Century"/>
                <a:sym typeface="Twentieth Century"/>
              </a:rPr>
              <a:t>Don’ts</a:t>
            </a:r>
            <a:endParaRPr b="1" dirty="0">
              <a:solidFill>
                <a:schemeClr val="accent1">
                  <a:lumMod val="75000"/>
                </a:schemeClr>
              </a:solidFill>
            </a:endParaRPr>
          </a:p>
        </p:txBody>
      </p:sp>
      <p:sp>
        <p:nvSpPr>
          <p:cNvPr id="149" name="Google Shape;149;p23"/>
          <p:cNvSpPr txBox="1">
            <a:spLocks noGrp="1"/>
          </p:cNvSpPr>
          <p:nvPr>
            <p:ph idx="1"/>
          </p:nvPr>
        </p:nvSpPr>
        <p:spPr>
          <a:xfrm>
            <a:off x="873125" y="1752600"/>
            <a:ext cx="10328275" cy="43434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make excuses.  Take responsibility for your decisions and your actions.</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make negative comments about previous employers or supervisors (or others).</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treat the interview casually, as if you are just shopping around or doing the interview for practice.  This is insulting to the interviewer and the organization.</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give the impression you are only interested in salary.</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act as though you would take any job or are desperate for employment.</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chew gum or smell like smoke.</a:t>
            </a:r>
            <a:endParaRPr/>
          </a:p>
          <a:p>
            <a:pPr marL="228600" marR="0" lvl="0" indent="-228600" algn="l" rtl="0">
              <a:lnSpc>
                <a:spcPct val="9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Don’t take cell phone calls during an interview.  If you carry a cell phone, turn it off during the interview.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1" i="0" u="none" dirty="0">
                <a:solidFill>
                  <a:schemeClr val="accent2">
                    <a:lumMod val="75000"/>
                  </a:schemeClr>
                </a:solidFill>
                <a:latin typeface="Twentieth Century"/>
                <a:ea typeface="Twentieth Century"/>
                <a:cs typeface="Twentieth Century"/>
                <a:sym typeface="Twentieth Century"/>
              </a:rPr>
              <a:t>Standard Interview Questions</a:t>
            </a:r>
            <a:endParaRPr b="1" dirty="0">
              <a:solidFill>
                <a:schemeClr val="accent2">
                  <a:lumMod val="75000"/>
                </a:schemeClr>
              </a:solidFill>
            </a:endParaRPr>
          </a:p>
        </p:txBody>
      </p:sp>
      <p:sp>
        <p:nvSpPr>
          <p:cNvPr id="155" name="Google Shape;155;p24"/>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Would you tell me about yourself?</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is your greatest strength?</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is your greatest weakness?</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Where do you see yourself in 5 years?</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about this position do you find most appealing?</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Why do you want to work for our company?</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Why should we hire you?</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animEffect transition="in" filter="fade">
                                      <p:cBhvr>
                                        <p:cTn id="7" dur="2000"/>
                                        <p:tgtEl>
                                          <p:spTgt spid="15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5">
                                            <p:txEl>
                                              <p:pRg st="1" end="1"/>
                                            </p:txEl>
                                          </p:spTgt>
                                        </p:tgtEl>
                                        <p:attrNameLst>
                                          <p:attrName>style.visibility</p:attrName>
                                        </p:attrNameLst>
                                      </p:cBhvr>
                                      <p:to>
                                        <p:strVal val="visible"/>
                                      </p:to>
                                    </p:set>
                                    <p:animEffect transition="in" filter="fade">
                                      <p:cBhvr>
                                        <p:cTn id="10" dur="2000"/>
                                        <p:tgtEl>
                                          <p:spTgt spid="15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5">
                                            <p:txEl>
                                              <p:pRg st="2" end="2"/>
                                            </p:txEl>
                                          </p:spTgt>
                                        </p:tgtEl>
                                        <p:attrNameLst>
                                          <p:attrName>style.visibility</p:attrName>
                                        </p:attrNameLst>
                                      </p:cBhvr>
                                      <p:to>
                                        <p:strVal val="visible"/>
                                      </p:to>
                                    </p:set>
                                    <p:animEffect transition="in" filter="fade">
                                      <p:cBhvr>
                                        <p:cTn id="13" dur="2000"/>
                                        <p:tgtEl>
                                          <p:spTgt spid="15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5">
                                            <p:txEl>
                                              <p:pRg st="3" end="3"/>
                                            </p:txEl>
                                          </p:spTgt>
                                        </p:tgtEl>
                                        <p:attrNameLst>
                                          <p:attrName>style.visibility</p:attrName>
                                        </p:attrNameLst>
                                      </p:cBhvr>
                                      <p:to>
                                        <p:strVal val="visible"/>
                                      </p:to>
                                    </p:set>
                                    <p:animEffect transition="in" filter="fade">
                                      <p:cBhvr>
                                        <p:cTn id="16" dur="2000"/>
                                        <p:tgtEl>
                                          <p:spTgt spid="15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55">
                                            <p:txEl>
                                              <p:pRg st="4" end="4"/>
                                            </p:txEl>
                                          </p:spTgt>
                                        </p:tgtEl>
                                        <p:attrNameLst>
                                          <p:attrName>style.visibility</p:attrName>
                                        </p:attrNameLst>
                                      </p:cBhvr>
                                      <p:to>
                                        <p:strVal val="visible"/>
                                      </p:to>
                                    </p:set>
                                    <p:animEffect transition="in" filter="fade">
                                      <p:cBhvr>
                                        <p:cTn id="19" dur="2000"/>
                                        <p:tgtEl>
                                          <p:spTgt spid="15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55">
                                            <p:txEl>
                                              <p:pRg st="5" end="5"/>
                                            </p:txEl>
                                          </p:spTgt>
                                        </p:tgtEl>
                                        <p:attrNameLst>
                                          <p:attrName>style.visibility</p:attrName>
                                        </p:attrNameLst>
                                      </p:cBhvr>
                                      <p:to>
                                        <p:strVal val="visible"/>
                                      </p:to>
                                    </p:set>
                                    <p:animEffect transition="in" filter="fade">
                                      <p:cBhvr>
                                        <p:cTn id="22" dur="2000"/>
                                        <p:tgtEl>
                                          <p:spTgt spid="15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55">
                                            <p:txEl>
                                              <p:pRg st="6" end="6"/>
                                            </p:txEl>
                                          </p:spTgt>
                                        </p:tgtEl>
                                        <p:attrNameLst>
                                          <p:attrName>style.visibility</p:attrName>
                                        </p:attrNameLst>
                                      </p:cBhvr>
                                      <p:to>
                                        <p:strVal val="visible"/>
                                      </p:to>
                                    </p:set>
                                    <p:animEffect transition="in" filter="fade">
                                      <p:cBhvr>
                                        <p:cTn id="25" dur="2000"/>
                                        <p:tgtEl>
                                          <p:spTgt spid="1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1066800" y="381000"/>
            <a:ext cx="8915400"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Twentieth Century"/>
              <a:buNone/>
            </a:pPr>
            <a:r>
              <a:rPr lang="en-US" sz="4000" b="1" i="0" u="none" dirty="0">
                <a:solidFill>
                  <a:schemeClr val="accent2">
                    <a:lumMod val="75000"/>
                  </a:schemeClr>
                </a:solidFill>
                <a:latin typeface="Twentieth Century"/>
                <a:ea typeface="Twentieth Century"/>
                <a:cs typeface="Twentieth Century"/>
                <a:sym typeface="Twentieth Century"/>
              </a:rPr>
              <a:t>What about Answering Questions?	</a:t>
            </a:r>
            <a:endParaRPr b="1" dirty="0">
              <a:solidFill>
                <a:schemeClr val="accent2">
                  <a:lumMod val="75000"/>
                </a:schemeClr>
              </a:solidFill>
            </a:endParaRPr>
          </a:p>
        </p:txBody>
      </p:sp>
      <p:sp>
        <p:nvSpPr>
          <p:cNvPr id="161" name="Google Shape;161;p25"/>
          <p:cNvSpPr txBox="1">
            <a:spLocks noGrp="1"/>
          </p:cNvSpPr>
          <p:nvPr>
            <p:ph idx="1"/>
          </p:nvPr>
        </p:nvSpPr>
        <p:spPr>
          <a:xfrm>
            <a:off x="990600" y="2133600"/>
            <a:ext cx="10287000" cy="39624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None/>
            </a:pPr>
            <a:r>
              <a:rPr lang="en-US" sz="2800" b="0" i="0" u="none">
                <a:solidFill>
                  <a:schemeClr val="dk1"/>
                </a:solidFill>
                <a:latin typeface="Twentieth Century"/>
                <a:ea typeface="Twentieth Century"/>
                <a:cs typeface="Twentieth Century"/>
                <a:sym typeface="Twentieth Century"/>
              </a:rPr>
              <a:t>Your points must be CLEAR, RELEVANT AND ADEQUATE:</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to enable the interviewer to understand what you are trying to say; to determine your strengths for that particular job; and to have sufficient information to make a good decision.</a:t>
            </a:r>
            <a:endParaRPr/>
          </a:p>
          <a:p>
            <a:pPr marL="228600" marR="0" lvl="0" indent="-228600" algn="l" rtl="0">
              <a:lnSpc>
                <a:spcPct val="90000"/>
              </a:lnSpc>
              <a:spcBef>
                <a:spcPts val="1000"/>
              </a:spcBef>
              <a:spcAft>
                <a:spcPts val="0"/>
              </a:spcAft>
              <a:buClr>
                <a:schemeClr val="dk1"/>
              </a:buClr>
              <a:buSzPts val="2800"/>
              <a:buFont typeface="Arial"/>
              <a:buNone/>
            </a:pPr>
            <a:r>
              <a:rPr lang="en-US" sz="2800" b="0" i="0" u="none">
                <a:solidFill>
                  <a:schemeClr val="dk1"/>
                </a:solidFill>
                <a:latin typeface="Twentieth Century"/>
                <a:ea typeface="Twentieth Century"/>
                <a:cs typeface="Twentieth Century"/>
                <a:sym typeface="Twentieth Century"/>
              </a:rPr>
              <a:t>The interviewer needs to determine if you </a:t>
            </a:r>
            <a:r>
              <a:rPr lang="en-US" sz="2800" b="0" i="0" u="sng">
                <a:solidFill>
                  <a:schemeClr val="dk1"/>
                </a:solidFill>
                <a:latin typeface="Twentieth Century"/>
                <a:ea typeface="Twentieth Century"/>
                <a:cs typeface="Twentieth Century"/>
                <a:sym typeface="Twentieth Century"/>
              </a:rPr>
              <a:t>can</a:t>
            </a:r>
            <a:r>
              <a:rPr lang="en-US" sz="2800" b="0" i="0" u="none">
                <a:solidFill>
                  <a:schemeClr val="dk1"/>
                </a:solidFill>
                <a:latin typeface="Twentieth Century"/>
                <a:ea typeface="Twentieth Century"/>
                <a:cs typeface="Twentieth Century"/>
                <a:sym typeface="Twentieth Century"/>
              </a:rPr>
              <a:t> do the job, if you </a:t>
            </a:r>
            <a:r>
              <a:rPr lang="en-US" sz="2800" b="0" i="0" u="sng">
                <a:solidFill>
                  <a:schemeClr val="dk1"/>
                </a:solidFill>
                <a:latin typeface="Twentieth Century"/>
                <a:ea typeface="Twentieth Century"/>
                <a:cs typeface="Twentieth Century"/>
                <a:sym typeface="Twentieth Century"/>
              </a:rPr>
              <a:t>will</a:t>
            </a:r>
            <a:r>
              <a:rPr lang="en-US" sz="2800" b="0" i="0" u="none">
                <a:solidFill>
                  <a:schemeClr val="dk1"/>
                </a:solidFill>
                <a:latin typeface="Twentieth Century"/>
                <a:ea typeface="Twentieth Century"/>
                <a:cs typeface="Twentieth Century"/>
                <a:sym typeface="Twentieth Century"/>
              </a:rPr>
              <a:t> do the job, and if </a:t>
            </a:r>
            <a:r>
              <a:rPr lang="en-US" sz="2800" b="0" i="0" u="sng">
                <a:solidFill>
                  <a:schemeClr val="dk1"/>
                </a:solidFill>
                <a:latin typeface="Twentieth Century"/>
                <a:ea typeface="Twentieth Century"/>
                <a:cs typeface="Twentieth Century"/>
                <a:sym typeface="Twentieth Century"/>
              </a:rPr>
              <a:t>you</a:t>
            </a:r>
            <a:r>
              <a:rPr lang="en-US" sz="2800" b="0" i="0" u="none">
                <a:solidFill>
                  <a:schemeClr val="dk1"/>
                </a:solidFill>
                <a:latin typeface="Twentieth Century"/>
                <a:ea typeface="Twentieth Century"/>
                <a:cs typeface="Twentieth Century"/>
                <a:sym typeface="Twentieth Century"/>
              </a:rPr>
              <a:t> fit in.  Hiring the RIGHT person is the goal.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1066800" y="228600"/>
            <a:ext cx="9829800" cy="914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Twentieth Century"/>
              <a:buNone/>
            </a:pPr>
            <a:r>
              <a:rPr lang="en-US" sz="3200" i="0" u="none" dirty="0">
                <a:solidFill>
                  <a:schemeClr val="accent2">
                    <a:lumMod val="75000"/>
                  </a:schemeClr>
                </a:solidFill>
                <a:latin typeface="Twentieth Century"/>
                <a:ea typeface="Twentieth Century"/>
                <a:cs typeface="Twentieth Century"/>
                <a:sym typeface="Twentieth Century"/>
              </a:rPr>
              <a:t>Be Prepared for Behavior-based Questions!</a:t>
            </a:r>
            <a:endParaRPr dirty="0">
              <a:solidFill>
                <a:schemeClr val="accent2">
                  <a:lumMod val="75000"/>
                </a:schemeClr>
              </a:solidFill>
            </a:endParaRPr>
          </a:p>
        </p:txBody>
      </p:sp>
      <p:sp>
        <p:nvSpPr>
          <p:cNvPr id="167" name="Google Shape;167;p26"/>
          <p:cNvSpPr txBox="1">
            <a:spLocks noGrp="1"/>
          </p:cNvSpPr>
          <p:nvPr>
            <p:ph idx="1"/>
          </p:nvPr>
        </p:nvSpPr>
        <p:spPr>
          <a:xfrm>
            <a:off x="914400" y="1371600"/>
            <a:ext cx="10439400" cy="51054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70000"/>
              </a:lnSpc>
              <a:spcBef>
                <a:spcPts val="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Describe a time when you were faced with problems or stresses at work that tested your coping skills. What did you do?</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Give an example of a time when you had to be relatively quick in coming to a decision.</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Give me an example of an important goal you had to set and tell me about your progress in reaching that goal.</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Give me an example of a problem/challenge you faced on the job, and tell me how you solved it.</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Tell me about a situation in the past year in which you had to deal with a very upset customer or co-worker.</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Can you describe the most valuable criticism you have received and what you did with it?</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Can you give me an example of a project that required attention to detail and how you handled the details?</a:t>
            </a:r>
            <a:endParaRPr/>
          </a:p>
          <a:p>
            <a:pPr marL="228600" marR="0" lvl="0" indent="-228600" algn="l" rtl="0">
              <a:lnSpc>
                <a:spcPct val="70000"/>
              </a:lnSpc>
              <a:spcBef>
                <a:spcPts val="1000"/>
              </a:spcBef>
              <a:spcAft>
                <a:spcPts val="0"/>
              </a:spcAft>
              <a:buClr>
                <a:schemeClr val="dk1"/>
              </a:buClr>
              <a:buSzPts val="2400"/>
              <a:buFont typeface="Arial"/>
              <a:buChar char="•"/>
            </a:pPr>
            <a:r>
              <a:rPr lang="en-US" sz="2400" b="0" i="0" u="none">
                <a:solidFill>
                  <a:schemeClr val="dk1"/>
                </a:solidFill>
                <a:latin typeface="Twentieth Century"/>
                <a:ea typeface="Twentieth Century"/>
                <a:cs typeface="Twentieth Century"/>
                <a:sym typeface="Twentieth Century"/>
              </a:rPr>
              <a:t>Can you tell me about a difficult person with whom you have worked?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ctrTitle"/>
          </p:nvPr>
        </p:nvSpPr>
        <p:spPr>
          <a:xfrm>
            <a:off x="914400" y="304800"/>
            <a:ext cx="9067800" cy="1295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600"/>
              <a:buFont typeface="Twentieth Century"/>
              <a:buNone/>
            </a:pPr>
            <a:r>
              <a:rPr lang="en-US" sz="3600" b="0" i="0" u="none" dirty="0">
                <a:solidFill>
                  <a:schemeClr val="accent2">
                    <a:lumMod val="75000"/>
                  </a:schemeClr>
                </a:solidFill>
                <a:latin typeface="Twentieth Century"/>
                <a:ea typeface="Twentieth Century"/>
                <a:cs typeface="Twentieth Century"/>
                <a:sym typeface="Twentieth Century"/>
              </a:rPr>
              <a:t>Your keys to RESPONDING well to these types of questions are:</a:t>
            </a:r>
            <a:endParaRPr dirty="0">
              <a:solidFill>
                <a:schemeClr val="accent2">
                  <a:lumMod val="75000"/>
                </a:schemeClr>
              </a:solidFill>
            </a:endParaRPr>
          </a:p>
        </p:txBody>
      </p:sp>
      <p:sp>
        <p:nvSpPr>
          <p:cNvPr id="173" name="Google Shape;173;p27"/>
          <p:cNvSpPr txBox="1">
            <a:spLocks noGrp="1"/>
          </p:cNvSpPr>
          <p:nvPr>
            <p:ph type="subTitle" idx="1"/>
          </p:nvPr>
        </p:nvSpPr>
        <p:spPr>
          <a:xfrm>
            <a:off x="1143000" y="1905000"/>
            <a:ext cx="8153400" cy="3733800"/>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Be specific, not general or vague!</a:t>
            </a:r>
            <a:endParaRPr/>
          </a:p>
          <a:p>
            <a:pPr marL="457200" lvl="0" indent="-4572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Don’t describe how you would behave.  </a:t>
            </a:r>
            <a:endParaRPr/>
          </a:p>
          <a:p>
            <a:pPr marL="457200" lvl="0" indent="-4572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Describe how you DID behave.  </a:t>
            </a:r>
            <a:endParaRPr/>
          </a:p>
          <a:p>
            <a:pPr marL="457200" lvl="0" indent="-4572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If you later decided you should have behaved differently, explain this.  </a:t>
            </a:r>
            <a:endParaRPr/>
          </a:p>
          <a:p>
            <a:pPr marL="457200" lvl="0" indent="-4572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The interviewer will see that you learned something from experience.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0" i="0" u="none" dirty="0">
                <a:solidFill>
                  <a:schemeClr val="accent2">
                    <a:lumMod val="75000"/>
                  </a:schemeClr>
                </a:solidFill>
                <a:latin typeface="Twentieth Century"/>
                <a:ea typeface="Twentieth Century"/>
                <a:cs typeface="Twentieth Century"/>
                <a:sym typeface="Twentieth Century"/>
              </a:rPr>
              <a:t>Questions To Ask The Employer</a:t>
            </a:r>
            <a:endParaRPr dirty="0">
              <a:solidFill>
                <a:schemeClr val="accent2">
                  <a:lumMod val="75000"/>
                </a:schemeClr>
              </a:solidFill>
            </a:endParaRPr>
          </a:p>
        </p:txBody>
      </p:sp>
      <p:sp>
        <p:nvSpPr>
          <p:cNvPr id="179" name="Google Shape;179;p28"/>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kind of training will I receive?</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type of advancement opportunities are available with your organization?</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What is your time table for the remainder of the hiring process?</a:t>
            </a:r>
            <a:endParaRPr/>
          </a:p>
          <a:p>
            <a:pPr marL="228600" marR="0" lvl="0" indent="-228600" algn="l" rtl="0">
              <a:lnSpc>
                <a:spcPct val="90000"/>
              </a:lnSpc>
              <a:spcBef>
                <a:spcPts val="1000"/>
              </a:spcBef>
              <a:spcAft>
                <a:spcPts val="0"/>
              </a:spcAft>
              <a:buClr>
                <a:schemeClr val="dk1"/>
              </a:buClr>
              <a:buSzPts val="2800"/>
              <a:buFont typeface="Arial"/>
              <a:buNone/>
            </a:pPr>
            <a:endParaRPr sz="2800" b="0" i="0" u="none">
              <a:solidFill>
                <a:schemeClr val="dk1"/>
              </a:solidFill>
              <a:latin typeface="Twentieth Century"/>
              <a:ea typeface="Twentieth Century"/>
              <a:cs typeface="Twentieth Century"/>
              <a:sym typeface="Twentieth Century"/>
            </a:endParaRPr>
          </a:p>
          <a:p>
            <a:pPr marL="228600" marR="0" lvl="0" indent="-228600" algn="l" rtl="0">
              <a:lnSpc>
                <a:spcPct val="90000"/>
              </a:lnSpc>
              <a:spcBef>
                <a:spcPts val="1000"/>
              </a:spcBef>
              <a:spcAft>
                <a:spcPts val="0"/>
              </a:spcAft>
              <a:buClr>
                <a:schemeClr val="dk1"/>
              </a:buClr>
              <a:buSzPts val="2800"/>
              <a:buFont typeface="Arial"/>
              <a:buNone/>
            </a:pPr>
            <a:r>
              <a:rPr lang="en-US" sz="2800" b="0" i="0" u="none">
                <a:solidFill>
                  <a:schemeClr val="dk1"/>
                </a:solidFill>
                <a:latin typeface="Twentieth Century"/>
                <a:ea typeface="Twentieth Century"/>
                <a:cs typeface="Twentieth Century"/>
                <a:sym typeface="Twentieth Century"/>
              </a:rPr>
              <a:t>NOTE: Ask questions that demonstrate your knowledge of their company!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Effect transition="in" filter="fade">
                                      <p:cBhvr>
                                        <p:cTn id="7" dur="1230"/>
                                        <p:tgtEl>
                                          <p:spTgt spid="17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9">
                                            <p:txEl>
                                              <p:pRg st="1" end="1"/>
                                            </p:txEl>
                                          </p:spTgt>
                                        </p:tgtEl>
                                        <p:attrNameLst>
                                          <p:attrName>style.visibility</p:attrName>
                                        </p:attrNameLst>
                                      </p:cBhvr>
                                      <p:to>
                                        <p:strVal val="visible"/>
                                      </p:to>
                                    </p:set>
                                    <p:animEffect transition="in" filter="fade">
                                      <p:cBhvr>
                                        <p:cTn id="10" dur="1230"/>
                                        <p:tgtEl>
                                          <p:spTgt spid="17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9">
                                            <p:txEl>
                                              <p:pRg st="2" end="2"/>
                                            </p:txEl>
                                          </p:spTgt>
                                        </p:tgtEl>
                                        <p:attrNameLst>
                                          <p:attrName>style.visibility</p:attrName>
                                        </p:attrNameLst>
                                      </p:cBhvr>
                                      <p:to>
                                        <p:strVal val="visible"/>
                                      </p:to>
                                    </p:set>
                                    <p:animEffect transition="in" filter="fade">
                                      <p:cBhvr>
                                        <p:cTn id="13" dur="1230"/>
                                        <p:tgtEl>
                                          <p:spTgt spid="17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9">
                                            <p:txEl>
                                              <p:pRg st="3" end="3"/>
                                            </p:txEl>
                                          </p:spTgt>
                                        </p:tgtEl>
                                        <p:attrNameLst>
                                          <p:attrName>style.visibility</p:attrName>
                                        </p:attrNameLst>
                                      </p:cBhvr>
                                      <p:to>
                                        <p:strVal val="visible"/>
                                      </p:to>
                                    </p:set>
                                    <p:animEffect transition="in" filter="fade">
                                      <p:cBhvr>
                                        <p:cTn id="16" dur="1230"/>
                                        <p:tgtEl>
                                          <p:spTgt spid="17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9">
                                            <p:txEl>
                                              <p:pRg st="4" end="4"/>
                                            </p:txEl>
                                          </p:spTgt>
                                        </p:tgtEl>
                                        <p:attrNameLst>
                                          <p:attrName>style.visibility</p:attrName>
                                        </p:attrNameLst>
                                      </p:cBhvr>
                                      <p:to>
                                        <p:strVal val="visible"/>
                                      </p:to>
                                    </p:set>
                                    <p:animEffect transition="in" filter="fade">
                                      <p:cBhvr>
                                        <p:cTn id="19" dur="1230"/>
                                        <p:tgtEl>
                                          <p:spTgt spid="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989012" y="152400"/>
            <a:ext cx="7772400" cy="1219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wentieth Century"/>
              <a:buNone/>
            </a:pPr>
            <a:r>
              <a:rPr lang="en-US" sz="4400" b="0" i="0" u="none" dirty="0">
                <a:solidFill>
                  <a:schemeClr val="accent2">
                    <a:lumMod val="75000"/>
                  </a:schemeClr>
                </a:solidFill>
                <a:latin typeface="Twentieth Century"/>
                <a:ea typeface="Twentieth Century"/>
                <a:cs typeface="Twentieth Century"/>
                <a:sym typeface="Twentieth Century"/>
              </a:rPr>
              <a:t>What to do after the interview?</a:t>
            </a:r>
            <a:endParaRPr dirty="0">
              <a:solidFill>
                <a:schemeClr val="accent2">
                  <a:lumMod val="75000"/>
                </a:schemeClr>
              </a:solidFill>
            </a:endParaRPr>
          </a:p>
        </p:txBody>
      </p:sp>
      <p:sp>
        <p:nvSpPr>
          <p:cNvPr id="185" name="Google Shape;185;p29"/>
          <p:cNvSpPr txBox="1">
            <a:spLocks noGrp="1"/>
          </p:cNvSpPr>
          <p:nvPr>
            <p:ph idx="1"/>
          </p:nvPr>
        </p:nvSpPr>
        <p:spPr>
          <a:xfrm>
            <a:off x="990600" y="1524000"/>
            <a:ext cx="10210800" cy="42672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Courteously thank the interviewer(s) for the opportunity to interview with the agency.</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Extend a handshake and exhibit enthusiasm about the career opportunity.</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wentieth Century"/>
                <a:ea typeface="Twentieth Century"/>
                <a:cs typeface="Twentieth Century"/>
                <a:sym typeface="Twentieth Century"/>
              </a:rPr>
              <a:t>Consider following up with a thank you note or e-mail of appreciation to the interviewer(s) to further show your interest.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336E4-E5AA-49FC-9EEC-197B5C3AE8CF}"/>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A03FA134-6051-4D19-96E2-3F6DFECD0F54}"/>
              </a:ext>
            </a:extLst>
          </p:cNvPr>
          <p:cNvSpPr>
            <a:spLocks noGrp="1"/>
          </p:cNvSpPr>
          <p:nvPr>
            <p:ph idx="1"/>
          </p:nvPr>
        </p:nvSpPr>
        <p:spPr/>
        <p:txBody>
          <a:bodyPr/>
          <a:lstStyle/>
          <a:p>
            <a:pPr marL="114300" indent="0" algn="ctr">
              <a:buNone/>
            </a:pPr>
            <a:endParaRPr lang="en-US" sz="5500" b="1" dirty="0">
              <a:solidFill>
                <a:schemeClr val="accent2">
                  <a:lumMod val="75000"/>
                </a:schemeClr>
              </a:solidFill>
              <a:latin typeface="Aharoni" panose="02010803020104030203" pitchFamily="2" charset="-79"/>
              <a:cs typeface="Aharoni" panose="02010803020104030203" pitchFamily="2" charset="-79"/>
            </a:endParaRPr>
          </a:p>
          <a:p>
            <a:pPr marL="114300" indent="0" algn="ctr">
              <a:buNone/>
            </a:pPr>
            <a:r>
              <a:rPr lang="en-US" sz="5500" b="1" dirty="0">
                <a:solidFill>
                  <a:schemeClr val="accent2">
                    <a:lumMod val="75000"/>
                  </a:schemeClr>
                </a:solidFill>
                <a:latin typeface="Aharoni" panose="02010803020104030203" pitchFamily="2" charset="-79"/>
                <a:cs typeface="Aharoni" panose="02010803020104030203" pitchFamily="2" charset="-79"/>
              </a:rPr>
              <a:t>Thank You!</a:t>
            </a:r>
          </a:p>
        </p:txBody>
      </p:sp>
    </p:spTree>
    <p:extLst>
      <p:ext uri="{BB962C8B-B14F-4D97-AF65-F5344CB8AC3E}">
        <p14:creationId xmlns:p14="http://schemas.microsoft.com/office/powerpoint/2010/main" val="1314361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3" ma:contentTypeDescription="Create a new document." ma:contentTypeScope="" ma:versionID="6ea65ce0e79ebb3277a890c25c9a3a92">
  <xsd:schema xmlns:xsd="http://www.w3.org/2001/XMLSchema" xmlns:xs="http://www.w3.org/2001/XMLSchema" xmlns:p="http://schemas.microsoft.com/office/2006/metadata/properties" xmlns:ns2="e89bd651-a027-450b-961b-5fe5ec8507fb" targetNamespace="http://schemas.microsoft.com/office/2006/metadata/properties" ma:root="true" ma:fieldsID="f1e8d9d4e2ab1a8c0c8c9b7ce2918554" ns2:_="">
    <xsd:import namespace="e89bd651-a027-450b-961b-5fe5ec8507f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bd651-a027-450b-961b-5fe5ec8507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699C09-67B3-4CBE-903F-1EB78D0F5277}"/>
</file>

<file path=customXml/itemProps2.xml><?xml version="1.0" encoding="utf-8"?>
<ds:datastoreItem xmlns:ds="http://schemas.openxmlformats.org/officeDocument/2006/customXml" ds:itemID="{F017624D-D720-4801-8A1F-3F7EBAB921B6}"/>
</file>

<file path=customXml/itemProps3.xml><?xml version="1.0" encoding="utf-8"?>
<ds:datastoreItem xmlns:ds="http://schemas.openxmlformats.org/officeDocument/2006/customXml" ds:itemID="{EC620C22-244B-4AF8-A393-77312FC28A4C}"/>
</file>

<file path=docProps/app.xml><?xml version="1.0" encoding="utf-8"?>
<Properties xmlns="http://schemas.openxmlformats.org/officeDocument/2006/extended-properties" xmlns:vt="http://schemas.openxmlformats.org/officeDocument/2006/docPropsVTypes">
  <Template>Facet</Template>
  <TotalTime>9</TotalTime>
  <Words>1441</Words>
  <Application>Microsoft Office PowerPoint</Application>
  <PresentationFormat>Widescreen</PresentationFormat>
  <Paragraphs>104</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Aharoni</vt:lpstr>
      <vt:lpstr>Arial</vt:lpstr>
      <vt:lpstr>Trebuchet MS</vt:lpstr>
      <vt:lpstr>Twentieth Century</vt:lpstr>
      <vt:lpstr>Wingdings 3</vt:lpstr>
      <vt:lpstr>Facet</vt:lpstr>
      <vt:lpstr>Interview preparation</vt:lpstr>
      <vt:lpstr>In the beginning.. The Job Search</vt:lpstr>
      <vt:lpstr>Applications &amp; Resumes</vt:lpstr>
      <vt:lpstr>Before The Interview</vt:lpstr>
      <vt:lpstr>Tips Regarding Attire (Men)</vt:lpstr>
      <vt:lpstr>Tips Regarding Attire (Women)</vt:lpstr>
      <vt:lpstr>Starting The Interview</vt:lpstr>
      <vt:lpstr> Interview DO’s</vt:lpstr>
      <vt:lpstr>PowerPoint Presentation</vt:lpstr>
      <vt:lpstr>PowerPoint Presentation</vt:lpstr>
      <vt:lpstr>Interview Don’ts</vt:lpstr>
      <vt:lpstr>Standard Interview Questions</vt:lpstr>
      <vt:lpstr>What about Answering Questions? </vt:lpstr>
      <vt:lpstr>Be Prepared for Behavior-based Questions!</vt:lpstr>
      <vt:lpstr>Your keys to RESPONDING well to these types of questions are:</vt:lpstr>
      <vt:lpstr>Questions To Ask The Employer</vt:lpstr>
      <vt:lpstr>What to do after the interview?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preparation</dc:title>
  <cp:lastModifiedBy>Teacher</cp:lastModifiedBy>
  <cp:revision>4</cp:revision>
  <dcterms:modified xsi:type="dcterms:W3CDTF">2022-04-04T09:26:01Z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