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4.jpg" ContentType="image/jpeg"/>
  <Override PartName="/ppt/media/image12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8" r:id="rId2"/>
    <p:sldId id="359" r:id="rId3"/>
    <p:sldId id="360" r:id="rId4"/>
    <p:sldId id="26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361" r:id="rId14"/>
    <p:sldId id="362" r:id="rId15"/>
    <p:sldId id="282" r:id="rId16"/>
    <p:sldId id="284" r:id="rId17"/>
    <p:sldId id="285" r:id="rId18"/>
    <p:sldId id="286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99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A7618E8A-B491-488C-8024-BBCB5C8E399F}"/>
    <pc:docChg chg="custSel delSld modMainMaster">
      <pc:chgData name="Tanvir Ahmed" userId="5fa9bf89-1556-4927-a8e9-24c5d464f299" providerId="ADAL" clId="{A7618E8A-B491-488C-8024-BBCB5C8E399F}" dt="2026-01-16T16:34:26.706" v="7" actId="2696"/>
      <pc:docMkLst>
        <pc:docMk/>
      </pc:docMkLst>
      <pc:sldMasterChg chg="delSp mod modSldLayout">
        <pc:chgData name="Tanvir Ahmed" userId="5fa9bf89-1556-4927-a8e9-24c5d464f299" providerId="ADAL" clId="{A7618E8A-B491-488C-8024-BBCB5C8E399F}" dt="2026-01-16T16:34:11.007" v="4" actId="478"/>
        <pc:sldMasterMkLst>
          <pc:docMk/>
          <pc:sldMasterMk cId="0" sldId="2147483648"/>
        </pc:sldMasterMkLst>
        <pc:sldLayoutChg chg="delSp mod">
          <pc:chgData name="Tanvir Ahmed" userId="5fa9bf89-1556-4927-a8e9-24c5d464f299" providerId="ADAL" clId="{A7618E8A-B491-488C-8024-BBCB5C8E399F}" dt="2026-01-16T16:34:11.007" v="4" actId="478"/>
          <pc:sldLayoutMkLst>
            <pc:docMk/>
            <pc:sldMasterMk cId="0" sldId="2147483648"/>
            <pc:sldLayoutMk cId="0" sldId="2147483661"/>
          </pc:sldLayoutMkLst>
        </pc:sldLayoutChg>
      </pc:sldMasterChg>
    </pc:docChg>
  </pc:docChgLst>
  <pc:docChgLst>
    <pc:chgData name="Tanvir Ahmed" userId="5fa9bf89-1556-4927-a8e9-24c5d464f299" providerId="ADAL" clId="{1AA4345A-BCE0-4C06-BB87-746FC5FA3BB4}"/>
    <pc:docChg chg="undo custSel addSld delSld modSld sldOrd">
      <pc:chgData name="Tanvir Ahmed" userId="5fa9bf89-1556-4927-a8e9-24c5d464f299" providerId="ADAL" clId="{1AA4345A-BCE0-4C06-BB87-746FC5FA3BB4}" dt="2026-02-10T03:27:54.563" v="836" actId="20577"/>
      <pc:docMkLst>
        <pc:docMk/>
      </pc:docMkLst>
      <pc:sldChg chg="modSp mod ord">
        <pc:chgData name="Tanvir Ahmed" userId="5fa9bf89-1556-4927-a8e9-24c5d464f299" providerId="ADAL" clId="{1AA4345A-BCE0-4C06-BB87-746FC5FA3BB4}" dt="2026-01-31T16:01:56.083" v="579" actId="20577"/>
        <pc:sldMkLst>
          <pc:docMk/>
          <pc:sldMk cId="0" sldId="261"/>
        </pc:sldMkLst>
        <pc:spChg chg="mod">
          <ac:chgData name="Tanvir Ahmed" userId="5fa9bf89-1556-4927-a8e9-24c5d464f299" providerId="ADAL" clId="{1AA4345A-BCE0-4C06-BB87-746FC5FA3BB4}" dt="2026-01-31T16:01:40.658" v="57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Tanvir Ahmed" userId="5fa9bf89-1556-4927-a8e9-24c5d464f299" providerId="ADAL" clId="{1AA4345A-BCE0-4C06-BB87-746FC5FA3BB4}" dt="2026-01-31T16:01:56.083" v="579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Tanvir Ahmed" userId="5fa9bf89-1556-4927-a8e9-24c5d464f299" providerId="ADAL" clId="{1AA4345A-BCE0-4C06-BB87-746FC5FA3BB4}" dt="2026-01-31T16:04:06.683" v="583" actId="20577"/>
        <pc:sldMkLst>
          <pc:docMk/>
          <pc:sldMk cId="0" sldId="272"/>
        </pc:sldMkLst>
        <pc:spChg chg="mod">
          <ac:chgData name="Tanvir Ahmed" userId="5fa9bf89-1556-4927-a8e9-24c5d464f299" providerId="ADAL" clId="{1AA4345A-BCE0-4C06-BB87-746FC5FA3BB4}" dt="2026-01-31T16:04:06.683" v="583" actId="20577"/>
          <ac:spMkLst>
            <pc:docMk/>
            <pc:sldMk cId="0" sldId="272"/>
            <ac:spMk id="4" creationId="{00000000-0000-0000-0000-000000000000}"/>
          </ac:spMkLst>
        </pc:spChg>
      </pc:sldChg>
      <pc:sldChg chg="addSp modSp mod">
        <pc:chgData name="Tanvir Ahmed" userId="5fa9bf89-1556-4927-a8e9-24c5d464f299" providerId="ADAL" clId="{1AA4345A-BCE0-4C06-BB87-746FC5FA3BB4}" dt="2026-01-31T16:08:56.942" v="627" actId="20577"/>
        <pc:sldMkLst>
          <pc:docMk/>
          <pc:sldMk cId="0" sldId="274"/>
        </pc:sldMkLst>
        <pc:spChg chg="mod">
          <ac:chgData name="Tanvir Ahmed" userId="5fa9bf89-1556-4927-a8e9-24c5d464f299" providerId="ADAL" clId="{1AA4345A-BCE0-4C06-BB87-746FC5FA3BB4}" dt="2026-01-31T16:08:56.942" v="627" actId="20577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08:33.339" v="616" actId="404"/>
          <ac:spMkLst>
            <pc:docMk/>
            <pc:sldMk cId="0" sldId="274"/>
            <ac:spMk id="10" creationId="{8272727B-4574-5C8B-DC06-3C8E9C999BFF}"/>
          </ac:spMkLst>
        </pc:spChg>
        <pc:spChg chg="add mod">
          <ac:chgData name="Tanvir Ahmed" userId="5fa9bf89-1556-4927-a8e9-24c5d464f299" providerId="ADAL" clId="{1AA4345A-BCE0-4C06-BB87-746FC5FA3BB4}" dt="2026-01-31T16:08:45.786" v="626" actId="20577"/>
          <ac:spMkLst>
            <pc:docMk/>
            <pc:sldMk cId="0" sldId="274"/>
            <ac:spMk id="11" creationId="{461FE16D-CCE2-B867-C315-3215A408F4D7}"/>
          </ac:spMkLst>
        </pc:spChg>
        <pc:picChg chg="mod">
          <ac:chgData name="Tanvir Ahmed" userId="5fa9bf89-1556-4927-a8e9-24c5d464f299" providerId="ADAL" clId="{1AA4345A-BCE0-4C06-BB87-746FC5FA3BB4}" dt="2026-01-31T16:06:43.195" v="585" actId="1076"/>
          <ac:picMkLst>
            <pc:docMk/>
            <pc:sldMk cId="0" sldId="274"/>
            <ac:picMk id="4" creationId="{00000000-0000-0000-0000-000000000000}"/>
          </ac:picMkLst>
        </pc:picChg>
        <pc:picChg chg="add mod">
          <ac:chgData name="Tanvir Ahmed" userId="5fa9bf89-1556-4927-a8e9-24c5d464f299" providerId="ADAL" clId="{1AA4345A-BCE0-4C06-BB87-746FC5FA3BB4}" dt="2026-01-31T16:07:17.578" v="589" actId="1076"/>
          <ac:picMkLst>
            <pc:docMk/>
            <pc:sldMk cId="0" sldId="274"/>
            <ac:picMk id="1026" creationId="{72FF7AE1-44CE-309C-8816-7FC760F00853}"/>
          </ac:picMkLst>
        </pc:picChg>
      </pc:sldChg>
      <pc:sldChg chg="addSp delSp modSp mod">
        <pc:chgData name="Tanvir Ahmed" userId="5fa9bf89-1556-4927-a8e9-24c5d464f299" providerId="ADAL" clId="{1AA4345A-BCE0-4C06-BB87-746FC5FA3BB4}" dt="2026-01-31T16:23:47.193" v="790" actId="1035"/>
        <pc:sldMkLst>
          <pc:docMk/>
          <pc:sldMk cId="0" sldId="277"/>
        </pc:sldMkLst>
        <pc:spChg chg="mod">
          <ac:chgData name="Tanvir Ahmed" userId="5fa9bf89-1556-4927-a8e9-24c5d464f299" providerId="ADAL" clId="{1AA4345A-BCE0-4C06-BB87-746FC5FA3BB4}" dt="2026-01-31T16:15:20.853" v="662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Tanvir Ahmed" userId="5fa9bf89-1556-4927-a8e9-24c5d464f299" providerId="ADAL" clId="{1AA4345A-BCE0-4C06-BB87-746FC5FA3BB4}" dt="2026-01-31T16:15:41.087" v="667" actId="1076"/>
          <ac:spMkLst>
            <pc:docMk/>
            <pc:sldMk cId="0" sldId="277"/>
            <ac:spMk id="15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22:29.658" v="771" actId="1076"/>
          <ac:spMkLst>
            <pc:docMk/>
            <pc:sldMk cId="0" sldId="277"/>
            <ac:spMk id="32" creationId="{8B7D71A5-9A10-7E0B-CD42-6F3E62D1A2A7}"/>
          </ac:spMkLst>
        </pc:spChg>
        <pc:spChg chg="add mod">
          <ac:chgData name="Tanvir Ahmed" userId="5fa9bf89-1556-4927-a8e9-24c5d464f299" providerId="ADAL" clId="{1AA4345A-BCE0-4C06-BB87-746FC5FA3BB4}" dt="2026-01-31T16:18:10.769" v="696" actId="20577"/>
          <ac:spMkLst>
            <pc:docMk/>
            <pc:sldMk cId="0" sldId="277"/>
            <ac:spMk id="33" creationId="{64A630F4-B417-F6BC-2E2E-B5708E1C60C1}"/>
          </ac:spMkLst>
        </pc:spChg>
        <pc:spChg chg="add mod">
          <ac:chgData name="Tanvir Ahmed" userId="5fa9bf89-1556-4927-a8e9-24c5d464f299" providerId="ADAL" clId="{1AA4345A-BCE0-4C06-BB87-746FC5FA3BB4}" dt="2026-01-31T16:21:32.721" v="756" actId="1076"/>
          <ac:spMkLst>
            <pc:docMk/>
            <pc:sldMk cId="0" sldId="277"/>
            <ac:spMk id="37" creationId="{0D2FC613-3E79-1D1D-FD17-65050954409B}"/>
          </ac:spMkLst>
        </pc:spChg>
        <pc:spChg chg="add mod">
          <ac:chgData name="Tanvir Ahmed" userId="5fa9bf89-1556-4927-a8e9-24c5d464f299" providerId="ADAL" clId="{1AA4345A-BCE0-4C06-BB87-746FC5FA3BB4}" dt="2026-01-31T16:23:32.379" v="785" actId="1076"/>
          <ac:spMkLst>
            <pc:docMk/>
            <pc:sldMk cId="0" sldId="277"/>
            <ac:spMk id="38" creationId="{E0DC5CE2-5DAB-E9AE-6FF8-ABDE3F8B65F9}"/>
          </ac:spMkLst>
        </pc:spChg>
        <pc:spChg chg="add mod">
          <ac:chgData name="Tanvir Ahmed" userId="5fa9bf89-1556-4927-a8e9-24c5d464f299" providerId="ADAL" clId="{1AA4345A-BCE0-4C06-BB87-746FC5FA3BB4}" dt="2026-01-31T16:23:47.193" v="790" actId="1035"/>
          <ac:spMkLst>
            <pc:docMk/>
            <pc:sldMk cId="0" sldId="277"/>
            <ac:spMk id="39" creationId="{D721D2CF-A8E7-AED7-401B-96E9DE5F8C2F}"/>
          </ac:spMkLst>
        </pc:spChg>
        <pc:picChg chg="add mod">
          <ac:chgData name="Tanvir Ahmed" userId="5fa9bf89-1556-4927-a8e9-24c5d464f299" providerId="ADAL" clId="{1AA4345A-BCE0-4C06-BB87-746FC5FA3BB4}" dt="2026-01-31T16:15:17.316" v="661" actId="1076"/>
          <ac:picMkLst>
            <pc:docMk/>
            <pc:sldMk cId="0" sldId="277"/>
            <ac:picMk id="27" creationId="{88AF1B02-DCCE-28DE-520B-EC909B0E78A0}"/>
          </ac:picMkLst>
        </pc:picChg>
        <pc:picChg chg="add mod modCrop">
          <ac:chgData name="Tanvir Ahmed" userId="5fa9bf89-1556-4927-a8e9-24c5d464f299" providerId="ADAL" clId="{1AA4345A-BCE0-4C06-BB87-746FC5FA3BB4}" dt="2026-01-31T16:15:38.428" v="666" actId="1076"/>
          <ac:picMkLst>
            <pc:docMk/>
            <pc:sldMk cId="0" sldId="277"/>
            <ac:picMk id="29" creationId="{701E3EF8-9EDF-C7FF-2C4F-1B0CA6662E76}"/>
          </ac:picMkLst>
        </pc:picChg>
        <pc:picChg chg="add mod modCrop">
          <ac:chgData name="Tanvir Ahmed" userId="5fa9bf89-1556-4927-a8e9-24c5d464f299" providerId="ADAL" clId="{1AA4345A-BCE0-4C06-BB87-746FC5FA3BB4}" dt="2026-01-31T16:16:52.527" v="673" actId="1076"/>
          <ac:picMkLst>
            <pc:docMk/>
            <pc:sldMk cId="0" sldId="277"/>
            <ac:picMk id="30" creationId="{4E4B0EB6-ED20-B522-A3FD-6C5F7E975006}"/>
          </ac:picMkLst>
        </pc:picChg>
        <pc:picChg chg="add mod">
          <ac:chgData name="Tanvir Ahmed" userId="5fa9bf89-1556-4927-a8e9-24c5d464f299" providerId="ADAL" clId="{1AA4345A-BCE0-4C06-BB87-746FC5FA3BB4}" dt="2026-01-31T16:17:11.422" v="678" actId="1076"/>
          <ac:picMkLst>
            <pc:docMk/>
            <pc:sldMk cId="0" sldId="277"/>
            <ac:picMk id="31" creationId="{F3AAD916-45D9-B4CD-BE79-9D9CDC6E6795}"/>
          </ac:picMkLst>
        </pc:picChg>
      </pc:sldChg>
      <pc:sldChg chg="addSp delSp modSp mod">
        <pc:chgData name="Tanvir Ahmed" userId="5fa9bf89-1556-4927-a8e9-24c5d464f299" providerId="ADAL" clId="{1AA4345A-BCE0-4C06-BB87-746FC5FA3BB4}" dt="2026-01-31T16:27:42.032" v="835" actId="478"/>
        <pc:sldMkLst>
          <pc:docMk/>
          <pc:sldMk cId="0" sldId="278"/>
        </pc:sldMkLst>
        <pc:spChg chg="mod">
          <ac:chgData name="Tanvir Ahmed" userId="5fa9bf89-1556-4927-a8e9-24c5d464f299" providerId="ADAL" clId="{1AA4345A-BCE0-4C06-BB87-746FC5FA3BB4}" dt="2026-01-31T16:25:16.258" v="810" actId="20577"/>
          <ac:spMkLst>
            <pc:docMk/>
            <pc:sldMk cId="0" sldId="278"/>
            <ac:spMk id="5" creationId="{00000000-0000-0000-0000-000000000000}"/>
          </ac:spMkLst>
        </pc:spChg>
        <pc:spChg chg="add mod">
          <ac:chgData name="Tanvir Ahmed" userId="5fa9bf89-1556-4927-a8e9-24c5d464f299" providerId="ADAL" clId="{1AA4345A-BCE0-4C06-BB87-746FC5FA3BB4}" dt="2026-01-31T16:27:31.096" v="834" actId="1076"/>
          <ac:spMkLst>
            <pc:docMk/>
            <pc:sldMk cId="0" sldId="278"/>
            <ac:spMk id="11" creationId="{1A404E6D-208A-3462-FB1F-6E55B34A40A3}"/>
          </ac:spMkLst>
        </pc:spChg>
        <pc:picChg chg="mod">
          <ac:chgData name="Tanvir Ahmed" userId="5fa9bf89-1556-4927-a8e9-24c5d464f299" providerId="ADAL" clId="{1AA4345A-BCE0-4C06-BB87-746FC5FA3BB4}" dt="2026-01-31T16:27:11.953" v="825" actId="1076"/>
          <ac:picMkLst>
            <pc:docMk/>
            <pc:sldMk cId="0" sldId="278"/>
            <ac:picMk id="4" creationId="{00000000-0000-0000-0000-000000000000}"/>
          </ac:picMkLst>
        </pc:picChg>
        <pc:picChg chg="add mod">
          <ac:chgData name="Tanvir Ahmed" userId="5fa9bf89-1556-4927-a8e9-24c5d464f299" providerId="ADAL" clId="{1AA4345A-BCE0-4C06-BB87-746FC5FA3BB4}" dt="2026-01-31T16:27:14.930" v="826" actId="1076"/>
          <ac:picMkLst>
            <pc:docMk/>
            <pc:sldMk cId="0" sldId="278"/>
            <ac:picMk id="3074" creationId="{3BCB05BE-493D-7703-0E0F-CB447984E31D}"/>
          </ac:picMkLst>
        </pc:picChg>
      </pc:sldChg>
      <pc:sldChg chg="modSp add mod">
        <pc:chgData name="Tanvir Ahmed" userId="5fa9bf89-1556-4927-a8e9-24c5d464f299" providerId="ADAL" clId="{1AA4345A-BCE0-4C06-BB87-746FC5FA3BB4}" dt="2026-02-10T03:27:54.563" v="836" actId="20577"/>
        <pc:sldMkLst>
          <pc:docMk/>
          <pc:sldMk cId="700707328" sldId="358"/>
        </pc:sldMkLst>
        <pc:spChg chg="mod">
          <ac:chgData name="Tanvir Ahmed" userId="5fa9bf89-1556-4927-a8e9-24c5d464f299" providerId="ADAL" clId="{1AA4345A-BCE0-4C06-BB87-746FC5FA3BB4}" dt="2026-01-31T13:52:21.854" v="267" actId="20577"/>
          <ac:spMkLst>
            <pc:docMk/>
            <pc:sldMk cId="700707328" sldId="358"/>
            <ac:spMk id="2" creationId="{00000000-0000-0000-0000-000000000000}"/>
          </ac:spMkLst>
        </pc:spChg>
        <pc:graphicFrameChg chg="modGraphic">
          <ac:chgData name="Tanvir Ahmed" userId="5fa9bf89-1556-4927-a8e9-24c5d464f299" providerId="ADAL" clId="{1AA4345A-BCE0-4C06-BB87-746FC5FA3BB4}" dt="2026-02-10T03:27:54.563" v="836" actId="20577"/>
          <ac:graphicFrameMkLst>
            <pc:docMk/>
            <pc:sldMk cId="700707328" sldId="358"/>
            <ac:graphicFrameMk id="7" creationId="{29FF08AD-7519-4C4A-8E0D-640DF5BB5E58}"/>
          </ac:graphicFrameMkLst>
        </pc:graphicFrameChg>
      </pc:sldChg>
      <pc:sldChg chg="addSp modSp new mod ord setBg">
        <pc:chgData name="Tanvir Ahmed" userId="5fa9bf89-1556-4927-a8e9-24c5d464f299" providerId="ADAL" clId="{1AA4345A-BCE0-4C06-BB87-746FC5FA3BB4}" dt="2026-01-31T15:56:22.115" v="481" actId="20577"/>
        <pc:sldMkLst>
          <pc:docMk/>
          <pc:sldMk cId="3800238198" sldId="359"/>
        </pc:sldMkLst>
        <pc:spChg chg="mod">
          <ac:chgData name="Tanvir Ahmed" userId="5fa9bf89-1556-4927-a8e9-24c5d464f299" providerId="ADAL" clId="{1AA4345A-BCE0-4C06-BB87-746FC5FA3BB4}" dt="2026-01-31T14:03:00.066" v="313" actId="26606"/>
          <ac:spMkLst>
            <pc:docMk/>
            <pc:sldMk cId="3800238198" sldId="359"/>
            <ac:spMk id="2" creationId="{82A430E8-3E7A-CB7C-5DC2-514CB7062ECD}"/>
          </ac:spMkLst>
        </pc:spChg>
        <pc:spChg chg="mod">
          <ac:chgData name="Tanvir Ahmed" userId="5fa9bf89-1556-4927-a8e9-24c5d464f299" providerId="ADAL" clId="{1AA4345A-BCE0-4C06-BB87-746FC5FA3BB4}" dt="2026-01-31T15:56:22.115" v="481" actId="20577"/>
          <ac:spMkLst>
            <pc:docMk/>
            <pc:sldMk cId="3800238198" sldId="359"/>
            <ac:spMk id="3" creationId="{F10B1AC6-BF2C-D8BC-2591-78A5D400289C}"/>
          </ac:spMkLst>
        </pc:spChg>
        <pc:spChg chg="add">
          <ac:chgData name="Tanvir Ahmed" userId="5fa9bf89-1556-4927-a8e9-24c5d464f299" providerId="ADAL" clId="{1AA4345A-BCE0-4C06-BB87-746FC5FA3BB4}" dt="2026-01-31T14:03:00.066" v="313" actId="26606"/>
          <ac:spMkLst>
            <pc:docMk/>
            <pc:sldMk cId="3800238198" sldId="359"/>
            <ac:spMk id="10" creationId="{1A95671B-3CC6-4792-9114-B74FAEA224E6}"/>
          </ac:spMkLst>
        </pc:spChg>
        <pc:picChg chg="add mod">
          <ac:chgData name="Tanvir Ahmed" userId="5fa9bf89-1556-4927-a8e9-24c5d464f299" providerId="ADAL" clId="{1AA4345A-BCE0-4C06-BB87-746FC5FA3BB4}" dt="2026-01-31T14:03:35.563" v="315" actId="1076"/>
          <ac:picMkLst>
            <pc:docMk/>
            <pc:sldMk cId="3800238198" sldId="359"/>
            <ac:picMk id="5" creationId="{2F6BF775-A204-0567-0A0B-467C085E6555}"/>
          </ac:picMkLst>
        </pc:picChg>
      </pc:sldChg>
      <pc:sldChg chg="addSp modSp add mod">
        <pc:chgData name="Tanvir Ahmed" userId="5fa9bf89-1556-4927-a8e9-24c5d464f299" providerId="ADAL" clId="{1AA4345A-BCE0-4C06-BB87-746FC5FA3BB4}" dt="2026-01-31T15:57:35.625" v="487" actId="1076"/>
        <pc:sldMkLst>
          <pc:docMk/>
          <pc:sldMk cId="966005880" sldId="360"/>
        </pc:sldMkLst>
        <pc:spChg chg="mod">
          <ac:chgData name="Tanvir Ahmed" userId="5fa9bf89-1556-4927-a8e9-24c5d464f299" providerId="ADAL" clId="{1AA4345A-BCE0-4C06-BB87-746FC5FA3BB4}" dt="2026-01-31T15:57:26.042" v="485" actId="1076"/>
          <ac:spMkLst>
            <pc:docMk/>
            <pc:sldMk cId="966005880" sldId="360"/>
            <ac:spMk id="3" creationId="{9B3A7F4B-4B8A-2C1F-CECB-1A54323606FF}"/>
          </ac:spMkLst>
        </pc:spChg>
        <pc:spChg chg="add mod">
          <ac:chgData name="Tanvir Ahmed" userId="5fa9bf89-1556-4927-a8e9-24c5d464f299" providerId="ADAL" clId="{1AA4345A-BCE0-4C06-BB87-746FC5FA3BB4}" dt="2026-01-31T15:57:29.809" v="486" actId="1076"/>
          <ac:spMkLst>
            <pc:docMk/>
            <pc:sldMk cId="966005880" sldId="360"/>
            <ac:spMk id="4" creationId="{766F3D40-DB18-8782-0376-45B592EEDA49}"/>
          </ac:spMkLst>
        </pc:spChg>
        <pc:spChg chg="add mod">
          <ac:chgData name="Tanvir Ahmed" userId="5fa9bf89-1556-4927-a8e9-24c5d464f299" providerId="ADAL" clId="{1AA4345A-BCE0-4C06-BB87-746FC5FA3BB4}" dt="2026-01-31T15:57:35.625" v="487" actId="1076"/>
          <ac:spMkLst>
            <pc:docMk/>
            <pc:sldMk cId="966005880" sldId="360"/>
            <ac:spMk id="6" creationId="{52D77455-405A-539D-B889-25574997F503}"/>
          </ac:spMkLst>
        </pc:spChg>
        <pc:picChg chg="mod ord modCrop">
          <ac:chgData name="Tanvir Ahmed" userId="5fa9bf89-1556-4927-a8e9-24c5d464f299" providerId="ADAL" clId="{1AA4345A-BCE0-4C06-BB87-746FC5FA3BB4}" dt="2026-01-31T15:57:17.295" v="484" actId="732"/>
          <ac:picMkLst>
            <pc:docMk/>
            <pc:sldMk cId="966005880" sldId="360"/>
            <ac:picMk id="5" creationId="{FA019816-8238-5F10-D5EF-B470D780E0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775" y="723900"/>
            <a:ext cx="5124450" cy="34194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0576" y="623951"/>
            <a:ext cx="951865" cy="2238375"/>
          </a:xfrm>
          <a:custGeom>
            <a:avLst/>
            <a:gdLst/>
            <a:ahLst/>
            <a:cxnLst/>
            <a:rect l="l" t="t" r="r" b="b"/>
            <a:pathLst>
              <a:path w="951864" h="2238375">
                <a:moveTo>
                  <a:pt x="0" y="0"/>
                </a:moveTo>
                <a:lnTo>
                  <a:pt x="49392" y="30001"/>
                </a:lnTo>
                <a:lnTo>
                  <a:pt x="116722" y="65391"/>
                </a:lnTo>
                <a:lnTo>
                  <a:pt x="155755" y="85117"/>
                </a:lnTo>
                <a:lnTo>
                  <a:pt x="197644" y="106202"/>
                </a:lnTo>
                <a:lnTo>
                  <a:pt x="241844" y="128651"/>
                </a:lnTo>
                <a:lnTo>
                  <a:pt x="287814" y="152467"/>
                </a:lnTo>
                <a:lnTo>
                  <a:pt x="335010" y="177653"/>
                </a:lnTo>
                <a:lnTo>
                  <a:pt x="382889" y="204216"/>
                </a:lnTo>
                <a:lnTo>
                  <a:pt x="430907" y="232157"/>
                </a:lnTo>
                <a:lnTo>
                  <a:pt x="478523" y="261481"/>
                </a:lnTo>
                <a:lnTo>
                  <a:pt x="525193" y="292193"/>
                </a:lnTo>
                <a:lnTo>
                  <a:pt x="570374" y="324296"/>
                </a:lnTo>
                <a:lnTo>
                  <a:pt x="613523" y="357794"/>
                </a:lnTo>
                <a:lnTo>
                  <a:pt x="654096" y="392692"/>
                </a:lnTo>
                <a:lnTo>
                  <a:pt x="691552" y="428992"/>
                </a:lnTo>
                <a:lnTo>
                  <a:pt x="725346" y="466700"/>
                </a:lnTo>
                <a:lnTo>
                  <a:pt x="754936" y="505819"/>
                </a:lnTo>
                <a:lnTo>
                  <a:pt x="779779" y="546353"/>
                </a:lnTo>
                <a:lnTo>
                  <a:pt x="798813" y="583729"/>
                </a:lnTo>
                <a:lnTo>
                  <a:pt x="817099" y="623918"/>
                </a:lnTo>
                <a:lnTo>
                  <a:pt x="834560" y="666657"/>
                </a:lnTo>
                <a:lnTo>
                  <a:pt x="851119" y="711681"/>
                </a:lnTo>
                <a:lnTo>
                  <a:pt x="866698" y="758727"/>
                </a:lnTo>
                <a:lnTo>
                  <a:pt x="881220" y="807529"/>
                </a:lnTo>
                <a:lnTo>
                  <a:pt x="894606" y="857824"/>
                </a:lnTo>
                <a:lnTo>
                  <a:pt x="906780" y="909347"/>
                </a:lnTo>
                <a:lnTo>
                  <a:pt x="917664" y="961833"/>
                </a:lnTo>
                <a:lnTo>
                  <a:pt x="927180" y="1015020"/>
                </a:lnTo>
                <a:lnTo>
                  <a:pt x="935251" y="1068642"/>
                </a:lnTo>
                <a:lnTo>
                  <a:pt x="941799" y="1122435"/>
                </a:lnTo>
                <a:lnTo>
                  <a:pt x="946747" y="1176134"/>
                </a:lnTo>
                <a:lnTo>
                  <a:pt x="950017" y="1229476"/>
                </a:lnTo>
                <a:lnTo>
                  <a:pt x="951532" y="1282196"/>
                </a:lnTo>
                <a:lnTo>
                  <a:pt x="951215" y="1334030"/>
                </a:lnTo>
                <a:lnTo>
                  <a:pt x="948987" y="1384714"/>
                </a:lnTo>
                <a:lnTo>
                  <a:pt x="944771" y="1433983"/>
                </a:lnTo>
                <a:lnTo>
                  <a:pt x="938489" y="1481573"/>
                </a:lnTo>
                <a:lnTo>
                  <a:pt x="930065" y="1527219"/>
                </a:lnTo>
                <a:lnTo>
                  <a:pt x="919420" y="1570658"/>
                </a:lnTo>
                <a:lnTo>
                  <a:pt x="906477" y="1611626"/>
                </a:lnTo>
                <a:lnTo>
                  <a:pt x="891159" y="1649857"/>
                </a:lnTo>
                <a:lnTo>
                  <a:pt x="871047" y="1687844"/>
                </a:lnTo>
                <a:lnTo>
                  <a:pt x="845594" y="1724899"/>
                </a:lnTo>
                <a:lnTo>
                  <a:pt x="815321" y="1761000"/>
                </a:lnTo>
                <a:lnTo>
                  <a:pt x="780752" y="1796129"/>
                </a:lnTo>
                <a:lnTo>
                  <a:pt x="742408" y="1830263"/>
                </a:lnTo>
                <a:lnTo>
                  <a:pt x="700813" y="1863382"/>
                </a:lnTo>
                <a:lnTo>
                  <a:pt x="656490" y="1895465"/>
                </a:lnTo>
                <a:lnTo>
                  <a:pt x="609960" y="1926492"/>
                </a:lnTo>
                <a:lnTo>
                  <a:pt x="561746" y="1956443"/>
                </a:lnTo>
                <a:lnTo>
                  <a:pt x="512372" y="1985295"/>
                </a:lnTo>
                <a:lnTo>
                  <a:pt x="462359" y="2013029"/>
                </a:lnTo>
                <a:lnTo>
                  <a:pt x="412230" y="2039624"/>
                </a:lnTo>
                <a:lnTo>
                  <a:pt x="362509" y="2065059"/>
                </a:lnTo>
                <a:lnTo>
                  <a:pt x="313717" y="2089314"/>
                </a:lnTo>
                <a:lnTo>
                  <a:pt x="266377" y="2112367"/>
                </a:lnTo>
                <a:lnTo>
                  <a:pt x="221011" y="2134199"/>
                </a:lnTo>
                <a:lnTo>
                  <a:pt x="178144" y="2154789"/>
                </a:lnTo>
                <a:lnTo>
                  <a:pt x="138296" y="2174115"/>
                </a:lnTo>
                <a:lnTo>
                  <a:pt x="101991" y="2192157"/>
                </a:lnTo>
                <a:lnTo>
                  <a:pt x="69751" y="2208895"/>
                </a:lnTo>
                <a:lnTo>
                  <a:pt x="42099" y="2224308"/>
                </a:lnTo>
                <a:lnTo>
                  <a:pt x="19558" y="223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4409" y="1944623"/>
            <a:ext cx="1370965" cy="1442085"/>
          </a:xfrm>
          <a:custGeom>
            <a:avLst/>
            <a:gdLst/>
            <a:ahLst/>
            <a:cxnLst/>
            <a:rect l="l" t="t" r="r" b="b"/>
            <a:pathLst>
              <a:path w="1370964" h="1442085">
                <a:moveTo>
                  <a:pt x="1008253" y="976249"/>
                </a:moveTo>
                <a:lnTo>
                  <a:pt x="1000531" y="968883"/>
                </a:lnTo>
                <a:lnTo>
                  <a:pt x="938911" y="910082"/>
                </a:lnTo>
                <a:lnTo>
                  <a:pt x="930529" y="937361"/>
                </a:lnTo>
                <a:lnTo>
                  <a:pt x="171958" y="703961"/>
                </a:lnTo>
                <a:lnTo>
                  <a:pt x="163436" y="731266"/>
                </a:lnTo>
                <a:lnTo>
                  <a:pt x="922147" y="964666"/>
                </a:lnTo>
                <a:lnTo>
                  <a:pt x="913765" y="991997"/>
                </a:lnTo>
                <a:lnTo>
                  <a:pt x="1008253" y="976249"/>
                </a:lnTo>
                <a:close/>
              </a:path>
              <a:path w="1370964" h="1442085">
                <a:moveTo>
                  <a:pt x="1030605" y="1437640"/>
                </a:moveTo>
                <a:lnTo>
                  <a:pt x="1017473" y="1421765"/>
                </a:lnTo>
                <a:lnTo>
                  <a:pt x="969518" y="1363726"/>
                </a:lnTo>
                <a:lnTo>
                  <a:pt x="957961" y="1389824"/>
                </a:lnTo>
                <a:lnTo>
                  <a:pt x="11557" y="971296"/>
                </a:lnTo>
                <a:lnTo>
                  <a:pt x="0" y="997331"/>
                </a:lnTo>
                <a:lnTo>
                  <a:pt x="946391" y="1415986"/>
                </a:lnTo>
                <a:lnTo>
                  <a:pt x="934847" y="1442085"/>
                </a:lnTo>
                <a:lnTo>
                  <a:pt x="1030605" y="1437640"/>
                </a:lnTo>
                <a:close/>
              </a:path>
              <a:path w="1370964" h="1442085">
                <a:moveTo>
                  <a:pt x="1370838" y="22352"/>
                </a:moveTo>
                <a:lnTo>
                  <a:pt x="1277620" y="0"/>
                </a:lnTo>
                <a:lnTo>
                  <a:pt x="1284071" y="27736"/>
                </a:lnTo>
                <a:lnTo>
                  <a:pt x="40640" y="317119"/>
                </a:lnTo>
                <a:lnTo>
                  <a:pt x="47117" y="344932"/>
                </a:lnTo>
                <a:lnTo>
                  <a:pt x="1290574" y="55676"/>
                </a:lnTo>
                <a:lnTo>
                  <a:pt x="1297051" y="83439"/>
                </a:lnTo>
                <a:lnTo>
                  <a:pt x="1368221" y="24511"/>
                </a:lnTo>
                <a:lnTo>
                  <a:pt x="1370838" y="22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2576" y="179387"/>
            <a:ext cx="203644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136143"/>
            <a:ext cx="83623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7370" y="2125979"/>
            <a:ext cx="4449445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4802992"/>
            <a:ext cx="3215004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82001" y="4802992"/>
            <a:ext cx="11918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275625"/>
            <a:ext cx="1477645" cy="841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Rifath-Mahmud/CVPR/blob/main/mnist-classification-knn.ipynb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hyperlink" Target="https://creativecommons.org/publicdomain/zero/1.0/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xels.com/photo/blonde-haired-woman-in-blue-shirt-y-27411/" TargetMode="Externa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6768460" cy="727487"/>
          </a:xfrm>
        </p:spPr>
        <p:txBody>
          <a:bodyPr anchor="ctr">
            <a:noAutofit/>
          </a:bodyPr>
          <a:lstStyle/>
          <a:p>
            <a:r>
              <a:rPr lang="en-US" sz="2000" dirty="0"/>
              <a:t>Understanding Images and Classification with Linear Classifiers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66437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/>
                        <a:t>Lecture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430E8-3E7A-CB7C-5DC2-514CB706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B1AC6-BF2C-D8BC-2591-78A5D400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921" y="3940297"/>
            <a:ext cx="7631722" cy="575928"/>
          </a:xfrm>
        </p:spPr>
        <p:txBody>
          <a:bodyPr anchor="ctr">
            <a:normAutofit/>
          </a:bodyPr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Gray Scale Image </a:t>
            </a: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Black(0) and White(255) Anything in between is shades of gray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6BF775-A204-0567-0A0B-467C085E6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21" y="964406"/>
            <a:ext cx="7645871" cy="29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38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34F0-98BB-C795-57B8-A12263DB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956490D-C981-AA10-5B1E-D26BDB55D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A02F0-DC00-9856-F4E6-F4EF20C3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30524"/>
            <a:ext cx="7631723" cy="833882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dirty="0"/>
              <a:t>Understanding an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7F4B-4B8A-2C1F-CECB-1A5432360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1642" y="3935127"/>
            <a:ext cx="1143000" cy="548101"/>
          </a:xfrm>
        </p:spPr>
        <p:txBody>
          <a:bodyPr anchor="ctr">
            <a:norm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Binary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19816-8238-5F10-D5EF-B470D780E0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" b="10831"/>
          <a:stretch>
            <a:fillRect/>
          </a:stretch>
        </p:blipFill>
        <p:spPr>
          <a:xfrm>
            <a:off x="1219200" y="1094930"/>
            <a:ext cx="7168661" cy="296762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6F3D40-DB18-8782-0376-45B592EEDA49}"/>
              </a:ext>
            </a:extLst>
          </p:cNvPr>
          <p:cNvSpPr txBox="1">
            <a:spLocks/>
          </p:cNvSpPr>
          <p:nvPr/>
        </p:nvSpPr>
        <p:spPr>
          <a:xfrm>
            <a:off x="3488642" y="3998839"/>
            <a:ext cx="114300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Gray Scale Image (Black and White)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2D77455-405A-539D-B889-25574997F503}"/>
              </a:ext>
            </a:extLst>
          </p:cNvPr>
          <p:cNvSpPr txBox="1">
            <a:spLocks/>
          </p:cNvSpPr>
          <p:nvPr/>
        </p:nvSpPr>
        <p:spPr>
          <a:xfrm>
            <a:off x="5334000" y="3967189"/>
            <a:ext cx="2130670" cy="5481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>
              <a:defRPr sz="2400" b="0" i="0">
                <a:solidFill>
                  <a:schemeClr val="hlink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RGB Image</a:t>
            </a:r>
          </a:p>
        </p:txBody>
      </p:sp>
    </p:spTree>
    <p:extLst>
      <p:ext uri="{BB962C8B-B14F-4D97-AF65-F5344CB8AC3E}">
        <p14:creationId xmlns:p14="http://schemas.microsoft.com/office/powerpoint/2010/main" val="96600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28" y="487044"/>
            <a:ext cx="8243571" cy="119006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lang="en-US" sz="4800" spc="-229" dirty="0"/>
              <a:t>What can we do with Images?</a:t>
            </a:r>
            <a:endParaRPr sz="4800" dirty="0"/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2400" spc="-135" dirty="0"/>
              <a:t>Image Classification A Core Task in computer vision</a:t>
            </a:r>
            <a:endParaRPr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629" y="2018029"/>
            <a:ext cx="7760334" cy="14959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381000">
              <a:lnSpc>
                <a:spcPts val="2855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The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image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classification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task</a:t>
            </a:r>
            <a:endParaRPr sz="2400" dirty="0">
              <a:latin typeface="Tahoma"/>
              <a:cs typeface="Tahoma"/>
            </a:endParaRPr>
          </a:p>
          <a:p>
            <a:pPr marL="469900" indent="-381000">
              <a:lnSpc>
                <a:spcPts val="2870"/>
              </a:lnSpc>
              <a:buChar char="●"/>
              <a:tabLst>
                <a:tab pos="469900" algn="l"/>
              </a:tabLst>
            </a:pPr>
            <a:r>
              <a:rPr sz="2400" spc="-75" dirty="0">
                <a:latin typeface="Tahoma"/>
                <a:cs typeface="Tahoma"/>
              </a:rPr>
              <a:t>Two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basic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data-</a:t>
            </a:r>
            <a:r>
              <a:rPr sz="2400" spc="-40" dirty="0">
                <a:latin typeface="Tahoma"/>
                <a:cs typeface="Tahoma"/>
              </a:rPr>
              <a:t>driven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approaches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to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image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classification</a:t>
            </a:r>
            <a:endParaRPr sz="2400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sz="2400" spc="-90" dirty="0">
                <a:latin typeface="Tahoma"/>
                <a:cs typeface="Tahoma"/>
              </a:rPr>
              <a:t>K-</a:t>
            </a:r>
            <a:r>
              <a:rPr sz="2400" spc="-55" dirty="0">
                <a:latin typeface="Tahoma"/>
                <a:cs typeface="Tahoma"/>
              </a:rPr>
              <a:t>nearest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neighbor</a:t>
            </a:r>
            <a:r>
              <a:rPr sz="2400" spc="-265" dirty="0">
                <a:latin typeface="Tahoma"/>
                <a:cs typeface="Tahoma"/>
              </a:rPr>
              <a:t> </a:t>
            </a:r>
            <a:endParaRPr lang="en-US" sz="2400" spc="-265" dirty="0">
              <a:latin typeface="Tahoma"/>
              <a:cs typeface="Tahoma"/>
            </a:endParaRPr>
          </a:p>
          <a:p>
            <a:pPr marL="927735" lvl="1" indent="-381000">
              <a:lnSpc>
                <a:spcPct val="100000"/>
              </a:lnSpc>
              <a:spcBef>
                <a:spcPts val="45"/>
              </a:spcBef>
              <a:buChar char="○"/>
              <a:tabLst>
                <a:tab pos="927735" algn="l"/>
              </a:tabLst>
            </a:pPr>
            <a:r>
              <a:rPr lang="en-US" sz="2400" spc="-20" dirty="0">
                <a:latin typeface="Tahoma"/>
                <a:cs typeface="Tahoma"/>
              </a:rPr>
              <a:t>L</a:t>
            </a:r>
            <a:r>
              <a:rPr sz="2400" spc="-20" dirty="0">
                <a:latin typeface="Tahoma"/>
                <a:cs typeface="Tahoma"/>
              </a:rPr>
              <a:t>inear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classifier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5" dirty="0"/>
              <a:t>An</a:t>
            </a:r>
            <a:r>
              <a:rPr spc="-280" dirty="0"/>
              <a:t> </a:t>
            </a:r>
            <a:r>
              <a:rPr spc="-35" dirty="0"/>
              <a:t>image</a:t>
            </a:r>
            <a:r>
              <a:rPr spc="-280" dirty="0"/>
              <a:t> </a:t>
            </a:r>
            <a:r>
              <a:rPr spc="-10" dirty="0"/>
              <a:t>classifier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650" y="1133475"/>
            <a:ext cx="3314700" cy="1152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3764" y="2683129"/>
            <a:ext cx="7773036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 dirty="0">
                <a:latin typeface="Tahoma"/>
                <a:cs typeface="Tahoma"/>
              </a:rPr>
              <a:t>Unlike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e.g.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sorting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list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of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numbers,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obvious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way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hard-</a:t>
            </a:r>
            <a:r>
              <a:rPr sz="2400" spc="-30" dirty="0">
                <a:latin typeface="Tahoma"/>
                <a:cs typeface="Tahoma"/>
              </a:rPr>
              <a:t>code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algorithm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for </a:t>
            </a:r>
            <a:r>
              <a:rPr sz="2400" spc="-45" dirty="0">
                <a:latin typeface="Tahoma"/>
                <a:cs typeface="Tahoma"/>
              </a:rPr>
              <a:t>recognizing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a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cat,</a:t>
            </a:r>
            <a:r>
              <a:rPr sz="2400" spc="-19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or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other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classes.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Attempts</a:t>
            </a:r>
            <a:r>
              <a:rPr spc="-260" dirty="0"/>
              <a:t> </a:t>
            </a:r>
            <a:r>
              <a:rPr spc="-70" dirty="0"/>
              <a:t>have</a:t>
            </a:r>
            <a:r>
              <a:rPr spc="-245" dirty="0"/>
              <a:t> </a:t>
            </a:r>
            <a:r>
              <a:rPr spc="-40" dirty="0"/>
              <a:t>been</a:t>
            </a:r>
            <a:r>
              <a:rPr spc="-235" dirty="0"/>
              <a:t> </a:t>
            </a:r>
            <a:r>
              <a:rPr spc="-20" dirty="0"/>
              <a:t>made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7650" y="1066800"/>
            <a:ext cx="6396990" cy="2800350"/>
            <a:chOff x="247650" y="1066800"/>
            <a:chExt cx="6396990" cy="2800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" y="1066800"/>
              <a:ext cx="2028825" cy="2800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8050" y="1066800"/>
              <a:ext cx="2019300" cy="2800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1301" y="24288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10" h="85725">
                  <a:moveTo>
                    <a:pt x="1086358" y="0"/>
                  </a:moveTo>
                  <a:lnTo>
                    <a:pt x="1086358" y="85725"/>
                  </a:lnTo>
                  <a:lnTo>
                    <a:pt x="1143592" y="57150"/>
                  </a:lnTo>
                  <a:lnTo>
                    <a:pt x="1100582" y="57150"/>
                  </a:lnTo>
                  <a:lnTo>
                    <a:pt x="1100582" y="28575"/>
                  </a:lnTo>
                  <a:lnTo>
                    <a:pt x="1143423" y="28575"/>
                  </a:lnTo>
                  <a:lnTo>
                    <a:pt x="1086358" y="0"/>
                  </a:lnTo>
                  <a:close/>
                </a:path>
                <a:path w="1172210" h="85725">
                  <a:moveTo>
                    <a:pt x="1086358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358" y="57150"/>
                  </a:lnTo>
                  <a:lnTo>
                    <a:pt x="1086358" y="28575"/>
                  </a:lnTo>
                  <a:close/>
                </a:path>
                <a:path w="1172210" h="85725">
                  <a:moveTo>
                    <a:pt x="1143423" y="28575"/>
                  </a:moveTo>
                  <a:lnTo>
                    <a:pt x="1100582" y="28575"/>
                  </a:lnTo>
                  <a:lnTo>
                    <a:pt x="1100582" y="57150"/>
                  </a:lnTo>
                  <a:lnTo>
                    <a:pt x="1143592" y="57150"/>
                  </a:lnTo>
                  <a:lnTo>
                    <a:pt x="1172083" y="42925"/>
                  </a:lnTo>
                  <a:lnTo>
                    <a:pt x="1143423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72048" y="2466975"/>
              <a:ext cx="1172210" cy="85725"/>
            </a:xfrm>
            <a:custGeom>
              <a:avLst/>
              <a:gdLst/>
              <a:ahLst/>
              <a:cxnLst/>
              <a:rect l="l" t="t" r="r" b="b"/>
              <a:pathLst>
                <a:path w="1172209" h="85725">
                  <a:moveTo>
                    <a:pt x="1086484" y="0"/>
                  </a:moveTo>
                  <a:lnTo>
                    <a:pt x="1086484" y="85725"/>
                  </a:lnTo>
                  <a:lnTo>
                    <a:pt x="1143719" y="57150"/>
                  </a:lnTo>
                  <a:lnTo>
                    <a:pt x="1100708" y="57150"/>
                  </a:lnTo>
                  <a:lnTo>
                    <a:pt x="1100708" y="28575"/>
                  </a:lnTo>
                  <a:lnTo>
                    <a:pt x="1143550" y="28575"/>
                  </a:lnTo>
                  <a:lnTo>
                    <a:pt x="1086484" y="0"/>
                  </a:lnTo>
                  <a:close/>
                </a:path>
                <a:path w="1172209" h="85725">
                  <a:moveTo>
                    <a:pt x="108648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1086484" y="57150"/>
                  </a:lnTo>
                  <a:lnTo>
                    <a:pt x="1086484" y="28575"/>
                  </a:lnTo>
                  <a:close/>
                </a:path>
                <a:path w="1172209" h="85725">
                  <a:moveTo>
                    <a:pt x="1143550" y="28575"/>
                  </a:moveTo>
                  <a:lnTo>
                    <a:pt x="1100708" y="28575"/>
                  </a:lnTo>
                  <a:lnTo>
                    <a:pt x="1100708" y="57150"/>
                  </a:lnTo>
                  <a:lnTo>
                    <a:pt x="1143719" y="57150"/>
                  </a:lnTo>
                  <a:lnTo>
                    <a:pt x="1172209" y="42925"/>
                  </a:lnTo>
                  <a:lnTo>
                    <a:pt x="1143550" y="28575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9565" y="4618354"/>
            <a:ext cx="25209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B7B7B7"/>
                </a:solidFill>
                <a:latin typeface="Tahoma"/>
                <a:cs typeface="Tahoma"/>
              </a:rPr>
              <a:t>John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Canny,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0" dirty="0">
                <a:solidFill>
                  <a:srgbClr val="B7B7B7"/>
                </a:solidFill>
                <a:latin typeface="Tahoma"/>
                <a:cs typeface="Tahoma"/>
              </a:rPr>
              <a:t>“A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Computational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Approach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to</a:t>
            </a:r>
            <a:r>
              <a:rPr sz="600" spc="-1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Edge</a:t>
            </a:r>
            <a:r>
              <a:rPr sz="600" spc="3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Detection”,</a:t>
            </a:r>
            <a:r>
              <a:rPr sz="600" spc="-8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35" dirty="0">
                <a:solidFill>
                  <a:srgbClr val="B7B7B7"/>
                </a:solidFill>
                <a:latin typeface="Tahoma"/>
                <a:cs typeface="Tahoma"/>
              </a:rPr>
              <a:t>IEEE</a:t>
            </a:r>
            <a:r>
              <a:rPr sz="600" spc="5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40" dirty="0">
                <a:solidFill>
                  <a:srgbClr val="B7B7B7"/>
                </a:solidFill>
                <a:latin typeface="Tahoma"/>
                <a:cs typeface="Tahoma"/>
              </a:rPr>
              <a:t>TPAMI</a:t>
            </a:r>
            <a:r>
              <a:rPr sz="600" spc="-90" dirty="0">
                <a:solidFill>
                  <a:srgbClr val="B7B7B7"/>
                </a:solidFill>
                <a:latin typeface="Tahoma"/>
                <a:cs typeface="Tahoma"/>
              </a:rPr>
              <a:t> </a:t>
            </a:r>
            <a:r>
              <a:rPr sz="600" spc="-20" dirty="0">
                <a:solidFill>
                  <a:srgbClr val="B7B7B7"/>
                </a:solidFill>
                <a:latin typeface="Tahoma"/>
                <a:cs typeface="Tahoma"/>
              </a:rPr>
              <a:t>1986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8000" y="2357501"/>
            <a:ext cx="429259" cy="316865"/>
            <a:chOff x="6858000" y="2357501"/>
            <a:chExt cx="429259" cy="316865"/>
          </a:xfrm>
        </p:grpSpPr>
        <p:sp>
          <p:nvSpPr>
            <p:cNvPr id="10" name="object 10"/>
            <p:cNvSpPr/>
            <p:nvPr/>
          </p:nvSpPr>
          <p:spPr>
            <a:xfrm>
              <a:off x="6877050" y="2447925"/>
              <a:ext cx="391160" cy="207010"/>
            </a:xfrm>
            <a:custGeom>
              <a:avLst/>
              <a:gdLst/>
              <a:ahLst/>
              <a:cxnLst/>
              <a:rect l="l" t="t" r="r" b="b"/>
              <a:pathLst>
                <a:path w="391159" h="207010">
                  <a:moveTo>
                    <a:pt x="0" y="0"/>
                  </a:moveTo>
                  <a:lnTo>
                    <a:pt x="207009" y="207010"/>
                  </a:lnTo>
                </a:path>
                <a:path w="391159" h="207010">
                  <a:moveTo>
                    <a:pt x="390905" y="0"/>
                  </a:moveTo>
                  <a:lnTo>
                    <a:pt x="19050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1900" y="2357501"/>
              <a:ext cx="0" cy="295910"/>
            </a:xfrm>
            <a:custGeom>
              <a:avLst/>
              <a:gdLst/>
              <a:ahLst/>
              <a:cxnLst/>
              <a:rect l="l" t="t" r="r" b="b"/>
              <a:pathLst>
                <a:path h="295910">
                  <a:moveTo>
                    <a:pt x="0" y="0"/>
                  </a:moveTo>
                  <a:lnTo>
                    <a:pt x="0" y="295401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34325" y="2333625"/>
            <a:ext cx="426084" cy="319405"/>
            <a:chOff x="7934325" y="2333625"/>
            <a:chExt cx="426084" cy="319405"/>
          </a:xfrm>
        </p:grpSpPr>
        <p:sp>
          <p:nvSpPr>
            <p:cNvPr id="13" name="object 13"/>
            <p:cNvSpPr/>
            <p:nvPr/>
          </p:nvSpPr>
          <p:spPr>
            <a:xfrm>
              <a:off x="7953375" y="2352675"/>
              <a:ext cx="387985" cy="210185"/>
            </a:xfrm>
            <a:custGeom>
              <a:avLst/>
              <a:gdLst/>
              <a:ahLst/>
              <a:cxnLst/>
              <a:rect l="l" t="t" r="r" b="b"/>
              <a:pathLst>
                <a:path w="387984" h="210185">
                  <a:moveTo>
                    <a:pt x="387984" y="207010"/>
                  </a:moveTo>
                  <a:lnTo>
                    <a:pt x="180975" y="0"/>
                  </a:lnTo>
                </a:path>
                <a:path w="387984" h="210185">
                  <a:moveTo>
                    <a:pt x="0" y="209931"/>
                  </a:moveTo>
                  <a:lnTo>
                    <a:pt x="200405" y="9525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58099" y="2357500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4" h="295910">
                  <a:moveTo>
                    <a:pt x="126" y="295401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48550" y="2286000"/>
            <a:ext cx="319405" cy="429259"/>
            <a:chOff x="7448550" y="2286000"/>
            <a:chExt cx="319405" cy="429259"/>
          </a:xfrm>
        </p:grpSpPr>
        <p:sp>
          <p:nvSpPr>
            <p:cNvPr id="16" name="object 16"/>
            <p:cNvSpPr/>
            <p:nvPr/>
          </p:nvSpPr>
          <p:spPr>
            <a:xfrm>
              <a:off x="7467600" y="2305050"/>
              <a:ext cx="207010" cy="391160"/>
            </a:xfrm>
            <a:custGeom>
              <a:avLst/>
              <a:gdLst/>
              <a:ahLst/>
              <a:cxnLst/>
              <a:rect l="l" t="t" r="r" b="b"/>
              <a:pathLst>
                <a:path w="207009" h="391160">
                  <a:moveTo>
                    <a:pt x="207009" y="0"/>
                  </a:moveTo>
                  <a:lnTo>
                    <a:pt x="0" y="207010"/>
                  </a:lnTo>
                </a:path>
                <a:path w="207009" h="391160">
                  <a:moveTo>
                    <a:pt x="200405" y="390906"/>
                  </a:moveTo>
                  <a:lnTo>
                    <a:pt x="0" y="190500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2425" y="2509900"/>
              <a:ext cx="295910" cy="0"/>
            </a:xfrm>
            <a:custGeom>
              <a:avLst/>
              <a:gdLst/>
              <a:ahLst/>
              <a:cxnLst/>
              <a:rect l="l" t="t" r="r" b="b"/>
              <a:pathLst>
                <a:path w="295909">
                  <a:moveTo>
                    <a:pt x="295401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8548751" y="2286000"/>
            <a:ext cx="309880" cy="426084"/>
            <a:chOff x="8548751" y="2286000"/>
            <a:chExt cx="309880" cy="426084"/>
          </a:xfrm>
        </p:grpSpPr>
        <p:sp>
          <p:nvSpPr>
            <p:cNvPr id="19" name="object 19"/>
            <p:cNvSpPr/>
            <p:nvPr/>
          </p:nvSpPr>
          <p:spPr>
            <a:xfrm>
              <a:off x="8629650" y="2305050"/>
              <a:ext cx="210185" cy="387985"/>
            </a:xfrm>
            <a:custGeom>
              <a:avLst/>
              <a:gdLst/>
              <a:ahLst/>
              <a:cxnLst/>
              <a:rect l="l" t="t" r="r" b="b"/>
              <a:pathLst>
                <a:path w="210184" h="387985">
                  <a:moveTo>
                    <a:pt x="0" y="387985"/>
                  </a:moveTo>
                  <a:lnTo>
                    <a:pt x="207009" y="180975"/>
                  </a:lnTo>
                </a:path>
                <a:path w="210184" h="387985">
                  <a:moveTo>
                    <a:pt x="9525" y="0"/>
                  </a:moveTo>
                  <a:lnTo>
                    <a:pt x="209930" y="200406"/>
                  </a:lnTo>
                </a:path>
              </a:pathLst>
            </a:custGeom>
            <a:ln w="381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48751" y="2509774"/>
              <a:ext cx="295910" cy="635"/>
            </a:xfrm>
            <a:custGeom>
              <a:avLst/>
              <a:gdLst/>
              <a:ahLst/>
              <a:cxnLst/>
              <a:rect l="l" t="t" r="r" b="b"/>
              <a:pathLst>
                <a:path w="295909" h="635">
                  <a:moveTo>
                    <a:pt x="0" y="126"/>
                  </a:moveTo>
                  <a:lnTo>
                    <a:pt x="295401" y="0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00045" y="2114169"/>
            <a:ext cx="82740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edges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26785" y="2182431"/>
            <a:ext cx="9480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Find</a:t>
            </a:r>
            <a:r>
              <a:rPr sz="1400" spc="-1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corners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6519" y="3781742"/>
            <a:ext cx="1879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95" dirty="0">
                <a:latin typeface="Tahoma"/>
                <a:cs typeface="Tahoma"/>
              </a:rPr>
              <a:t>?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81925" y="2795651"/>
            <a:ext cx="85725" cy="919480"/>
          </a:xfrm>
          <a:custGeom>
            <a:avLst/>
            <a:gdLst/>
            <a:ahLst/>
            <a:cxnLst/>
            <a:rect l="l" t="t" r="r" b="b"/>
            <a:pathLst>
              <a:path w="85725" h="919479">
                <a:moveTo>
                  <a:pt x="28575" y="833755"/>
                </a:moveTo>
                <a:lnTo>
                  <a:pt x="0" y="833755"/>
                </a:lnTo>
                <a:lnTo>
                  <a:pt x="42799" y="919480"/>
                </a:lnTo>
                <a:lnTo>
                  <a:pt x="78602" y="847979"/>
                </a:lnTo>
                <a:lnTo>
                  <a:pt x="28575" y="847979"/>
                </a:lnTo>
                <a:lnTo>
                  <a:pt x="28575" y="833755"/>
                </a:lnTo>
                <a:close/>
              </a:path>
              <a:path w="85725" h="919479">
                <a:moveTo>
                  <a:pt x="57150" y="0"/>
                </a:moveTo>
                <a:lnTo>
                  <a:pt x="28575" y="0"/>
                </a:lnTo>
                <a:lnTo>
                  <a:pt x="28575" y="847979"/>
                </a:lnTo>
                <a:lnTo>
                  <a:pt x="57150" y="847979"/>
                </a:lnTo>
                <a:lnTo>
                  <a:pt x="57150" y="0"/>
                </a:lnTo>
                <a:close/>
              </a:path>
              <a:path w="85725" h="919479">
                <a:moveTo>
                  <a:pt x="85725" y="833755"/>
                </a:moveTo>
                <a:lnTo>
                  <a:pt x="57150" y="833755"/>
                </a:lnTo>
                <a:lnTo>
                  <a:pt x="57150" y="847979"/>
                </a:lnTo>
                <a:lnTo>
                  <a:pt x="78602" y="847979"/>
                </a:lnTo>
                <a:lnTo>
                  <a:pt x="85725" y="83375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6" name="object 2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6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Machine</a:t>
            </a:r>
            <a:r>
              <a:rPr spc="-225" dirty="0"/>
              <a:t> </a:t>
            </a:r>
            <a:r>
              <a:rPr spc="-60" dirty="0"/>
              <a:t>Learning:</a:t>
            </a:r>
            <a:r>
              <a:rPr spc="-295" dirty="0"/>
              <a:t> </a:t>
            </a:r>
            <a:r>
              <a:rPr spc="-65" dirty="0"/>
              <a:t>Data-</a:t>
            </a:r>
            <a:r>
              <a:rPr spc="-60" dirty="0"/>
              <a:t>Driven</a:t>
            </a:r>
            <a:r>
              <a:rPr spc="-22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669" y="636269"/>
            <a:ext cx="7020559" cy="10778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81000">
              <a:lnSpc>
                <a:spcPts val="2870"/>
              </a:lnSpc>
              <a:spcBef>
                <a:spcPts val="105"/>
              </a:spcBef>
              <a:buAutoNum type="arabicPeriod"/>
              <a:tabLst>
                <a:tab pos="393700" algn="l"/>
              </a:tabLst>
            </a:pPr>
            <a:r>
              <a:rPr sz="2000" spc="-10" dirty="0">
                <a:latin typeface="Tahoma"/>
                <a:cs typeface="Tahoma"/>
              </a:rPr>
              <a:t>Collect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dataset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of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images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and</a:t>
            </a:r>
            <a:r>
              <a:rPr sz="2000" spc="-1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labels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ts val="2870"/>
              </a:lnSpc>
              <a:buAutoNum type="arabicPeriod"/>
              <a:tabLst>
                <a:tab pos="393700" algn="l"/>
              </a:tabLst>
            </a:pPr>
            <a:r>
              <a:rPr sz="2000" spc="-75" dirty="0">
                <a:latin typeface="Tahoma"/>
                <a:cs typeface="Tahoma"/>
              </a:rPr>
              <a:t>Use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Machine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Learning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algorithms</a:t>
            </a:r>
            <a:r>
              <a:rPr sz="2000" spc="-3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to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train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classifier</a:t>
            </a:r>
            <a:endParaRPr sz="2000" dirty="0">
              <a:latin typeface="Tahoma"/>
              <a:cs typeface="Tahoma"/>
            </a:endParaRPr>
          </a:p>
          <a:p>
            <a:pPr marL="393700" indent="-381000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393700" algn="l"/>
              </a:tabLst>
            </a:pPr>
            <a:r>
              <a:rPr sz="2000" spc="-50" dirty="0">
                <a:latin typeface="Tahoma"/>
                <a:cs typeface="Tahoma"/>
              </a:rPr>
              <a:t>Evaluate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the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classifier</a:t>
            </a:r>
            <a:r>
              <a:rPr sz="2000" spc="-27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on</a:t>
            </a:r>
            <a:r>
              <a:rPr sz="2000" spc="-229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new</a:t>
            </a:r>
            <a:r>
              <a:rPr sz="2000" spc="-2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images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207" y="1726882"/>
            <a:ext cx="2647950" cy="14306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066925"/>
            <a:ext cx="3057525" cy="21812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7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026" name="Picture 2" descr="Mnist Dataset for Machine Learning | by Binaya Puri | Medium">
            <a:extLst>
              <a:ext uri="{FF2B5EF4-FFF2-40B4-BE49-F238E27FC236}">
                <a16:creationId xmlns:a16="http://schemas.microsoft.com/office/drawing/2014/main" id="{72FF7AE1-44CE-309C-8816-7FC760F00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952" y="3228033"/>
            <a:ext cx="2817813" cy="169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72727B-4574-5C8B-DC06-3C8E9C999BFF}"/>
              </a:ext>
            </a:extLst>
          </p:cNvPr>
          <p:cNvSpPr txBox="1"/>
          <p:nvPr/>
        </p:nvSpPr>
        <p:spPr>
          <a:xfrm>
            <a:off x="4212907" y="285105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MNIST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FE16D-CCE2-B867-C315-3215A408F4D7}"/>
              </a:ext>
            </a:extLst>
          </p:cNvPr>
          <p:cNvSpPr txBox="1"/>
          <p:nvPr/>
        </p:nvSpPr>
        <p:spPr>
          <a:xfrm>
            <a:off x="6977157" y="1312159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CIFAR10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945" y="1935543"/>
            <a:ext cx="52050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75" dirty="0"/>
              <a:t>Nearest</a:t>
            </a:r>
            <a:r>
              <a:rPr sz="3600" spc="-350" dirty="0"/>
              <a:t> </a:t>
            </a:r>
            <a:r>
              <a:rPr sz="3600" spc="-75" dirty="0"/>
              <a:t>Neighbor</a:t>
            </a:r>
            <a:r>
              <a:rPr sz="3600" spc="-375" dirty="0"/>
              <a:t> </a:t>
            </a:r>
            <a:r>
              <a:rPr sz="3600" spc="-30" dirty="0"/>
              <a:t>Classifier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8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9201" y="1281430"/>
            <a:ext cx="2428240" cy="25882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90805" marR="59055">
              <a:lnSpc>
                <a:spcPts val="2850"/>
              </a:lnSpc>
              <a:spcBef>
                <a:spcPts val="225"/>
              </a:spcBef>
            </a:pPr>
            <a:r>
              <a:rPr sz="2400" spc="-50" dirty="0">
                <a:latin typeface="Tahoma"/>
                <a:cs typeface="Tahoma"/>
              </a:rPr>
              <a:t>Memorize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data </a:t>
            </a:r>
            <a:r>
              <a:rPr sz="2400" spc="-25" dirty="0">
                <a:latin typeface="Tahoma"/>
                <a:cs typeface="Tahoma"/>
              </a:rPr>
              <a:t>and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7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499"/>
              </a:lnSpc>
            </a:pPr>
            <a:r>
              <a:rPr sz="2400" spc="-10" dirty="0">
                <a:latin typeface="Tahoma"/>
                <a:cs typeface="Tahoma"/>
              </a:rPr>
              <a:t>Predict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label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of </a:t>
            </a:r>
            <a:r>
              <a:rPr sz="2400" spc="-55" dirty="0">
                <a:latin typeface="Tahoma"/>
                <a:cs typeface="Tahoma"/>
              </a:rPr>
              <a:t>the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most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similar </a:t>
            </a:r>
            <a:r>
              <a:rPr sz="2400" spc="-30" dirty="0">
                <a:latin typeface="Tahoma"/>
                <a:cs typeface="Tahoma"/>
              </a:rPr>
              <a:t>training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image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57648" y="16478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7648" y="3248025"/>
            <a:ext cx="1143000" cy="85725"/>
          </a:xfrm>
          <a:custGeom>
            <a:avLst/>
            <a:gdLst/>
            <a:ahLst/>
            <a:cxnLst/>
            <a:rect l="l" t="t" r="r" b="b"/>
            <a:pathLst>
              <a:path w="1143000" h="85725">
                <a:moveTo>
                  <a:pt x="1057275" y="0"/>
                </a:moveTo>
                <a:lnTo>
                  <a:pt x="1057275" y="85725"/>
                </a:lnTo>
                <a:lnTo>
                  <a:pt x="1114509" y="57150"/>
                </a:lnTo>
                <a:lnTo>
                  <a:pt x="1071626" y="57150"/>
                </a:lnTo>
                <a:lnTo>
                  <a:pt x="1071626" y="28575"/>
                </a:lnTo>
                <a:lnTo>
                  <a:pt x="1114340" y="28575"/>
                </a:lnTo>
                <a:lnTo>
                  <a:pt x="1057275" y="0"/>
                </a:lnTo>
                <a:close/>
              </a:path>
              <a:path w="1143000" h="85725">
                <a:moveTo>
                  <a:pt x="1057275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057275" y="57150"/>
                </a:lnTo>
                <a:lnTo>
                  <a:pt x="1057275" y="28575"/>
                </a:lnTo>
                <a:close/>
              </a:path>
              <a:path w="1143000" h="85725">
                <a:moveTo>
                  <a:pt x="1114340" y="28575"/>
                </a:moveTo>
                <a:lnTo>
                  <a:pt x="1071626" y="28575"/>
                </a:lnTo>
                <a:lnTo>
                  <a:pt x="1071626" y="57150"/>
                </a:lnTo>
                <a:lnTo>
                  <a:pt x="1114509" y="57150"/>
                </a:lnTo>
                <a:lnTo>
                  <a:pt x="1143000" y="42925"/>
                </a:lnTo>
                <a:lnTo>
                  <a:pt x="1114340" y="28575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 dirty="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9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01267-491C-94AE-7AAB-F19E0EDF4D1A}"/>
              </a:ext>
            </a:extLst>
          </p:cNvPr>
          <p:cNvSpPr txBox="1"/>
          <p:nvPr/>
        </p:nvSpPr>
        <p:spPr>
          <a:xfrm>
            <a:off x="609599" y="1293882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train(images, labels):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Machine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66ED4-622C-2507-75D2-376AF6177A40}"/>
              </a:ext>
            </a:extLst>
          </p:cNvPr>
          <p:cNvSpPr txBox="1"/>
          <p:nvPr/>
        </p:nvSpPr>
        <p:spPr>
          <a:xfrm>
            <a:off x="606616" y="2489842"/>
            <a:ext cx="5203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latin typeface="Consolas" panose="020B0609020204030204" pitchFamily="49" charset="0"/>
              </a:rPr>
              <a:t> predict(</a:t>
            </a:r>
            <a:r>
              <a:rPr lang="en-US" sz="2000" dirty="0" err="1">
                <a:latin typeface="Consolas" panose="020B0609020204030204" pitchFamily="49" charset="0"/>
              </a:rPr>
              <a:t>test_images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use model to predict labels</a:t>
            </a: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predicted_labels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First</a:t>
            </a:r>
            <a:r>
              <a:rPr spc="-180" dirty="0"/>
              <a:t> </a:t>
            </a:r>
            <a:r>
              <a:rPr spc="-45" dirty="0"/>
              <a:t>classifier:</a:t>
            </a:r>
            <a:r>
              <a:rPr spc="-229" dirty="0"/>
              <a:t> </a:t>
            </a:r>
            <a:r>
              <a:rPr spc="-55" dirty="0"/>
              <a:t>Nearest</a:t>
            </a:r>
            <a:r>
              <a:rPr spc="-180" dirty="0"/>
              <a:t> </a:t>
            </a:r>
            <a:r>
              <a:rPr spc="-10" dirty="0"/>
              <a:t>Neighbor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23" name="object 2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10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49641" y="2628523"/>
            <a:ext cx="1852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Training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data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labels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89728" y="2169672"/>
            <a:ext cx="8337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30" dirty="0">
                <a:latin typeface="Tahoma"/>
                <a:cs typeface="Tahoma"/>
              </a:rPr>
              <a:t>query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data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AF1B02-DCCE-28DE-520B-EC909B0E7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81" y="871026"/>
            <a:ext cx="4724400" cy="14202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1E3EF8-9EDF-C7FF-2C4F-1B0CA6662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6331212" y="438150"/>
            <a:ext cx="1550789" cy="15570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4B0EB6-ED20-B522-A3FD-6C5F7E975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9" t="65382" r="60793"/>
          <a:stretch>
            <a:fillRect/>
          </a:stretch>
        </p:blipFill>
        <p:spPr>
          <a:xfrm>
            <a:off x="1649641" y="3150616"/>
            <a:ext cx="949537" cy="11218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3AAD916-45D9-B4CD-BE79-9D9CDC6E6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8" t="12402" r="5036" b="11872"/>
          <a:stretch>
            <a:fillRect/>
          </a:stretch>
        </p:blipFill>
        <p:spPr>
          <a:xfrm>
            <a:off x="3581400" y="3150616"/>
            <a:ext cx="832338" cy="8357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B7D71A5-9A10-7E0B-CD42-6F3E62D1A2A7}"/>
              </a:ext>
            </a:extLst>
          </p:cNvPr>
          <p:cNvSpPr txBox="1"/>
          <p:nvPr/>
        </p:nvSpPr>
        <p:spPr>
          <a:xfrm>
            <a:off x="2667000" y="322514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-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A630F4-B417-F6BC-2E2E-B5708E1C60C1}"/>
              </a:ext>
            </a:extLst>
          </p:cNvPr>
          <p:cNvSpPr txBox="1"/>
          <p:nvPr/>
        </p:nvSpPr>
        <p:spPr>
          <a:xfrm>
            <a:off x="4701395" y="3257090"/>
            <a:ext cx="69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4000" b="1" dirty="0"/>
              <a:t>=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2FC613-3E79-1D1D-FD17-65050954409B}"/>
              </a:ext>
            </a:extLst>
          </p:cNvPr>
          <p:cNvSpPr txBox="1"/>
          <p:nvPr/>
        </p:nvSpPr>
        <p:spPr>
          <a:xfrm>
            <a:off x="5523865" y="3426367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(Real Number)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DC5CE2-5DAB-E9AE-6FF8-ABDE3F8B65F9}"/>
              </a:ext>
            </a:extLst>
          </p:cNvPr>
          <p:cNvSpPr txBox="1"/>
          <p:nvPr/>
        </p:nvSpPr>
        <p:spPr>
          <a:xfrm>
            <a:off x="896782" y="2847143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21D2CF-A8E7-AED7-401B-96E9DE5F8C2F}"/>
              </a:ext>
            </a:extLst>
          </p:cNvPr>
          <p:cNvSpPr txBox="1"/>
          <p:nvPr/>
        </p:nvSpPr>
        <p:spPr>
          <a:xfrm>
            <a:off x="4199557" y="2876550"/>
            <a:ext cx="832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sz="8000" dirty="0"/>
              <a:t>|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Distance</a:t>
            </a:r>
            <a:r>
              <a:rPr spc="-245" dirty="0"/>
              <a:t> </a:t>
            </a:r>
            <a:r>
              <a:rPr spc="-35" dirty="0"/>
              <a:t>Metric</a:t>
            </a:r>
            <a:r>
              <a:rPr spc="-204" dirty="0"/>
              <a:t> </a:t>
            </a:r>
            <a:r>
              <a:rPr dirty="0"/>
              <a:t>to</a:t>
            </a:r>
            <a:r>
              <a:rPr spc="-300" dirty="0"/>
              <a:t> </a:t>
            </a:r>
            <a:r>
              <a:rPr spc="-10" dirty="0"/>
              <a:t>compare</a:t>
            </a:r>
            <a:r>
              <a:rPr spc="-245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636" y="2132284"/>
            <a:ext cx="7324725" cy="207645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006BBEC-C40D-B2BD-2286-D62561C4B3B5}"/>
              </a:ext>
            </a:extLst>
          </p:cNvPr>
          <p:cNvGrpSpPr/>
          <p:nvPr/>
        </p:nvGrpSpPr>
        <p:grpSpPr>
          <a:xfrm>
            <a:off x="830575" y="613953"/>
            <a:ext cx="5650023" cy="598071"/>
            <a:chOff x="390842" y="622532"/>
            <a:chExt cx="5650023" cy="59807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622532"/>
              <a:ext cx="2307065" cy="598071"/>
            </a:xfrm>
            <a:prstGeom prst="rect">
              <a:avLst/>
            </a:prstGeom>
          </p:spPr>
        </p:pic>
        <p:sp>
          <p:nvSpPr>
            <p:cNvPr id="5" name="object 5"/>
            <p:cNvSpPr txBox="1"/>
            <p:nvPr/>
          </p:nvSpPr>
          <p:spPr>
            <a:xfrm>
              <a:off x="390842" y="627919"/>
              <a:ext cx="3426778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400" spc="-70" dirty="0">
                  <a:latin typeface="Tahoma"/>
                  <a:cs typeface="Tahoma"/>
                </a:rPr>
                <a:t>L1</a:t>
              </a:r>
              <a:r>
                <a:rPr sz="2400" spc="-280" dirty="0">
                  <a:latin typeface="Tahoma"/>
                  <a:cs typeface="Tahoma"/>
                </a:rPr>
                <a:t> </a:t>
              </a:r>
              <a:r>
                <a:rPr sz="2400" spc="-45" dirty="0">
                  <a:latin typeface="Tahoma"/>
                  <a:cs typeface="Tahoma"/>
                </a:rPr>
                <a:t>distance</a:t>
              </a:r>
              <a:r>
                <a:rPr lang="en-US" sz="2400" spc="-45" dirty="0">
                  <a:latin typeface="Tahoma"/>
                  <a:cs typeface="Tahoma"/>
                </a:rPr>
                <a:t> (Manhattan)</a:t>
              </a:r>
              <a:r>
                <a:rPr sz="2400" spc="-45" dirty="0">
                  <a:latin typeface="Tahoma"/>
                  <a:cs typeface="Tahoma"/>
                </a:rPr>
                <a:t>:</a:t>
              </a:r>
              <a:endParaRPr sz="2400" dirty="0">
                <a:latin typeface="Tahoma"/>
                <a:cs typeface="Tahoma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11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67600" y="2927305"/>
            <a:ext cx="3168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Tahoma"/>
                <a:cs typeface="Tahoma"/>
              </a:rPr>
              <a:t>add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04E6D-208A-3462-FB1F-6E55B34A40A3}"/>
              </a:ext>
            </a:extLst>
          </p:cNvPr>
          <p:cNvSpPr txBox="1"/>
          <p:nvPr/>
        </p:nvSpPr>
        <p:spPr>
          <a:xfrm>
            <a:off x="601975" y="102735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37A993-DA3C-2FF0-ECED-ABA1587C2867}"/>
              </a:ext>
            </a:extLst>
          </p:cNvPr>
          <p:cNvGrpSpPr/>
          <p:nvPr/>
        </p:nvGrpSpPr>
        <p:grpSpPr>
          <a:xfrm>
            <a:off x="835270" y="1187507"/>
            <a:ext cx="5339858" cy="722735"/>
            <a:chOff x="315877" y="1167548"/>
            <a:chExt cx="5339858" cy="722735"/>
          </a:xfrm>
        </p:grpSpPr>
        <p:pic>
          <p:nvPicPr>
            <p:cNvPr id="3074" name="Picture 2" descr="Optimising pairwise Euclidean distance calculations using Python | Towards  Data Science">
              <a:extLst>
                <a:ext uri="{FF2B5EF4-FFF2-40B4-BE49-F238E27FC236}">
                  <a16:creationId xmlns:a16="http://schemas.microsoft.com/office/drawing/2014/main" id="{3BCB05BE-493D-7703-0E0F-CB447984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4622" y="1167548"/>
              <a:ext cx="2091113" cy="722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0E26F-62A7-5D15-B6E4-7B45361411CE}"/>
                </a:ext>
              </a:extLst>
            </p:cNvPr>
            <p:cNvSpPr txBox="1"/>
            <p:nvPr/>
          </p:nvSpPr>
          <p:spPr>
            <a:xfrm>
              <a:off x="315877" y="1298084"/>
              <a:ext cx="3189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400" spc="-70" dirty="0">
                  <a:latin typeface="Tahoma"/>
                  <a:cs typeface="Tahoma"/>
                </a:rPr>
                <a:t>L2</a:t>
              </a:r>
              <a:r>
                <a:rPr lang="en-US" sz="2400" spc="-280" dirty="0">
                  <a:latin typeface="Tahoma"/>
                  <a:cs typeface="Tahoma"/>
                </a:rPr>
                <a:t> </a:t>
              </a:r>
              <a:r>
                <a:rPr lang="en-US" sz="2400" spc="-45" dirty="0">
                  <a:latin typeface="Tahoma"/>
                  <a:cs typeface="Tahoma"/>
                </a:rPr>
                <a:t>distance (Euclidian):</a:t>
              </a:r>
              <a:endParaRPr lang="en-US" sz="2400" dirty="0">
                <a:latin typeface="Tahoma"/>
                <a:cs typeface="Tahom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BE7185-A4DF-8C41-C53E-545818928278}"/>
              </a:ext>
            </a:extLst>
          </p:cNvPr>
          <p:cNvSpPr txBox="1"/>
          <p:nvPr/>
        </p:nvSpPr>
        <p:spPr>
          <a:xfrm>
            <a:off x="228600" y="1760695"/>
            <a:ext cx="4230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70" dirty="0">
                <a:latin typeface="Tahoma"/>
                <a:cs typeface="Tahoma"/>
              </a:rPr>
              <a:t>e.g. Using L1  to compare distance:</a:t>
            </a:r>
            <a:endParaRPr lang="en-US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12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430BE9-D97E-3520-02BA-6544F6A56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9509D4-6FDE-64F8-C586-E452E41EAC5F}"/>
              </a:ext>
            </a:extLst>
          </p:cNvPr>
          <p:cNvSpPr txBox="1"/>
          <p:nvPr/>
        </p:nvSpPr>
        <p:spPr>
          <a:xfrm>
            <a:off x="5715000" y="819150"/>
            <a:ext cx="31809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each test sample, the Manhattan distance to all training samples is computed.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k nearest neighbors (smallest distances) are selected.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predicted label is determined using a majority vote among the neighbors’ labels.</a:t>
            </a:r>
          </a:p>
          <a:p>
            <a:pPr algn="just"/>
            <a:endParaRPr lang="en-US" sz="1400" dirty="0"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814F02AD-55DF-F86D-B2D0-3837919C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E1A4-CB1B-ACE5-304F-60BCDBFC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7D5968-EB67-F719-4179-C34A6FDE1B1D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46287B-A148-5F22-017F-62F1DDE74B4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92674E5-F22A-2E4B-F476-433B59A1901A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89BB34A-40AA-32AC-25E8-04008BDE0102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13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8FA202-D904-4B96-F2FC-1545A7CC962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BA2084-14AD-AC30-45AB-9BCAEFBB6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7EA074-DFB4-8D64-76C5-B000165C8EDF}"/>
              </a:ext>
            </a:extLst>
          </p:cNvPr>
          <p:cNvSpPr/>
          <p:nvPr/>
        </p:nvSpPr>
        <p:spPr>
          <a:xfrm>
            <a:off x="302512" y="1352550"/>
            <a:ext cx="5437887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C7D99-FA23-3EEF-91BA-5367EF9CE830}"/>
              </a:ext>
            </a:extLst>
          </p:cNvPr>
          <p:cNvSpPr txBox="1"/>
          <p:nvPr/>
        </p:nvSpPr>
        <p:spPr>
          <a:xfrm>
            <a:off x="5842317" y="1548884"/>
            <a:ext cx="462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40" dirty="0">
                <a:solidFill>
                  <a:srgbClr val="FF0000"/>
                </a:solidFill>
                <a:latin typeface="Tahoma"/>
                <a:cs typeface="Tahoma"/>
              </a:rPr>
              <a:t>Memorize</a:t>
            </a:r>
            <a:r>
              <a:rPr lang="en-US" sz="1800" spc="-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lang="en-US" sz="1800" spc="-1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lang="en-US" sz="1800" dirty="0"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E89806C8-124D-EA55-AEFE-4DDA7CE2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0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1B43-D785-A384-51C0-98FC3E9D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4406BE-661C-24BF-B294-5BCF33D88B71}"/>
              </a:ext>
            </a:extLst>
          </p:cNvPr>
          <p:cNvSpPr txBox="1"/>
          <p:nvPr/>
        </p:nvSpPr>
        <p:spPr>
          <a:xfrm>
            <a:off x="302513" y="20228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2B2141-F870-478D-A0AA-1DEC48F74E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9C34EB9-3693-D33D-3E2F-7719F75A1D87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BE3543-72DE-4882-546F-2E769321718D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14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62AFCA-A4A3-748F-91DC-00261E6147F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E20F15-195E-4D4C-36A8-127FD092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2" y="569118"/>
            <a:ext cx="5619328" cy="4233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912337-F1DE-E35D-38E0-187CCE8514FD}"/>
              </a:ext>
            </a:extLst>
          </p:cNvPr>
          <p:cNvSpPr/>
          <p:nvPr/>
        </p:nvSpPr>
        <p:spPr>
          <a:xfrm>
            <a:off x="211792" y="2952750"/>
            <a:ext cx="5437887" cy="1621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49182-A308-15F1-515A-1D2E4DA2444F}"/>
              </a:ext>
            </a:extLst>
          </p:cNvPr>
          <p:cNvSpPr txBox="1"/>
          <p:nvPr/>
        </p:nvSpPr>
        <p:spPr>
          <a:xfrm>
            <a:off x="5782733" y="3333126"/>
            <a:ext cx="4627032" cy="92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For</a:t>
            </a:r>
            <a:r>
              <a:rPr lang="en-US" sz="1800" spc="-19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chemeClr val="tx2"/>
                </a:solidFill>
                <a:latin typeface="Tahoma"/>
                <a:cs typeface="Tahoma"/>
              </a:rPr>
              <a:t>each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5" dirty="0">
                <a:solidFill>
                  <a:schemeClr val="tx2"/>
                </a:solidFill>
                <a:latin typeface="Tahoma"/>
                <a:cs typeface="Tahoma"/>
              </a:rPr>
              <a:t>test</a:t>
            </a:r>
            <a:r>
              <a:rPr lang="en-US" sz="1800" spc="-17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image: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Find</a:t>
            </a:r>
            <a:r>
              <a:rPr lang="en-US" sz="1800" spc="-18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chemeClr val="tx2"/>
                </a:solidFill>
                <a:latin typeface="Tahoma"/>
                <a:cs typeface="Tahoma"/>
              </a:rPr>
              <a:t>closest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train</a:t>
            </a:r>
            <a:r>
              <a:rPr lang="en-US" sz="1800" spc="-16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800" spc="-10" dirty="0">
                <a:solidFill>
                  <a:schemeClr val="tx2"/>
                </a:solidFill>
                <a:latin typeface="Tahoma"/>
                <a:cs typeface="Tahoma"/>
              </a:rPr>
              <a:t>Predict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Tahoma"/>
                <a:cs typeface="Tahoma"/>
              </a:rPr>
              <a:t>label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solidFill>
                  <a:schemeClr val="tx2"/>
                </a:solidFill>
                <a:latin typeface="Tahoma"/>
                <a:cs typeface="Tahoma"/>
              </a:rPr>
              <a:t>of</a:t>
            </a:r>
            <a:r>
              <a:rPr lang="en-US" sz="1800" spc="-240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40" dirty="0">
                <a:solidFill>
                  <a:schemeClr val="tx2"/>
                </a:solidFill>
                <a:latin typeface="Tahoma"/>
                <a:cs typeface="Tahoma"/>
              </a:rPr>
              <a:t>nearest</a:t>
            </a:r>
            <a:r>
              <a:rPr lang="en-US" sz="1800" spc="-165" dirty="0">
                <a:solidFill>
                  <a:schemeClr val="tx2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chemeClr val="tx2"/>
                </a:solidFill>
                <a:latin typeface="Tahoma"/>
                <a:cs typeface="Tahoma"/>
              </a:rPr>
              <a:t>image</a:t>
            </a:r>
            <a:endParaRPr lang="en-US" sz="1800" dirty="0">
              <a:solidFill>
                <a:schemeClr val="tx2"/>
              </a:solidFill>
              <a:latin typeface="Tahoma"/>
              <a:cs typeface="Tahoma"/>
            </a:endParaRPr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687DC1FC-B3B6-1C7C-4E40-BFEDBC9C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15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89E43-2E9F-D019-DF1F-E272DBD20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55" y="487067"/>
            <a:ext cx="5640129" cy="4315925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F0F7034F-9C6C-2567-B5C7-26758B471BC3}"/>
              </a:ext>
            </a:extLst>
          </p:cNvPr>
          <p:cNvSpPr txBox="1"/>
          <p:nvPr/>
        </p:nvSpPr>
        <p:spPr>
          <a:xfrm>
            <a:off x="237578" y="173377"/>
            <a:ext cx="29912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K-Nearest Neighbors (KNN)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D1331-DF6E-A2DB-F43C-FE9F122D00F8}"/>
              </a:ext>
            </a:extLst>
          </p:cNvPr>
          <p:cNvSpPr txBox="1"/>
          <p:nvPr/>
        </p:nvSpPr>
        <p:spPr>
          <a:xfrm>
            <a:off x="5759908" y="1210484"/>
            <a:ext cx="316875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>
                <a:solidFill>
                  <a:srgbClr val="00B050"/>
                </a:solidFill>
              </a:rPr>
              <a:t>Train: O(1)</a:t>
            </a:r>
          </a:p>
          <a:p>
            <a:r>
              <a:rPr lang="en-US" b="1" dirty="0">
                <a:solidFill>
                  <a:srgbClr val="FF0000"/>
                </a:solidFill>
              </a:rPr>
              <a:t>Predict: O(k * n * d)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n: Number of training data points.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d: Data dimensionality (number of features).</a:t>
            </a:r>
          </a:p>
          <a:p>
            <a:pPr marL="27432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k: Number of neighbors to consider.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This is bad: we want classifiers that are fast at prediction; slow for training is 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ED8E8-2C19-CF48-A2A4-73197BD087B0}"/>
              </a:ext>
            </a:extLst>
          </p:cNvPr>
          <p:cNvSpPr txBox="1"/>
          <p:nvPr/>
        </p:nvSpPr>
        <p:spPr>
          <a:xfrm>
            <a:off x="5759908" y="348391"/>
            <a:ext cx="3313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Question: With N examples, how fast are training and prediction?</a:t>
            </a: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0129A427-19BC-58F4-1858-1B6A90FA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7794"/>
            <a:ext cx="1752845" cy="333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275" y="714375"/>
            <a:ext cx="4743450" cy="3448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0203" y="4169092"/>
            <a:ext cx="234378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-135" dirty="0">
                <a:latin typeface="Tahoma"/>
                <a:cs typeface="Tahoma"/>
              </a:rPr>
              <a:t>1-</a:t>
            </a:r>
            <a:r>
              <a:rPr sz="2300" spc="-60" dirty="0">
                <a:latin typeface="Tahoma"/>
                <a:cs typeface="Tahoma"/>
              </a:rPr>
              <a:t>nearest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25" dirty="0">
                <a:latin typeface="Tahoma"/>
                <a:cs typeface="Tahoma"/>
              </a:rPr>
              <a:t>neighbor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50" dirty="0"/>
              <a:t> </a:t>
            </a:r>
            <a:r>
              <a:rPr spc="-10" dirty="0"/>
              <a:t>Neighbors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04950"/>
            <a:ext cx="2819400" cy="2047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1485900"/>
            <a:ext cx="2847975" cy="2076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6025" y="1495425"/>
            <a:ext cx="2752725" cy="20669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83383" y="767968"/>
            <a:ext cx="4538345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60" dirty="0">
                <a:latin typeface="Tahoma"/>
                <a:cs typeface="Tahoma"/>
              </a:rPr>
              <a:t>Instead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copying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from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neighbor,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0" dirty="0">
                <a:latin typeface="Tahoma"/>
                <a:cs typeface="Tahoma"/>
              </a:rPr>
              <a:t>take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majority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vote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from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closest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points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1" name="object 11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920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164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1875" y="3648392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62651" y="2328926"/>
            <a:ext cx="2228850" cy="1960880"/>
            <a:chOff x="5462651" y="2328926"/>
            <a:chExt cx="2228850" cy="1960880"/>
          </a:xfrm>
        </p:grpSpPr>
        <p:sp>
          <p:nvSpPr>
            <p:cNvPr id="3" name="object 3"/>
            <p:cNvSpPr/>
            <p:nvPr/>
          </p:nvSpPr>
          <p:spPr>
            <a:xfrm>
              <a:off x="5843651" y="2557526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7"/>
                  </a:lnTo>
                  <a:lnTo>
                    <a:pt x="1443662" y="869759"/>
                  </a:lnTo>
                  <a:lnTo>
                    <a:pt x="1433292" y="914900"/>
                  </a:lnTo>
                  <a:lnTo>
                    <a:pt x="1420173" y="958925"/>
                  </a:lnTo>
                  <a:lnTo>
                    <a:pt x="1404403" y="1001738"/>
                  </a:lnTo>
                  <a:lnTo>
                    <a:pt x="1386077" y="1043244"/>
                  </a:lnTo>
                  <a:lnTo>
                    <a:pt x="1365291" y="1083345"/>
                  </a:lnTo>
                  <a:lnTo>
                    <a:pt x="1342140" y="1121946"/>
                  </a:lnTo>
                  <a:lnTo>
                    <a:pt x="1316722" y="1158952"/>
                  </a:lnTo>
                  <a:lnTo>
                    <a:pt x="1289132" y="1194265"/>
                  </a:lnTo>
                  <a:lnTo>
                    <a:pt x="1259466" y="1227791"/>
                  </a:lnTo>
                  <a:lnTo>
                    <a:pt x="1227821" y="1259433"/>
                  </a:lnTo>
                  <a:lnTo>
                    <a:pt x="1194291" y="1289095"/>
                  </a:lnTo>
                  <a:lnTo>
                    <a:pt x="1158974" y="1316681"/>
                  </a:lnTo>
                  <a:lnTo>
                    <a:pt x="1121965" y="1342096"/>
                  </a:lnTo>
                  <a:lnTo>
                    <a:pt x="1083360" y="1365242"/>
                  </a:lnTo>
                  <a:lnTo>
                    <a:pt x="1043256" y="1386025"/>
                  </a:lnTo>
                  <a:lnTo>
                    <a:pt x="1001748" y="1404349"/>
                  </a:lnTo>
                  <a:lnTo>
                    <a:pt x="958932" y="1420117"/>
                  </a:lnTo>
                  <a:lnTo>
                    <a:pt x="914904" y="1433233"/>
                  </a:lnTo>
                  <a:lnTo>
                    <a:pt x="869761" y="1443601"/>
                  </a:lnTo>
                  <a:lnTo>
                    <a:pt x="823599" y="1451126"/>
                  </a:lnTo>
                  <a:lnTo>
                    <a:pt x="776512" y="1455711"/>
                  </a:lnTo>
                  <a:lnTo>
                    <a:pt x="728599" y="1457261"/>
                  </a:lnTo>
                  <a:lnTo>
                    <a:pt x="680685" y="1455711"/>
                  </a:lnTo>
                  <a:lnTo>
                    <a:pt x="633601" y="1451126"/>
                  </a:lnTo>
                  <a:lnTo>
                    <a:pt x="587441" y="1443601"/>
                  </a:lnTo>
                  <a:lnTo>
                    <a:pt x="542301" y="1433233"/>
                  </a:lnTo>
                  <a:lnTo>
                    <a:pt x="498278" y="1420117"/>
                  </a:lnTo>
                  <a:lnTo>
                    <a:pt x="455468" y="1404349"/>
                  </a:lnTo>
                  <a:lnTo>
                    <a:pt x="413965" y="1386025"/>
                  </a:lnTo>
                  <a:lnTo>
                    <a:pt x="373867" y="1365242"/>
                  </a:lnTo>
                  <a:lnTo>
                    <a:pt x="335269" y="1342096"/>
                  </a:lnTo>
                  <a:lnTo>
                    <a:pt x="298268" y="1316681"/>
                  </a:lnTo>
                  <a:lnTo>
                    <a:pt x="262958" y="1289095"/>
                  </a:lnTo>
                  <a:lnTo>
                    <a:pt x="229436" y="1259433"/>
                  </a:lnTo>
                  <a:lnTo>
                    <a:pt x="197798" y="1227791"/>
                  </a:lnTo>
                  <a:lnTo>
                    <a:pt x="168140" y="1194265"/>
                  </a:lnTo>
                  <a:lnTo>
                    <a:pt x="140557" y="1158952"/>
                  </a:lnTo>
                  <a:lnTo>
                    <a:pt x="115146" y="1121946"/>
                  </a:lnTo>
                  <a:lnTo>
                    <a:pt x="92003" y="1083345"/>
                  </a:lnTo>
                  <a:lnTo>
                    <a:pt x="71223" y="1043244"/>
                  </a:lnTo>
                  <a:lnTo>
                    <a:pt x="52902" y="1001738"/>
                  </a:lnTo>
                  <a:lnTo>
                    <a:pt x="37137" y="958925"/>
                  </a:lnTo>
                  <a:lnTo>
                    <a:pt x="24024" y="914900"/>
                  </a:lnTo>
                  <a:lnTo>
                    <a:pt x="13657" y="869759"/>
                  </a:lnTo>
                  <a:lnTo>
                    <a:pt x="6133" y="823597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62651" y="232892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40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1371600"/>
            <a:ext cx="2733675" cy="7429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14412" y="2386076"/>
            <a:ext cx="2228850" cy="1960880"/>
            <a:chOff x="1014412" y="2386076"/>
            <a:chExt cx="2228850" cy="1960880"/>
          </a:xfrm>
        </p:grpSpPr>
        <p:sp>
          <p:nvSpPr>
            <p:cNvPr id="10" name="object 10"/>
            <p:cNvSpPr/>
            <p:nvPr/>
          </p:nvSpPr>
          <p:spPr>
            <a:xfrm>
              <a:off x="1014412" y="2386076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40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95475" y="2633726"/>
              <a:ext cx="1464310" cy="1445260"/>
            </a:xfrm>
            <a:custGeom>
              <a:avLst/>
              <a:gdLst/>
              <a:ahLst/>
              <a:cxnLst/>
              <a:rect l="l" t="t" r="r" b="b"/>
              <a:pathLst>
                <a:path w="1464310" h="1445260">
                  <a:moveTo>
                    <a:pt x="0" y="725932"/>
                  </a:moveTo>
                  <a:lnTo>
                    <a:pt x="725678" y="0"/>
                  </a:lnTo>
                </a:path>
                <a:path w="1464310" h="1445260">
                  <a:moveTo>
                    <a:pt x="723900" y="0"/>
                  </a:moveTo>
                  <a:lnTo>
                    <a:pt x="1463929" y="740029"/>
                  </a:lnTo>
                </a:path>
                <a:path w="1464310" h="1445260">
                  <a:moveTo>
                    <a:pt x="733425" y="1444967"/>
                  </a:moveTo>
                  <a:lnTo>
                    <a:pt x="1445006" y="733425"/>
                  </a:lnTo>
                </a:path>
                <a:path w="1464310" h="1445260">
                  <a:moveTo>
                    <a:pt x="19050" y="742950"/>
                  </a:moveTo>
                  <a:lnTo>
                    <a:pt x="721232" y="144518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95988" y="1181100"/>
            <a:ext cx="2486025" cy="2646680"/>
            <a:chOff x="5495988" y="1181100"/>
            <a:chExt cx="2486025" cy="2646680"/>
          </a:xfrm>
        </p:grpSpPr>
        <p:sp>
          <p:nvSpPr>
            <p:cNvPr id="3" name="object 3"/>
            <p:cNvSpPr/>
            <p:nvPr/>
          </p:nvSpPr>
          <p:spPr>
            <a:xfrm>
              <a:off x="5891276" y="2100325"/>
              <a:ext cx="1457325" cy="1457325"/>
            </a:xfrm>
            <a:custGeom>
              <a:avLst/>
              <a:gdLst/>
              <a:ahLst/>
              <a:cxnLst/>
              <a:rect l="l" t="t" r="r" b="b"/>
              <a:pathLst>
                <a:path w="1457325" h="1457325">
                  <a:moveTo>
                    <a:pt x="0" y="728599"/>
                  </a:moveTo>
                  <a:lnTo>
                    <a:pt x="1549" y="680685"/>
                  </a:lnTo>
                  <a:lnTo>
                    <a:pt x="6133" y="633601"/>
                  </a:lnTo>
                  <a:lnTo>
                    <a:pt x="13657" y="587441"/>
                  </a:lnTo>
                  <a:lnTo>
                    <a:pt x="24024" y="542301"/>
                  </a:lnTo>
                  <a:lnTo>
                    <a:pt x="37137" y="498278"/>
                  </a:lnTo>
                  <a:lnTo>
                    <a:pt x="52902" y="455468"/>
                  </a:lnTo>
                  <a:lnTo>
                    <a:pt x="71223" y="413965"/>
                  </a:lnTo>
                  <a:lnTo>
                    <a:pt x="92003" y="373867"/>
                  </a:lnTo>
                  <a:lnTo>
                    <a:pt x="115146" y="335269"/>
                  </a:lnTo>
                  <a:lnTo>
                    <a:pt x="140557" y="298268"/>
                  </a:lnTo>
                  <a:lnTo>
                    <a:pt x="168140" y="262958"/>
                  </a:lnTo>
                  <a:lnTo>
                    <a:pt x="197798" y="229436"/>
                  </a:lnTo>
                  <a:lnTo>
                    <a:pt x="229436" y="197798"/>
                  </a:lnTo>
                  <a:lnTo>
                    <a:pt x="262958" y="168140"/>
                  </a:lnTo>
                  <a:lnTo>
                    <a:pt x="298268" y="140557"/>
                  </a:lnTo>
                  <a:lnTo>
                    <a:pt x="335269" y="115146"/>
                  </a:lnTo>
                  <a:lnTo>
                    <a:pt x="373867" y="92003"/>
                  </a:lnTo>
                  <a:lnTo>
                    <a:pt x="413965" y="71223"/>
                  </a:lnTo>
                  <a:lnTo>
                    <a:pt x="455468" y="52902"/>
                  </a:lnTo>
                  <a:lnTo>
                    <a:pt x="498278" y="37137"/>
                  </a:lnTo>
                  <a:lnTo>
                    <a:pt x="542301" y="24024"/>
                  </a:lnTo>
                  <a:lnTo>
                    <a:pt x="587441" y="13657"/>
                  </a:lnTo>
                  <a:lnTo>
                    <a:pt x="633601" y="6133"/>
                  </a:lnTo>
                  <a:lnTo>
                    <a:pt x="680685" y="1549"/>
                  </a:lnTo>
                  <a:lnTo>
                    <a:pt x="728599" y="0"/>
                  </a:lnTo>
                  <a:lnTo>
                    <a:pt x="776512" y="1549"/>
                  </a:lnTo>
                  <a:lnTo>
                    <a:pt x="823599" y="6133"/>
                  </a:lnTo>
                  <a:lnTo>
                    <a:pt x="869761" y="13657"/>
                  </a:lnTo>
                  <a:lnTo>
                    <a:pt x="914904" y="24024"/>
                  </a:lnTo>
                  <a:lnTo>
                    <a:pt x="958932" y="37137"/>
                  </a:lnTo>
                  <a:lnTo>
                    <a:pt x="1001748" y="52902"/>
                  </a:lnTo>
                  <a:lnTo>
                    <a:pt x="1043256" y="71223"/>
                  </a:lnTo>
                  <a:lnTo>
                    <a:pt x="1083360" y="92003"/>
                  </a:lnTo>
                  <a:lnTo>
                    <a:pt x="1121965" y="115146"/>
                  </a:lnTo>
                  <a:lnTo>
                    <a:pt x="1158974" y="140557"/>
                  </a:lnTo>
                  <a:lnTo>
                    <a:pt x="1194291" y="168140"/>
                  </a:lnTo>
                  <a:lnTo>
                    <a:pt x="1227821" y="197798"/>
                  </a:lnTo>
                  <a:lnTo>
                    <a:pt x="1259466" y="229436"/>
                  </a:lnTo>
                  <a:lnTo>
                    <a:pt x="1289132" y="262958"/>
                  </a:lnTo>
                  <a:lnTo>
                    <a:pt x="1316722" y="298268"/>
                  </a:lnTo>
                  <a:lnTo>
                    <a:pt x="1342140" y="335269"/>
                  </a:lnTo>
                  <a:lnTo>
                    <a:pt x="1365291" y="373867"/>
                  </a:lnTo>
                  <a:lnTo>
                    <a:pt x="1386077" y="413965"/>
                  </a:lnTo>
                  <a:lnTo>
                    <a:pt x="1404403" y="455468"/>
                  </a:lnTo>
                  <a:lnTo>
                    <a:pt x="1420173" y="498278"/>
                  </a:lnTo>
                  <a:lnTo>
                    <a:pt x="1433292" y="542301"/>
                  </a:lnTo>
                  <a:lnTo>
                    <a:pt x="1443662" y="587441"/>
                  </a:lnTo>
                  <a:lnTo>
                    <a:pt x="1451188" y="633601"/>
                  </a:lnTo>
                  <a:lnTo>
                    <a:pt x="1455774" y="680685"/>
                  </a:lnTo>
                  <a:lnTo>
                    <a:pt x="1457325" y="728599"/>
                  </a:lnTo>
                  <a:lnTo>
                    <a:pt x="1455774" y="776512"/>
                  </a:lnTo>
                  <a:lnTo>
                    <a:pt x="1451188" y="823599"/>
                  </a:lnTo>
                  <a:lnTo>
                    <a:pt x="1443662" y="869761"/>
                  </a:lnTo>
                  <a:lnTo>
                    <a:pt x="1433292" y="914904"/>
                  </a:lnTo>
                  <a:lnTo>
                    <a:pt x="1420173" y="958932"/>
                  </a:lnTo>
                  <a:lnTo>
                    <a:pt x="1404403" y="1001748"/>
                  </a:lnTo>
                  <a:lnTo>
                    <a:pt x="1386077" y="1043256"/>
                  </a:lnTo>
                  <a:lnTo>
                    <a:pt x="1365291" y="1083360"/>
                  </a:lnTo>
                  <a:lnTo>
                    <a:pt x="1342140" y="1121965"/>
                  </a:lnTo>
                  <a:lnTo>
                    <a:pt x="1316722" y="1158974"/>
                  </a:lnTo>
                  <a:lnTo>
                    <a:pt x="1289132" y="1194291"/>
                  </a:lnTo>
                  <a:lnTo>
                    <a:pt x="1259466" y="1227821"/>
                  </a:lnTo>
                  <a:lnTo>
                    <a:pt x="1227821" y="1259466"/>
                  </a:lnTo>
                  <a:lnTo>
                    <a:pt x="1194291" y="1289132"/>
                  </a:lnTo>
                  <a:lnTo>
                    <a:pt x="1158974" y="1316722"/>
                  </a:lnTo>
                  <a:lnTo>
                    <a:pt x="1121965" y="1342140"/>
                  </a:lnTo>
                  <a:lnTo>
                    <a:pt x="1083360" y="1365291"/>
                  </a:lnTo>
                  <a:lnTo>
                    <a:pt x="1043256" y="1386077"/>
                  </a:lnTo>
                  <a:lnTo>
                    <a:pt x="1001748" y="1404403"/>
                  </a:lnTo>
                  <a:lnTo>
                    <a:pt x="958932" y="1420173"/>
                  </a:lnTo>
                  <a:lnTo>
                    <a:pt x="914904" y="1433292"/>
                  </a:lnTo>
                  <a:lnTo>
                    <a:pt x="869761" y="1443662"/>
                  </a:lnTo>
                  <a:lnTo>
                    <a:pt x="823599" y="1451188"/>
                  </a:lnTo>
                  <a:lnTo>
                    <a:pt x="776512" y="1455774"/>
                  </a:lnTo>
                  <a:lnTo>
                    <a:pt x="728599" y="1457325"/>
                  </a:lnTo>
                  <a:lnTo>
                    <a:pt x="680685" y="1455774"/>
                  </a:lnTo>
                  <a:lnTo>
                    <a:pt x="633601" y="1451188"/>
                  </a:lnTo>
                  <a:lnTo>
                    <a:pt x="587441" y="1443662"/>
                  </a:lnTo>
                  <a:lnTo>
                    <a:pt x="542301" y="1433292"/>
                  </a:lnTo>
                  <a:lnTo>
                    <a:pt x="498278" y="1420173"/>
                  </a:lnTo>
                  <a:lnTo>
                    <a:pt x="455468" y="1404403"/>
                  </a:lnTo>
                  <a:lnTo>
                    <a:pt x="413965" y="1386077"/>
                  </a:lnTo>
                  <a:lnTo>
                    <a:pt x="373867" y="1365291"/>
                  </a:lnTo>
                  <a:lnTo>
                    <a:pt x="335269" y="1342140"/>
                  </a:lnTo>
                  <a:lnTo>
                    <a:pt x="298268" y="1316722"/>
                  </a:lnTo>
                  <a:lnTo>
                    <a:pt x="262958" y="1289132"/>
                  </a:lnTo>
                  <a:lnTo>
                    <a:pt x="229436" y="1259466"/>
                  </a:lnTo>
                  <a:lnTo>
                    <a:pt x="197798" y="1227821"/>
                  </a:lnTo>
                  <a:lnTo>
                    <a:pt x="168140" y="1194291"/>
                  </a:lnTo>
                  <a:lnTo>
                    <a:pt x="140557" y="1158974"/>
                  </a:lnTo>
                  <a:lnTo>
                    <a:pt x="115146" y="1121965"/>
                  </a:lnTo>
                  <a:lnTo>
                    <a:pt x="92003" y="1083360"/>
                  </a:lnTo>
                  <a:lnTo>
                    <a:pt x="71223" y="1043256"/>
                  </a:lnTo>
                  <a:lnTo>
                    <a:pt x="52902" y="1001748"/>
                  </a:lnTo>
                  <a:lnTo>
                    <a:pt x="37137" y="958932"/>
                  </a:lnTo>
                  <a:lnTo>
                    <a:pt x="24024" y="914904"/>
                  </a:lnTo>
                  <a:lnTo>
                    <a:pt x="13657" y="869761"/>
                  </a:lnTo>
                  <a:lnTo>
                    <a:pt x="6133" y="823599"/>
                  </a:lnTo>
                  <a:lnTo>
                    <a:pt x="1549" y="776512"/>
                  </a:lnTo>
                  <a:lnTo>
                    <a:pt x="0" y="728599"/>
                  </a:lnTo>
                  <a:close/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4025" y="1181100"/>
              <a:ext cx="2447925" cy="6762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0751" y="186220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25" y="0"/>
                  </a:moveTo>
                  <a:lnTo>
                    <a:pt x="1114425" y="1960752"/>
                  </a:lnTo>
                </a:path>
                <a:path w="2228850" h="1960879">
                  <a:moveTo>
                    <a:pt x="2228596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60" dirty="0"/>
              <a:t> </a:t>
            </a:r>
            <a:r>
              <a:rPr spc="-65" dirty="0"/>
              <a:t>Neighbors:</a:t>
            </a:r>
            <a:r>
              <a:rPr spc="-229" dirty="0"/>
              <a:t> </a:t>
            </a:r>
            <a:r>
              <a:rPr spc="-40" dirty="0"/>
              <a:t>Distance</a:t>
            </a:r>
            <a:r>
              <a:rPr spc="-240" dirty="0"/>
              <a:t> </a:t>
            </a:r>
            <a:r>
              <a:rPr spc="-20" dirty="0"/>
              <a:t>Metric</a:t>
            </a:r>
            <a:r>
              <a:rPr spc="-240" dirty="0"/>
              <a:t> </a:t>
            </a:r>
            <a:r>
              <a:rPr spc="-140" dirty="0"/>
              <a:t>-</a:t>
            </a:r>
            <a:r>
              <a:rPr spc="-23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33450" y="1228725"/>
            <a:ext cx="2733675" cy="2465705"/>
            <a:chOff x="933450" y="1228725"/>
            <a:chExt cx="2733675" cy="24657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" y="1228725"/>
              <a:ext cx="2733675" cy="7429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2512" y="1728851"/>
              <a:ext cx="2228850" cy="1960880"/>
            </a:xfrm>
            <a:custGeom>
              <a:avLst/>
              <a:gdLst/>
              <a:ahLst/>
              <a:cxnLst/>
              <a:rect l="l" t="t" r="r" b="b"/>
              <a:pathLst>
                <a:path w="2228850" h="1960879">
                  <a:moveTo>
                    <a:pt x="1114488" y="0"/>
                  </a:moveTo>
                  <a:lnTo>
                    <a:pt x="1114488" y="1960752"/>
                  </a:lnTo>
                </a:path>
                <a:path w="2228850" h="1960879">
                  <a:moveTo>
                    <a:pt x="2228659" y="981075"/>
                  </a:moveTo>
                  <a:lnTo>
                    <a:pt x="0" y="980948"/>
                  </a:lnTo>
                </a:path>
              </a:pathLst>
            </a:custGeom>
            <a:ln w="952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3101" y="1976501"/>
              <a:ext cx="1454785" cy="1445260"/>
            </a:xfrm>
            <a:custGeom>
              <a:avLst/>
              <a:gdLst/>
              <a:ahLst/>
              <a:cxnLst/>
              <a:rect l="l" t="t" r="r" b="b"/>
              <a:pathLst>
                <a:path w="1454785" h="1445260">
                  <a:moveTo>
                    <a:pt x="0" y="725932"/>
                  </a:moveTo>
                  <a:lnTo>
                    <a:pt x="725678" y="0"/>
                  </a:lnTo>
                </a:path>
                <a:path w="1454785" h="1445260">
                  <a:moveTo>
                    <a:pt x="714375" y="0"/>
                  </a:moveTo>
                  <a:lnTo>
                    <a:pt x="1454404" y="740029"/>
                  </a:lnTo>
                </a:path>
                <a:path w="1454785" h="1445260">
                  <a:moveTo>
                    <a:pt x="723900" y="1445006"/>
                  </a:moveTo>
                  <a:lnTo>
                    <a:pt x="1435481" y="733425"/>
                  </a:lnTo>
                </a:path>
                <a:path w="1454785" h="1445260">
                  <a:moveTo>
                    <a:pt x="9525" y="742950"/>
                  </a:moveTo>
                  <a:lnTo>
                    <a:pt x="711707" y="1445133"/>
                  </a:lnTo>
                </a:path>
              </a:pathLst>
            </a:custGeom>
            <a:ln w="28575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24479" y="2753677"/>
            <a:ext cx="5734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6395" y="2707957"/>
            <a:ext cx="5334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9035" y="2055748"/>
            <a:ext cx="8661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latin typeface="Arial"/>
                <a:cs typeface="Arial"/>
              </a:rPr>
              <a:t>B(0.5,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0.5)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06676" y="2325751"/>
            <a:ext cx="835025" cy="444500"/>
            <a:chOff x="2106676" y="2325751"/>
            <a:chExt cx="835025" cy="4445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0576" y="2649601"/>
              <a:ext cx="111125" cy="120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151" y="2325751"/>
              <a:ext cx="111125" cy="1206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6676" y="2649601"/>
              <a:ext cx="111125" cy="1111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57476" y="2386076"/>
              <a:ext cx="680085" cy="327660"/>
            </a:xfrm>
            <a:custGeom>
              <a:avLst/>
              <a:gdLst/>
              <a:ahLst/>
              <a:cxnLst/>
              <a:rect l="l" t="t" r="r" b="b"/>
              <a:pathLst>
                <a:path w="680085" h="327660">
                  <a:moveTo>
                    <a:pt x="0" y="0"/>
                  </a:moveTo>
                  <a:lnTo>
                    <a:pt x="4444" y="275717"/>
                  </a:lnTo>
                </a:path>
                <a:path w="680085" h="327660">
                  <a:moveTo>
                    <a:pt x="0" y="7493"/>
                  </a:moveTo>
                  <a:lnTo>
                    <a:pt x="332994" y="0"/>
                  </a:lnTo>
                </a:path>
                <a:path w="680085" h="327660">
                  <a:moveTo>
                    <a:pt x="679831" y="327279"/>
                  </a:moveTo>
                  <a:lnTo>
                    <a:pt x="47625" y="323850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6759" y="3734752"/>
            <a:ext cx="2991485" cy="909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1|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|0-</a:t>
            </a:r>
            <a:r>
              <a:rPr sz="1400" dirty="0">
                <a:latin typeface="Times New Roman"/>
                <a:cs typeface="Times New Roman"/>
              </a:rPr>
              <a:t>0.5|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0.5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0858" y="2859341"/>
            <a:ext cx="5715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A(1,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1140" y="2868294"/>
            <a:ext cx="53467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10" dirty="0">
                <a:latin typeface="Arial"/>
                <a:cs typeface="Arial"/>
              </a:rPr>
              <a:t>O(0,0)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69708" y="1996503"/>
            <a:ext cx="10566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latin typeface="Arial"/>
                <a:cs typeface="Arial"/>
              </a:rPr>
              <a:t>B(1/√2,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1/√2)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54851" y="2240026"/>
            <a:ext cx="844550" cy="673100"/>
            <a:chOff x="6554851" y="2240026"/>
            <a:chExt cx="844550" cy="6731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8276" y="2792476"/>
              <a:ext cx="111125" cy="120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69201" y="2240026"/>
              <a:ext cx="120650" cy="111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4851" y="2782951"/>
              <a:ext cx="120650" cy="1111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5176" y="2328926"/>
              <a:ext cx="684530" cy="518795"/>
            </a:xfrm>
            <a:custGeom>
              <a:avLst/>
              <a:gdLst/>
              <a:ahLst/>
              <a:cxnLst/>
              <a:rect l="l" t="t" r="r" b="b"/>
              <a:pathLst>
                <a:path w="684529" h="518794">
                  <a:moveTo>
                    <a:pt x="478790" y="0"/>
                  </a:moveTo>
                  <a:lnTo>
                    <a:pt x="0" y="463296"/>
                  </a:lnTo>
                </a:path>
                <a:path w="684529" h="518794">
                  <a:moveTo>
                    <a:pt x="684402" y="518794"/>
                  </a:moveTo>
                  <a:lnTo>
                    <a:pt x="47625" y="504825"/>
                  </a:lnTo>
                </a:path>
              </a:pathLst>
            </a:custGeom>
            <a:ln w="28575">
              <a:solidFill>
                <a:srgbClr val="FDA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231129" y="792416"/>
            <a:ext cx="317436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L2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straight-</a:t>
            </a:r>
            <a:r>
              <a:rPr sz="1400" spc="-20" dirty="0">
                <a:latin typeface="Arial MT"/>
                <a:cs typeface="Arial MT"/>
              </a:rPr>
              <a:t>line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crow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flies).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3" name="object 33"/>
          <p:cNvSpPr txBox="1"/>
          <p:nvPr/>
        </p:nvSpPr>
        <p:spPr>
          <a:xfrm>
            <a:off x="5328920" y="4802992"/>
            <a:ext cx="121793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395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33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0842" y="814006"/>
            <a:ext cx="401637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5"/>
              </a:spcBef>
            </a:pPr>
            <a:r>
              <a:rPr sz="1400" b="1" dirty="0">
                <a:latin typeface="Arial"/>
                <a:cs typeface="Arial"/>
              </a:rPr>
              <a:t>L1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Distance: </a:t>
            </a:r>
            <a:r>
              <a:rPr sz="1400" dirty="0">
                <a:latin typeface="Arial MT"/>
                <a:cs typeface="Arial MT"/>
              </a:rPr>
              <a:t>Measures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distance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moving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along </a:t>
            </a:r>
            <a:r>
              <a:rPr sz="1400" dirty="0">
                <a:latin typeface="Arial MT"/>
                <a:cs typeface="Arial MT"/>
              </a:rPr>
              <a:t>grid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lines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(like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walking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city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square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blocks).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09440" y="3742435"/>
            <a:ext cx="4787900" cy="6038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0)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(O,B)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350" spc="217" baseline="27777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(0-</a:t>
            </a:r>
            <a:r>
              <a:rPr sz="1400" dirty="0">
                <a:latin typeface="Times New Roman"/>
                <a:cs typeface="Times New Roman"/>
              </a:rPr>
              <a:t>1/√2)</a:t>
            </a:r>
            <a:r>
              <a:rPr sz="1350" baseline="27777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sqrt(1/2+1/2)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sqrt(1)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3254" y="4392295"/>
            <a:ext cx="1680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350" i="1" baseline="-18518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(O,A)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10" dirty="0"/>
              <a:t> </a:t>
            </a:r>
            <a:r>
              <a:rPr spc="-40" dirty="0"/>
              <a:t>Distance</a:t>
            </a:r>
            <a:r>
              <a:rPr spc="-220" dirty="0"/>
              <a:t> </a:t>
            </a:r>
            <a:r>
              <a:rPr spc="-10" dirty="0"/>
              <a:t>Metric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082" y="941641"/>
            <a:ext cx="72777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2285" algn="l"/>
              </a:tabLst>
            </a:pPr>
            <a:r>
              <a:rPr sz="2400" spc="-75" dirty="0">
                <a:latin typeface="Tahoma"/>
                <a:cs typeface="Tahoma"/>
              </a:rPr>
              <a:t>L1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(Manhattan)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5" dirty="0">
                <a:latin typeface="Tahoma"/>
                <a:cs typeface="Tahoma"/>
              </a:rPr>
              <a:t>L2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(Euclidean)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850" y="1371600"/>
            <a:ext cx="2733675" cy="2714625"/>
            <a:chOff x="704850" y="1371600"/>
            <a:chExt cx="2733675" cy="2714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1371600"/>
              <a:ext cx="2733675" cy="742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" y="2143125"/>
              <a:ext cx="2590800" cy="19431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1400175"/>
            <a:ext cx="2447925" cy="6762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2575" y="2124075"/>
            <a:ext cx="2714625" cy="1971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9491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21754" y="4148454"/>
            <a:ext cx="481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ahoma"/>
                <a:cs typeface="Tahoma"/>
              </a:rPr>
              <a:t>K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20" dirty="0">
                <a:latin typeface="Tahoma"/>
                <a:cs typeface="Tahoma"/>
              </a:rPr>
              <a:t>=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Hyperparameters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869" y="827786"/>
            <a:ext cx="7400925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41525">
              <a:lnSpc>
                <a:spcPct val="100000"/>
              </a:lnSpc>
              <a:spcBef>
                <a:spcPts val="105"/>
              </a:spcBef>
            </a:pP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55" dirty="0">
                <a:latin typeface="Tahoma"/>
                <a:cs typeface="Tahoma"/>
              </a:rPr>
              <a:t>value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of</a:t>
            </a:r>
            <a:r>
              <a:rPr sz="3000" spc="-36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k</a:t>
            </a:r>
            <a:r>
              <a:rPr sz="3000" spc="-300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to</a:t>
            </a:r>
            <a:r>
              <a:rPr sz="3000" spc="-370" dirty="0">
                <a:latin typeface="Tahoma"/>
                <a:cs typeface="Tahoma"/>
              </a:rPr>
              <a:t> </a:t>
            </a:r>
            <a:r>
              <a:rPr sz="3000" spc="-50" dirty="0">
                <a:latin typeface="Tahoma"/>
                <a:cs typeface="Tahoma"/>
              </a:rPr>
              <a:t>use? </a:t>
            </a:r>
            <a:r>
              <a:rPr sz="3000" spc="-110" dirty="0">
                <a:latin typeface="Tahoma"/>
                <a:cs typeface="Tahoma"/>
              </a:rPr>
              <a:t>What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is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60" dirty="0">
                <a:latin typeface="Tahoma"/>
                <a:cs typeface="Tahoma"/>
              </a:rPr>
              <a:t>the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45" dirty="0">
                <a:latin typeface="Tahoma"/>
                <a:cs typeface="Tahoma"/>
              </a:rPr>
              <a:t>best</a:t>
            </a:r>
            <a:r>
              <a:rPr sz="3000" spc="-360" dirty="0">
                <a:latin typeface="Tahoma"/>
                <a:cs typeface="Tahoma"/>
              </a:rPr>
              <a:t> </a:t>
            </a:r>
            <a:r>
              <a:rPr sz="3000" spc="-35" dirty="0">
                <a:latin typeface="Tahoma"/>
                <a:cs typeface="Tahoma"/>
              </a:rPr>
              <a:t>distance</a:t>
            </a:r>
            <a:r>
              <a:rPr sz="3000" spc="-305" dirty="0">
                <a:latin typeface="Tahoma"/>
                <a:cs typeface="Tahoma"/>
              </a:rPr>
              <a:t> </a:t>
            </a:r>
            <a:r>
              <a:rPr sz="3000" spc="-15" dirty="0">
                <a:latin typeface="Tahoma"/>
                <a:cs typeface="Tahoma"/>
              </a:rPr>
              <a:t>to</a:t>
            </a:r>
            <a:r>
              <a:rPr sz="3000" spc="-295" dirty="0">
                <a:latin typeface="Tahoma"/>
                <a:cs typeface="Tahoma"/>
              </a:rPr>
              <a:t> </a:t>
            </a:r>
            <a:r>
              <a:rPr sz="3000" spc="-20" dirty="0">
                <a:latin typeface="Tahoma"/>
                <a:cs typeface="Tahoma"/>
              </a:rPr>
              <a:t>use?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615"/>
              </a:spcBef>
            </a:pPr>
            <a:r>
              <a:rPr sz="3000" spc="-100" dirty="0">
                <a:latin typeface="Tahoma"/>
                <a:cs typeface="Tahoma"/>
              </a:rPr>
              <a:t>These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0" dirty="0">
                <a:latin typeface="Tahoma"/>
                <a:cs typeface="Tahoma"/>
              </a:rPr>
              <a:t>are</a:t>
            </a:r>
            <a:r>
              <a:rPr sz="3000" spc="-275" dirty="0">
                <a:latin typeface="Tahoma"/>
                <a:cs typeface="Tahoma"/>
              </a:rPr>
              <a:t> </a:t>
            </a:r>
            <a:r>
              <a:rPr sz="3000" spc="-85" dirty="0">
                <a:latin typeface="Tahoma"/>
                <a:cs typeface="Tahoma"/>
              </a:rPr>
              <a:t>hyperparameters:</a:t>
            </a:r>
            <a:r>
              <a:rPr sz="3000" spc="-285" dirty="0">
                <a:latin typeface="Tahoma"/>
                <a:cs typeface="Tahoma"/>
              </a:rPr>
              <a:t> </a:t>
            </a:r>
            <a:r>
              <a:rPr sz="3000" spc="-40" dirty="0">
                <a:latin typeface="Tahoma"/>
                <a:cs typeface="Tahoma"/>
              </a:rPr>
              <a:t>choices</a:t>
            </a:r>
            <a:r>
              <a:rPr sz="3000" spc="-265" dirty="0">
                <a:latin typeface="Tahoma"/>
                <a:cs typeface="Tahoma"/>
              </a:rPr>
              <a:t> </a:t>
            </a:r>
            <a:r>
              <a:rPr sz="3000" spc="-30" dirty="0">
                <a:latin typeface="Tahoma"/>
                <a:cs typeface="Tahoma"/>
              </a:rPr>
              <a:t>about</a:t>
            </a:r>
            <a:r>
              <a:rPr sz="3000" spc="-330" dirty="0">
                <a:latin typeface="Tahoma"/>
                <a:cs typeface="Tahoma"/>
              </a:rPr>
              <a:t> </a:t>
            </a:r>
            <a:r>
              <a:rPr sz="3000" spc="-25" dirty="0">
                <a:latin typeface="Tahoma"/>
                <a:cs typeface="Tahoma"/>
              </a:rPr>
              <a:t>the </a:t>
            </a:r>
            <a:r>
              <a:rPr sz="3000" spc="-45" dirty="0">
                <a:latin typeface="Tahoma"/>
                <a:cs typeface="Tahoma"/>
              </a:rPr>
              <a:t>algorithms</a:t>
            </a:r>
            <a:r>
              <a:rPr sz="3000" spc="-235" dirty="0">
                <a:latin typeface="Tahoma"/>
                <a:cs typeface="Tahoma"/>
              </a:rPr>
              <a:t> </a:t>
            </a:r>
            <a:r>
              <a:rPr sz="3000" spc="-10" dirty="0">
                <a:latin typeface="Tahoma"/>
                <a:cs typeface="Tahoma"/>
              </a:rPr>
              <a:t>themselves.</a:t>
            </a:r>
            <a:endParaRPr sz="3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0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100" dirty="0">
                <a:solidFill>
                  <a:srgbClr val="38761D"/>
                </a:solidFill>
                <a:latin typeface="Tahoma"/>
                <a:cs typeface="Tahoma"/>
              </a:rPr>
              <a:t>Very</a:t>
            </a:r>
            <a:r>
              <a:rPr sz="2400" spc="-1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problem/dataset-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dependent.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65" dirty="0">
                <a:solidFill>
                  <a:srgbClr val="38761D"/>
                </a:solidFill>
                <a:latin typeface="Tahoma"/>
                <a:cs typeface="Tahoma"/>
              </a:rPr>
              <a:t>Must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38761D"/>
                </a:solidFill>
                <a:latin typeface="Tahoma"/>
                <a:cs typeface="Tahoma"/>
              </a:rPr>
              <a:t>try</a:t>
            </a:r>
            <a:r>
              <a:rPr sz="2400" spc="-19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them</a:t>
            </a:r>
            <a:r>
              <a:rPr sz="2400" spc="-3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8761D"/>
                </a:solidFill>
                <a:latin typeface="Tahoma"/>
                <a:cs typeface="Tahoma"/>
              </a:rPr>
              <a:t>all</a:t>
            </a:r>
            <a:r>
              <a:rPr sz="2400" spc="-275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out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38761D"/>
                </a:solidFill>
                <a:latin typeface="Tahoma"/>
                <a:cs typeface="Tahoma"/>
              </a:rPr>
              <a:t>and</a:t>
            </a:r>
            <a:r>
              <a:rPr sz="2400" spc="-25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38761D"/>
                </a:solidFill>
                <a:latin typeface="Tahoma"/>
                <a:cs typeface="Tahoma"/>
              </a:rPr>
              <a:t>see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38761D"/>
                </a:solidFill>
                <a:latin typeface="Tahoma"/>
                <a:cs typeface="Tahoma"/>
              </a:rPr>
              <a:t>what</a:t>
            </a:r>
            <a:r>
              <a:rPr sz="2400" spc="-254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8761D"/>
                </a:solidFill>
                <a:latin typeface="Tahoma"/>
                <a:cs typeface="Tahoma"/>
              </a:rPr>
              <a:t>works</a:t>
            </a:r>
            <a:r>
              <a:rPr sz="2400" spc="-210" dirty="0">
                <a:solidFill>
                  <a:srgbClr val="38761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761D"/>
                </a:solidFill>
                <a:latin typeface="Tahoma"/>
                <a:cs typeface="Tahoma"/>
              </a:rPr>
              <a:t>best.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39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5391" y="3415029"/>
            <a:ext cx="15036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65" dirty="0">
                <a:solidFill>
                  <a:srgbClr val="FF0000"/>
                </a:solidFill>
                <a:latin typeface="Tahoma"/>
                <a:cs typeface="Tahoma"/>
              </a:rPr>
              <a:t>Never</a:t>
            </a:r>
            <a:r>
              <a:rPr sz="2000" spc="-1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ahoma"/>
                <a:cs typeface="Tahoma"/>
              </a:rPr>
              <a:t>this!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7865" y="797242"/>
            <a:ext cx="2444115" cy="5676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5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FF0000"/>
                </a:solidFill>
                <a:latin typeface="Tahoma"/>
                <a:cs typeface="Tahoma"/>
              </a:rPr>
              <a:t>always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works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perfectly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7865" y="2113216"/>
            <a:ext cx="269938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14" dirty="0">
                <a:solidFill>
                  <a:srgbClr val="FF0000"/>
                </a:solidFill>
                <a:latin typeface="Tahoma"/>
                <a:cs typeface="Tahoma"/>
              </a:rPr>
              <a:t>BAD: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idea</a:t>
            </a:r>
            <a:r>
              <a:rPr sz="1800" spc="-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FF0000"/>
                </a:solidFill>
                <a:latin typeface="Tahoma"/>
                <a:cs typeface="Tahoma"/>
              </a:rPr>
              <a:t>perform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FF0000"/>
                </a:solidFill>
                <a:latin typeface="Tahoma"/>
                <a:cs typeface="Tahoma"/>
              </a:rPr>
              <a:t>new</a:t>
            </a:r>
            <a:r>
              <a:rPr sz="1800" spc="-1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325" y="2762250"/>
            <a:ext cx="6362700" cy="400050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7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7025" y="2762250"/>
            <a:ext cx="1457325" cy="400050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842" y="3384169"/>
            <a:ext cx="4293870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5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40" dirty="0">
                <a:latin typeface="Tahoma"/>
                <a:cs typeface="Tahoma"/>
              </a:rPr>
              <a:t>#3: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train,</a:t>
            </a:r>
            <a:r>
              <a:rPr sz="1800" spc="-12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val;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choose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val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evaluate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1951" y="3495992"/>
            <a:ext cx="690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38761D"/>
                </a:solidFill>
                <a:latin typeface="Tahoma"/>
                <a:cs typeface="Tahoma"/>
              </a:rPr>
              <a:t>Better!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4800" y="4029075"/>
          <a:ext cx="7820025" cy="39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train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validation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spc="-20" dirty="0">
                          <a:latin typeface="Tahoma"/>
                          <a:cs typeface="Tahoma"/>
                        </a:rPr>
                        <a:t>test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52425" y="1514475"/>
            <a:ext cx="6324600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752" y="798766"/>
            <a:ext cx="3672204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#1: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latin typeface="Tahoma"/>
                <a:cs typeface="Tahoma"/>
              </a:rPr>
              <a:t>work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best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training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842" y="2113216"/>
            <a:ext cx="320548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#2: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choose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30" dirty="0">
                <a:latin typeface="Tahoma"/>
                <a:cs typeface="Tahoma"/>
              </a:rPr>
              <a:t>that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work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best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2900" y="2038350"/>
          <a:ext cx="5972175" cy="211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17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36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CF0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BD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4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fold</a:t>
                      </a:r>
                      <a:r>
                        <a:rPr sz="18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55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27355" y="1254823"/>
            <a:ext cx="474091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80" dirty="0">
                <a:latin typeface="Tahoma"/>
                <a:cs typeface="Tahoma"/>
              </a:rPr>
              <a:t>Idea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45" dirty="0">
                <a:latin typeface="Tahoma"/>
                <a:cs typeface="Tahoma"/>
              </a:rPr>
              <a:t>#4: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Cross-</a:t>
            </a:r>
            <a:r>
              <a:rPr sz="1800" spc="-40" dirty="0">
                <a:latin typeface="Tahoma"/>
                <a:cs typeface="Tahoma"/>
              </a:rPr>
              <a:t>Validation: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Split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data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into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folds,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45" dirty="0">
                <a:latin typeface="Tahoma"/>
                <a:cs typeface="Tahoma"/>
              </a:rPr>
              <a:t>each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as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average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results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1325" y="2914650"/>
            <a:ext cx="1809750" cy="390525"/>
          </a:xfrm>
          <a:prstGeom prst="rect">
            <a:avLst/>
          </a:prstGeom>
          <a:solidFill>
            <a:srgbClr val="F4CCCC"/>
          </a:solidFill>
          <a:ln w="19050">
            <a:solidFill>
              <a:srgbClr val="0000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14"/>
              </a:spcBef>
            </a:pPr>
            <a:r>
              <a:rPr sz="1800" spc="-20" dirty="0">
                <a:latin typeface="Tahoma"/>
                <a:cs typeface="Tahoma"/>
              </a:rPr>
              <a:t>test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355" y="4386897"/>
            <a:ext cx="6670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Tahoma"/>
                <a:cs typeface="Tahoma"/>
              </a:rPr>
              <a:t>Useful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small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datasets,</a:t>
            </a:r>
            <a:r>
              <a:rPr sz="1800" spc="-2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but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not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used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too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frequently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deep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learning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25" y="752475"/>
            <a:ext cx="6010275" cy="390525"/>
          </a:xfrm>
          <a:prstGeom prst="rect">
            <a:avLst/>
          </a:prstGeom>
          <a:solidFill>
            <a:srgbClr val="D9EAD2"/>
          </a:solidFill>
          <a:ln w="1905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380"/>
              </a:spcBef>
            </a:pPr>
            <a:r>
              <a:rPr sz="1800" spc="-10" dirty="0">
                <a:latin typeface="Tahoma"/>
                <a:cs typeface="Tahoma"/>
              </a:rPr>
              <a:t>train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Example</a:t>
            </a:r>
            <a:r>
              <a:rPr spc="-235" dirty="0"/>
              <a:t> </a:t>
            </a:r>
            <a:r>
              <a:rPr spc="-75" dirty="0"/>
              <a:t>Dataset:</a:t>
            </a:r>
            <a:r>
              <a:rPr spc="-305" dirty="0"/>
              <a:t> </a:t>
            </a:r>
            <a:r>
              <a:rPr spc="-105" dirty="0"/>
              <a:t>CIFAR10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614" y="4367847"/>
            <a:ext cx="31121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30" dirty="0">
                <a:latin typeface="Tahoma"/>
                <a:cs typeface="Tahoma"/>
              </a:rPr>
              <a:t>Alex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Krizhevsky,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“Learning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Multiple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Layers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dirty="0">
                <a:latin typeface="Tahoma"/>
                <a:cs typeface="Tahoma"/>
              </a:rPr>
              <a:t>of</a:t>
            </a:r>
            <a:r>
              <a:rPr sz="600" spc="-25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Features</a:t>
            </a:r>
            <a:r>
              <a:rPr sz="600" spc="-25" dirty="0">
                <a:latin typeface="Tahoma"/>
                <a:cs typeface="Tahoma"/>
              </a:rPr>
              <a:t> from</a:t>
            </a:r>
            <a:r>
              <a:rPr sz="600" spc="-60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Tiny</a:t>
            </a:r>
            <a:r>
              <a:rPr sz="600" spc="-65" dirty="0">
                <a:latin typeface="Tahoma"/>
                <a:cs typeface="Tahoma"/>
              </a:rPr>
              <a:t> </a:t>
            </a:r>
            <a:r>
              <a:rPr sz="600" spc="-25" dirty="0">
                <a:latin typeface="Tahoma"/>
                <a:cs typeface="Tahoma"/>
              </a:rPr>
              <a:t>Images”,</a:t>
            </a:r>
            <a:r>
              <a:rPr sz="600" spc="10" dirty="0">
                <a:latin typeface="Tahoma"/>
                <a:cs typeface="Tahoma"/>
              </a:rPr>
              <a:t> </a:t>
            </a:r>
            <a:r>
              <a:rPr sz="600" spc="-20" dirty="0">
                <a:latin typeface="Tahoma"/>
                <a:cs typeface="Tahoma"/>
              </a:rPr>
              <a:t>Technical</a:t>
            </a:r>
            <a:r>
              <a:rPr sz="600" dirty="0">
                <a:latin typeface="Tahoma"/>
                <a:cs typeface="Tahoma"/>
              </a:rPr>
              <a:t> </a:t>
            </a:r>
            <a:r>
              <a:rPr sz="600" spc="-30" dirty="0">
                <a:latin typeface="Tahoma"/>
                <a:cs typeface="Tahoma"/>
              </a:rPr>
              <a:t>Report,</a:t>
            </a:r>
            <a:r>
              <a:rPr sz="600" spc="5" dirty="0">
                <a:latin typeface="Tahoma"/>
                <a:cs typeface="Tahoma"/>
              </a:rPr>
              <a:t> </a:t>
            </a:r>
            <a:r>
              <a:rPr sz="600" spc="-10" dirty="0">
                <a:latin typeface="Tahoma"/>
                <a:cs typeface="Tahoma"/>
              </a:rPr>
              <a:t>2009.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442" y="680148"/>
            <a:ext cx="2182495" cy="84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05" dirty="0">
                <a:latin typeface="Tahoma"/>
                <a:cs typeface="Tahoma"/>
              </a:rPr>
              <a:t>10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classes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05" dirty="0">
                <a:latin typeface="Tahoma"/>
                <a:cs typeface="Tahoma"/>
              </a:rPr>
              <a:t>50,000</a:t>
            </a:r>
            <a:r>
              <a:rPr sz="1800" spc="-1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training</a:t>
            </a:r>
            <a:r>
              <a:rPr sz="1800" spc="-1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05" dirty="0">
                <a:latin typeface="Tahoma"/>
                <a:cs typeface="Tahoma"/>
              </a:rPr>
              <a:t>10,000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images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5950" y="1167511"/>
            <a:ext cx="33489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50" dirty="0">
                <a:latin typeface="Tahoma"/>
                <a:cs typeface="Tahoma"/>
              </a:rPr>
              <a:t>Test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images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nearest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neighbors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581150"/>
            <a:ext cx="3629025" cy="268605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81551" y="1566925"/>
            <a:ext cx="0" cy="2710180"/>
          </a:xfrm>
          <a:custGeom>
            <a:avLst/>
            <a:gdLst/>
            <a:ahLst/>
            <a:cxnLst/>
            <a:rect l="l" t="t" r="r" b="b"/>
            <a:pathLst>
              <a:path h="2710179">
                <a:moveTo>
                  <a:pt x="0" y="0"/>
                </a:moveTo>
                <a:lnTo>
                  <a:pt x="0" y="2709837"/>
                </a:lnTo>
              </a:path>
            </a:pathLst>
          </a:custGeom>
          <a:ln w="28575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2475" y="1552575"/>
            <a:ext cx="3343275" cy="2743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36143"/>
            <a:ext cx="37820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Setting</a:t>
            </a:r>
            <a:r>
              <a:rPr spc="-250" dirty="0"/>
              <a:t> </a:t>
            </a:r>
            <a:r>
              <a:rPr spc="-25" dirty="0"/>
              <a:t>Hyperparameters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790575"/>
            <a:ext cx="4143375" cy="3343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8129" y="393636"/>
            <a:ext cx="2852420" cy="386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spc="-40" dirty="0">
                <a:latin typeface="Tahoma"/>
                <a:cs typeface="Tahoma"/>
              </a:rPr>
              <a:t>Example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5"/>
              </a:lnSpc>
            </a:pPr>
            <a:r>
              <a:rPr sz="1800" spc="-100" dirty="0">
                <a:latin typeface="Tahoma"/>
                <a:cs typeface="Tahoma"/>
              </a:rPr>
              <a:t>5-</a:t>
            </a:r>
            <a:r>
              <a:rPr sz="1800" spc="-10" dirty="0">
                <a:latin typeface="Tahoma"/>
                <a:cs typeface="Tahoma"/>
              </a:rPr>
              <a:t>fold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cross-</a:t>
            </a:r>
            <a:r>
              <a:rPr sz="1800" spc="-10" dirty="0">
                <a:latin typeface="Tahoma"/>
                <a:cs typeface="Tahoma"/>
              </a:rPr>
              <a:t>validation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value</a:t>
            </a:r>
            <a:r>
              <a:rPr sz="1800" spc="-23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of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k.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latin typeface="Tahoma"/>
                <a:cs typeface="Tahoma"/>
              </a:rPr>
              <a:t>Each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point: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single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latin typeface="Tahoma"/>
                <a:cs typeface="Tahoma"/>
              </a:rPr>
              <a:t>outcome.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6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line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goes</a:t>
            </a:r>
            <a:endParaRPr sz="1800">
              <a:latin typeface="Tahoma"/>
              <a:cs typeface="Tahoma"/>
            </a:endParaRPr>
          </a:p>
          <a:p>
            <a:pPr marL="12700" marR="587375">
              <a:lnSpc>
                <a:spcPct val="100899"/>
              </a:lnSpc>
            </a:pPr>
            <a:r>
              <a:rPr sz="1800" spc="-30" dirty="0">
                <a:latin typeface="Tahoma"/>
                <a:cs typeface="Tahoma"/>
              </a:rPr>
              <a:t>through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5" dirty="0">
                <a:latin typeface="Tahoma"/>
                <a:cs typeface="Tahoma"/>
              </a:rPr>
              <a:t> </a:t>
            </a:r>
            <a:r>
              <a:rPr sz="1800" spc="-60" dirty="0">
                <a:latin typeface="Tahoma"/>
                <a:cs typeface="Tahoma"/>
              </a:rPr>
              <a:t>mean,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bars indicated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standard deviation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800" spc="-70" dirty="0">
                <a:solidFill>
                  <a:srgbClr val="FF0000"/>
                </a:solidFill>
                <a:latin typeface="Tahoma"/>
                <a:cs typeface="Tahoma"/>
              </a:rPr>
              <a:t>(Seems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ahoma"/>
                <a:cs typeface="Tahoma"/>
              </a:rPr>
              <a:t>that</a:t>
            </a:r>
            <a:r>
              <a:rPr sz="1800" spc="-17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ahoma"/>
                <a:cs typeface="Tahoma"/>
              </a:rPr>
              <a:t>k</a:t>
            </a:r>
            <a:r>
              <a:rPr sz="1800" spc="-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420" dirty="0">
                <a:solidFill>
                  <a:srgbClr val="FF0000"/>
                </a:solidFill>
                <a:latin typeface="Tahoma"/>
                <a:cs typeface="Tahoma"/>
              </a:rPr>
              <a:t>~=</a:t>
            </a:r>
            <a:r>
              <a:rPr sz="1800" spc="-2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0000"/>
                </a:solidFill>
                <a:latin typeface="Tahoma"/>
                <a:cs typeface="Tahoma"/>
              </a:rPr>
              <a:t>7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Tahoma"/>
                <a:cs typeface="Tahoma"/>
              </a:rPr>
              <a:t>works</a:t>
            </a:r>
            <a:r>
              <a:rPr sz="18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best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35" dirty="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sz="1800" spc="-2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this</a:t>
            </a:r>
            <a:r>
              <a:rPr sz="1800" spc="-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Tahoma"/>
                <a:cs typeface="Tahoma"/>
              </a:rPr>
              <a:t>data)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825" y="733425"/>
            <a:ext cx="4324350" cy="35528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9825" y="733425"/>
            <a:ext cx="4324350" cy="3552825"/>
            <a:chOff x="2409825" y="733425"/>
            <a:chExt cx="4324350" cy="3552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825" y="733425"/>
              <a:ext cx="4324350" cy="35528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62300" y="1114425"/>
              <a:ext cx="304800" cy="2790825"/>
            </a:xfrm>
            <a:custGeom>
              <a:avLst/>
              <a:gdLst/>
              <a:ahLst/>
              <a:cxnLst/>
              <a:rect l="l" t="t" r="r" b="b"/>
              <a:pathLst>
                <a:path w="304800" h="279082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  <a:path w="304800" h="2790825">
                  <a:moveTo>
                    <a:pt x="0" y="2438400"/>
                  </a:moveTo>
                  <a:lnTo>
                    <a:pt x="304800" y="2438400"/>
                  </a:lnTo>
                  <a:lnTo>
                    <a:pt x="304800" y="2143125"/>
                  </a:lnTo>
                  <a:lnTo>
                    <a:pt x="0" y="2143125"/>
                  </a:lnTo>
                  <a:lnTo>
                    <a:pt x="0" y="2438400"/>
                  </a:lnTo>
                  <a:close/>
                </a:path>
                <a:path w="304800" h="2790825">
                  <a:moveTo>
                    <a:pt x="0" y="2790825"/>
                  </a:moveTo>
                  <a:lnTo>
                    <a:pt x="304800" y="2790825"/>
                  </a:lnTo>
                  <a:lnTo>
                    <a:pt x="304800" y="2495550"/>
                  </a:lnTo>
                  <a:lnTo>
                    <a:pt x="0" y="2495550"/>
                  </a:lnTo>
                  <a:lnTo>
                    <a:pt x="0" y="2790825"/>
                  </a:lnTo>
                  <a:close/>
                </a:path>
                <a:path w="304800" h="2790825">
                  <a:moveTo>
                    <a:pt x="0" y="2085975"/>
                  </a:moveTo>
                  <a:lnTo>
                    <a:pt x="304800" y="2085975"/>
                  </a:lnTo>
                  <a:lnTo>
                    <a:pt x="304800" y="1790700"/>
                  </a:lnTo>
                  <a:lnTo>
                    <a:pt x="0" y="1790700"/>
                  </a:lnTo>
                  <a:lnTo>
                    <a:pt x="0" y="2085975"/>
                  </a:lnTo>
                  <a:close/>
                </a:path>
              </a:pathLst>
            </a:custGeom>
            <a:ln w="38100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2300" y="762000"/>
              <a:ext cx="304800" cy="3495675"/>
            </a:xfrm>
            <a:custGeom>
              <a:avLst/>
              <a:gdLst/>
              <a:ahLst/>
              <a:cxnLst/>
              <a:rect l="l" t="t" r="r" b="b"/>
              <a:pathLst>
                <a:path w="304800" h="3495675">
                  <a:moveTo>
                    <a:pt x="0" y="3495675"/>
                  </a:moveTo>
                  <a:lnTo>
                    <a:pt x="304800" y="3495675"/>
                  </a:lnTo>
                  <a:lnTo>
                    <a:pt x="304800" y="3190875"/>
                  </a:lnTo>
                  <a:lnTo>
                    <a:pt x="0" y="3190875"/>
                  </a:lnTo>
                  <a:lnTo>
                    <a:pt x="0" y="3495675"/>
                  </a:lnTo>
                  <a:close/>
                </a:path>
                <a:path w="304800" h="3495675">
                  <a:moveTo>
                    <a:pt x="0" y="2076450"/>
                  </a:moveTo>
                  <a:lnTo>
                    <a:pt x="304800" y="2076450"/>
                  </a:lnTo>
                  <a:lnTo>
                    <a:pt x="304800" y="1771650"/>
                  </a:lnTo>
                  <a:lnTo>
                    <a:pt x="0" y="1771650"/>
                  </a:lnTo>
                  <a:lnTo>
                    <a:pt x="0" y="2076450"/>
                  </a:lnTo>
                  <a:close/>
                </a:path>
                <a:path w="304800" h="3495675">
                  <a:moveTo>
                    <a:pt x="0" y="1724025"/>
                  </a:moveTo>
                  <a:lnTo>
                    <a:pt x="304800" y="1724025"/>
                  </a:lnTo>
                  <a:lnTo>
                    <a:pt x="304800" y="1428750"/>
                  </a:lnTo>
                  <a:lnTo>
                    <a:pt x="0" y="1428750"/>
                  </a:lnTo>
                  <a:lnTo>
                    <a:pt x="0" y="1724025"/>
                  </a:lnTo>
                  <a:close/>
                </a:path>
                <a:path w="304800" h="3495675">
                  <a:moveTo>
                    <a:pt x="0" y="1362075"/>
                  </a:moveTo>
                  <a:lnTo>
                    <a:pt x="304800" y="1362075"/>
                  </a:lnTo>
                  <a:lnTo>
                    <a:pt x="304800" y="1066800"/>
                  </a:lnTo>
                  <a:lnTo>
                    <a:pt x="0" y="1066800"/>
                  </a:lnTo>
                  <a:lnTo>
                    <a:pt x="0" y="1362075"/>
                  </a:lnTo>
                  <a:close/>
                </a:path>
                <a:path w="304800" h="3495675">
                  <a:moveTo>
                    <a:pt x="0" y="1009650"/>
                  </a:moveTo>
                  <a:lnTo>
                    <a:pt x="304800" y="1009650"/>
                  </a:lnTo>
                  <a:lnTo>
                    <a:pt x="304800" y="714375"/>
                  </a:lnTo>
                  <a:lnTo>
                    <a:pt x="0" y="714375"/>
                  </a:lnTo>
                  <a:lnTo>
                    <a:pt x="0" y="1009650"/>
                  </a:lnTo>
                  <a:close/>
                </a:path>
                <a:path w="304800" h="3495675">
                  <a:moveTo>
                    <a:pt x="0" y="304800"/>
                  </a:moveTo>
                  <a:lnTo>
                    <a:pt x="304800" y="3048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3810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What</a:t>
            </a:r>
            <a:r>
              <a:rPr spc="-280" dirty="0"/>
              <a:t> </a:t>
            </a:r>
            <a:r>
              <a:rPr spc="-35" dirty="0"/>
              <a:t>does</a:t>
            </a:r>
            <a:r>
              <a:rPr spc="-270" dirty="0"/>
              <a:t> </a:t>
            </a:r>
            <a:r>
              <a:rPr spc="-10" dirty="0"/>
              <a:t>this</a:t>
            </a:r>
            <a:r>
              <a:rPr spc="-200" dirty="0"/>
              <a:t> </a:t>
            </a:r>
            <a:r>
              <a:rPr dirty="0"/>
              <a:t>look</a:t>
            </a:r>
            <a:r>
              <a:rPr spc="-260" dirty="0"/>
              <a:t> </a:t>
            </a:r>
            <a:r>
              <a:rPr spc="-10" dirty="0"/>
              <a:t>like?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644" y="356235"/>
            <a:ext cx="64706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80" dirty="0"/>
              <a:t>k-</a:t>
            </a:r>
            <a:r>
              <a:rPr sz="2400" spc="-60" dirty="0"/>
              <a:t>Nearest</a:t>
            </a:r>
            <a:r>
              <a:rPr sz="2400" spc="-254" dirty="0"/>
              <a:t> </a:t>
            </a:r>
            <a:r>
              <a:rPr sz="2400" spc="-45" dirty="0"/>
              <a:t>Neighbor</a:t>
            </a:r>
            <a:r>
              <a:rPr sz="2400" spc="-195" dirty="0"/>
              <a:t> </a:t>
            </a:r>
            <a:r>
              <a:rPr sz="2400" spc="-35" dirty="0"/>
              <a:t>with</a:t>
            </a:r>
            <a:r>
              <a:rPr sz="2400" spc="-215" dirty="0"/>
              <a:t> </a:t>
            </a:r>
            <a:r>
              <a:rPr sz="2400" spc="-30" dirty="0"/>
              <a:t>pixel</a:t>
            </a:r>
            <a:r>
              <a:rPr sz="2400" spc="-275" dirty="0"/>
              <a:t> </a:t>
            </a:r>
            <a:r>
              <a:rPr sz="2400" spc="-40" dirty="0"/>
              <a:t>distance</a:t>
            </a:r>
            <a:r>
              <a:rPr sz="2400" spc="-175" dirty="0"/>
              <a:t> </a:t>
            </a:r>
            <a:r>
              <a:rPr sz="2400" spc="-70" dirty="0"/>
              <a:t>never</a:t>
            </a:r>
            <a:r>
              <a:rPr sz="2400" spc="-270" dirty="0"/>
              <a:t> </a:t>
            </a:r>
            <a:r>
              <a:rPr sz="2400" spc="-10" dirty="0"/>
              <a:t>used.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60717" y="1067117"/>
            <a:ext cx="6217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2400" spc="-5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60" dirty="0">
                <a:latin typeface="Tahoma"/>
                <a:cs typeface="Tahoma"/>
              </a:rPr>
              <a:t>Distance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metrics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on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pixels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are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not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informative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2019300"/>
            <a:ext cx="1857375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4125" y="2019300"/>
            <a:ext cx="1866900" cy="167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1050" y="2019300"/>
            <a:ext cx="1857375" cy="1676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8450" y="2019300"/>
            <a:ext cx="1866900" cy="1676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74102" y="1749996"/>
            <a:ext cx="50272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00885" algn="l"/>
                <a:tab pos="3855085" algn="l"/>
              </a:tabLst>
            </a:pPr>
            <a:r>
              <a:rPr sz="1400" spc="-10" dirty="0">
                <a:latin typeface="Tahoma"/>
                <a:cs typeface="Tahoma"/>
              </a:rPr>
              <a:t>Original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10" dirty="0">
                <a:latin typeface="Tahoma"/>
                <a:cs typeface="Tahoma"/>
              </a:rPr>
              <a:t>Occluded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20" dirty="0">
                <a:latin typeface="Tahoma"/>
                <a:cs typeface="Tahoma"/>
              </a:rPr>
              <a:t>Shifted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(1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pixel)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13" name="object 13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48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67956" y="1749996"/>
            <a:ext cx="51815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ahoma"/>
                <a:cs typeface="Tahoma"/>
              </a:rPr>
              <a:t>Tinted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704" y="1823085"/>
            <a:ext cx="697865" cy="2025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680"/>
              </a:lnSpc>
              <a:spcBef>
                <a:spcPts val="155"/>
              </a:spcBef>
            </a:pP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Original</a:t>
            </a:r>
            <a:r>
              <a:rPr sz="600" u="sng" spc="-1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image</a:t>
            </a:r>
            <a:r>
              <a:rPr sz="600" spc="-4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 dirty="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0" dirty="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25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CC0</a:t>
            </a:r>
            <a:r>
              <a:rPr sz="600" spc="500" dirty="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public</a:t>
            </a:r>
            <a:r>
              <a:rPr sz="600" u="sng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6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527" y="3844925"/>
            <a:ext cx="778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Tahoma"/>
                <a:cs typeface="Tahoma"/>
              </a:rPr>
              <a:t>(All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three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images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right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have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same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pixel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distances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one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229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left)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5" dirty="0"/>
              <a:t>K-</a:t>
            </a:r>
            <a:r>
              <a:rPr spc="-40" dirty="0"/>
              <a:t>Nearest</a:t>
            </a:r>
            <a:r>
              <a:rPr spc="-240" dirty="0"/>
              <a:t> </a:t>
            </a:r>
            <a:r>
              <a:rPr spc="-65" dirty="0"/>
              <a:t>Neighbors:</a:t>
            </a:r>
            <a:r>
              <a:rPr spc="-204" dirty="0"/>
              <a:t> </a:t>
            </a:r>
            <a:r>
              <a:rPr spc="-1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6257" rIns="0" bIns="0" rtlCol="0">
            <a:spAutoFit/>
          </a:bodyPr>
          <a:lstStyle/>
          <a:p>
            <a:pPr marL="1198245">
              <a:lnSpc>
                <a:spcPct val="100000"/>
              </a:lnSpc>
              <a:spcBef>
                <a:spcPts val="70"/>
              </a:spcBef>
            </a:pPr>
            <a:r>
              <a:rPr spc="-25" dirty="0"/>
              <a:t>50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750633"/>
            <a:ext cx="7865745" cy="305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1290">
              <a:lnSpc>
                <a:spcPct val="114799"/>
              </a:lnSpc>
              <a:spcBef>
                <a:spcPts val="100"/>
              </a:spcBef>
            </a:pPr>
            <a:r>
              <a:rPr sz="1800" spc="-130" dirty="0">
                <a:latin typeface="Tahoma"/>
                <a:cs typeface="Tahoma"/>
              </a:rPr>
              <a:t>In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classification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75" dirty="0">
                <a:latin typeface="Tahoma"/>
                <a:cs typeface="Tahoma"/>
              </a:rPr>
              <a:t>we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start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with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a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training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set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of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images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labels,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and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must </a:t>
            </a:r>
            <a:r>
              <a:rPr sz="1800" spc="-10" dirty="0">
                <a:latin typeface="Tahoma"/>
                <a:cs typeface="Tahoma"/>
              </a:rPr>
              <a:t>predict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labels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8300"/>
              </a:lnSpc>
              <a:spcBef>
                <a:spcPts val="1500"/>
              </a:spcBef>
            </a:pPr>
            <a:r>
              <a:rPr sz="1800" spc="-65" dirty="0">
                <a:latin typeface="Tahoma"/>
                <a:cs typeface="Tahoma"/>
              </a:rPr>
              <a:t>The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80" dirty="0">
                <a:latin typeface="Tahoma"/>
                <a:cs typeface="Tahoma"/>
              </a:rPr>
              <a:t>K-</a:t>
            </a:r>
            <a:r>
              <a:rPr sz="1800" spc="-45" dirty="0">
                <a:latin typeface="Tahoma"/>
                <a:cs typeface="Tahoma"/>
              </a:rPr>
              <a:t>Nearest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Neighbors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classifier</a:t>
            </a:r>
            <a:r>
              <a:rPr sz="1800" spc="-114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predicts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labels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based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the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14" dirty="0">
                <a:latin typeface="Tahoma"/>
                <a:cs typeface="Tahoma"/>
              </a:rPr>
              <a:t> </a:t>
            </a:r>
            <a:r>
              <a:rPr sz="1800" b="1" spc="-130" dirty="0">
                <a:latin typeface="Tahoma"/>
                <a:cs typeface="Tahoma"/>
              </a:rPr>
              <a:t>nearest</a:t>
            </a:r>
            <a:r>
              <a:rPr sz="1800" b="1" spc="-145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training </a:t>
            </a:r>
            <a:r>
              <a:rPr sz="1800" b="1" spc="-10" dirty="0">
                <a:latin typeface="Tahoma"/>
                <a:cs typeface="Tahoma"/>
              </a:rPr>
              <a:t>examples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1800" b="1" spc="-135" dirty="0">
                <a:latin typeface="Tahoma"/>
                <a:cs typeface="Tahoma"/>
              </a:rPr>
              <a:t>Distance</a:t>
            </a:r>
            <a:r>
              <a:rPr sz="1800" b="1" spc="-85" dirty="0">
                <a:latin typeface="Tahoma"/>
                <a:cs typeface="Tahoma"/>
              </a:rPr>
              <a:t> </a:t>
            </a:r>
            <a:r>
              <a:rPr sz="1800" b="1" spc="-114" dirty="0">
                <a:latin typeface="Tahoma"/>
                <a:cs typeface="Tahoma"/>
              </a:rPr>
              <a:t>metric</a:t>
            </a:r>
            <a:r>
              <a:rPr sz="1800" b="1" spc="-145" dirty="0">
                <a:latin typeface="Tahoma"/>
                <a:cs typeface="Tahoma"/>
              </a:rPr>
              <a:t> and</a:t>
            </a:r>
            <a:r>
              <a:rPr sz="1800" b="1" spc="-110" dirty="0">
                <a:latin typeface="Tahoma"/>
                <a:cs typeface="Tahoma"/>
              </a:rPr>
              <a:t> </a:t>
            </a:r>
            <a:r>
              <a:rPr sz="1800" b="1" spc="-150" dirty="0">
                <a:latin typeface="Tahoma"/>
                <a:cs typeface="Tahoma"/>
              </a:rPr>
              <a:t>K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105" dirty="0">
                <a:latin typeface="Tahoma"/>
                <a:cs typeface="Tahoma"/>
              </a:rPr>
              <a:t>are</a:t>
            </a:r>
            <a:r>
              <a:rPr sz="1800" b="1" spc="-165" dirty="0">
                <a:latin typeface="Tahoma"/>
                <a:cs typeface="Tahoma"/>
              </a:rPr>
              <a:t> </a:t>
            </a:r>
            <a:r>
              <a:rPr sz="1800" b="1" spc="-50" dirty="0">
                <a:latin typeface="Tahoma"/>
                <a:cs typeface="Tahoma"/>
              </a:rPr>
              <a:t>hyperparameters</a:t>
            </a:r>
            <a:endParaRPr sz="1800">
              <a:latin typeface="Tahoma"/>
              <a:cs typeface="Tahoma"/>
            </a:endParaRPr>
          </a:p>
          <a:p>
            <a:pPr marL="12700" marR="3179445">
              <a:lnSpc>
                <a:spcPts val="4130"/>
              </a:lnSpc>
              <a:spcBef>
                <a:spcPts val="190"/>
              </a:spcBef>
            </a:pPr>
            <a:r>
              <a:rPr sz="1800" spc="-40" dirty="0">
                <a:latin typeface="Tahoma"/>
                <a:cs typeface="Tahoma"/>
              </a:rPr>
              <a:t>Choose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hyperparameters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45" dirty="0">
                <a:latin typeface="Tahoma"/>
                <a:cs typeface="Tahoma"/>
              </a:rPr>
              <a:t>using</a:t>
            </a:r>
            <a:r>
              <a:rPr sz="1800" spc="-14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validation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set </a:t>
            </a:r>
            <a:r>
              <a:rPr sz="1800" spc="-45" dirty="0">
                <a:latin typeface="Tahoma"/>
                <a:cs typeface="Tahoma"/>
              </a:rPr>
              <a:t>Only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run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the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test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65" dirty="0">
                <a:latin typeface="Tahoma"/>
                <a:cs typeface="Tahoma"/>
              </a:rPr>
              <a:t>set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once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at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40" dirty="0">
                <a:latin typeface="Tahoma"/>
                <a:cs typeface="Tahoma"/>
              </a:rPr>
              <a:t> </a:t>
            </a:r>
            <a:r>
              <a:rPr sz="1800" spc="-55" dirty="0">
                <a:latin typeface="Tahoma"/>
                <a:cs typeface="Tahoma"/>
              </a:rPr>
              <a:t>very</a:t>
            </a:r>
            <a:r>
              <a:rPr sz="1800" spc="-19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end!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1666</Words>
  <Application>Microsoft Office PowerPoint</Application>
  <PresentationFormat>On-screen Show (16:9)</PresentationFormat>
  <Paragraphs>352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 MT</vt:lpstr>
      <vt:lpstr>Calibri</vt:lpstr>
      <vt:lpstr>Consolas</vt:lpstr>
      <vt:lpstr>Tahoma</vt:lpstr>
      <vt:lpstr>Times New Roman</vt:lpstr>
      <vt:lpstr>Wingdings</vt:lpstr>
      <vt:lpstr>Office Theme</vt:lpstr>
      <vt:lpstr>Understanding Images and Classification with Linear Classifiers</vt:lpstr>
      <vt:lpstr>Understanding an Image</vt:lpstr>
      <vt:lpstr>Understanding an Image</vt:lpstr>
      <vt:lpstr>What can we do with Images? Image Classification A Core Task in computer vision</vt:lpstr>
      <vt:lpstr>An image classifier</vt:lpstr>
      <vt:lpstr>Attempts have been made</vt:lpstr>
      <vt:lpstr>Machine Learning: Data-Driven Approach</vt:lpstr>
      <vt:lpstr>Nearest Neighbor Classifier</vt:lpstr>
      <vt:lpstr>First classifier: Nearest Neighbor</vt:lpstr>
      <vt:lpstr>First classifier: Nearest Neighbor</vt:lpstr>
      <vt:lpstr>Distance Metric to compare images</vt:lpstr>
      <vt:lpstr>PowerPoint Presentation</vt:lpstr>
      <vt:lpstr>PowerPoint Presentation</vt:lpstr>
      <vt:lpstr>PowerPoint Presentation</vt:lpstr>
      <vt:lpstr>PowerPoint Presentation</vt:lpstr>
      <vt:lpstr>What does this look like?</vt:lpstr>
      <vt:lpstr>K-Nearest Neighbors</vt:lpstr>
      <vt:lpstr>K-Nearest Neighbors: Distance Metric</vt:lpstr>
      <vt:lpstr>K-Nearest Neighbors: Distance Metric - Example</vt:lpstr>
      <vt:lpstr>K-Nearest Neighbors: Distance Metric</vt:lpstr>
      <vt:lpstr>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Setting Hyperparameters</vt:lpstr>
      <vt:lpstr>Example Dataset: CIFAR10</vt:lpstr>
      <vt:lpstr>Example Dataset: CIFAR10</vt:lpstr>
      <vt:lpstr>Setting Hyperparameters</vt:lpstr>
      <vt:lpstr>What does this look like?</vt:lpstr>
      <vt:lpstr>What does this look like?</vt:lpstr>
      <vt:lpstr>k-Nearest Neighbor with pixel distance never used.</vt:lpstr>
      <vt:lpstr>K-Nearest Neighbors: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Image Classification with Linear Classifiers</dc:title>
  <cp:lastModifiedBy>Tanvir Ahmed</cp:lastModifiedBy>
  <cp:revision>6</cp:revision>
  <dcterms:created xsi:type="dcterms:W3CDTF">2026-01-16T14:01:30Z</dcterms:created>
  <dcterms:modified xsi:type="dcterms:W3CDTF">2026-02-10T03:27:56Z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