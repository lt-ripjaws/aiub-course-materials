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24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8" r:id="rId20"/>
    <p:sldId id="279" r:id="rId21"/>
    <p:sldId id="281" r:id="rId22"/>
    <p:sldId id="282" r:id="rId23"/>
    <p:sldId id="285" r:id="rId24"/>
    <p:sldId id="286" r:id="rId25"/>
    <p:sldId id="287" r:id="rId26"/>
    <p:sldId id="288" r:id="rId27"/>
    <p:sldId id="289" r:id="rId28"/>
    <p:sldId id="290" r:id="rId29"/>
    <p:sldId id="298" r:id="rId30"/>
    <p:sldId id="299" r:id="rId31"/>
    <p:sldId id="300" r:id="rId32"/>
    <p:sldId id="305" r:id="rId33"/>
    <p:sldId id="306" r:id="rId34"/>
    <p:sldId id="307" r:id="rId35"/>
    <p:sldId id="308" r:id="rId36"/>
    <p:sldId id="309" r:id="rId37"/>
    <p:sldId id="310" r:id="rId38"/>
    <p:sldId id="311" r:id="rId39"/>
    <p:sldId id="312" r:id="rId40"/>
    <p:sldId id="314" r:id="rId41"/>
    <p:sldId id="315" r:id="rId42"/>
    <p:sldId id="316" r:id="rId43"/>
    <p:sldId id="319" r:id="rId44"/>
    <p:sldId id="320" r:id="rId45"/>
    <p:sldId id="321" r:id="rId46"/>
    <p:sldId id="322" r:id="rId47"/>
    <p:sldId id="323" r:id="rId48"/>
    <p:sldId id="325" r:id="rId49"/>
    <p:sldId id="326" r:id="rId50"/>
    <p:sldId id="327" r:id="rId51"/>
    <p:sldId id="328" r:id="rId52"/>
    <p:sldId id="329" r:id="rId53"/>
    <p:sldId id="330" r:id="rId54"/>
    <p:sldId id="331" r:id="rId55"/>
    <p:sldId id="332" r:id="rId56"/>
    <p:sldId id="333" r:id="rId57"/>
    <p:sldId id="336" r:id="rId58"/>
    <p:sldId id="335" r:id="rId59"/>
    <p:sldId id="334" r:id="rId60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990" y="90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nvir Ahmed" userId="5fa9bf89-1556-4927-a8e9-24c5d464f299" providerId="ADAL" clId="{CF502117-2845-4E09-8142-25F07C8C935A}"/>
    <pc:docChg chg="modSld">
      <pc:chgData name="Tanvir Ahmed" userId="5fa9bf89-1556-4927-a8e9-24c5d464f299" providerId="ADAL" clId="{CF502117-2845-4E09-8142-25F07C8C935A}" dt="2026-02-08T13:04:32.788" v="22" actId="6549"/>
      <pc:docMkLst>
        <pc:docMk/>
      </pc:docMkLst>
      <pc:sldChg chg="modSp mod">
        <pc:chgData name="Tanvir Ahmed" userId="5fa9bf89-1556-4927-a8e9-24c5d464f299" providerId="ADAL" clId="{CF502117-2845-4E09-8142-25F07C8C935A}" dt="2026-02-08T13:04:32.788" v="22" actId="6549"/>
        <pc:sldMkLst>
          <pc:docMk/>
          <pc:sldMk cId="0" sldId="334"/>
        </pc:sldMkLst>
        <pc:spChg chg="mod">
          <ac:chgData name="Tanvir Ahmed" userId="5fa9bf89-1556-4927-a8e9-24c5d464f299" providerId="ADAL" clId="{CF502117-2845-4E09-8142-25F07C8C935A}" dt="2026-02-08T13:04:32.788" v="22" actId="6549"/>
          <ac:spMkLst>
            <pc:docMk/>
            <pc:sldMk cId="0" sldId="334"/>
            <ac:spMk id="5" creationId="{00000000-0000-0000-0000-000000000000}"/>
          </ac:spMkLst>
        </pc:spChg>
      </pc:sldChg>
    </pc:docChg>
  </pc:docChgLst>
  <pc:docChgLst>
    <pc:chgData name="Tanvir Ahmed" userId="5fa9bf89-1556-4927-a8e9-24c5d464f299" providerId="ADAL" clId="{77FAEAA3-9BAF-4B44-878F-34FD1F39AD9A}"/>
    <pc:docChg chg="custSel delSld modSld modMainMaster">
      <pc:chgData name="Tanvir Ahmed" userId="5fa9bf89-1556-4927-a8e9-24c5d464f299" providerId="ADAL" clId="{77FAEAA3-9BAF-4B44-878F-34FD1F39AD9A}" dt="2026-01-16T16:29:29.166" v="23" actId="20577"/>
      <pc:docMkLst>
        <pc:docMk/>
      </pc:docMkLst>
      <pc:sldChg chg="modSp mod">
        <pc:chgData name="Tanvir Ahmed" userId="5fa9bf89-1556-4927-a8e9-24c5d464f299" providerId="ADAL" clId="{77FAEAA3-9BAF-4B44-878F-34FD1F39AD9A}" dt="2026-01-16T16:27:38.245" v="16" actId="20577"/>
        <pc:sldMkLst>
          <pc:docMk/>
          <pc:sldMk cId="0" sldId="268"/>
        </pc:sldMkLst>
        <pc:spChg chg="mod">
          <ac:chgData name="Tanvir Ahmed" userId="5fa9bf89-1556-4927-a8e9-24c5d464f299" providerId="ADAL" clId="{77FAEAA3-9BAF-4B44-878F-34FD1F39AD9A}" dt="2026-01-16T16:27:38.245" v="16" actId="20577"/>
          <ac:spMkLst>
            <pc:docMk/>
            <pc:sldMk cId="0" sldId="268"/>
            <ac:spMk id="5" creationId="{00000000-0000-0000-0000-000000000000}"/>
          </ac:spMkLst>
        </pc:spChg>
      </pc:sldChg>
      <pc:sldMasterChg chg="delSp mod modSldLayout">
        <pc:chgData name="Tanvir Ahmed" userId="5fa9bf89-1556-4927-a8e9-24c5d464f299" providerId="ADAL" clId="{77FAEAA3-9BAF-4B44-878F-34FD1F39AD9A}" dt="2026-01-16T16:26:53.724" v="3" actId="478"/>
        <pc:sldMasterMkLst>
          <pc:docMk/>
          <pc:sldMasterMk cId="0" sldId="2147483648"/>
        </pc:sldMasterMkLst>
        <pc:sldLayoutChg chg="delSp mod">
          <pc:chgData name="Tanvir Ahmed" userId="5fa9bf89-1556-4927-a8e9-24c5d464f299" providerId="ADAL" clId="{77FAEAA3-9BAF-4B44-878F-34FD1F39AD9A}" dt="2026-01-16T16:26:53.724" v="3" actId="478"/>
          <pc:sldLayoutMkLst>
            <pc:docMk/>
            <pc:sldMasterMk cId="0" sldId="2147483648"/>
            <pc:sldLayoutMk cId="0" sldId="2147483661"/>
          </pc:sldLayoutMkLst>
        </pc:sldLayoutChg>
      </pc:sldMasterChg>
    </pc:docChg>
  </pc:docChgLst>
  <pc:docChgLst>
    <pc:chgData name="Tanvir Ahmed" userId="5fa9bf89-1556-4927-a8e9-24c5d464f299" providerId="ADAL" clId="{1AA4345A-BCE0-4C06-BB87-746FC5FA3BB4}"/>
    <pc:docChg chg="custSel addSld delSld modSld sldOrd">
      <pc:chgData name="Tanvir Ahmed" userId="5fa9bf89-1556-4927-a8e9-24c5d464f299" providerId="ADAL" clId="{1AA4345A-BCE0-4C06-BB87-746FC5FA3BB4}" dt="2026-02-10T03:27:36.911" v="36" actId="20577"/>
      <pc:docMkLst>
        <pc:docMk/>
      </pc:docMkLst>
      <pc:sldChg chg="modSp add mod ord">
        <pc:chgData name="Tanvir Ahmed" userId="5fa9bf89-1556-4927-a8e9-24c5d464f299" providerId="ADAL" clId="{1AA4345A-BCE0-4C06-BB87-746FC5FA3BB4}" dt="2026-02-10T03:27:36.911" v="36" actId="20577"/>
        <pc:sldMkLst>
          <pc:docMk/>
          <pc:sldMk cId="700707328" sldId="324"/>
        </pc:sldMkLst>
        <pc:graphicFrameChg chg="modGraphic">
          <ac:chgData name="Tanvir Ahmed" userId="5fa9bf89-1556-4927-a8e9-24c5d464f299" providerId="ADAL" clId="{1AA4345A-BCE0-4C06-BB87-746FC5FA3BB4}" dt="2026-02-10T03:27:36.911" v="36" actId="20577"/>
          <ac:graphicFrameMkLst>
            <pc:docMk/>
            <pc:sldMk cId="700707328" sldId="324"/>
            <ac:graphicFrameMk id="7" creationId="{29FF08AD-7519-4C4A-8E0D-640DF5BB5E58}"/>
          </ac:graphicFrameMkLst>
        </pc:graphicFrameChg>
      </pc:sldChg>
      <pc:sldChg chg="add">
        <pc:chgData name="Tanvir Ahmed" userId="5fa9bf89-1556-4927-a8e9-24c5d464f299" providerId="ADAL" clId="{1AA4345A-BCE0-4C06-BB87-746FC5FA3BB4}" dt="2026-01-31T13:45:41.628" v="23"/>
        <pc:sldMkLst>
          <pc:docMk/>
          <pc:sldMk cId="0" sldId="325"/>
        </pc:sldMkLst>
      </pc:sldChg>
      <pc:sldChg chg="add">
        <pc:chgData name="Tanvir Ahmed" userId="5fa9bf89-1556-4927-a8e9-24c5d464f299" providerId="ADAL" clId="{1AA4345A-BCE0-4C06-BB87-746FC5FA3BB4}" dt="2026-01-31T13:45:41.628" v="23"/>
        <pc:sldMkLst>
          <pc:docMk/>
          <pc:sldMk cId="0" sldId="326"/>
        </pc:sldMkLst>
      </pc:sldChg>
      <pc:sldChg chg="add">
        <pc:chgData name="Tanvir Ahmed" userId="5fa9bf89-1556-4927-a8e9-24c5d464f299" providerId="ADAL" clId="{1AA4345A-BCE0-4C06-BB87-746FC5FA3BB4}" dt="2026-01-31T13:45:41.628" v="23"/>
        <pc:sldMkLst>
          <pc:docMk/>
          <pc:sldMk cId="0" sldId="327"/>
        </pc:sldMkLst>
      </pc:sldChg>
      <pc:sldChg chg="add">
        <pc:chgData name="Tanvir Ahmed" userId="5fa9bf89-1556-4927-a8e9-24c5d464f299" providerId="ADAL" clId="{1AA4345A-BCE0-4C06-BB87-746FC5FA3BB4}" dt="2026-01-31T13:45:41.628" v="23"/>
        <pc:sldMkLst>
          <pc:docMk/>
          <pc:sldMk cId="0" sldId="328"/>
        </pc:sldMkLst>
      </pc:sldChg>
      <pc:sldChg chg="add">
        <pc:chgData name="Tanvir Ahmed" userId="5fa9bf89-1556-4927-a8e9-24c5d464f299" providerId="ADAL" clId="{1AA4345A-BCE0-4C06-BB87-746FC5FA3BB4}" dt="2026-01-31T13:45:41.628" v="23"/>
        <pc:sldMkLst>
          <pc:docMk/>
          <pc:sldMk cId="0" sldId="329"/>
        </pc:sldMkLst>
      </pc:sldChg>
      <pc:sldChg chg="add">
        <pc:chgData name="Tanvir Ahmed" userId="5fa9bf89-1556-4927-a8e9-24c5d464f299" providerId="ADAL" clId="{1AA4345A-BCE0-4C06-BB87-746FC5FA3BB4}" dt="2026-01-31T13:45:41.628" v="23"/>
        <pc:sldMkLst>
          <pc:docMk/>
          <pc:sldMk cId="0" sldId="330"/>
        </pc:sldMkLst>
      </pc:sldChg>
      <pc:sldChg chg="add">
        <pc:chgData name="Tanvir Ahmed" userId="5fa9bf89-1556-4927-a8e9-24c5d464f299" providerId="ADAL" clId="{1AA4345A-BCE0-4C06-BB87-746FC5FA3BB4}" dt="2026-01-31T13:45:41.628" v="23"/>
        <pc:sldMkLst>
          <pc:docMk/>
          <pc:sldMk cId="0" sldId="331"/>
        </pc:sldMkLst>
      </pc:sldChg>
      <pc:sldChg chg="add">
        <pc:chgData name="Tanvir Ahmed" userId="5fa9bf89-1556-4927-a8e9-24c5d464f299" providerId="ADAL" clId="{1AA4345A-BCE0-4C06-BB87-746FC5FA3BB4}" dt="2026-01-31T13:45:41.628" v="23"/>
        <pc:sldMkLst>
          <pc:docMk/>
          <pc:sldMk cId="0" sldId="332"/>
        </pc:sldMkLst>
      </pc:sldChg>
      <pc:sldChg chg="addSp delSp modSp add mod">
        <pc:chgData name="Tanvir Ahmed" userId="5fa9bf89-1556-4927-a8e9-24c5d464f299" providerId="ADAL" clId="{1AA4345A-BCE0-4C06-BB87-746FC5FA3BB4}" dt="2026-02-03T02:19:46.125" v="35" actId="14100"/>
        <pc:sldMkLst>
          <pc:docMk/>
          <pc:sldMk cId="0" sldId="333"/>
        </pc:sldMkLst>
        <pc:spChg chg="mod">
          <ac:chgData name="Tanvir Ahmed" userId="5fa9bf89-1556-4927-a8e9-24c5d464f299" providerId="ADAL" clId="{1AA4345A-BCE0-4C06-BB87-746FC5FA3BB4}" dt="2026-02-03T02:17:41.747" v="26"/>
          <ac:spMkLst>
            <pc:docMk/>
            <pc:sldMk cId="0" sldId="333"/>
            <ac:spMk id="5" creationId="{00000000-0000-0000-0000-000000000000}"/>
          </ac:spMkLst>
        </pc:spChg>
        <pc:picChg chg="add mod">
          <ac:chgData name="Tanvir Ahmed" userId="5fa9bf89-1556-4927-a8e9-24c5d464f299" providerId="ADAL" clId="{1AA4345A-BCE0-4C06-BB87-746FC5FA3BB4}" dt="2026-02-03T02:19:46.125" v="35" actId="14100"/>
          <ac:picMkLst>
            <pc:docMk/>
            <pc:sldMk cId="0" sldId="333"/>
            <ac:picMk id="1026" creationId="{4C657A67-6BB4-0166-5ABE-22DD4E542965}"/>
          </ac:picMkLst>
        </pc:picChg>
      </pc:sldChg>
      <pc:sldChg chg="add">
        <pc:chgData name="Tanvir Ahmed" userId="5fa9bf89-1556-4927-a8e9-24c5d464f299" providerId="ADAL" clId="{1AA4345A-BCE0-4C06-BB87-746FC5FA3BB4}" dt="2026-01-31T13:45:41.628" v="23"/>
        <pc:sldMkLst>
          <pc:docMk/>
          <pc:sldMk cId="0" sldId="334"/>
        </pc:sldMkLst>
      </pc:sldChg>
      <pc:sldChg chg="add">
        <pc:chgData name="Tanvir Ahmed" userId="5fa9bf89-1556-4927-a8e9-24c5d464f299" providerId="ADAL" clId="{1AA4345A-BCE0-4C06-BB87-746FC5FA3BB4}" dt="2026-02-03T02:16:44.209" v="24"/>
        <pc:sldMkLst>
          <pc:docMk/>
          <pc:sldMk cId="4205239356" sldId="335"/>
        </pc:sldMkLst>
      </pc:sldChg>
      <pc:sldChg chg="add">
        <pc:chgData name="Tanvir Ahmed" userId="5fa9bf89-1556-4927-a8e9-24c5d464f299" providerId="ADAL" clId="{1AA4345A-BCE0-4C06-BB87-746FC5FA3BB4}" dt="2026-02-03T02:18:59.873" v="27"/>
        <pc:sldMkLst>
          <pc:docMk/>
          <pc:sldMk cId="3534079951" sldId="33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bg 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3332506" cy="381551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23720" y="1498536"/>
            <a:ext cx="6496558" cy="1026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33929" y="3006407"/>
            <a:ext cx="3676141" cy="5295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810"/>
              </a:lnSpc>
            </a:pPr>
            <a:r>
              <a:t>April 1,</a:t>
            </a:r>
            <a:r>
              <a:rPr spc="-35"/>
              <a:t> </a:t>
            </a:r>
            <a:r>
              <a:rPr spc="-20"/>
              <a:t>2025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t>CS231n:</a:t>
            </a:r>
            <a:r>
              <a:rPr spc="-5"/>
              <a:t> </a:t>
            </a:r>
            <a:r>
              <a:t>Lecture</a:t>
            </a:r>
            <a:r>
              <a:rPr spc="95"/>
              <a:t> </a:t>
            </a:r>
            <a:r>
              <a:t>1</a:t>
            </a:r>
            <a:r>
              <a:rPr spc="15"/>
              <a:t> </a:t>
            </a:r>
            <a:r>
              <a:rPr spc="-50"/>
              <a:t>-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810"/>
              </a:lnSpc>
            </a:pPr>
            <a:fld id="{81D60167-4931-47E6-BA6A-407CBD079E47}" type="slidenum">
              <a:rPr spc="-50" dirty="0"/>
              <a:t>‹#›</a:t>
            </a:fld>
            <a:endParaRPr spc="-5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810"/>
              </a:lnSpc>
            </a:pPr>
            <a:r>
              <a:t>April 1,</a:t>
            </a:r>
            <a:r>
              <a:rPr spc="-35"/>
              <a:t> </a:t>
            </a:r>
            <a:r>
              <a:rPr spc="-20"/>
              <a:t>2025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t>CS231n:</a:t>
            </a:r>
            <a:r>
              <a:rPr spc="-5"/>
              <a:t> </a:t>
            </a:r>
            <a:r>
              <a:t>Lecture</a:t>
            </a:r>
            <a:r>
              <a:rPr spc="95"/>
              <a:t> </a:t>
            </a:r>
            <a:r>
              <a:t>1</a:t>
            </a:r>
            <a:r>
              <a:rPr spc="15"/>
              <a:t> </a:t>
            </a:r>
            <a:r>
              <a:rPr spc="-50"/>
              <a:t>-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810"/>
              </a:lnSpc>
            </a:pPr>
            <a:fld id="{81D60167-4931-47E6-BA6A-407CBD079E47}" type="slidenum">
              <a:rPr spc="-50" dirty="0"/>
              <a:t>‹#›</a:t>
            </a:fld>
            <a:endParaRPr spc="-5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810"/>
              </a:lnSpc>
            </a:pPr>
            <a:r>
              <a:t>April 1,</a:t>
            </a:r>
            <a:r>
              <a:rPr spc="-35"/>
              <a:t> </a:t>
            </a:r>
            <a:r>
              <a:rPr spc="-20"/>
              <a:t>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t>CS231n:</a:t>
            </a:r>
            <a:r>
              <a:rPr spc="-5"/>
              <a:t> </a:t>
            </a:r>
            <a:r>
              <a:t>Lecture</a:t>
            </a:r>
            <a:r>
              <a:rPr spc="95"/>
              <a:t> </a:t>
            </a:r>
            <a:r>
              <a:t>1</a:t>
            </a:r>
            <a:r>
              <a:rPr spc="15"/>
              <a:t> </a:t>
            </a:r>
            <a:r>
              <a:rPr spc="-50"/>
              <a:t>-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810"/>
              </a:lnSpc>
            </a:pPr>
            <a:fld id="{81D60167-4931-47E6-BA6A-407CBD079E47}" type="slidenum">
              <a:rPr spc="-50" dirty="0"/>
              <a:t>‹#›</a:t>
            </a:fld>
            <a:endParaRPr spc="-5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810"/>
              </a:lnSpc>
            </a:pPr>
            <a:r>
              <a:t>April 1,</a:t>
            </a:r>
            <a:r>
              <a:rPr spc="-35"/>
              <a:t> </a:t>
            </a:r>
            <a:r>
              <a:rPr spc="-20"/>
              <a:t>2025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t>CS231n:</a:t>
            </a:r>
            <a:r>
              <a:rPr spc="-5"/>
              <a:t> </a:t>
            </a:r>
            <a:r>
              <a:t>Lecture</a:t>
            </a:r>
            <a:r>
              <a:rPr spc="95"/>
              <a:t> </a:t>
            </a:r>
            <a:r>
              <a:t>1</a:t>
            </a:r>
            <a:r>
              <a:rPr spc="15"/>
              <a:t> </a:t>
            </a:r>
            <a:r>
              <a:rPr spc="-50"/>
              <a:t>-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810"/>
              </a:lnSpc>
            </a:pPr>
            <a:fld id="{81D60167-4931-47E6-BA6A-407CBD079E47}" type="slidenum">
              <a:rPr spc="-50" dirty="0"/>
              <a:t>‹#›</a:t>
            </a:fld>
            <a:endParaRPr spc="-5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810"/>
              </a:lnSpc>
            </a:pPr>
            <a:r>
              <a:t>April 1,</a:t>
            </a:r>
            <a:r>
              <a:rPr spc="-35"/>
              <a:t> </a:t>
            </a:r>
            <a:r>
              <a:rPr spc="-20"/>
              <a:t>2025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t>CS231n:</a:t>
            </a:r>
            <a:r>
              <a:rPr spc="-5"/>
              <a:t> </a:t>
            </a:r>
            <a:r>
              <a:t>Lecture</a:t>
            </a:r>
            <a:r>
              <a:rPr spc="95"/>
              <a:t> </a:t>
            </a:r>
            <a:r>
              <a:t>1</a:t>
            </a:r>
            <a:r>
              <a:rPr spc="15"/>
              <a:t> </a:t>
            </a:r>
            <a:r>
              <a:rPr spc="-50"/>
              <a:t>-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810"/>
              </a:lnSpc>
            </a:pPr>
            <a:fld id="{81D60167-4931-47E6-BA6A-407CBD079E47}" type="slidenum">
              <a:rPr spc="-50" dirty="0"/>
              <a:t>‹#›</a:t>
            </a:fld>
            <a:endParaRPr spc="-5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969130" y="4887723"/>
            <a:ext cx="1478279" cy="192360"/>
          </a:xfrm>
        </p:spPr>
        <p:txBody>
          <a:bodyPr/>
          <a:lstStyle/>
          <a:p>
            <a:fld id="{4251665B-C24A-4702-B522-6A4334602E03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640319" y="4874974"/>
            <a:ext cx="1210945" cy="276999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621654" y="4874974"/>
            <a:ext cx="318135" cy="276999"/>
          </a:xfrm>
        </p:spPr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5" y="333550"/>
            <a:ext cx="8574087" cy="1101328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68580" tIns="34290" rIns="137160" bIns="274320" rtlCol="0" anchor="b" anchorCtr="0">
            <a:normAutofit/>
          </a:bodyPr>
          <a:lstStyle/>
          <a:p>
            <a:pPr algn="l" defTabSz="685766" rtl="0" eaLnBrk="1" latinLnBrk="0" hangingPunct="1">
              <a:spcBef>
                <a:spcPct val="0"/>
              </a:spcBef>
              <a:buNone/>
            </a:pPr>
            <a:endParaRPr sz="315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5" y="1429910"/>
            <a:ext cx="8576373" cy="103058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35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35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35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336754"/>
            <a:ext cx="7808976" cy="816102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685766" rtl="0" eaLnBrk="1" latinLnBrk="0" hangingPunct="1">
              <a:lnSpc>
                <a:spcPts val="3450"/>
              </a:lnSpc>
              <a:spcBef>
                <a:spcPct val="0"/>
              </a:spcBef>
              <a:buNone/>
              <a:defRPr sz="315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149320"/>
            <a:ext cx="7754112" cy="363474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685766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3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8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6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5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4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1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0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84165" y="4670298"/>
            <a:ext cx="8574087" cy="130302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344929"/>
            <a:ext cx="1419654" cy="1071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4665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4762500"/>
            <a:ext cx="9143999" cy="381000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4763" y="4776787"/>
            <a:ext cx="9139555" cy="367030"/>
          </a:xfrm>
          <a:custGeom>
            <a:avLst/>
            <a:gdLst/>
            <a:ahLst/>
            <a:cxnLst/>
            <a:rect l="l" t="t" r="r" b="b"/>
            <a:pathLst>
              <a:path w="9139555" h="367029">
                <a:moveTo>
                  <a:pt x="9139236" y="0"/>
                </a:moveTo>
                <a:lnTo>
                  <a:pt x="0" y="0"/>
                </a:lnTo>
                <a:lnTo>
                  <a:pt x="0" y="366712"/>
                </a:lnTo>
              </a:path>
            </a:pathLst>
          </a:custGeom>
          <a:ln w="9525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30274" y="-21589"/>
            <a:ext cx="7283450" cy="9417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946525" y="799718"/>
            <a:ext cx="3825240" cy="13785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640319" y="4874974"/>
            <a:ext cx="1210945" cy="2597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810"/>
              </a:lnSpc>
            </a:pPr>
            <a:r>
              <a:t>April 1,</a:t>
            </a:r>
            <a:r>
              <a:rPr spc="-35"/>
              <a:t> </a:t>
            </a:r>
            <a:r>
              <a:rPr spc="-20"/>
              <a:t>2025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969130" y="4887723"/>
            <a:ext cx="1478279" cy="2070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t>CS231n:</a:t>
            </a:r>
            <a:r>
              <a:rPr spc="-5"/>
              <a:t> </a:t>
            </a:r>
            <a:r>
              <a:t>Lecture</a:t>
            </a:r>
            <a:r>
              <a:rPr spc="95"/>
              <a:t> </a:t>
            </a:r>
            <a:r>
              <a:t>1</a:t>
            </a:r>
            <a:r>
              <a:rPr spc="15"/>
              <a:t> </a:t>
            </a:r>
            <a:r>
              <a:rPr spc="-50"/>
              <a:t>-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621654" y="4874974"/>
            <a:ext cx="318135" cy="2546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810"/>
              </a:lnSpc>
            </a:pPr>
            <a:fld id="{81D60167-4931-47E6-BA6A-407CBD079E47}" type="slidenum">
              <a:rPr spc="-50" dirty="0"/>
              <a:t>‹#›</a:t>
            </a:fld>
            <a:endParaRPr spc="-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7" Type="http://schemas.openxmlformats.org/officeDocument/2006/relationships/hyperlink" Target="https://creativecommons.org/licenses/by/2.5/" TargetMode="External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reativecommons.org/licenses/by/3.0/" TargetMode="External"/><Relationship Id="rId5" Type="http://schemas.openxmlformats.org/officeDocument/2006/relationships/hyperlink" Target="https://en.wikipedia.org/wiki/Cambrian_explosion" TargetMode="External"/><Relationship Id="rId4" Type="http://schemas.openxmlformats.org/officeDocument/2006/relationships/image" Target="../media/image21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amera_obscura" TargetMode="External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jpg"/><Relationship Id="rId4" Type="http://schemas.openxmlformats.org/officeDocument/2006/relationships/image" Target="../media/image26.jp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pexels.com/photo/red-hand-iphone-smartphone-80673/" TargetMode="External"/><Relationship Id="rId13" Type="http://schemas.openxmlformats.org/officeDocument/2006/relationships/hyperlink" Target="https://www.flickr.com/photos/gsfc/" TargetMode="External"/><Relationship Id="rId18" Type="http://schemas.openxmlformats.org/officeDocument/2006/relationships/hyperlink" Target="https://creativecommons.org/licenses/by/2.0/deed.en" TargetMode="External"/><Relationship Id="rId26" Type="http://schemas.openxmlformats.org/officeDocument/2006/relationships/image" Target="../media/image35.jpg"/><Relationship Id="rId3" Type="http://schemas.openxmlformats.org/officeDocument/2006/relationships/hyperlink" Target="https://www.flickr.com/photos/sskennel/" TargetMode="External"/><Relationship Id="rId21" Type="http://schemas.openxmlformats.org/officeDocument/2006/relationships/image" Target="../media/image30.jpg"/><Relationship Id="rId7" Type="http://schemas.openxmlformats.org/officeDocument/2006/relationships/hyperlink" Target="https://pixabay.com/en/drone-aerial-photo-djee-1142182/" TargetMode="External"/><Relationship Id="rId12" Type="http://schemas.openxmlformats.org/officeDocument/2006/relationships/hyperlink" Target="https://www.flickr.com/photos/gsfc/8145474144" TargetMode="External"/><Relationship Id="rId17" Type="http://schemas.openxmlformats.org/officeDocument/2006/relationships/hyperlink" Target="https://www.flickr.com/photos/dkeats/" TargetMode="External"/><Relationship Id="rId25" Type="http://schemas.openxmlformats.org/officeDocument/2006/relationships/image" Target="../media/image34.jpg"/><Relationship Id="rId2" Type="http://schemas.openxmlformats.org/officeDocument/2006/relationships/hyperlink" Target="https://www.flickr.com/photos/sskennel/466632815" TargetMode="External"/><Relationship Id="rId16" Type="http://schemas.openxmlformats.org/officeDocument/2006/relationships/hyperlink" Target="https://www.flickr.com/photos/dkeats/6363420863" TargetMode="External"/><Relationship Id="rId20" Type="http://schemas.openxmlformats.org/officeDocument/2006/relationships/image" Target="../media/image29.jpg"/><Relationship Id="rId29" Type="http://schemas.openxmlformats.org/officeDocument/2006/relationships/image" Target="../media/image38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reativecommons.org/publicdomain/zero/1.0/" TargetMode="External"/><Relationship Id="rId11" Type="http://schemas.openxmlformats.org/officeDocument/2006/relationships/hyperlink" Target="https://pixabay.com/en/selfie-couple-photography-dragooste-1363970/" TargetMode="External"/><Relationship Id="rId24" Type="http://schemas.openxmlformats.org/officeDocument/2006/relationships/image" Target="../media/image33.jpg"/><Relationship Id="rId5" Type="http://schemas.openxmlformats.org/officeDocument/2006/relationships/hyperlink" Target="https://pixabay.com/en/camera-lens-photographer-photo-193664/" TargetMode="External"/><Relationship Id="rId15" Type="http://schemas.openxmlformats.org/officeDocument/2006/relationships/hyperlink" Target="https://www.pexels.com/photo/police-blue-sky-security-surveillance-96612/" TargetMode="External"/><Relationship Id="rId23" Type="http://schemas.openxmlformats.org/officeDocument/2006/relationships/image" Target="../media/image32.jpg"/><Relationship Id="rId28" Type="http://schemas.openxmlformats.org/officeDocument/2006/relationships/image" Target="../media/image37.jpg"/><Relationship Id="rId10" Type="http://schemas.openxmlformats.org/officeDocument/2006/relationships/hyperlink" Target="https://www.pexels.com/creative-commons-images/" TargetMode="External"/><Relationship Id="rId19" Type="http://schemas.openxmlformats.org/officeDocument/2006/relationships/image" Target="../media/image28.jpg"/><Relationship Id="rId4" Type="http://schemas.openxmlformats.org/officeDocument/2006/relationships/hyperlink" Target="https://creativecommons.org/licenses/by/2.0/" TargetMode="External"/><Relationship Id="rId9" Type="http://schemas.openxmlformats.org/officeDocument/2006/relationships/hyperlink" Target="https://www.pexels.com/photo/woman-holding-a-white-samsung-galaxy-android-smartphone-taking-a-photo-of-hallway-38266/" TargetMode="External"/><Relationship Id="rId14" Type="http://schemas.openxmlformats.org/officeDocument/2006/relationships/hyperlink" Target="https://pixabay.com/p-1566884/" TargetMode="External"/><Relationship Id="rId22" Type="http://schemas.openxmlformats.org/officeDocument/2006/relationships/image" Target="../media/image31.jpg"/><Relationship Id="rId27" Type="http://schemas.openxmlformats.org/officeDocument/2006/relationships/image" Target="../media/image36.jpg"/><Relationship Id="rId30" Type="http://schemas.openxmlformats.org/officeDocument/2006/relationships/image" Target="../media/image39.jp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51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17" Type="http://schemas.openxmlformats.org/officeDocument/2006/relationships/hyperlink" Target="https://creativecommons.org/licenses/by/4.0" TargetMode="External"/><Relationship Id="rId2" Type="http://schemas.openxmlformats.org/officeDocument/2006/relationships/image" Target="../media/image40.jpg"/><Relationship Id="rId16" Type="http://schemas.openxmlformats.org/officeDocument/2006/relationships/hyperlink" Target="http://cnx.org/" TargetMode="Externa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5" Type="http://schemas.openxmlformats.org/officeDocument/2006/relationships/image" Target="../media/image5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Relationship Id="rId14" Type="http://schemas.openxmlformats.org/officeDocument/2006/relationships/image" Target="../media/image5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65.jp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12" Type="http://schemas.openxmlformats.org/officeDocument/2006/relationships/image" Target="../media/image64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11" Type="http://schemas.openxmlformats.org/officeDocument/2006/relationships/image" Target="../media/image63.png"/><Relationship Id="rId5" Type="http://schemas.openxmlformats.org/officeDocument/2006/relationships/image" Target="../media/image57.png"/><Relationship Id="rId10" Type="http://schemas.openxmlformats.org/officeDocument/2006/relationships/image" Target="../media/image62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dspace.mit.edu/handle/1721.1/6125" TargetMode="External"/><Relationship Id="rId2" Type="http://schemas.openxmlformats.org/officeDocument/2006/relationships/image" Target="../media/image66.jp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13" Type="http://schemas.openxmlformats.org/officeDocument/2006/relationships/image" Target="../media/image78.png"/><Relationship Id="rId18" Type="http://schemas.openxmlformats.org/officeDocument/2006/relationships/image" Target="../media/image83.png"/><Relationship Id="rId3" Type="http://schemas.openxmlformats.org/officeDocument/2006/relationships/image" Target="../media/image68.png"/><Relationship Id="rId21" Type="http://schemas.openxmlformats.org/officeDocument/2006/relationships/image" Target="../media/image86.png"/><Relationship Id="rId7" Type="http://schemas.openxmlformats.org/officeDocument/2006/relationships/image" Target="../media/image72.png"/><Relationship Id="rId12" Type="http://schemas.openxmlformats.org/officeDocument/2006/relationships/image" Target="../media/image77.png"/><Relationship Id="rId17" Type="http://schemas.openxmlformats.org/officeDocument/2006/relationships/image" Target="../media/image82.png"/><Relationship Id="rId2" Type="http://schemas.openxmlformats.org/officeDocument/2006/relationships/image" Target="../media/image67.png"/><Relationship Id="rId16" Type="http://schemas.openxmlformats.org/officeDocument/2006/relationships/image" Target="../media/image81.png"/><Relationship Id="rId20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11" Type="http://schemas.openxmlformats.org/officeDocument/2006/relationships/image" Target="../media/image76.png"/><Relationship Id="rId5" Type="http://schemas.openxmlformats.org/officeDocument/2006/relationships/image" Target="../media/image70.png"/><Relationship Id="rId15" Type="http://schemas.openxmlformats.org/officeDocument/2006/relationships/image" Target="../media/image80.png"/><Relationship Id="rId10" Type="http://schemas.openxmlformats.org/officeDocument/2006/relationships/image" Target="../media/image75.png"/><Relationship Id="rId19" Type="http://schemas.openxmlformats.org/officeDocument/2006/relationships/image" Target="../media/image84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Relationship Id="rId14" Type="http://schemas.openxmlformats.org/officeDocument/2006/relationships/image" Target="../media/image79.png"/><Relationship Id="rId22" Type="http://schemas.openxmlformats.org/officeDocument/2006/relationships/image" Target="../media/image8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ivecommons.org/publicdomain/zero/1.0/" TargetMode="External"/><Relationship Id="rId2" Type="http://schemas.openxmlformats.org/officeDocument/2006/relationships/hyperlink" Target="http://www.publicdomainpictures.net/view-image.php?image=96509&amp;picture=ruzne-jednorazove-holici-strojky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9.png"/><Relationship Id="rId4" Type="http://schemas.openxmlformats.org/officeDocument/2006/relationships/image" Target="../media/image88.jp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jpg"/><Relationship Id="rId2" Type="http://schemas.openxmlformats.org/officeDocument/2006/relationships/image" Target="../media/image90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2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jpg"/><Relationship Id="rId2" Type="http://schemas.openxmlformats.org/officeDocument/2006/relationships/image" Target="../media/image9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5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7" Type="http://schemas.openxmlformats.org/officeDocument/2006/relationships/image" Target="../media/image101.jpg"/><Relationship Id="rId2" Type="http://schemas.openxmlformats.org/officeDocument/2006/relationships/image" Target="../media/image96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0.jpg"/><Relationship Id="rId5" Type="http://schemas.openxmlformats.org/officeDocument/2006/relationships/image" Target="../media/image99.jpg"/><Relationship Id="rId4" Type="http://schemas.openxmlformats.org/officeDocument/2006/relationships/image" Target="../media/image98.jp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3" Type="http://schemas.openxmlformats.org/officeDocument/2006/relationships/hyperlink" Target="https://creativecommons.org/licenses/by-sa/4.0/deed.en" TargetMode="External"/><Relationship Id="rId7" Type="http://schemas.openxmlformats.org/officeDocument/2006/relationships/image" Target="../media/image102.jpg"/><Relationship Id="rId2" Type="http://schemas.openxmlformats.org/officeDocument/2006/relationships/hyperlink" Target="https://en.wikipedia.org/wiki/Theravada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reativecommons.org/licenses/by/2.0/" TargetMode="External"/><Relationship Id="rId11" Type="http://schemas.openxmlformats.org/officeDocument/2006/relationships/image" Target="../media/image106.png"/><Relationship Id="rId5" Type="http://schemas.openxmlformats.org/officeDocument/2006/relationships/hyperlink" Target="https://www.flickr.com/photos/photographingtravis/14932646295" TargetMode="External"/><Relationship Id="rId10" Type="http://schemas.openxmlformats.org/officeDocument/2006/relationships/image" Target="../media/image105.jpg"/><Relationship Id="rId4" Type="http://schemas.openxmlformats.org/officeDocument/2006/relationships/hyperlink" Target="https://pixabay.com/en/umbrellas-people-bird-s-eye-view-218421/" TargetMode="External"/><Relationship Id="rId9" Type="http://schemas.openxmlformats.org/officeDocument/2006/relationships/image" Target="../media/image104.jp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png"/><Relationship Id="rId13" Type="http://schemas.openxmlformats.org/officeDocument/2006/relationships/image" Target="../media/image118.png"/><Relationship Id="rId18" Type="http://schemas.openxmlformats.org/officeDocument/2006/relationships/hyperlink" Target="https://www.pexels.com/photo/close-up-of-red-stop-sign-256409/" TargetMode="External"/><Relationship Id="rId3" Type="http://schemas.openxmlformats.org/officeDocument/2006/relationships/image" Target="../media/image108.jpg"/><Relationship Id="rId7" Type="http://schemas.openxmlformats.org/officeDocument/2006/relationships/image" Target="../media/image112.png"/><Relationship Id="rId12" Type="http://schemas.openxmlformats.org/officeDocument/2006/relationships/image" Target="../media/image117.png"/><Relationship Id="rId17" Type="http://schemas.openxmlformats.org/officeDocument/2006/relationships/image" Target="../media/image122.png"/><Relationship Id="rId2" Type="http://schemas.openxmlformats.org/officeDocument/2006/relationships/image" Target="../media/image107.jpg"/><Relationship Id="rId16" Type="http://schemas.openxmlformats.org/officeDocument/2006/relationships/image" Target="../media/image1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1.png"/><Relationship Id="rId11" Type="http://schemas.openxmlformats.org/officeDocument/2006/relationships/image" Target="../media/image116.png"/><Relationship Id="rId5" Type="http://schemas.openxmlformats.org/officeDocument/2006/relationships/image" Target="../media/image110.png"/><Relationship Id="rId15" Type="http://schemas.openxmlformats.org/officeDocument/2006/relationships/image" Target="../media/image120.png"/><Relationship Id="rId10" Type="http://schemas.openxmlformats.org/officeDocument/2006/relationships/image" Target="../media/image115.png"/><Relationship Id="rId4" Type="http://schemas.openxmlformats.org/officeDocument/2006/relationships/image" Target="../media/image109.png"/><Relationship Id="rId9" Type="http://schemas.openxmlformats.org/officeDocument/2006/relationships/image" Target="../media/image114.png"/><Relationship Id="rId14" Type="http://schemas.openxmlformats.org/officeDocument/2006/relationships/image" Target="../media/image119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hyperlink" Target="https://pixabay.com/en/diesel-train-train-tracks-industry-1633718/" TargetMode="External"/><Relationship Id="rId3" Type="http://schemas.openxmlformats.org/officeDocument/2006/relationships/image" Target="../media/image125.jpg"/><Relationship Id="rId7" Type="http://schemas.openxmlformats.org/officeDocument/2006/relationships/image" Target="../media/image129.png"/><Relationship Id="rId2" Type="http://schemas.openxmlformats.org/officeDocument/2006/relationships/image" Target="../media/image12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8.png"/><Relationship Id="rId11" Type="http://schemas.openxmlformats.org/officeDocument/2006/relationships/image" Target="../media/image130.jpg"/><Relationship Id="rId5" Type="http://schemas.openxmlformats.org/officeDocument/2006/relationships/image" Target="../media/image127.png"/><Relationship Id="rId10" Type="http://schemas.openxmlformats.org/officeDocument/2006/relationships/hyperlink" Target="https://pixabay.com/en/action-alone-beach-boy-child-fun-2178843/" TargetMode="External"/><Relationship Id="rId4" Type="http://schemas.openxmlformats.org/officeDocument/2006/relationships/image" Target="../media/image126.jpg"/><Relationship Id="rId9" Type="http://schemas.openxmlformats.org/officeDocument/2006/relationships/hyperlink" Target="https://creativecommons.org/publicdomain/zero/1.0/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jpg"/><Relationship Id="rId2" Type="http://schemas.openxmlformats.org/officeDocument/2006/relationships/image" Target="../media/image131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3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jpg"/><Relationship Id="rId2" Type="http://schemas.openxmlformats.org/officeDocument/2006/relationships/image" Target="../media/image131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jpg"/><Relationship Id="rId2" Type="http://schemas.openxmlformats.org/officeDocument/2006/relationships/image" Target="../media/image13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4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jp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jpg"/><Relationship Id="rId2" Type="http://schemas.openxmlformats.org/officeDocument/2006/relationships/image" Target="../media/image136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2" Type="http://schemas.openxmlformats.org/officeDocument/2006/relationships/image" Target="../media/image138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jp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2.jp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2" Type="http://schemas.openxmlformats.org/officeDocument/2006/relationships/image" Target="../media/image143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kaggle.com/c/whale-categorization-playground" TargetMode="External"/><Relationship Id="rId5" Type="http://schemas.openxmlformats.org/officeDocument/2006/relationships/hyperlink" Target="https://pixabay.com/en/galaxies-overlapping-galaxies-601015/" TargetMode="External"/><Relationship Id="rId4" Type="http://schemas.openxmlformats.org/officeDocument/2006/relationships/image" Target="../media/image145.jp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hyperlink" Target="https://pixabay.com/en/luggage-antique-cat-1643010/" TargetMode="External"/><Relationship Id="rId13" Type="http://schemas.openxmlformats.org/officeDocument/2006/relationships/hyperlink" Target="https://pixabay.com/en/baseball-player-shortstop-infield-1045263/" TargetMode="External"/><Relationship Id="rId3" Type="http://schemas.openxmlformats.org/officeDocument/2006/relationships/image" Target="../media/image147.jpg"/><Relationship Id="rId7" Type="http://schemas.openxmlformats.org/officeDocument/2006/relationships/image" Target="../media/image151.jpg"/><Relationship Id="rId12" Type="http://schemas.openxmlformats.org/officeDocument/2006/relationships/hyperlink" Target="https://pixabay.com/en/handstand-lake-meditation-496008/" TargetMode="External"/><Relationship Id="rId2" Type="http://schemas.openxmlformats.org/officeDocument/2006/relationships/image" Target="../media/image14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jpg"/><Relationship Id="rId11" Type="http://schemas.openxmlformats.org/officeDocument/2006/relationships/hyperlink" Target="https://pixabay.com/en/woman-female-model-portrait-adult-983967/" TargetMode="External"/><Relationship Id="rId5" Type="http://schemas.openxmlformats.org/officeDocument/2006/relationships/image" Target="../media/image149.jpg"/><Relationship Id="rId10" Type="http://schemas.openxmlformats.org/officeDocument/2006/relationships/hyperlink" Target="https://pixabay.com/en/surf-wave-summer-sport-litoral-1668716/" TargetMode="External"/><Relationship Id="rId4" Type="http://schemas.openxmlformats.org/officeDocument/2006/relationships/image" Target="../media/image148.jpg"/><Relationship Id="rId9" Type="http://schemas.openxmlformats.org/officeDocument/2006/relationships/hyperlink" Target="https://pixabay.com/en/teddy-plush-bears-cute-teddy-bear-1623436/" TargetMode="External"/><Relationship Id="rId14" Type="http://schemas.openxmlformats.org/officeDocument/2006/relationships/hyperlink" Target="https://github.com/karpathy/neuraltalk2" TargetMode="Externa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2.jp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hyperlink" Target="https://research.googleblog.com/2015/06/inceptionism-going-deeper-into-neural.html" TargetMode="External"/><Relationship Id="rId3" Type="http://schemas.openxmlformats.org/officeDocument/2006/relationships/image" Target="../media/image154.png"/><Relationship Id="rId7" Type="http://schemas.openxmlformats.org/officeDocument/2006/relationships/image" Target="../media/image158.jpg"/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7.jpg"/><Relationship Id="rId5" Type="http://schemas.openxmlformats.org/officeDocument/2006/relationships/image" Target="../media/image156.jpg"/><Relationship Id="rId10" Type="http://schemas.openxmlformats.org/officeDocument/2006/relationships/hyperlink" Target="https://pixabay.com/en/bokeh-abstract-background-blur-21951/" TargetMode="External"/><Relationship Id="rId4" Type="http://schemas.openxmlformats.org/officeDocument/2006/relationships/image" Target="../media/image155.jpg"/><Relationship Id="rId9" Type="http://schemas.openxmlformats.org/officeDocument/2006/relationships/hyperlink" Target="https://pixabay.com/en/san-francisco-california-city-210230/" TargetMode="Externa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ai.com/blog/dall-e/" TargetMode="External"/><Relationship Id="rId2" Type="http://schemas.openxmlformats.org/officeDocument/2006/relationships/image" Target="../media/image159.jp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ai.com/blog/dall-e/" TargetMode="External"/><Relationship Id="rId2" Type="http://schemas.openxmlformats.org/officeDocument/2006/relationships/image" Target="../media/image160.jp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jpg"/><Relationship Id="rId2" Type="http://schemas.openxmlformats.org/officeDocument/2006/relationships/image" Target="../media/image161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5.jpg"/><Relationship Id="rId2" Type="http://schemas.openxmlformats.org/officeDocument/2006/relationships/image" Target="../media/image16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6.jp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8.png"/><Relationship Id="rId2" Type="http://schemas.openxmlformats.org/officeDocument/2006/relationships/image" Target="../media/image16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9.jpg"/><Relationship Id="rId5" Type="http://schemas.openxmlformats.org/officeDocument/2006/relationships/hyperlink" Target="https://www.hirevue.com/platform/online-video-interviewing-software" TargetMode="External"/><Relationship Id="rId4" Type="http://schemas.openxmlformats.org/officeDocument/2006/relationships/hyperlink" Target="https://www.washingtonpost.com/technology/2019/10/22/ai-hiring-face-scanning-algorithm-increasingly-decides-whether-you-deserve-job/" TargetMode="Externa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jp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obamawhitehouse/5307108415" TargetMode="External"/><Relationship Id="rId2" Type="http://schemas.openxmlformats.org/officeDocument/2006/relationships/image" Target="../media/image17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2.jpg"/><Relationship Id="rId4" Type="http://schemas.openxmlformats.org/officeDocument/2006/relationships/hyperlink" Target="http://www.usa.gov/copyright.shtml" TargetMode="Externa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malfet/" TargetMode="External"/><Relationship Id="rId2" Type="http://schemas.openxmlformats.org/officeDocument/2006/relationships/hyperlink" Target="https://www.flickr.com/photos/malfet/1428198050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3.jpg"/><Relationship Id="rId4" Type="http://schemas.openxmlformats.org/officeDocument/2006/relationships/hyperlink" Target="https://creativecommons.org/licenses/by/2.0/" TargetMode="Externa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malfet/" TargetMode="External"/><Relationship Id="rId2" Type="http://schemas.openxmlformats.org/officeDocument/2006/relationships/hyperlink" Target="https://www.flickr.com/photos/malfet/1428198050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4.jpg"/><Relationship Id="rId5" Type="http://schemas.openxmlformats.org/officeDocument/2006/relationships/image" Target="../media/image173.jpg"/><Relationship Id="rId4" Type="http://schemas.openxmlformats.org/officeDocument/2006/relationships/hyperlink" Target="https://creativecommons.org/licenses/by/2.0/" TargetMode="Externa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6.jpg"/><Relationship Id="rId2" Type="http://schemas.openxmlformats.org/officeDocument/2006/relationships/image" Target="../media/image175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reativecommons.org/licenses/by/2.0/" TargetMode="External"/><Relationship Id="rId5" Type="http://schemas.openxmlformats.org/officeDocument/2006/relationships/hyperlink" Target="https://www.flickr.com/photos/malfet/" TargetMode="External"/><Relationship Id="rId4" Type="http://schemas.openxmlformats.org/officeDocument/2006/relationships/hyperlink" Target="https://www.flickr.com/photos/malfet/1428198050" TargetMode="Externa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hyperlink" Target="https://pixabay.com/en/red-cat-animals-cat-face-cat-red-1451799/" TargetMode="External"/><Relationship Id="rId3" Type="http://schemas.openxmlformats.org/officeDocument/2006/relationships/hyperlink" Target="https://pixabay.com/en/cat-cat-in-the-dark-eyes-staring-987528/" TargetMode="External"/><Relationship Id="rId7" Type="http://schemas.openxmlformats.org/officeDocument/2006/relationships/image" Target="../media/image179.jpg"/><Relationship Id="rId2" Type="http://schemas.openxmlformats.org/officeDocument/2006/relationships/image" Target="../media/image177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maxpixel.freegreatpicture.com/Cats-Silhouette-Cats-Eyes-Silhouette-Cat-694730" TargetMode="External"/><Relationship Id="rId5" Type="http://schemas.openxmlformats.org/officeDocument/2006/relationships/image" Target="../media/image178.jpg"/><Relationship Id="rId10" Type="http://schemas.openxmlformats.org/officeDocument/2006/relationships/hyperlink" Target="http://maxpixel.freegreatpicture.com/Animals-Tree-Sun-Cat-In-Tree-Cat-Feline-Titus-63683" TargetMode="External"/><Relationship Id="rId4" Type="http://schemas.openxmlformats.org/officeDocument/2006/relationships/hyperlink" Target="https://creativecommons.org/publicdomain/zero/1.0/deed.en" TargetMode="External"/><Relationship Id="rId9" Type="http://schemas.openxmlformats.org/officeDocument/2006/relationships/image" Target="../media/image180.jp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cat-camouflage-autumn-fur-animals-408728/" TargetMode="External"/><Relationship Id="rId2" Type="http://schemas.openxmlformats.org/officeDocument/2006/relationships/image" Target="../media/image181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pexels.com/photo/view-of-cat-in-snow-248276/" TargetMode="External"/><Relationship Id="rId5" Type="http://schemas.openxmlformats.org/officeDocument/2006/relationships/image" Target="../media/image182.jpg"/><Relationship Id="rId4" Type="http://schemas.openxmlformats.org/officeDocument/2006/relationships/hyperlink" Target="https://creativecommons.org/publicdomain/zero/1.0/deed.en" TargetMode="Externa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hyperlink" Target="https://pixabay.com/en/cat-hidden-meadow-green-summer-1009957/" TargetMode="External"/><Relationship Id="rId3" Type="http://schemas.openxmlformats.org/officeDocument/2006/relationships/hyperlink" Target="https://creativecommons.org/publicdomain/zero/1.0/deed.en" TargetMode="External"/><Relationship Id="rId7" Type="http://schemas.openxmlformats.org/officeDocument/2006/relationships/image" Target="../media/image184.jpg"/><Relationship Id="rId2" Type="http://schemas.openxmlformats.org/officeDocument/2006/relationships/hyperlink" Target="https://pixabay.com/p-393294/?no_redirect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3.jpg"/><Relationship Id="rId5" Type="http://schemas.openxmlformats.org/officeDocument/2006/relationships/hyperlink" Target="https://creativecommons.org/licenses/by/2.0/" TargetMode="External"/><Relationship Id="rId4" Type="http://schemas.openxmlformats.org/officeDocument/2006/relationships/hyperlink" Target="https://www.flickr.com/people/81571077%40N00?rb=1" TargetMode="External"/><Relationship Id="rId9" Type="http://schemas.openxmlformats.org/officeDocument/2006/relationships/image" Target="../media/image185.jp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lickr.com/photos/sarahcord/" TargetMode="External"/><Relationship Id="rId13" Type="http://schemas.openxmlformats.org/officeDocument/2006/relationships/image" Target="../media/image189.jpg"/><Relationship Id="rId3" Type="http://schemas.openxmlformats.org/officeDocument/2006/relationships/hyperlink" Target="https://www.flickr.com/photos/kaibara/" TargetMode="External"/><Relationship Id="rId7" Type="http://schemas.openxmlformats.org/officeDocument/2006/relationships/hyperlink" Target="https://www.flickr.com/photos/sarahcord/364252525" TargetMode="External"/><Relationship Id="rId12" Type="http://schemas.openxmlformats.org/officeDocument/2006/relationships/hyperlink" Target="https://www.flickr.com/photos/34745138%40N00/4068996309" TargetMode="External"/><Relationship Id="rId2" Type="http://schemas.openxmlformats.org/officeDocument/2006/relationships/hyperlink" Target="https://www.flickr.com/photos/kaibara/3625964429/in/photostrea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flickr.com/photos/eviltomthai/" TargetMode="External"/><Relationship Id="rId11" Type="http://schemas.openxmlformats.org/officeDocument/2006/relationships/image" Target="../media/image188.jpg"/><Relationship Id="rId5" Type="http://schemas.openxmlformats.org/officeDocument/2006/relationships/hyperlink" Target="https://c1.staticflickr.com/5/4101/4877610923_52c9a5fedf_b.jpg" TargetMode="External"/><Relationship Id="rId10" Type="http://schemas.openxmlformats.org/officeDocument/2006/relationships/image" Target="../media/image187.jpg"/><Relationship Id="rId4" Type="http://schemas.openxmlformats.org/officeDocument/2006/relationships/hyperlink" Target="https://creativecommons.org/licenses/by/2.0/" TargetMode="External"/><Relationship Id="rId9" Type="http://schemas.openxmlformats.org/officeDocument/2006/relationships/image" Target="../media/image186.jp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hyperlink" Target="http://maxpixel.freegreatpicture.com/Cat-Kittens-Free-Float-Kitten-Rush-Cat-Puppy-555822" TargetMode="External"/><Relationship Id="rId2" Type="http://schemas.openxmlformats.org/officeDocument/2006/relationships/image" Target="../media/image190.jpg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creativecommons.org/publicdomain/zero/1.0/deed.en" TargetMode="Externa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1.jpeg"/><Relationship Id="rId2" Type="http://schemas.openxmlformats.org/officeDocument/2006/relationships/hyperlink" Target="http://www.linkedin.com/posts/ralph-aboujaoude-diaz-40838313_technology-artificialintelligence-computervision-activity-" TargetMode="Externa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inkedin.com/posts/ralph-aboujaoude-diaz-40838313_technology-artificialintelligence-computervision-activity-" TargetMode="External"/><Relationship Id="rId2" Type="http://schemas.openxmlformats.org/officeDocument/2006/relationships/image" Target="../media/image192.jp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3.jpg"/><Relationship Id="rId2" Type="http://schemas.openxmlformats.org/officeDocument/2006/relationships/image" Target="../media/image192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linkedin.com/posts/ralph-aboujaoude-diaz-40838313_technology-artificialintelligence-computervision-activity-" TargetMode="Externa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ivecommons.org/publicdomain/zero/1.0/deed.en" TargetMode="External"/><Relationship Id="rId2" Type="http://schemas.openxmlformats.org/officeDocument/2006/relationships/hyperlink" Target="http://maxpixel.freegreatpicture.com/Cat-Kittens-Free-Float-Kitten-Rush-Cat-Puppy-555822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9678" y="311518"/>
            <a:ext cx="5856732" cy="727487"/>
          </a:xfrm>
        </p:spPr>
        <p:txBody>
          <a:bodyPr anchor="ctr">
            <a:noAutofit/>
          </a:bodyPr>
          <a:lstStyle/>
          <a:p>
            <a:r>
              <a:rPr lang="en-US" sz="2100"/>
              <a:t>Introduction to Computer Vision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9680" y="1039003"/>
            <a:ext cx="2092132" cy="363474"/>
          </a:xfrm>
        </p:spPr>
        <p:txBody>
          <a:bodyPr>
            <a:normAutofit/>
          </a:bodyPr>
          <a:lstStyle/>
          <a:p>
            <a:r>
              <a:rPr lang="en-US"/>
              <a:t>Course Code: CSC 4254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7770" y="2243282"/>
            <a:ext cx="676846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15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b="1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5112163"/>
              </p:ext>
            </p:extLst>
          </p:nvPr>
        </p:nvGraphicFramePr>
        <p:xfrm>
          <a:off x="477611" y="3741024"/>
          <a:ext cx="8188780" cy="62430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57065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73073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06252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178355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157014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817021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38555">
                <a:tc>
                  <a:txBody>
                    <a:bodyPr/>
                    <a:lstStyle/>
                    <a:p>
                      <a:r>
                        <a:rPr lang="en-US" sz="1400" dirty="0"/>
                        <a:t>Lecture No: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Week No: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Semester: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 marL="68580" marR="68580" marT="34290" marB="34290"/>
                </a:tc>
                <a:tc gridSpan="5">
                  <a:txBody>
                    <a:bodyPr/>
                    <a:lstStyle/>
                    <a:p>
                      <a:endParaRPr lang="en-US" sz="1400" i="1" dirty="0"/>
                    </a:p>
                  </a:txBody>
                  <a:tcPr marL="68580" marR="68580" marT="34290" marB="34290"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2006351" y="1048169"/>
            <a:ext cx="4019309" cy="363474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prstClr val="white">
                  <a:lumMod val="65000"/>
                </a:prstClr>
              </a:buClr>
            </a:pPr>
            <a:r>
              <a:rPr lang="en-US" sz="1350">
                <a:solidFill>
                  <a:prstClr val="white"/>
                </a:solidFill>
                <a:latin typeface="Calibri"/>
              </a:rPr>
              <a:t>Course Title: Computer Vision &amp; Pattern Recognition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28625" y="257175"/>
            <a:ext cx="8286750" cy="4314825"/>
          </a:xfrm>
          <a:custGeom>
            <a:avLst/>
            <a:gdLst/>
            <a:ahLst/>
            <a:cxnLst/>
            <a:rect l="l" t="t" r="r" b="b"/>
            <a:pathLst>
              <a:path w="8286750" h="4314825">
                <a:moveTo>
                  <a:pt x="0" y="2157349"/>
                </a:moveTo>
                <a:lnTo>
                  <a:pt x="1831" y="2092592"/>
                </a:lnTo>
                <a:lnTo>
                  <a:pt x="7290" y="2028309"/>
                </a:lnTo>
                <a:lnTo>
                  <a:pt x="16327" y="1964526"/>
                </a:lnTo>
                <a:lnTo>
                  <a:pt x="28889" y="1901271"/>
                </a:lnTo>
                <a:lnTo>
                  <a:pt x="44925" y="1838570"/>
                </a:lnTo>
                <a:lnTo>
                  <a:pt x="64385" y="1776450"/>
                </a:lnTo>
                <a:lnTo>
                  <a:pt x="87216" y="1714937"/>
                </a:lnTo>
                <a:lnTo>
                  <a:pt x="113368" y="1654057"/>
                </a:lnTo>
                <a:lnTo>
                  <a:pt x="142790" y="1593839"/>
                </a:lnTo>
                <a:lnTo>
                  <a:pt x="175429" y="1534308"/>
                </a:lnTo>
                <a:lnTo>
                  <a:pt x="211235" y="1475492"/>
                </a:lnTo>
                <a:lnTo>
                  <a:pt x="250157" y="1417416"/>
                </a:lnTo>
                <a:lnTo>
                  <a:pt x="292142" y="1360108"/>
                </a:lnTo>
                <a:lnTo>
                  <a:pt x="337141" y="1303594"/>
                </a:lnTo>
                <a:lnTo>
                  <a:pt x="385101" y="1247901"/>
                </a:lnTo>
                <a:lnTo>
                  <a:pt x="435972" y="1193056"/>
                </a:lnTo>
                <a:lnTo>
                  <a:pt x="489701" y="1139085"/>
                </a:lnTo>
                <a:lnTo>
                  <a:pt x="517622" y="1112436"/>
                </a:lnTo>
                <a:lnTo>
                  <a:pt x="546239" y="1086015"/>
                </a:lnTo>
                <a:lnTo>
                  <a:pt x="575545" y="1059827"/>
                </a:lnTo>
                <a:lnTo>
                  <a:pt x="605533" y="1033874"/>
                </a:lnTo>
                <a:lnTo>
                  <a:pt x="636198" y="1008159"/>
                </a:lnTo>
                <a:lnTo>
                  <a:pt x="667532" y="982686"/>
                </a:lnTo>
                <a:lnTo>
                  <a:pt x="699530" y="957459"/>
                </a:lnTo>
                <a:lnTo>
                  <a:pt x="732185" y="932480"/>
                </a:lnTo>
                <a:lnTo>
                  <a:pt x="765491" y="907754"/>
                </a:lnTo>
                <a:lnTo>
                  <a:pt x="799441" y="883282"/>
                </a:lnTo>
                <a:lnTo>
                  <a:pt x="834029" y="859070"/>
                </a:lnTo>
                <a:lnTo>
                  <a:pt x="869248" y="835119"/>
                </a:lnTo>
                <a:lnTo>
                  <a:pt x="905093" y="811434"/>
                </a:lnTo>
                <a:lnTo>
                  <a:pt x="941556" y="788017"/>
                </a:lnTo>
                <a:lnTo>
                  <a:pt x="978631" y="764872"/>
                </a:lnTo>
                <a:lnTo>
                  <a:pt x="1016312" y="742003"/>
                </a:lnTo>
                <a:lnTo>
                  <a:pt x="1054592" y="719413"/>
                </a:lnTo>
                <a:lnTo>
                  <a:pt x="1093466" y="697104"/>
                </a:lnTo>
                <a:lnTo>
                  <a:pt x="1132926" y="675081"/>
                </a:lnTo>
                <a:lnTo>
                  <a:pt x="1172966" y="653346"/>
                </a:lnTo>
                <a:lnTo>
                  <a:pt x="1213580" y="631904"/>
                </a:lnTo>
                <a:lnTo>
                  <a:pt x="1254761" y="610757"/>
                </a:lnTo>
                <a:lnTo>
                  <a:pt x="1296503" y="589908"/>
                </a:lnTo>
                <a:lnTo>
                  <a:pt x="1338800" y="569362"/>
                </a:lnTo>
                <a:lnTo>
                  <a:pt x="1381645" y="549121"/>
                </a:lnTo>
                <a:lnTo>
                  <a:pt x="1425031" y="529189"/>
                </a:lnTo>
                <a:lnTo>
                  <a:pt x="1468953" y="509569"/>
                </a:lnTo>
                <a:lnTo>
                  <a:pt x="1513404" y="490265"/>
                </a:lnTo>
                <a:lnTo>
                  <a:pt x="1558377" y="471279"/>
                </a:lnTo>
                <a:lnTo>
                  <a:pt x="1603866" y="452615"/>
                </a:lnTo>
                <a:lnTo>
                  <a:pt x="1649865" y="434276"/>
                </a:lnTo>
                <a:lnTo>
                  <a:pt x="1696367" y="416267"/>
                </a:lnTo>
                <a:lnTo>
                  <a:pt x="1743366" y="398589"/>
                </a:lnTo>
                <a:lnTo>
                  <a:pt x="1790855" y="381247"/>
                </a:lnTo>
                <a:lnTo>
                  <a:pt x="1838829" y="364244"/>
                </a:lnTo>
                <a:lnTo>
                  <a:pt x="1887280" y="347583"/>
                </a:lnTo>
                <a:lnTo>
                  <a:pt x="1936202" y="331267"/>
                </a:lnTo>
                <a:lnTo>
                  <a:pt x="1985589" y="315300"/>
                </a:lnTo>
                <a:lnTo>
                  <a:pt x="2035434" y="299686"/>
                </a:lnTo>
                <a:lnTo>
                  <a:pt x="2085732" y="284426"/>
                </a:lnTo>
                <a:lnTo>
                  <a:pt x="2136475" y="269526"/>
                </a:lnTo>
                <a:lnTo>
                  <a:pt x="2187657" y="254988"/>
                </a:lnTo>
                <a:lnTo>
                  <a:pt x="2239271" y="240815"/>
                </a:lnTo>
                <a:lnTo>
                  <a:pt x="2291312" y="227011"/>
                </a:lnTo>
                <a:lnTo>
                  <a:pt x="2343774" y="213579"/>
                </a:lnTo>
                <a:lnTo>
                  <a:pt x="2396648" y="200523"/>
                </a:lnTo>
                <a:lnTo>
                  <a:pt x="2449930" y="187845"/>
                </a:lnTo>
                <a:lnTo>
                  <a:pt x="2503612" y="175550"/>
                </a:lnTo>
                <a:lnTo>
                  <a:pt x="2557689" y="163640"/>
                </a:lnTo>
                <a:lnTo>
                  <a:pt x="2612153" y="152119"/>
                </a:lnTo>
                <a:lnTo>
                  <a:pt x="2666999" y="140990"/>
                </a:lnTo>
                <a:lnTo>
                  <a:pt x="2722220" y="130257"/>
                </a:lnTo>
                <a:lnTo>
                  <a:pt x="2777810" y="119923"/>
                </a:lnTo>
                <a:lnTo>
                  <a:pt x="2833762" y="109991"/>
                </a:lnTo>
                <a:lnTo>
                  <a:pt x="2890069" y="100464"/>
                </a:lnTo>
                <a:lnTo>
                  <a:pt x="2946726" y="91346"/>
                </a:lnTo>
                <a:lnTo>
                  <a:pt x="3003727" y="82641"/>
                </a:lnTo>
                <a:lnTo>
                  <a:pt x="3061063" y="74351"/>
                </a:lnTo>
                <a:lnTo>
                  <a:pt x="3118730" y="66480"/>
                </a:lnTo>
                <a:lnTo>
                  <a:pt x="3176721" y="59031"/>
                </a:lnTo>
                <a:lnTo>
                  <a:pt x="3235029" y="52008"/>
                </a:lnTo>
                <a:lnTo>
                  <a:pt x="3293648" y="45414"/>
                </a:lnTo>
                <a:lnTo>
                  <a:pt x="3352571" y="39252"/>
                </a:lnTo>
                <a:lnTo>
                  <a:pt x="3411793" y="33525"/>
                </a:lnTo>
                <a:lnTo>
                  <a:pt x="3471307" y="28238"/>
                </a:lnTo>
                <a:lnTo>
                  <a:pt x="3531105" y="23393"/>
                </a:lnTo>
                <a:lnTo>
                  <a:pt x="3591183" y="18993"/>
                </a:lnTo>
                <a:lnTo>
                  <a:pt x="3651533" y="15042"/>
                </a:lnTo>
                <a:lnTo>
                  <a:pt x="3712149" y="11544"/>
                </a:lnTo>
                <a:lnTo>
                  <a:pt x="3773025" y="8501"/>
                </a:lnTo>
                <a:lnTo>
                  <a:pt x="3834154" y="5917"/>
                </a:lnTo>
                <a:lnTo>
                  <a:pt x="3895530" y="3796"/>
                </a:lnTo>
                <a:lnTo>
                  <a:pt x="3957147" y="2140"/>
                </a:lnTo>
                <a:lnTo>
                  <a:pt x="4018997" y="953"/>
                </a:lnTo>
                <a:lnTo>
                  <a:pt x="4081075" y="238"/>
                </a:lnTo>
                <a:lnTo>
                  <a:pt x="4143375" y="0"/>
                </a:lnTo>
                <a:lnTo>
                  <a:pt x="4205674" y="238"/>
                </a:lnTo>
                <a:lnTo>
                  <a:pt x="4267752" y="953"/>
                </a:lnTo>
                <a:lnTo>
                  <a:pt x="4329602" y="2140"/>
                </a:lnTo>
                <a:lnTo>
                  <a:pt x="4391219" y="3796"/>
                </a:lnTo>
                <a:lnTo>
                  <a:pt x="4452595" y="5917"/>
                </a:lnTo>
                <a:lnTo>
                  <a:pt x="4513724" y="8501"/>
                </a:lnTo>
                <a:lnTo>
                  <a:pt x="4574600" y="11544"/>
                </a:lnTo>
                <a:lnTo>
                  <a:pt x="4635216" y="15042"/>
                </a:lnTo>
                <a:lnTo>
                  <a:pt x="4695566" y="18993"/>
                </a:lnTo>
                <a:lnTo>
                  <a:pt x="4755644" y="23393"/>
                </a:lnTo>
                <a:lnTo>
                  <a:pt x="4815442" y="28238"/>
                </a:lnTo>
                <a:lnTo>
                  <a:pt x="4874956" y="33525"/>
                </a:lnTo>
                <a:lnTo>
                  <a:pt x="4934178" y="39252"/>
                </a:lnTo>
                <a:lnTo>
                  <a:pt x="4993101" y="45414"/>
                </a:lnTo>
                <a:lnTo>
                  <a:pt x="5051720" y="52008"/>
                </a:lnTo>
                <a:lnTo>
                  <a:pt x="5110028" y="59031"/>
                </a:lnTo>
                <a:lnTo>
                  <a:pt x="5168019" y="66480"/>
                </a:lnTo>
                <a:lnTo>
                  <a:pt x="5225686" y="74351"/>
                </a:lnTo>
                <a:lnTo>
                  <a:pt x="5283022" y="82641"/>
                </a:lnTo>
                <a:lnTo>
                  <a:pt x="5340023" y="91346"/>
                </a:lnTo>
                <a:lnTo>
                  <a:pt x="5396680" y="100464"/>
                </a:lnTo>
                <a:lnTo>
                  <a:pt x="5452987" y="109991"/>
                </a:lnTo>
                <a:lnTo>
                  <a:pt x="5508939" y="119923"/>
                </a:lnTo>
                <a:lnTo>
                  <a:pt x="5564529" y="130257"/>
                </a:lnTo>
                <a:lnTo>
                  <a:pt x="5619750" y="140990"/>
                </a:lnTo>
                <a:lnTo>
                  <a:pt x="5674596" y="152119"/>
                </a:lnTo>
                <a:lnTo>
                  <a:pt x="5729060" y="163640"/>
                </a:lnTo>
                <a:lnTo>
                  <a:pt x="5783137" y="175550"/>
                </a:lnTo>
                <a:lnTo>
                  <a:pt x="5836819" y="187845"/>
                </a:lnTo>
                <a:lnTo>
                  <a:pt x="5890101" y="200523"/>
                </a:lnTo>
                <a:lnTo>
                  <a:pt x="5942975" y="213579"/>
                </a:lnTo>
                <a:lnTo>
                  <a:pt x="5995437" y="227011"/>
                </a:lnTo>
                <a:lnTo>
                  <a:pt x="6047478" y="240815"/>
                </a:lnTo>
                <a:lnTo>
                  <a:pt x="6099092" y="254988"/>
                </a:lnTo>
                <a:lnTo>
                  <a:pt x="6150274" y="269526"/>
                </a:lnTo>
                <a:lnTo>
                  <a:pt x="6201017" y="284426"/>
                </a:lnTo>
                <a:lnTo>
                  <a:pt x="6251315" y="299686"/>
                </a:lnTo>
                <a:lnTo>
                  <a:pt x="6301160" y="315300"/>
                </a:lnTo>
                <a:lnTo>
                  <a:pt x="6350547" y="331267"/>
                </a:lnTo>
                <a:lnTo>
                  <a:pt x="6399469" y="347583"/>
                </a:lnTo>
                <a:lnTo>
                  <a:pt x="6447920" y="364244"/>
                </a:lnTo>
                <a:lnTo>
                  <a:pt x="6495894" y="381247"/>
                </a:lnTo>
                <a:lnTo>
                  <a:pt x="6543383" y="398589"/>
                </a:lnTo>
                <a:lnTo>
                  <a:pt x="6590382" y="416267"/>
                </a:lnTo>
                <a:lnTo>
                  <a:pt x="6636884" y="434276"/>
                </a:lnTo>
                <a:lnTo>
                  <a:pt x="6682883" y="452615"/>
                </a:lnTo>
                <a:lnTo>
                  <a:pt x="6728372" y="471279"/>
                </a:lnTo>
                <a:lnTo>
                  <a:pt x="6773345" y="490265"/>
                </a:lnTo>
                <a:lnTo>
                  <a:pt x="6817796" y="509569"/>
                </a:lnTo>
                <a:lnTo>
                  <a:pt x="6861718" y="529189"/>
                </a:lnTo>
                <a:lnTo>
                  <a:pt x="6905104" y="549121"/>
                </a:lnTo>
                <a:lnTo>
                  <a:pt x="6947949" y="569362"/>
                </a:lnTo>
                <a:lnTo>
                  <a:pt x="6990246" y="589908"/>
                </a:lnTo>
                <a:lnTo>
                  <a:pt x="7031988" y="610757"/>
                </a:lnTo>
                <a:lnTo>
                  <a:pt x="7073169" y="631904"/>
                </a:lnTo>
                <a:lnTo>
                  <a:pt x="7113783" y="653346"/>
                </a:lnTo>
                <a:lnTo>
                  <a:pt x="7153823" y="675081"/>
                </a:lnTo>
                <a:lnTo>
                  <a:pt x="7193283" y="697104"/>
                </a:lnTo>
                <a:lnTo>
                  <a:pt x="7232157" y="719413"/>
                </a:lnTo>
                <a:lnTo>
                  <a:pt x="7270437" y="742003"/>
                </a:lnTo>
                <a:lnTo>
                  <a:pt x="7308118" y="764872"/>
                </a:lnTo>
                <a:lnTo>
                  <a:pt x="7345193" y="788017"/>
                </a:lnTo>
                <a:lnTo>
                  <a:pt x="7381656" y="811434"/>
                </a:lnTo>
                <a:lnTo>
                  <a:pt x="7417501" y="835119"/>
                </a:lnTo>
                <a:lnTo>
                  <a:pt x="7452720" y="859070"/>
                </a:lnTo>
                <a:lnTo>
                  <a:pt x="7487308" y="883282"/>
                </a:lnTo>
                <a:lnTo>
                  <a:pt x="7521258" y="907754"/>
                </a:lnTo>
                <a:lnTo>
                  <a:pt x="7554564" y="932480"/>
                </a:lnTo>
                <a:lnTo>
                  <a:pt x="7587219" y="957459"/>
                </a:lnTo>
                <a:lnTo>
                  <a:pt x="7619217" y="982686"/>
                </a:lnTo>
                <a:lnTo>
                  <a:pt x="7650551" y="1008159"/>
                </a:lnTo>
                <a:lnTo>
                  <a:pt x="7681216" y="1033874"/>
                </a:lnTo>
                <a:lnTo>
                  <a:pt x="7711204" y="1059827"/>
                </a:lnTo>
                <a:lnTo>
                  <a:pt x="7740510" y="1086015"/>
                </a:lnTo>
                <a:lnTo>
                  <a:pt x="7769127" y="1112436"/>
                </a:lnTo>
                <a:lnTo>
                  <a:pt x="7797048" y="1139085"/>
                </a:lnTo>
                <a:lnTo>
                  <a:pt x="7824267" y="1165959"/>
                </a:lnTo>
                <a:lnTo>
                  <a:pt x="7876573" y="1220371"/>
                </a:lnTo>
                <a:lnTo>
                  <a:pt x="7925995" y="1275643"/>
                </a:lnTo>
                <a:lnTo>
                  <a:pt x="7972481" y="1331750"/>
                </a:lnTo>
                <a:lnTo>
                  <a:pt x="8015979" y="1388664"/>
                </a:lnTo>
                <a:lnTo>
                  <a:pt x="8056439" y="1446359"/>
                </a:lnTo>
                <a:lnTo>
                  <a:pt x="8093810" y="1504809"/>
                </a:lnTo>
                <a:lnTo>
                  <a:pt x="8128039" y="1563986"/>
                </a:lnTo>
                <a:lnTo>
                  <a:pt x="8159076" y="1623864"/>
                </a:lnTo>
                <a:lnTo>
                  <a:pt x="8186869" y="1684416"/>
                </a:lnTo>
                <a:lnTo>
                  <a:pt x="8211367" y="1745616"/>
                </a:lnTo>
                <a:lnTo>
                  <a:pt x="8232519" y="1807436"/>
                </a:lnTo>
                <a:lnTo>
                  <a:pt x="8250273" y="1869850"/>
                </a:lnTo>
                <a:lnTo>
                  <a:pt x="8264579" y="1932831"/>
                </a:lnTo>
                <a:lnTo>
                  <a:pt x="8275385" y="1996353"/>
                </a:lnTo>
                <a:lnTo>
                  <a:pt x="8282639" y="2060389"/>
                </a:lnTo>
                <a:lnTo>
                  <a:pt x="8286291" y="2124913"/>
                </a:lnTo>
                <a:lnTo>
                  <a:pt x="8286750" y="2157349"/>
                </a:lnTo>
                <a:lnTo>
                  <a:pt x="8286291" y="2189788"/>
                </a:lnTo>
                <a:lnTo>
                  <a:pt x="8282639" y="2254318"/>
                </a:lnTo>
                <a:lnTo>
                  <a:pt x="8275385" y="2318360"/>
                </a:lnTo>
                <a:lnTo>
                  <a:pt x="8264579" y="2381888"/>
                </a:lnTo>
                <a:lnTo>
                  <a:pt x="8250273" y="2444876"/>
                </a:lnTo>
                <a:lnTo>
                  <a:pt x="8232519" y="2507296"/>
                </a:lnTo>
                <a:lnTo>
                  <a:pt x="8211367" y="2569121"/>
                </a:lnTo>
                <a:lnTo>
                  <a:pt x="8186869" y="2630326"/>
                </a:lnTo>
                <a:lnTo>
                  <a:pt x="8159076" y="2690883"/>
                </a:lnTo>
                <a:lnTo>
                  <a:pt x="8128039" y="2750766"/>
                </a:lnTo>
                <a:lnTo>
                  <a:pt x="8093810" y="2809948"/>
                </a:lnTo>
                <a:lnTo>
                  <a:pt x="8056439" y="2868402"/>
                </a:lnTo>
                <a:lnTo>
                  <a:pt x="8015979" y="2926101"/>
                </a:lnTo>
                <a:lnTo>
                  <a:pt x="7972481" y="2983020"/>
                </a:lnTo>
                <a:lnTo>
                  <a:pt x="7925995" y="3039130"/>
                </a:lnTo>
                <a:lnTo>
                  <a:pt x="7876573" y="3094406"/>
                </a:lnTo>
                <a:lnTo>
                  <a:pt x="7824267" y="3148821"/>
                </a:lnTo>
                <a:lnTo>
                  <a:pt x="7797048" y="3175697"/>
                </a:lnTo>
                <a:lnTo>
                  <a:pt x="7769127" y="3202348"/>
                </a:lnTo>
                <a:lnTo>
                  <a:pt x="7740510" y="3228770"/>
                </a:lnTo>
                <a:lnTo>
                  <a:pt x="7711204" y="3254960"/>
                </a:lnTo>
                <a:lnTo>
                  <a:pt x="7681216" y="3280915"/>
                </a:lnTo>
                <a:lnTo>
                  <a:pt x="7650551" y="3306631"/>
                </a:lnTo>
                <a:lnTo>
                  <a:pt x="7619217" y="3332105"/>
                </a:lnTo>
                <a:lnTo>
                  <a:pt x="7587219" y="3357333"/>
                </a:lnTo>
                <a:lnTo>
                  <a:pt x="7554564" y="3382314"/>
                </a:lnTo>
                <a:lnTo>
                  <a:pt x="7521258" y="3407041"/>
                </a:lnTo>
                <a:lnTo>
                  <a:pt x="7487308" y="3431514"/>
                </a:lnTo>
                <a:lnTo>
                  <a:pt x="7452720" y="3455728"/>
                </a:lnTo>
                <a:lnTo>
                  <a:pt x="7417501" y="3479680"/>
                </a:lnTo>
                <a:lnTo>
                  <a:pt x="7381656" y="3503366"/>
                </a:lnTo>
                <a:lnTo>
                  <a:pt x="7345193" y="3526784"/>
                </a:lnTo>
                <a:lnTo>
                  <a:pt x="7308118" y="3549930"/>
                </a:lnTo>
                <a:lnTo>
                  <a:pt x="7270437" y="3572800"/>
                </a:lnTo>
                <a:lnTo>
                  <a:pt x="7232157" y="3595392"/>
                </a:lnTo>
                <a:lnTo>
                  <a:pt x="7193283" y="3617701"/>
                </a:lnTo>
                <a:lnTo>
                  <a:pt x="7153823" y="3639726"/>
                </a:lnTo>
                <a:lnTo>
                  <a:pt x="7113783" y="3661461"/>
                </a:lnTo>
                <a:lnTo>
                  <a:pt x="7073169" y="3682904"/>
                </a:lnTo>
                <a:lnTo>
                  <a:pt x="7031988" y="3704052"/>
                </a:lnTo>
                <a:lnTo>
                  <a:pt x="6990246" y="3724901"/>
                </a:lnTo>
                <a:lnTo>
                  <a:pt x="6947949" y="3745448"/>
                </a:lnTo>
                <a:lnTo>
                  <a:pt x="6905104" y="3765690"/>
                </a:lnTo>
                <a:lnTo>
                  <a:pt x="6861718" y="3785623"/>
                </a:lnTo>
                <a:lnTo>
                  <a:pt x="6817796" y="3805244"/>
                </a:lnTo>
                <a:lnTo>
                  <a:pt x="6773345" y="3824549"/>
                </a:lnTo>
                <a:lnTo>
                  <a:pt x="6728372" y="3843535"/>
                </a:lnTo>
                <a:lnTo>
                  <a:pt x="6682883" y="3862200"/>
                </a:lnTo>
                <a:lnTo>
                  <a:pt x="6636884" y="3880539"/>
                </a:lnTo>
                <a:lnTo>
                  <a:pt x="6590382" y="3898549"/>
                </a:lnTo>
                <a:lnTo>
                  <a:pt x="6543383" y="3916227"/>
                </a:lnTo>
                <a:lnTo>
                  <a:pt x="6495894" y="3933570"/>
                </a:lnTo>
                <a:lnTo>
                  <a:pt x="6447920" y="3950573"/>
                </a:lnTo>
                <a:lnTo>
                  <a:pt x="6399469" y="3967235"/>
                </a:lnTo>
                <a:lnTo>
                  <a:pt x="6350547" y="3983551"/>
                </a:lnTo>
                <a:lnTo>
                  <a:pt x="6301160" y="3999518"/>
                </a:lnTo>
                <a:lnTo>
                  <a:pt x="6251315" y="4015134"/>
                </a:lnTo>
                <a:lnTo>
                  <a:pt x="6201017" y="4030393"/>
                </a:lnTo>
                <a:lnTo>
                  <a:pt x="6150274" y="4045294"/>
                </a:lnTo>
                <a:lnTo>
                  <a:pt x="6099092" y="4059833"/>
                </a:lnTo>
                <a:lnTo>
                  <a:pt x="6047478" y="4074006"/>
                </a:lnTo>
                <a:lnTo>
                  <a:pt x="5995437" y="4087810"/>
                </a:lnTo>
                <a:lnTo>
                  <a:pt x="5942975" y="4101242"/>
                </a:lnTo>
                <a:lnTo>
                  <a:pt x="5890101" y="4114299"/>
                </a:lnTo>
                <a:lnTo>
                  <a:pt x="5836819" y="4126977"/>
                </a:lnTo>
                <a:lnTo>
                  <a:pt x="5783137" y="4139272"/>
                </a:lnTo>
                <a:lnTo>
                  <a:pt x="5729060" y="4151182"/>
                </a:lnTo>
                <a:lnTo>
                  <a:pt x="5674596" y="4162703"/>
                </a:lnTo>
                <a:lnTo>
                  <a:pt x="5619750" y="4173832"/>
                </a:lnTo>
                <a:lnTo>
                  <a:pt x="5564529" y="4184566"/>
                </a:lnTo>
                <a:lnTo>
                  <a:pt x="5508939" y="4194900"/>
                </a:lnTo>
                <a:lnTo>
                  <a:pt x="5452987" y="4204832"/>
                </a:lnTo>
                <a:lnTo>
                  <a:pt x="5396680" y="4214359"/>
                </a:lnTo>
                <a:lnTo>
                  <a:pt x="5340023" y="4223477"/>
                </a:lnTo>
                <a:lnTo>
                  <a:pt x="5283022" y="4232182"/>
                </a:lnTo>
                <a:lnTo>
                  <a:pt x="5225686" y="4240472"/>
                </a:lnTo>
                <a:lnTo>
                  <a:pt x="5168019" y="4248344"/>
                </a:lnTo>
                <a:lnTo>
                  <a:pt x="5110028" y="4255792"/>
                </a:lnTo>
                <a:lnTo>
                  <a:pt x="5051720" y="4262816"/>
                </a:lnTo>
                <a:lnTo>
                  <a:pt x="4993101" y="4269410"/>
                </a:lnTo>
                <a:lnTo>
                  <a:pt x="4934178" y="4275572"/>
                </a:lnTo>
                <a:lnTo>
                  <a:pt x="4874956" y="4281299"/>
                </a:lnTo>
                <a:lnTo>
                  <a:pt x="4815442" y="4286586"/>
                </a:lnTo>
                <a:lnTo>
                  <a:pt x="4755644" y="4291431"/>
                </a:lnTo>
                <a:lnTo>
                  <a:pt x="4695566" y="4295831"/>
                </a:lnTo>
                <a:lnTo>
                  <a:pt x="4635216" y="4299782"/>
                </a:lnTo>
                <a:lnTo>
                  <a:pt x="4574600" y="4303280"/>
                </a:lnTo>
                <a:lnTo>
                  <a:pt x="4513724" y="4306323"/>
                </a:lnTo>
                <a:lnTo>
                  <a:pt x="4452595" y="4308907"/>
                </a:lnTo>
                <a:lnTo>
                  <a:pt x="4391219" y="4311028"/>
                </a:lnTo>
                <a:lnTo>
                  <a:pt x="4329602" y="4312684"/>
                </a:lnTo>
                <a:lnTo>
                  <a:pt x="4267752" y="4313871"/>
                </a:lnTo>
                <a:lnTo>
                  <a:pt x="4205674" y="4314586"/>
                </a:lnTo>
                <a:lnTo>
                  <a:pt x="4143375" y="4314825"/>
                </a:lnTo>
                <a:lnTo>
                  <a:pt x="4081075" y="4314586"/>
                </a:lnTo>
                <a:lnTo>
                  <a:pt x="4018997" y="4313871"/>
                </a:lnTo>
                <a:lnTo>
                  <a:pt x="3957147" y="4312684"/>
                </a:lnTo>
                <a:lnTo>
                  <a:pt x="3895530" y="4311028"/>
                </a:lnTo>
                <a:lnTo>
                  <a:pt x="3834154" y="4308907"/>
                </a:lnTo>
                <a:lnTo>
                  <a:pt x="3773025" y="4306323"/>
                </a:lnTo>
                <a:lnTo>
                  <a:pt x="3712149" y="4303280"/>
                </a:lnTo>
                <a:lnTo>
                  <a:pt x="3651533" y="4299782"/>
                </a:lnTo>
                <a:lnTo>
                  <a:pt x="3591183" y="4295831"/>
                </a:lnTo>
                <a:lnTo>
                  <a:pt x="3531105" y="4291431"/>
                </a:lnTo>
                <a:lnTo>
                  <a:pt x="3471307" y="4286586"/>
                </a:lnTo>
                <a:lnTo>
                  <a:pt x="3411793" y="4281299"/>
                </a:lnTo>
                <a:lnTo>
                  <a:pt x="3352571" y="4275572"/>
                </a:lnTo>
                <a:lnTo>
                  <a:pt x="3293648" y="4269410"/>
                </a:lnTo>
                <a:lnTo>
                  <a:pt x="3235029" y="4262816"/>
                </a:lnTo>
                <a:lnTo>
                  <a:pt x="3176721" y="4255792"/>
                </a:lnTo>
                <a:lnTo>
                  <a:pt x="3118730" y="4248344"/>
                </a:lnTo>
                <a:lnTo>
                  <a:pt x="3061063" y="4240472"/>
                </a:lnTo>
                <a:lnTo>
                  <a:pt x="3003727" y="4232182"/>
                </a:lnTo>
                <a:lnTo>
                  <a:pt x="2946726" y="4223477"/>
                </a:lnTo>
                <a:lnTo>
                  <a:pt x="2890069" y="4214359"/>
                </a:lnTo>
                <a:lnTo>
                  <a:pt x="2833762" y="4204832"/>
                </a:lnTo>
                <a:lnTo>
                  <a:pt x="2777810" y="4194900"/>
                </a:lnTo>
                <a:lnTo>
                  <a:pt x="2722220" y="4184566"/>
                </a:lnTo>
                <a:lnTo>
                  <a:pt x="2666999" y="4173832"/>
                </a:lnTo>
                <a:lnTo>
                  <a:pt x="2612153" y="4162703"/>
                </a:lnTo>
                <a:lnTo>
                  <a:pt x="2557689" y="4151182"/>
                </a:lnTo>
                <a:lnTo>
                  <a:pt x="2503612" y="4139272"/>
                </a:lnTo>
                <a:lnTo>
                  <a:pt x="2449930" y="4126977"/>
                </a:lnTo>
                <a:lnTo>
                  <a:pt x="2396648" y="4114299"/>
                </a:lnTo>
                <a:lnTo>
                  <a:pt x="2343774" y="4101242"/>
                </a:lnTo>
                <a:lnTo>
                  <a:pt x="2291312" y="4087810"/>
                </a:lnTo>
                <a:lnTo>
                  <a:pt x="2239271" y="4074006"/>
                </a:lnTo>
                <a:lnTo>
                  <a:pt x="2187657" y="4059833"/>
                </a:lnTo>
                <a:lnTo>
                  <a:pt x="2136475" y="4045294"/>
                </a:lnTo>
                <a:lnTo>
                  <a:pt x="2085732" y="4030393"/>
                </a:lnTo>
                <a:lnTo>
                  <a:pt x="2035434" y="4015134"/>
                </a:lnTo>
                <a:lnTo>
                  <a:pt x="1985589" y="3999518"/>
                </a:lnTo>
                <a:lnTo>
                  <a:pt x="1936202" y="3983551"/>
                </a:lnTo>
                <a:lnTo>
                  <a:pt x="1887280" y="3967235"/>
                </a:lnTo>
                <a:lnTo>
                  <a:pt x="1838829" y="3950573"/>
                </a:lnTo>
                <a:lnTo>
                  <a:pt x="1790855" y="3933570"/>
                </a:lnTo>
                <a:lnTo>
                  <a:pt x="1743366" y="3916227"/>
                </a:lnTo>
                <a:lnTo>
                  <a:pt x="1696367" y="3898549"/>
                </a:lnTo>
                <a:lnTo>
                  <a:pt x="1649865" y="3880539"/>
                </a:lnTo>
                <a:lnTo>
                  <a:pt x="1603866" y="3862200"/>
                </a:lnTo>
                <a:lnTo>
                  <a:pt x="1558377" y="3843535"/>
                </a:lnTo>
                <a:lnTo>
                  <a:pt x="1513404" y="3824549"/>
                </a:lnTo>
                <a:lnTo>
                  <a:pt x="1468953" y="3805244"/>
                </a:lnTo>
                <a:lnTo>
                  <a:pt x="1425031" y="3785623"/>
                </a:lnTo>
                <a:lnTo>
                  <a:pt x="1381645" y="3765690"/>
                </a:lnTo>
                <a:lnTo>
                  <a:pt x="1338800" y="3745448"/>
                </a:lnTo>
                <a:lnTo>
                  <a:pt x="1296503" y="3724901"/>
                </a:lnTo>
                <a:lnTo>
                  <a:pt x="1254761" y="3704052"/>
                </a:lnTo>
                <a:lnTo>
                  <a:pt x="1213580" y="3682904"/>
                </a:lnTo>
                <a:lnTo>
                  <a:pt x="1172966" y="3661461"/>
                </a:lnTo>
                <a:lnTo>
                  <a:pt x="1132926" y="3639726"/>
                </a:lnTo>
                <a:lnTo>
                  <a:pt x="1093466" y="3617701"/>
                </a:lnTo>
                <a:lnTo>
                  <a:pt x="1054592" y="3595392"/>
                </a:lnTo>
                <a:lnTo>
                  <a:pt x="1016312" y="3572800"/>
                </a:lnTo>
                <a:lnTo>
                  <a:pt x="978631" y="3549930"/>
                </a:lnTo>
                <a:lnTo>
                  <a:pt x="941556" y="3526784"/>
                </a:lnTo>
                <a:lnTo>
                  <a:pt x="905093" y="3503366"/>
                </a:lnTo>
                <a:lnTo>
                  <a:pt x="869248" y="3479680"/>
                </a:lnTo>
                <a:lnTo>
                  <a:pt x="834029" y="3455728"/>
                </a:lnTo>
                <a:lnTo>
                  <a:pt x="799441" y="3431514"/>
                </a:lnTo>
                <a:lnTo>
                  <a:pt x="765491" y="3407041"/>
                </a:lnTo>
                <a:lnTo>
                  <a:pt x="732185" y="3382314"/>
                </a:lnTo>
                <a:lnTo>
                  <a:pt x="699530" y="3357333"/>
                </a:lnTo>
                <a:lnTo>
                  <a:pt x="667532" y="3332105"/>
                </a:lnTo>
                <a:lnTo>
                  <a:pt x="636198" y="3306631"/>
                </a:lnTo>
                <a:lnTo>
                  <a:pt x="605533" y="3280915"/>
                </a:lnTo>
                <a:lnTo>
                  <a:pt x="575545" y="3254960"/>
                </a:lnTo>
                <a:lnTo>
                  <a:pt x="546239" y="3228770"/>
                </a:lnTo>
                <a:lnTo>
                  <a:pt x="517622" y="3202348"/>
                </a:lnTo>
                <a:lnTo>
                  <a:pt x="489701" y="3175697"/>
                </a:lnTo>
                <a:lnTo>
                  <a:pt x="462482" y="3148821"/>
                </a:lnTo>
                <a:lnTo>
                  <a:pt x="410176" y="3094406"/>
                </a:lnTo>
                <a:lnTo>
                  <a:pt x="360754" y="3039130"/>
                </a:lnTo>
                <a:lnTo>
                  <a:pt x="314268" y="2983020"/>
                </a:lnTo>
                <a:lnTo>
                  <a:pt x="270770" y="2926101"/>
                </a:lnTo>
                <a:lnTo>
                  <a:pt x="230310" y="2868402"/>
                </a:lnTo>
                <a:lnTo>
                  <a:pt x="192939" y="2809948"/>
                </a:lnTo>
                <a:lnTo>
                  <a:pt x="158710" y="2750766"/>
                </a:lnTo>
                <a:lnTo>
                  <a:pt x="127673" y="2690883"/>
                </a:lnTo>
                <a:lnTo>
                  <a:pt x="99880" y="2630326"/>
                </a:lnTo>
                <a:lnTo>
                  <a:pt x="75382" y="2569121"/>
                </a:lnTo>
                <a:lnTo>
                  <a:pt x="54230" y="2507296"/>
                </a:lnTo>
                <a:lnTo>
                  <a:pt x="36476" y="2444876"/>
                </a:lnTo>
                <a:lnTo>
                  <a:pt x="22170" y="2381888"/>
                </a:lnTo>
                <a:lnTo>
                  <a:pt x="11364" y="2318360"/>
                </a:lnTo>
                <a:lnTo>
                  <a:pt x="4110" y="2254318"/>
                </a:lnTo>
                <a:lnTo>
                  <a:pt x="458" y="2189788"/>
                </a:lnTo>
                <a:lnTo>
                  <a:pt x="0" y="2157349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1574" rIns="0" bIns="0" rtlCol="0">
            <a:spAutoFit/>
          </a:bodyPr>
          <a:lstStyle/>
          <a:p>
            <a:pPr marL="2381250">
              <a:lnSpc>
                <a:spcPct val="100000"/>
              </a:lnSpc>
              <a:spcBef>
                <a:spcPts val="105"/>
              </a:spcBef>
            </a:pPr>
            <a:r>
              <a:rPr sz="2400"/>
              <a:t>Artificial</a:t>
            </a:r>
            <a:r>
              <a:rPr sz="2400" spc="-45"/>
              <a:t> </a:t>
            </a:r>
            <a:r>
              <a:rPr sz="2400" spc="-10"/>
              <a:t>Intelligence</a:t>
            </a:r>
            <a:endParaRPr sz="2400"/>
          </a:p>
        </p:txBody>
      </p:sp>
      <p:sp>
        <p:nvSpPr>
          <p:cNvPr id="4" name="object 4"/>
          <p:cNvSpPr txBox="1"/>
          <p:nvPr/>
        </p:nvSpPr>
        <p:spPr>
          <a:xfrm>
            <a:off x="7325359" y="4618672"/>
            <a:ext cx="1741170" cy="158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95"/>
              </a:lnSpc>
            </a:pPr>
            <a:r>
              <a:rPr sz="1050">
                <a:latin typeface="Calibri"/>
                <a:cs typeface="Calibri"/>
              </a:rPr>
              <a:t>Slide</a:t>
            </a:r>
            <a:r>
              <a:rPr sz="1050" spc="-30">
                <a:latin typeface="Calibri"/>
                <a:cs typeface="Calibri"/>
              </a:rPr>
              <a:t> </a:t>
            </a:r>
            <a:r>
              <a:rPr sz="1050">
                <a:latin typeface="Calibri"/>
                <a:cs typeface="Calibri"/>
              </a:rPr>
              <a:t>inspiration:</a:t>
            </a:r>
            <a:r>
              <a:rPr sz="1050" spc="-10">
                <a:latin typeface="Calibri"/>
                <a:cs typeface="Calibri"/>
              </a:rPr>
              <a:t> Justin</a:t>
            </a:r>
            <a:r>
              <a:rPr sz="1050" spc="-50">
                <a:latin typeface="Calibri"/>
                <a:cs typeface="Calibri"/>
              </a:rPr>
              <a:t> </a:t>
            </a:r>
            <a:r>
              <a:rPr sz="1050" spc="-10">
                <a:latin typeface="Calibri"/>
                <a:cs typeface="Calibri"/>
              </a:rPr>
              <a:t>Johnson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2</a:t>
            </a:fld>
            <a:endParaRPr spc="-25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>
              <a:lnSpc>
                <a:spcPts val="1810"/>
              </a:lnSpc>
            </a:pPr>
            <a:r>
              <a:t>April 1,</a:t>
            </a:r>
            <a:r>
              <a:rPr spc="-35"/>
              <a:t> </a:t>
            </a:r>
            <a:r>
              <a:rPr spc="-20"/>
              <a:t>2025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t>CS231n:</a:t>
            </a:r>
            <a:r>
              <a:rPr spc="-5"/>
              <a:t> </a:t>
            </a:r>
            <a:r>
              <a:t>Lecture</a:t>
            </a:r>
            <a:r>
              <a:rPr spc="95"/>
              <a:t> </a:t>
            </a:r>
            <a:r>
              <a:t>1</a:t>
            </a:r>
            <a:r>
              <a:rPr spc="15"/>
              <a:t> </a:t>
            </a:r>
            <a:r>
              <a:rPr spc="-50"/>
              <a:t>-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07657" y="4910517"/>
            <a:ext cx="2085339" cy="1536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Fei-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Fei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Li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9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Ehsan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Adeli</a:t>
            </a: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90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Zane Durante</a:t>
            </a:r>
            <a:endParaRPr sz="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9575" y="238125"/>
            <a:ext cx="8324850" cy="435292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1574" rIns="0" bIns="0" rtlCol="0">
            <a:spAutoFit/>
          </a:bodyPr>
          <a:lstStyle/>
          <a:p>
            <a:pPr marL="2381250">
              <a:lnSpc>
                <a:spcPct val="100000"/>
              </a:lnSpc>
              <a:spcBef>
                <a:spcPts val="105"/>
              </a:spcBef>
            </a:pPr>
            <a:r>
              <a:rPr sz="2400"/>
              <a:t>Artificial</a:t>
            </a:r>
            <a:r>
              <a:rPr sz="2400" spc="-45"/>
              <a:t> </a:t>
            </a:r>
            <a:r>
              <a:rPr sz="2400" spc="-10"/>
              <a:t>Intelligence</a:t>
            </a:r>
            <a:endParaRPr sz="2400"/>
          </a:p>
        </p:txBody>
      </p:sp>
      <p:sp>
        <p:nvSpPr>
          <p:cNvPr id="6" name="object 6"/>
          <p:cNvSpPr txBox="1"/>
          <p:nvPr/>
        </p:nvSpPr>
        <p:spPr>
          <a:xfrm>
            <a:off x="7325359" y="4618672"/>
            <a:ext cx="1741170" cy="158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95"/>
              </a:lnSpc>
            </a:pPr>
            <a:r>
              <a:rPr sz="1050">
                <a:latin typeface="Calibri"/>
                <a:cs typeface="Calibri"/>
              </a:rPr>
              <a:t>Slide</a:t>
            </a:r>
            <a:r>
              <a:rPr sz="1050" spc="-30">
                <a:latin typeface="Calibri"/>
                <a:cs typeface="Calibri"/>
              </a:rPr>
              <a:t> </a:t>
            </a:r>
            <a:r>
              <a:rPr sz="1050">
                <a:latin typeface="Calibri"/>
                <a:cs typeface="Calibri"/>
              </a:rPr>
              <a:t>inspiration:</a:t>
            </a:r>
            <a:r>
              <a:rPr sz="1050" spc="-10">
                <a:latin typeface="Calibri"/>
                <a:cs typeface="Calibri"/>
              </a:rPr>
              <a:t> Justin</a:t>
            </a:r>
            <a:r>
              <a:rPr sz="1050" spc="-50">
                <a:latin typeface="Calibri"/>
                <a:cs typeface="Calibri"/>
              </a:rPr>
              <a:t> </a:t>
            </a:r>
            <a:r>
              <a:rPr sz="1050" spc="-10">
                <a:latin typeface="Calibri"/>
                <a:cs typeface="Calibri"/>
              </a:rPr>
              <a:t>Johnson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3</a:t>
            </a:fld>
            <a:endParaRPr spc="-25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>
              <a:lnSpc>
                <a:spcPts val="1810"/>
              </a:lnSpc>
            </a:pPr>
            <a:r>
              <a:t>April 1,</a:t>
            </a:r>
            <a:r>
              <a:rPr spc="-35"/>
              <a:t> </a:t>
            </a:r>
            <a:r>
              <a:rPr spc="-20"/>
              <a:t>2025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t>CS231n:</a:t>
            </a:r>
            <a:r>
              <a:rPr spc="-5"/>
              <a:t> </a:t>
            </a:r>
            <a:r>
              <a:t>Lecture</a:t>
            </a:r>
            <a:r>
              <a:rPr spc="95"/>
              <a:t> </a:t>
            </a:r>
            <a:r>
              <a:t>1</a:t>
            </a:r>
            <a:r>
              <a:rPr spc="15"/>
              <a:t> </a:t>
            </a:r>
            <a:r>
              <a:rPr spc="-50"/>
              <a:t>-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07657" y="4910517"/>
            <a:ext cx="2085339" cy="1536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Fei-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Fei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Li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9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Ehsan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Adeli</a:t>
            </a: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90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Zane Durante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02859" y="1311973"/>
            <a:ext cx="223456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>
                <a:latin typeface="Calibri"/>
                <a:cs typeface="Calibri"/>
              </a:rPr>
              <a:t>Machine</a:t>
            </a:r>
            <a:r>
              <a:rPr sz="2400" spc="-9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Learning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76425" y="2030031"/>
            <a:ext cx="1266190" cy="75438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257810" marR="5080" indent="-245745">
              <a:lnSpc>
                <a:spcPts val="2860"/>
              </a:lnSpc>
              <a:spcBef>
                <a:spcPts val="215"/>
              </a:spcBef>
            </a:pPr>
            <a:r>
              <a:rPr sz="2400" spc="-10">
                <a:latin typeface="Calibri"/>
                <a:cs typeface="Calibri"/>
              </a:rPr>
              <a:t>Computer Vision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9575" y="238125"/>
            <a:ext cx="8324850" cy="435292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1574" rIns="0" bIns="0" rtlCol="0">
            <a:spAutoFit/>
          </a:bodyPr>
          <a:lstStyle/>
          <a:p>
            <a:pPr marL="2381250">
              <a:lnSpc>
                <a:spcPct val="100000"/>
              </a:lnSpc>
              <a:spcBef>
                <a:spcPts val="105"/>
              </a:spcBef>
            </a:pPr>
            <a:r>
              <a:rPr sz="2400"/>
              <a:t>Artificial</a:t>
            </a:r>
            <a:r>
              <a:rPr sz="2400" spc="-45"/>
              <a:t> </a:t>
            </a:r>
            <a:r>
              <a:rPr sz="2400" spc="-10"/>
              <a:t>Intelligence</a:t>
            </a:r>
            <a:endParaRPr sz="2400"/>
          </a:p>
        </p:txBody>
      </p:sp>
      <p:sp>
        <p:nvSpPr>
          <p:cNvPr id="7" name="object 7"/>
          <p:cNvSpPr txBox="1"/>
          <p:nvPr/>
        </p:nvSpPr>
        <p:spPr>
          <a:xfrm>
            <a:off x="7325359" y="4618672"/>
            <a:ext cx="1741170" cy="158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95"/>
              </a:lnSpc>
            </a:pPr>
            <a:r>
              <a:rPr sz="1050">
                <a:latin typeface="Calibri"/>
                <a:cs typeface="Calibri"/>
              </a:rPr>
              <a:t>Slide</a:t>
            </a:r>
            <a:r>
              <a:rPr sz="1050" spc="-30">
                <a:latin typeface="Calibri"/>
                <a:cs typeface="Calibri"/>
              </a:rPr>
              <a:t> </a:t>
            </a:r>
            <a:r>
              <a:rPr sz="1050">
                <a:latin typeface="Calibri"/>
                <a:cs typeface="Calibri"/>
              </a:rPr>
              <a:t>inspiration:</a:t>
            </a:r>
            <a:r>
              <a:rPr sz="1050" spc="-10">
                <a:latin typeface="Calibri"/>
                <a:cs typeface="Calibri"/>
              </a:rPr>
              <a:t> Justin</a:t>
            </a:r>
            <a:r>
              <a:rPr sz="1050" spc="-50">
                <a:latin typeface="Calibri"/>
                <a:cs typeface="Calibri"/>
              </a:rPr>
              <a:t> </a:t>
            </a:r>
            <a:r>
              <a:rPr sz="1050" spc="-10">
                <a:latin typeface="Calibri"/>
                <a:cs typeface="Calibri"/>
              </a:rPr>
              <a:t>Johnson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4</a:t>
            </a:fld>
            <a:endParaRPr spc="-25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>
              <a:lnSpc>
                <a:spcPts val="1810"/>
              </a:lnSpc>
            </a:pPr>
            <a:r>
              <a:t>April 1,</a:t>
            </a:r>
            <a:r>
              <a:rPr spc="-35"/>
              <a:t> </a:t>
            </a:r>
            <a:r>
              <a:rPr spc="-20"/>
              <a:t>2025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t>CS231n:</a:t>
            </a:r>
            <a:r>
              <a:rPr spc="-5"/>
              <a:t> </a:t>
            </a:r>
            <a:r>
              <a:t>Lecture</a:t>
            </a:r>
            <a:r>
              <a:rPr spc="95"/>
              <a:t> </a:t>
            </a:r>
            <a:r>
              <a:t>1</a:t>
            </a:r>
            <a:r>
              <a:rPr spc="15"/>
              <a:t> </a:t>
            </a:r>
            <a:r>
              <a:rPr spc="-50"/>
              <a:t>-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07657" y="4910517"/>
            <a:ext cx="2085339" cy="1536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Fei-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Fei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Li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9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Ehsan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Adeli</a:t>
            </a: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90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Zane Durante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02859" y="1311973"/>
            <a:ext cx="223456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>
                <a:latin typeface="Calibri"/>
                <a:cs typeface="Calibri"/>
              </a:rPr>
              <a:t>Machine</a:t>
            </a:r>
            <a:r>
              <a:rPr sz="2400" spc="-9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Learning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60009" y="2007869"/>
            <a:ext cx="1094740" cy="7550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35" algn="ctr">
              <a:lnSpc>
                <a:spcPts val="2870"/>
              </a:lnSpc>
              <a:spcBef>
                <a:spcPts val="105"/>
              </a:spcBef>
            </a:pPr>
            <a:r>
              <a:rPr sz="2400" spc="-20">
                <a:latin typeface="Calibri"/>
                <a:cs typeface="Calibri"/>
              </a:rPr>
              <a:t>Deep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ts val="2870"/>
              </a:lnSpc>
            </a:pPr>
            <a:r>
              <a:rPr sz="2400" spc="-10">
                <a:latin typeface="Calibri"/>
                <a:cs typeface="Calibri"/>
              </a:rPr>
              <a:t>Learning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76425" y="2030031"/>
            <a:ext cx="1266190" cy="75438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257810" marR="5080" indent="-245745">
              <a:lnSpc>
                <a:spcPts val="2860"/>
              </a:lnSpc>
              <a:spcBef>
                <a:spcPts val="215"/>
              </a:spcBef>
            </a:pPr>
            <a:r>
              <a:rPr sz="2400" spc="-10">
                <a:latin typeface="Calibri"/>
                <a:cs typeface="Calibri"/>
              </a:rPr>
              <a:t>Computer Vision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9575" y="238125"/>
            <a:ext cx="8324850" cy="435292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298825" y="366649"/>
            <a:ext cx="2545715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>
                <a:latin typeface="Calibri"/>
                <a:cs typeface="Calibri"/>
              </a:rPr>
              <a:t>Artificial</a:t>
            </a:r>
            <a:r>
              <a:rPr sz="2400" spc="-4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Intelligence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02859" y="1311973"/>
            <a:ext cx="223456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>
                <a:latin typeface="Calibri"/>
                <a:cs typeface="Calibri"/>
              </a:rPr>
              <a:t>Machine</a:t>
            </a:r>
            <a:r>
              <a:rPr sz="2400" spc="-9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Learning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60009" y="2007869"/>
            <a:ext cx="1094740" cy="7550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35" algn="ctr">
              <a:lnSpc>
                <a:spcPts val="2870"/>
              </a:lnSpc>
              <a:spcBef>
                <a:spcPts val="105"/>
              </a:spcBef>
            </a:pPr>
            <a:r>
              <a:rPr sz="2400" spc="-20">
                <a:latin typeface="Calibri"/>
                <a:cs typeface="Calibri"/>
              </a:rPr>
              <a:t>Deep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ts val="2870"/>
              </a:lnSpc>
            </a:pPr>
            <a:r>
              <a:rPr sz="2400" spc="-10">
                <a:latin typeface="Calibri"/>
                <a:cs typeface="Calibri"/>
              </a:rPr>
              <a:t>Learning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76425" y="2030031"/>
            <a:ext cx="1266190" cy="75438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257810" marR="5080" indent="-245745">
              <a:lnSpc>
                <a:spcPts val="2860"/>
              </a:lnSpc>
              <a:spcBef>
                <a:spcPts val="215"/>
              </a:spcBef>
            </a:pPr>
            <a:r>
              <a:rPr sz="2400" spc="-10">
                <a:latin typeface="Calibri"/>
                <a:cs typeface="Calibri"/>
              </a:rPr>
              <a:t>Computer Vision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466583" y="146938"/>
            <a:ext cx="1172845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/>
              <a:t>This </a:t>
            </a:r>
            <a:r>
              <a:rPr sz="2400" spc="-20"/>
              <a:t>class</a:t>
            </a:r>
            <a:endParaRPr sz="2400"/>
          </a:p>
        </p:txBody>
      </p:sp>
      <p:sp>
        <p:nvSpPr>
          <p:cNvPr id="8" name="object 8"/>
          <p:cNvSpPr/>
          <p:nvPr/>
        </p:nvSpPr>
        <p:spPr>
          <a:xfrm>
            <a:off x="4867275" y="590550"/>
            <a:ext cx="3197225" cy="2261235"/>
          </a:xfrm>
          <a:custGeom>
            <a:avLst/>
            <a:gdLst/>
            <a:ahLst/>
            <a:cxnLst/>
            <a:rect l="l" t="t" r="r" b="b"/>
            <a:pathLst>
              <a:path w="3197225" h="2261235">
                <a:moveTo>
                  <a:pt x="114300" y="2146554"/>
                </a:moveTo>
                <a:lnTo>
                  <a:pt x="0" y="2203704"/>
                </a:lnTo>
                <a:lnTo>
                  <a:pt x="114300" y="2260854"/>
                </a:lnTo>
                <a:lnTo>
                  <a:pt x="114300" y="2222754"/>
                </a:lnTo>
                <a:lnTo>
                  <a:pt x="95250" y="2222754"/>
                </a:lnTo>
                <a:lnTo>
                  <a:pt x="95250" y="2184654"/>
                </a:lnTo>
                <a:lnTo>
                  <a:pt x="114300" y="2184654"/>
                </a:lnTo>
                <a:lnTo>
                  <a:pt x="114300" y="2146554"/>
                </a:lnTo>
                <a:close/>
              </a:path>
              <a:path w="3197225" h="2261235">
                <a:moveTo>
                  <a:pt x="114300" y="2184654"/>
                </a:moveTo>
                <a:lnTo>
                  <a:pt x="95250" y="2184654"/>
                </a:lnTo>
                <a:lnTo>
                  <a:pt x="95250" y="2222754"/>
                </a:lnTo>
                <a:lnTo>
                  <a:pt x="114300" y="2222754"/>
                </a:lnTo>
                <a:lnTo>
                  <a:pt x="114300" y="2184654"/>
                </a:lnTo>
                <a:close/>
              </a:path>
              <a:path w="3197225" h="2261235">
                <a:moveTo>
                  <a:pt x="3158998" y="2184654"/>
                </a:moveTo>
                <a:lnTo>
                  <a:pt x="114300" y="2184654"/>
                </a:lnTo>
                <a:lnTo>
                  <a:pt x="114300" y="2222754"/>
                </a:lnTo>
                <a:lnTo>
                  <a:pt x="3178048" y="2222754"/>
                </a:lnTo>
                <a:lnTo>
                  <a:pt x="3185471" y="2221259"/>
                </a:lnTo>
                <a:lnTo>
                  <a:pt x="3191525" y="2217181"/>
                </a:lnTo>
                <a:lnTo>
                  <a:pt x="3195603" y="2211127"/>
                </a:lnTo>
                <a:lnTo>
                  <a:pt x="3197098" y="2203704"/>
                </a:lnTo>
                <a:lnTo>
                  <a:pt x="3158998" y="2203704"/>
                </a:lnTo>
                <a:lnTo>
                  <a:pt x="3158998" y="2184654"/>
                </a:lnTo>
                <a:close/>
              </a:path>
              <a:path w="3197225" h="2261235">
                <a:moveTo>
                  <a:pt x="3197098" y="0"/>
                </a:moveTo>
                <a:lnTo>
                  <a:pt x="3158998" y="0"/>
                </a:lnTo>
                <a:lnTo>
                  <a:pt x="3158998" y="2203704"/>
                </a:lnTo>
                <a:lnTo>
                  <a:pt x="3178048" y="2184654"/>
                </a:lnTo>
                <a:lnTo>
                  <a:pt x="3197098" y="2184654"/>
                </a:lnTo>
                <a:lnTo>
                  <a:pt x="3197098" y="0"/>
                </a:lnTo>
                <a:close/>
              </a:path>
              <a:path w="3197225" h="2261235">
                <a:moveTo>
                  <a:pt x="3197098" y="2184654"/>
                </a:moveTo>
                <a:lnTo>
                  <a:pt x="3178048" y="2184654"/>
                </a:lnTo>
                <a:lnTo>
                  <a:pt x="3158998" y="2203704"/>
                </a:lnTo>
                <a:lnTo>
                  <a:pt x="3197098" y="2203704"/>
                </a:lnTo>
                <a:lnTo>
                  <a:pt x="3197098" y="2184654"/>
                </a:lnTo>
                <a:close/>
              </a:path>
            </a:pathLst>
          </a:custGeom>
          <a:solidFill>
            <a:srgbClr val="C4BC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325359" y="4618672"/>
            <a:ext cx="1741170" cy="158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95"/>
              </a:lnSpc>
            </a:pPr>
            <a:r>
              <a:rPr sz="1050">
                <a:latin typeface="Calibri"/>
                <a:cs typeface="Calibri"/>
              </a:rPr>
              <a:t>Slide</a:t>
            </a:r>
            <a:r>
              <a:rPr sz="1050" spc="-30">
                <a:latin typeface="Calibri"/>
                <a:cs typeface="Calibri"/>
              </a:rPr>
              <a:t> </a:t>
            </a:r>
            <a:r>
              <a:rPr sz="1050">
                <a:latin typeface="Calibri"/>
                <a:cs typeface="Calibri"/>
              </a:rPr>
              <a:t>inspiration:</a:t>
            </a:r>
            <a:r>
              <a:rPr sz="1050" spc="-10">
                <a:latin typeface="Calibri"/>
                <a:cs typeface="Calibri"/>
              </a:rPr>
              <a:t> Justin</a:t>
            </a:r>
            <a:r>
              <a:rPr sz="1050" spc="-50">
                <a:latin typeface="Calibri"/>
                <a:cs typeface="Calibri"/>
              </a:rPr>
              <a:t> </a:t>
            </a:r>
            <a:r>
              <a:rPr sz="1050" spc="-10">
                <a:latin typeface="Calibri"/>
                <a:cs typeface="Calibri"/>
              </a:rPr>
              <a:t>Johnson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5</a:t>
            </a:fld>
            <a:endParaRPr spc="-25"/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>
              <a:lnSpc>
                <a:spcPts val="1810"/>
              </a:lnSpc>
            </a:pPr>
            <a:r>
              <a:t>April 1,</a:t>
            </a:r>
            <a:r>
              <a:rPr spc="-35"/>
              <a:t> </a:t>
            </a:r>
            <a:r>
              <a:rPr spc="-20"/>
              <a:t>2025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t>CS231n:</a:t>
            </a:r>
            <a:r>
              <a:rPr spc="-5"/>
              <a:t> </a:t>
            </a:r>
            <a:r>
              <a:t>Lecture</a:t>
            </a:r>
            <a:r>
              <a:rPr spc="95"/>
              <a:t> </a:t>
            </a:r>
            <a:r>
              <a:t>1</a:t>
            </a:r>
            <a:r>
              <a:rPr spc="15"/>
              <a:t> </a:t>
            </a:r>
            <a:r>
              <a:rPr spc="-50"/>
              <a:t>-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307657" y="4910517"/>
            <a:ext cx="2085339" cy="1536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Fei-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Fei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Li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9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Ehsan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Adeli</a:t>
            </a: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90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Zane Durante</a:t>
            </a:r>
            <a:endParaRPr sz="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183126" y="1811401"/>
            <a:ext cx="1168400" cy="1225550"/>
            <a:chOff x="4183126" y="1811401"/>
            <a:chExt cx="1168400" cy="1225550"/>
          </a:xfrm>
        </p:grpSpPr>
        <p:sp>
          <p:nvSpPr>
            <p:cNvPr id="3" name="object 3"/>
            <p:cNvSpPr/>
            <p:nvPr/>
          </p:nvSpPr>
          <p:spPr>
            <a:xfrm>
              <a:off x="4195826" y="1824101"/>
              <a:ext cx="1143000" cy="1200150"/>
            </a:xfrm>
            <a:custGeom>
              <a:avLst/>
              <a:gdLst/>
              <a:ahLst/>
              <a:cxnLst/>
              <a:rect l="l" t="t" r="r" b="b"/>
              <a:pathLst>
                <a:path w="1143000" h="1200150">
                  <a:moveTo>
                    <a:pt x="842645" y="0"/>
                  </a:moveTo>
                  <a:lnTo>
                    <a:pt x="648970" y="48513"/>
                  </a:lnTo>
                  <a:lnTo>
                    <a:pt x="500379" y="106680"/>
                  </a:lnTo>
                  <a:lnTo>
                    <a:pt x="296925" y="210185"/>
                  </a:lnTo>
                  <a:lnTo>
                    <a:pt x="145287" y="313690"/>
                  </a:lnTo>
                  <a:lnTo>
                    <a:pt x="28956" y="475488"/>
                  </a:lnTo>
                  <a:lnTo>
                    <a:pt x="0" y="595122"/>
                  </a:lnTo>
                  <a:lnTo>
                    <a:pt x="3175" y="676021"/>
                  </a:lnTo>
                  <a:lnTo>
                    <a:pt x="54863" y="802132"/>
                  </a:lnTo>
                  <a:lnTo>
                    <a:pt x="125857" y="883031"/>
                  </a:lnTo>
                  <a:lnTo>
                    <a:pt x="200151" y="954278"/>
                  </a:lnTo>
                  <a:lnTo>
                    <a:pt x="326009" y="1025398"/>
                  </a:lnTo>
                  <a:lnTo>
                    <a:pt x="535939" y="1135380"/>
                  </a:lnTo>
                  <a:lnTo>
                    <a:pt x="674751" y="1174242"/>
                  </a:lnTo>
                  <a:lnTo>
                    <a:pt x="749046" y="1200150"/>
                  </a:lnTo>
                  <a:lnTo>
                    <a:pt x="868426" y="1109472"/>
                  </a:lnTo>
                  <a:lnTo>
                    <a:pt x="968628" y="989838"/>
                  </a:lnTo>
                  <a:lnTo>
                    <a:pt x="1075182" y="831342"/>
                  </a:lnTo>
                  <a:lnTo>
                    <a:pt x="1120394" y="682498"/>
                  </a:lnTo>
                  <a:lnTo>
                    <a:pt x="1143000" y="562863"/>
                  </a:lnTo>
                  <a:lnTo>
                    <a:pt x="1126744" y="414019"/>
                  </a:lnTo>
                  <a:lnTo>
                    <a:pt x="1088009" y="304038"/>
                  </a:lnTo>
                  <a:lnTo>
                    <a:pt x="981456" y="142240"/>
                  </a:lnTo>
                  <a:lnTo>
                    <a:pt x="881379" y="32258"/>
                  </a:lnTo>
                  <a:lnTo>
                    <a:pt x="84264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195826" y="1824101"/>
              <a:ext cx="1143000" cy="1200150"/>
            </a:xfrm>
            <a:custGeom>
              <a:avLst/>
              <a:gdLst/>
              <a:ahLst/>
              <a:cxnLst/>
              <a:rect l="l" t="t" r="r" b="b"/>
              <a:pathLst>
                <a:path w="1143000" h="1200150">
                  <a:moveTo>
                    <a:pt x="842645" y="0"/>
                  </a:moveTo>
                  <a:lnTo>
                    <a:pt x="648970" y="48513"/>
                  </a:lnTo>
                  <a:lnTo>
                    <a:pt x="500379" y="106680"/>
                  </a:lnTo>
                  <a:lnTo>
                    <a:pt x="296925" y="210185"/>
                  </a:lnTo>
                  <a:lnTo>
                    <a:pt x="145287" y="313690"/>
                  </a:lnTo>
                  <a:lnTo>
                    <a:pt x="28956" y="475488"/>
                  </a:lnTo>
                  <a:lnTo>
                    <a:pt x="0" y="595122"/>
                  </a:lnTo>
                  <a:lnTo>
                    <a:pt x="3175" y="676021"/>
                  </a:lnTo>
                  <a:lnTo>
                    <a:pt x="54863" y="802132"/>
                  </a:lnTo>
                  <a:lnTo>
                    <a:pt x="125857" y="883031"/>
                  </a:lnTo>
                  <a:lnTo>
                    <a:pt x="200151" y="954278"/>
                  </a:lnTo>
                  <a:lnTo>
                    <a:pt x="326009" y="1025398"/>
                  </a:lnTo>
                  <a:lnTo>
                    <a:pt x="535939" y="1135380"/>
                  </a:lnTo>
                  <a:lnTo>
                    <a:pt x="674751" y="1174242"/>
                  </a:lnTo>
                  <a:lnTo>
                    <a:pt x="749046" y="1200150"/>
                  </a:lnTo>
                  <a:lnTo>
                    <a:pt x="868426" y="1109472"/>
                  </a:lnTo>
                  <a:lnTo>
                    <a:pt x="968628" y="989838"/>
                  </a:lnTo>
                  <a:lnTo>
                    <a:pt x="1075182" y="831342"/>
                  </a:lnTo>
                  <a:lnTo>
                    <a:pt x="1120394" y="682498"/>
                  </a:lnTo>
                  <a:lnTo>
                    <a:pt x="1143000" y="562863"/>
                  </a:lnTo>
                  <a:lnTo>
                    <a:pt x="1126744" y="414019"/>
                  </a:lnTo>
                  <a:lnTo>
                    <a:pt x="1088009" y="304038"/>
                  </a:lnTo>
                  <a:lnTo>
                    <a:pt x="981456" y="142240"/>
                  </a:lnTo>
                  <a:lnTo>
                    <a:pt x="881379" y="32258"/>
                  </a:lnTo>
                  <a:lnTo>
                    <a:pt x="842645" y="0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466583" y="146938"/>
            <a:ext cx="1172845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/>
              <a:t>This </a:t>
            </a:r>
            <a:r>
              <a:rPr sz="2400" spc="-20"/>
              <a:t>class</a:t>
            </a:r>
            <a:endParaRPr sz="2400"/>
          </a:p>
        </p:txBody>
      </p:sp>
      <p:grpSp>
        <p:nvGrpSpPr>
          <p:cNvPr id="6" name="object 6"/>
          <p:cNvGrpSpPr/>
          <p:nvPr/>
        </p:nvGrpSpPr>
        <p:grpSpPr>
          <a:xfrm>
            <a:off x="409575" y="238125"/>
            <a:ext cx="8324850" cy="4352925"/>
            <a:chOff x="409575" y="238125"/>
            <a:chExt cx="8324850" cy="4352925"/>
          </a:xfrm>
        </p:grpSpPr>
        <p:sp>
          <p:nvSpPr>
            <p:cNvPr id="7" name="object 7"/>
            <p:cNvSpPr/>
            <p:nvPr/>
          </p:nvSpPr>
          <p:spPr>
            <a:xfrm>
              <a:off x="4867275" y="590550"/>
              <a:ext cx="3197225" cy="2261235"/>
            </a:xfrm>
            <a:custGeom>
              <a:avLst/>
              <a:gdLst/>
              <a:ahLst/>
              <a:cxnLst/>
              <a:rect l="l" t="t" r="r" b="b"/>
              <a:pathLst>
                <a:path w="3197225" h="2261235">
                  <a:moveTo>
                    <a:pt x="114300" y="2146554"/>
                  </a:moveTo>
                  <a:lnTo>
                    <a:pt x="0" y="2203704"/>
                  </a:lnTo>
                  <a:lnTo>
                    <a:pt x="114300" y="2260854"/>
                  </a:lnTo>
                  <a:lnTo>
                    <a:pt x="114300" y="2222754"/>
                  </a:lnTo>
                  <a:lnTo>
                    <a:pt x="95250" y="2222754"/>
                  </a:lnTo>
                  <a:lnTo>
                    <a:pt x="95250" y="2184654"/>
                  </a:lnTo>
                  <a:lnTo>
                    <a:pt x="114300" y="2184654"/>
                  </a:lnTo>
                  <a:lnTo>
                    <a:pt x="114300" y="2146554"/>
                  </a:lnTo>
                  <a:close/>
                </a:path>
                <a:path w="3197225" h="2261235">
                  <a:moveTo>
                    <a:pt x="114300" y="2184654"/>
                  </a:moveTo>
                  <a:lnTo>
                    <a:pt x="95250" y="2184654"/>
                  </a:lnTo>
                  <a:lnTo>
                    <a:pt x="95250" y="2222754"/>
                  </a:lnTo>
                  <a:lnTo>
                    <a:pt x="114300" y="2222754"/>
                  </a:lnTo>
                  <a:lnTo>
                    <a:pt x="114300" y="2184654"/>
                  </a:lnTo>
                  <a:close/>
                </a:path>
                <a:path w="3197225" h="2261235">
                  <a:moveTo>
                    <a:pt x="3158998" y="2184654"/>
                  </a:moveTo>
                  <a:lnTo>
                    <a:pt x="114300" y="2184654"/>
                  </a:lnTo>
                  <a:lnTo>
                    <a:pt x="114300" y="2222754"/>
                  </a:lnTo>
                  <a:lnTo>
                    <a:pt x="3178048" y="2222754"/>
                  </a:lnTo>
                  <a:lnTo>
                    <a:pt x="3185471" y="2221259"/>
                  </a:lnTo>
                  <a:lnTo>
                    <a:pt x="3191525" y="2217181"/>
                  </a:lnTo>
                  <a:lnTo>
                    <a:pt x="3195603" y="2211127"/>
                  </a:lnTo>
                  <a:lnTo>
                    <a:pt x="3197098" y="2203704"/>
                  </a:lnTo>
                  <a:lnTo>
                    <a:pt x="3158998" y="2203704"/>
                  </a:lnTo>
                  <a:lnTo>
                    <a:pt x="3158998" y="2184654"/>
                  </a:lnTo>
                  <a:close/>
                </a:path>
                <a:path w="3197225" h="2261235">
                  <a:moveTo>
                    <a:pt x="3197098" y="0"/>
                  </a:moveTo>
                  <a:lnTo>
                    <a:pt x="3158998" y="0"/>
                  </a:lnTo>
                  <a:lnTo>
                    <a:pt x="3158998" y="2203704"/>
                  </a:lnTo>
                  <a:lnTo>
                    <a:pt x="3178048" y="2184654"/>
                  </a:lnTo>
                  <a:lnTo>
                    <a:pt x="3197098" y="2184654"/>
                  </a:lnTo>
                  <a:lnTo>
                    <a:pt x="3197098" y="0"/>
                  </a:lnTo>
                  <a:close/>
                </a:path>
                <a:path w="3197225" h="2261235">
                  <a:moveTo>
                    <a:pt x="3197098" y="2184654"/>
                  </a:moveTo>
                  <a:lnTo>
                    <a:pt x="3178048" y="2184654"/>
                  </a:lnTo>
                  <a:lnTo>
                    <a:pt x="3158998" y="2203704"/>
                  </a:lnTo>
                  <a:lnTo>
                    <a:pt x="3197098" y="2203704"/>
                  </a:lnTo>
                  <a:lnTo>
                    <a:pt x="3197098" y="2184654"/>
                  </a:lnTo>
                  <a:close/>
                </a:path>
              </a:pathLst>
            </a:custGeom>
            <a:solidFill>
              <a:srgbClr val="C4BC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9575" y="238125"/>
              <a:ext cx="8324850" cy="4352925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3298825" y="366649"/>
            <a:ext cx="2545715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>
                <a:latin typeface="Calibri"/>
                <a:cs typeface="Calibri"/>
              </a:rPr>
              <a:t>Artificial</a:t>
            </a:r>
            <a:r>
              <a:rPr sz="2400" spc="-4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Intelligence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325359" y="4618672"/>
            <a:ext cx="1741170" cy="158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95"/>
              </a:lnSpc>
            </a:pPr>
            <a:r>
              <a:rPr sz="1050">
                <a:latin typeface="Calibri"/>
                <a:cs typeface="Calibri"/>
              </a:rPr>
              <a:t>Slide</a:t>
            </a:r>
            <a:r>
              <a:rPr sz="1050" spc="-30">
                <a:latin typeface="Calibri"/>
                <a:cs typeface="Calibri"/>
              </a:rPr>
              <a:t> </a:t>
            </a:r>
            <a:r>
              <a:rPr sz="1050">
                <a:latin typeface="Calibri"/>
                <a:cs typeface="Calibri"/>
              </a:rPr>
              <a:t>inspiration:</a:t>
            </a:r>
            <a:r>
              <a:rPr sz="1050" spc="-10">
                <a:latin typeface="Calibri"/>
                <a:cs typeface="Calibri"/>
              </a:rPr>
              <a:t> Justin</a:t>
            </a:r>
            <a:r>
              <a:rPr sz="1050" spc="-50">
                <a:latin typeface="Calibri"/>
                <a:cs typeface="Calibri"/>
              </a:rPr>
              <a:t> </a:t>
            </a:r>
            <a:r>
              <a:rPr sz="1050" spc="-10">
                <a:latin typeface="Calibri"/>
                <a:cs typeface="Calibri"/>
              </a:rPr>
              <a:t>Johnson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6</a:t>
            </a:fld>
            <a:endParaRPr spc="-25"/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>
              <a:lnSpc>
                <a:spcPts val="1810"/>
              </a:lnSpc>
            </a:pPr>
            <a:r>
              <a:t>April 1,</a:t>
            </a:r>
            <a:r>
              <a:rPr spc="-35"/>
              <a:t> </a:t>
            </a:r>
            <a:r>
              <a:rPr spc="-20"/>
              <a:t>2025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t>CS231n:</a:t>
            </a:r>
            <a:r>
              <a:rPr spc="-5"/>
              <a:t> </a:t>
            </a:r>
            <a:r>
              <a:t>Lecture</a:t>
            </a:r>
            <a:r>
              <a:rPr spc="95"/>
              <a:t> </a:t>
            </a:r>
            <a:r>
              <a:t>1</a:t>
            </a:r>
            <a:r>
              <a:rPr spc="15"/>
              <a:t> </a:t>
            </a:r>
            <a:r>
              <a:rPr spc="-50"/>
              <a:t>-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307657" y="4910517"/>
            <a:ext cx="2085339" cy="1536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Fei-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Fei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Li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9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Ehsan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Adeli</a:t>
            </a: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90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Zane Durante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02859" y="1311973"/>
            <a:ext cx="223456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>
                <a:latin typeface="Calibri"/>
                <a:cs typeface="Calibri"/>
              </a:rPr>
              <a:t>Machine</a:t>
            </a:r>
            <a:r>
              <a:rPr sz="2400" spc="-9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Learning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60009" y="2007869"/>
            <a:ext cx="1094740" cy="7550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35" algn="ctr">
              <a:lnSpc>
                <a:spcPts val="2870"/>
              </a:lnSpc>
              <a:spcBef>
                <a:spcPts val="105"/>
              </a:spcBef>
            </a:pPr>
            <a:r>
              <a:rPr sz="2400" spc="-20">
                <a:latin typeface="Calibri"/>
                <a:cs typeface="Calibri"/>
              </a:rPr>
              <a:t>Deep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ts val="2870"/>
              </a:lnSpc>
            </a:pPr>
            <a:r>
              <a:rPr sz="2400" spc="-10">
                <a:latin typeface="Calibri"/>
                <a:cs typeface="Calibri"/>
              </a:rPr>
              <a:t>Learning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76425" y="2030031"/>
            <a:ext cx="1266190" cy="75438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257810" marR="5080" indent="-245745">
              <a:lnSpc>
                <a:spcPts val="2860"/>
              </a:lnSpc>
              <a:spcBef>
                <a:spcPts val="215"/>
              </a:spcBef>
            </a:pPr>
            <a:r>
              <a:rPr sz="2400" spc="-10">
                <a:latin typeface="Calibri"/>
                <a:cs typeface="Calibri"/>
              </a:rPr>
              <a:t>Computer Vision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183126" y="1811401"/>
            <a:ext cx="1168400" cy="1225550"/>
            <a:chOff x="4183126" y="1811401"/>
            <a:chExt cx="1168400" cy="1225550"/>
          </a:xfrm>
        </p:grpSpPr>
        <p:sp>
          <p:nvSpPr>
            <p:cNvPr id="3" name="object 3"/>
            <p:cNvSpPr/>
            <p:nvPr/>
          </p:nvSpPr>
          <p:spPr>
            <a:xfrm>
              <a:off x="4195826" y="1824101"/>
              <a:ext cx="1143000" cy="1200150"/>
            </a:xfrm>
            <a:custGeom>
              <a:avLst/>
              <a:gdLst/>
              <a:ahLst/>
              <a:cxnLst/>
              <a:rect l="l" t="t" r="r" b="b"/>
              <a:pathLst>
                <a:path w="1143000" h="1200150">
                  <a:moveTo>
                    <a:pt x="842645" y="0"/>
                  </a:moveTo>
                  <a:lnTo>
                    <a:pt x="648970" y="48513"/>
                  </a:lnTo>
                  <a:lnTo>
                    <a:pt x="500379" y="106680"/>
                  </a:lnTo>
                  <a:lnTo>
                    <a:pt x="296925" y="210185"/>
                  </a:lnTo>
                  <a:lnTo>
                    <a:pt x="145287" y="313690"/>
                  </a:lnTo>
                  <a:lnTo>
                    <a:pt x="28956" y="475488"/>
                  </a:lnTo>
                  <a:lnTo>
                    <a:pt x="0" y="595122"/>
                  </a:lnTo>
                  <a:lnTo>
                    <a:pt x="3175" y="676021"/>
                  </a:lnTo>
                  <a:lnTo>
                    <a:pt x="54863" y="802132"/>
                  </a:lnTo>
                  <a:lnTo>
                    <a:pt x="125857" y="883031"/>
                  </a:lnTo>
                  <a:lnTo>
                    <a:pt x="200151" y="954278"/>
                  </a:lnTo>
                  <a:lnTo>
                    <a:pt x="326009" y="1025398"/>
                  </a:lnTo>
                  <a:lnTo>
                    <a:pt x="535939" y="1135380"/>
                  </a:lnTo>
                  <a:lnTo>
                    <a:pt x="674751" y="1174242"/>
                  </a:lnTo>
                  <a:lnTo>
                    <a:pt x="749046" y="1200150"/>
                  </a:lnTo>
                  <a:lnTo>
                    <a:pt x="868426" y="1109472"/>
                  </a:lnTo>
                  <a:lnTo>
                    <a:pt x="968628" y="989838"/>
                  </a:lnTo>
                  <a:lnTo>
                    <a:pt x="1075182" y="831342"/>
                  </a:lnTo>
                  <a:lnTo>
                    <a:pt x="1120394" y="682498"/>
                  </a:lnTo>
                  <a:lnTo>
                    <a:pt x="1143000" y="562863"/>
                  </a:lnTo>
                  <a:lnTo>
                    <a:pt x="1126744" y="414019"/>
                  </a:lnTo>
                  <a:lnTo>
                    <a:pt x="1088009" y="304038"/>
                  </a:lnTo>
                  <a:lnTo>
                    <a:pt x="981456" y="142240"/>
                  </a:lnTo>
                  <a:lnTo>
                    <a:pt x="881379" y="32258"/>
                  </a:lnTo>
                  <a:lnTo>
                    <a:pt x="84264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195826" y="1824101"/>
              <a:ext cx="1143000" cy="1200150"/>
            </a:xfrm>
            <a:custGeom>
              <a:avLst/>
              <a:gdLst/>
              <a:ahLst/>
              <a:cxnLst/>
              <a:rect l="l" t="t" r="r" b="b"/>
              <a:pathLst>
                <a:path w="1143000" h="1200150">
                  <a:moveTo>
                    <a:pt x="842645" y="0"/>
                  </a:moveTo>
                  <a:lnTo>
                    <a:pt x="648970" y="48513"/>
                  </a:lnTo>
                  <a:lnTo>
                    <a:pt x="500379" y="106680"/>
                  </a:lnTo>
                  <a:lnTo>
                    <a:pt x="296925" y="210185"/>
                  </a:lnTo>
                  <a:lnTo>
                    <a:pt x="145287" y="313690"/>
                  </a:lnTo>
                  <a:lnTo>
                    <a:pt x="28956" y="475488"/>
                  </a:lnTo>
                  <a:lnTo>
                    <a:pt x="0" y="595122"/>
                  </a:lnTo>
                  <a:lnTo>
                    <a:pt x="3175" y="676021"/>
                  </a:lnTo>
                  <a:lnTo>
                    <a:pt x="54863" y="802132"/>
                  </a:lnTo>
                  <a:lnTo>
                    <a:pt x="125857" y="883031"/>
                  </a:lnTo>
                  <a:lnTo>
                    <a:pt x="200151" y="954278"/>
                  </a:lnTo>
                  <a:lnTo>
                    <a:pt x="326009" y="1025398"/>
                  </a:lnTo>
                  <a:lnTo>
                    <a:pt x="535939" y="1135380"/>
                  </a:lnTo>
                  <a:lnTo>
                    <a:pt x="674751" y="1174242"/>
                  </a:lnTo>
                  <a:lnTo>
                    <a:pt x="749046" y="1200150"/>
                  </a:lnTo>
                  <a:lnTo>
                    <a:pt x="868426" y="1109472"/>
                  </a:lnTo>
                  <a:lnTo>
                    <a:pt x="968628" y="989838"/>
                  </a:lnTo>
                  <a:lnTo>
                    <a:pt x="1075182" y="831342"/>
                  </a:lnTo>
                  <a:lnTo>
                    <a:pt x="1120394" y="682498"/>
                  </a:lnTo>
                  <a:lnTo>
                    <a:pt x="1143000" y="562863"/>
                  </a:lnTo>
                  <a:lnTo>
                    <a:pt x="1126744" y="414019"/>
                  </a:lnTo>
                  <a:lnTo>
                    <a:pt x="1088009" y="304038"/>
                  </a:lnTo>
                  <a:lnTo>
                    <a:pt x="981456" y="142240"/>
                  </a:lnTo>
                  <a:lnTo>
                    <a:pt x="881379" y="32258"/>
                  </a:lnTo>
                  <a:lnTo>
                    <a:pt x="842645" y="0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466583" y="146938"/>
            <a:ext cx="1172845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/>
              <a:t>This </a:t>
            </a:r>
            <a:r>
              <a:rPr sz="2400" spc="-20"/>
              <a:t>class</a:t>
            </a:r>
            <a:endParaRPr sz="2400"/>
          </a:p>
        </p:txBody>
      </p:sp>
      <p:grpSp>
        <p:nvGrpSpPr>
          <p:cNvPr id="6" name="object 6"/>
          <p:cNvGrpSpPr/>
          <p:nvPr/>
        </p:nvGrpSpPr>
        <p:grpSpPr>
          <a:xfrm>
            <a:off x="409575" y="238125"/>
            <a:ext cx="8324850" cy="4352925"/>
            <a:chOff x="409575" y="238125"/>
            <a:chExt cx="8324850" cy="4352925"/>
          </a:xfrm>
        </p:grpSpPr>
        <p:sp>
          <p:nvSpPr>
            <p:cNvPr id="7" name="object 7"/>
            <p:cNvSpPr/>
            <p:nvPr/>
          </p:nvSpPr>
          <p:spPr>
            <a:xfrm>
              <a:off x="4867275" y="590550"/>
              <a:ext cx="3197225" cy="2261235"/>
            </a:xfrm>
            <a:custGeom>
              <a:avLst/>
              <a:gdLst/>
              <a:ahLst/>
              <a:cxnLst/>
              <a:rect l="l" t="t" r="r" b="b"/>
              <a:pathLst>
                <a:path w="3197225" h="2261235">
                  <a:moveTo>
                    <a:pt x="114300" y="2146554"/>
                  </a:moveTo>
                  <a:lnTo>
                    <a:pt x="0" y="2203704"/>
                  </a:lnTo>
                  <a:lnTo>
                    <a:pt x="114300" y="2260854"/>
                  </a:lnTo>
                  <a:lnTo>
                    <a:pt x="114300" y="2222754"/>
                  </a:lnTo>
                  <a:lnTo>
                    <a:pt x="95250" y="2222754"/>
                  </a:lnTo>
                  <a:lnTo>
                    <a:pt x="95250" y="2184654"/>
                  </a:lnTo>
                  <a:lnTo>
                    <a:pt x="114300" y="2184654"/>
                  </a:lnTo>
                  <a:lnTo>
                    <a:pt x="114300" y="2146554"/>
                  </a:lnTo>
                  <a:close/>
                </a:path>
                <a:path w="3197225" h="2261235">
                  <a:moveTo>
                    <a:pt x="114300" y="2184654"/>
                  </a:moveTo>
                  <a:lnTo>
                    <a:pt x="95250" y="2184654"/>
                  </a:lnTo>
                  <a:lnTo>
                    <a:pt x="95250" y="2222754"/>
                  </a:lnTo>
                  <a:lnTo>
                    <a:pt x="114300" y="2222754"/>
                  </a:lnTo>
                  <a:lnTo>
                    <a:pt x="114300" y="2184654"/>
                  </a:lnTo>
                  <a:close/>
                </a:path>
                <a:path w="3197225" h="2261235">
                  <a:moveTo>
                    <a:pt x="3158998" y="2184654"/>
                  </a:moveTo>
                  <a:lnTo>
                    <a:pt x="114300" y="2184654"/>
                  </a:lnTo>
                  <a:lnTo>
                    <a:pt x="114300" y="2222754"/>
                  </a:lnTo>
                  <a:lnTo>
                    <a:pt x="3178048" y="2222754"/>
                  </a:lnTo>
                  <a:lnTo>
                    <a:pt x="3185471" y="2221259"/>
                  </a:lnTo>
                  <a:lnTo>
                    <a:pt x="3191525" y="2217181"/>
                  </a:lnTo>
                  <a:lnTo>
                    <a:pt x="3195603" y="2211127"/>
                  </a:lnTo>
                  <a:lnTo>
                    <a:pt x="3197098" y="2203704"/>
                  </a:lnTo>
                  <a:lnTo>
                    <a:pt x="3158998" y="2203704"/>
                  </a:lnTo>
                  <a:lnTo>
                    <a:pt x="3158998" y="2184654"/>
                  </a:lnTo>
                  <a:close/>
                </a:path>
                <a:path w="3197225" h="2261235">
                  <a:moveTo>
                    <a:pt x="3197098" y="0"/>
                  </a:moveTo>
                  <a:lnTo>
                    <a:pt x="3158998" y="0"/>
                  </a:lnTo>
                  <a:lnTo>
                    <a:pt x="3158998" y="2203704"/>
                  </a:lnTo>
                  <a:lnTo>
                    <a:pt x="3178048" y="2184654"/>
                  </a:lnTo>
                  <a:lnTo>
                    <a:pt x="3197098" y="2184654"/>
                  </a:lnTo>
                  <a:lnTo>
                    <a:pt x="3197098" y="0"/>
                  </a:lnTo>
                  <a:close/>
                </a:path>
                <a:path w="3197225" h="2261235">
                  <a:moveTo>
                    <a:pt x="3197098" y="2184654"/>
                  </a:moveTo>
                  <a:lnTo>
                    <a:pt x="3178048" y="2184654"/>
                  </a:lnTo>
                  <a:lnTo>
                    <a:pt x="3158998" y="2203704"/>
                  </a:lnTo>
                  <a:lnTo>
                    <a:pt x="3197098" y="2203704"/>
                  </a:lnTo>
                  <a:lnTo>
                    <a:pt x="3197098" y="2184654"/>
                  </a:lnTo>
                  <a:close/>
                </a:path>
              </a:pathLst>
            </a:custGeom>
            <a:solidFill>
              <a:srgbClr val="C4BC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9575" y="238125"/>
              <a:ext cx="8324850" cy="4352925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3298825" y="366649"/>
            <a:ext cx="2545715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>
                <a:latin typeface="Calibri"/>
                <a:cs typeface="Calibri"/>
              </a:rPr>
              <a:t>Artificial</a:t>
            </a:r>
            <a:r>
              <a:rPr sz="2400" spc="-4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Intelligence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325359" y="4618672"/>
            <a:ext cx="1741170" cy="158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95"/>
              </a:lnSpc>
            </a:pPr>
            <a:r>
              <a:rPr sz="1050">
                <a:latin typeface="Calibri"/>
                <a:cs typeface="Calibri"/>
              </a:rPr>
              <a:t>Slide</a:t>
            </a:r>
            <a:r>
              <a:rPr sz="1050" spc="-30">
                <a:latin typeface="Calibri"/>
                <a:cs typeface="Calibri"/>
              </a:rPr>
              <a:t> </a:t>
            </a:r>
            <a:r>
              <a:rPr sz="1050">
                <a:latin typeface="Calibri"/>
                <a:cs typeface="Calibri"/>
              </a:rPr>
              <a:t>inspiration:</a:t>
            </a:r>
            <a:r>
              <a:rPr sz="1050" spc="-10">
                <a:latin typeface="Calibri"/>
                <a:cs typeface="Calibri"/>
              </a:rPr>
              <a:t> Justin</a:t>
            </a:r>
            <a:r>
              <a:rPr sz="1050" spc="-50">
                <a:latin typeface="Calibri"/>
                <a:cs typeface="Calibri"/>
              </a:rPr>
              <a:t> </a:t>
            </a:r>
            <a:r>
              <a:rPr sz="1050" spc="-10">
                <a:latin typeface="Calibri"/>
                <a:cs typeface="Calibri"/>
              </a:rPr>
              <a:t>Johnson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7</a:t>
            </a:fld>
            <a:endParaRPr spc="-25"/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>
              <a:lnSpc>
                <a:spcPts val="1810"/>
              </a:lnSpc>
            </a:pPr>
            <a:r>
              <a:t>April 1,</a:t>
            </a:r>
            <a:r>
              <a:rPr spc="-35"/>
              <a:t> </a:t>
            </a:r>
            <a:r>
              <a:rPr spc="-20"/>
              <a:t>2025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t>CS231n:</a:t>
            </a:r>
            <a:r>
              <a:rPr spc="-5"/>
              <a:t> </a:t>
            </a:r>
            <a:r>
              <a:t>Lecture</a:t>
            </a:r>
            <a:r>
              <a:rPr spc="95"/>
              <a:t> </a:t>
            </a:r>
            <a:r>
              <a:t>1</a:t>
            </a:r>
            <a:r>
              <a:rPr spc="15"/>
              <a:t> </a:t>
            </a:r>
            <a:r>
              <a:rPr spc="-50"/>
              <a:t>-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307657" y="4910517"/>
            <a:ext cx="2085339" cy="1536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Fei-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Fei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Li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9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Ehsan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Adeli</a:t>
            </a: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90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Zane Durante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02859" y="1311973"/>
            <a:ext cx="223456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>
                <a:latin typeface="Calibri"/>
                <a:cs typeface="Calibri"/>
              </a:rPr>
              <a:t>Machine</a:t>
            </a:r>
            <a:r>
              <a:rPr sz="2400" spc="-9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Learning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60009" y="2007869"/>
            <a:ext cx="1094740" cy="7550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35" algn="ctr">
              <a:lnSpc>
                <a:spcPts val="2870"/>
              </a:lnSpc>
              <a:spcBef>
                <a:spcPts val="105"/>
              </a:spcBef>
            </a:pPr>
            <a:r>
              <a:rPr sz="2400" spc="-20">
                <a:latin typeface="Calibri"/>
                <a:cs typeface="Calibri"/>
              </a:rPr>
              <a:t>Deep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ts val="2870"/>
              </a:lnSpc>
            </a:pPr>
            <a:r>
              <a:rPr sz="2400" spc="-10">
                <a:latin typeface="Calibri"/>
                <a:cs typeface="Calibri"/>
              </a:rPr>
              <a:t>Learning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76425" y="2030031"/>
            <a:ext cx="1266190" cy="75438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257810" marR="5080" indent="-245745">
              <a:lnSpc>
                <a:spcPts val="2860"/>
              </a:lnSpc>
              <a:spcBef>
                <a:spcPts val="215"/>
              </a:spcBef>
            </a:pPr>
            <a:r>
              <a:rPr sz="2400" spc="-10">
                <a:latin typeface="Calibri"/>
                <a:cs typeface="Calibri"/>
              </a:rPr>
              <a:t>Computer Vision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183126" y="1811401"/>
            <a:ext cx="1168400" cy="1225550"/>
            <a:chOff x="4183126" y="1811401"/>
            <a:chExt cx="1168400" cy="1225550"/>
          </a:xfrm>
        </p:grpSpPr>
        <p:sp>
          <p:nvSpPr>
            <p:cNvPr id="3" name="object 3"/>
            <p:cNvSpPr/>
            <p:nvPr/>
          </p:nvSpPr>
          <p:spPr>
            <a:xfrm>
              <a:off x="4195826" y="1824101"/>
              <a:ext cx="1143000" cy="1200150"/>
            </a:xfrm>
            <a:custGeom>
              <a:avLst/>
              <a:gdLst/>
              <a:ahLst/>
              <a:cxnLst/>
              <a:rect l="l" t="t" r="r" b="b"/>
              <a:pathLst>
                <a:path w="1143000" h="1200150">
                  <a:moveTo>
                    <a:pt x="842645" y="0"/>
                  </a:moveTo>
                  <a:lnTo>
                    <a:pt x="648970" y="48513"/>
                  </a:lnTo>
                  <a:lnTo>
                    <a:pt x="500379" y="106680"/>
                  </a:lnTo>
                  <a:lnTo>
                    <a:pt x="296925" y="210185"/>
                  </a:lnTo>
                  <a:lnTo>
                    <a:pt x="145287" y="313690"/>
                  </a:lnTo>
                  <a:lnTo>
                    <a:pt x="28956" y="475488"/>
                  </a:lnTo>
                  <a:lnTo>
                    <a:pt x="0" y="595122"/>
                  </a:lnTo>
                  <a:lnTo>
                    <a:pt x="3175" y="676021"/>
                  </a:lnTo>
                  <a:lnTo>
                    <a:pt x="54863" y="802132"/>
                  </a:lnTo>
                  <a:lnTo>
                    <a:pt x="125857" y="883031"/>
                  </a:lnTo>
                  <a:lnTo>
                    <a:pt x="200151" y="954278"/>
                  </a:lnTo>
                  <a:lnTo>
                    <a:pt x="326009" y="1025398"/>
                  </a:lnTo>
                  <a:lnTo>
                    <a:pt x="535939" y="1135380"/>
                  </a:lnTo>
                  <a:lnTo>
                    <a:pt x="674751" y="1174242"/>
                  </a:lnTo>
                  <a:lnTo>
                    <a:pt x="749046" y="1200150"/>
                  </a:lnTo>
                  <a:lnTo>
                    <a:pt x="868426" y="1109472"/>
                  </a:lnTo>
                  <a:lnTo>
                    <a:pt x="968628" y="989838"/>
                  </a:lnTo>
                  <a:lnTo>
                    <a:pt x="1075182" y="831342"/>
                  </a:lnTo>
                  <a:lnTo>
                    <a:pt x="1120394" y="682498"/>
                  </a:lnTo>
                  <a:lnTo>
                    <a:pt x="1143000" y="562863"/>
                  </a:lnTo>
                  <a:lnTo>
                    <a:pt x="1126744" y="414019"/>
                  </a:lnTo>
                  <a:lnTo>
                    <a:pt x="1088009" y="304038"/>
                  </a:lnTo>
                  <a:lnTo>
                    <a:pt x="981456" y="142240"/>
                  </a:lnTo>
                  <a:lnTo>
                    <a:pt x="881379" y="32258"/>
                  </a:lnTo>
                  <a:lnTo>
                    <a:pt x="84264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195826" y="1824101"/>
              <a:ext cx="1143000" cy="1200150"/>
            </a:xfrm>
            <a:custGeom>
              <a:avLst/>
              <a:gdLst/>
              <a:ahLst/>
              <a:cxnLst/>
              <a:rect l="l" t="t" r="r" b="b"/>
              <a:pathLst>
                <a:path w="1143000" h="1200150">
                  <a:moveTo>
                    <a:pt x="842645" y="0"/>
                  </a:moveTo>
                  <a:lnTo>
                    <a:pt x="648970" y="48513"/>
                  </a:lnTo>
                  <a:lnTo>
                    <a:pt x="500379" y="106680"/>
                  </a:lnTo>
                  <a:lnTo>
                    <a:pt x="296925" y="210185"/>
                  </a:lnTo>
                  <a:lnTo>
                    <a:pt x="145287" y="313690"/>
                  </a:lnTo>
                  <a:lnTo>
                    <a:pt x="28956" y="475488"/>
                  </a:lnTo>
                  <a:lnTo>
                    <a:pt x="0" y="595122"/>
                  </a:lnTo>
                  <a:lnTo>
                    <a:pt x="3175" y="676021"/>
                  </a:lnTo>
                  <a:lnTo>
                    <a:pt x="54863" y="802132"/>
                  </a:lnTo>
                  <a:lnTo>
                    <a:pt x="125857" y="883031"/>
                  </a:lnTo>
                  <a:lnTo>
                    <a:pt x="200151" y="954278"/>
                  </a:lnTo>
                  <a:lnTo>
                    <a:pt x="326009" y="1025398"/>
                  </a:lnTo>
                  <a:lnTo>
                    <a:pt x="535939" y="1135380"/>
                  </a:lnTo>
                  <a:lnTo>
                    <a:pt x="674751" y="1174242"/>
                  </a:lnTo>
                  <a:lnTo>
                    <a:pt x="749046" y="1200150"/>
                  </a:lnTo>
                  <a:lnTo>
                    <a:pt x="868426" y="1109472"/>
                  </a:lnTo>
                  <a:lnTo>
                    <a:pt x="968628" y="989838"/>
                  </a:lnTo>
                  <a:lnTo>
                    <a:pt x="1075182" y="831342"/>
                  </a:lnTo>
                  <a:lnTo>
                    <a:pt x="1120394" y="682498"/>
                  </a:lnTo>
                  <a:lnTo>
                    <a:pt x="1143000" y="562863"/>
                  </a:lnTo>
                  <a:lnTo>
                    <a:pt x="1126744" y="414019"/>
                  </a:lnTo>
                  <a:lnTo>
                    <a:pt x="1088009" y="304038"/>
                  </a:lnTo>
                  <a:lnTo>
                    <a:pt x="981456" y="142240"/>
                  </a:lnTo>
                  <a:lnTo>
                    <a:pt x="881379" y="32258"/>
                  </a:lnTo>
                  <a:lnTo>
                    <a:pt x="842645" y="0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466583" y="146938"/>
            <a:ext cx="1172845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/>
              <a:t>This </a:t>
            </a:r>
            <a:r>
              <a:rPr sz="2400" spc="-20"/>
              <a:t>class</a:t>
            </a:r>
            <a:endParaRPr sz="2400"/>
          </a:p>
        </p:txBody>
      </p:sp>
      <p:grpSp>
        <p:nvGrpSpPr>
          <p:cNvPr id="6" name="object 6"/>
          <p:cNvGrpSpPr/>
          <p:nvPr/>
        </p:nvGrpSpPr>
        <p:grpSpPr>
          <a:xfrm>
            <a:off x="271668" y="238125"/>
            <a:ext cx="8463280" cy="4352925"/>
            <a:chOff x="271668" y="238125"/>
            <a:chExt cx="8463280" cy="4352925"/>
          </a:xfrm>
        </p:grpSpPr>
        <p:sp>
          <p:nvSpPr>
            <p:cNvPr id="7" name="object 7"/>
            <p:cNvSpPr/>
            <p:nvPr/>
          </p:nvSpPr>
          <p:spPr>
            <a:xfrm>
              <a:off x="4867274" y="590550"/>
              <a:ext cx="3197225" cy="2261235"/>
            </a:xfrm>
            <a:custGeom>
              <a:avLst/>
              <a:gdLst/>
              <a:ahLst/>
              <a:cxnLst/>
              <a:rect l="l" t="t" r="r" b="b"/>
              <a:pathLst>
                <a:path w="3197225" h="2261235">
                  <a:moveTo>
                    <a:pt x="114300" y="2146554"/>
                  </a:moveTo>
                  <a:lnTo>
                    <a:pt x="0" y="2203704"/>
                  </a:lnTo>
                  <a:lnTo>
                    <a:pt x="114300" y="2260854"/>
                  </a:lnTo>
                  <a:lnTo>
                    <a:pt x="114300" y="2222754"/>
                  </a:lnTo>
                  <a:lnTo>
                    <a:pt x="95250" y="2222754"/>
                  </a:lnTo>
                  <a:lnTo>
                    <a:pt x="95250" y="2184654"/>
                  </a:lnTo>
                  <a:lnTo>
                    <a:pt x="114300" y="2184654"/>
                  </a:lnTo>
                  <a:lnTo>
                    <a:pt x="114300" y="2146554"/>
                  </a:lnTo>
                  <a:close/>
                </a:path>
                <a:path w="3197225" h="2261235">
                  <a:moveTo>
                    <a:pt x="114300" y="2184654"/>
                  </a:moveTo>
                  <a:lnTo>
                    <a:pt x="95250" y="2184654"/>
                  </a:lnTo>
                  <a:lnTo>
                    <a:pt x="95250" y="2222754"/>
                  </a:lnTo>
                  <a:lnTo>
                    <a:pt x="114300" y="2222754"/>
                  </a:lnTo>
                  <a:lnTo>
                    <a:pt x="114300" y="2184654"/>
                  </a:lnTo>
                  <a:close/>
                </a:path>
                <a:path w="3197225" h="2261235">
                  <a:moveTo>
                    <a:pt x="3158998" y="2184654"/>
                  </a:moveTo>
                  <a:lnTo>
                    <a:pt x="114300" y="2184654"/>
                  </a:lnTo>
                  <a:lnTo>
                    <a:pt x="114300" y="2222754"/>
                  </a:lnTo>
                  <a:lnTo>
                    <a:pt x="3178048" y="2222754"/>
                  </a:lnTo>
                  <a:lnTo>
                    <a:pt x="3185471" y="2221259"/>
                  </a:lnTo>
                  <a:lnTo>
                    <a:pt x="3191525" y="2217181"/>
                  </a:lnTo>
                  <a:lnTo>
                    <a:pt x="3195603" y="2211127"/>
                  </a:lnTo>
                  <a:lnTo>
                    <a:pt x="3197098" y="2203704"/>
                  </a:lnTo>
                  <a:lnTo>
                    <a:pt x="3158998" y="2203704"/>
                  </a:lnTo>
                  <a:lnTo>
                    <a:pt x="3158998" y="2184654"/>
                  </a:lnTo>
                  <a:close/>
                </a:path>
                <a:path w="3197225" h="2261235">
                  <a:moveTo>
                    <a:pt x="3197098" y="0"/>
                  </a:moveTo>
                  <a:lnTo>
                    <a:pt x="3158998" y="0"/>
                  </a:lnTo>
                  <a:lnTo>
                    <a:pt x="3158998" y="2203704"/>
                  </a:lnTo>
                  <a:lnTo>
                    <a:pt x="3178048" y="2184654"/>
                  </a:lnTo>
                  <a:lnTo>
                    <a:pt x="3197098" y="2184654"/>
                  </a:lnTo>
                  <a:lnTo>
                    <a:pt x="3197098" y="0"/>
                  </a:lnTo>
                  <a:close/>
                </a:path>
                <a:path w="3197225" h="2261235">
                  <a:moveTo>
                    <a:pt x="3197098" y="2184654"/>
                  </a:moveTo>
                  <a:lnTo>
                    <a:pt x="3178048" y="2184654"/>
                  </a:lnTo>
                  <a:lnTo>
                    <a:pt x="3158998" y="2203704"/>
                  </a:lnTo>
                  <a:lnTo>
                    <a:pt x="3197098" y="2203704"/>
                  </a:lnTo>
                  <a:lnTo>
                    <a:pt x="3197098" y="2184654"/>
                  </a:lnTo>
                  <a:close/>
                </a:path>
              </a:pathLst>
            </a:custGeom>
            <a:solidFill>
              <a:srgbClr val="C4BC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1668" y="238125"/>
              <a:ext cx="8462756" cy="4352925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3298825" y="366649"/>
            <a:ext cx="2545715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>
                <a:latin typeface="Calibri"/>
                <a:cs typeface="Calibri"/>
              </a:rPr>
              <a:t>Artificial</a:t>
            </a:r>
            <a:r>
              <a:rPr sz="2400" spc="-4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Intelligence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325359" y="4618672"/>
            <a:ext cx="1741170" cy="158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95"/>
              </a:lnSpc>
            </a:pPr>
            <a:r>
              <a:rPr sz="1050">
                <a:latin typeface="Calibri"/>
                <a:cs typeface="Calibri"/>
              </a:rPr>
              <a:t>Slide</a:t>
            </a:r>
            <a:r>
              <a:rPr sz="1050" spc="-30">
                <a:latin typeface="Calibri"/>
                <a:cs typeface="Calibri"/>
              </a:rPr>
              <a:t> </a:t>
            </a:r>
            <a:r>
              <a:rPr sz="1050">
                <a:latin typeface="Calibri"/>
                <a:cs typeface="Calibri"/>
              </a:rPr>
              <a:t>inspiration:</a:t>
            </a:r>
            <a:r>
              <a:rPr sz="1050" spc="-10">
                <a:latin typeface="Calibri"/>
                <a:cs typeface="Calibri"/>
              </a:rPr>
              <a:t> Justin</a:t>
            </a:r>
            <a:r>
              <a:rPr sz="1050" spc="-50">
                <a:latin typeface="Calibri"/>
                <a:cs typeface="Calibri"/>
              </a:rPr>
              <a:t> </a:t>
            </a:r>
            <a:r>
              <a:rPr sz="1050" spc="-10">
                <a:latin typeface="Calibri"/>
                <a:cs typeface="Calibri"/>
              </a:rPr>
              <a:t>Johnson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8</a:t>
            </a:fld>
            <a:endParaRPr spc="-25"/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>
              <a:lnSpc>
                <a:spcPts val="1810"/>
              </a:lnSpc>
            </a:pPr>
            <a:r>
              <a:t>April 1,</a:t>
            </a:r>
            <a:r>
              <a:rPr spc="-35"/>
              <a:t> </a:t>
            </a:r>
            <a:r>
              <a:rPr spc="-20"/>
              <a:t>2025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t>CS231n:</a:t>
            </a:r>
            <a:r>
              <a:rPr spc="-5"/>
              <a:t> </a:t>
            </a:r>
            <a:r>
              <a:t>Lecture</a:t>
            </a:r>
            <a:r>
              <a:rPr spc="95"/>
              <a:t> </a:t>
            </a:r>
            <a:r>
              <a:t>1</a:t>
            </a:r>
            <a:r>
              <a:rPr spc="15"/>
              <a:t> </a:t>
            </a:r>
            <a:r>
              <a:rPr spc="-50"/>
              <a:t>-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307657" y="4910517"/>
            <a:ext cx="2085339" cy="1536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Fei-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Fei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Li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9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Ehsan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Adeli</a:t>
            </a: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90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Zane Durante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02859" y="1311973"/>
            <a:ext cx="223456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>
                <a:latin typeface="Calibri"/>
                <a:cs typeface="Calibri"/>
              </a:rPr>
              <a:t>Machine</a:t>
            </a:r>
            <a:r>
              <a:rPr sz="2400" spc="-9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Learning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60009" y="2007869"/>
            <a:ext cx="1094740" cy="7550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35" algn="ctr">
              <a:lnSpc>
                <a:spcPts val="2870"/>
              </a:lnSpc>
              <a:spcBef>
                <a:spcPts val="105"/>
              </a:spcBef>
            </a:pPr>
            <a:r>
              <a:rPr sz="2400" spc="-20">
                <a:latin typeface="Calibri"/>
                <a:cs typeface="Calibri"/>
              </a:rPr>
              <a:t>Deep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ts val="2870"/>
              </a:lnSpc>
            </a:pPr>
            <a:r>
              <a:rPr sz="2400" spc="-10">
                <a:latin typeface="Calibri"/>
                <a:cs typeface="Calibri"/>
              </a:rPr>
              <a:t>Learning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76425" y="2030031"/>
            <a:ext cx="1266190" cy="75438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257810" marR="5080" indent="-245745">
              <a:lnSpc>
                <a:spcPts val="2860"/>
              </a:lnSpc>
              <a:spcBef>
                <a:spcPts val="215"/>
              </a:spcBef>
            </a:pPr>
            <a:r>
              <a:rPr sz="2400" spc="-10">
                <a:latin typeface="Calibri"/>
                <a:cs typeface="Calibri"/>
              </a:rPr>
              <a:t>Computer Vision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811401"/>
            <a:ext cx="9149080" cy="3336925"/>
            <a:chOff x="0" y="1811401"/>
            <a:chExt cx="9149080" cy="3336925"/>
          </a:xfrm>
        </p:grpSpPr>
        <p:sp>
          <p:nvSpPr>
            <p:cNvPr id="3" name="object 3"/>
            <p:cNvSpPr/>
            <p:nvPr/>
          </p:nvSpPr>
          <p:spPr>
            <a:xfrm>
              <a:off x="4195825" y="1824101"/>
              <a:ext cx="1143000" cy="1200150"/>
            </a:xfrm>
            <a:custGeom>
              <a:avLst/>
              <a:gdLst/>
              <a:ahLst/>
              <a:cxnLst/>
              <a:rect l="l" t="t" r="r" b="b"/>
              <a:pathLst>
                <a:path w="1143000" h="1200150">
                  <a:moveTo>
                    <a:pt x="842645" y="0"/>
                  </a:moveTo>
                  <a:lnTo>
                    <a:pt x="648970" y="48513"/>
                  </a:lnTo>
                  <a:lnTo>
                    <a:pt x="500379" y="106680"/>
                  </a:lnTo>
                  <a:lnTo>
                    <a:pt x="296925" y="210185"/>
                  </a:lnTo>
                  <a:lnTo>
                    <a:pt x="145287" y="313690"/>
                  </a:lnTo>
                  <a:lnTo>
                    <a:pt x="28956" y="475488"/>
                  </a:lnTo>
                  <a:lnTo>
                    <a:pt x="0" y="595122"/>
                  </a:lnTo>
                  <a:lnTo>
                    <a:pt x="3175" y="676021"/>
                  </a:lnTo>
                  <a:lnTo>
                    <a:pt x="54863" y="802132"/>
                  </a:lnTo>
                  <a:lnTo>
                    <a:pt x="125857" y="883031"/>
                  </a:lnTo>
                  <a:lnTo>
                    <a:pt x="200151" y="954278"/>
                  </a:lnTo>
                  <a:lnTo>
                    <a:pt x="326009" y="1025398"/>
                  </a:lnTo>
                  <a:lnTo>
                    <a:pt x="535939" y="1135380"/>
                  </a:lnTo>
                  <a:lnTo>
                    <a:pt x="674751" y="1174242"/>
                  </a:lnTo>
                  <a:lnTo>
                    <a:pt x="749046" y="1200150"/>
                  </a:lnTo>
                  <a:lnTo>
                    <a:pt x="868426" y="1109472"/>
                  </a:lnTo>
                  <a:lnTo>
                    <a:pt x="968628" y="989838"/>
                  </a:lnTo>
                  <a:lnTo>
                    <a:pt x="1075182" y="831342"/>
                  </a:lnTo>
                  <a:lnTo>
                    <a:pt x="1120394" y="682498"/>
                  </a:lnTo>
                  <a:lnTo>
                    <a:pt x="1143000" y="562863"/>
                  </a:lnTo>
                  <a:lnTo>
                    <a:pt x="1126744" y="414019"/>
                  </a:lnTo>
                  <a:lnTo>
                    <a:pt x="1088009" y="304038"/>
                  </a:lnTo>
                  <a:lnTo>
                    <a:pt x="981456" y="142240"/>
                  </a:lnTo>
                  <a:lnTo>
                    <a:pt x="881379" y="32258"/>
                  </a:lnTo>
                  <a:lnTo>
                    <a:pt x="84264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195825" y="1824101"/>
              <a:ext cx="1143000" cy="1200150"/>
            </a:xfrm>
            <a:custGeom>
              <a:avLst/>
              <a:gdLst/>
              <a:ahLst/>
              <a:cxnLst/>
              <a:rect l="l" t="t" r="r" b="b"/>
              <a:pathLst>
                <a:path w="1143000" h="1200150">
                  <a:moveTo>
                    <a:pt x="842645" y="0"/>
                  </a:moveTo>
                  <a:lnTo>
                    <a:pt x="648970" y="48513"/>
                  </a:lnTo>
                  <a:lnTo>
                    <a:pt x="500379" y="106680"/>
                  </a:lnTo>
                  <a:lnTo>
                    <a:pt x="296925" y="210185"/>
                  </a:lnTo>
                  <a:lnTo>
                    <a:pt x="145287" y="313690"/>
                  </a:lnTo>
                  <a:lnTo>
                    <a:pt x="28956" y="475488"/>
                  </a:lnTo>
                  <a:lnTo>
                    <a:pt x="0" y="595122"/>
                  </a:lnTo>
                  <a:lnTo>
                    <a:pt x="3175" y="676021"/>
                  </a:lnTo>
                  <a:lnTo>
                    <a:pt x="54863" y="802132"/>
                  </a:lnTo>
                  <a:lnTo>
                    <a:pt x="125857" y="883031"/>
                  </a:lnTo>
                  <a:lnTo>
                    <a:pt x="200151" y="954278"/>
                  </a:lnTo>
                  <a:lnTo>
                    <a:pt x="326009" y="1025398"/>
                  </a:lnTo>
                  <a:lnTo>
                    <a:pt x="535939" y="1135380"/>
                  </a:lnTo>
                  <a:lnTo>
                    <a:pt x="674751" y="1174242"/>
                  </a:lnTo>
                  <a:lnTo>
                    <a:pt x="749046" y="1200150"/>
                  </a:lnTo>
                  <a:lnTo>
                    <a:pt x="868426" y="1109472"/>
                  </a:lnTo>
                  <a:lnTo>
                    <a:pt x="968628" y="989838"/>
                  </a:lnTo>
                  <a:lnTo>
                    <a:pt x="1075182" y="831342"/>
                  </a:lnTo>
                  <a:lnTo>
                    <a:pt x="1120394" y="682498"/>
                  </a:lnTo>
                  <a:lnTo>
                    <a:pt x="1143000" y="562863"/>
                  </a:lnTo>
                  <a:lnTo>
                    <a:pt x="1126744" y="414019"/>
                  </a:lnTo>
                  <a:lnTo>
                    <a:pt x="1088009" y="304038"/>
                  </a:lnTo>
                  <a:lnTo>
                    <a:pt x="981456" y="142240"/>
                  </a:lnTo>
                  <a:lnTo>
                    <a:pt x="881379" y="32258"/>
                  </a:lnTo>
                  <a:lnTo>
                    <a:pt x="842645" y="0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466583" y="146938"/>
            <a:ext cx="1172845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/>
              <a:t>This </a:t>
            </a:r>
            <a:r>
              <a:rPr sz="2400" spc="-20"/>
              <a:t>class</a:t>
            </a:r>
            <a:endParaRPr sz="2400"/>
          </a:p>
        </p:txBody>
      </p:sp>
      <p:grpSp>
        <p:nvGrpSpPr>
          <p:cNvPr id="6" name="object 6"/>
          <p:cNvGrpSpPr/>
          <p:nvPr/>
        </p:nvGrpSpPr>
        <p:grpSpPr>
          <a:xfrm>
            <a:off x="271668" y="238125"/>
            <a:ext cx="8463280" cy="4352925"/>
            <a:chOff x="271668" y="238125"/>
            <a:chExt cx="8463280" cy="4352925"/>
          </a:xfrm>
        </p:grpSpPr>
        <p:sp>
          <p:nvSpPr>
            <p:cNvPr id="7" name="object 7"/>
            <p:cNvSpPr/>
            <p:nvPr/>
          </p:nvSpPr>
          <p:spPr>
            <a:xfrm>
              <a:off x="4867274" y="590550"/>
              <a:ext cx="3197225" cy="2261235"/>
            </a:xfrm>
            <a:custGeom>
              <a:avLst/>
              <a:gdLst/>
              <a:ahLst/>
              <a:cxnLst/>
              <a:rect l="l" t="t" r="r" b="b"/>
              <a:pathLst>
                <a:path w="3197225" h="2261235">
                  <a:moveTo>
                    <a:pt x="114300" y="2146554"/>
                  </a:moveTo>
                  <a:lnTo>
                    <a:pt x="0" y="2203704"/>
                  </a:lnTo>
                  <a:lnTo>
                    <a:pt x="114300" y="2260854"/>
                  </a:lnTo>
                  <a:lnTo>
                    <a:pt x="114300" y="2222754"/>
                  </a:lnTo>
                  <a:lnTo>
                    <a:pt x="95250" y="2222754"/>
                  </a:lnTo>
                  <a:lnTo>
                    <a:pt x="95250" y="2184654"/>
                  </a:lnTo>
                  <a:lnTo>
                    <a:pt x="114300" y="2184654"/>
                  </a:lnTo>
                  <a:lnTo>
                    <a:pt x="114300" y="2146554"/>
                  </a:lnTo>
                  <a:close/>
                </a:path>
                <a:path w="3197225" h="2261235">
                  <a:moveTo>
                    <a:pt x="114300" y="2184654"/>
                  </a:moveTo>
                  <a:lnTo>
                    <a:pt x="95250" y="2184654"/>
                  </a:lnTo>
                  <a:lnTo>
                    <a:pt x="95250" y="2222754"/>
                  </a:lnTo>
                  <a:lnTo>
                    <a:pt x="114300" y="2222754"/>
                  </a:lnTo>
                  <a:lnTo>
                    <a:pt x="114300" y="2184654"/>
                  </a:lnTo>
                  <a:close/>
                </a:path>
                <a:path w="3197225" h="2261235">
                  <a:moveTo>
                    <a:pt x="3158998" y="2184654"/>
                  </a:moveTo>
                  <a:lnTo>
                    <a:pt x="114300" y="2184654"/>
                  </a:lnTo>
                  <a:lnTo>
                    <a:pt x="114300" y="2222754"/>
                  </a:lnTo>
                  <a:lnTo>
                    <a:pt x="3178048" y="2222754"/>
                  </a:lnTo>
                  <a:lnTo>
                    <a:pt x="3185471" y="2221259"/>
                  </a:lnTo>
                  <a:lnTo>
                    <a:pt x="3191525" y="2217181"/>
                  </a:lnTo>
                  <a:lnTo>
                    <a:pt x="3195603" y="2211127"/>
                  </a:lnTo>
                  <a:lnTo>
                    <a:pt x="3197098" y="2203704"/>
                  </a:lnTo>
                  <a:lnTo>
                    <a:pt x="3158998" y="2203704"/>
                  </a:lnTo>
                  <a:lnTo>
                    <a:pt x="3158998" y="2184654"/>
                  </a:lnTo>
                  <a:close/>
                </a:path>
                <a:path w="3197225" h="2261235">
                  <a:moveTo>
                    <a:pt x="3197098" y="0"/>
                  </a:moveTo>
                  <a:lnTo>
                    <a:pt x="3158998" y="0"/>
                  </a:lnTo>
                  <a:lnTo>
                    <a:pt x="3158998" y="2203704"/>
                  </a:lnTo>
                  <a:lnTo>
                    <a:pt x="3178048" y="2184654"/>
                  </a:lnTo>
                  <a:lnTo>
                    <a:pt x="3197098" y="2184654"/>
                  </a:lnTo>
                  <a:lnTo>
                    <a:pt x="3197098" y="0"/>
                  </a:lnTo>
                  <a:close/>
                </a:path>
                <a:path w="3197225" h="2261235">
                  <a:moveTo>
                    <a:pt x="3197098" y="2184654"/>
                  </a:moveTo>
                  <a:lnTo>
                    <a:pt x="3178048" y="2184654"/>
                  </a:lnTo>
                  <a:lnTo>
                    <a:pt x="3158998" y="2203704"/>
                  </a:lnTo>
                  <a:lnTo>
                    <a:pt x="3197098" y="2203704"/>
                  </a:lnTo>
                  <a:lnTo>
                    <a:pt x="3197098" y="2184654"/>
                  </a:lnTo>
                  <a:close/>
                </a:path>
              </a:pathLst>
            </a:custGeom>
            <a:solidFill>
              <a:srgbClr val="C4BC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1668" y="238125"/>
              <a:ext cx="8462756" cy="4352925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3298825" y="366649"/>
            <a:ext cx="2545715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>
                <a:latin typeface="Calibri"/>
                <a:cs typeface="Calibri"/>
              </a:rPr>
              <a:t>Artificial</a:t>
            </a:r>
            <a:r>
              <a:rPr sz="2400" spc="-4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Intelligence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60009" y="2007869"/>
            <a:ext cx="1094740" cy="7550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35" algn="ctr">
              <a:lnSpc>
                <a:spcPts val="2870"/>
              </a:lnSpc>
              <a:spcBef>
                <a:spcPts val="105"/>
              </a:spcBef>
            </a:pPr>
            <a:r>
              <a:rPr sz="2400" spc="-20">
                <a:latin typeface="Calibri"/>
                <a:cs typeface="Calibri"/>
              </a:rPr>
              <a:t>Deep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ts val="2870"/>
              </a:lnSpc>
            </a:pPr>
            <a:r>
              <a:rPr sz="2400" spc="-10">
                <a:latin typeface="Calibri"/>
                <a:cs typeface="Calibri"/>
              </a:rPr>
              <a:t>Learning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76425" y="2030031"/>
            <a:ext cx="1266190" cy="75438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257810" marR="5080" indent="-245745">
              <a:lnSpc>
                <a:spcPts val="2860"/>
              </a:lnSpc>
              <a:spcBef>
                <a:spcPts val="215"/>
              </a:spcBef>
            </a:pPr>
            <a:r>
              <a:rPr sz="2400" spc="-10">
                <a:latin typeface="Calibri"/>
                <a:cs typeface="Calibri"/>
              </a:rPr>
              <a:t>Computer Vision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7334250" y="2895663"/>
            <a:ext cx="1809750" cy="967105"/>
            <a:chOff x="7334250" y="2895663"/>
            <a:chExt cx="1809750" cy="967105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34250" y="2905188"/>
              <a:ext cx="1809750" cy="88106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29525" y="2895663"/>
              <a:ext cx="1414399" cy="966787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7372350" y="2943225"/>
              <a:ext cx="1771650" cy="752475"/>
            </a:xfrm>
            <a:custGeom>
              <a:avLst/>
              <a:gdLst/>
              <a:ahLst/>
              <a:cxnLst/>
              <a:rect l="l" t="t" r="r" b="b"/>
              <a:pathLst>
                <a:path w="1771650" h="752475">
                  <a:moveTo>
                    <a:pt x="942975" y="0"/>
                  </a:moveTo>
                  <a:lnTo>
                    <a:pt x="875627" y="944"/>
                  </a:lnTo>
                  <a:lnTo>
                    <a:pt x="809558" y="3735"/>
                  </a:lnTo>
                  <a:lnTo>
                    <a:pt x="744927" y="8308"/>
                  </a:lnTo>
                  <a:lnTo>
                    <a:pt x="681894" y="14601"/>
                  </a:lnTo>
                  <a:lnTo>
                    <a:pt x="620618" y="22549"/>
                  </a:lnTo>
                  <a:lnTo>
                    <a:pt x="561259" y="32090"/>
                  </a:lnTo>
                  <a:lnTo>
                    <a:pt x="503977" y="43158"/>
                  </a:lnTo>
                  <a:lnTo>
                    <a:pt x="448930" y="55691"/>
                  </a:lnTo>
                  <a:lnTo>
                    <a:pt x="396279" y="69625"/>
                  </a:lnTo>
                  <a:lnTo>
                    <a:pt x="346182" y="84897"/>
                  </a:lnTo>
                  <a:lnTo>
                    <a:pt x="298800" y="101442"/>
                  </a:lnTo>
                  <a:lnTo>
                    <a:pt x="254292" y="119197"/>
                  </a:lnTo>
                  <a:lnTo>
                    <a:pt x="212817" y="138099"/>
                  </a:lnTo>
                  <a:lnTo>
                    <a:pt x="174535" y="158083"/>
                  </a:lnTo>
                  <a:lnTo>
                    <a:pt x="139606" y="179087"/>
                  </a:lnTo>
                  <a:lnTo>
                    <a:pt x="108188" y="201046"/>
                  </a:lnTo>
                  <a:lnTo>
                    <a:pt x="56527" y="247577"/>
                  </a:lnTo>
                  <a:lnTo>
                    <a:pt x="20828" y="297167"/>
                  </a:lnTo>
                  <a:lnTo>
                    <a:pt x="2367" y="349307"/>
                  </a:lnTo>
                  <a:lnTo>
                    <a:pt x="0" y="376174"/>
                  </a:lnTo>
                  <a:lnTo>
                    <a:pt x="2367" y="403056"/>
                  </a:lnTo>
                  <a:lnTo>
                    <a:pt x="20828" y="455223"/>
                  </a:lnTo>
                  <a:lnTo>
                    <a:pt x="56527" y="504836"/>
                  </a:lnTo>
                  <a:lnTo>
                    <a:pt x="108188" y="551385"/>
                  </a:lnTo>
                  <a:lnTo>
                    <a:pt x="139606" y="573352"/>
                  </a:lnTo>
                  <a:lnTo>
                    <a:pt x="174535" y="594362"/>
                  </a:lnTo>
                  <a:lnTo>
                    <a:pt x="212817" y="614352"/>
                  </a:lnTo>
                  <a:lnTo>
                    <a:pt x="254292" y="633259"/>
                  </a:lnTo>
                  <a:lnTo>
                    <a:pt x="298800" y="651018"/>
                  </a:lnTo>
                  <a:lnTo>
                    <a:pt x="346182" y="667567"/>
                  </a:lnTo>
                  <a:lnTo>
                    <a:pt x="396279" y="682841"/>
                  </a:lnTo>
                  <a:lnTo>
                    <a:pt x="448930" y="696778"/>
                  </a:lnTo>
                  <a:lnTo>
                    <a:pt x="503977" y="709312"/>
                  </a:lnTo>
                  <a:lnTo>
                    <a:pt x="561259" y="720382"/>
                  </a:lnTo>
                  <a:lnTo>
                    <a:pt x="620618" y="729923"/>
                  </a:lnTo>
                  <a:lnTo>
                    <a:pt x="681894" y="737872"/>
                  </a:lnTo>
                  <a:lnTo>
                    <a:pt x="744927" y="744165"/>
                  </a:lnTo>
                  <a:lnTo>
                    <a:pt x="809558" y="748739"/>
                  </a:lnTo>
                  <a:lnTo>
                    <a:pt x="875627" y="751530"/>
                  </a:lnTo>
                  <a:lnTo>
                    <a:pt x="942975" y="752475"/>
                  </a:lnTo>
                  <a:lnTo>
                    <a:pt x="1010322" y="751530"/>
                  </a:lnTo>
                  <a:lnTo>
                    <a:pt x="1076391" y="748739"/>
                  </a:lnTo>
                  <a:lnTo>
                    <a:pt x="1141022" y="744165"/>
                  </a:lnTo>
                  <a:lnTo>
                    <a:pt x="1204055" y="737872"/>
                  </a:lnTo>
                  <a:lnTo>
                    <a:pt x="1265331" y="729923"/>
                  </a:lnTo>
                  <a:lnTo>
                    <a:pt x="1324690" y="720382"/>
                  </a:lnTo>
                  <a:lnTo>
                    <a:pt x="1381972" y="709312"/>
                  </a:lnTo>
                  <a:lnTo>
                    <a:pt x="1437019" y="696778"/>
                  </a:lnTo>
                  <a:lnTo>
                    <a:pt x="1489670" y="682841"/>
                  </a:lnTo>
                  <a:lnTo>
                    <a:pt x="1539767" y="667567"/>
                  </a:lnTo>
                  <a:lnTo>
                    <a:pt x="1587149" y="651018"/>
                  </a:lnTo>
                  <a:lnTo>
                    <a:pt x="1631657" y="633259"/>
                  </a:lnTo>
                  <a:lnTo>
                    <a:pt x="1673132" y="614352"/>
                  </a:lnTo>
                  <a:lnTo>
                    <a:pt x="1711414" y="594362"/>
                  </a:lnTo>
                  <a:lnTo>
                    <a:pt x="1746343" y="573352"/>
                  </a:lnTo>
                  <a:lnTo>
                    <a:pt x="1771650" y="555658"/>
                  </a:lnTo>
                  <a:lnTo>
                    <a:pt x="1771650" y="196775"/>
                  </a:lnTo>
                  <a:lnTo>
                    <a:pt x="1711414" y="158083"/>
                  </a:lnTo>
                  <a:lnTo>
                    <a:pt x="1673132" y="138099"/>
                  </a:lnTo>
                  <a:lnTo>
                    <a:pt x="1631657" y="119197"/>
                  </a:lnTo>
                  <a:lnTo>
                    <a:pt x="1587149" y="101442"/>
                  </a:lnTo>
                  <a:lnTo>
                    <a:pt x="1539767" y="84897"/>
                  </a:lnTo>
                  <a:lnTo>
                    <a:pt x="1489670" y="69625"/>
                  </a:lnTo>
                  <a:lnTo>
                    <a:pt x="1437019" y="55691"/>
                  </a:lnTo>
                  <a:lnTo>
                    <a:pt x="1381972" y="43158"/>
                  </a:lnTo>
                  <a:lnTo>
                    <a:pt x="1324690" y="32090"/>
                  </a:lnTo>
                  <a:lnTo>
                    <a:pt x="1265331" y="22549"/>
                  </a:lnTo>
                  <a:lnTo>
                    <a:pt x="1204055" y="14601"/>
                  </a:lnTo>
                  <a:lnTo>
                    <a:pt x="1141022" y="8308"/>
                  </a:lnTo>
                  <a:lnTo>
                    <a:pt x="1076391" y="3735"/>
                  </a:lnTo>
                  <a:lnTo>
                    <a:pt x="1010322" y="944"/>
                  </a:lnTo>
                  <a:lnTo>
                    <a:pt x="942975" y="0"/>
                  </a:lnTo>
                  <a:close/>
                </a:path>
              </a:pathLst>
            </a:custGeom>
            <a:solidFill>
              <a:srgbClr val="FFCC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818119" y="2988373"/>
            <a:ext cx="1006475" cy="6400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30810" marR="5080" indent="-118745">
              <a:lnSpc>
                <a:spcPct val="100000"/>
              </a:lnSpc>
              <a:spcBef>
                <a:spcPts val="125"/>
              </a:spcBef>
            </a:pPr>
            <a:r>
              <a:rPr sz="2000" spc="-145">
                <a:latin typeface="Arial MT"/>
                <a:cs typeface="Arial MT"/>
              </a:rPr>
              <a:t>Computer </a:t>
            </a:r>
            <a:r>
              <a:rPr sz="2000" spc="-60">
                <a:latin typeface="Arial MT"/>
                <a:cs typeface="Arial MT"/>
              </a:rPr>
              <a:t>Science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981200" y="4114800"/>
            <a:ext cx="2014855" cy="890905"/>
            <a:chOff x="1981200" y="4114800"/>
            <a:chExt cx="2014855" cy="890905"/>
          </a:xfrm>
        </p:grpSpPr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81200" y="4114800"/>
              <a:ext cx="2014601" cy="890587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86000" y="4219575"/>
              <a:ext cx="1395349" cy="766762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2019300" y="4152900"/>
              <a:ext cx="1885950" cy="762000"/>
            </a:xfrm>
            <a:custGeom>
              <a:avLst/>
              <a:gdLst/>
              <a:ahLst/>
              <a:cxnLst/>
              <a:rect l="l" t="t" r="r" b="b"/>
              <a:pathLst>
                <a:path w="1885950" h="762000">
                  <a:moveTo>
                    <a:pt x="942975" y="0"/>
                  </a:moveTo>
                  <a:lnTo>
                    <a:pt x="875627" y="956"/>
                  </a:lnTo>
                  <a:lnTo>
                    <a:pt x="809558" y="3783"/>
                  </a:lnTo>
                  <a:lnTo>
                    <a:pt x="744927" y="8415"/>
                  </a:lnTo>
                  <a:lnTo>
                    <a:pt x="681894" y="14789"/>
                  </a:lnTo>
                  <a:lnTo>
                    <a:pt x="620618" y="22840"/>
                  </a:lnTo>
                  <a:lnTo>
                    <a:pt x="561259" y="32503"/>
                  </a:lnTo>
                  <a:lnTo>
                    <a:pt x="503977" y="43714"/>
                  </a:lnTo>
                  <a:lnTo>
                    <a:pt x="448930" y="56408"/>
                  </a:lnTo>
                  <a:lnTo>
                    <a:pt x="396279" y="70521"/>
                  </a:lnTo>
                  <a:lnTo>
                    <a:pt x="346182" y="85989"/>
                  </a:lnTo>
                  <a:lnTo>
                    <a:pt x="298800" y="102747"/>
                  </a:lnTo>
                  <a:lnTo>
                    <a:pt x="254292" y="120731"/>
                  </a:lnTo>
                  <a:lnTo>
                    <a:pt x="212817" y="139875"/>
                  </a:lnTo>
                  <a:lnTo>
                    <a:pt x="174535" y="160116"/>
                  </a:lnTo>
                  <a:lnTo>
                    <a:pt x="139606" y="181390"/>
                  </a:lnTo>
                  <a:lnTo>
                    <a:pt x="108188" y="203631"/>
                  </a:lnTo>
                  <a:lnTo>
                    <a:pt x="56527" y="250758"/>
                  </a:lnTo>
                  <a:lnTo>
                    <a:pt x="20828" y="300983"/>
                  </a:lnTo>
                  <a:lnTo>
                    <a:pt x="2367" y="353789"/>
                  </a:lnTo>
                  <a:lnTo>
                    <a:pt x="0" y="381000"/>
                  </a:lnTo>
                  <a:lnTo>
                    <a:pt x="2367" y="408210"/>
                  </a:lnTo>
                  <a:lnTo>
                    <a:pt x="20828" y="461016"/>
                  </a:lnTo>
                  <a:lnTo>
                    <a:pt x="56527" y="511241"/>
                  </a:lnTo>
                  <a:lnTo>
                    <a:pt x="108188" y="558368"/>
                  </a:lnTo>
                  <a:lnTo>
                    <a:pt x="139606" y="580609"/>
                  </a:lnTo>
                  <a:lnTo>
                    <a:pt x="174535" y="601883"/>
                  </a:lnTo>
                  <a:lnTo>
                    <a:pt x="212817" y="622124"/>
                  </a:lnTo>
                  <a:lnTo>
                    <a:pt x="254292" y="641268"/>
                  </a:lnTo>
                  <a:lnTo>
                    <a:pt x="298800" y="659252"/>
                  </a:lnTo>
                  <a:lnTo>
                    <a:pt x="346182" y="676010"/>
                  </a:lnTo>
                  <a:lnTo>
                    <a:pt x="396279" y="691478"/>
                  </a:lnTo>
                  <a:lnTo>
                    <a:pt x="448930" y="705591"/>
                  </a:lnTo>
                  <a:lnTo>
                    <a:pt x="503977" y="718285"/>
                  </a:lnTo>
                  <a:lnTo>
                    <a:pt x="561259" y="729496"/>
                  </a:lnTo>
                  <a:lnTo>
                    <a:pt x="620618" y="739159"/>
                  </a:lnTo>
                  <a:lnTo>
                    <a:pt x="681894" y="747210"/>
                  </a:lnTo>
                  <a:lnTo>
                    <a:pt x="744927" y="753584"/>
                  </a:lnTo>
                  <a:lnTo>
                    <a:pt x="809558" y="758216"/>
                  </a:lnTo>
                  <a:lnTo>
                    <a:pt x="875627" y="761043"/>
                  </a:lnTo>
                  <a:lnTo>
                    <a:pt x="942975" y="762000"/>
                  </a:lnTo>
                  <a:lnTo>
                    <a:pt x="1010322" y="761043"/>
                  </a:lnTo>
                  <a:lnTo>
                    <a:pt x="1076391" y="758216"/>
                  </a:lnTo>
                  <a:lnTo>
                    <a:pt x="1141022" y="753584"/>
                  </a:lnTo>
                  <a:lnTo>
                    <a:pt x="1204055" y="747210"/>
                  </a:lnTo>
                  <a:lnTo>
                    <a:pt x="1265331" y="739159"/>
                  </a:lnTo>
                  <a:lnTo>
                    <a:pt x="1324690" y="729496"/>
                  </a:lnTo>
                  <a:lnTo>
                    <a:pt x="1381972" y="718285"/>
                  </a:lnTo>
                  <a:lnTo>
                    <a:pt x="1437019" y="705591"/>
                  </a:lnTo>
                  <a:lnTo>
                    <a:pt x="1489670" y="691478"/>
                  </a:lnTo>
                  <a:lnTo>
                    <a:pt x="1539767" y="676010"/>
                  </a:lnTo>
                  <a:lnTo>
                    <a:pt x="1587149" y="659252"/>
                  </a:lnTo>
                  <a:lnTo>
                    <a:pt x="1631657" y="641268"/>
                  </a:lnTo>
                  <a:lnTo>
                    <a:pt x="1673132" y="622124"/>
                  </a:lnTo>
                  <a:lnTo>
                    <a:pt x="1711414" y="601883"/>
                  </a:lnTo>
                  <a:lnTo>
                    <a:pt x="1746343" y="580609"/>
                  </a:lnTo>
                  <a:lnTo>
                    <a:pt x="1777761" y="558368"/>
                  </a:lnTo>
                  <a:lnTo>
                    <a:pt x="1829422" y="511241"/>
                  </a:lnTo>
                  <a:lnTo>
                    <a:pt x="1865121" y="461016"/>
                  </a:lnTo>
                  <a:lnTo>
                    <a:pt x="1883582" y="408210"/>
                  </a:lnTo>
                  <a:lnTo>
                    <a:pt x="1885950" y="381000"/>
                  </a:lnTo>
                  <a:lnTo>
                    <a:pt x="1883582" y="353789"/>
                  </a:lnTo>
                  <a:lnTo>
                    <a:pt x="1865121" y="300983"/>
                  </a:lnTo>
                  <a:lnTo>
                    <a:pt x="1829422" y="250758"/>
                  </a:lnTo>
                  <a:lnTo>
                    <a:pt x="1777761" y="203631"/>
                  </a:lnTo>
                  <a:lnTo>
                    <a:pt x="1746343" y="181390"/>
                  </a:lnTo>
                  <a:lnTo>
                    <a:pt x="1711414" y="160116"/>
                  </a:lnTo>
                  <a:lnTo>
                    <a:pt x="1673132" y="139875"/>
                  </a:lnTo>
                  <a:lnTo>
                    <a:pt x="1631657" y="120731"/>
                  </a:lnTo>
                  <a:lnTo>
                    <a:pt x="1587149" y="102747"/>
                  </a:lnTo>
                  <a:lnTo>
                    <a:pt x="1539767" y="85989"/>
                  </a:lnTo>
                  <a:lnTo>
                    <a:pt x="1489670" y="70521"/>
                  </a:lnTo>
                  <a:lnTo>
                    <a:pt x="1437019" y="56408"/>
                  </a:lnTo>
                  <a:lnTo>
                    <a:pt x="1381972" y="43714"/>
                  </a:lnTo>
                  <a:lnTo>
                    <a:pt x="1324690" y="32503"/>
                  </a:lnTo>
                  <a:lnTo>
                    <a:pt x="1265331" y="22840"/>
                  </a:lnTo>
                  <a:lnTo>
                    <a:pt x="1204055" y="14789"/>
                  </a:lnTo>
                  <a:lnTo>
                    <a:pt x="1141022" y="8415"/>
                  </a:lnTo>
                  <a:lnTo>
                    <a:pt x="1076391" y="3783"/>
                  </a:lnTo>
                  <a:lnTo>
                    <a:pt x="1010322" y="956"/>
                  </a:lnTo>
                  <a:lnTo>
                    <a:pt x="942975" y="0"/>
                  </a:lnTo>
                  <a:close/>
                </a:path>
              </a:pathLst>
            </a:custGeom>
            <a:solidFill>
              <a:srgbClr val="FFCC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496185" y="4327842"/>
            <a:ext cx="930910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spc="-110">
                <a:latin typeface="Arial MT"/>
                <a:cs typeface="Arial MT"/>
              </a:rPr>
              <a:t>Biology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762750" y="3895725"/>
            <a:ext cx="2014855" cy="890905"/>
            <a:chOff x="6762750" y="3895725"/>
            <a:chExt cx="2014855" cy="890905"/>
          </a:xfrm>
        </p:grpSpPr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762750" y="3895725"/>
              <a:ext cx="2014601" cy="890587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48475" y="4000500"/>
              <a:ext cx="1833626" cy="766762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6800850" y="3933825"/>
              <a:ext cx="1885950" cy="762000"/>
            </a:xfrm>
            <a:custGeom>
              <a:avLst/>
              <a:gdLst/>
              <a:ahLst/>
              <a:cxnLst/>
              <a:rect l="l" t="t" r="r" b="b"/>
              <a:pathLst>
                <a:path w="1885950" h="762000">
                  <a:moveTo>
                    <a:pt x="942975" y="0"/>
                  </a:moveTo>
                  <a:lnTo>
                    <a:pt x="875627" y="956"/>
                  </a:lnTo>
                  <a:lnTo>
                    <a:pt x="809558" y="3783"/>
                  </a:lnTo>
                  <a:lnTo>
                    <a:pt x="744927" y="8415"/>
                  </a:lnTo>
                  <a:lnTo>
                    <a:pt x="681894" y="14789"/>
                  </a:lnTo>
                  <a:lnTo>
                    <a:pt x="620618" y="22840"/>
                  </a:lnTo>
                  <a:lnTo>
                    <a:pt x="561259" y="32503"/>
                  </a:lnTo>
                  <a:lnTo>
                    <a:pt x="503977" y="43714"/>
                  </a:lnTo>
                  <a:lnTo>
                    <a:pt x="448930" y="56408"/>
                  </a:lnTo>
                  <a:lnTo>
                    <a:pt x="396279" y="70521"/>
                  </a:lnTo>
                  <a:lnTo>
                    <a:pt x="346182" y="85989"/>
                  </a:lnTo>
                  <a:lnTo>
                    <a:pt x="298800" y="102747"/>
                  </a:lnTo>
                  <a:lnTo>
                    <a:pt x="254292" y="120731"/>
                  </a:lnTo>
                  <a:lnTo>
                    <a:pt x="212817" y="139875"/>
                  </a:lnTo>
                  <a:lnTo>
                    <a:pt x="174535" y="160116"/>
                  </a:lnTo>
                  <a:lnTo>
                    <a:pt x="139606" y="181390"/>
                  </a:lnTo>
                  <a:lnTo>
                    <a:pt x="108188" y="203631"/>
                  </a:lnTo>
                  <a:lnTo>
                    <a:pt x="56527" y="250758"/>
                  </a:lnTo>
                  <a:lnTo>
                    <a:pt x="20828" y="300983"/>
                  </a:lnTo>
                  <a:lnTo>
                    <a:pt x="2367" y="353789"/>
                  </a:lnTo>
                  <a:lnTo>
                    <a:pt x="0" y="381000"/>
                  </a:lnTo>
                  <a:lnTo>
                    <a:pt x="2367" y="408210"/>
                  </a:lnTo>
                  <a:lnTo>
                    <a:pt x="20828" y="461016"/>
                  </a:lnTo>
                  <a:lnTo>
                    <a:pt x="56527" y="511241"/>
                  </a:lnTo>
                  <a:lnTo>
                    <a:pt x="108188" y="558368"/>
                  </a:lnTo>
                  <a:lnTo>
                    <a:pt x="139606" y="580609"/>
                  </a:lnTo>
                  <a:lnTo>
                    <a:pt x="174535" y="601883"/>
                  </a:lnTo>
                  <a:lnTo>
                    <a:pt x="212817" y="622124"/>
                  </a:lnTo>
                  <a:lnTo>
                    <a:pt x="254292" y="641268"/>
                  </a:lnTo>
                  <a:lnTo>
                    <a:pt x="298800" y="659252"/>
                  </a:lnTo>
                  <a:lnTo>
                    <a:pt x="346182" y="676010"/>
                  </a:lnTo>
                  <a:lnTo>
                    <a:pt x="396279" y="691478"/>
                  </a:lnTo>
                  <a:lnTo>
                    <a:pt x="448930" y="705591"/>
                  </a:lnTo>
                  <a:lnTo>
                    <a:pt x="503977" y="718285"/>
                  </a:lnTo>
                  <a:lnTo>
                    <a:pt x="561259" y="729496"/>
                  </a:lnTo>
                  <a:lnTo>
                    <a:pt x="620618" y="739159"/>
                  </a:lnTo>
                  <a:lnTo>
                    <a:pt x="681894" y="747210"/>
                  </a:lnTo>
                  <a:lnTo>
                    <a:pt x="744927" y="753584"/>
                  </a:lnTo>
                  <a:lnTo>
                    <a:pt x="809558" y="758216"/>
                  </a:lnTo>
                  <a:lnTo>
                    <a:pt x="875627" y="761043"/>
                  </a:lnTo>
                  <a:lnTo>
                    <a:pt x="942975" y="762000"/>
                  </a:lnTo>
                  <a:lnTo>
                    <a:pt x="1010322" y="761043"/>
                  </a:lnTo>
                  <a:lnTo>
                    <a:pt x="1076391" y="758216"/>
                  </a:lnTo>
                  <a:lnTo>
                    <a:pt x="1141022" y="753584"/>
                  </a:lnTo>
                  <a:lnTo>
                    <a:pt x="1204055" y="747210"/>
                  </a:lnTo>
                  <a:lnTo>
                    <a:pt x="1265331" y="739159"/>
                  </a:lnTo>
                  <a:lnTo>
                    <a:pt x="1324690" y="729496"/>
                  </a:lnTo>
                  <a:lnTo>
                    <a:pt x="1381972" y="718285"/>
                  </a:lnTo>
                  <a:lnTo>
                    <a:pt x="1437019" y="705591"/>
                  </a:lnTo>
                  <a:lnTo>
                    <a:pt x="1489670" y="691478"/>
                  </a:lnTo>
                  <a:lnTo>
                    <a:pt x="1539767" y="676010"/>
                  </a:lnTo>
                  <a:lnTo>
                    <a:pt x="1587149" y="659252"/>
                  </a:lnTo>
                  <a:lnTo>
                    <a:pt x="1631657" y="641268"/>
                  </a:lnTo>
                  <a:lnTo>
                    <a:pt x="1673132" y="622124"/>
                  </a:lnTo>
                  <a:lnTo>
                    <a:pt x="1711414" y="601883"/>
                  </a:lnTo>
                  <a:lnTo>
                    <a:pt x="1746343" y="580609"/>
                  </a:lnTo>
                  <a:lnTo>
                    <a:pt x="1777761" y="558368"/>
                  </a:lnTo>
                  <a:lnTo>
                    <a:pt x="1829422" y="511241"/>
                  </a:lnTo>
                  <a:lnTo>
                    <a:pt x="1865121" y="461016"/>
                  </a:lnTo>
                  <a:lnTo>
                    <a:pt x="1883582" y="408210"/>
                  </a:lnTo>
                  <a:lnTo>
                    <a:pt x="1885950" y="381000"/>
                  </a:lnTo>
                  <a:lnTo>
                    <a:pt x="1883582" y="353789"/>
                  </a:lnTo>
                  <a:lnTo>
                    <a:pt x="1865121" y="300983"/>
                  </a:lnTo>
                  <a:lnTo>
                    <a:pt x="1829422" y="250758"/>
                  </a:lnTo>
                  <a:lnTo>
                    <a:pt x="1777761" y="203631"/>
                  </a:lnTo>
                  <a:lnTo>
                    <a:pt x="1746343" y="181390"/>
                  </a:lnTo>
                  <a:lnTo>
                    <a:pt x="1711414" y="160116"/>
                  </a:lnTo>
                  <a:lnTo>
                    <a:pt x="1673132" y="139875"/>
                  </a:lnTo>
                  <a:lnTo>
                    <a:pt x="1631657" y="120731"/>
                  </a:lnTo>
                  <a:lnTo>
                    <a:pt x="1587149" y="102747"/>
                  </a:lnTo>
                  <a:lnTo>
                    <a:pt x="1539767" y="85989"/>
                  </a:lnTo>
                  <a:lnTo>
                    <a:pt x="1489670" y="70521"/>
                  </a:lnTo>
                  <a:lnTo>
                    <a:pt x="1437019" y="56408"/>
                  </a:lnTo>
                  <a:lnTo>
                    <a:pt x="1381972" y="43714"/>
                  </a:lnTo>
                  <a:lnTo>
                    <a:pt x="1324690" y="32503"/>
                  </a:lnTo>
                  <a:lnTo>
                    <a:pt x="1265331" y="22840"/>
                  </a:lnTo>
                  <a:lnTo>
                    <a:pt x="1204055" y="14789"/>
                  </a:lnTo>
                  <a:lnTo>
                    <a:pt x="1141022" y="8415"/>
                  </a:lnTo>
                  <a:lnTo>
                    <a:pt x="1076391" y="3783"/>
                  </a:lnTo>
                  <a:lnTo>
                    <a:pt x="1010322" y="956"/>
                  </a:lnTo>
                  <a:lnTo>
                    <a:pt x="942975" y="0"/>
                  </a:lnTo>
                  <a:close/>
                </a:path>
              </a:pathLst>
            </a:custGeom>
            <a:solidFill>
              <a:srgbClr val="FFCC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7062469" y="4108132"/>
            <a:ext cx="1368425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spc="-175">
                <a:latin typeface="Arial MT"/>
                <a:cs typeface="Arial MT"/>
              </a:rPr>
              <a:t>Psychology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209675" y="18986"/>
            <a:ext cx="2014855" cy="890905"/>
            <a:chOff x="1209675" y="18986"/>
            <a:chExt cx="2014855" cy="890905"/>
          </a:xfrm>
        </p:grpSpPr>
        <p:pic>
          <p:nvPicPr>
            <p:cNvPr id="28" name="object 2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09675" y="18986"/>
              <a:ext cx="2014601" cy="890587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19200" y="123761"/>
              <a:ext cx="1995551" cy="766762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247775" y="57150"/>
              <a:ext cx="1885950" cy="762000"/>
            </a:xfrm>
            <a:custGeom>
              <a:avLst/>
              <a:gdLst/>
              <a:ahLst/>
              <a:cxnLst/>
              <a:rect l="l" t="t" r="r" b="b"/>
              <a:pathLst>
                <a:path w="1885950" h="762000">
                  <a:moveTo>
                    <a:pt x="942975" y="0"/>
                  </a:moveTo>
                  <a:lnTo>
                    <a:pt x="875627" y="956"/>
                  </a:lnTo>
                  <a:lnTo>
                    <a:pt x="809558" y="3783"/>
                  </a:lnTo>
                  <a:lnTo>
                    <a:pt x="744927" y="8415"/>
                  </a:lnTo>
                  <a:lnTo>
                    <a:pt x="681894" y="14788"/>
                  </a:lnTo>
                  <a:lnTo>
                    <a:pt x="620618" y="22839"/>
                  </a:lnTo>
                  <a:lnTo>
                    <a:pt x="561259" y="32501"/>
                  </a:lnTo>
                  <a:lnTo>
                    <a:pt x="503977" y="43711"/>
                  </a:lnTo>
                  <a:lnTo>
                    <a:pt x="448930" y="56405"/>
                  </a:lnTo>
                  <a:lnTo>
                    <a:pt x="396279" y="70518"/>
                  </a:lnTo>
                  <a:lnTo>
                    <a:pt x="346182" y="85985"/>
                  </a:lnTo>
                  <a:lnTo>
                    <a:pt x="298800" y="102743"/>
                  </a:lnTo>
                  <a:lnTo>
                    <a:pt x="254292" y="120726"/>
                  </a:lnTo>
                  <a:lnTo>
                    <a:pt x="212817" y="139870"/>
                  </a:lnTo>
                  <a:lnTo>
                    <a:pt x="174535" y="160111"/>
                  </a:lnTo>
                  <a:lnTo>
                    <a:pt x="139606" y="181384"/>
                  </a:lnTo>
                  <a:lnTo>
                    <a:pt x="108188" y="203625"/>
                  </a:lnTo>
                  <a:lnTo>
                    <a:pt x="56527" y="250753"/>
                  </a:lnTo>
                  <a:lnTo>
                    <a:pt x="20828" y="300979"/>
                  </a:lnTo>
                  <a:lnTo>
                    <a:pt x="2367" y="353788"/>
                  </a:lnTo>
                  <a:lnTo>
                    <a:pt x="0" y="381000"/>
                  </a:lnTo>
                  <a:lnTo>
                    <a:pt x="2367" y="408211"/>
                  </a:lnTo>
                  <a:lnTo>
                    <a:pt x="20828" y="461020"/>
                  </a:lnTo>
                  <a:lnTo>
                    <a:pt x="56527" y="511246"/>
                  </a:lnTo>
                  <a:lnTo>
                    <a:pt x="108188" y="558374"/>
                  </a:lnTo>
                  <a:lnTo>
                    <a:pt x="139606" y="580615"/>
                  </a:lnTo>
                  <a:lnTo>
                    <a:pt x="174535" y="601888"/>
                  </a:lnTo>
                  <a:lnTo>
                    <a:pt x="212817" y="622129"/>
                  </a:lnTo>
                  <a:lnTo>
                    <a:pt x="254292" y="641273"/>
                  </a:lnTo>
                  <a:lnTo>
                    <a:pt x="298800" y="659256"/>
                  </a:lnTo>
                  <a:lnTo>
                    <a:pt x="346182" y="676014"/>
                  </a:lnTo>
                  <a:lnTo>
                    <a:pt x="396279" y="691481"/>
                  </a:lnTo>
                  <a:lnTo>
                    <a:pt x="448930" y="705594"/>
                  </a:lnTo>
                  <a:lnTo>
                    <a:pt x="503977" y="718288"/>
                  </a:lnTo>
                  <a:lnTo>
                    <a:pt x="561259" y="729498"/>
                  </a:lnTo>
                  <a:lnTo>
                    <a:pt x="620618" y="739160"/>
                  </a:lnTo>
                  <a:lnTo>
                    <a:pt x="681894" y="747211"/>
                  </a:lnTo>
                  <a:lnTo>
                    <a:pt x="744927" y="753584"/>
                  </a:lnTo>
                  <a:lnTo>
                    <a:pt x="809558" y="758216"/>
                  </a:lnTo>
                  <a:lnTo>
                    <a:pt x="875627" y="761043"/>
                  </a:lnTo>
                  <a:lnTo>
                    <a:pt x="942975" y="762000"/>
                  </a:lnTo>
                  <a:lnTo>
                    <a:pt x="1010322" y="761043"/>
                  </a:lnTo>
                  <a:lnTo>
                    <a:pt x="1076391" y="758216"/>
                  </a:lnTo>
                  <a:lnTo>
                    <a:pt x="1141022" y="753584"/>
                  </a:lnTo>
                  <a:lnTo>
                    <a:pt x="1204055" y="747211"/>
                  </a:lnTo>
                  <a:lnTo>
                    <a:pt x="1265331" y="739160"/>
                  </a:lnTo>
                  <a:lnTo>
                    <a:pt x="1324690" y="729498"/>
                  </a:lnTo>
                  <a:lnTo>
                    <a:pt x="1381972" y="718288"/>
                  </a:lnTo>
                  <a:lnTo>
                    <a:pt x="1437019" y="705594"/>
                  </a:lnTo>
                  <a:lnTo>
                    <a:pt x="1489670" y="691481"/>
                  </a:lnTo>
                  <a:lnTo>
                    <a:pt x="1539767" y="676014"/>
                  </a:lnTo>
                  <a:lnTo>
                    <a:pt x="1587149" y="659256"/>
                  </a:lnTo>
                  <a:lnTo>
                    <a:pt x="1631657" y="641273"/>
                  </a:lnTo>
                  <a:lnTo>
                    <a:pt x="1673132" y="622129"/>
                  </a:lnTo>
                  <a:lnTo>
                    <a:pt x="1711414" y="601888"/>
                  </a:lnTo>
                  <a:lnTo>
                    <a:pt x="1746343" y="580615"/>
                  </a:lnTo>
                  <a:lnTo>
                    <a:pt x="1777761" y="558374"/>
                  </a:lnTo>
                  <a:lnTo>
                    <a:pt x="1829422" y="511246"/>
                  </a:lnTo>
                  <a:lnTo>
                    <a:pt x="1865121" y="461020"/>
                  </a:lnTo>
                  <a:lnTo>
                    <a:pt x="1883582" y="408211"/>
                  </a:lnTo>
                  <a:lnTo>
                    <a:pt x="1885950" y="381000"/>
                  </a:lnTo>
                  <a:lnTo>
                    <a:pt x="1883582" y="353788"/>
                  </a:lnTo>
                  <a:lnTo>
                    <a:pt x="1865121" y="300979"/>
                  </a:lnTo>
                  <a:lnTo>
                    <a:pt x="1829422" y="250753"/>
                  </a:lnTo>
                  <a:lnTo>
                    <a:pt x="1777761" y="203625"/>
                  </a:lnTo>
                  <a:lnTo>
                    <a:pt x="1746343" y="181384"/>
                  </a:lnTo>
                  <a:lnTo>
                    <a:pt x="1711414" y="160111"/>
                  </a:lnTo>
                  <a:lnTo>
                    <a:pt x="1673132" y="139870"/>
                  </a:lnTo>
                  <a:lnTo>
                    <a:pt x="1631657" y="120726"/>
                  </a:lnTo>
                  <a:lnTo>
                    <a:pt x="1587149" y="102743"/>
                  </a:lnTo>
                  <a:lnTo>
                    <a:pt x="1539767" y="85985"/>
                  </a:lnTo>
                  <a:lnTo>
                    <a:pt x="1489670" y="70518"/>
                  </a:lnTo>
                  <a:lnTo>
                    <a:pt x="1437019" y="56405"/>
                  </a:lnTo>
                  <a:lnTo>
                    <a:pt x="1381972" y="43711"/>
                  </a:lnTo>
                  <a:lnTo>
                    <a:pt x="1324690" y="32501"/>
                  </a:lnTo>
                  <a:lnTo>
                    <a:pt x="1265331" y="22839"/>
                  </a:lnTo>
                  <a:lnTo>
                    <a:pt x="1204055" y="14788"/>
                  </a:lnTo>
                  <a:lnTo>
                    <a:pt x="1141022" y="8415"/>
                  </a:lnTo>
                  <a:lnTo>
                    <a:pt x="1076391" y="3783"/>
                  </a:lnTo>
                  <a:lnTo>
                    <a:pt x="1010322" y="956"/>
                  </a:lnTo>
                  <a:lnTo>
                    <a:pt x="942975" y="0"/>
                  </a:lnTo>
                  <a:close/>
                </a:path>
              </a:pathLst>
            </a:custGeom>
            <a:solidFill>
              <a:srgbClr val="FFCC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1426210" y="224790"/>
            <a:ext cx="1536065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spc="-160">
                <a:latin typeface="Arial MT"/>
                <a:cs typeface="Arial MT"/>
              </a:rPr>
              <a:t>Mathematics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276225" y="3895725"/>
            <a:ext cx="2014855" cy="890905"/>
            <a:chOff x="276225" y="3895725"/>
            <a:chExt cx="2014855" cy="890905"/>
          </a:xfrm>
        </p:grpSpPr>
        <p:pic>
          <p:nvPicPr>
            <p:cNvPr id="33" name="object 3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6225" y="3895725"/>
              <a:ext cx="2014601" cy="890587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28650" y="4000500"/>
              <a:ext cx="1309624" cy="766762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314325" y="3933825"/>
              <a:ext cx="1885950" cy="762000"/>
            </a:xfrm>
            <a:custGeom>
              <a:avLst/>
              <a:gdLst/>
              <a:ahLst/>
              <a:cxnLst/>
              <a:rect l="l" t="t" r="r" b="b"/>
              <a:pathLst>
                <a:path w="1885950" h="762000">
                  <a:moveTo>
                    <a:pt x="942975" y="0"/>
                  </a:moveTo>
                  <a:lnTo>
                    <a:pt x="875631" y="956"/>
                  </a:lnTo>
                  <a:lnTo>
                    <a:pt x="809566" y="3783"/>
                  </a:lnTo>
                  <a:lnTo>
                    <a:pt x="744938" y="8415"/>
                  </a:lnTo>
                  <a:lnTo>
                    <a:pt x="681908" y="14789"/>
                  </a:lnTo>
                  <a:lnTo>
                    <a:pt x="620634" y="22840"/>
                  </a:lnTo>
                  <a:lnTo>
                    <a:pt x="561276" y="32503"/>
                  </a:lnTo>
                  <a:lnTo>
                    <a:pt x="503994" y="43714"/>
                  </a:lnTo>
                  <a:lnTo>
                    <a:pt x="448947" y="56408"/>
                  </a:lnTo>
                  <a:lnTo>
                    <a:pt x="396295" y="70521"/>
                  </a:lnTo>
                  <a:lnTo>
                    <a:pt x="346198" y="85989"/>
                  </a:lnTo>
                  <a:lnTo>
                    <a:pt x="298815" y="102747"/>
                  </a:lnTo>
                  <a:lnTo>
                    <a:pt x="254306" y="120731"/>
                  </a:lnTo>
                  <a:lnTo>
                    <a:pt x="212829" y="139875"/>
                  </a:lnTo>
                  <a:lnTo>
                    <a:pt x="174546" y="160116"/>
                  </a:lnTo>
                  <a:lnTo>
                    <a:pt x="139615" y="181390"/>
                  </a:lnTo>
                  <a:lnTo>
                    <a:pt x="108196" y="203631"/>
                  </a:lnTo>
                  <a:lnTo>
                    <a:pt x="56531" y="250758"/>
                  </a:lnTo>
                  <a:lnTo>
                    <a:pt x="20830" y="300983"/>
                  </a:lnTo>
                  <a:lnTo>
                    <a:pt x="2367" y="353789"/>
                  </a:lnTo>
                  <a:lnTo>
                    <a:pt x="0" y="381000"/>
                  </a:lnTo>
                  <a:lnTo>
                    <a:pt x="2367" y="408210"/>
                  </a:lnTo>
                  <a:lnTo>
                    <a:pt x="20830" y="461016"/>
                  </a:lnTo>
                  <a:lnTo>
                    <a:pt x="56531" y="511241"/>
                  </a:lnTo>
                  <a:lnTo>
                    <a:pt x="108196" y="558368"/>
                  </a:lnTo>
                  <a:lnTo>
                    <a:pt x="139615" y="580609"/>
                  </a:lnTo>
                  <a:lnTo>
                    <a:pt x="174546" y="601883"/>
                  </a:lnTo>
                  <a:lnTo>
                    <a:pt x="212829" y="622124"/>
                  </a:lnTo>
                  <a:lnTo>
                    <a:pt x="254306" y="641268"/>
                  </a:lnTo>
                  <a:lnTo>
                    <a:pt x="298815" y="659252"/>
                  </a:lnTo>
                  <a:lnTo>
                    <a:pt x="346198" y="676010"/>
                  </a:lnTo>
                  <a:lnTo>
                    <a:pt x="396295" y="691478"/>
                  </a:lnTo>
                  <a:lnTo>
                    <a:pt x="448947" y="705591"/>
                  </a:lnTo>
                  <a:lnTo>
                    <a:pt x="503994" y="718285"/>
                  </a:lnTo>
                  <a:lnTo>
                    <a:pt x="561276" y="729496"/>
                  </a:lnTo>
                  <a:lnTo>
                    <a:pt x="620634" y="739159"/>
                  </a:lnTo>
                  <a:lnTo>
                    <a:pt x="681908" y="747210"/>
                  </a:lnTo>
                  <a:lnTo>
                    <a:pt x="744938" y="753584"/>
                  </a:lnTo>
                  <a:lnTo>
                    <a:pt x="809566" y="758216"/>
                  </a:lnTo>
                  <a:lnTo>
                    <a:pt x="875631" y="761043"/>
                  </a:lnTo>
                  <a:lnTo>
                    <a:pt x="942975" y="762000"/>
                  </a:lnTo>
                  <a:lnTo>
                    <a:pt x="1010322" y="761043"/>
                  </a:lnTo>
                  <a:lnTo>
                    <a:pt x="1076391" y="758216"/>
                  </a:lnTo>
                  <a:lnTo>
                    <a:pt x="1141022" y="753584"/>
                  </a:lnTo>
                  <a:lnTo>
                    <a:pt x="1204055" y="747210"/>
                  </a:lnTo>
                  <a:lnTo>
                    <a:pt x="1265331" y="739159"/>
                  </a:lnTo>
                  <a:lnTo>
                    <a:pt x="1324690" y="729496"/>
                  </a:lnTo>
                  <a:lnTo>
                    <a:pt x="1381972" y="718285"/>
                  </a:lnTo>
                  <a:lnTo>
                    <a:pt x="1437019" y="705591"/>
                  </a:lnTo>
                  <a:lnTo>
                    <a:pt x="1489670" y="691478"/>
                  </a:lnTo>
                  <a:lnTo>
                    <a:pt x="1539767" y="676010"/>
                  </a:lnTo>
                  <a:lnTo>
                    <a:pt x="1587149" y="659252"/>
                  </a:lnTo>
                  <a:lnTo>
                    <a:pt x="1631657" y="641268"/>
                  </a:lnTo>
                  <a:lnTo>
                    <a:pt x="1673132" y="622124"/>
                  </a:lnTo>
                  <a:lnTo>
                    <a:pt x="1711414" y="601883"/>
                  </a:lnTo>
                  <a:lnTo>
                    <a:pt x="1746343" y="580609"/>
                  </a:lnTo>
                  <a:lnTo>
                    <a:pt x="1777761" y="558368"/>
                  </a:lnTo>
                  <a:lnTo>
                    <a:pt x="1829422" y="511241"/>
                  </a:lnTo>
                  <a:lnTo>
                    <a:pt x="1865121" y="461016"/>
                  </a:lnTo>
                  <a:lnTo>
                    <a:pt x="1883582" y="408210"/>
                  </a:lnTo>
                  <a:lnTo>
                    <a:pt x="1885950" y="381000"/>
                  </a:lnTo>
                  <a:lnTo>
                    <a:pt x="1883582" y="353789"/>
                  </a:lnTo>
                  <a:lnTo>
                    <a:pt x="1865121" y="300983"/>
                  </a:lnTo>
                  <a:lnTo>
                    <a:pt x="1829422" y="250758"/>
                  </a:lnTo>
                  <a:lnTo>
                    <a:pt x="1777761" y="203631"/>
                  </a:lnTo>
                  <a:lnTo>
                    <a:pt x="1746343" y="181390"/>
                  </a:lnTo>
                  <a:lnTo>
                    <a:pt x="1711414" y="160116"/>
                  </a:lnTo>
                  <a:lnTo>
                    <a:pt x="1673132" y="139875"/>
                  </a:lnTo>
                  <a:lnTo>
                    <a:pt x="1631657" y="120731"/>
                  </a:lnTo>
                  <a:lnTo>
                    <a:pt x="1587149" y="102747"/>
                  </a:lnTo>
                  <a:lnTo>
                    <a:pt x="1539767" y="85989"/>
                  </a:lnTo>
                  <a:lnTo>
                    <a:pt x="1489670" y="70521"/>
                  </a:lnTo>
                  <a:lnTo>
                    <a:pt x="1437019" y="56408"/>
                  </a:lnTo>
                  <a:lnTo>
                    <a:pt x="1381972" y="43714"/>
                  </a:lnTo>
                  <a:lnTo>
                    <a:pt x="1324690" y="32503"/>
                  </a:lnTo>
                  <a:lnTo>
                    <a:pt x="1265331" y="22840"/>
                  </a:lnTo>
                  <a:lnTo>
                    <a:pt x="1204055" y="14789"/>
                  </a:lnTo>
                  <a:lnTo>
                    <a:pt x="1141022" y="8415"/>
                  </a:lnTo>
                  <a:lnTo>
                    <a:pt x="1076391" y="3783"/>
                  </a:lnTo>
                  <a:lnTo>
                    <a:pt x="1010322" y="956"/>
                  </a:lnTo>
                  <a:lnTo>
                    <a:pt x="942975" y="0"/>
                  </a:lnTo>
                  <a:close/>
                </a:path>
              </a:pathLst>
            </a:custGeom>
            <a:solidFill>
              <a:srgbClr val="FFCC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838200" y="4109084"/>
            <a:ext cx="843280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spc="-285">
                <a:latin typeface="Arial MT"/>
                <a:cs typeface="Arial MT"/>
              </a:rPr>
              <a:t>Physics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7172325" y="657161"/>
            <a:ext cx="1971675" cy="890905"/>
            <a:chOff x="7172325" y="657161"/>
            <a:chExt cx="1971675" cy="890905"/>
          </a:xfrm>
        </p:grpSpPr>
        <p:pic>
          <p:nvPicPr>
            <p:cNvPr id="38" name="object 3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172325" y="657161"/>
              <a:ext cx="1971675" cy="890587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305675" y="809561"/>
              <a:ext cx="1747901" cy="661987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7210425" y="695324"/>
              <a:ext cx="1885950" cy="762000"/>
            </a:xfrm>
            <a:custGeom>
              <a:avLst/>
              <a:gdLst/>
              <a:ahLst/>
              <a:cxnLst/>
              <a:rect l="l" t="t" r="r" b="b"/>
              <a:pathLst>
                <a:path w="1885950" h="762000">
                  <a:moveTo>
                    <a:pt x="942975" y="0"/>
                  </a:moveTo>
                  <a:lnTo>
                    <a:pt x="875627" y="956"/>
                  </a:lnTo>
                  <a:lnTo>
                    <a:pt x="809558" y="3783"/>
                  </a:lnTo>
                  <a:lnTo>
                    <a:pt x="744927" y="8415"/>
                  </a:lnTo>
                  <a:lnTo>
                    <a:pt x="681894" y="14788"/>
                  </a:lnTo>
                  <a:lnTo>
                    <a:pt x="620618" y="22839"/>
                  </a:lnTo>
                  <a:lnTo>
                    <a:pt x="561259" y="32501"/>
                  </a:lnTo>
                  <a:lnTo>
                    <a:pt x="503977" y="43711"/>
                  </a:lnTo>
                  <a:lnTo>
                    <a:pt x="448930" y="56405"/>
                  </a:lnTo>
                  <a:lnTo>
                    <a:pt x="396279" y="70518"/>
                  </a:lnTo>
                  <a:lnTo>
                    <a:pt x="346182" y="85985"/>
                  </a:lnTo>
                  <a:lnTo>
                    <a:pt x="298800" y="102743"/>
                  </a:lnTo>
                  <a:lnTo>
                    <a:pt x="254292" y="120726"/>
                  </a:lnTo>
                  <a:lnTo>
                    <a:pt x="212817" y="139870"/>
                  </a:lnTo>
                  <a:lnTo>
                    <a:pt x="174535" y="160111"/>
                  </a:lnTo>
                  <a:lnTo>
                    <a:pt x="139606" y="181384"/>
                  </a:lnTo>
                  <a:lnTo>
                    <a:pt x="108188" y="203625"/>
                  </a:lnTo>
                  <a:lnTo>
                    <a:pt x="56527" y="250753"/>
                  </a:lnTo>
                  <a:lnTo>
                    <a:pt x="20828" y="300979"/>
                  </a:lnTo>
                  <a:lnTo>
                    <a:pt x="2367" y="353788"/>
                  </a:lnTo>
                  <a:lnTo>
                    <a:pt x="0" y="381000"/>
                  </a:lnTo>
                  <a:lnTo>
                    <a:pt x="2367" y="408211"/>
                  </a:lnTo>
                  <a:lnTo>
                    <a:pt x="20828" y="461020"/>
                  </a:lnTo>
                  <a:lnTo>
                    <a:pt x="56527" y="511246"/>
                  </a:lnTo>
                  <a:lnTo>
                    <a:pt x="108188" y="558374"/>
                  </a:lnTo>
                  <a:lnTo>
                    <a:pt x="139606" y="580615"/>
                  </a:lnTo>
                  <a:lnTo>
                    <a:pt x="174535" y="601888"/>
                  </a:lnTo>
                  <a:lnTo>
                    <a:pt x="212817" y="622129"/>
                  </a:lnTo>
                  <a:lnTo>
                    <a:pt x="254292" y="641273"/>
                  </a:lnTo>
                  <a:lnTo>
                    <a:pt x="298800" y="659256"/>
                  </a:lnTo>
                  <a:lnTo>
                    <a:pt x="346182" y="676014"/>
                  </a:lnTo>
                  <a:lnTo>
                    <a:pt x="396279" y="691481"/>
                  </a:lnTo>
                  <a:lnTo>
                    <a:pt x="448930" y="705594"/>
                  </a:lnTo>
                  <a:lnTo>
                    <a:pt x="503977" y="718288"/>
                  </a:lnTo>
                  <a:lnTo>
                    <a:pt x="561259" y="729498"/>
                  </a:lnTo>
                  <a:lnTo>
                    <a:pt x="620618" y="739160"/>
                  </a:lnTo>
                  <a:lnTo>
                    <a:pt x="681894" y="747211"/>
                  </a:lnTo>
                  <a:lnTo>
                    <a:pt x="744927" y="753584"/>
                  </a:lnTo>
                  <a:lnTo>
                    <a:pt x="809558" y="758216"/>
                  </a:lnTo>
                  <a:lnTo>
                    <a:pt x="875627" y="761043"/>
                  </a:lnTo>
                  <a:lnTo>
                    <a:pt x="942975" y="762000"/>
                  </a:lnTo>
                  <a:lnTo>
                    <a:pt x="1010322" y="761043"/>
                  </a:lnTo>
                  <a:lnTo>
                    <a:pt x="1076391" y="758216"/>
                  </a:lnTo>
                  <a:lnTo>
                    <a:pt x="1141022" y="753584"/>
                  </a:lnTo>
                  <a:lnTo>
                    <a:pt x="1204055" y="747211"/>
                  </a:lnTo>
                  <a:lnTo>
                    <a:pt x="1265331" y="739160"/>
                  </a:lnTo>
                  <a:lnTo>
                    <a:pt x="1324690" y="729498"/>
                  </a:lnTo>
                  <a:lnTo>
                    <a:pt x="1381972" y="718288"/>
                  </a:lnTo>
                  <a:lnTo>
                    <a:pt x="1437019" y="705594"/>
                  </a:lnTo>
                  <a:lnTo>
                    <a:pt x="1489670" y="691481"/>
                  </a:lnTo>
                  <a:lnTo>
                    <a:pt x="1539767" y="676014"/>
                  </a:lnTo>
                  <a:lnTo>
                    <a:pt x="1587149" y="659256"/>
                  </a:lnTo>
                  <a:lnTo>
                    <a:pt x="1631657" y="641273"/>
                  </a:lnTo>
                  <a:lnTo>
                    <a:pt x="1673132" y="622129"/>
                  </a:lnTo>
                  <a:lnTo>
                    <a:pt x="1711414" y="601888"/>
                  </a:lnTo>
                  <a:lnTo>
                    <a:pt x="1746343" y="580615"/>
                  </a:lnTo>
                  <a:lnTo>
                    <a:pt x="1777761" y="558374"/>
                  </a:lnTo>
                  <a:lnTo>
                    <a:pt x="1829422" y="511246"/>
                  </a:lnTo>
                  <a:lnTo>
                    <a:pt x="1865121" y="461020"/>
                  </a:lnTo>
                  <a:lnTo>
                    <a:pt x="1883582" y="408211"/>
                  </a:lnTo>
                  <a:lnTo>
                    <a:pt x="1885950" y="381000"/>
                  </a:lnTo>
                  <a:lnTo>
                    <a:pt x="1883582" y="353788"/>
                  </a:lnTo>
                  <a:lnTo>
                    <a:pt x="1865121" y="300979"/>
                  </a:lnTo>
                  <a:lnTo>
                    <a:pt x="1829422" y="250753"/>
                  </a:lnTo>
                  <a:lnTo>
                    <a:pt x="1777761" y="203625"/>
                  </a:lnTo>
                  <a:lnTo>
                    <a:pt x="1746343" y="181384"/>
                  </a:lnTo>
                  <a:lnTo>
                    <a:pt x="1711414" y="160111"/>
                  </a:lnTo>
                  <a:lnTo>
                    <a:pt x="1673132" y="139870"/>
                  </a:lnTo>
                  <a:lnTo>
                    <a:pt x="1631657" y="120726"/>
                  </a:lnTo>
                  <a:lnTo>
                    <a:pt x="1587149" y="102743"/>
                  </a:lnTo>
                  <a:lnTo>
                    <a:pt x="1539767" y="85985"/>
                  </a:lnTo>
                  <a:lnTo>
                    <a:pt x="1489670" y="70518"/>
                  </a:lnTo>
                  <a:lnTo>
                    <a:pt x="1437019" y="56405"/>
                  </a:lnTo>
                  <a:lnTo>
                    <a:pt x="1381972" y="43711"/>
                  </a:lnTo>
                  <a:lnTo>
                    <a:pt x="1324690" y="32501"/>
                  </a:lnTo>
                  <a:lnTo>
                    <a:pt x="1265331" y="22839"/>
                  </a:lnTo>
                  <a:lnTo>
                    <a:pt x="1204055" y="14788"/>
                  </a:lnTo>
                  <a:lnTo>
                    <a:pt x="1141022" y="8415"/>
                  </a:lnTo>
                  <a:lnTo>
                    <a:pt x="1076391" y="3783"/>
                  </a:lnTo>
                  <a:lnTo>
                    <a:pt x="1010322" y="956"/>
                  </a:lnTo>
                  <a:lnTo>
                    <a:pt x="942975" y="0"/>
                  </a:lnTo>
                  <a:close/>
                </a:path>
              </a:pathLst>
            </a:custGeom>
            <a:solidFill>
              <a:srgbClr val="FFCC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5102859" y="799572"/>
            <a:ext cx="3733165" cy="904240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2397760">
              <a:lnSpc>
                <a:spcPct val="100000"/>
              </a:lnSpc>
              <a:spcBef>
                <a:spcPts val="860"/>
              </a:spcBef>
            </a:pPr>
            <a:r>
              <a:rPr sz="2000" spc="-155">
                <a:latin typeface="Arial MT"/>
                <a:cs typeface="Arial MT"/>
              </a:rPr>
              <a:t>Neuroscience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sz="2400">
                <a:latin typeface="Calibri"/>
                <a:cs typeface="Calibri"/>
              </a:rPr>
              <a:t>Machine</a:t>
            </a:r>
            <a:r>
              <a:rPr sz="2400" spc="-9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Learning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325359" y="4618672"/>
            <a:ext cx="1741170" cy="158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95"/>
              </a:lnSpc>
            </a:pPr>
            <a:r>
              <a:rPr sz="1050">
                <a:latin typeface="Calibri"/>
                <a:cs typeface="Calibri"/>
              </a:rPr>
              <a:t>Slide</a:t>
            </a:r>
            <a:r>
              <a:rPr sz="1050" spc="-30">
                <a:latin typeface="Calibri"/>
                <a:cs typeface="Calibri"/>
              </a:rPr>
              <a:t> </a:t>
            </a:r>
            <a:r>
              <a:rPr sz="1050">
                <a:latin typeface="Calibri"/>
                <a:cs typeface="Calibri"/>
              </a:rPr>
              <a:t>inspiration:</a:t>
            </a:r>
            <a:r>
              <a:rPr sz="1050" spc="-10">
                <a:latin typeface="Calibri"/>
                <a:cs typeface="Calibri"/>
              </a:rPr>
              <a:t> Justin</a:t>
            </a:r>
            <a:r>
              <a:rPr sz="1050" spc="-50">
                <a:latin typeface="Calibri"/>
                <a:cs typeface="Calibri"/>
              </a:rPr>
              <a:t> </a:t>
            </a:r>
            <a:r>
              <a:rPr sz="1050" spc="-10">
                <a:latin typeface="Calibri"/>
                <a:cs typeface="Calibri"/>
              </a:rPr>
              <a:t>Johnson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3" name="object 4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9</a:t>
            </a:fld>
            <a:endParaRPr spc="-25"/>
          </a:p>
        </p:txBody>
      </p:sp>
      <p:sp>
        <p:nvSpPr>
          <p:cNvPr id="44" name="object 4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>
              <a:lnSpc>
                <a:spcPts val="1810"/>
              </a:lnSpc>
            </a:pPr>
            <a:r>
              <a:t>April 1,</a:t>
            </a:r>
            <a:r>
              <a:rPr spc="-35"/>
              <a:t> </a:t>
            </a:r>
            <a:r>
              <a:rPr spc="-20"/>
              <a:t>2025</a:t>
            </a:r>
          </a:p>
        </p:txBody>
      </p:sp>
      <p:sp>
        <p:nvSpPr>
          <p:cNvPr id="45" name="object 4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t>CS231n:</a:t>
            </a:r>
            <a:r>
              <a:rPr spc="-5"/>
              <a:t> </a:t>
            </a:r>
            <a:r>
              <a:t>Lecture</a:t>
            </a:r>
            <a:r>
              <a:rPr spc="95"/>
              <a:t> </a:t>
            </a:r>
            <a:r>
              <a:t>1</a:t>
            </a:r>
            <a:r>
              <a:rPr spc="15"/>
              <a:t> </a:t>
            </a:r>
            <a:r>
              <a:rPr spc="-50"/>
              <a:t>-</a:t>
            </a:r>
          </a:p>
        </p:txBody>
      </p:sp>
      <p:sp>
        <p:nvSpPr>
          <p:cNvPr id="46" name="object 46"/>
          <p:cNvSpPr txBox="1"/>
          <p:nvPr/>
        </p:nvSpPr>
        <p:spPr>
          <a:xfrm>
            <a:off x="307657" y="4910517"/>
            <a:ext cx="2085339" cy="1536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Fei-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Fei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Li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9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Ehsan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Adeli</a:t>
            </a: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90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Zane Durante</a:t>
            </a:r>
            <a:endParaRPr sz="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657" y="4899659"/>
            <a:ext cx="2085339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Fei-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Fei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Li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9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Ehsan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Adeli</a:t>
            </a: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90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Zane Durante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69130" y="4805362"/>
            <a:ext cx="1932939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690370" algn="l"/>
              </a:tabLst>
            </a:pPr>
            <a:r>
              <a:rPr sz="1250">
                <a:solidFill>
                  <a:srgbClr val="FFFFFF"/>
                </a:solidFill>
                <a:latin typeface="Arial MT"/>
                <a:cs typeface="Arial MT"/>
              </a:rPr>
              <a:t>CS231n:</a:t>
            </a:r>
            <a:r>
              <a:rPr sz="12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50">
                <a:solidFill>
                  <a:srgbClr val="FFFFFF"/>
                </a:solidFill>
                <a:latin typeface="Arial MT"/>
                <a:cs typeface="Arial MT"/>
              </a:rPr>
              <a:t>Lecture</a:t>
            </a:r>
            <a:r>
              <a:rPr sz="1250" spc="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50">
                <a:solidFill>
                  <a:srgbClr val="FFFFFF"/>
                </a:solidFill>
                <a:latin typeface="Arial MT"/>
                <a:cs typeface="Arial MT"/>
              </a:rPr>
              <a:t>1</a:t>
            </a:r>
            <a:r>
              <a:rPr sz="1250" spc="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50" spc="-50">
                <a:solidFill>
                  <a:srgbClr val="FFFFFF"/>
                </a:solidFill>
                <a:latin typeface="Arial MT"/>
                <a:cs typeface="Arial MT"/>
              </a:rPr>
              <a:t>-</a:t>
            </a:r>
            <a:r>
              <a:rPr sz="125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1800" spc="-25">
                <a:solidFill>
                  <a:srgbClr val="FFFFFF"/>
                </a:solidFill>
                <a:latin typeface="Calibri"/>
                <a:cs typeface="Calibri"/>
              </a:rPr>
              <a:t>13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224529" y="351726"/>
            <a:ext cx="2704465" cy="529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65">
                <a:latin typeface="Arial MT"/>
                <a:cs typeface="Arial MT"/>
              </a:rPr>
              <a:t>Today’s</a:t>
            </a:r>
            <a:r>
              <a:rPr spc="30">
                <a:latin typeface="Arial MT"/>
                <a:cs typeface="Arial MT"/>
              </a:rPr>
              <a:t> </a:t>
            </a:r>
            <a:r>
              <a:rPr spc="-95">
                <a:latin typeface="Arial MT"/>
                <a:cs typeface="Arial MT"/>
              </a:rPr>
              <a:t>agenda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36575" y="1216405"/>
            <a:ext cx="6665595" cy="128817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9875" indent="-257175">
              <a:lnSpc>
                <a:spcPct val="100000"/>
              </a:lnSpc>
              <a:spcBef>
                <a:spcPts val="105"/>
              </a:spcBef>
              <a:buChar char="•"/>
              <a:tabLst>
                <a:tab pos="269875" algn="l"/>
              </a:tabLst>
            </a:pPr>
            <a:r>
              <a:rPr sz="2400" spc="-160">
                <a:latin typeface="Arial MT"/>
                <a:cs typeface="Arial MT"/>
              </a:rPr>
              <a:t>A</a:t>
            </a:r>
            <a:r>
              <a:rPr sz="2400" spc="-20">
                <a:latin typeface="Arial MT"/>
                <a:cs typeface="Arial MT"/>
              </a:rPr>
              <a:t> </a:t>
            </a:r>
            <a:r>
              <a:rPr sz="2400">
                <a:latin typeface="Arial MT"/>
                <a:cs typeface="Arial MT"/>
              </a:rPr>
              <a:t>brief</a:t>
            </a:r>
            <a:r>
              <a:rPr sz="2400" spc="-20">
                <a:latin typeface="Arial MT"/>
                <a:cs typeface="Arial MT"/>
              </a:rPr>
              <a:t> </a:t>
            </a:r>
            <a:r>
              <a:rPr sz="2400" spc="-125">
                <a:latin typeface="Arial MT"/>
                <a:cs typeface="Arial MT"/>
              </a:rPr>
              <a:t>history</a:t>
            </a:r>
            <a:r>
              <a:rPr sz="2400" spc="-10">
                <a:latin typeface="Arial MT"/>
                <a:cs typeface="Arial MT"/>
              </a:rPr>
              <a:t> </a:t>
            </a:r>
            <a:r>
              <a:rPr sz="2400">
                <a:latin typeface="Arial MT"/>
                <a:cs typeface="Arial MT"/>
              </a:rPr>
              <a:t>of</a:t>
            </a:r>
            <a:r>
              <a:rPr sz="2400" spc="15">
                <a:latin typeface="Arial MT"/>
                <a:cs typeface="Arial MT"/>
              </a:rPr>
              <a:t> </a:t>
            </a:r>
            <a:r>
              <a:rPr sz="2400" spc="-165">
                <a:latin typeface="Arial MT"/>
                <a:cs typeface="Arial MT"/>
              </a:rPr>
              <a:t>computer</a:t>
            </a:r>
            <a:r>
              <a:rPr sz="2400" spc="15">
                <a:latin typeface="Arial MT"/>
                <a:cs typeface="Arial MT"/>
              </a:rPr>
              <a:t> </a:t>
            </a:r>
            <a:r>
              <a:rPr sz="2400" spc="-185">
                <a:latin typeface="Arial MT"/>
                <a:cs typeface="Arial MT"/>
              </a:rPr>
              <a:t>vision</a:t>
            </a:r>
            <a:r>
              <a:rPr sz="2400" spc="-5">
                <a:latin typeface="Arial MT"/>
                <a:cs typeface="Arial MT"/>
              </a:rPr>
              <a:t> </a:t>
            </a:r>
            <a:r>
              <a:rPr sz="2400" spc="-110">
                <a:latin typeface="Arial MT"/>
                <a:cs typeface="Arial MT"/>
              </a:rPr>
              <a:t>and</a:t>
            </a:r>
            <a:r>
              <a:rPr sz="2400" spc="-55">
                <a:latin typeface="Arial MT"/>
                <a:cs typeface="Arial MT"/>
              </a:rPr>
              <a:t> </a:t>
            </a:r>
            <a:r>
              <a:rPr sz="2400" spc="-40">
                <a:latin typeface="Arial MT"/>
                <a:cs typeface="Arial MT"/>
              </a:rPr>
              <a:t>deep</a:t>
            </a:r>
            <a:r>
              <a:rPr sz="2400" spc="10">
                <a:latin typeface="Arial MT"/>
                <a:cs typeface="Arial MT"/>
              </a:rPr>
              <a:t> </a:t>
            </a:r>
            <a:r>
              <a:rPr sz="2400" spc="-60">
                <a:latin typeface="Arial MT"/>
                <a:cs typeface="Arial MT"/>
              </a:rPr>
              <a:t>learning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70"/>
              </a:spcBef>
              <a:buFont typeface="Arial MT"/>
              <a:buChar char="•"/>
            </a:pPr>
            <a:endParaRPr sz="2400">
              <a:latin typeface="Arial MT"/>
              <a:cs typeface="Arial MT"/>
            </a:endParaRPr>
          </a:p>
          <a:p>
            <a:pPr marL="269875" indent="-257175">
              <a:lnSpc>
                <a:spcPct val="100000"/>
              </a:lnSpc>
              <a:buChar char="•"/>
              <a:tabLst>
                <a:tab pos="269875" algn="l"/>
              </a:tabLst>
            </a:pPr>
            <a:r>
              <a:rPr sz="2400" spc="-185">
                <a:latin typeface="Arial MT"/>
                <a:cs typeface="Arial MT"/>
              </a:rPr>
              <a:t>C</a:t>
            </a:r>
            <a:r>
              <a:rPr lang="en-US" sz="2400" spc="-185">
                <a:latin typeface="Arial MT"/>
                <a:cs typeface="Arial MT"/>
              </a:rPr>
              <a:t>ourse</a:t>
            </a:r>
            <a:r>
              <a:rPr sz="2400" spc="25">
                <a:latin typeface="Arial MT"/>
                <a:cs typeface="Arial MT"/>
              </a:rPr>
              <a:t> </a:t>
            </a:r>
            <a:r>
              <a:rPr sz="2400" spc="-10">
                <a:latin typeface="Arial MT"/>
                <a:cs typeface="Arial MT"/>
              </a:rPr>
              <a:t>overview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24650" y="4835525"/>
            <a:ext cx="6934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>
                <a:solidFill>
                  <a:srgbClr val="FFFFFF"/>
                </a:solidFill>
                <a:latin typeface="Calibri"/>
                <a:cs typeface="Calibri"/>
              </a:rPr>
              <a:t>April</a:t>
            </a:r>
            <a:r>
              <a:rPr sz="18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>
                <a:solidFill>
                  <a:srgbClr val="FFFFFF"/>
                </a:solidFill>
                <a:latin typeface="Calibri"/>
                <a:cs typeface="Calibri"/>
              </a:rPr>
              <a:t>1,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69130" y="4872354"/>
            <a:ext cx="1478280" cy="2203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>
                <a:solidFill>
                  <a:srgbClr val="FFFFFF"/>
                </a:solidFill>
                <a:latin typeface="Arial MT"/>
                <a:cs typeface="Arial MT"/>
              </a:rPr>
              <a:t>CS231n:</a:t>
            </a:r>
            <a:r>
              <a:rPr sz="12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50">
                <a:solidFill>
                  <a:srgbClr val="FFFFFF"/>
                </a:solidFill>
                <a:latin typeface="Arial MT"/>
                <a:cs typeface="Arial MT"/>
              </a:rPr>
              <a:t>Lecture</a:t>
            </a:r>
            <a:r>
              <a:rPr sz="1250" spc="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50">
                <a:solidFill>
                  <a:srgbClr val="FFFFFF"/>
                </a:solidFill>
                <a:latin typeface="Arial MT"/>
                <a:cs typeface="Arial MT"/>
              </a:rPr>
              <a:t>1</a:t>
            </a:r>
            <a:r>
              <a:rPr sz="1250" spc="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50" spc="-50">
                <a:solidFill>
                  <a:srgbClr val="FFFFFF"/>
                </a:solidFill>
                <a:latin typeface="Arial MT"/>
                <a:cs typeface="Arial MT"/>
              </a:rPr>
              <a:t>-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657" y="4899659"/>
            <a:ext cx="2085339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Fei-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Fei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Li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9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Ehsan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Adeli</a:t>
            </a: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90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Zane Durante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80" algn="ctr">
              <a:lnSpc>
                <a:spcPct val="100000"/>
              </a:lnSpc>
              <a:spcBef>
                <a:spcPts val="105"/>
              </a:spcBef>
            </a:pPr>
            <a:r>
              <a:rPr sz="3000" spc="-30"/>
              <a:t>Evolution’s</a:t>
            </a:r>
            <a:r>
              <a:rPr sz="3000" spc="-75"/>
              <a:t> </a:t>
            </a:r>
            <a:r>
              <a:rPr sz="3000"/>
              <a:t>Big</a:t>
            </a:r>
            <a:r>
              <a:rPr sz="3000" spc="-10"/>
              <a:t> </a:t>
            </a:r>
            <a:r>
              <a:rPr sz="3000" spc="-20"/>
              <a:t>Bang:</a:t>
            </a:r>
            <a:endParaRPr sz="3000"/>
          </a:p>
          <a:p>
            <a:pPr marL="3810" algn="ctr">
              <a:lnSpc>
                <a:spcPct val="100000"/>
              </a:lnSpc>
              <a:spcBef>
                <a:spcPts val="5"/>
              </a:spcBef>
            </a:pPr>
            <a:r>
              <a:rPr sz="3000"/>
              <a:t>Cambrian</a:t>
            </a:r>
            <a:r>
              <a:rPr sz="3000" spc="-75"/>
              <a:t> </a:t>
            </a:r>
            <a:r>
              <a:rPr sz="3000"/>
              <a:t>Explosion,</a:t>
            </a:r>
            <a:r>
              <a:rPr sz="3000" spc="-65"/>
              <a:t> </a:t>
            </a:r>
            <a:r>
              <a:rPr sz="3000" spc="-10"/>
              <a:t>530-</a:t>
            </a:r>
            <a:r>
              <a:rPr sz="3000"/>
              <a:t>540million</a:t>
            </a:r>
            <a:r>
              <a:rPr sz="3000" spc="-85"/>
              <a:t> </a:t>
            </a:r>
            <a:r>
              <a:rPr sz="3000" spc="-10"/>
              <a:t>years,</a:t>
            </a:r>
            <a:r>
              <a:rPr sz="3000" spc="-65"/>
              <a:t> </a:t>
            </a:r>
            <a:r>
              <a:rPr sz="3000" spc="-20"/>
              <a:t>B.C.</a:t>
            </a:r>
            <a:endParaRPr sz="3000"/>
          </a:p>
        </p:txBody>
      </p:sp>
      <p:sp>
        <p:nvSpPr>
          <p:cNvPr id="5" name="object 5"/>
          <p:cNvSpPr txBox="1"/>
          <p:nvPr/>
        </p:nvSpPr>
        <p:spPr>
          <a:xfrm>
            <a:off x="5647054" y="4817745"/>
            <a:ext cx="2546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>
                <a:solidFill>
                  <a:srgbClr val="FFFFFF"/>
                </a:solidFill>
                <a:latin typeface="Calibri"/>
                <a:cs typeface="Calibri"/>
              </a:rPr>
              <a:t>14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43494" y="4822825"/>
            <a:ext cx="12077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>
                <a:solidFill>
                  <a:srgbClr val="FFFFFF"/>
                </a:solidFill>
                <a:latin typeface="Calibri"/>
                <a:cs typeface="Calibri"/>
              </a:rPr>
              <a:t>April 1,</a:t>
            </a:r>
            <a:r>
              <a:rPr sz="1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>
                <a:solidFill>
                  <a:srgbClr val="FFFFFF"/>
                </a:solidFill>
                <a:latin typeface="Calibri"/>
                <a:cs typeface="Calibri"/>
              </a:rPr>
              <a:t>2025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8250" y="1028700"/>
            <a:ext cx="3333750" cy="343852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00650" y="914400"/>
            <a:ext cx="2381250" cy="17907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81600" y="2924175"/>
            <a:ext cx="2276475" cy="1704975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5717794" y="4629150"/>
            <a:ext cx="1214120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u="sng" spc="-100">
                <a:solidFill>
                  <a:srgbClr val="A4A4A4"/>
                </a:solidFill>
                <a:uFill>
                  <a:solidFill>
                    <a:srgbClr val="A4A4A4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sz="600" u="sng">
                <a:solidFill>
                  <a:srgbClr val="A4A4A4"/>
                </a:solidFill>
                <a:uFill>
                  <a:solidFill>
                    <a:srgbClr val="A4A4A4"/>
                  </a:solidFill>
                </a:uFill>
                <a:latin typeface="Calibri"/>
                <a:cs typeface="Calibri"/>
                <a:hlinkClick r:id="rId5"/>
              </a:rPr>
              <a:t>This</a:t>
            </a:r>
            <a:r>
              <a:rPr sz="600" u="sng" spc="20">
                <a:solidFill>
                  <a:srgbClr val="A4A4A4"/>
                </a:solidFill>
                <a:uFill>
                  <a:solidFill>
                    <a:srgbClr val="A4A4A4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sz="600" u="sng" spc="-10">
                <a:solidFill>
                  <a:srgbClr val="A4A4A4"/>
                </a:solidFill>
                <a:uFill>
                  <a:solidFill>
                    <a:srgbClr val="A4A4A4"/>
                  </a:solidFill>
                </a:uFill>
                <a:latin typeface="Calibri"/>
                <a:cs typeface="Calibri"/>
                <a:hlinkClick r:id="rId5"/>
              </a:rPr>
              <a:t>image</a:t>
            </a:r>
            <a:r>
              <a:rPr sz="600" spc="-20">
                <a:solidFill>
                  <a:srgbClr val="A4A4A4"/>
                </a:solidFill>
                <a:latin typeface="Calibri"/>
                <a:cs typeface="Calibri"/>
              </a:rPr>
              <a:t> </a:t>
            </a:r>
            <a:r>
              <a:rPr sz="600">
                <a:solidFill>
                  <a:srgbClr val="A6A6A6"/>
                </a:solidFill>
                <a:latin typeface="Calibri"/>
                <a:cs typeface="Calibri"/>
              </a:rPr>
              <a:t>is</a:t>
            </a:r>
            <a:r>
              <a:rPr sz="600" spc="1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600" spc="-10">
                <a:solidFill>
                  <a:srgbClr val="A6A6A6"/>
                </a:solidFill>
                <a:latin typeface="Calibri"/>
                <a:cs typeface="Calibri"/>
              </a:rPr>
              <a:t>licensed</a:t>
            </a:r>
            <a:r>
              <a:rPr sz="600" spc="1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600">
                <a:solidFill>
                  <a:srgbClr val="A6A6A6"/>
                </a:solidFill>
                <a:latin typeface="Calibri"/>
                <a:cs typeface="Calibri"/>
              </a:rPr>
              <a:t>under</a:t>
            </a:r>
            <a:r>
              <a:rPr sz="600" spc="-45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600" u="sng" spc="-95">
                <a:solidFill>
                  <a:srgbClr val="A4A4A4"/>
                </a:solidFill>
                <a:uFill>
                  <a:solidFill>
                    <a:srgbClr val="A4A4A4"/>
                  </a:solidFill>
                </a:uFill>
                <a:latin typeface="Calibri"/>
                <a:cs typeface="Calibri"/>
                <a:hlinkClick r:id="rId6"/>
              </a:rPr>
              <a:t> </a:t>
            </a:r>
            <a:r>
              <a:rPr sz="600" u="sng" spc="-10">
                <a:solidFill>
                  <a:srgbClr val="A4A4A4"/>
                </a:solidFill>
                <a:uFill>
                  <a:solidFill>
                    <a:srgbClr val="A4A4A4"/>
                  </a:solidFill>
                </a:uFill>
                <a:latin typeface="Calibri"/>
                <a:cs typeface="Calibri"/>
                <a:hlinkClick r:id="rId6"/>
              </a:rPr>
              <a:t>CC-</a:t>
            </a:r>
            <a:r>
              <a:rPr sz="600" u="sng">
                <a:solidFill>
                  <a:srgbClr val="A4A4A4"/>
                </a:solidFill>
                <a:uFill>
                  <a:solidFill>
                    <a:srgbClr val="A4A4A4"/>
                  </a:solidFill>
                </a:uFill>
                <a:latin typeface="Calibri"/>
                <a:cs typeface="Calibri"/>
                <a:hlinkClick r:id="rId6"/>
              </a:rPr>
              <a:t>BY</a:t>
            </a:r>
            <a:r>
              <a:rPr sz="600" u="sng" spc="35">
                <a:solidFill>
                  <a:srgbClr val="A4A4A4"/>
                </a:solidFill>
                <a:uFill>
                  <a:solidFill>
                    <a:srgbClr val="A4A4A4"/>
                  </a:solidFill>
                </a:uFill>
                <a:latin typeface="Calibri"/>
                <a:cs typeface="Calibri"/>
                <a:hlinkClick r:id="rId6"/>
              </a:rPr>
              <a:t> </a:t>
            </a:r>
            <a:r>
              <a:rPr sz="600" u="sng" spc="-25">
                <a:solidFill>
                  <a:srgbClr val="A4A4A4"/>
                </a:solidFill>
                <a:uFill>
                  <a:solidFill>
                    <a:srgbClr val="A4A4A4"/>
                  </a:solidFill>
                </a:uFill>
                <a:latin typeface="Calibri"/>
                <a:cs typeface="Calibri"/>
                <a:hlinkClick r:id="rId6"/>
              </a:rPr>
              <a:t>3.0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91453" y="2732341"/>
            <a:ext cx="1209040" cy="117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u="sng">
                <a:solidFill>
                  <a:srgbClr val="A4A4A4"/>
                </a:solidFill>
                <a:uFill>
                  <a:solidFill>
                    <a:srgbClr val="A4A4A4"/>
                  </a:solidFill>
                </a:uFill>
                <a:latin typeface="Calibri"/>
                <a:cs typeface="Calibri"/>
                <a:hlinkClick r:id="rId5"/>
              </a:rPr>
              <a:t>This</a:t>
            </a:r>
            <a:r>
              <a:rPr sz="600" u="sng" spc="15">
                <a:solidFill>
                  <a:srgbClr val="A4A4A4"/>
                </a:solidFill>
                <a:uFill>
                  <a:solidFill>
                    <a:srgbClr val="A4A4A4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sz="600" u="sng">
                <a:solidFill>
                  <a:srgbClr val="A4A4A4"/>
                </a:solidFill>
                <a:uFill>
                  <a:solidFill>
                    <a:srgbClr val="A4A4A4"/>
                  </a:solidFill>
                </a:uFill>
                <a:latin typeface="Calibri"/>
                <a:cs typeface="Calibri"/>
                <a:hlinkClick r:id="rId5"/>
              </a:rPr>
              <a:t>image</a:t>
            </a:r>
            <a:r>
              <a:rPr sz="600" spc="-15">
                <a:solidFill>
                  <a:srgbClr val="A4A4A4"/>
                </a:solidFill>
                <a:latin typeface="Calibri"/>
                <a:cs typeface="Calibri"/>
              </a:rPr>
              <a:t> </a:t>
            </a:r>
            <a:r>
              <a:rPr sz="600">
                <a:solidFill>
                  <a:srgbClr val="A6A6A6"/>
                </a:solidFill>
                <a:latin typeface="Calibri"/>
                <a:cs typeface="Calibri"/>
              </a:rPr>
              <a:t>is</a:t>
            </a:r>
            <a:r>
              <a:rPr sz="600" spc="15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600" spc="-10">
                <a:solidFill>
                  <a:srgbClr val="A6A6A6"/>
                </a:solidFill>
                <a:latin typeface="Calibri"/>
                <a:cs typeface="Calibri"/>
              </a:rPr>
              <a:t>licensed</a:t>
            </a:r>
            <a:r>
              <a:rPr sz="600" spc="1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600">
                <a:solidFill>
                  <a:srgbClr val="A6A6A6"/>
                </a:solidFill>
                <a:latin typeface="Calibri"/>
                <a:cs typeface="Calibri"/>
              </a:rPr>
              <a:t>under</a:t>
            </a:r>
            <a:r>
              <a:rPr sz="600" u="sng" spc="-50">
                <a:solidFill>
                  <a:srgbClr val="A4A4A4"/>
                </a:solidFill>
                <a:uFill>
                  <a:solidFill>
                    <a:srgbClr val="A4A4A4"/>
                  </a:solidFill>
                </a:uFill>
                <a:latin typeface="Calibri"/>
                <a:cs typeface="Calibri"/>
              </a:rPr>
              <a:t> </a:t>
            </a:r>
            <a:r>
              <a:rPr sz="600" u="sng" spc="-10">
                <a:solidFill>
                  <a:srgbClr val="A4A4A4"/>
                </a:solidFill>
                <a:uFill>
                  <a:solidFill>
                    <a:srgbClr val="A4A4A4"/>
                  </a:solidFill>
                </a:uFill>
                <a:latin typeface="Calibri"/>
                <a:cs typeface="Calibri"/>
                <a:hlinkClick r:id="rId7"/>
              </a:rPr>
              <a:t>CC-</a:t>
            </a:r>
            <a:r>
              <a:rPr sz="600" u="sng">
                <a:solidFill>
                  <a:srgbClr val="A4A4A4"/>
                </a:solidFill>
                <a:uFill>
                  <a:solidFill>
                    <a:srgbClr val="A4A4A4"/>
                  </a:solidFill>
                </a:uFill>
                <a:latin typeface="Calibri"/>
                <a:cs typeface="Calibri"/>
                <a:hlinkClick r:id="rId7"/>
              </a:rPr>
              <a:t>BY</a:t>
            </a:r>
            <a:r>
              <a:rPr sz="600" u="sng" spc="35">
                <a:solidFill>
                  <a:srgbClr val="A4A4A4"/>
                </a:solidFill>
                <a:uFill>
                  <a:solidFill>
                    <a:srgbClr val="A4A4A4"/>
                  </a:solidFill>
                </a:uFill>
                <a:latin typeface="Calibri"/>
                <a:cs typeface="Calibri"/>
                <a:hlinkClick r:id="rId7"/>
              </a:rPr>
              <a:t> </a:t>
            </a:r>
            <a:r>
              <a:rPr sz="600" u="sng" spc="-25">
                <a:solidFill>
                  <a:srgbClr val="A4A4A4"/>
                </a:solidFill>
                <a:uFill>
                  <a:solidFill>
                    <a:srgbClr val="A4A4A4"/>
                  </a:solidFill>
                </a:uFill>
                <a:latin typeface="Calibri"/>
                <a:cs typeface="Calibri"/>
                <a:hlinkClick r:id="rId7"/>
              </a:rPr>
              <a:t>2.5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39747" y="4511675"/>
            <a:ext cx="121221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u="sng" spc="-110">
                <a:solidFill>
                  <a:srgbClr val="A4A4A4"/>
                </a:solidFill>
                <a:uFill>
                  <a:solidFill>
                    <a:srgbClr val="A4A4A4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sz="600" u="sng">
                <a:solidFill>
                  <a:srgbClr val="A4A4A4"/>
                </a:solidFill>
                <a:uFill>
                  <a:solidFill>
                    <a:srgbClr val="A4A4A4"/>
                  </a:solidFill>
                </a:uFill>
                <a:latin typeface="Calibri"/>
                <a:cs typeface="Calibri"/>
                <a:hlinkClick r:id="rId5"/>
              </a:rPr>
              <a:t>This</a:t>
            </a:r>
            <a:r>
              <a:rPr sz="600" u="sng" spc="5">
                <a:solidFill>
                  <a:srgbClr val="A4A4A4"/>
                </a:solidFill>
                <a:uFill>
                  <a:solidFill>
                    <a:srgbClr val="A4A4A4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sz="600" u="sng">
                <a:solidFill>
                  <a:srgbClr val="A4A4A4"/>
                </a:solidFill>
                <a:uFill>
                  <a:solidFill>
                    <a:srgbClr val="A4A4A4"/>
                  </a:solidFill>
                </a:uFill>
                <a:latin typeface="Calibri"/>
                <a:cs typeface="Calibri"/>
                <a:hlinkClick r:id="rId5"/>
              </a:rPr>
              <a:t>image</a:t>
            </a:r>
            <a:r>
              <a:rPr sz="600" spc="-15">
                <a:solidFill>
                  <a:srgbClr val="A4A4A4"/>
                </a:solidFill>
                <a:latin typeface="Calibri"/>
                <a:cs typeface="Calibri"/>
              </a:rPr>
              <a:t> </a:t>
            </a:r>
            <a:r>
              <a:rPr sz="600">
                <a:solidFill>
                  <a:srgbClr val="A6A6A6"/>
                </a:solidFill>
                <a:latin typeface="Calibri"/>
                <a:cs typeface="Calibri"/>
              </a:rPr>
              <a:t>is</a:t>
            </a:r>
            <a:r>
              <a:rPr sz="600" spc="5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600" spc="-10">
                <a:solidFill>
                  <a:srgbClr val="A6A6A6"/>
                </a:solidFill>
                <a:latin typeface="Calibri"/>
                <a:cs typeface="Calibri"/>
              </a:rPr>
              <a:t>licensed</a:t>
            </a:r>
            <a:r>
              <a:rPr sz="600">
                <a:solidFill>
                  <a:srgbClr val="A6A6A6"/>
                </a:solidFill>
                <a:latin typeface="Calibri"/>
                <a:cs typeface="Calibri"/>
              </a:rPr>
              <a:t> under</a:t>
            </a:r>
            <a:r>
              <a:rPr sz="600" spc="-3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600" u="sng" spc="-114">
                <a:solidFill>
                  <a:srgbClr val="A4A4A4"/>
                </a:solidFill>
                <a:uFill>
                  <a:solidFill>
                    <a:srgbClr val="A4A4A4"/>
                  </a:solidFill>
                </a:uFill>
                <a:latin typeface="Calibri"/>
                <a:cs typeface="Calibri"/>
                <a:hlinkClick r:id="rId7"/>
              </a:rPr>
              <a:t> </a:t>
            </a:r>
            <a:r>
              <a:rPr sz="600" u="sng" spc="-10">
                <a:solidFill>
                  <a:srgbClr val="A4A4A4"/>
                </a:solidFill>
                <a:uFill>
                  <a:solidFill>
                    <a:srgbClr val="A4A4A4"/>
                  </a:solidFill>
                </a:uFill>
                <a:latin typeface="Calibri"/>
                <a:cs typeface="Calibri"/>
                <a:hlinkClick r:id="rId7"/>
              </a:rPr>
              <a:t>CC-</a:t>
            </a:r>
            <a:r>
              <a:rPr sz="600" u="sng">
                <a:solidFill>
                  <a:srgbClr val="A4A4A4"/>
                </a:solidFill>
                <a:uFill>
                  <a:solidFill>
                    <a:srgbClr val="A4A4A4"/>
                  </a:solidFill>
                </a:uFill>
                <a:latin typeface="Calibri"/>
                <a:cs typeface="Calibri"/>
                <a:hlinkClick r:id="rId7"/>
              </a:rPr>
              <a:t>BY</a:t>
            </a:r>
            <a:r>
              <a:rPr sz="600" u="sng" spc="25">
                <a:solidFill>
                  <a:srgbClr val="A4A4A4"/>
                </a:solidFill>
                <a:uFill>
                  <a:solidFill>
                    <a:srgbClr val="A4A4A4"/>
                  </a:solidFill>
                </a:uFill>
                <a:latin typeface="Calibri"/>
                <a:cs typeface="Calibri"/>
                <a:hlinkClick r:id="rId7"/>
              </a:rPr>
              <a:t> </a:t>
            </a:r>
            <a:r>
              <a:rPr sz="600" u="sng" spc="-25">
                <a:solidFill>
                  <a:srgbClr val="A4A4A4"/>
                </a:solidFill>
                <a:uFill>
                  <a:solidFill>
                    <a:srgbClr val="A4A4A4"/>
                  </a:solidFill>
                </a:uFill>
                <a:latin typeface="Calibri"/>
                <a:cs typeface="Calibri"/>
                <a:hlinkClick r:id="rId7"/>
              </a:rPr>
              <a:t>2.5</a:t>
            </a:r>
            <a:endParaRPr sz="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51435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25" y="0"/>
              <a:ext cx="9134474" cy="260032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25" y="2600324"/>
              <a:ext cx="9134474" cy="254317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708025" y="4822190"/>
            <a:ext cx="61849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>
                <a:solidFill>
                  <a:srgbClr val="888888"/>
                </a:solidFill>
                <a:latin typeface="Calibri"/>
                <a:cs typeface="Calibri"/>
              </a:rPr>
              <a:t>April</a:t>
            </a:r>
            <a:r>
              <a:rPr sz="900" spc="5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900">
                <a:solidFill>
                  <a:srgbClr val="888888"/>
                </a:solidFill>
                <a:latin typeface="Calibri"/>
                <a:cs typeface="Calibri"/>
              </a:rPr>
              <a:t>1,</a:t>
            </a:r>
            <a:r>
              <a:rPr sz="900" spc="-5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900" spc="-20">
                <a:solidFill>
                  <a:srgbClr val="888888"/>
                </a:solidFill>
                <a:latin typeface="Calibri"/>
                <a:cs typeface="Calibri"/>
              </a:rPr>
              <a:t>2025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304276" y="4822190"/>
            <a:ext cx="13970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>
                <a:solidFill>
                  <a:srgbClr val="888888"/>
                </a:solidFill>
                <a:latin typeface="Calibri"/>
                <a:cs typeface="Calibri"/>
              </a:rPr>
              <a:t>15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88691" y="105663"/>
            <a:ext cx="2887980" cy="529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4">
                <a:latin typeface="Arial MT"/>
                <a:cs typeface="Arial MT"/>
              </a:rPr>
              <a:t>Camera</a:t>
            </a:r>
            <a:r>
              <a:rPr spc="-5">
                <a:latin typeface="Arial MT"/>
                <a:cs typeface="Arial MT"/>
              </a:rPr>
              <a:t> </a:t>
            </a:r>
            <a:r>
              <a:rPr spc="-195">
                <a:latin typeface="Arial MT"/>
                <a:cs typeface="Arial MT"/>
              </a:rPr>
              <a:t>Obscura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00725" y="1028700"/>
            <a:ext cx="2076450" cy="332422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244595" y="3705542"/>
            <a:ext cx="1498600" cy="483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100"/>
              </a:spcBef>
            </a:pPr>
            <a:r>
              <a:rPr sz="1500" spc="-100">
                <a:latin typeface="Arial MT"/>
                <a:cs typeface="Arial MT"/>
              </a:rPr>
              <a:t>Leonardo</a:t>
            </a:r>
            <a:r>
              <a:rPr sz="1500" spc="15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da</a:t>
            </a:r>
            <a:r>
              <a:rPr sz="1500" spc="-55">
                <a:latin typeface="Arial MT"/>
                <a:cs typeface="Arial MT"/>
              </a:rPr>
              <a:t> </a:t>
            </a:r>
            <a:r>
              <a:rPr sz="1500" spc="-95">
                <a:latin typeface="Arial MT"/>
                <a:cs typeface="Arial MT"/>
              </a:rPr>
              <a:t>Vinci, </a:t>
            </a:r>
            <a:r>
              <a:rPr sz="1500">
                <a:latin typeface="Arial MT"/>
                <a:cs typeface="Arial MT"/>
              </a:rPr>
              <a:t>16</a:t>
            </a:r>
            <a:r>
              <a:rPr sz="1425" baseline="26315">
                <a:latin typeface="Arial MT"/>
                <a:cs typeface="Arial MT"/>
              </a:rPr>
              <a:t>th</a:t>
            </a:r>
            <a:r>
              <a:rPr sz="1425" spc="97" baseline="26315">
                <a:latin typeface="Arial MT"/>
                <a:cs typeface="Arial MT"/>
              </a:rPr>
              <a:t> </a:t>
            </a:r>
            <a:r>
              <a:rPr sz="1500" spc="-100">
                <a:latin typeface="Arial MT"/>
                <a:cs typeface="Arial MT"/>
              </a:rPr>
              <a:t>Century</a:t>
            </a:r>
            <a:r>
              <a:rPr sz="1500" spc="-45">
                <a:latin typeface="Arial MT"/>
                <a:cs typeface="Arial MT"/>
              </a:rPr>
              <a:t> </a:t>
            </a:r>
            <a:r>
              <a:rPr sz="1500" spc="-25">
                <a:latin typeface="Arial MT"/>
                <a:cs typeface="Arial MT"/>
              </a:rPr>
              <a:t>AD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20586" y="4311332"/>
            <a:ext cx="104711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u="sng" spc="-90">
                <a:solidFill>
                  <a:srgbClr val="A4A4A4"/>
                </a:solidFill>
                <a:uFill>
                  <a:solidFill>
                    <a:srgbClr val="A4A4A4"/>
                  </a:solidFill>
                </a:uFill>
                <a:latin typeface="Calibri"/>
                <a:cs typeface="Calibri"/>
              </a:rPr>
              <a:t> </a:t>
            </a:r>
            <a:r>
              <a:rPr sz="600" u="sng">
                <a:solidFill>
                  <a:srgbClr val="A4A4A4"/>
                </a:solidFill>
                <a:uFill>
                  <a:solidFill>
                    <a:srgbClr val="A4A4A4"/>
                  </a:solidFill>
                </a:uFill>
                <a:latin typeface="Calibri"/>
                <a:cs typeface="Calibri"/>
                <a:hlinkClick r:id="rId3"/>
              </a:rPr>
              <a:t>This</a:t>
            </a:r>
            <a:r>
              <a:rPr sz="600" u="sng" spc="5">
                <a:solidFill>
                  <a:srgbClr val="A4A4A4"/>
                </a:solidFill>
                <a:uFill>
                  <a:solidFill>
                    <a:srgbClr val="A4A4A4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600" u="sng">
                <a:solidFill>
                  <a:srgbClr val="A4A4A4"/>
                </a:solidFill>
                <a:uFill>
                  <a:solidFill>
                    <a:srgbClr val="A4A4A4"/>
                  </a:solidFill>
                </a:uFill>
                <a:latin typeface="Calibri"/>
                <a:cs typeface="Calibri"/>
                <a:hlinkClick r:id="rId3"/>
              </a:rPr>
              <a:t>work</a:t>
            </a:r>
            <a:r>
              <a:rPr sz="600" spc="-20">
                <a:solidFill>
                  <a:srgbClr val="A4A4A4"/>
                </a:solidFill>
                <a:latin typeface="Calibri"/>
                <a:cs typeface="Calibri"/>
              </a:rPr>
              <a:t> </a:t>
            </a:r>
            <a:r>
              <a:rPr sz="600">
                <a:solidFill>
                  <a:srgbClr val="A6A6A6"/>
                </a:solidFill>
                <a:latin typeface="Calibri"/>
                <a:cs typeface="Calibri"/>
              </a:rPr>
              <a:t>is</a:t>
            </a:r>
            <a:r>
              <a:rPr sz="600" spc="5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600">
                <a:solidFill>
                  <a:srgbClr val="A6A6A6"/>
                </a:solidFill>
                <a:latin typeface="Calibri"/>
                <a:cs typeface="Calibri"/>
              </a:rPr>
              <a:t>in the</a:t>
            </a:r>
            <a:r>
              <a:rPr sz="600" spc="-25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600" spc="-10">
                <a:solidFill>
                  <a:srgbClr val="A6A6A6"/>
                </a:solidFill>
                <a:latin typeface="Calibri"/>
                <a:cs typeface="Calibri"/>
              </a:rPr>
              <a:t>public</a:t>
            </a:r>
            <a:r>
              <a:rPr sz="600" spc="-5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600" spc="-10">
                <a:solidFill>
                  <a:srgbClr val="A6A6A6"/>
                </a:solidFill>
                <a:latin typeface="Calibri"/>
                <a:cs typeface="Calibri"/>
              </a:rPr>
              <a:t>domain</a:t>
            </a:r>
            <a:endParaRPr sz="6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43000" y="1009650"/>
            <a:ext cx="3752850" cy="194310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892170" y="2965195"/>
            <a:ext cx="795020" cy="212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u="sng">
                <a:solidFill>
                  <a:srgbClr val="A4A4A4"/>
                </a:solidFill>
                <a:uFill>
                  <a:solidFill>
                    <a:srgbClr val="A4A4A4"/>
                  </a:solidFill>
                </a:uFill>
                <a:latin typeface="Calibri"/>
                <a:cs typeface="Calibri"/>
              </a:rPr>
              <a:t>This</a:t>
            </a:r>
            <a:r>
              <a:rPr sz="600" u="sng" spc="5">
                <a:solidFill>
                  <a:srgbClr val="A4A4A4"/>
                </a:solidFill>
                <a:uFill>
                  <a:solidFill>
                    <a:srgbClr val="A4A4A4"/>
                  </a:solidFill>
                </a:uFill>
                <a:latin typeface="Calibri"/>
                <a:cs typeface="Calibri"/>
              </a:rPr>
              <a:t> </a:t>
            </a:r>
            <a:r>
              <a:rPr sz="600" u="sng">
                <a:solidFill>
                  <a:srgbClr val="A4A4A4"/>
                </a:solidFill>
                <a:uFill>
                  <a:solidFill>
                    <a:srgbClr val="A4A4A4"/>
                  </a:solidFill>
                </a:uFill>
                <a:latin typeface="Calibri"/>
                <a:cs typeface="Calibri"/>
              </a:rPr>
              <a:t>work</a:t>
            </a:r>
            <a:r>
              <a:rPr sz="600" spc="-35">
                <a:solidFill>
                  <a:srgbClr val="A4A4A4"/>
                </a:solidFill>
                <a:latin typeface="Calibri"/>
                <a:cs typeface="Calibri"/>
              </a:rPr>
              <a:t> </a:t>
            </a:r>
            <a:r>
              <a:rPr sz="600">
                <a:solidFill>
                  <a:srgbClr val="A6A6A6"/>
                </a:solidFill>
                <a:latin typeface="Calibri"/>
                <a:cs typeface="Calibri"/>
              </a:rPr>
              <a:t>is</a:t>
            </a:r>
            <a:r>
              <a:rPr sz="600" spc="15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600">
                <a:solidFill>
                  <a:srgbClr val="A6A6A6"/>
                </a:solidFill>
                <a:latin typeface="Calibri"/>
                <a:cs typeface="Calibri"/>
              </a:rPr>
              <a:t>in</a:t>
            </a:r>
            <a:r>
              <a:rPr sz="600" spc="1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600">
                <a:solidFill>
                  <a:srgbClr val="A6A6A6"/>
                </a:solidFill>
                <a:latin typeface="Calibri"/>
                <a:cs typeface="Calibri"/>
              </a:rPr>
              <a:t>the</a:t>
            </a:r>
            <a:r>
              <a:rPr sz="600" spc="-55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600" spc="-10">
                <a:solidFill>
                  <a:srgbClr val="A6A6A6"/>
                </a:solidFill>
                <a:latin typeface="Calibri"/>
                <a:cs typeface="Calibri"/>
              </a:rPr>
              <a:t>public</a:t>
            </a:r>
            <a:endParaRPr sz="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600" spc="-10">
                <a:solidFill>
                  <a:srgbClr val="A6A6A6"/>
                </a:solidFill>
                <a:latin typeface="Calibri"/>
                <a:cs typeface="Calibri"/>
              </a:rPr>
              <a:t>domain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04644" y="732091"/>
            <a:ext cx="163195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35">
                <a:latin typeface="Arial MT"/>
                <a:cs typeface="Arial MT"/>
              </a:rPr>
              <a:t>Gemma</a:t>
            </a:r>
            <a:r>
              <a:rPr sz="1500" spc="45">
                <a:latin typeface="Arial MT"/>
                <a:cs typeface="Arial MT"/>
              </a:rPr>
              <a:t> </a:t>
            </a:r>
            <a:r>
              <a:rPr sz="1500" spc="-145">
                <a:latin typeface="Arial MT"/>
                <a:cs typeface="Arial MT"/>
              </a:rPr>
              <a:t>Frisius,</a:t>
            </a:r>
            <a:r>
              <a:rPr sz="1500" spc="35">
                <a:latin typeface="Arial MT"/>
                <a:cs typeface="Arial MT"/>
              </a:rPr>
              <a:t> </a:t>
            </a:r>
            <a:r>
              <a:rPr sz="1500" spc="-20">
                <a:latin typeface="Arial MT"/>
                <a:cs typeface="Arial MT"/>
              </a:rPr>
              <a:t>1545</a:t>
            </a:r>
            <a:endParaRPr sz="1500">
              <a:latin typeface="Arial MT"/>
              <a:cs typeface="Arial MT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52575" y="3209925"/>
            <a:ext cx="1571625" cy="1457325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824735" y="4537392"/>
            <a:ext cx="791210" cy="212725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>
              <a:lnSpc>
                <a:spcPct val="104500"/>
              </a:lnSpc>
              <a:spcBef>
                <a:spcPts val="65"/>
              </a:spcBef>
            </a:pPr>
            <a:r>
              <a:rPr sz="600" u="sng">
                <a:solidFill>
                  <a:srgbClr val="A4A4A4"/>
                </a:solidFill>
                <a:uFill>
                  <a:solidFill>
                    <a:srgbClr val="A4A4A4"/>
                  </a:solidFill>
                </a:uFill>
                <a:latin typeface="Calibri"/>
                <a:cs typeface="Calibri"/>
              </a:rPr>
              <a:t>This</a:t>
            </a:r>
            <a:r>
              <a:rPr sz="600" u="sng" spc="5">
                <a:solidFill>
                  <a:srgbClr val="A4A4A4"/>
                </a:solidFill>
                <a:uFill>
                  <a:solidFill>
                    <a:srgbClr val="A4A4A4"/>
                  </a:solidFill>
                </a:uFill>
                <a:latin typeface="Calibri"/>
                <a:cs typeface="Calibri"/>
              </a:rPr>
              <a:t> </a:t>
            </a:r>
            <a:r>
              <a:rPr sz="600" u="sng">
                <a:solidFill>
                  <a:srgbClr val="A4A4A4"/>
                </a:solidFill>
                <a:uFill>
                  <a:solidFill>
                    <a:srgbClr val="A4A4A4"/>
                  </a:solidFill>
                </a:uFill>
                <a:latin typeface="Calibri"/>
                <a:cs typeface="Calibri"/>
              </a:rPr>
              <a:t>work</a:t>
            </a:r>
            <a:r>
              <a:rPr sz="600" spc="-20">
                <a:solidFill>
                  <a:srgbClr val="A4A4A4"/>
                </a:solidFill>
                <a:latin typeface="Calibri"/>
                <a:cs typeface="Calibri"/>
              </a:rPr>
              <a:t> </a:t>
            </a:r>
            <a:r>
              <a:rPr sz="600">
                <a:solidFill>
                  <a:srgbClr val="A6A6A6"/>
                </a:solidFill>
                <a:latin typeface="Calibri"/>
                <a:cs typeface="Calibri"/>
              </a:rPr>
              <a:t>is</a:t>
            </a:r>
            <a:r>
              <a:rPr sz="600" spc="15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600">
                <a:solidFill>
                  <a:srgbClr val="A6A6A6"/>
                </a:solidFill>
                <a:latin typeface="Calibri"/>
                <a:cs typeface="Calibri"/>
              </a:rPr>
              <a:t>in</a:t>
            </a:r>
            <a:r>
              <a:rPr sz="600" spc="5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600" spc="-10">
                <a:solidFill>
                  <a:srgbClr val="A6A6A6"/>
                </a:solidFill>
                <a:latin typeface="Calibri"/>
                <a:cs typeface="Calibri"/>
              </a:rPr>
              <a:t>the</a:t>
            </a:r>
            <a:r>
              <a:rPr sz="600" spc="-55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600" spc="-10">
                <a:solidFill>
                  <a:srgbClr val="A6A6A6"/>
                </a:solidFill>
                <a:latin typeface="Calibri"/>
                <a:cs typeface="Calibri"/>
              </a:rPr>
              <a:t>public</a:t>
            </a:r>
            <a:r>
              <a:rPr sz="600" spc="50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600" spc="-10">
                <a:solidFill>
                  <a:srgbClr val="A6A6A6"/>
                </a:solidFill>
                <a:latin typeface="Calibri"/>
                <a:cs typeface="Calibri"/>
              </a:rPr>
              <a:t>domain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13</a:t>
            </a:fld>
            <a:endParaRPr spc="-25"/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>
              <a:lnSpc>
                <a:spcPts val="1810"/>
              </a:lnSpc>
            </a:pPr>
            <a:r>
              <a:t>April 1,</a:t>
            </a:r>
            <a:r>
              <a:rPr spc="-35"/>
              <a:t> </a:t>
            </a:r>
            <a:r>
              <a:rPr spc="-20"/>
              <a:t>2025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t>CS231n:</a:t>
            </a:r>
            <a:r>
              <a:rPr spc="-5"/>
              <a:t> </a:t>
            </a:r>
            <a:r>
              <a:t>Lecture</a:t>
            </a:r>
            <a:r>
              <a:rPr spc="95"/>
              <a:t> </a:t>
            </a:r>
            <a:r>
              <a:t>1</a:t>
            </a:r>
            <a:r>
              <a:rPr spc="15"/>
              <a:t> </a:t>
            </a:r>
            <a:r>
              <a:rPr spc="-50"/>
              <a:t>-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307657" y="4910517"/>
            <a:ext cx="2085339" cy="1536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Fei-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Fei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Li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9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Ehsan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Adeli</a:t>
            </a: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90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Zane Durante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75071" y="709231"/>
            <a:ext cx="210693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500" spc="-110">
                <a:latin typeface="Arial MT"/>
                <a:cs typeface="Arial MT"/>
              </a:rPr>
              <a:t>Encyclopedia,</a:t>
            </a:r>
            <a:r>
              <a:rPr sz="1500" spc="15">
                <a:latin typeface="Arial MT"/>
                <a:cs typeface="Arial MT"/>
              </a:rPr>
              <a:t> </a:t>
            </a:r>
            <a:r>
              <a:rPr sz="1500">
                <a:latin typeface="Arial MT"/>
                <a:cs typeface="Arial MT"/>
              </a:rPr>
              <a:t>18</a:t>
            </a:r>
            <a:r>
              <a:rPr sz="1425" baseline="26315">
                <a:latin typeface="Arial MT"/>
                <a:cs typeface="Arial MT"/>
              </a:rPr>
              <a:t>th</a:t>
            </a:r>
            <a:r>
              <a:rPr sz="1425" spc="232" baseline="26315">
                <a:latin typeface="Arial MT"/>
                <a:cs typeface="Arial MT"/>
              </a:rPr>
              <a:t> </a:t>
            </a:r>
            <a:r>
              <a:rPr sz="1500" spc="-45">
                <a:latin typeface="Arial MT"/>
                <a:cs typeface="Arial MT"/>
              </a:rPr>
              <a:t>Century</a:t>
            </a:r>
            <a:endParaRPr sz="1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9321" rIns="0" bIns="0" rtlCol="0">
            <a:spAutoFit/>
          </a:bodyPr>
          <a:lstStyle/>
          <a:p>
            <a:pPr marL="947419">
              <a:lnSpc>
                <a:spcPct val="100000"/>
              </a:lnSpc>
              <a:spcBef>
                <a:spcPts val="105"/>
              </a:spcBef>
            </a:pPr>
            <a:r>
              <a:t>Computer</a:t>
            </a:r>
            <a:r>
              <a:rPr spc="5"/>
              <a:t> </a:t>
            </a:r>
            <a:r>
              <a:t>Vision</a:t>
            </a:r>
            <a:r>
              <a:rPr spc="-40"/>
              <a:t> </a:t>
            </a:r>
            <a:r>
              <a:t>is</a:t>
            </a:r>
            <a:r>
              <a:rPr spc="-60"/>
              <a:t> </a:t>
            </a:r>
            <a:r>
              <a:rPr spc="-10"/>
              <a:t>everywhere!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50403" y="1215072"/>
            <a:ext cx="875665" cy="5067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0955">
              <a:lnSpc>
                <a:spcPct val="100000"/>
              </a:lnSpc>
              <a:spcBef>
                <a:spcPts val="125"/>
              </a:spcBef>
            </a:pPr>
            <a:r>
              <a:rPr sz="500">
                <a:solidFill>
                  <a:srgbClr val="D9D9D9"/>
                </a:solidFill>
                <a:latin typeface="Calibri"/>
                <a:cs typeface="Calibri"/>
              </a:rPr>
              <a:t>Left</a:t>
            </a:r>
            <a:r>
              <a:rPr sz="500" spc="35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500">
                <a:solidFill>
                  <a:srgbClr val="D9D9D9"/>
                </a:solidFill>
                <a:latin typeface="Calibri"/>
                <a:cs typeface="Calibri"/>
              </a:rPr>
              <a:t>to</a:t>
            </a:r>
            <a:r>
              <a:rPr sz="500" spc="5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500" spc="-10">
                <a:solidFill>
                  <a:srgbClr val="D9D9D9"/>
                </a:solidFill>
                <a:latin typeface="Calibri"/>
                <a:cs typeface="Calibri"/>
              </a:rPr>
              <a:t>right:</a:t>
            </a:r>
            <a:endParaRPr sz="500">
              <a:latin typeface="Calibri"/>
              <a:cs typeface="Calibri"/>
            </a:endParaRPr>
          </a:p>
          <a:p>
            <a:pPr marL="20955" marR="147955" indent="-8890">
              <a:lnSpc>
                <a:spcPct val="100000"/>
              </a:lnSpc>
              <a:spcBef>
                <a:spcPts val="5"/>
              </a:spcBef>
            </a:pPr>
            <a:r>
              <a:rPr sz="500" u="sng" spc="-35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500" u="sng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Calibri"/>
                <a:cs typeface="Calibri"/>
                <a:hlinkClick r:id="rId2"/>
              </a:rPr>
              <a:t>Image</a:t>
            </a:r>
            <a:r>
              <a:rPr sz="500" spc="5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500">
                <a:solidFill>
                  <a:srgbClr val="D9D9D9"/>
                </a:solidFill>
                <a:latin typeface="Calibri"/>
                <a:cs typeface="Calibri"/>
              </a:rPr>
              <a:t>by</a:t>
            </a:r>
            <a:r>
              <a:rPr sz="500" spc="-45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500" u="sng" spc="-80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500" u="sng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Calibri"/>
                <a:cs typeface="Calibri"/>
                <a:hlinkClick r:id="rId3"/>
              </a:rPr>
              <a:t>Roger</a:t>
            </a:r>
            <a:r>
              <a:rPr sz="500" u="sng" spc="35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500" u="sng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Calibri"/>
                <a:cs typeface="Calibri"/>
                <a:hlinkClick r:id="rId3"/>
              </a:rPr>
              <a:t>H</a:t>
            </a:r>
            <a:r>
              <a:rPr sz="500" u="sng" spc="40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500" u="sng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Calibri"/>
                <a:cs typeface="Calibri"/>
                <a:hlinkClick r:id="rId3"/>
              </a:rPr>
              <a:t>Goun</a:t>
            </a:r>
            <a:r>
              <a:rPr sz="500" u="sng" spc="20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500" u="sng" spc="-25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Calibri"/>
                <a:cs typeface="Calibri"/>
                <a:hlinkClick r:id="rId3"/>
              </a:rPr>
              <a:t>i</a:t>
            </a:r>
            <a:r>
              <a:rPr sz="500" spc="-25">
                <a:solidFill>
                  <a:srgbClr val="D9D9D9"/>
                </a:solidFill>
                <a:latin typeface="Calibri"/>
                <a:cs typeface="Calibri"/>
                <a:hlinkClick r:id="rId3"/>
              </a:rPr>
              <a:t>s</a:t>
            </a:r>
            <a:r>
              <a:rPr sz="500" spc="50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500">
                <a:solidFill>
                  <a:srgbClr val="D9D9D9"/>
                </a:solidFill>
                <a:latin typeface="Calibri"/>
                <a:cs typeface="Calibri"/>
              </a:rPr>
              <a:t>licensed</a:t>
            </a:r>
            <a:r>
              <a:rPr sz="500" spc="2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500">
                <a:solidFill>
                  <a:srgbClr val="D9D9D9"/>
                </a:solidFill>
                <a:latin typeface="Calibri"/>
                <a:cs typeface="Calibri"/>
              </a:rPr>
              <a:t>under</a:t>
            </a:r>
            <a:r>
              <a:rPr sz="500" spc="-45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500" u="sng" spc="10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sz="500" u="sng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Calibri"/>
                <a:cs typeface="Calibri"/>
                <a:hlinkClick r:id="rId4"/>
              </a:rPr>
              <a:t>CC</a:t>
            </a:r>
            <a:r>
              <a:rPr sz="500" u="sng" spc="15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sz="500" u="sng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Calibri"/>
                <a:cs typeface="Calibri"/>
                <a:hlinkClick r:id="rId4"/>
              </a:rPr>
              <a:t>BY</a:t>
            </a:r>
            <a:r>
              <a:rPr sz="500" u="sng" spc="45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sz="500" u="sng" spc="-25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Calibri"/>
                <a:cs typeface="Calibri"/>
                <a:hlinkClick r:id="rId4"/>
              </a:rPr>
              <a:t>2.0</a:t>
            </a:r>
            <a:endParaRPr sz="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u="sng" spc="-30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sz="500" u="sng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Calibri"/>
                <a:cs typeface="Calibri"/>
                <a:hlinkClick r:id="rId5"/>
              </a:rPr>
              <a:t>Image</a:t>
            </a:r>
            <a:r>
              <a:rPr sz="500" spc="55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500">
                <a:solidFill>
                  <a:srgbClr val="D9D9D9"/>
                </a:solidFill>
                <a:latin typeface="Calibri"/>
                <a:cs typeface="Calibri"/>
              </a:rPr>
              <a:t>is</a:t>
            </a:r>
            <a:r>
              <a:rPr sz="500" u="sng" spc="-30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Calibri"/>
                <a:cs typeface="Calibri"/>
                <a:hlinkClick r:id="rId6"/>
              </a:rPr>
              <a:t> </a:t>
            </a:r>
            <a:r>
              <a:rPr sz="500" u="sng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Calibri"/>
                <a:cs typeface="Calibri"/>
                <a:hlinkClick r:id="rId6"/>
              </a:rPr>
              <a:t>CC0</a:t>
            </a:r>
            <a:r>
              <a:rPr sz="500" u="sng" spc="35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Calibri"/>
                <a:cs typeface="Calibri"/>
                <a:hlinkClick r:id="rId6"/>
              </a:rPr>
              <a:t> </a:t>
            </a:r>
            <a:r>
              <a:rPr sz="500" u="sng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Calibri"/>
                <a:cs typeface="Calibri"/>
                <a:hlinkClick r:id="rId6"/>
              </a:rPr>
              <a:t>1.</a:t>
            </a:r>
            <a:r>
              <a:rPr sz="500">
                <a:solidFill>
                  <a:srgbClr val="D9D9D9"/>
                </a:solidFill>
                <a:latin typeface="Calibri"/>
                <a:cs typeface="Calibri"/>
                <a:hlinkClick r:id="rId6"/>
              </a:rPr>
              <a:t>0</a:t>
            </a:r>
            <a:r>
              <a:rPr sz="500">
                <a:solidFill>
                  <a:srgbClr val="D9D9D9"/>
                </a:solidFill>
                <a:latin typeface="Calibri"/>
                <a:cs typeface="Calibri"/>
              </a:rPr>
              <a:t> public</a:t>
            </a:r>
            <a:r>
              <a:rPr sz="500" spc="85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500" spc="-10">
                <a:solidFill>
                  <a:srgbClr val="D9D9D9"/>
                </a:solidFill>
                <a:latin typeface="Calibri"/>
                <a:cs typeface="Calibri"/>
              </a:rPr>
              <a:t>domain</a:t>
            </a:r>
            <a:endParaRPr sz="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500" u="sng" spc="-30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Calibri"/>
                <a:cs typeface="Calibri"/>
                <a:hlinkClick r:id="rId7"/>
              </a:rPr>
              <a:t> </a:t>
            </a:r>
            <a:r>
              <a:rPr sz="500" u="sng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Calibri"/>
                <a:cs typeface="Calibri"/>
                <a:hlinkClick r:id="rId7"/>
              </a:rPr>
              <a:t>Image</a:t>
            </a:r>
            <a:r>
              <a:rPr sz="500" spc="55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500">
                <a:solidFill>
                  <a:srgbClr val="D9D9D9"/>
                </a:solidFill>
                <a:latin typeface="Calibri"/>
                <a:cs typeface="Calibri"/>
              </a:rPr>
              <a:t>is</a:t>
            </a:r>
            <a:r>
              <a:rPr sz="500" u="sng" spc="-30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Calibri"/>
                <a:cs typeface="Calibri"/>
                <a:hlinkClick r:id="rId6"/>
              </a:rPr>
              <a:t> </a:t>
            </a:r>
            <a:r>
              <a:rPr sz="500" u="sng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Calibri"/>
                <a:cs typeface="Calibri"/>
                <a:hlinkClick r:id="rId6"/>
              </a:rPr>
              <a:t>CC0</a:t>
            </a:r>
            <a:r>
              <a:rPr sz="500" u="sng" spc="35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Calibri"/>
                <a:cs typeface="Calibri"/>
                <a:hlinkClick r:id="rId6"/>
              </a:rPr>
              <a:t> </a:t>
            </a:r>
            <a:r>
              <a:rPr sz="500" u="sng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Calibri"/>
                <a:cs typeface="Calibri"/>
                <a:hlinkClick r:id="rId6"/>
              </a:rPr>
              <a:t>1.</a:t>
            </a:r>
            <a:r>
              <a:rPr sz="500">
                <a:solidFill>
                  <a:srgbClr val="D9D9D9"/>
                </a:solidFill>
                <a:latin typeface="Calibri"/>
                <a:cs typeface="Calibri"/>
                <a:hlinkClick r:id="rId6"/>
              </a:rPr>
              <a:t>0</a:t>
            </a:r>
            <a:r>
              <a:rPr sz="500">
                <a:solidFill>
                  <a:srgbClr val="D9D9D9"/>
                </a:solidFill>
                <a:latin typeface="Calibri"/>
                <a:cs typeface="Calibri"/>
              </a:rPr>
              <a:t> public</a:t>
            </a:r>
            <a:r>
              <a:rPr sz="500" spc="85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500" spc="-10">
                <a:solidFill>
                  <a:srgbClr val="D9D9D9"/>
                </a:solidFill>
                <a:latin typeface="Calibri"/>
                <a:cs typeface="Calibri"/>
              </a:rPr>
              <a:t>domain</a:t>
            </a:r>
            <a:endParaRPr sz="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z="500" u="sng" spc="-30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Calibri"/>
                <a:cs typeface="Calibri"/>
                <a:hlinkClick r:id="rId8"/>
              </a:rPr>
              <a:t> </a:t>
            </a:r>
            <a:r>
              <a:rPr sz="500" u="sng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Calibri"/>
                <a:cs typeface="Calibri"/>
                <a:hlinkClick r:id="rId8"/>
              </a:rPr>
              <a:t>Image</a:t>
            </a:r>
            <a:r>
              <a:rPr sz="500" spc="55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500">
                <a:solidFill>
                  <a:srgbClr val="D9D9D9"/>
                </a:solidFill>
                <a:latin typeface="Calibri"/>
                <a:cs typeface="Calibri"/>
              </a:rPr>
              <a:t>is</a:t>
            </a:r>
            <a:r>
              <a:rPr sz="500" u="sng" spc="-30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Calibri"/>
                <a:cs typeface="Calibri"/>
                <a:hlinkClick r:id="rId6"/>
              </a:rPr>
              <a:t> </a:t>
            </a:r>
            <a:r>
              <a:rPr sz="500" u="sng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Calibri"/>
                <a:cs typeface="Calibri"/>
                <a:hlinkClick r:id="rId6"/>
              </a:rPr>
              <a:t>CC0</a:t>
            </a:r>
            <a:r>
              <a:rPr sz="500" u="sng" spc="35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Calibri"/>
                <a:cs typeface="Calibri"/>
                <a:hlinkClick r:id="rId6"/>
              </a:rPr>
              <a:t> </a:t>
            </a:r>
            <a:r>
              <a:rPr sz="500" u="sng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Calibri"/>
                <a:cs typeface="Calibri"/>
                <a:hlinkClick r:id="rId6"/>
              </a:rPr>
              <a:t>1.</a:t>
            </a:r>
            <a:r>
              <a:rPr sz="500">
                <a:solidFill>
                  <a:srgbClr val="D9D9D9"/>
                </a:solidFill>
                <a:latin typeface="Calibri"/>
                <a:cs typeface="Calibri"/>
                <a:hlinkClick r:id="rId6"/>
              </a:rPr>
              <a:t>0</a:t>
            </a:r>
            <a:r>
              <a:rPr sz="500">
                <a:solidFill>
                  <a:srgbClr val="D9D9D9"/>
                </a:solidFill>
                <a:latin typeface="Calibri"/>
                <a:cs typeface="Calibri"/>
              </a:rPr>
              <a:t> public</a:t>
            </a:r>
            <a:r>
              <a:rPr sz="500" spc="85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500" spc="-10">
                <a:solidFill>
                  <a:srgbClr val="D9D9D9"/>
                </a:solidFill>
                <a:latin typeface="Calibri"/>
                <a:cs typeface="Calibri"/>
              </a:rPr>
              <a:t>domain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050403" y="2576448"/>
            <a:ext cx="742315" cy="66865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0955">
              <a:lnSpc>
                <a:spcPct val="100000"/>
              </a:lnSpc>
              <a:spcBef>
                <a:spcPts val="125"/>
              </a:spcBef>
            </a:pPr>
            <a:r>
              <a:rPr sz="500">
                <a:solidFill>
                  <a:srgbClr val="D9D9D9"/>
                </a:solidFill>
                <a:latin typeface="Calibri"/>
                <a:cs typeface="Calibri"/>
              </a:rPr>
              <a:t>Left</a:t>
            </a:r>
            <a:r>
              <a:rPr sz="500" spc="4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500">
                <a:solidFill>
                  <a:srgbClr val="D9D9D9"/>
                </a:solidFill>
                <a:latin typeface="Calibri"/>
                <a:cs typeface="Calibri"/>
              </a:rPr>
              <a:t>to </a:t>
            </a:r>
            <a:r>
              <a:rPr sz="500" spc="-10">
                <a:solidFill>
                  <a:srgbClr val="D9D9D9"/>
                </a:solidFill>
                <a:latin typeface="Calibri"/>
                <a:cs typeface="Calibri"/>
              </a:rPr>
              <a:t>right:</a:t>
            </a:r>
            <a:endParaRPr sz="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500" u="sng" spc="-25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Calibri"/>
                <a:cs typeface="Calibri"/>
                <a:hlinkClick r:id="rId9"/>
              </a:rPr>
              <a:t> </a:t>
            </a:r>
            <a:r>
              <a:rPr sz="500" u="sng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Calibri"/>
                <a:cs typeface="Calibri"/>
                <a:hlinkClick r:id="rId9"/>
              </a:rPr>
              <a:t>Image</a:t>
            </a:r>
            <a:r>
              <a:rPr sz="500" spc="6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500">
                <a:solidFill>
                  <a:srgbClr val="D9D9D9"/>
                </a:solidFill>
                <a:latin typeface="Calibri"/>
                <a:cs typeface="Calibri"/>
              </a:rPr>
              <a:t>is</a:t>
            </a:r>
            <a:r>
              <a:rPr sz="500" u="sng" spc="-25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Calibri"/>
                <a:cs typeface="Calibri"/>
                <a:hlinkClick r:id="rId10"/>
              </a:rPr>
              <a:t> </a:t>
            </a:r>
            <a:r>
              <a:rPr sz="500" u="sng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Calibri"/>
                <a:cs typeface="Calibri"/>
                <a:hlinkClick r:id="rId10"/>
              </a:rPr>
              <a:t>free</a:t>
            </a:r>
            <a:r>
              <a:rPr sz="500" u="sng" spc="45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Calibri"/>
                <a:cs typeface="Calibri"/>
                <a:hlinkClick r:id="rId10"/>
              </a:rPr>
              <a:t> </a:t>
            </a:r>
            <a:r>
              <a:rPr sz="500" u="sng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Calibri"/>
                <a:cs typeface="Calibri"/>
                <a:hlinkClick r:id="rId10"/>
              </a:rPr>
              <a:t>to</a:t>
            </a:r>
            <a:r>
              <a:rPr sz="500" u="sng" spc="25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Calibri"/>
                <a:cs typeface="Calibri"/>
                <a:hlinkClick r:id="rId10"/>
              </a:rPr>
              <a:t> </a:t>
            </a:r>
            <a:r>
              <a:rPr sz="500" u="sng" spc="-25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Calibri"/>
                <a:cs typeface="Calibri"/>
                <a:hlinkClick r:id="rId10"/>
              </a:rPr>
              <a:t>use</a:t>
            </a:r>
            <a:endParaRPr sz="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u="sng" spc="-25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Calibri"/>
                <a:cs typeface="Calibri"/>
                <a:hlinkClick r:id="rId11"/>
              </a:rPr>
              <a:t> </a:t>
            </a:r>
            <a:r>
              <a:rPr sz="500" u="sng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Calibri"/>
                <a:cs typeface="Calibri"/>
                <a:hlinkClick r:id="rId11"/>
              </a:rPr>
              <a:t>Image</a:t>
            </a:r>
            <a:r>
              <a:rPr sz="500" spc="65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500">
                <a:solidFill>
                  <a:srgbClr val="D9D9D9"/>
                </a:solidFill>
                <a:latin typeface="Calibri"/>
                <a:cs typeface="Calibri"/>
              </a:rPr>
              <a:t>is</a:t>
            </a:r>
            <a:r>
              <a:rPr sz="500" u="sng" spc="-20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Calibri"/>
                <a:cs typeface="Calibri"/>
                <a:hlinkClick r:id="rId6"/>
              </a:rPr>
              <a:t> </a:t>
            </a:r>
            <a:r>
              <a:rPr sz="500" u="sng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Calibri"/>
                <a:cs typeface="Calibri"/>
                <a:hlinkClick r:id="rId6"/>
              </a:rPr>
              <a:t>CC0</a:t>
            </a:r>
            <a:r>
              <a:rPr sz="500" u="sng" spc="35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Calibri"/>
                <a:cs typeface="Calibri"/>
                <a:hlinkClick r:id="rId6"/>
              </a:rPr>
              <a:t> </a:t>
            </a:r>
            <a:r>
              <a:rPr sz="500" u="sng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Calibri"/>
                <a:cs typeface="Calibri"/>
                <a:hlinkClick r:id="rId6"/>
              </a:rPr>
              <a:t>1.</a:t>
            </a:r>
            <a:r>
              <a:rPr sz="500">
                <a:solidFill>
                  <a:srgbClr val="D9D9D9"/>
                </a:solidFill>
                <a:latin typeface="Calibri"/>
                <a:cs typeface="Calibri"/>
                <a:hlinkClick r:id="rId6"/>
              </a:rPr>
              <a:t>0</a:t>
            </a:r>
            <a:r>
              <a:rPr sz="500" spc="5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500" spc="-10">
                <a:solidFill>
                  <a:srgbClr val="D9D9D9"/>
                </a:solidFill>
                <a:latin typeface="Calibri"/>
                <a:cs typeface="Calibri"/>
              </a:rPr>
              <a:t>public</a:t>
            </a:r>
            <a:endParaRPr sz="500">
              <a:latin typeface="Calibri"/>
              <a:cs typeface="Calibri"/>
            </a:endParaRPr>
          </a:p>
          <a:p>
            <a:pPr marL="20955">
              <a:lnSpc>
                <a:spcPct val="100000"/>
              </a:lnSpc>
            </a:pPr>
            <a:r>
              <a:rPr sz="500" spc="-10">
                <a:solidFill>
                  <a:srgbClr val="D9D9D9"/>
                </a:solidFill>
                <a:latin typeface="Calibri"/>
                <a:cs typeface="Calibri"/>
              </a:rPr>
              <a:t>domain</a:t>
            </a:r>
            <a:endParaRPr sz="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u="sng" spc="-25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Calibri"/>
                <a:cs typeface="Calibri"/>
                <a:hlinkClick r:id="rId12"/>
              </a:rPr>
              <a:t> </a:t>
            </a:r>
            <a:r>
              <a:rPr sz="500" u="sng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Calibri"/>
                <a:cs typeface="Calibri"/>
                <a:hlinkClick r:id="rId12"/>
              </a:rPr>
              <a:t>Image</a:t>
            </a:r>
            <a:r>
              <a:rPr sz="500" spc="7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500">
                <a:solidFill>
                  <a:srgbClr val="D9D9D9"/>
                </a:solidFill>
                <a:latin typeface="Calibri"/>
                <a:cs typeface="Calibri"/>
              </a:rPr>
              <a:t>by</a:t>
            </a:r>
            <a:r>
              <a:rPr sz="500" spc="-4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500" u="sng" spc="-70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Calibri"/>
                <a:cs typeface="Calibri"/>
                <a:hlinkClick r:id="rId13"/>
              </a:rPr>
              <a:t> </a:t>
            </a:r>
            <a:r>
              <a:rPr sz="500" u="sng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Calibri"/>
                <a:cs typeface="Calibri"/>
                <a:hlinkClick r:id="rId13"/>
              </a:rPr>
              <a:t>NAS</a:t>
            </a:r>
            <a:r>
              <a:rPr sz="500">
                <a:solidFill>
                  <a:srgbClr val="D9D9D9"/>
                </a:solidFill>
                <a:latin typeface="Calibri"/>
                <a:cs typeface="Calibri"/>
                <a:hlinkClick r:id="rId13"/>
              </a:rPr>
              <a:t>A</a:t>
            </a:r>
            <a:r>
              <a:rPr sz="500">
                <a:solidFill>
                  <a:srgbClr val="D9D9D9"/>
                </a:solidFill>
                <a:latin typeface="Calibri"/>
                <a:cs typeface="Calibri"/>
              </a:rPr>
              <a:t> is</a:t>
            </a:r>
            <a:r>
              <a:rPr sz="500" spc="15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500" spc="-10">
                <a:solidFill>
                  <a:srgbClr val="D9D9D9"/>
                </a:solidFill>
                <a:latin typeface="Calibri"/>
                <a:cs typeface="Calibri"/>
              </a:rPr>
              <a:t>licensed</a:t>
            </a:r>
            <a:endParaRPr sz="500">
              <a:latin typeface="Calibri"/>
              <a:cs typeface="Calibri"/>
            </a:endParaRPr>
          </a:p>
          <a:p>
            <a:pPr marL="20955">
              <a:lnSpc>
                <a:spcPct val="100000"/>
              </a:lnSpc>
              <a:spcBef>
                <a:spcPts val="5"/>
              </a:spcBef>
            </a:pPr>
            <a:r>
              <a:rPr sz="500" spc="10">
                <a:solidFill>
                  <a:srgbClr val="D9D9D9"/>
                </a:solidFill>
                <a:latin typeface="Calibri"/>
                <a:cs typeface="Calibri"/>
              </a:rPr>
              <a:t>under</a:t>
            </a:r>
            <a:r>
              <a:rPr sz="500" spc="-5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500" u="sng" spc="-85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sz="500" u="sng" spc="10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Calibri"/>
                <a:cs typeface="Calibri"/>
                <a:hlinkClick r:id="rId4"/>
              </a:rPr>
              <a:t>CC</a:t>
            </a:r>
            <a:r>
              <a:rPr sz="500" u="sng" spc="5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sz="500" u="sng" spc="10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Calibri"/>
                <a:cs typeface="Calibri"/>
                <a:hlinkClick r:id="rId4"/>
              </a:rPr>
              <a:t>BY</a:t>
            </a:r>
            <a:r>
              <a:rPr sz="500" u="sng" spc="30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sz="500" u="sng" spc="-25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Calibri"/>
                <a:cs typeface="Calibri"/>
                <a:hlinkClick r:id="rId4"/>
              </a:rPr>
              <a:t>2.</a:t>
            </a:r>
            <a:r>
              <a:rPr sz="500" spc="-25">
                <a:solidFill>
                  <a:srgbClr val="D9D9D9"/>
                </a:solidFill>
                <a:latin typeface="Calibri"/>
                <a:cs typeface="Calibri"/>
                <a:hlinkClick r:id="rId4"/>
              </a:rPr>
              <a:t>0</a:t>
            </a:r>
            <a:endParaRPr sz="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500" u="sng" spc="-25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Calibri"/>
                <a:cs typeface="Calibri"/>
                <a:hlinkClick r:id="rId14"/>
              </a:rPr>
              <a:t> </a:t>
            </a:r>
            <a:r>
              <a:rPr sz="500" u="sng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Calibri"/>
                <a:cs typeface="Calibri"/>
                <a:hlinkClick r:id="rId14"/>
              </a:rPr>
              <a:t>Image</a:t>
            </a:r>
            <a:r>
              <a:rPr sz="500" spc="65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500">
                <a:solidFill>
                  <a:srgbClr val="D9D9D9"/>
                </a:solidFill>
                <a:latin typeface="Calibri"/>
                <a:cs typeface="Calibri"/>
              </a:rPr>
              <a:t>is</a:t>
            </a:r>
            <a:r>
              <a:rPr sz="500" u="sng" spc="-20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Calibri"/>
                <a:cs typeface="Calibri"/>
                <a:hlinkClick r:id="rId6"/>
              </a:rPr>
              <a:t> </a:t>
            </a:r>
            <a:r>
              <a:rPr sz="500" u="sng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Calibri"/>
                <a:cs typeface="Calibri"/>
                <a:hlinkClick r:id="rId6"/>
              </a:rPr>
              <a:t>CC0</a:t>
            </a:r>
            <a:r>
              <a:rPr sz="500" u="sng" spc="35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Calibri"/>
                <a:cs typeface="Calibri"/>
                <a:hlinkClick r:id="rId6"/>
              </a:rPr>
              <a:t> </a:t>
            </a:r>
            <a:r>
              <a:rPr sz="500" u="sng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Calibri"/>
                <a:cs typeface="Calibri"/>
                <a:hlinkClick r:id="rId6"/>
              </a:rPr>
              <a:t>1.</a:t>
            </a:r>
            <a:r>
              <a:rPr sz="500">
                <a:solidFill>
                  <a:srgbClr val="D9D9D9"/>
                </a:solidFill>
                <a:latin typeface="Calibri"/>
                <a:cs typeface="Calibri"/>
                <a:hlinkClick r:id="rId6"/>
              </a:rPr>
              <a:t>0</a:t>
            </a:r>
            <a:r>
              <a:rPr sz="500" spc="5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500" spc="-10">
                <a:solidFill>
                  <a:srgbClr val="D9D9D9"/>
                </a:solidFill>
                <a:latin typeface="Calibri"/>
                <a:cs typeface="Calibri"/>
              </a:rPr>
              <a:t>public</a:t>
            </a:r>
            <a:endParaRPr sz="500">
              <a:latin typeface="Calibri"/>
              <a:cs typeface="Calibri"/>
            </a:endParaRPr>
          </a:p>
          <a:p>
            <a:pPr marL="20955">
              <a:lnSpc>
                <a:spcPct val="100000"/>
              </a:lnSpc>
              <a:spcBef>
                <a:spcPts val="75"/>
              </a:spcBef>
            </a:pPr>
            <a:r>
              <a:rPr sz="500" spc="-10">
                <a:solidFill>
                  <a:srgbClr val="D9D9D9"/>
                </a:solidFill>
                <a:latin typeface="Calibri"/>
                <a:cs typeface="Calibri"/>
              </a:rPr>
              <a:t>domain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050403" y="3727513"/>
            <a:ext cx="846455" cy="7454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0955">
              <a:lnSpc>
                <a:spcPct val="100000"/>
              </a:lnSpc>
              <a:spcBef>
                <a:spcPts val="125"/>
              </a:spcBef>
            </a:pPr>
            <a:r>
              <a:rPr sz="500">
                <a:solidFill>
                  <a:srgbClr val="D9D9D9"/>
                </a:solidFill>
                <a:latin typeface="Calibri"/>
                <a:cs typeface="Calibri"/>
              </a:rPr>
              <a:t>Bottom</a:t>
            </a:r>
            <a:r>
              <a:rPr sz="500" spc="25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500">
                <a:solidFill>
                  <a:srgbClr val="D9D9D9"/>
                </a:solidFill>
                <a:latin typeface="Calibri"/>
                <a:cs typeface="Calibri"/>
              </a:rPr>
              <a:t>row,</a:t>
            </a:r>
            <a:r>
              <a:rPr sz="500" spc="15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500">
                <a:solidFill>
                  <a:srgbClr val="D9D9D9"/>
                </a:solidFill>
                <a:latin typeface="Calibri"/>
                <a:cs typeface="Calibri"/>
              </a:rPr>
              <a:t>left</a:t>
            </a:r>
            <a:r>
              <a:rPr sz="500" spc="6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500">
                <a:solidFill>
                  <a:srgbClr val="D9D9D9"/>
                </a:solidFill>
                <a:latin typeface="Calibri"/>
                <a:cs typeface="Calibri"/>
              </a:rPr>
              <a:t>to</a:t>
            </a:r>
            <a:r>
              <a:rPr sz="500" spc="2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500" spc="-10">
                <a:solidFill>
                  <a:srgbClr val="D9D9D9"/>
                </a:solidFill>
                <a:latin typeface="Calibri"/>
                <a:cs typeface="Calibri"/>
              </a:rPr>
              <a:t>right</a:t>
            </a:r>
            <a:endParaRPr sz="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500" u="sng" spc="-25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Calibri"/>
                <a:cs typeface="Calibri"/>
                <a:hlinkClick r:id="rId15"/>
              </a:rPr>
              <a:t> </a:t>
            </a:r>
            <a:r>
              <a:rPr sz="500" u="sng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Calibri"/>
                <a:cs typeface="Calibri"/>
                <a:hlinkClick r:id="rId15"/>
              </a:rPr>
              <a:t>Image</a:t>
            </a:r>
            <a:r>
              <a:rPr sz="500" spc="6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500">
                <a:solidFill>
                  <a:srgbClr val="D9D9D9"/>
                </a:solidFill>
                <a:latin typeface="Calibri"/>
                <a:cs typeface="Calibri"/>
              </a:rPr>
              <a:t>is</a:t>
            </a:r>
            <a:r>
              <a:rPr sz="500" u="sng" spc="-20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Calibri"/>
                <a:cs typeface="Calibri"/>
                <a:hlinkClick r:id="rId6"/>
              </a:rPr>
              <a:t> </a:t>
            </a:r>
            <a:r>
              <a:rPr sz="500" u="sng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Calibri"/>
                <a:cs typeface="Calibri"/>
                <a:hlinkClick r:id="rId6"/>
              </a:rPr>
              <a:t>CC0</a:t>
            </a:r>
            <a:r>
              <a:rPr sz="500" u="sng" spc="40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Calibri"/>
                <a:cs typeface="Calibri"/>
                <a:hlinkClick r:id="rId6"/>
              </a:rPr>
              <a:t> </a:t>
            </a:r>
            <a:r>
              <a:rPr sz="500" u="sng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Calibri"/>
                <a:cs typeface="Calibri"/>
                <a:hlinkClick r:id="rId6"/>
              </a:rPr>
              <a:t>1.</a:t>
            </a:r>
            <a:r>
              <a:rPr sz="500">
                <a:solidFill>
                  <a:srgbClr val="D9D9D9"/>
                </a:solidFill>
                <a:latin typeface="Calibri"/>
                <a:cs typeface="Calibri"/>
                <a:hlinkClick r:id="rId6"/>
              </a:rPr>
              <a:t>0</a:t>
            </a:r>
            <a:r>
              <a:rPr sz="500" spc="5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500" spc="-10">
                <a:solidFill>
                  <a:srgbClr val="D9D9D9"/>
                </a:solidFill>
                <a:latin typeface="Calibri"/>
                <a:cs typeface="Calibri"/>
              </a:rPr>
              <a:t>public</a:t>
            </a:r>
            <a:endParaRPr sz="500">
              <a:latin typeface="Calibri"/>
              <a:cs typeface="Calibri"/>
            </a:endParaRPr>
          </a:p>
          <a:p>
            <a:pPr marL="20955">
              <a:lnSpc>
                <a:spcPct val="100000"/>
              </a:lnSpc>
            </a:pPr>
            <a:r>
              <a:rPr sz="500" spc="-10">
                <a:solidFill>
                  <a:srgbClr val="D9D9D9"/>
                </a:solidFill>
                <a:latin typeface="Calibri"/>
                <a:cs typeface="Calibri"/>
              </a:rPr>
              <a:t>domain</a:t>
            </a:r>
            <a:endParaRPr sz="500">
              <a:latin typeface="Calibri"/>
              <a:cs typeface="Calibri"/>
            </a:endParaRPr>
          </a:p>
          <a:p>
            <a:pPr marL="20955" marR="135255" indent="-8890">
              <a:lnSpc>
                <a:spcPct val="106500"/>
              </a:lnSpc>
              <a:spcBef>
                <a:spcPts val="35"/>
              </a:spcBef>
            </a:pPr>
            <a:r>
              <a:rPr sz="500" u="sng" spc="-40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Calibri"/>
                <a:cs typeface="Calibri"/>
                <a:hlinkClick r:id="rId16"/>
              </a:rPr>
              <a:t> </a:t>
            </a:r>
            <a:r>
              <a:rPr sz="500" u="sng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Calibri"/>
                <a:cs typeface="Calibri"/>
                <a:hlinkClick r:id="rId16"/>
              </a:rPr>
              <a:t>Image</a:t>
            </a:r>
            <a:r>
              <a:rPr sz="500" spc="4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500">
                <a:solidFill>
                  <a:srgbClr val="D9D9D9"/>
                </a:solidFill>
                <a:latin typeface="Calibri"/>
                <a:cs typeface="Calibri"/>
              </a:rPr>
              <a:t>by</a:t>
            </a:r>
            <a:r>
              <a:rPr sz="500" spc="-45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500" u="sng" spc="-80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Calibri"/>
                <a:cs typeface="Calibri"/>
                <a:hlinkClick r:id="rId17"/>
              </a:rPr>
              <a:t> </a:t>
            </a:r>
            <a:r>
              <a:rPr sz="500" u="sng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Calibri"/>
                <a:cs typeface="Calibri"/>
                <a:hlinkClick r:id="rId17"/>
              </a:rPr>
              <a:t>Derek</a:t>
            </a:r>
            <a:r>
              <a:rPr sz="500" u="sng" spc="50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Calibri"/>
                <a:cs typeface="Calibri"/>
                <a:hlinkClick r:id="rId17"/>
              </a:rPr>
              <a:t> </a:t>
            </a:r>
            <a:r>
              <a:rPr sz="500" u="sng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Calibri"/>
                <a:cs typeface="Calibri"/>
                <a:hlinkClick r:id="rId17"/>
              </a:rPr>
              <a:t>Keat</a:t>
            </a:r>
            <a:r>
              <a:rPr sz="500">
                <a:solidFill>
                  <a:srgbClr val="D9D9D9"/>
                </a:solidFill>
                <a:latin typeface="Calibri"/>
                <a:cs typeface="Calibri"/>
                <a:hlinkClick r:id="rId17"/>
              </a:rPr>
              <a:t>s</a:t>
            </a:r>
            <a:r>
              <a:rPr sz="500" spc="55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500" spc="-25">
                <a:solidFill>
                  <a:srgbClr val="D9D9D9"/>
                </a:solidFill>
                <a:latin typeface="Calibri"/>
                <a:cs typeface="Calibri"/>
              </a:rPr>
              <a:t>is</a:t>
            </a:r>
            <a:r>
              <a:rPr sz="500" spc="50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500">
                <a:solidFill>
                  <a:srgbClr val="D9D9D9"/>
                </a:solidFill>
                <a:latin typeface="Calibri"/>
                <a:cs typeface="Calibri"/>
              </a:rPr>
              <a:t>licensed</a:t>
            </a:r>
            <a:r>
              <a:rPr sz="500" spc="15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500">
                <a:solidFill>
                  <a:srgbClr val="D9D9D9"/>
                </a:solidFill>
                <a:latin typeface="Calibri"/>
                <a:cs typeface="Calibri"/>
              </a:rPr>
              <a:t>under</a:t>
            </a:r>
            <a:r>
              <a:rPr sz="500" spc="-4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500" u="sng" spc="10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sz="500" u="sng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Calibri"/>
                <a:cs typeface="Calibri"/>
                <a:hlinkClick r:id="rId4"/>
              </a:rPr>
              <a:t>CC</a:t>
            </a:r>
            <a:r>
              <a:rPr sz="500" u="sng" spc="20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sz="500" u="sng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Calibri"/>
                <a:cs typeface="Calibri"/>
                <a:hlinkClick r:id="rId4"/>
              </a:rPr>
              <a:t>BY</a:t>
            </a:r>
            <a:r>
              <a:rPr sz="500" u="sng" spc="45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sz="500" u="sng" spc="-20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Calibri"/>
                <a:cs typeface="Calibri"/>
                <a:hlinkClick r:id="rId4"/>
              </a:rPr>
              <a:t>2.0</a:t>
            </a:r>
            <a:r>
              <a:rPr sz="500" spc="-20">
                <a:solidFill>
                  <a:srgbClr val="D9D9D9"/>
                </a:solidFill>
                <a:latin typeface="Calibri"/>
                <a:cs typeface="Calibri"/>
              </a:rPr>
              <a:t>;</a:t>
            </a:r>
            <a:r>
              <a:rPr sz="500" spc="50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500">
                <a:solidFill>
                  <a:srgbClr val="D9D9D9"/>
                </a:solidFill>
                <a:latin typeface="Calibri"/>
                <a:cs typeface="Calibri"/>
              </a:rPr>
              <a:t>changes</a:t>
            </a:r>
            <a:r>
              <a:rPr sz="500" spc="7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500" spc="-20">
                <a:solidFill>
                  <a:srgbClr val="D9D9D9"/>
                </a:solidFill>
                <a:latin typeface="Calibri"/>
                <a:cs typeface="Calibri"/>
              </a:rPr>
              <a:t>made</a:t>
            </a:r>
            <a:endParaRPr sz="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500" u="sng" spc="-35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Calibri"/>
                <a:cs typeface="Calibri"/>
              </a:rPr>
              <a:t> </a:t>
            </a:r>
            <a:r>
              <a:rPr sz="500" u="sng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Calibri"/>
                <a:cs typeface="Calibri"/>
              </a:rPr>
              <a:t>Image</a:t>
            </a:r>
            <a:r>
              <a:rPr sz="500" spc="4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500">
                <a:solidFill>
                  <a:srgbClr val="D9D9D9"/>
                </a:solidFill>
                <a:latin typeface="Calibri"/>
                <a:cs typeface="Calibri"/>
              </a:rPr>
              <a:t>is</a:t>
            </a:r>
            <a:r>
              <a:rPr sz="500" spc="5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500">
                <a:solidFill>
                  <a:srgbClr val="D9D9D9"/>
                </a:solidFill>
                <a:latin typeface="Calibri"/>
                <a:cs typeface="Calibri"/>
              </a:rPr>
              <a:t>public</a:t>
            </a:r>
            <a:r>
              <a:rPr sz="500" spc="75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500" spc="-10">
                <a:solidFill>
                  <a:srgbClr val="D9D9D9"/>
                </a:solidFill>
                <a:latin typeface="Calibri"/>
                <a:cs typeface="Calibri"/>
              </a:rPr>
              <a:t>domain</a:t>
            </a:r>
            <a:endParaRPr sz="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500" u="sng" spc="-20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Calibri"/>
                <a:cs typeface="Calibri"/>
              </a:rPr>
              <a:t> </a:t>
            </a:r>
            <a:r>
              <a:rPr sz="500" u="sng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Calibri"/>
                <a:cs typeface="Calibri"/>
              </a:rPr>
              <a:t>Image</a:t>
            </a:r>
            <a:r>
              <a:rPr sz="500" spc="75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500">
                <a:solidFill>
                  <a:srgbClr val="D9D9D9"/>
                </a:solidFill>
                <a:latin typeface="Calibri"/>
                <a:cs typeface="Calibri"/>
              </a:rPr>
              <a:t>is</a:t>
            </a:r>
            <a:r>
              <a:rPr sz="500" spc="3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500">
                <a:solidFill>
                  <a:srgbClr val="D9D9D9"/>
                </a:solidFill>
                <a:latin typeface="Calibri"/>
                <a:cs typeface="Calibri"/>
              </a:rPr>
              <a:t>licensed</a:t>
            </a:r>
            <a:r>
              <a:rPr sz="500" spc="35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500">
                <a:solidFill>
                  <a:srgbClr val="D9D9D9"/>
                </a:solidFill>
                <a:latin typeface="Calibri"/>
                <a:cs typeface="Calibri"/>
              </a:rPr>
              <a:t>under</a:t>
            </a:r>
            <a:r>
              <a:rPr sz="500" u="sng" spc="25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Calibri"/>
                <a:cs typeface="Calibri"/>
                <a:hlinkClick r:id="rId18"/>
              </a:rPr>
              <a:t> </a:t>
            </a:r>
            <a:r>
              <a:rPr sz="500" u="sng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Calibri"/>
                <a:cs typeface="Calibri"/>
                <a:hlinkClick r:id="rId18"/>
              </a:rPr>
              <a:t>CC-</a:t>
            </a:r>
            <a:r>
              <a:rPr sz="500" u="sng" spc="-25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Calibri"/>
                <a:cs typeface="Calibri"/>
                <a:hlinkClick r:id="rId18"/>
              </a:rPr>
              <a:t>B</a:t>
            </a:r>
            <a:r>
              <a:rPr sz="500" spc="-25">
                <a:solidFill>
                  <a:srgbClr val="D9D9D9"/>
                </a:solidFill>
                <a:latin typeface="Calibri"/>
                <a:cs typeface="Calibri"/>
                <a:hlinkClick r:id="rId18"/>
              </a:rPr>
              <a:t>Y</a:t>
            </a:r>
            <a:endParaRPr sz="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u="sng" spc="-20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Calibri"/>
                <a:cs typeface="Calibri"/>
                <a:hlinkClick r:id="rId18"/>
              </a:rPr>
              <a:t> </a:t>
            </a:r>
            <a:r>
              <a:rPr sz="500" u="sng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Calibri"/>
                <a:cs typeface="Calibri"/>
                <a:hlinkClick r:id="rId18"/>
              </a:rPr>
              <a:t>2.0</a:t>
            </a:r>
            <a:r>
              <a:rPr sz="500">
                <a:solidFill>
                  <a:srgbClr val="D9D9D9"/>
                </a:solidFill>
                <a:latin typeface="Calibri"/>
                <a:cs typeface="Calibri"/>
              </a:rPr>
              <a:t>;</a:t>
            </a:r>
            <a:r>
              <a:rPr sz="500" spc="1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500">
                <a:solidFill>
                  <a:srgbClr val="D9D9D9"/>
                </a:solidFill>
                <a:latin typeface="Calibri"/>
                <a:cs typeface="Calibri"/>
              </a:rPr>
              <a:t>changes</a:t>
            </a:r>
            <a:r>
              <a:rPr sz="500" spc="3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500" spc="-20">
                <a:solidFill>
                  <a:srgbClr val="D9D9D9"/>
                </a:solidFill>
                <a:latin typeface="Calibri"/>
                <a:cs typeface="Calibri"/>
              </a:rPr>
              <a:t>made</a:t>
            </a:r>
            <a:endParaRPr sz="5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5391150" y="790575"/>
            <a:ext cx="1323975" cy="13716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3324225" y="2209800"/>
            <a:ext cx="1885950" cy="115252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6829425" y="790575"/>
            <a:ext cx="1123950" cy="13716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3152775" y="3429000"/>
            <a:ext cx="1333500" cy="124777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5334000" y="2228850"/>
            <a:ext cx="1524000" cy="114300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6962775" y="2228850"/>
            <a:ext cx="990600" cy="114300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190625" y="3429000"/>
            <a:ext cx="1847850" cy="123825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4600575" y="3429000"/>
            <a:ext cx="1724025" cy="123825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1190625" y="790575"/>
            <a:ext cx="2000250" cy="1333500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3390756" y="823602"/>
            <a:ext cx="1867043" cy="1292215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6438900" y="3429000"/>
            <a:ext cx="1514475" cy="1238250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1190625" y="2219325"/>
            <a:ext cx="1971675" cy="1123950"/>
          </a:xfrm>
          <a:prstGeom prst="rect">
            <a:avLst/>
          </a:prstGeom>
        </p:spPr>
      </p:pic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14</a:t>
            </a:fld>
            <a:endParaRPr spc="-25"/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>
              <a:lnSpc>
                <a:spcPts val="1810"/>
              </a:lnSpc>
            </a:pPr>
            <a:r>
              <a:t>April 1,</a:t>
            </a:r>
            <a:r>
              <a:rPr spc="-35"/>
              <a:t> </a:t>
            </a:r>
            <a:r>
              <a:rPr spc="-20"/>
              <a:t>2025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t>CS231n:</a:t>
            </a:r>
            <a:r>
              <a:rPr spc="-5"/>
              <a:t> </a:t>
            </a:r>
            <a:r>
              <a:t>Lecture</a:t>
            </a:r>
            <a:r>
              <a:rPr spc="95"/>
              <a:t> </a:t>
            </a:r>
            <a:r>
              <a:t>1</a:t>
            </a:r>
            <a:r>
              <a:rPr spc="15"/>
              <a:t> </a:t>
            </a:r>
            <a:r>
              <a:rPr spc="-50"/>
              <a:t>-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307657" y="4910517"/>
            <a:ext cx="2085339" cy="1536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Fei-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Fei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Li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9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Ehsan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Adeli</a:t>
            </a: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90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Zane Durante</a:t>
            </a:r>
            <a:endParaRPr sz="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97735" y="1640839"/>
            <a:ext cx="4961255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>
                <a:solidFill>
                  <a:srgbClr val="C00000"/>
                </a:solidFill>
              </a:rPr>
              <a:t>Where</a:t>
            </a:r>
            <a:r>
              <a:rPr sz="3600" spc="-65">
                <a:solidFill>
                  <a:srgbClr val="C00000"/>
                </a:solidFill>
              </a:rPr>
              <a:t> </a:t>
            </a:r>
            <a:r>
              <a:rPr sz="3600">
                <a:solidFill>
                  <a:srgbClr val="C00000"/>
                </a:solidFill>
              </a:rPr>
              <a:t>did</a:t>
            </a:r>
            <a:r>
              <a:rPr sz="3600" spc="-30">
                <a:solidFill>
                  <a:srgbClr val="C00000"/>
                </a:solidFill>
              </a:rPr>
              <a:t> </a:t>
            </a:r>
            <a:r>
              <a:rPr sz="3600">
                <a:solidFill>
                  <a:srgbClr val="C00000"/>
                </a:solidFill>
              </a:rPr>
              <a:t>we</a:t>
            </a:r>
            <a:r>
              <a:rPr sz="3600" spc="-50">
                <a:solidFill>
                  <a:srgbClr val="C00000"/>
                </a:solidFill>
              </a:rPr>
              <a:t> </a:t>
            </a:r>
            <a:r>
              <a:rPr sz="3600">
                <a:solidFill>
                  <a:srgbClr val="C00000"/>
                </a:solidFill>
              </a:rPr>
              <a:t>come</a:t>
            </a:r>
            <a:r>
              <a:rPr sz="3600" spc="-65">
                <a:solidFill>
                  <a:srgbClr val="C00000"/>
                </a:solidFill>
              </a:rPr>
              <a:t> </a:t>
            </a:r>
            <a:r>
              <a:rPr sz="3600" spc="-10">
                <a:solidFill>
                  <a:srgbClr val="C00000"/>
                </a:solidFill>
              </a:rPr>
              <a:t>from?</a:t>
            </a:r>
            <a:endParaRPr sz="3600"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15</a:t>
            </a:fld>
            <a:endParaRPr spc="-25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>
              <a:lnSpc>
                <a:spcPts val="1810"/>
              </a:lnSpc>
            </a:pPr>
            <a:r>
              <a:t>April 1,</a:t>
            </a:r>
            <a:r>
              <a:rPr spc="-35"/>
              <a:t> </a:t>
            </a:r>
            <a:r>
              <a:rPr spc="-20"/>
              <a:t>2025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t>CS231n:</a:t>
            </a:r>
            <a:r>
              <a:rPr spc="-5"/>
              <a:t> </a:t>
            </a:r>
            <a:r>
              <a:t>Lecture</a:t>
            </a:r>
            <a:r>
              <a:rPr spc="95"/>
              <a:t> </a:t>
            </a:r>
            <a:r>
              <a:t>1</a:t>
            </a:r>
            <a:r>
              <a:rPr spc="15"/>
              <a:t> </a:t>
            </a:r>
            <a:r>
              <a:rPr spc="-50"/>
              <a:t>-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07657" y="4910517"/>
            <a:ext cx="2085339" cy="1536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Fei-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Fei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Li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9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Ehsan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Adeli</a:t>
            </a: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90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Zane Durante</a:t>
            </a:r>
            <a:endParaRPr sz="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2125" y="121919"/>
            <a:ext cx="4057650" cy="529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t>Hubel</a:t>
            </a:r>
            <a:r>
              <a:rPr spc="-45"/>
              <a:t> </a:t>
            </a:r>
            <a:r>
              <a:t>and</a:t>
            </a:r>
            <a:r>
              <a:rPr spc="-60"/>
              <a:t> </a:t>
            </a:r>
            <a:r>
              <a:t>Wiesel,</a:t>
            </a:r>
            <a:r>
              <a:rPr spc="-45"/>
              <a:t> </a:t>
            </a:r>
            <a:r>
              <a:rPr spc="-20"/>
              <a:t>1959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133475" y="923925"/>
            <a:ext cx="3129280" cy="3395979"/>
            <a:chOff x="1133475" y="923925"/>
            <a:chExt cx="3129280" cy="339597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33475" y="923925"/>
              <a:ext cx="800100" cy="140017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957450" y="2624137"/>
              <a:ext cx="2305050" cy="1695450"/>
            </a:xfrm>
            <a:custGeom>
              <a:avLst/>
              <a:gdLst/>
              <a:ahLst/>
              <a:cxnLst/>
              <a:rect l="l" t="t" r="r" b="b"/>
              <a:pathLst>
                <a:path w="2305050" h="1695450">
                  <a:moveTo>
                    <a:pt x="2305050" y="0"/>
                  </a:moveTo>
                  <a:lnTo>
                    <a:pt x="0" y="0"/>
                  </a:lnTo>
                  <a:lnTo>
                    <a:pt x="0" y="1695450"/>
                  </a:lnTo>
                  <a:lnTo>
                    <a:pt x="2305050" y="1695450"/>
                  </a:lnTo>
                  <a:lnTo>
                    <a:pt x="230505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23617" y="1103168"/>
            <a:ext cx="919528" cy="129834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957451" y="2624137"/>
            <a:ext cx="2305050" cy="1695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20"/>
              </a:spcBef>
            </a:pPr>
            <a:endParaRPr sz="1400">
              <a:latin typeface="Times New Roman"/>
              <a:cs typeface="Times New Roman"/>
            </a:endParaRPr>
          </a:p>
          <a:p>
            <a:pPr marL="447675">
              <a:lnSpc>
                <a:spcPct val="100000"/>
              </a:lnSpc>
              <a:tabLst>
                <a:tab pos="1605915" algn="l"/>
              </a:tabLst>
            </a:pPr>
            <a:r>
              <a:rPr sz="1400" spc="-10">
                <a:latin typeface="Arial MT"/>
                <a:cs typeface="Arial MT"/>
              </a:rPr>
              <a:t>Response</a:t>
            </a:r>
            <a:r>
              <a:rPr sz="1400">
                <a:latin typeface="Arial MT"/>
                <a:cs typeface="Arial MT"/>
              </a:rPr>
              <a:t>	</a:t>
            </a:r>
            <a:r>
              <a:rPr sz="1400" spc="-10">
                <a:latin typeface="Arial MT"/>
                <a:cs typeface="Arial MT"/>
              </a:rPr>
              <a:t>Stimulus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85800" y="1238250"/>
            <a:ext cx="3275965" cy="2794000"/>
            <a:chOff x="685800" y="1238250"/>
            <a:chExt cx="3275965" cy="2794000"/>
          </a:xfrm>
        </p:grpSpPr>
        <p:sp>
          <p:nvSpPr>
            <p:cNvPr id="9" name="object 9"/>
            <p:cNvSpPr/>
            <p:nvPr/>
          </p:nvSpPr>
          <p:spPr>
            <a:xfrm>
              <a:off x="3597655" y="2883407"/>
              <a:ext cx="363855" cy="363855"/>
            </a:xfrm>
            <a:custGeom>
              <a:avLst/>
              <a:gdLst/>
              <a:ahLst/>
              <a:cxnLst/>
              <a:rect l="l" t="t" r="r" b="b"/>
              <a:pathLst>
                <a:path w="363854" h="363855">
                  <a:moveTo>
                    <a:pt x="40386" y="0"/>
                  </a:moveTo>
                  <a:lnTo>
                    <a:pt x="0" y="40386"/>
                  </a:lnTo>
                  <a:lnTo>
                    <a:pt x="323215" y="363728"/>
                  </a:lnTo>
                  <a:lnTo>
                    <a:pt x="363601" y="323342"/>
                  </a:lnTo>
                  <a:lnTo>
                    <a:pt x="4038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20667" y="2920238"/>
              <a:ext cx="124841" cy="11912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24275" y="3609975"/>
              <a:ext cx="114300" cy="20955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90976" y="3681348"/>
              <a:ext cx="161162" cy="762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128900" y="2786125"/>
              <a:ext cx="1147445" cy="1233170"/>
            </a:xfrm>
            <a:custGeom>
              <a:avLst/>
              <a:gdLst/>
              <a:ahLst/>
              <a:cxnLst/>
              <a:rect l="l" t="t" r="r" b="b"/>
              <a:pathLst>
                <a:path w="1147445" h="1233170">
                  <a:moveTo>
                    <a:pt x="0" y="0"/>
                  </a:moveTo>
                  <a:lnTo>
                    <a:pt x="0" y="518668"/>
                  </a:lnTo>
                </a:path>
                <a:path w="1147445" h="1233170">
                  <a:moveTo>
                    <a:pt x="1137665" y="514350"/>
                  </a:moveTo>
                  <a:lnTo>
                    <a:pt x="0" y="514350"/>
                  </a:lnTo>
                </a:path>
                <a:path w="1147445" h="1233170">
                  <a:moveTo>
                    <a:pt x="9525" y="714375"/>
                  </a:moveTo>
                  <a:lnTo>
                    <a:pt x="9525" y="1233030"/>
                  </a:lnTo>
                </a:path>
                <a:path w="1147445" h="1233170">
                  <a:moveTo>
                    <a:pt x="1147190" y="1228661"/>
                  </a:moveTo>
                  <a:lnTo>
                    <a:pt x="9525" y="1228661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200275" y="2905125"/>
              <a:ext cx="1047750" cy="1009650"/>
            </a:xfrm>
            <a:custGeom>
              <a:avLst/>
              <a:gdLst/>
              <a:ahLst/>
              <a:cxnLst/>
              <a:rect l="l" t="t" r="r" b="b"/>
              <a:pathLst>
                <a:path w="1047750" h="1009650">
                  <a:moveTo>
                    <a:pt x="47625" y="285750"/>
                  </a:moveTo>
                  <a:lnTo>
                    <a:pt x="102853" y="284721"/>
                  </a:lnTo>
                  <a:lnTo>
                    <a:pt x="156840" y="282429"/>
                  </a:lnTo>
                  <a:lnTo>
                    <a:pt x="208343" y="277590"/>
                  </a:lnTo>
                  <a:lnTo>
                    <a:pt x="256121" y="268920"/>
                  </a:lnTo>
                  <a:lnTo>
                    <a:pt x="298932" y="255134"/>
                  </a:lnTo>
                  <a:lnTo>
                    <a:pt x="335533" y="234950"/>
                  </a:lnTo>
                  <a:lnTo>
                    <a:pt x="364144" y="200859"/>
                  </a:lnTo>
                  <a:lnTo>
                    <a:pt x="385477" y="152390"/>
                  </a:lnTo>
                  <a:lnTo>
                    <a:pt x="401843" y="98806"/>
                  </a:lnTo>
                  <a:lnTo>
                    <a:pt x="415553" y="49370"/>
                  </a:lnTo>
                  <a:lnTo>
                    <a:pt x="428917" y="13346"/>
                  </a:lnTo>
                  <a:lnTo>
                    <a:pt x="444245" y="0"/>
                  </a:lnTo>
                  <a:lnTo>
                    <a:pt x="457884" y="15786"/>
                  </a:lnTo>
                  <a:lnTo>
                    <a:pt x="467247" y="54581"/>
                  </a:lnTo>
                  <a:lnTo>
                    <a:pt x="476249" y="106775"/>
                  </a:lnTo>
                  <a:lnTo>
                    <a:pt x="488808" y="162757"/>
                  </a:lnTo>
                  <a:lnTo>
                    <a:pt x="508839" y="212919"/>
                  </a:lnTo>
                  <a:lnTo>
                    <a:pt x="540257" y="247650"/>
                  </a:lnTo>
                  <a:lnTo>
                    <a:pt x="581309" y="264036"/>
                  </a:lnTo>
                  <a:lnTo>
                    <a:pt x="635092" y="273631"/>
                  </a:lnTo>
                  <a:lnTo>
                    <a:pt x="696175" y="278321"/>
                  </a:lnTo>
                  <a:lnTo>
                    <a:pt x="759127" y="279991"/>
                  </a:lnTo>
                  <a:lnTo>
                    <a:pt x="818515" y="280529"/>
                  </a:lnTo>
                  <a:lnTo>
                    <a:pt x="868908" y="281820"/>
                  </a:lnTo>
                  <a:lnTo>
                    <a:pt x="904875" y="285750"/>
                  </a:lnTo>
                </a:path>
                <a:path w="1047750" h="1009650">
                  <a:moveTo>
                    <a:pt x="0" y="1009650"/>
                  </a:moveTo>
                  <a:lnTo>
                    <a:pt x="49776" y="972202"/>
                  </a:lnTo>
                  <a:lnTo>
                    <a:pt x="99218" y="935465"/>
                  </a:lnTo>
                  <a:lnTo>
                    <a:pt x="147999" y="900152"/>
                  </a:lnTo>
                  <a:lnTo>
                    <a:pt x="195791" y="866975"/>
                  </a:lnTo>
                  <a:lnTo>
                    <a:pt x="242268" y="836644"/>
                  </a:lnTo>
                  <a:lnTo>
                    <a:pt x="287103" y="809871"/>
                  </a:lnTo>
                  <a:lnTo>
                    <a:pt x="329969" y="787369"/>
                  </a:lnTo>
                  <a:lnTo>
                    <a:pt x="370539" y="769849"/>
                  </a:lnTo>
                  <a:lnTo>
                    <a:pt x="408486" y="758023"/>
                  </a:lnTo>
                  <a:lnTo>
                    <a:pt x="443483" y="752602"/>
                  </a:lnTo>
                  <a:lnTo>
                    <a:pt x="481037" y="758386"/>
                  </a:lnTo>
                  <a:lnTo>
                    <a:pt x="511526" y="778092"/>
                  </a:lnTo>
                  <a:lnTo>
                    <a:pt x="537136" y="807816"/>
                  </a:lnTo>
                  <a:lnTo>
                    <a:pt x="560054" y="843656"/>
                  </a:lnTo>
                  <a:lnTo>
                    <a:pt x="582465" y="881708"/>
                  </a:lnTo>
                  <a:lnTo>
                    <a:pt x="606557" y="918070"/>
                  </a:lnTo>
                  <a:lnTo>
                    <a:pt x="634516" y="948840"/>
                  </a:lnTo>
                  <a:lnTo>
                    <a:pt x="668527" y="970114"/>
                  </a:lnTo>
                  <a:lnTo>
                    <a:pt x="708023" y="983204"/>
                  </a:lnTo>
                  <a:lnTo>
                    <a:pt x="750677" y="992375"/>
                  </a:lnTo>
                  <a:lnTo>
                    <a:pt x="796039" y="998188"/>
                  </a:lnTo>
                  <a:lnTo>
                    <a:pt x="843660" y="1001202"/>
                  </a:lnTo>
                  <a:lnTo>
                    <a:pt x="893092" y="1001978"/>
                  </a:lnTo>
                  <a:lnTo>
                    <a:pt x="943883" y="1001074"/>
                  </a:lnTo>
                  <a:lnTo>
                    <a:pt x="995586" y="999050"/>
                  </a:lnTo>
                  <a:lnTo>
                    <a:pt x="1047750" y="996467"/>
                  </a:lnTo>
                </a:path>
              </a:pathLst>
            </a:custGeom>
            <a:ln w="222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04850" y="1257300"/>
              <a:ext cx="739140" cy="1502410"/>
            </a:xfrm>
            <a:custGeom>
              <a:avLst/>
              <a:gdLst/>
              <a:ahLst/>
              <a:cxnLst/>
              <a:rect l="l" t="t" r="r" b="b"/>
              <a:pathLst>
                <a:path w="739140" h="1502410">
                  <a:moveTo>
                    <a:pt x="19050" y="1501902"/>
                  </a:moveTo>
                  <a:lnTo>
                    <a:pt x="19050" y="0"/>
                  </a:lnTo>
                </a:path>
                <a:path w="739140" h="1502410">
                  <a:moveTo>
                    <a:pt x="0" y="0"/>
                  </a:moveTo>
                  <a:lnTo>
                    <a:pt x="739140" y="0"/>
                  </a:lnTo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54939" y="764286"/>
            <a:ext cx="1016000" cy="483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350" algn="ctr">
              <a:lnSpc>
                <a:spcPct val="100000"/>
              </a:lnSpc>
              <a:spcBef>
                <a:spcPts val="105"/>
              </a:spcBef>
            </a:pPr>
            <a:r>
              <a:rPr sz="1500" spc="-10">
                <a:latin typeface="Arial MT"/>
                <a:cs typeface="Arial MT"/>
              </a:rPr>
              <a:t>Measure</a:t>
            </a:r>
            <a:endParaRPr sz="15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1500" spc="-50">
                <a:latin typeface="Arial MT"/>
                <a:cs typeface="Arial MT"/>
              </a:rPr>
              <a:t>brain</a:t>
            </a:r>
            <a:r>
              <a:rPr sz="1500" spc="-25">
                <a:latin typeface="Arial MT"/>
                <a:cs typeface="Arial MT"/>
              </a:rPr>
              <a:t> activity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04775" y="2714625"/>
            <a:ext cx="1878964" cy="1609725"/>
            <a:chOff x="104775" y="2714625"/>
            <a:chExt cx="1878964" cy="1609725"/>
          </a:xfrm>
        </p:grpSpPr>
        <p:sp>
          <p:nvSpPr>
            <p:cNvPr id="18" name="object 18"/>
            <p:cNvSpPr/>
            <p:nvPr/>
          </p:nvSpPr>
          <p:spPr>
            <a:xfrm>
              <a:off x="723900" y="2714625"/>
              <a:ext cx="1259840" cy="114300"/>
            </a:xfrm>
            <a:custGeom>
              <a:avLst/>
              <a:gdLst/>
              <a:ahLst/>
              <a:cxnLst/>
              <a:rect l="l" t="t" r="r" b="b"/>
              <a:pathLst>
                <a:path w="1259839" h="114300">
                  <a:moveTo>
                    <a:pt x="1145539" y="0"/>
                  </a:moveTo>
                  <a:lnTo>
                    <a:pt x="1145539" y="114300"/>
                  </a:lnTo>
                  <a:lnTo>
                    <a:pt x="1221739" y="76200"/>
                  </a:lnTo>
                  <a:lnTo>
                    <a:pt x="1164589" y="76200"/>
                  </a:lnTo>
                  <a:lnTo>
                    <a:pt x="1164589" y="38100"/>
                  </a:lnTo>
                  <a:lnTo>
                    <a:pt x="1221739" y="38100"/>
                  </a:lnTo>
                  <a:lnTo>
                    <a:pt x="1145539" y="0"/>
                  </a:lnTo>
                  <a:close/>
                </a:path>
                <a:path w="1259839" h="114300">
                  <a:moveTo>
                    <a:pt x="1145539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1145539" y="76200"/>
                  </a:lnTo>
                  <a:lnTo>
                    <a:pt x="1145539" y="38100"/>
                  </a:lnTo>
                  <a:close/>
                </a:path>
                <a:path w="1259839" h="114300">
                  <a:moveTo>
                    <a:pt x="1221739" y="38100"/>
                  </a:moveTo>
                  <a:lnTo>
                    <a:pt x="1164589" y="38100"/>
                  </a:lnTo>
                  <a:lnTo>
                    <a:pt x="1164589" y="76200"/>
                  </a:lnTo>
                  <a:lnTo>
                    <a:pt x="1221739" y="76200"/>
                  </a:lnTo>
                  <a:lnTo>
                    <a:pt x="1259839" y="57150"/>
                  </a:lnTo>
                  <a:lnTo>
                    <a:pt x="1221739" y="3810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04775" y="4133850"/>
              <a:ext cx="548640" cy="171450"/>
            </a:xfrm>
            <a:custGeom>
              <a:avLst/>
              <a:gdLst/>
              <a:ahLst/>
              <a:cxnLst/>
              <a:rect l="l" t="t" r="r" b="b"/>
              <a:pathLst>
                <a:path w="548640" h="171450">
                  <a:moveTo>
                    <a:pt x="0" y="171450"/>
                  </a:moveTo>
                  <a:lnTo>
                    <a:pt x="548640" y="171450"/>
                  </a:lnTo>
                </a:path>
                <a:path w="548640" h="171450">
                  <a:moveTo>
                    <a:pt x="542925" y="171450"/>
                  </a:moveTo>
                  <a:lnTo>
                    <a:pt x="542925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/>
          <p:nvPr/>
        </p:nvSpPr>
        <p:spPr>
          <a:xfrm>
            <a:off x="5305425" y="552450"/>
            <a:ext cx="57150" cy="457200"/>
          </a:xfrm>
          <a:custGeom>
            <a:avLst/>
            <a:gdLst/>
            <a:ahLst/>
            <a:cxnLst/>
            <a:rect l="l" t="t" r="r" b="b"/>
            <a:pathLst>
              <a:path w="57150" h="457200">
                <a:moveTo>
                  <a:pt x="57150" y="0"/>
                </a:moveTo>
                <a:lnTo>
                  <a:pt x="0" y="0"/>
                </a:lnTo>
                <a:lnTo>
                  <a:pt x="0" y="457200"/>
                </a:lnTo>
                <a:lnTo>
                  <a:pt x="57150" y="457200"/>
                </a:lnTo>
                <a:lnTo>
                  <a:pt x="571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1" name="object 21"/>
          <p:cNvGrpSpPr/>
          <p:nvPr/>
        </p:nvGrpSpPr>
        <p:grpSpPr>
          <a:xfrm>
            <a:off x="5562600" y="557276"/>
            <a:ext cx="457200" cy="252729"/>
            <a:chOff x="5562600" y="557276"/>
            <a:chExt cx="457200" cy="252729"/>
          </a:xfrm>
        </p:grpSpPr>
        <p:sp>
          <p:nvSpPr>
            <p:cNvPr id="22" name="object 22"/>
            <p:cNvSpPr/>
            <p:nvPr/>
          </p:nvSpPr>
          <p:spPr>
            <a:xfrm>
              <a:off x="5562600" y="752475"/>
              <a:ext cx="457200" cy="57150"/>
            </a:xfrm>
            <a:custGeom>
              <a:avLst/>
              <a:gdLst/>
              <a:ahLst/>
              <a:cxnLst/>
              <a:rect l="l" t="t" r="r" b="b"/>
              <a:pathLst>
                <a:path w="457200" h="57150">
                  <a:moveTo>
                    <a:pt x="457200" y="0"/>
                  </a:moveTo>
                  <a:lnTo>
                    <a:pt x="0" y="0"/>
                  </a:lnTo>
                  <a:lnTo>
                    <a:pt x="0" y="57150"/>
                  </a:lnTo>
                  <a:lnTo>
                    <a:pt x="457200" y="5715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757798" y="557276"/>
              <a:ext cx="76200" cy="159893"/>
            </a:xfrm>
            <a:prstGeom prst="rect">
              <a:avLst/>
            </a:prstGeom>
          </p:spPr>
        </p:pic>
      </p:grpSp>
      <p:grpSp>
        <p:nvGrpSpPr>
          <p:cNvPr id="24" name="object 24"/>
          <p:cNvGrpSpPr/>
          <p:nvPr/>
        </p:nvGrpSpPr>
        <p:grpSpPr>
          <a:xfrm>
            <a:off x="6218301" y="597280"/>
            <a:ext cx="363855" cy="363855"/>
            <a:chOff x="6218301" y="597280"/>
            <a:chExt cx="363855" cy="363855"/>
          </a:xfrm>
        </p:grpSpPr>
        <p:sp>
          <p:nvSpPr>
            <p:cNvPr id="25" name="object 25"/>
            <p:cNvSpPr/>
            <p:nvPr/>
          </p:nvSpPr>
          <p:spPr>
            <a:xfrm>
              <a:off x="6218301" y="597280"/>
              <a:ext cx="363855" cy="363855"/>
            </a:xfrm>
            <a:custGeom>
              <a:avLst/>
              <a:gdLst/>
              <a:ahLst/>
              <a:cxnLst/>
              <a:rect l="l" t="t" r="r" b="b"/>
              <a:pathLst>
                <a:path w="363854" h="363855">
                  <a:moveTo>
                    <a:pt x="40386" y="0"/>
                  </a:moveTo>
                  <a:lnTo>
                    <a:pt x="0" y="40386"/>
                  </a:lnTo>
                  <a:lnTo>
                    <a:pt x="323215" y="363601"/>
                  </a:lnTo>
                  <a:lnTo>
                    <a:pt x="363600" y="323215"/>
                  </a:lnTo>
                  <a:lnTo>
                    <a:pt x="4038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234049" y="834643"/>
              <a:ext cx="119125" cy="113537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441313" y="634110"/>
              <a:ext cx="124840" cy="119125"/>
            </a:xfrm>
            <a:prstGeom prst="rect">
              <a:avLst/>
            </a:prstGeom>
          </p:spPr>
        </p:pic>
      </p:grpSp>
      <p:grpSp>
        <p:nvGrpSpPr>
          <p:cNvPr id="28" name="object 28"/>
          <p:cNvGrpSpPr/>
          <p:nvPr/>
        </p:nvGrpSpPr>
        <p:grpSpPr>
          <a:xfrm>
            <a:off x="6710426" y="414401"/>
            <a:ext cx="481330" cy="481330"/>
            <a:chOff x="6710426" y="414401"/>
            <a:chExt cx="481330" cy="481330"/>
          </a:xfrm>
        </p:grpSpPr>
        <p:sp>
          <p:nvSpPr>
            <p:cNvPr id="29" name="object 29"/>
            <p:cNvSpPr/>
            <p:nvPr/>
          </p:nvSpPr>
          <p:spPr>
            <a:xfrm>
              <a:off x="6896100" y="600075"/>
              <a:ext cx="295275" cy="295275"/>
            </a:xfrm>
            <a:custGeom>
              <a:avLst/>
              <a:gdLst/>
              <a:ahLst/>
              <a:cxnLst/>
              <a:rect l="l" t="t" r="r" b="b"/>
              <a:pathLst>
                <a:path w="295275" h="295275">
                  <a:moveTo>
                    <a:pt x="147700" y="0"/>
                  </a:moveTo>
                  <a:lnTo>
                    <a:pt x="100982" y="7520"/>
                  </a:lnTo>
                  <a:lnTo>
                    <a:pt x="60432" y="28464"/>
                  </a:lnTo>
                  <a:lnTo>
                    <a:pt x="28472" y="60405"/>
                  </a:lnTo>
                  <a:lnTo>
                    <a:pt x="7521" y="100917"/>
                  </a:lnTo>
                  <a:lnTo>
                    <a:pt x="0" y="147574"/>
                  </a:lnTo>
                  <a:lnTo>
                    <a:pt x="7521" y="194292"/>
                  </a:lnTo>
                  <a:lnTo>
                    <a:pt x="28472" y="234842"/>
                  </a:lnTo>
                  <a:lnTo>
                    <a:pt x="60432" y="266802"/>
                  </a:lnTo>
                  <a:lnTo>
                    <a:pt x="100982" y="287753"/>
                  </a:lnTo>
                  <a:lnTo>
                    <a:pt x="147700" y="295275"/>
                  </a:lnTo>
                  <a:lnTo>
                    <a:pt x="194357" y="287753"/>
                  </a:lnTo>
                  <a:lnTo>
                    <a:pt x="234869" y="266802"/>
                  </a:lnTo>
                  <a:lnTo>
                    <a:pt x="266810" y="234842"/>
                  </a:lnTo>
                  <a:lnTo>
                    <a:pt x="287754" y="194292"/>
                  </a:lnTo>
                  <a:lnTo>
                    <a:pt x="295275" y="147574"/>
                  </a:lnTo>
                  <a:lnTo>
                    <a:pt x="287754" y="100917"/>
                  </a:lnTo>
                  <a:lnTo>
                    <a:pt x="266810" y="60405"/>
                  </a:lnTo>
                  <a:lnTo>
                    <a:pt x="234869" y="28464"/>
                  </a:lnTo>
                  <a:lnTo>
                    <a:pt x="194357" y="7520"/>
                  </a:lnTo>
                  <a:lnTo>
                    <a:pt x="1477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710426" y="700151"/>
              <a:ext cx="161163" cy="7620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015035" y="414401"/>
              <a:ext cx="76263" cy="159893"/>
            </a:xfrm>
            <a:prstGeom prst="rect">
              <a:avLst/>
            </a:prstGeom>
          </p:spPr>
        </p:pic>
      </p:grpSp>
      <p:grpSp>
        <p:nvGrpSpPr>
          <p:cNvPr id="32" name="object 32"/>
          <p:cNvGrpSpPr/>
          <p:nvPr/>
        </p:nvGrpSpPr>
        <p:grpSpPr>
          <a:xfrm>
            <a:off x="7505700" y="647700"/>
            <a:ext cx="114300" cy="394970"/>
            <a:chOff x="7505700" y="647700"/>
            <a:chExt cx="114300" cy="394970"/>
          </a:xfrm>
        </p:grpSpPr>
        <p:pic>
          <p:nvPicPr>
            <p:cNvPr id="33" name="object 3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05700" y="647700"/>
              <a:ext cx="114300" cy="20955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529449" y="890650"/>
              <a:ext cx="76200" cy="151891"/>
            </a:xfrm>
            <a:prstGeom prst="rect">
              <a:avLst/>
            </a:prstGeom>
          </p:spPr>
        </p:pic>
      </p:grpSp>
      <p:sp>
        <p:nvSpPr>
          <p:cNvPr id="35" name="object 35"/>
          <p:cNvSpPr/>
          <p:nvPr/>
        </p:nvSpPr>
        <p:spPr>
          <a:xfrm>
            <a:off x="4938776" y="738251"/>
            <a:ext cx="285750" cy="76200"/>
          </a:xfrm>
          <a:custGeom>
            <a:avLst/>
            <a:gdLst/>
            <a:ahLst/>
            <a:cxnLst/>
            <a:rect l="l" t="t" r="r" b="b"/>
            <a:pathLst>
              <a:path w="285750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50800"/>
                </a:lnTo>
                <a:lnTo>
                  <a:pt x="63500" y="50800"/>
                </a:lnTo>
                <a:lnTo>
                  <a:pt x="63500" y="25400"/>
                </a:lnTo>
                <a:lnTo>
                  <a:pt x="76200" y="25400"/>
                </a:lnTo>
                <a:lnTo>
                  <a:pt x="76200" y="0"/>
                </a:lnTo>
                <a:close/>
              </a:path>
              <a:path w="285750" h="76200">
                <a:moveTo>
                  <a:pt x="76200" y="25400"/>
                </a:moveTo>
                <a:lnTo>
                  <a:pt x="63500" y="25400"/>
                </a:lnTo>
                <a:lnTo>
                  <a:pt x="63500" y="50800"/>
                </a:lnTo>
                <a:lnTo>
                  <a:pt x="76200" y="50800"/>
                </a:lnTo>
                <a:lnTo>
                  <a:pt x="76200" y="25400"/>
                </a:lnTo>
                <a:close/>
              </a:path>
              <a:path w="285750" h="76200">
                <a:moveTo>
                  <a:pt x="285750" y="25400"/>
                </a:moveTo>
                <a:lnTo>
                  <a:pt x="76200" y="25400"/>
                </a:lnTo>
                <a:lnTo>
                  <a:pt x="76200" y="50800"/>
                </a:lnTo>
                <a:lnTo>
                  <a:pt x="285750" y="50800"/>
                </a:lnTo>
                <a:lnTo>
                  <a:pt x="285750" y="2540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6" name="object 36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757926" y="862075"/>
            <a:ext cx="76200" cy="151891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281926" y="719201"/>
            <a:ext cx="161163" cy="76200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7519923" y="442976"/>
            <a:ext cx="76200" cy="159893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7681848" y="719201"/>
            <a:ext cx="170306" cy="76200"/>
          </a:xfrm>
          <a:prstGeom prst="rect">
            <a:avLst/>
          </a:prstGeom>
        </p:spPr>
      </p:pic>
      <p:grpSp>
        <p:nvGrpSpPr>
          <p:cNvPr id="40" name="object 40"/>
          <p:cNvGrpSpPr/>
          <p:nvPr/>
        </p:nvGrpSpPr>
        <p:grpSpPr>
          <a:xfrm>
            <a:off x="5362575" y="1266825"/>
            <a:ext cx="361950" cy="542925"/>
            <a:chOff x="5362575" y="1266825"/>
            <a:chExt cx="361950" cy="542925"/>
          </a:xfrm>
        </p:grpSpPr>
        <p:sp>
          <p:nvSpPr>
            <p:cNvPr id="41" name="object 41"/>
            <p:cNvSpPr/>
            <p:nvPr/>
          </p:nvSpPr>
          <p:spPr>
            <a:xfrm>
              <a:off x="5362575" y="1695450"/>
              <a:ext cx="339725" cy="114300"/>
            </a:xfrm>
            <a:custGeom>
              <a:avLst/>
              <a:gdLst/>
              <a:ahLst/>
              <a:cxnLst/>
              <a:rect l="l" t="t" r="r" b="b"/>
              <a:pathLst>
                <a:path w="339725" h="114300">
                  <a:moveTo>
                    <a:pt x="114300" y="0"/>
                  </a:moveTo>
                  <a:lnTo>
                    <a:pt x="0" y="57150"/>
                  </a:lnTo>
                  <a:lnTo>
                    <a:pt x="114300" y="114300"/>
                  </a:lnTo>
                  <a:lnTo>
                    <a:pt x="114300" y="76200"/>
                  </a:lnTo>
                  <a:lnTo>
                    <a:pt x="95250" y="76200"/>
                  </a:lnTo>
                  <a:lnTo>
                    <a:pt x="95250" y="38100"/>
                  </a:lnTo>
                  <a:lnTo>
                    <a:pt x="114300" y="38100"/>
                  </a:lnTo>
                  <a:lnTo>
                    <a:pt x="114300" y="0"/>
                  </a:lnTo>
                  <a:close/>
                </a:path>
                <a:path w="339725" h="114300">
                  <a:moveTo>
                    <a:pt x="114300" y="38100"/>
                  </a:moveTo>
                  <a:lnTo>
                    <a:pt x="95250" y="38100"/>
                  </a:lnTo>
                  <a:lnTo>
                    <a:pt x="95250" y="76200"/>
                  </a:lnTo>
                  <a:lnTo>
                    <a:pt x="114300" y="76200"/>
                  </a:lnTo>
                  <a:lnTo>
                    <a:pt x="114300" y="38100"/>
                  </a:lnTo>
                  <a:close/>
                </a:path>
                <a:path w="339725" h="114300">
                  <a:moveTo>
                    <a:pt x="339725" y="38100"/>
                  </a:moveTo>
                  <a:lnTo>
                    <a:pt x="114300" y="38100"/>
                  </a:lnTo>
                  <a:lnTo>
                    <a:pt x="114300" y="76200"/>
                  </a:lnTo>
                  <a:lnTo>
                    <a:pt x="339725" y="76200"/>
                  </a:lnTo>
                  <a:lnTo>
                    <a:pt x="339725" y="3810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705475" y="1266825"/>
              <a:ext cx="0" cy="498475"/>
            </a:xfrm>
            <a:custGeom>
              <a:avLst/>
              <a:gdLst/>
              <a:ahLst/>
              <a:cxnLst/>
              <a:rect l="l" t="t" r="r" b="b"/>
              <a:pathLst>
                <a:path h="498475">
                  <a:moveTo>
                    <a:pt x="0" y="0"/>
                  </a:moveTo>
                  <a:lnTo>
                    <a:pt x="0" y="497966"/>
                  </a:lnTo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6389751" y="1521777"/>
            <a:ext cx="1889125" cy="2086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500" b="1">
                <a:latin typeface="Calibri"/>
                <a:cs typeface="Calibri"/>
              </a:rPr>
              <a:t>Simple</a:t>
            </a:r>
            <a:r>
              <a:rPr sz="1500" b="1" spc="-30">
                <a:latin typeface="Calibri"/>
                <a:cs typeface="Calibri"/>
              </a:rPr>
              <a:t> </a:t>
            </a:r>
            <a:r>
              <a:rPr sz="1500" b="1" spc="-10">
                <a:latin typeface="Calibri"/>
                <a:cs typeface="Calibri"/>
              </a:rPr>
              <a:t>cells</a:t>
            </a:r>
            <a:r>
              <a:rPr sz="1500" spc="-10">
                <a:latin typeface="Calibri"/>
                <a:cs typeface="Calibri"/>
              </a:rPr>
              <a:t>:</a:t>
            </a:r>
            <a:endParaRPr sz="15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500">
                <a:latin typeface="Calibri"/>
                <a:cs typeface="Calibri"/>
              </a:rPr>
              <a:t>Response</a:t>
            </a:r>
            <a:r>
              <a:rPr sz="1500" spc="-45">
                <a:latin typeface="Calibri"/>
                <a:cs typeface="Calibri"/>
              </a:rPr>
              <a:t> </a:t>
            </a:r>
            <a:r>
              <a:rPr sz="1500">
                <a:latin typeface="Calibri"/>
                <a:cs typeface="Calibri"/>
              </a:rPr>
              <a:t>to</a:t>
            </a:r>
            <a:r>
              <a:rPr sz="1500" spc="-20">
                <a:latin typeface="Calibri"/>
                <a:cs typeface="Calibri"/>
              </a:rPr>
              <a:t> </a:t>
            </a:r>
            <a:r>
              <a:rPr sz="1500" spc="-10">
                <a:latin typeface="Calibri"/>
                <a:cs typeface="Calibri"/>
              </a:rPr>
              <a:t>specific</a:t>
            </a:r>
            <a:endParaRPr sz="15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500" spc="-10">
                <a:latin typeface="Calibri"/>
                <a:cs typeface="Calibri"/>
              </a:rPr>
              <a:t>rotation</a:t>
            </a:r>
            <a:r>
              <a:rPr sz="1500" spc="-15">
                <a:latin typeface="Calibri"/>
                <a:cs typeface="Calibri"/>
              </a:rPr>
              <a:t> </a:t>
            </a:r>
            <a:r>
              <a:rPr sz="1500">
                <a:latin typeface="Calibri"/>
                <a:cs typeface="Calibri"/>
              </a:rPr>
              <a:t>and</a:t>
            </a:r>
            <a:r>
              <a:rPr sz="1500" spc="-15">
                <a:latin typeface="Calibri"/>
                <a:cs typeface="Calibri"/>
              </a:rPr>
              <a:t> </a:t>
            </a:r>
            <a:r>
              <a:rPr sz="1500" spc="-10">
                <a:latin typeface="Calibri"/>
                <a:cs typeface="Calibri"/>
              </a:rPr>
              <a:t>orientation</a:t>
            </a:r>
            <a:endParaRPr sz="1500">
              <a:latin typeface="Calibri"/>
              <a:cs typeface="Calibri"/>
            </a:endParaRPr>
          </a:p>
          <a:p>
            <a:pPr marL="108585" marR="102870" indent="635" algn="ctr">
              <a:lnSpc>
                <a:spcPct val="100000"/>
              </a:lnSpc>
              <a:spcBef>
                <a:spcPts val="1810"/>
              </a:spcBef>
            </a:pPr>
            <a:r>
              <a:rPr sz="1500" b="1">
                <a:latin typeface="Calibri"/>
                <a:cs typeface="Calibri"/>
              </a:rPr>
              <a:t>Complex</a:t>
            </a:r>
            <a:r>
              <a:rPr sz="1500" b="1" spc="-60">
                <a:latin typeface="Calibri"/>
                <a:cs typeface="Calibri"/>
              </a:rPr>
              <a:t> </a:t>
            </a:r>
            <a:r>
              <a:rPr sz="1500" b="1" spc="-10">
                <a:latin typeface="Calibri"/>
                <a:cs typeface="Calibri"/>
              </a:rPr>
              <a:t>cells</a:t>
            </a:r>
            <a:r>
              <a:rPr sz="1500" spc="-10">
                <a:latin typeface="Calibri"/>
                <a:cs typeface="Calibri"/>
              </a:rPr>
              <a:t>: Response</a:t>
            </a:r>
            <a:r>
              <a:rPr sz="1500" spc="-25">
                <a:latin typeface="Calibri"/>
                <a:cs typeface="Calibri"/>
              </a:rPr>
              <a:t> </a:t>
            </a:r>
            <a:r>
              <a:rPr sz="1500">
                <a:latin typeface="Calibri"/>
                <a:cs typeface="Calibri"/>
              </a:rPr>
              <a:t>to</a:t>
            </a:r>
            <a:r>
              <a:rPr sz="1500" spc="5">
                <a:latin typeface="Calibri"/>
                <a:cs typeface="Calibri"/>
              </a:rPr>
              <a:t> </a:t>
            </a:r>
            <a:r>
              <a:rPr sz="1500" spc="-20">
                <a:latin typeface="Calibri"/>
                <a:cs typeface="Calibri"/>
              </a:rPr>
              <a:t>light </a:t>
            </a:r>
            <a:r>
              <a:rPr sz="1500" spc="-10">
                <a:latin typeface="Calibri"/>
                <a:cs typeface="Calibri"/>
              </a:rPr>
              <a:t>orientation</a:t>
            </a:r>
            <a:r>
              <a:rPr sz="1500" spc="-20">
                <a:latin typeface="Calibri"/>
                <a:cs typeface="Calibri"/>
              </a:rPr>
              <a:t> </a:t>
            </a:r>
            <a:r>
              <a:rPr sz="1500" spc="-25">
                <a:latin typeface="Calibri"/>
                <a:cs typeface="Calibri"/>
              </a:rPr>
              <a:t>and </a:t>
            </a:r>
            <a:r>
              <a:rPr sz="1500">
                <a:latin typeface="Calibri"/>
                <a:cs typeface="Calibri"/>
              </a:rPr>
              <a:t>movement,</a:t>
            </a:r>
            <a:r>
              <a:rPr sz="1500" spc="-60">
                <a:latin typeface="Calibri"/>
                <a:cs typeface="Calibri"/>
              </a:rPr>
              <a:t> </a:t>
            </a:r>
            <a:r>
              <a:rPr sz="1500" spc="-20">
                <a:latin typeface="Calibri"/>
                <a:cs typeface="Calibri"/>
              </a:rPr>
              <a:t>some </a:t>
            </a:r>
            <a:r>
              <a:rPr sz="1500" spc="-10">
                <a:latin typeface="Calibri"/>
                <a:cs typeface="Calibri"/>
              </a:rPr>
              <a:t>translation</a:t>
            </a:r>
            <a:r>
              <a:rPr sz="1500" spc="25">
                <a:latin typeface="Calibri"/>
                <a:cs typeface="Calibri"/>
              </a:rPr>
              <a:t> </a:t>
            </a:r>
            <a:r>
              <a:rPr sz="1500" spc="-10">
                <a:latin typeface="Calibri"/>
                <a:cs typeface="Calibri"/>
              </a:rPr>
              <a:t>invariance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6419850" y="3549269"/>
            <a:ext cx="904875" cy="851535"/>
            <a:chOff x="6419850" y="3549269"/>
            <a:chExt cx="904875" cy="851535"/>
          </a:xfrm>
        </p:grpSpPr>
        <p:sp>
          <p:nvSpPr>
            <p:cNvPr id="45" name="object 45"/>
            <p:cNvSpPr/>
            <p:nvPr/>
          </p:nvSpPr>
          <p:spPr>
            <a:xfrm>
              <a:off x="6453251" y="3633787"/>
              <a:ext cx="800100" cy="752475"/>
            </a:xfrm>
            <a:custGeom>
              <a:avLst/>
              <a:gdLst/>
              <a:ahLst/>
              <a:cxnLst/>
              <a:rect l="l" t="t" r="r" b="b"/>
              <a:pathLst>
                <a:path w="800100" h="752475">
                  <a:moveTo>
                    <a:pt x="800100" y="0"/>
                  </a:moveTo>
                  <a:lnTo>
                    <a:pt x="0" y="0"/>
                  </a:lnTo>
                  <a:lnTo>
                    <a:pt x="0" y="752475"/>
                  </a:lnTo>
                  <a:lnTo>
                    <a:pt x="800100" y="752475"/>
                  </a:lnTo>
                  <a:lnTo>
                    <a:pt x="8001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524879" y="3549269"/>
              <a:ext cx="789305" cy="789305"/>
            </a:xfrm>
            <a:custGeom>
              <a:avLst/>
              <a:gdLst/>
              <a:ahLst/>
              <a:cxnLst/>
              <a:rect l="l" t="t" r="r" b="b"/>
              <a:pathLst>
                <a:path w="789304" h="789304">
                  <a:moveTo>
                    <a:pt x="66801" y="0"/>
                  </a:moveTo>
                  <a:lnTo>
                    <a:pt x="0" y="66801"/>
                  </a:lnTo>
                  <a:lnTo>
                    <a:pt x="722249" y="789038"/>
                  </a:lnTo>
                  <a:lnTo>
                    <a:pt x="789051" y="722287"/>
                  </a:lnTo>
                  <a:lnTo>
                    <a:pt x="6680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419850" y="3552824"/>
              <a:ext cx="904875" cy="847725"/>
            </a:xfrm>
            <a:custGeom>
              <a:avLst/>
              <a:gdLst/>
              <a:ahLst/>
              <a:cxnLst/>
              <a:rect l="l" t="t" r="r" b="b"/>
              <a:pathLst>
                <a:path w="904875" h="847725">
                  <a:moveTo>
                    <a:pt x="419100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419100" y="76200"/>
                  </a:lnTo>
                  <a:lnTo>
                    <a:pt x="419100" y="0"/>
                  </a:lnTo>
                  <a:close/>
                </a:path>
                <a:path w="904875" h="847725">
                  <a:moveTo>
                    <a:pt x="904875" y="428625"/>
                  </a:moveTo>
                  <a:lnTo>
                    <a:pt x="828675" y="428625"/>
                  </a:lnTo>
                  <a:lnTo>
                    <a:pt x="828675" y="847725"/>
                  </a:lnTo>
                  <a:lnTo>
                    <a:pt x="904875" y="847725"/>
                  </a:lnTo>
                  <a:lnTo>
                    <a:pt x="904875" y="4286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8" name="object 48"/>
          <p:cNvGrpSpPr/>
          <p:nvPr/>
        </p:nvGrpSpPr>
        <p:grpSpPr>
          <a:xfrm>
            <a:off x="7419975" y="3549269"/>
            <a:ext cx="805180" cy="837565"/>
            <a:chOff x="7419975" y="3549269"/>
            <a:chExt cx="805180" cy="837565"/>
          </a:xfrm>
        </p:grpSpPr>
        <p:sp>
          <p:nvSpPr>
            <p:cNvPr id="49" name="object 49"/>
            <p:cNvSpPr/>
            <p:nvPr/>
          </p:nvSpPr>
          <p:spPr>
            <a:xfrm>
              <a:off x="7424800" y="3633787"/>
              <a:ext cx="800100" cy="752475"/>
            </a:xfrm>
            <a:custGeom>
              <a:avLst/>
              <a:gdLst/>
              <a:ahLst/>
              <a:cxnLst/>
              <a:rect l="l" t="t" r="r" b="b"/>
              <a:pathLst>
                <a:path w="800100" h="752475">
                  <a:moveTo>
                    <a:pt x="800100" y="0"/>
                  </a:moveTo>
                  <a:lnTo>
                    <a:pt x="0" y="0"/>
                  </a:lnTo>
                  <a:lnTo>
                    <a:pt x="0" y="752475"/>
                  </a:lnTo>
                  <a:lnTo>
                    <a:pt x="800100" y="752475"/>
                  </a:lnTo>
                  <a:lnTo>
                    <a:pt x="8001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527289" y="3549269"/>
              <a:ext cx="485775" cy="485775"/>
            </a:xfrm>
            <a:custGeom>
              <a:avLst/>
              <a:gdLst/>
              <a:ahLst/>
              <a:cxnLst/>
              <a:rect l="l" t="t" r="r" b="b"/>
              <a:pathLst>
                <a:path w="485775" h="485775">
                  <a:moveTo>
                    <a:pt x="66801" y="0"/>
                  </a:moveTo>
                  <a:lnTo>
                    <a:pt x="0" y="66801"/>
                  </a:lnTo>
                  <a:lnTo>
                    <a:pt x="418973" y="485736"/>
                  </a:lnTo>
                  <a:lnTo>
                    <a:pt x="485775" y="418998"/>
                  </a:lnTo>
                  <a:lnTo>
                    <a:pt x="6680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419975" y="3552825"/>
              <a:ext cx="419100" cy="76200"/>
            </a:xfrm>
            <a:custGeom>
              <a:avLst/>
              <a:gdLst/>
              <a:ahLst/>
              <a:cxnLst/>
              <a:rect l="l" t="t" r="r" b="b"/>
              <a:pathLst>
                <a:path w="419100" h="76200">
                  <a:moveTo>
                    <a:pt x="419100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419100" y="76200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6557009" y="4359942"/>
            <a:ext cx="2509520" cy="41084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900" spc="-60">
                <a:latin typeface="Arial MT"/>
                <a:cs typeface="Arial MT"/>
              </a:rPr>
              <a:t>No</a:t>
            </a:r>
            <a:r>
              <a:rPr sz="900" spc="-15">
                <a:latin typeface="Arial MT"/>
                <a:cs typeface="Arial MT"/>
              </a:rPr>
              <a:t> </a:t>
            </a:r>
            <a:r>
              <a:rPr sz="900" spc="-10">
                <a:latin typeface="Arial MT"/>
                <a:cs typeface="Arial MT"/>
              </a:rPr>
              <a:t>response</a:t>
            </a:r>
            <a:endParaRPr sz="900">
              <a:latin typeface="Arial MT"/>
              <a:cs typeface="Arial MT"/>
            </a:endParaRPr>
          </a:p>
          <a:p>
            <a:pPr marL="781050">
              <a:lnSpc>
                <a:spcPct val="100000"/>
              </a:lnSpc>
              <a:spcBef>
                <a:spcPts val="375"/>
              </a:spcBef>
            </a:pPr>
            <a:r>
              <a:rPr sz="1050">
                <a:latin typeface="Calibri"/>
                <a:cs typeface="Calibri"/>
              </a:rPr>
              <a:t>Slide</a:t>
            </a:r>
            <a:r>
              <a:rPr sz="1050" spc="-30">
                <a:latin typeface="Calibri"/>
                <a:cs typeface="Calibri"/>
              </a:rPr>
              <a:t> </a:t>
            </a:r>
            <a:r>
              <a:rPr sz="1050">
                <a:latin typeface="Calibri"/>
                <a:cs typeface="Calibri"/>
              </a:rPr>
              <a:t>inspiration:</a:t>
            </a:r>
            <a:r>
              <a:rPr sz="1050" spc="-10">
                <a:latin typeface="Calibri"/>
                <a:cs typeface="Calibri"/>
              </a:rPr>
              <a:t> Justin</a:t>
            </a:r>
            <a:r>
              <a:rPr sz="1050" spc="-50">
                <a:latin typeface="Calibri"/>
                <a:cs typeface="Calibri"/>
              </a:rPr>
              <a:t> </a:t>
            </a:r>
            <a:r>
              <a:rPr sz="1050" spc="-10">
                <a:latin typeface="Calibri"/>
                <a:cs typeface="Calibri"/>
              </a:rPr>
              <a:t>Johnson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94945" y="3236912"/>
            <a:ext cx="1224915" cy="212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u="sng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Calibri"/>
                <a:cs typeface="Calibri"/>
              </a:rPr>
              <a:t>Cat</a:t>
            </a:r>
            <a:r>
              <a:rPr sz="600" u="sng" spc="5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Calibri"/>
                <a:cs typeface="Calibri"/>
              </a:rPr>
              <a:t> </a:t>
            </a:r>
            <a:r>
              <a:rPr sz="600" u="sng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Calibri"/>
                <a:cs typeface="Calibri"/>
              </a:rPr>
              <a:t>image</a:t>
            </a:r>
            <a:r>
              <a:rPr sz="600" spc="-15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600">
                <a:solidFill>
                  <a:srgbClr val="D9D9D9"/>
                </a:solidFill>
                <a:latin typeface="Calibri"/>
                <a:cs typeface="Calibri"/>
              </a:rPr>
              <a:t>by</a:t>
            </a:r>
            <a:r>
              <a:rPr sz="600" spc="1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600" u="sng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Calibri"/>
                <a:cs typeface="Calibri"/>
                <a:hlinkClick r:id="rId16"/>
              </a:rPr>
              <a:t>CNX </a:t>
            </a:r>
            <a:r>
              <a:rPr sz="600" u="sng" spc="-10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Calibri"/>
                <a:cs typeface="Calibri"/>
                <a:hlinkClick r:id="rId16"/>
              </a:rPr>
              <a:t>OpenStax</a:t>
            </a:r>
            <a:r>
              <a:rPr sz="600" spc="3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600">
                <a:solidFill>
                  <a:srgbClr val="D9D9D9"/>
                </a:solidFill>
                <a:latin typeface="Calibri"/>
                <a:cs typeface="Calibri"/>
              </a:rPr>
              <a:t>is</a:t>
            </a:r>
            <a:r>
              <a:rPr sz="600" spc="-5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600" spc="-10">
                <a:solidFill>
                  <a:srgbClr val="D9D9D9"/>
                </a:solidFill>
                <a:latin typeface="Calibri"/>
                <a:cs typeface="Calibri"/>
              </a:rPr>
              <a:t>licensed</a:t>
            </a:r>
            <a:endParaRPr sz="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>
                <a:solidFill>
                  <a:srgbClr val="D9D9D9"/>
                </a:solidFill>
                <a:latin typeface="Calibri"/>
                <a:cs typeface="Calibri"/>
              </a:rPr>
              <a:t>under</a:t>
            </a:r>
            <a:r>
              <a:rPr sz="600" spc="-35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600" u="sng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Calibri"/>
                <a:cs typeface="Calibri"/>
                <a:hlinkClick r:id="rId17"/>
              </a:rPr>
              <a:t>CC</a:t>
            </a:r>
            <a:r>
              <a:rPr sz="600" u="sng" spc="50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Calibri"/>
                <a:cs typeface="Calibri"/>
                <a:hlinkClick r:id="rId17"/>
              </a:rPr>
              <a:t> </a:t>
            </a:r>
            <a:r>
              <a:rPr sz="600" u="sng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Calibri"/>
                <a:cs typeface="Calibri"/>
                <a:hlinkClick r:id="rId17"/>
              </a:rPr>
              <a:t>BY</a:t>
            </a:r>
            <a:r>
              <a:rPr sz="600" u="sng" spc="10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Calibri"/>
                <a:cs typeface="Calibri"/>
                <a:hlinkClick r:id="rId17"/>
              </a:rPr>
              <a:t> </a:t>
            </a:r>
            <a:r>
              <a:rPr sz="600" u="sng" spc="-10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Calibri"/>
                <a:cs typeface="Calibri"/>
                <a:hlinkClick r:id="rId17"/>
              </a:rPr>
              <a:t>4.0</a:t>
            </a:r>
            <a:r>
              <a:rPr sz="600" spc="-10">
                <a:solidFill>
                  <a:srgbClr val="D9D9D9"/>
                </a:solidFill>
                <a:latin typeface="Calibri"/>
                <a:cs typeface="Calibri"/>
              </a:rPr>
              <a:t>;</a:t>
            </a:r>
            <a:r>
              <a:rPr sz="600" spc="-5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600" spc="-10">
                <a:solidFill>
                  <a:srgbClr val="D9D9D9"/>
                </a:solidFill>
                <a:latin typeface="Calibri"/>
                <a:cs typeface="Calibri"/>
              </a:rPr>
              <a:t>changes</a:t>
            </a:r>
            <a:r>
              <a:rPr sz="600" spc="-5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600" spc="-20">
                <a:solidFill>
                  <a:srgbClr val="D9D9D9"/>
                </a:solidFill>
                <a:latin typeface="Calibri"/>
                <a:cs typeface="Calibri"/>
              </a:rPr>
              <a:t>made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76212" y="3862387"/>
            <a:ext cx="876300" cy="2762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R="3175" algn="ctr">
              <a:lnSpc>
                <a:spcPct val="100000"/>
              </a:lnSpc>
              <a:spcBef>
                <a:spcPts val="105"/>
              </a:spcBef>
            </a:pPr>
            <a:r>
              <a:rPr sz="800" spc="-20">
                <a:latin typeface="Calibri"/>
                <a:cs typeface="Calibri"/>
              </a:rPr>
              <a:t>1959</a:t>
            </a:r>
            <a:endParaRPr sz="800">
              <a:latin typeface="Calibri"/>
              <a:cs typeface="Calibri"/>
            </a:endParaRPr>
          </a:p>
          <a:p>
            <a:pPr marR="3175" algn="ctr">
              <a:lnSpc>
                <a:spcPct val="100000"/>
              </a:lnSpc>
              <a:spcBef>
                <a:spcPts val="15"/>
              </a:spcBef>
            </a:pPr>
            <a:r>
              <a:rPr sz="800">
                <a:latin typeface="Calibri"/>
                <a:cs typeface="Calibri"/>
              </a:rPr>
              <a:t>Hubel</a:t>
            </a:r>
            <a:r>
              <a:rPr sz="800" spc="-20">
                <a:latin typeface="Calibri"/>
                <a:cs typeface="Calibri"/>
              </a:rPr>
              <a:t> </a:t>
            </a:r>
            <a:r>
              <a:rPr sz="800">
                <a:latin typeface="Calibri"/>
                <a:cs typeface="Calibri"/>
              </a:rPr>
              <a:t>&amp;</a:t>
            </a:r>
            <a:r>
              <a:rPr sz="800" spc="-15">
                <a:latin typeface="Calibri"/>
                <a:cs typeface="Calibri"/>
              </a:rPr>
              <a:t> </a:t>
            </a:r>
            <a:r>
              <a:rPr sz="800" spc="-10">
                <a:latin typeface="Calibri"/>
                <a:cs typeface="Calibri"/>
              </a:rPr>
              <a:t>Wiesel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4400550" y="2076450"/>
            <a:ext cx="1333500" cy="1485900"/>
            <a:chOff x="4400550" y="2076450"/>
            <a:chExt cx="1333500" cy="1485900"/>
          </a:xfrm>
        </p:grpSpPr>
        <p:sp>
          <p:nvSpPr>
            <p:cNvPr id="56" name="object 56"/>
            <p:cNvSpPr/>
            <p:nvPr/>
          </p:nvSpPr>
          <p:spPr>
            <a:xfrm>
              <a:off x="5362575" y="2076450"/>
              <a:ext cx="352425" cy="1416050"/>
            </a:xfrm>
            <a:custGeom>
              <a:avLst/>
              <a:gdLst/>
              <a:ahLst/>
              <a:cxnLst/>
              <a:rect l="l" t="t" r="r" b="b"/>
              <a:pathLst>
                <a:path w="352425" h="1416050">
                  <a:moveTo>
                    <a:pt x="0" y="28575"/>
                  </a:moveTo>
                  <a:lnTo>
                    <a:pt x="339725" y="28575"/>
                  </a:lnTo>
                </a:path>
                <a:path w="352425" h="1416050">
                  <a:moveTo>
                    <a:pt x="352425" y="0"/>
                  </a:moveTo>
                  <a:lnTo>
                    <a:pt x="352425" y="1415923"/>
                  </a:lnTo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400550" y="3448050"/>
              <a:ext cx="1298575" cy="114300"/>
            </a:xfrm>
            <a:custGeom>
              <a:avLst/>
              <a:gdLst/>
              <a:ahLst/>
              <a:cxnLst/>
              <a:rect l="l" t="t" r="r" b="b"/>
              <a:pathLst>
                <a:path w="1298575" h="114300">
                  <a:moveTo>
                    <a:pt x="114300" y="0"/>
                  </a:moveTo>
                  <a:lnTo>
                    <a:pt x="0" y="57150"/>
                  </a:lnTo>
                  <a:lnTo>
                    <a:pt x="114300" y="114300"/>
                  </a:lnTo>
                  <a:lnTo>
                    <a:pt x="114300" y="76200"/>
                  </a:lnTo>
                  <a:lnTo>
                    <a:pt x="95250" y="76200"/>
                  </a:lnTo>
                  <a:lnTo>
                    <a:pt x="95250" y="38100"/>
                  </a:lnTo>
                  <a:lnTo>
                    <a:pt x="114300" y="38100"/>
                  </a:lnTo>
                  <a:lnTo>
                    <a:pt x="114300" y="0"/>
                  </a:lnTo>
                  <a:close/>
                </a:path>
                <a:path w="1298575" h="114300">
                  <a:moveTo>
                    <a:pt x="114300" y="38100"/>
                  </a:moveTo>
                  <a:lnTo>
                    <a:pt x="95250" y="38100"/>
                  </a:lnTo>
                  <a:lnTo>
                    <a:pt x="95250" y="76200"/>
                  </a:lnTo>
                  <a:lnTo>
                    <a:pt x="114300" y="76200"/>
                  </a:lnTo>
                  <a:lnTo>
                    <a:pt x="114300" y="38100"/>
                  </a:lnTo>
                  <a:close/>
                </a:path>
                <a:path w="1298575" h="114300">
                  <a:moveTo>
                    <a:pt x="1298575" y="38100"/>
                  </a:moveTo>
                  <a:lnTo>
                    <a:pt x="114300" y="38100"/>
                  </a:lnTo>
                  <a:lnTo>
                    <a:pt x="114300" y="76200"/>
                  </a:lnTo>
                  <a:lnTo>
                    <a:pt x="1298575" y="76200"/>
                  </a:lnTo>
                  <a:lnTo>
                    <a:pt x="1298575" y="3810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16</a:t>
            </a:fld>
            <a:endParaRPr spc="-25"/>
          </a:p>
        </p:txBody>
      </p:sp>
      <p:sp>
        <p:nvSpPr>
          <p:cNvPr id="59" name="object 5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>
              <a:lnSpc>
                <a:spcPts val="1810"/>
              </a:lnSpc>
            </a:pPr>
            <a:r>
              <a:t>April 1,</a:t>
            </a:r>
            <a:r>
              <a:rPr spc="-35"/>
              <a:t> </a:t>
            </a:r>
            <a:r>
              <a:rPr spc="-20"/>
              <a:t>2025</a:t>
            </a:r>
          </a:p>
        </p:txBody>
      </p:sp>
      <p:sp>
        <p:nvSpPr>
          <p:cNvPr id="60" name="object 6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t>CS231n:</a:t>
            </a:r>
            <a:r>
              <a:rPr spc="-5"/>
              <a:t> </a:t>
            </a:r>
            <a:r>
              <a:t>Lecture</a:t>
            </a:r>
            <a:r>
              <a:rPr spc="95"/>
              <a:t> </a:t>
            </a:r>
            <a:r>
              <a:t>1</a:t>
            </a:r>
            <a:r>
              <a:rPr spc="15"/>
              <a:t> </a:t>
            </a:r>
            <a:r>
              <a:rPr spc="-50"/>
              <a:t>-</a:t>
            </a:r>
          </a:p>
        </p:txBody>
      </p:sp>
      <p:sp>
        <p:nvSpPr>
          <p:cNvPr id="61" name="object 61"/>
          <p:cNvSpPr txBox="1"/>
          <p:nvPr/>
        </p:nvSpPr>
        <p:spPr>
          <a:xfrm>
            <a:off x="307657" y="4910517"/>
            <a:ext cx="2085339" cy="1536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Fei-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Fei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Li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9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Ehsan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Adeli</a:t>
            </a: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90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Zane Durante</a:t>
            </a:r>
            <a:endParaRPr sz="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6687" rIns="0" bIns="0" rtlCol="0">
            <a:spAutoFit/>
          </a:bodyPr>
          <a:lstStyle/>
          <a:p>
            <a:pPr marL="1915795">
              <a:lnSpc>
                <a:spcPct val="100000"/>
              </a:lnSpc>
              <a:spcBef>
                <a:spcPts val="105"/>
              </a:spcBef>
            </a:pPr>
            <a:r>
              <a:t>Larry</a:t>
            </a:r>
            <a:r>
              <a:rPr spc="-80"/>
              <a:t> </a:t>
            </a:r>
            <a:r>
              <a:t>Roberts,</a:t>
            </a:r>
            <a:r>
              <a:rPr spc="-80"/>
              <a:t> </a:t>
            </a:r>
            <a:r>
              <a:rPr spc="-20"/>
              <a:t>1963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82967" y="3286442"/>
            <a:ext cx="118618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45">
                <a:latin typeface="Arial MT"/>
                <a:cs typeface="Arial MT"/>
              </a:rPr>
              <a:t>(a)</a:t>
            </a:r>
            <a:r>
              <a:rPr sz="1200" spc="-25">
                <a:latin typeface="Arial MT"/>
                <a:cs typeface="Arial MT"/>
              </a:rPr>
              <a:t> Original</a:t>
            </a:r>
            <a:r>
              <a:rPr sz="1200" spc="-30">
                <a:latin typeface="Arial MT"/>
                <a:cs typeface="Arial MT"/>
              </a:rPr>
              <a:t> </a:t>
            </a:r>
            <a:r>
              <a:rPr sz="1200" spc="-45">
                <a:latin typeface="Arial MT"/>
                <a:cs typeface="Arial MT"/>
              </a:rPr>
              <a:t>picture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47059" y="3286442"/>
            <a:ext cx="15379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45">
                <a:latin typeface="Arial MT"/>
                <a:cs typeface="Arial MT"/>
              </a:rPr>
              <a:t>(b)</a:t>
            </a:r>
            <a:r>
              <a:rPr sz="1200" spc="15">
                <a:latin typeface="Arial MT"/>
                <a:cs typeface="Arial MT"/>
              </a:rPr>
              <a:t> </a:t>
            </a:r>
            <a:r>
              <a:rPr sz="1200" spc="-35">
                <a:latin typeface="Arial MT"/>
                <a:cs typeface="Arial MT"/>
              </a:rPr>
              <a:t>Differentiated</a:t>
            </a:r>
            <a:r>
              <a:rPr sz="1200" spc="-25">
                <a:latin typeface="Arial MT"/>
                <a:cs typeface="Arial MT"/>
              </a:rPr>
              <a:t> </a:t>
            </a:r>
            <a:r>
              <a:rPr sz="1200" spc="-40">
                <a:latin typeface="Arial MT"/>
                <a:cs typeface="Arial MT"/>
              </a:rPr>
              <a:t>picture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63919" y="3286442"/>
            <a:ext cx="160401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90">
                <a:latin typeface="Arial MT"/>
                <a:cs typeface="Arial MT"/>
              </a:rPr>
              <a:t>(c)</a:t>
            </a:r>
            <a:r>
              <a:rPr sz="1200" spc="-60">
                <a:latin typeface="Arial MT"/>
                <a:cs typeface="Arial MT"/>
              </a:rPr>
              <a:t> </a:t>
            </a:r>
            <a:r>
              <a:rPr sz="1200" spc="-70">
                <a:latin typeface="Arial MT"/>
                <a:cs typeface="Arial MT"/>
              </a:rPr>
              <a:t>Feature</a:t>
            </a:r>
            <a:r>
              <a:rPr sz="1200" spc="-35">
                <a:latin typeface="Arial MT"/>
                <a:cs typeface="Arial MT"/>
              </a:rPr>
              <a:t> </a:t>
            </a:r>
            <a:r>
              <a:rPr sz="1200" spc="-70">
                <a:latin typeface="Arial MT"/>
                <a:cs typeface="Arial MT"/>
              </a:rPr>
              <a:t>points</a:t>
            </a:r>
            <a:r>
              <a:rPr sz="1200" spc="-55">
                <a:latin typeface="Arial MT"/>
                <a:cs typeface="Arial MT"/>
              </a:rPr>
              <a:t> selected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200775" y="714311"/>
            <a:ext cx="2243455" cy="2358390"/>
            <a:chOff x="6200775" y="714311"/>
            <a:chExt cx="2243455" cy="235839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86142" y="2809391"/>
              <a:ext cx="253278" cy="26277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12419" y="2816669"/>
              <a:ext cx="205486" cy="20548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29042" y="2761766"/>
              <a:ext cx="253278" cy="26277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55319" y="2769044"/>
              <a:ext cx="205486" cy="20548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91275" y="847597"/>
              <a:ext cx="1966976" cy="207175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05550" y="1038161"/>
              <a:ext cx="366712" cy="37623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67145" y="1080769"/>
              <a:ext cx="248284" cy="24828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367145" y="1080769"/>
              <a:ext cx="248285" cy="248285"/>
            </a:xfrm>
            <a:custGeom>
              <a:avLst/>
              <a:gdLst/>
              <a:ahLst/>
              <a:cxnLst/>
              <a:rect l="l" t="t" r="r" b="b"/>
              <a:pathLst>
                <a:path w="248284" h="248284">
                  <a:moveTo>
                    <a:pt x="0" y="60197"/>
                  </a:moveTo>
                  <a:lnTo>
                    <a:pt x="60197" y="0"/>
                  </a:lnTo>
                  <a:lnTo>
                    <a:pt x="124205" y="64007"/>
                  </a:lnTo>
                  <a:lnTo>
                    <a:pt x="188086" y="0"/>
                  </a:lnTo>
                  <a:lnTo>
                    <a:pt x="248284" y="60197"/>
                  </a:lnTo>
                  <a:lnTo>
                    <a:pt x="184276" y="124205"/>
                  </a:lnTo>
                  <a:lnTo>
                    <a:pt x="248284" y="188087"/>
                  </a:lnTo>
                  <a:lnTo>
                    <a:pt x="188086" y="248284"/>
                  </a:lnTo>
                  <a:lnTo>
                    <a:pt x="124205" y="184276"/>
                  </a:lnTo>
                  <a:lnTo>
                    <a:pt x="60197" y="248284"/>
                  </a:lnTo>
                  <a:lnTo>
                    <a:pt x="0" y="188087"/>
                  </a:lnTo>
                  <a:lnTo>
                    <a:pt x="64007" y="124205"/>
                  </a:lnTo>
                  <a:lnTo>
                    <a:pt x="0" y="60197"/>
                  </a:lnTo>
                  <a:close/>
                </a:path>
              </a:pathLst>
            </a:custGeom>
            <a:ln w="9525">
              <a:solidFill>
                <a:srgbClr val="0D0D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57950" y="1276286"/>
              <a:ext cx="366712" cy="37623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519545" y="1318894"/>
              <a:ext cx="248284" cy="248284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6519545" y="1318894"/>
              <a:ext cx="248285" cy="248285"/>
            </a:xfrm>
            <a:custGeom>
              <a:avLst/>
              <a:gdLst/>
              <a:ahLst/>
              <a:cxnLst/>
              <a:rect l="l" t="t" r="r" b="b"/>
              <a:pathLst>
                <a:path w="248284" h="248284">
                  <a:moveTo>
                    <a:pt x="0" y="60197"/>
                  </a:moveTo>
                  <a:lnTo>
                    <a:pt x="60198" y="0"/>
                  </a:lnTo>
                  <a:lnTo>
                    <a:pt x="124205" y="64007"/>
                  </a:lnTo>
                  <a:lnTo>
                    <a:pt x="188086" y="0"/>
                  </a:lnTo>
                  <a:lnTo>
                    <a:pt x="248284" y="60197"/>
                  </a:lnTo>
                  <a:lnTo>
                    <a:pt x="184276" y="124205"/>
                  </a:lnTo>
                  <a:lnTo>
                    <a:pt x="248284" y="188087"/>
                  </a:lnTo>
                  <a:lnTo>
                    <a:pt x="188086" y="248284"/>
                  </a:lnTo>
                  <a:lnTo>
                    <a:pt x="124205" y="184276"/>
                  </a:lnTo>
                  <a:lnTo>
                    <a:pt x="60198" y="248284"/>
                  </a:lnTo>
                  <a:lnTo>
                    <a:pt x="0" y="188087"/>
                  </a:lnTo>
                  <a:lnTo>
                    <a:pt x="64007" y="124205"/>
                  </a:lnTo>
                  <a:lnTo>
                    <a:pt x="0" y="60197"/>
                  </a:lnTo>
                  <a:close/>
                </a:path>
              </a:pathLst>
            </a:custGeom>
            <a:ln w="9525">
              <a:solidFill>
                <a:srgbClr val="0D0D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38875" y="1590611"/>
              <a:ext cx="366712" cy="376237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300089" y="1635887"/>
              <a:ext cx="249046" cy="252475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300089" y="1635887"/>
              <a:ext cx="249554" cy="252729"/>
            </a:xfrm>
            <a:custGeom>
              <a:avLst/>
              <a:gdLst/>
              <a:ahLst/>
              <a:cxnLst/>
              <a:rect l="l" t="t" r="r" b="b"/>
              <a:pathLst>
                <a:path w="249554" h="252730">
                  <a:moveTo>
                    <a:pt x="0" y="59436"/>
                  </a:moveTo>
                  <a:lnTo>
                    <a:pt x="60960" y="0"/>
                  </a:lnTo>
                  <a:lnTo>
                    <a:pt x="124587" y="65277"/>
                  </a:lnTo>
                  <a:lnTo>
                    <a:pt x="188087" y="0"/>
                  </a:lnTo>
                  <a:lnTo>
                    <a:pt x="249046" y="59436"/>
                  </a:lnTo>
                  <a:lnTo>
                    <a:pt x="183896" y="126237"/>
                  </a:lnTo>
                  <a:lnTo>
                    <a:pt x="249046" y="193039"/>
                  </a:lnTo>
                  <a:lnTo>
                    <a:pt x="188087" y="252475"/>
                  </a:lnTo>
                  <a:lnTo>
                    <a:pt x="124587" y="187198"/>
                  </a:lnTo>
                  <a:lnTo>
                    <a:pt x="60960" y="252475"/>
                  </a:lnTo>
                  <a:lnTo>
                    <a:pt x="0" y="193039"/>
                  </a:lnTo>
                  <a:lnTo>
                    <a:pt x="65150" y="126237"/>
                  </a:lnTo>
                  <a:lnTo>
                    <a:pt x="0" y="59436"/>
                  </a:lnTo>
                  <a:close/>
                </a:path>
              </a:pathLst>
            </a:custGeom>
            <a:ln w="9525">
              <a:solidFill>
                <a:srgbClr val="0D0D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38875" y="1923986"/>
              <a:ext cx="366712" cy="376237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00469" y="1966595"/>
              <a:ext cx="248284" cy="248285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6300469" y="1966595"/>
              <a:ext cx="248285" cy="248285"/>
            </a:xfrm>
            <a:custGeom>
              <a:avLst/>
              <a:gdLst/>
              <a:ahLst/>
              <a:cxnLst/>
              <a:rect l="l" t="t" r="r" b="b"/>
              <a:pathLst>
                <a:path w="248284" h="248285">
                  <a:moveTo>
                    <a:pt x="0" y="60198"/>
                  </a:moveTo>
                  <a:lnTo>
                    <a:pt x="60197" y="0"/>
                  </a:lnTo>
                  <a:lnTo>
                    <a:pt x="124205" y="64007"/>
                  </a:lnTo>
                  <a:lnTo>
                    <a:pt x="188087" y="0"/>
                  </a:lnTo>
                  <a:lnTo>
                    <a:pt x="248284" y="60198"/>
                  </a:lnTo>
                  <a:lnTo>
                    <a:pt x="184276" y="124206"/>
                  </a:lnTo>
                  <a:lnTo>
                    <a:pt x="248284" y="188087"/>
                  </a:lnTo>
                  <a:lnTo>
                    <a:pt x="188087" y="248285"/>
                  </a:lnTo>
                  <a:lnTo>
                    <a:pt x="124205" y="184277"/>
                  </a:lnTo>
                  <a:lnTo>
                    <a:pt x="60197" y="248285"/>
                  </a:lnTo>
                  <a:lnTo>
                    <a:pt x="0" y="188087"/>
                  </a:lnTo>
                  <a:lnTo>
                    <a:pt x="64007" y="124206"/>
                  </a:lnTo>
                  <a:lnTo>
                    <a:pt x="0" y="60198"/>
                  </a:lnTo>
                  <a:close/>
                </a:path>
              </a:pathLst>
            </a:custGeom>
            <a:ln w="9525">
              <a:solidFill>
                <a:srgbClr val="0D0D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00775" y="2419286"/>
              <a:ext cx="366712" cy="376237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261989" y="2464562"/>
              <a:ext cx="249046" cy="252475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6261989" y="2464562"/>
              <a:ext cx="249554" cy="252729"/>
            </a:xfrm>
            <a:custGeom>
              <a:avLst/>
              <a:gdLst/>
              <a:ahLst/>
              <a:cxnLst/>
              <a:rect l="l" t="t" r="r" b="b"/>
              <a:pathLst>
                <a:path w="249554" h="252730">
                  <a:moveTo>
                    <a:pt x="0" y="59436"/>
                  </a:moveTo>
                  <a:lnTo>
                    <a:pt x="60960" y="0"/>
                  </a:lnTo>
                  <a:lnTo>
                    <a:pt x="124587" y="65277"/>
                  </a:lnTo>
                  <a:lnTo>
                    <a:pt x="188087" y="0"/>
                  </a:lnTo>
                  <a:lnTo>
                    <a:pt x="249046" y="59436"/>
                  </a:lnTo>
                  <a:lnTo>
                    <a:pt x="183896" y="126237"/>
                  </a:lnTo>
                  <a:lnTo>
                    <a:pt x="249046" y="193039"/>
                  </a:lnTo>
                  <a:lnTo>
                    <a:pt x="188087" y="252475"/>
                  </a:lnTo>
                  <a:lnTo>
                    <a:pt x="124587" y="187198"/>
                  </a:lnTo>
                  <a:lnTo>
                    <a:pt x="60960" y="252475"/>
                  </a:lnTo>
                  <a:lnTo>
                    <a:pt x="0" y="193039"/>
                  </a:lnTo>
                  <a:lnTo>
                    <a:pt x="65150" y="126237"/>
                  </a:lnTo>
                  <a:lnTo>
                    <a:pt x="0" y="59436"/>
                  </a:lnTo>
                  <a:close/>
                </a:path>
              </a:pathLst>
            </a:custGeom>
            <a:ln w="9525">
              <a:solidFill>
                <a:srgbClr val="0D0D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38875" y="876236"/>
              <a:ext cx="366712" cy="376237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00469" y="918844"/>
              <a:ext cx="248284" cy="248284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6300469" y="918844"/>
              <a:ext cx="248285" cy="248285"/>
            </a:xfrm>
            <a:custGeom>
              <a:avLst/>
              <a:gdLst/>
              <a:ahLst/>
              <a:cxnLst/>
              <a:rect l="l" t="t" r="r" b="b"/>
              <a:pathLst>
                <a:path w="248284" h="248284">
                  <a:moveTo>
                    <a:pt x="0" y="60197"/>
                  </a:moveTo>
                  <a:lnTo>
                    <a:pt x="60197" y="0"/>
                  </a:lnTo>
                  <a:lnTo>
                    <a:pt x="124205" y="64007"/>
                  </a:lnTo>
                  <a:lnTo>
                    <a:pt x="188087" y="0"/>
                  </a:lnTo>
                  <a:lnTo>
                    <a:pt x="248284" y="60197"/>
                  </a:lnTo>
                  <a:lnTo>
                    <a:pt x="184276" y="124205"/>
                  </a:lnTo>
                  <a:lnTo>
                    <a:pt x="248284" y="188087"/>
                  </a:lnTo>
                  <a:lnTo>
                    <a:pt x="188087" y="248284"/>
                  </a:lnTo>
                  <a:lnTo>
                    <a:pt x="124205" y="184276"/>
                  </a:lnTo>
                  <a:lnTo>
                    <a:pt x="60197" y="248284"/>
                  </a:lnTo>
                  <a:lnTo>
                    <a:pt x="0" y="188087"/>
                  </a:lnTo>
                  <a:lnTo>
                    <a:pt x="64007" y="124205"/>
                  </a:lnTo>
                  <a:lnTo>
                    <a:pt x="0" y="60197"/>
                  </a:lnTo>
                  <a:close/>
                </a:path>
              </a:pathLst>
            </a:custGeom>
            <a:ln w="9525">
              <a:solidFill>
                <a:srgbClr val="0D0D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258050" y="714311"/>
              <a:ext cx="366712" cy="376237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319644" y="756919"/>
              <a:ext cx="248284" cy="248284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7319644" y="756919"/>
              <a:ext cx="248285" cy="248285"/>
            </a:xfrm>
            <a:custGeom>
              <a:avLst/>
              <a:gdLst/>
              <a:ahLst/>
              <a:cxnLst/>
              <a:rect l="l" t="t" r="r" b="b"/>
              <a:pathLst>
                <a:path w="248284" h="248284">
                  <a:moveTo>
                    <a:pt x="0" y="60197"/>
                  </a:moveTo>
                  <a:lnTo>
                    <a:pt x="60198" y="0"/>
                  </a:lnTo>
                  <a:lnTo>
                    <a:pt x="124205" y="64007"/>
                  </a:lnTo>
                  <a:lnTo>
                    <a:pt x="188086" y="0"/>
                  </a:lnTo>
                  <a:lnTo>
                    <a:pt x="248284" y="60197"/>
                  </a:lnTo>
                  <a:lnTo>
                    <a:pt x="184276" y="124205"/>
                  </a:lnTo>
                  <a:lnTo>
                    <a:pt x="248284" y="188087"/>
                  </a:lnTo>
                  <a:lnTo>
                    <a:pt x="188086" y="248284"/>
                  </a:lnTo>
                  <a:lnTo>
                    <a:pt x="124205" y="184276"/>
                  </a:lnTo>
                  <a:lnTo>
                    <a:pt x="60198" y="248284"/>
                  </a:lnTo>
                  <a:lnTo>
                    <a:pt x="0" y="188087"/>
                  </a:lnTo>
                  <a:lnTo>
                    <a:pt x="64007" y="124205"/>
                  </a:lnTo>
                  <a:lnTo>
                    <a:pt x="0" y="60197"/>
                  </a:lnTo>
                  <a:close/>
                </a:path>
              </a:pathLst>
            </a:custGeom>
            <a:ln w="9525">
              <a:solidFill>
                <a:srgbClr val="0D0D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077200" y="2581211"/>
              <a:ext cx="366712" cy="376237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138414" y="2626487"/>
              <a:ext cx="249046" cy="252475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8138414" y="2626487"/>
              <a:ext cx="249554" cy="252729"/>
            </a:xfrm>
            <a:custGeom>
              <a:avLst/>
              <a:gdLst/>
              <a:ahLst/>
              <a:cxnLst/>
              <a:rect l="l" t="t" r="r" b="b"/>
              <a:pathLst>
                <a:path w="249554" h="252730">
                  <a:moveTo>
                    <a:pt x="0" y="59436"/>
                  </a:moveTo>
                  <a:lnTo>
                    <a:pt x="60959" y="0"/>
                  </a:lnTo>
                  <a:lnTo>
                    <a:pt x="124586" y="65277"/>
                  </a:lnTo>
                  <a:lnTo>
                    <a:pt x="188086" y="0"/>
                  </a:lnTo>
                  <a:lnTo>
                    <a:pt x="249046" y="59436"/>
                  </a:lnTo>
                  <a:lnTo>
                    <a:pt x="183895" y="126237"/>
                  </a:lnTo>
                  <a:lnTo>
                    <a:pt x="249046" y="193039"/>
                  </a:lnTo>
                  <a:lnTo>
                    <a:pt x="188086" y="252475"/>
                  </a:lnTo>
                  <a:lnTo>
                    <a:pt x="124586" y="187198"/>
                  </a:lnTo>
                  <a:lnTo>
                    <a:pt x="60959" y="252475"/>
                  </a:lnTo>
                  <a:lnTo>
                    <a:pt x="0" y="193039"/>
                  </a:lnTo>
                  <a:lnTo>
                    <a:pt x="65150" y="126237"/>
                  </a:lnTo>
                  <a:lnTo>
                    <a:pt x="0" y="59436"/>
                  </a:lnTo>
                  <a:close/>
                </a:path>
              </a:pathLst>
            </a:custGeom>
            <a:ln w="9525">
              <a:solidFill>
                <a:srgbClr val="0D0D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981825" y="752411"/>
              <a:ext cx="376237" cy="376237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7044944" y="796543"/>
              <a:ext cx="255270" cy="255270"/>
            </a:xfrm>
            <a:custGeom>
              <a:avLst/>
              <a:gdLst/>
              <a:ahLst/>
              <a:cxnLst/>
              <a:rect l="l" t="t" r="r" b="b"/>
              <a:pathLst>
                <a:path w="255270" h="255269">
                  <a:moveTo>
                    <a:pt x="193039" y="0"/>
                  </a:moveTo>
                  <a:lnTo>
                    <a:pt x="127380" y="65658"/>
                  </a:lnTo>
                  <a:lnTo>
                    <a:pt x="61722" y="0"/>
                  </a:lnTo>
                  <a:lnTo>
                    <a:pt x="0" y="61721"/>
                  </a:lnTo>
                  <a:lnTo>
                    <a:pt x="65658" y="127380"/>
                  </a:lnTo>
                  <a:lnTo>
                    <a:pt x="0" y="193039"/>
                  </a:lnTo>
                  <a:lnTo>
                    <a:pt x="61722" y="254761"/>
                  </a:lnTo>
                  <a:lnTo>
                    <a:pt x="127380" y="189102"/>
                  </a:lnTo>
                  <a:lnTo>
                    <a:pt x="193039" y="254761"/>
                  </a:lnTo>
                  <a:lnTo>
                    <a:pt x="254761" y="193039"/>
                  </a:lnTo>
                  <a:lnTo>
                    <a:pt x="189102" y="127380"/>
                  </a:lnTo>
                  <a:lnTo>
                    <a:pt x="254761" y="61721"/>
                  </a:lnTo>
                  <a:lnTo>
                    <a:pt x="193039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044944" y="796543"/>
              <a:ext cx="255270" cy="255270"/>
            </a:xfrm>
            <a:custGeom>
              <a:avLst/>
              <a:gdLst/>
              <a:ahLst/>
              <a:cxnLst/>
              <a:rect l="l" t="t" r="r" b="b"/>
              <a:pathLst>
                <a:path w="255270" h="255269">
                  <a:moveTo>
                    <a:pt x="0" y="61721"/>
                  </a:moveTo>
                  <a:lnTo>
                    <a:pt x="61722" y="0"/>
                  </a:lnTo>
                  <a:lnTo>
                    <a:pt x="127380" y="65658"/>
                  </a:lnTo>
                  <a:lnTo>
                    <a:pt x="193039" y="0"/>
                  </a:lnTo>
                  <a:lnTo>
                    <a:pt x="254761" y="61721"/>
                  </a:lnTo>
                  <a:lnTo>
                    <a:pt x="189102" y="127380"/>
                  </a:lnTo>
                  <a:lnTo>
                    <a:pt x="254761" y="193039"/>
                  </a:lnTo>
                  <a:lnTo>
                    <a:pt x="193039" y="254761"/>
                  </a:lnTo>
                  <a:lnTo>
                    <a:pt x="127380" y="189102"/>
                  </a:lnTo>
                  <a:lnTo>
                    <a:pt x="61722" y="254761"/>
                  </a:lnTo>
                  <a:lnTo>
                    <a:pt x="0" y="193039"/>
                  </a:lnTo>
                  <a:lnTo>
                    <a:pt x="65658" y="127380"/>
                  </a:lnTo>
                  <a:lnTo>
                    <a:pt x="0" y="61721"/>
                  </a:lnTo>
                  <a:close/>
                </a:path>
              </a:pathLst>
            </a:custGeom>
            <a:ln w="9525">
              <a:solidFill>
                <a:srgbClr val="0D0D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600825" y="809561"/>
              <a:ext cx="366712" cy="376237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662038" y="854836"/>
              <a:ext cx="249046" cy="252475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6662038" y="854836"/>
              <a:ext cx="249554" cy="252729"/>
            </a:xfrm>
            <a:custGeom>
              <a:avLst/>
              <a:gdLst/>
              <a:ahLst/>
              <a:cxnLst/>
              <a:rect l="l" t="t" r="r" b="b"/>
              <a:pathLst>
                <a:path w="249554" h="252730">
                  <a:moveTo>
                    <a:pt x="0" y="59436"/>
                  </a:moveTo>
                  <a:lnTo>
                    <a:pt x="60959" y="0"/>
                  </a:lnTo>
                  <a:lnTo>
                    <a:pt x="124586" y="65277"/>
                  </a:lnTo>
                  <a:lnTo>
                    <a:pt x="188086" y="0"/>
                  </a:lnTo>
                  <a:lnTo>
                    <a:pt x="249046" y="59436"/>
                  </a:lnTo>
                  <a:lnTo>
                    <a:pt x="183895" y="126237"/>
                  </a:lnTo>
                  <a:lnTo>
                    <a:pt x="249046" y="193039"/>
                  </a:lnTo>
                  <a:lnTo>
                    <a:pt x="188086" y="252475"/>
                  </a:lnTo>
                  <a:lnTo>
                    <a:pt x="124586" y="187198"/>
                  </a:lnTo>
                  <a:lnTo>
                    <a:pt x="60959" y="252475"/>
                  </a:lnTo>
                  <a:lnTo>
                    <a:pt x="0" y="193039"/>
                  </a:lnTo>
                  <a:lnTo>
                    <a:pt x="65150" y="126237"/>
                  </a:lnTo>
                  <a:lnTo>
                    <a:pt x="0" y="59436"/>
                  </a:lnTo>
                  <a:close/>
                </a:path>
              </a:pathLst>
            </a:custGeom>
            <a:ln w="9525">
              <a:solidFill>
                <a:srgbClr val="0D0D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267575" y="2276411"/>
              <a:ext cx="366712" cy="376237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329169" y="2319020"/>
              <a:ext cx="248284" cy="248285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7329169" y="2319020"/>
              <a:ext cx="248285" cy="248285"/>
            </a:xfrm>
            <a:custGeom>
              <a:avLst/>
              <a:gdLst/>
              <a:ahLst/>
              <a:cxnLst/>
              <a:rect l="l" t="t" r="r" b="b"/>
              <a:pathLst>
                <a:path w="248284" h="248285">
                  <a:moveTo>
                    <a:pt x="0" y="60198"/>
                  </a:moveTo>
                  <a:lnTo>
                    <a:pt x="60198" y="0"/>
                  </a:lnTo>
                  <a:lnTo>
                    <a:pt x="124205" y="64007"/>
                  </a:lnTo>
                  <a:lnTo>
                    <a:pt x="188086" y="0"/>
                  </a:lnTo>
                  <a:lnTo>
                    <a:pt x="248284" y="60198"/>
                  </a:lnTo>
                  <a:lnTo>
                    <a:pt x="184276" y="124206"/>
                  </a:lnTo>
                  <a:lnTo>
                    <a:pt x="248284" y="188087"/>
                  </a:lnTo>
                  <a:lnTo>
                    <a:pt x="188086" y="248285"/>
                  </a:lnTo>
                  <a:lnTo>
                    <a:pt x="124205" y="184277"/>
                  </a:lnTo>
                  <a:lnTo>
                    <a:pt x="60198" y="248285"/>
                  </a:lnTo>
                  <a:lnTo>
                    <a:pt x="0" y="188087"/>
                  </a:lnTo>
                  <a:lnTo>
                    <a:pt x="64007" y="124206"/>
                  </a:lnTo>
                  <a:lnTo>
                    <a:pt x="0" y="60198"/>
                  </a:lnTo>
                  <a:close/>
                </a:path>
              </a:pathLst>
            </a:custGeom>
            <a:ln w="9525">
              <a:solidFill>
                <a:srgbClr val="0D0D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572375" y="2381186"/>
              <a:ext cx="376237" cy="376237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636636" y="2423413"/>
              <a:ext cx="252476" cy="249047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7636636" y="2423413"/>
              <a:ext cx="252729" cy="249554"/>
            </a:xfrm>
            <a:custGeom>
              <a:avLst/>
              <a:gdLst/>
              <a:ahLst/>
              <a:cxnLst/>
              <a:rect l="l" t="t" r="r" b="b"/>
              <a:pathLst>
                <a:path w="252729" h="249555">
                  <a:moveTo>
                    <a:pt x="0" y="60960"/>
                  </a:moveTo>
                  <a:lnTo>
                    <a:pt x="59436" y="0"/>
                  </a:lnTo>
                  <a:lnTo>
                    <a:pt x="126238" y="65150"/>
                  </a:lnTo>
                  <a:lnTo>
                    <a:pt x="193040" y="0"/>
                  </a:lnTo>
                  <a:lnTo>
                    <a:pt x="252476" y="60960"/>
                  </a:lnTo>
                  <a:lnTo>
                    <a:pt x="187198" y="124587"/>
                  </a:lnTo>
                  <a:lnTo>
                    <a:pt x="252476" y="188087"/>
                  </a:lnTo>
                  <a:lnTo>
                    <a:pt x="193040" y="249047"/>
                  </a:lnTo>
                  <a:lnTo>
                    <a:pt x="126238" y="183896"/>
                  </a:lnTo>
                  <a:lnTo>
                    <a:pt x="59436" y="249047"/>
                  </a:lnTo>
                  <a:lnTo>
                    <a:pt x="0" y="188087"/>
                  </a:lnTo>
                  <a:lnTo>
                    <a:pt x="65278" y="124587"/>
                  </a:lnTo>
                  <a:lnTo>
                    <a:pt x="0" y="60960"/>
                  </a:lnTo>
                  <a:close/>
                </a:path>
              </a:pathLst>
            </a:custGeom>
            <a:ln w="9525">
              <a:solidFill>
                <a:srgbClr val="0D0D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39025" y="1057211"/>
              <a:ext cx="366712" cy="376237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500619" y="1099819"/>
              <a:ext cx="248284" cy="248284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7500619" y="1099819"/>
              <a:ext cx="248285" cy="248285"/>
            </a:xfrm>
            <a:custGeom>
              <a:avLst/>
              <a:gdLst/>
              <a:ahLst/>
              <a:cxnLst/>
              <a:rect l="l" t="t" r="r" b="b"/>
              <a:pathLst>
                <a:path w="248284" h="248284">
                  <a:moveTo>
                    <a:pt x="0" y="60197"/>
                  </a:moveTo>
                  <a:lnTo>
                    <a:pt x="60198" y="0"/>
                  </a:lnTo>
                  <a:lnTo>
                    <a:pt x="124205" y="64007"/>
                  </a:lnTo>
                  <a:lnTo>
                    <a:pt x="188086" y="0"/>
                  </a:lnTo>
                  <a:lnTo>
                    <a:pt x="248284" y="60197"/>
                  </a:lnTo>
                  <a:lnTo>
                    <a:pt x="184276" y="124205"/>
                  </a:lnTo>
                  <a:lnTo>
                    <a:pt x="248284" y="188087"/>
                  </a:lnTo>
                  <a:lnTo>
                    <a:pt x="188086" y="248284"/>
                  </a:lnTo>
                  <a:lnTo>
                    <a:pt x="124205" y="184276"/>
                  </a:lnTo>
                  <a:lnTo>
                    <a:pt x="60198" y="248284"/>
                  </a:lnTo>
                  <a:lnTo>
                    <a:pt x="0" y="188087"/>
                  </a:lnTo>
                  <a:lnTo>
                    <a:pt x="64007" y="124205"/>
                  </a:lnTo>
                  <a:lnTo>
                    <a:pt x="0" y="60197"/>
                  </a:lnTo>
                  <a:close/>
                </a:path>
              </a:pathLst>
            </a:custGeom>
            <a:ln w="9525">
              <a:solidFill>
                <a:srgbClr val="0D0D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29400" y="1704911"/>
              <a:ext cx="366712" cy="376237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90994" y="1747520"/>
              <a:ext cx="248284" cy="248284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6690994" y="1747520"/>
              <a:ext cx="248285" cy="248285"/>
            </a:xfrm>
            <a:custGeom>
              <a:avLst/>
              <a:gdLst/>
              <a:ahLst/>
              <a:cxnLst/>
              <a:rect l="l" t="t" r="r" b="b"/>
              <a:pathLst>
                <a:path w="248284" h="248285">
                  <a:moveTo>
                    <a:pt x="0" y="60197"/>
                  </a:moveTo>
                  <a:lnTo>
                    <a:pt x="60198" y="0"/>
                  </a:lnTo>
                  <a:lnTo>
                    <a:pt x="124205" y="64007"/>
                  </a:lnTo>
                  <a:lnTo>
                    <a:pt x="188086" y="0"/>
                  </a:lnTo>
                  <a:lnTo>
                    <a:pt x="248284" y="60197"/>
                  </a:lnTo>
                  <a:lnTo>
                    <a:pt x="184276" y="124205"/>
                  </a:lnTo>
                  <a:lnTo>
                    <a:pt x="248284" y="188086"/>
                  </a:lnTo>
                  <a:lnTo>
                    <a:pt x="188086" y="248284"/>
                  </a:lnTo>
                  <a:lnTo>
                    <a:pt x="124205" y="184276"/>
                  </a:lnTo>
                  <a:lnTo>
                    <a:pt x="60198" y="248284"/>
                  </a:lnTo>
                  <a:lnTo>
                    <a:pt x="0" y="188086"/>
                  </a:lnTo>
                  <a:lnTo>
                    <a:pt x="64007" y="124205"/>
                  </a:lnTo>
                  <a:lnTo>
                    <a:pt x="0" y="60197"/>
                  </a:lnTo>
                  <a:close/>
                </a:path>
              </a:pathLst>
            </a:custGeom>
            <a:ln w="9525">
              <a:solidFill>
                <a:srgbClr val="0D0D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734175" y="2047811"/>
              <a:ext cx="376237" cy="376237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798437" y="2090038"/>
              <a:ext cx="252476" cy="249047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6798437" y="2090038"/>
              <a:ext cx="252729" cy="249554"/>
            </a:xfrm>
            <a:custGeom>
              <a:avLst/>
              <a:gdLst/>
              <a:ahLst/>
              <a:cxnLst/>
              <a:rect l="l" t="t" r="r" b="b"/>
              <a:pathLst>
                <a:path w="252729" h="249555">
                  <a:moveTo>
                    <a:pt x="0" y="60960"/>
                  </a:moveTo>
                  <a:lnTo>
                    <a:pt x="59436" y="0"/>
                  </a:lnTo>
                  <a:lnTo>
                    <a:pt x="126238" y="65150"/>
                  </a:lnTo>
                  <a:lnTo>
                    <a:pt x="193040" y="0"/>
                  </a:lnTo>
                  <a:lnTo>
                    <a:pt x="252476" y="60960"/>
                  </a:lnTo>
                  <a:lnTo>
                    <a:pt x="187198" y="124587"/>
                  </a:lnTo>
                  <a:lnTo>
                    <a:pt x="252476" y="188087"/>
                  </a:lnTo>
                  <a:lnTo>
                    <a:pt x="193040" y="249047"/>
                  </a:lnTo>
                  <a:lnTo>
                    <a:pt x="126238" y="183896"/>
                  </a:lnTo>
                  <a:lnTo>
                    <a:pt x="59436" y="249047"/>
                  </a:lnTo>
                  <a:lnTo>
                    <a:pt x="0" y="188087"/>
                  </a:lnTo>
                  <a:lnTo>
                    <a:pt x="65278" y="124587"/>
                  </a:lnTo>
                  <a:lnTo>
                    <a:pt x="0" y="60960"/>
                  </a:lnTo>
                  <a:close/>
                </a:path>
              </a:pathLst>
            </a:custGeom>
            <a:ln w="9525">
              <a:solidFill>
                <a:srgbClr val="0D0D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896100" y="2362136"/>
              <a:ext cx="376237" cy="376237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960362" y="2404363"/>
              <a:ext cx="252476" cy="249047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6960362" y="2404363"/>
              <a:ext cx="252729" cy="249554"/>
            </a:xfrm>
            <a:custGeom>
              <a:avLst/>
              <a:gdLst/>
              <a:ahLst/>
              <a:cxnLst/>
              <a:rect l="l" t="t" r="r" b="b"/>
              <a:pathLst>
                <a:path w="252729" h="249555">
                  <a:moveTo>
                    <a:pt x="0" y="60960"/>
                  </a:moveTo>
                  <a:lnTo>
                    <a:pt x="59436" y="0"/>
                  </a:lnTo>
                  <a:lnTo>
                    <a:pt x="126238" y="65150"/>
                  </a:lnTo>
                  <a:lnTo>
                    <a:pt x="193040" y="0"/>
                  </a:lnTo>
                  <a:lnTo>
                    <a:pt x="252476" y="60960"/>
                  </a:lnTo>
                  <a:lnTo>
                    <a:pt x="187198" y="124587"/>
                  </a:lnTo>
                  <a:lnTo>
                    <a:pt x="252476" y="188087"/>
                  </a:lnTo>
                  <a:lnTo>
                    <a:pt x="193040" y="249047"/>
                  </a:lnTo>
                  <a:lnTo>
                    <a:pt x="126238" y="183896"/>
                  </a:lnTo>
                  <a:lnTo>
                    <a:pt x="59436" y="249047"/>
                  </a:lnTo>
                  <a:lnTo>
                    <a:pt x="0" y="188087"/>
                  </a:lnTo>
                  <a:lnTo>
                    <a:pt x="65278" y="124587"/>
                  </a:lnTo>
                  <a:lnTo>
                    <a:pt x="0" y="60960"/>
                  </a:lnTo>
                  <a:close/>
                </a:path>
              </a:pathLst>
            </a:custGeom>
            <a:ln w="9525">
              <a:solidFill>
                <a:srgbClr val="0D0D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0" name="object 6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24625" y="2371661"/>
              <a:ext cx="366712" cy="376237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586220" y="2414269"/>
              <a:ext cx="248284" cy="248285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6586220" y="2414269"/>
              <a:ext cx="248285" cy="248285"/>
            </a:xfrm>
            <a:custGeom>
              <a:avLst/>
              <a:gdLst/>
              <a:ahLst/>
              <a:cxnLst/>
              <a:rect l="l" t="t" r="r" b="b"/>
              <a:pathLst>
                <a:path w="248284" h="248285">
                  <a:moveTo>
                    <a:pt x="0" y="60198"/>
                  </a:moveTo>
                  <a:lnTo>
                    <a:pt x="60198" y="0"/>
                  </a:lnTo>
                  <a:lnTo>
                    <a:pt x="124205" y="64007"/>
                  </a:lnTo>
                  <a:lnTo>
                    <a:pt x="188086" y="0"/>
                  </a:lnTo>
                  <a:lnTo>
                    <a:pt x="248284" y="60198"/>
                  </a:lnTo>
                  <a:lnTo>
                    <a:pt x="184276" y="124206"/>
                  </a:lnTo>
                  <a:lnTo>
                    <a:pt x="248284" y="188087"/>
                  </a:lnTo>
                  <a:lnTo>
                    <a:pt x="188086" y="248285"/>
                  </a:lnTo>
                  <a:lnTo>
                    <a:pt x="124205" y="184277"/>
                  </a:lnTo>
                  <a:lnTo>
                    <a:pt x="60198" y="248285"/>
                  </a:lnTo>
                  <a:lnTo>
                    <a:pt x="0" y="188087"/>
                  </a:lnTo>
                  <a:lnTo>
                    <a:pt x="64007" y="124206"/>
                  </a:lnTo>
                  <a:lnTo>
                    <a:pt x="0" y="60198"/>
                  </a:lnTo>
                  <a:close/>
                </a:path>
              </a:pathLst>
            </a:custGeom>
            <a:ln w="9525">
              <a:solidFill>
                <a:srgbClr val="0D0D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3" name="object 6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96050" y="2552636"/>
              <a:ext cx="366712" cy="376237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557263" y="2597912"/>
              <a:ext cx="249046" cy="252475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6557263" y="2597912"/>
              <a:ext cx="249554" cy="252729"/>
            </a:xfrm>
            <a:custGeom>
              <a:avLst/>
              <a:gdLst/>
              <a:ahLst/>
              <a:cxnLst/>
              <a:rect l="l" t="t" r="r" b="b"/>
              <a:pathLst>
                <a:path w="249554" h="252730">
                  <a:moveTo>
                    <a:pt x="0" y="59436"/>
                  </a:moveTo>
                  <a:lnTo>
                    <a:pt x="60959" y="0"/>
                  </a:lnTo>
                  <a:lnTo>
                    <a:pt x="124586" y="65277"/>
                  </a:lnTo>
                  <a:lnTo>
                    <a:pt x="188086" y="0"/>
                  </a:lnTo>
                  <a:lnTo>
                    <a:pt x="249046" y="59436"/>
                  </a:lnTo>
                  <a:lnTo>
                    <a:pt x="183895" y="126237"/>
                  </a:lnTo>
                  <a:lnTo>
                    <a:pt x="249046" y="193039"/>
                  </a:lnTo>
                  <a:lnTo>
                    <a:pt x="188086" y="252475"/>
                  </a:lnTo>
                  <a:lnTo>
                    <a:pt x="124586" y="187198"/>
                  </a:lnTo>
                  <a:lnTo>
                    <a:pt x="60959" y="252475"/>
                  </a:lnTo>
                  <a:lnTo>
                    <a:pt x="0" y="193039"/>
                  </a:lnTo>
                  <a:lnTo>
                    <a:pt x="65150" y="126237"/>
                  </a:lnTo>
                  <a:lnTo>
                    <a:pt x="0" y="59436"/>
                  </a:lnTo>
                  <a:close/>
                </a:path>
              </a:pathLst>
            </a:custGeom>
            <a:ln w="9525">
              <a:solidFill>
                <a:srgbClr val="0D0D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6" name="object 6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772275" y="2647886"/>
              <a:ext cx="376237" cy="376237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836537" y="2690113"/>
              <a:ext cx="252476" cy="249047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6836537" y="2690113"/>
              <a:ext cx="252729" cy="249554"/>
            </a:xfrm>
            <a:custGeom>
              <a:avLst/>
              <a:gdLst/>
              <a:ahLst/>
              <a:cxnLst/>
              <a:rect l="l" t="t" r="r" b="b"/>
              <a:pathLst>
                <a:path w="252729" h="249555">
                  <a:moveTo>
                    <a:pt x="0" y="60960"/>
                  </a:moveTo>
                  <a:lnTo>
                    <a:pt x="59436" y="0"/>
                  </a:lnTo>
                  <a:lnTo>
                    <a:pt x="126238" y="65150"/>
                  </a:lnTo>
                  <a:lnTo>
                    <a:pt x="193040" y="0"/>
                  </a:lnTo>
                  <a:lnTo>
                    <a:pt x="252476" y="60960"/>
                  </a:lnTo>
                  <a:lnTo>
                    <a:pt x="187198" y="124587"/>
                  </a:lnTo>
                  <a:lnTo>
                    <a:pt x="252476" y="188087"/>
                  </a:lnTo>
                  <a:lnTo>
                    <a:pt x="193040" y="249047"/>
                  </a:lnTo>
                  <a:lnTo>
                    <a:pt x="126238" y="183896"/>
                  </a:lnTo>
                  <a:lnTo>
                    <a:pt x="59436" y="249047"/>
                  </a:lnTo>
                  <a:lnTo>
                    <a:pt x="0" y="188087"/>
                  </a:lnTo>
                  <a:lnTo>
                    <a:pt x="65278" y="124587"/>
                  </a:lnTo>
                  <a:lnTo>
                    <a:pt x="0" y="60960"/>
                  </a:lnTo>
                  <a:close/>
                </a:path>
              </a:pathLst>
            </a:custGeom>
            <a:ln w="9525">
              <a:solidFill>
                <a:srgbClr val="0D0D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9" name="object 6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15250" y="2666936"/>
              <a:ext cx="366712" cy="376237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76844" y="2709544"/>
              <a:ext cx="248284" cy="248285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7776844" y="2709544"/>
              <a:ext cx="248285" cy="248285"/>
            </a:xfrm>
            <a:custGeom>
              <a:avLst/>
              <a:gdLst/>
              <a:ahLst/>
              <a:cxnLst/>
              <a:rect l="l" t="t" r="r" b="b"/>
              <a:pathLst>
                <a:path w="248284" h="248285">
                  <a:moveTo>
                    <a:pt x="0" y="60198"/>
                  </a:moveTo>
                  <a:lnTo>
                    <a:pt x="60198" y="0"/>
                  </a:lnTo>
                  <a:lnTo>
                    <a:pt x="124205" y="64007"/>
                  </a:lnTo>
                  <a:lnTo>
                    <a:pt x="188086" y="0"/>
                  </a:lnTo>
                  <a:lnTo>
                    <a:pt x="248284" y="60198"/>
                  </a:lnTo>
                  <a:lnTo>
                    <a:pt x="184276" y="124206"/>
                  </a:lnTo>
                  <a:lnTo>
                    <a:pt x="248284" y="188087"/>
                  </a:lnTo>
                  <a:lnTo>
                    <a:pt x="188086" y="248285"/>
                  </a:lnTo>
                  <a:lnTo>
                    <a:pt x="124205" y="184277"/>
                  </a:lnTo>
                  <a:lnTo>
                    <a:pt x="60198" y="248285"/>
                  </a:lnTo>
                  <a:lnTo>
                    <a:pt x="0" y="188087"/>
                  </a:lnTo>
                  <a:lnTo>
                    <a:pt x="64007" y="124206"/>
                  </a:lnTo>
                  <a:lnTo>
                    <a:pt x="0" y="60198"/>
                  </a:lnTo>
                  <a:close/>
                </a:path>
              </a:pathLst>
            </a:custGeom>
            <a:ln w="9525">
              <a:solidFill>
                <a:srgbClr val="0D0D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2" name="object 7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791450" y="2476436"/>
              <a:ext cx="376237" cy="376237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855711" y="2518663"/>
              <a:ext cx="252476" cy="249047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7855711" y="2518663"/>
              <a:ext cx="252729" cy="249554"/>
            </a:xfrm>
            <a:custGeom>
              <a:avLst/>
              <a:gdLst/>
              <a:ahLst/>
              <a:cxnLst/>
              <a:rect l="l" t="t" r="r" b="b"/>
              <a:pathLst>
                <a:path w="252729" h="249555">
                  <a:moveTo>
                    <a:pt x="0" y="60960"/>
                  </a:moveTo>
                  <a:lnTo>
                    <a:pt x="59436" y="0"/>
                  </a:lnTo>
                  <a:lnTo>
                    <a:pt x="126238" y="65150"/>
                  </a:lnTo>
                  <a:lnTo>
                    <a:pt x="193040" y="0"/>
                  </a:lnTo>
                  <a:lnTo>
                    <a:pt x="252476" y="60960"/>
                  </a:lnTo>
                  <a:lnTo>
                    <a:pt x="187198" y="124587"/>
                  </a:lnTo>
                  <a:lnTo>
                    <a:pt x="252476" y="188087"/>
                  </a:lnTo>
                  <a:lnTo>
                    <a:pt x="193040" y="249047"/>
                  </a:lnTo>
                  <a:lnTo>
                    <a:pt x="126238" y="183896"/>
                  </a:lnTo>
                  <a:lnTo>
                    <a:pt x="59436" y="249047"/>
                  </a:lnTo>
                  <a:lnTo>
                    <a:pt x="0" y="188087"/>
                  </a:lnTo>
                  <a:lnTo>
                    <a:pt x="65278" y="124587"/>
                  </a:lnTo>
                  <a:lnTo>
                    <a:pt x="0" y="60960"/>
                  </a:lnTo>
                  <a:close/>
                </a:path>
              </a:pathLst>
            </a:custGeom>
            <a:ln w="9525">
              <a:solidFill>
                <a:srgbClr val="0D0D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5" name="object 7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258050" y="1914461"/>
              <a:ext cx="366712" cy="376237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319644" y="1957070"/>
              <a:ext cx="248284" cy="248285"/>
            </a:xfrm>
            <a:prstGeom prst="rect">
              <a:avLst/>
            </a:prstGeom>
          </p:spPr>
        </p:pic>
        <p:sp>
          <p:nvSpPr>
            <p:cNvPr id="77" name="object 77"/>
            <p:cNvSpPr/>
            <p:nvPr/>
          </p:nvSpPr>
          <p:spPr>
            <a:xfrm>
              <a:off x="7319644" y="1957070"/>
              <a:ext cx="248285" cy="248285"/>
            </a:xfrm>
            <a:custGeom>
              <a:avLst/>
              <a:gdLst/>
              <a:ahLst/>
              <a:cxnLst/>
              <a:rect l="l" t="t" r="r" b="b"/>
              <a:pathLst>
                <a:path w="248284" h="248285">
                  <a:moveTo>
                    <a:pt x="0" y="60198"/>
                  </a:moveTo>
                  <a:lnTo>
                    <a:pt x="60198" y="0"/>
                  </a:lnTo>
                  <a:lnTo>
                    <a:pt x="124205" y="64007"/>
                  </a:lnTo>
                  <a:lnTo>
                    <a:pt x="188086" y="0"/>
                  </a:lnTo>
                  <a:lnTo>
                    <a:pt x="248284" y="60198"/>
                  </a:lnTo>
                  <a:lnTo>
                    <a:pt x="184276" y="124206"/>
                  </a:lnTo>
                  <a:lnTo>
                    <a:pt x="248284" y="188087"/>
                  </a:lnTo>
                  <a:lnTo>
                    <a:pt x="188086" y="248285"/>
                  </a:lnTo>
                  <a:lnTo>
                    <a:pt x="124205" y="184277"/>
                  </a:lnTo>
                  <a:lnTo>
                    <a:pt x="60198" y="248285"/>
                  </a:lnTo>
                  <a:lnTo>
                    <a:pt x="0" y="188087"/>
                  </a:lnTo>
                  <a:lnTo>
                    <a:pt x="64007" y="124206"/>
                  </a:lnTo>
                  <a:lnTo>
                    <a:pt x="0" y="60198"/>
                  </a:lnTo>
                  <a:close/>
                </a:path>
              </a:pathLst>
            </a:custGeom>
            <a:ln w="9525">
              <a:solidFill>
                <a:srgbClr val="0D0D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8" name="object 7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286625" y="1476311"/>
              <a:ext cx="366712" cy="376237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348219" y="1518919"/>
              <a:ext cx="248284" cy="248284"/>
            </a:xfrm>
            <a:prstGeom prst="rect">
              <a:avLst/>
            </a:prstGeom>
          </p:spPr>
        </p:pic>
        <p:sp>
          <p:nvSpPr>
            <p:cNvPr id="80" name="object 80"/>
            <p:cNvSpPr/>
            <p:nvPr/>
          </p:nvSpPr>
          <p:spPr>
            <a:xfrm>
              <a:off x="7348219" y="1518919"/>
              <a:ext cx="248285" cy="248285"/>
            </a:xfrm>
            <a:custGeom>
              <a:avLst/>
              <a:gdLst/>
              <a:ahLst/>
              <a:cxnLst/>
              <a:rect l="l" t="t" r="r" b="b"/>
              <a:pathLst>
                <a:path w="248284" h="248285">
                  <a:moveTo>
                    <a:pt x="0" y="60197"/>
                  </a:moveTo>
                  <a:lnTo>
                    <a:pt x="60198" y="0"/>
                  </a:lnTo>
                  <a:lnTo>
                    <a:pt x="124205" y="64007"/>
                  </a:lnTo>
                  <a:lnTo>
                    <a:pt x="188086" y="0"/>
                  </a:lnTo>
                  <a:lnTo>
                    <a:pt x="248284" y="60197"/>
                  </a:lnTo>
                  <a:lnTo>
                    <a:pt x="184276" y="124205"/>
                  </a:lnTo>
                  <a:lnTo>
                    <a:pt x="248284" y="188087"/>
                  </a:lnTo>
                  <a:lnTo>
                    <a:pt x="188086" y="248284"/>
                  </a:lnTo>
                  <a:lnTo>
                    <a:pt x="124205" y="184276"/>
                  </a:lnTo>
                  <a:lnTo>
                    <a:pt x="60198" y="248284"/>
                  </a:lnTo>
                  <a:lnTo>
                    <a:pt x="0" y="188087"/>
                  </a:lnTo>
                  <a:lnTo>
                    <a:pt x="64007" y="124205"/>
                  </a:lnTo>
                  <a:lnTo>
                    <a:pt x="0" y="60197"/>
                  </a:lnTo>
                  <a:close/>
                </a:path>
              </a:pathLst>
            </a:custGeom>
            <a:ln w="9525">
              <a:solidFill>
                <a:srgbClr val="0D0D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1" name="object 8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620000" y="1476311"/>
              <a:ext cx="376237" cy="376237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684261" y="1518538"/>
              <a:ext cx="252476" cy="249047"/>
            </a:xfrm>
            <a:prstGeom prst="rect">
              <a:avLst/>
            </a:prstGeom>
          </p:spPr>
        </p:pic>
        <p:sp>
          <p:nvSpPr>
            <p:cNvPr id="83" name="object 83"/>
            <p:cNvSpPr/>
            <p:nvPr/>
          </p:nvSpPr>
          <p:spPr>
            <a:xfrm>
              <a:off x="7684261" y="1518538"/>
              <a:ext cx="252729" cy="249554"/>
            </a:xfrm>
            <a:custGeom>
              <a:avLst/>
              <a:gdLst/>
              <a:ahLst/>
              <a:cxnLst/>
              <a:rect l="l" t="t" r="r" b="b"/>
              <a:pathLst>
                <a:path w="252729" h="249555">
                  <a:moveTo>
                    <a:pt x="0" y="60960"/>
                  </a:moveTo>
                  <a:lnTo>
                    <a:pt x="59436" y="0"/>
                  </a:lnTo>
                  <a:lnTo>
                    <a:pt x="126238" y="65150"/>
                  </a:lnTo>
                  <a:lnTo>
                    <a:pt x="193040" y="0"/>
                  </a:lnTo>
                  <a:lnTo>
                    <a:pt x="252476" y="60960"/>
                  </a:lnTo>
                  <a:lnTo>
                    <a:pt x="187198" y="124587"/>
                  </a:lnTo>
                  <a:lnTo>
                    <a:pt x="252476" y="188087"/>
                  </a:lnTo>
                  <a:lnTo>
                    <a:pt x="193040" y="249047"/>
                  </a:lnTo>
                  <a:lnTo>
                    <a:pt x="126238" y="183896"/>
                  </a:lnTo>
                  <a:lnTo>
                    <a:pt x="59436" y="249047"/>
                  </a:lnTo>
                  <a:lnTo>
                    <a:pt x="0" y="188087"/>
                  </a:lnTo>
                  <a:lnTo>
                    <a:pt x="65278" y="124587"/>
                  </a:lnTo>
                  <a:lnTo>
                    <a:pt x="0" y="60960"/>
                  </a:lnTo>
                  <a:close/>
                </a:path>
              </a:pathLst>
            </a:custGeom>
            <a:ln w="9525">
              <a:solidFill>
                <a:srgbClr val="0D0D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4" name="object 8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924800" y="2085911"/>
              <a:ext cx="366712" cy="376237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986014" y="2131187"/>
              <a:ext cx="249046" cy="252475"/>
            </a:xfrm>
            <a:prstGeom prst="rect">
              <a:avLst/>
            </a:prstGeom>
          </p:spPr>
        </p:pic>
        <p:sp>
          <p:nvSpPr>
            <p:cNvPr id="86" name="object 86"/>
            <p:cNvSpPr/>
            <p:nvPr/>
          </p:nvSpPr>
          <p:spPr>
            <a:xfrm>
              <a:off x="7986014" y="2131187"/>
              <a:ext cx="249554" cy="252729"/>
            </a:xfrm>
            <a:custGeom>
              <a:avLst/>
              <a:gdLst/>
              <a:ahLst/>
              <a:cxnLst/>
              <a:rect l="l" t="t" r="r" b="b"/>
              <a:pathLst>
                <a:path w="249554" h="252730">
                  <a:moveTo>
                    <a:pt x="0" y="59436"/>
                  </a:moveTo>
                  <a:lnTo>
                    <a:pt x="60959" y="0"/>
                  </a:lnTo>
                  <a:lnTo>
                    <a:pt x="124586" y="65277"/>
                  </a:lnTo>
                  <a:lnTo>
                    <a:pt x="188086" y="0"/>
                  </a:lnTo>
                  <a:lnTo>
                    <a:pt x="249046" y="59436"/>
                  </a:lnTo>
                  <a:lnTo>
                    <a:pt x="183895" y="126237"/>
                  </a:lnTo>
                  <a:lnTo>
                    <a:pt x="249046" y="193039"/>
                  </a:lnTo>
                  <a:lnTo>
                    <a:pt x="188086" y="252475"/>
                  </a:lnTo>
                  <a:lnTo>
                    <a:pt x="124586" y="187198"/>
                  </a:lnTo>
                  <a:lnTo>
                    <a:pt x="60959" y="252475"/>
                  </a:lnTo>
                  <a:lnTo>
                    <a:pt x="0" y="193039"/>
                  </a:lnTo>
                  <a:lnTo>
                    <a:pt x="65150" y="126237"/>
                  </a:lnTo>
                  <a:lnTo>
                    <a:pt x="0" y="59436"/>
                  </a:lnTo>
                  <a:close/>
                </a:path>
              </a:pathLst>
            </a:custGeom>
            <a:ln w="9525">
              <a:solidFill>
                <a:srgbClr val="0D0D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7" name="object 8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514702" y="876108"/>
            <a:ext cx="1928966" cy="2033737"/>
          </a:xfrm>
          <a:prstGeom prst="rect">
            <a:avLst/>
          </a:prstGeom>
        </p:spPr>
      </p:pic>
      <p:pic>
        <p:nvPicPr>
          <p:cNvPr id="88" name="object 88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76250" y="866775"/>
            <a:ext cx="2162175" cy="2133600"/>
          </a:xfrm>
          <a:prstGeom prst="rect">
            <a:avLst/>
          </a:prstGeom>
        </p:spPr>
      </p:pic>
      <p:sp>
        <p:nvSpPr>
          <p:cNvPr id="89" name="object 89"/>
          <p:cNvSpPr/>
          <p:nvPr/>
        </p:nvSpPr>
        <p:spPr>
          <a:xfrm>
            <a:off x="104775" y="4133850"/>
            <a:ext cx="1097280" cy="171450"/>
          </a:xfrm>
          <a:custGeom>
            <a:avLst/>
            <a:gdLst/>
            <a:ahLst/>
            <a:cxnLst/>
            <a:rect l="l" t="t" r="r" b="b"/>
            <a:pathLst>
              <a:path w="1097280" h="171450">
                <a:moveTo>
                  <a:pt x="0" y="171450"/>
                </a:moveTo>
                <a:lnTo>
                  <a:pt x="1097280" y="171450"/>
                </a:lnTo>
              </a:path>
              <a:path w="1097280" h="171450">
                <a:moveTo>
                  <a:pt x="542925" y="171450"/>
                </a:moveTo>
                <a:lnTo>
                  <a:pt x="542925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 txBox="1"/>
          <p:nvPr/>
        </p:nvSpPr>
        <p:spPr>
          <a:xfrm>
            <a:off x="176212" y="3862387"/>
            <a:ext cx="876300" cy="2762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R="6350" algn="ctr">
              <a:lnSpc>
                <a:spcPts val="765"/>
              </a:lnSpc>
              <a:spcBef>
                <a:spcPts val="240"/>
              </a:spcBef>
            </a:pPr>
            <a:r>
              <a:rPr sz="650" spc="-20">
                <a:latin typeface="Calibri"/>
                <a:cs typeface="Calibri"/>
              </a:rPr>
              <a:t>1959</a:t>
            </a:r>
            <a:endParaRPr sz="650">
              <a:latin typeface="Calibri"/>
              <a:cs typeface="Calibri"/>
            </a:endParaRPr>
          </a:p>
          <a:p>
            <a:pPr marR="3175" algn="ctr">
              <a:lnSpc>
                <a:spcPts val="944"/>
              </a:lnSpc>
            </a:pPr>
            <a:r>
              <a:rPr sz="800">
                <a:latin typeface="Calibri"/>
                <a:cs typeface="Calibri"/>
              </a:rPr>
              <a:t>Hubel</a:t>
            </a:r>
            <a:r>
              <a:rPr sz="800" spc="-20">
                <a:latin typeface="Calibri"/>
                <a:cs typeface="Calibri"/>
              </a:rPr>
              <a:t> </a:t>
            </a:r>
            <a:r>
              <a:rPr sz="800">
                <a:latin typeface="Calibri"/>
                <a:cs typeface="Calibri"/>
              </a:rPr>
              <a:t>&amp;</a:t>
            </a:r>
            <a:r>
              <a:rPr sz="800" spc="-15">
                <a:latin typeface="Calibri"/>
                <a:cs typeface="Calibri"/>
              </a:rPr>
              <a:t> </a:t>
            </a:r>
            <a:r>
              <a:rPr sz="800" spc="-10">
                <a:latin typeface="Calibri"/>
                <a:cs typeface="Calibri"/>
              </a:rPr>
              <a:t>Wiesel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91" name="object 91"/>
          <p:cNvSpPr/>
          <p:nvPr/>
        </p:nvSpPr>
        <p:spPr>
          <a:xfrm>
            <a:off x="1200150" y="4133850"/>
            <a:ext cx="0" cy="171450"/>
          </a:xfrm>
          <a:custGeom>
            <a:avLst/>
            <a:gdLst/>
            <a:ahLst/>
            <a:cxnLst/>
            <a:rect l="l" t="t" r="r" b="b"/>
            <a:pathLst>
              <a:path h="171450">
                <a:moveTo>
                  <a:pt x="0" y="17145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 txBox="1"/>
          <p:nvPr/>
        </p:nvSpPr>
        <p:spPr>
          <a:xfrm>
            <a:off x="1196181" y="3862387"/>
            <a:ext cx="656590" cy="2762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R="8890" algn="ctr">
              <a:lnSpc>
                <a:spcPts val="1040"/>
              </a:lnSpc>
            </a:pPr>
            <a:r>
              <a:rPr sz="900" spc="-20">
                <a:latin typeface="Calibri"/>
                <a:cs typeface="Calibri"/>
              </a:rPr>
              <a:t>1963</a:t>
            </a:r>
            <a:endParaRPr sz="900">
              <a:latin typeface="Calibri"/>
              <a:cs typeface="Calibri"/>
            </a:endParaRPr>
          </a:p>
          <a:p>
            <a:pPr marR="10795" algn="ctr">
              <a:lnSpc>
                <a:spcPct val="100000"/>
              </a:lnSpc>
              <a:spcBef>
                <a:spcPts val="45"/>
              </a:spcBef>
            </a:pPr>
            <a:r>
              <a:rPr sz="900" spc="-10">
                <a:latin typeface="Calibri"/>
                <a:cs typeface="Calibri"/>
              </a:rPr>
              <a:t>Roberts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78739" y="4597717"/>
            <a:ext cx="4563110" cy="158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00"/>
              </a:lnSpc>
            </a:pPr>
            <a:r>
              <a:rPr sz="1050">
                <a:latin typeface="Calibri"/>
                <a:cs typeface="Calibri"/>
              </a:rPr>
              <a:t>Lawrence</a:t>
            </a:r>
            <a:r>
              <a:rPr sz="1050" spc="-20">
                <a:latin typeface="Calibri"/>
                <a:cs typeface="Calibri"/>
              </a:rPr>
              <a:t> </a:t>
            </a:r>
            <a:r>
              <a:rPr sz="1050" spc="-10">
                <a:latin typeface="Calibri"/>
                <a:cs typeface="Calibri"/>
              </a:rPr>
              <a:t>Gilman</a:t>
            </a:r>
            <a:r>
              <a:rPr sz="1050" spc="-40">
                <a:latin typeface="Calibri"/>
                <a:cs typeface="Calibri"/>
              </a:rPr>
              <a:t> </a:t>
            </a:r>
            <a:r>
              <a:rPr sz="1050">
                <a:latin typeface="Calibri"/>
                <a:cs typeface="Calibri"/>
              </a:rPr>
              <a:t>Roberts,</a:t>
            </a:r>
            <a:r>
              <a:rPr sz="1050" spc="-55">
                <a:latin typeface="Calibri"/>
                <a:cs typeface="Calibri"/>
              </a:rPr>
              <a:t> </a:t>
            </a:r>
            <a:r>
              <a:rPr sz="1050">
                <a:latin typeface="Calibri"/>
                <a:cs typeface="Calibri"/>
              </a:rPr>
              <a:t>“Machine</a:t>
            </a:r>
            <a:r>
              <a:rPr sz="1050" spc="-10">
                <a:latin typeface="Calibri"/>
                <a:cs typeface="Calibri"/>
              </a:rPr>
              <a:t> </a:t>
            </a:r>
            <a:r>
              <a:rPr sz="1050">
                <a:latin typeface="Calibri"/>
                <a:cs typeface="Calibri"/>
              </a:rPr>
              <a:t>Perception</a:t>
            </a:r>
            <a:r>
              <a:rPr sz="1050" spc="30">
                <a:latin typeface="Calibri"/>
                <a:cs typeface="Calibri"/>
              </a:rPr>
              <a:t> </a:t>
            </a:r>
            <a:r>
              <a:rPr sz="1050">
                <a:latin typeface="Calibri"/>
                <a:cs typeface="Calibri"/>
              </a:rPr>
              <a:t>of</a:t>
            </a:r>
            <a:r>
              <a:rPr sz="1050" spc="35">
                <a:latin typeface="Calibri"/>
                <a:cs typeface="Calibri"/>
              </a:rPr>
              <a:t> </a:t>
            </a:r>
            <a:r>
              <a:rPr sz="1050" spc="-20">
                <a:latin typeface="Calibri"/>
                <a:cs typeface="Calibri"/>
              </a:rPr>
              <a:t>Three-</a:t>
            </a:r>
            <a:r>
              <a:rPr sz="1050">
                <a:latin typeface="Calibri"/>
                <a:cs typeface="Calibri"/>
              </a:rPr>
              <a:t>Dimensional</a:t>
            </a:r>
            <a:r>
              <a:rPr sz="1050" spc="40">
                <a:latin typeface="Calibri"/>
                <a:cs typeface="Calibri"/>
              </a:rPr>
              <a:t> </a:t>
            </a:r>
            <a:r>
              <a:rPr sz="1050" spc="-10">
                <a:latin typeface="Calibri"/>
                <a:cs typeface="Calibri"/>
              </a:rPr>
              <a:t>Solids”,</a:t>
            </a:r>
            <a:r>
              <a:rPr sz="1050" spc="-50">
                <a:latin typeface="Calibri"/>
                <a:cs typeface="Calibri"/>
              </a:rPr>
              <a:t> </a:t>
            </a:r>
            <a:r>
              <a:rPr sz="1050" spc="-20">
                <a:latin typeface="Calibri"/>
                <a:cs typeface="Calibri"/>
              </a:rPr>
              <a:t>1963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7325359" y="4618672"/>
            <a:ext cx="1741170" cy="158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95"/>
              </a:lnSpc>
            </a:pPr>
            <a:r>
              <a:rPr sz="1050">
                <a:latin typeface="Calibri"/>
                <a:cs typeface="Calibri"/>
              </a:rPr>
              <a:t>Slide</a:t>
            </a:r>
            <a:r>
              <a:rPr sz="1050" spc="-30">
                <a:latin typeface="Calibri"/>
                <a:cs typeface="Calibri"/>
              </a:rPr>
              <a:t> </a:t>
            </a:r>
            <a:r>
              <a:rPr sz="1050">
                <a:latin typeface="Calibri"/>
                <a:cs typeface="Calibri"/>
              </a:rPr>
              <a:t>inspiration:</a:t>
            </a:r>
            <a:r>
              <a:rPr sz="1050" spc="-10">
                <a:latin typeface="Calibri"/>
                <a:cs typeface="Calibri"/>
              </a:rPr>
              <a:t> Justin</a:t>
            </a:r>
            <a:r>
              <a:rPr sz="1050" spc="-50">
                <a:latin typeface="Calibri"/>
                <a:cs typeface="Calibri"/>
              </a:rPr>
              <a:t> </a:t>
            </a:r>
            <a:r>
              <a:rPr sz="1050" spc="-10">
                <a:latin typeface="Calibri"/>
                <a:cs typeface="Calibri"/>
              </a:rPr>
              <a:t>Johnson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5647054" y="4874974"/>
            <a:ext cx="254635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spc="-25">
                <a:solidFill>
                  <a:srgbClr val="FFFFFF"/>
                </a:solidFill>
                <a:latin typeface="Calibri"/>
                <a:cs typeface="Calibri"/>
              </a:rPr>
              <a:t>20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6" name="object 9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>
              <a:lnSpc>
                <a:spcPts val="1810"/>
              </a:lnSpc>
            </a:pPr>
            <a:r>
              <a:t>April 1,</a:t>
            </a:r>
            <a:r>
              <a:rPr spc="-35"/>
              <a:t> </a:t>
            </a:r>
            <a:r>
              <a:rPr spc="-20"/>
              <a:t>2025</a:t>
            </a:r>
          </a:p>
        </p:txBody>
      </p:sp>
      <p:sp>
        <p:nvSpPr>
          <p:cNvPr id="97" name="object 9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t>CS231n:</a:t>
            </a:r>
            <a:r>
              <a:rPr spc="-5"/>
              <a:t> </a:t>
            </a:r>
            <a:r>
              <a:t>Lecture</a:t>
            </a:r>
            <a:r>
              <a:rPr spc="95"/>
              <a:t> </a:t>
            </a:r>
            <a:r>
              <a:t>1</a:t>
            </a:r>
            <a:r>
              <a:rPr spc="15"/>
              <a:t> </a:t>
            </a:r>
            <a:r>
              <a:rPr spc="-50"/>
              <a:t>-</a:t>
            </a:r>
          </a:p>
        </p:txBody>
      </p:sp>
      <p:sp>
        <p:nvSpPr>
          <p:cNvPr id="98" name="object 98"/>
          <p:cNvSpPr txBox="1"/>
          <p:nvPr/>
        </p:nvSpPr>
        <p:spPr>
          <a:xfrm>
            <a:off x="307657" y="4910517"/>
            <a:ext cx="2085339" cy="1536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Fei-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Fei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Li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9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Ehsan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Adeli</a:t>
            </a: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90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Zane Durante</a:t>
            </a:r>
            <a:endParaRPr sz="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38350" y="152400"/>
            <a:ext cx="5381625" cy="4391025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04775" y="4305300"/>
            <a:ext cx="1491615" cy="0"/>
          </a:xfrm>
          <a:custGeom>
            <a:avLst/>
            <a:gdLst/>
            <a:ahLst/>
            <a:cxnLst/>
            <a:rect l="l" t="t" r="r" b="b"/>
            <a:pathLst>
              <a:path w="1491615">
                <a:moveTo>
                  <a:pt x="0" y="0"/>
                </a:moveTo>
                <a:lnTo>
                  <a:pt x="1491615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63512" y="3843337"/>
          <a:ext cx="1678302" cy="4425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1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5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1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06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65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6225">
                <a:tc gridSpan="2">
                  <a:txBody>
                    <a:bodyPr/>
                    <a:lstStyle/>
                    <a:p>
                      <a:pPr marR="3175"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800" spc="-20">
                          <a:latin typeface="Calibri"/>
                          <a:cs typeface="Calibri"/>
                        </a:rPr>
                        <a:t>1959</a:t>
                      </a:r>
                      <a:endParaRPr sz="800">
                        <a:latin typeface="Calibri"/>
                        <a:cs typeface="Calibri"/>
                      </a:endParaRPr>
                    </a:p>
                    <a:p>
                      <a:pPr marR="3175"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800">
                          <a:latin typeface="Calibri"/>
                          <a:cs typeface="Calibri"/>
                        </a:rPr>
                        <a:t>Hubel</a:t>
                      </a:r>
                      <a:r>
                        <a:rPr sz="8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sz="800">
                          <a:latin typeface="Calibri"/>
                          <a:cs typeface="Calibri"/>
                        </a:rPr>
                        <a:t>&amp;</a:t>
                      </a:r>
                      <a:r>
                        <a:rPr sz="8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>
                          <a:latin typeface="Calibri"/>
                          <a:cs typeface="Calibri"/>
                        </a:rPr>
                        <a:t>Wiesel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R="8890" algn="ctr">
                        <a:lnSpc>
                          <a:spcPts val="1040"/>
                        </a:lnSpc>
                      </a:pPr>
                      <a:r>
                        <a:rPr sz="900" spc="-20">
                          <a:latin typeface="Calibri"/>
                          <a:cs typeface="Calibri"/>
                        </a:rPr>
                        <a:t>1963</a:t>
                      </a:r>
                      <a:endParaRPr sz="900">
                        <a:latin typeface="Calibri"/>
                        <a:cs typeface="Calibri"/>
                      </a:endParaRPr>
                    </a:p>
                    <a:p>
                      <a:pPr marR="10795" algn="ctr">
                        <a:lnSpc>
                          <a:spcPts val="990"/>
                        </a:lnSpc>
                        <a:spcBef>
                          <a:spcPts val="45"/>
                        </a:spcBef>
                      </a:pPr>
                      <a:r>
                        <a:rPr sz="900" spc="-10">
                          <a:latin typeface="Calibri"/>
                          <a:cs typeface="Calibri"/>
                        </a:rPr>
                        <a:t>Roberts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3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3679825" y="4612878"/>
            <a:ext cx="2567305" cy="168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65"/>
              </a:lnSpc>
            </a:pPr>
            <a:r>
              <a:rPr sz="1100" u="sng" spc="-10">
                <a:solidFill>
                  <a:srgbClr val="A4A4A4"/>
                </a:solidFill>
                <a:uFill>
                  <a:solidFill>
                    <a:srgbClr val="A4A4A4"/>
                  </a:solidFill>
                </a:uFill>
                <a:latin typeface="Calibri"/>
                <a:cs typeface="Calibri"/>
                <a:hlinkClick r:id="rId3"/>
              </a:rPr>
              <a:t>https://dspace.mit.edu/handle/1721.1/6125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325359" y="4618672"/>
            <a:ext cx="1741170" cy="158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95"/>
              </a:lnSpc>
            </a:pPr>
            <a:r>
              <a:rPr sz="1050">
                <a:latin typeface="Calibri"/>
                <a:cs typeface="Calibri"/>
              </a:rPr>
              <a:t>Slide</a:t>
            </a:r>
            <a:r>
              <a:rPr sz="1050" spc="-30">
                <a:latin typeface="Calibri"/>
                <a:cs typeface="Calibri"/>
              </a:rPr>
              <a:t> </a:t>
            </a:r>
            <a:r>
              <a:rPr sz="1050">
                <a:latin typeface="Calibri"/>
                <a:cs typeface="Calibri"/>
              </a:rPr>
              <a:t>inspiration:</a:t>
            </a:r>
            <a:r>
              <a:rPr sz="1050" spc="-10">
                <a:latin typeface="Calibri"/>
                <a:cs typeface="Calibri"/>
              </a:rPr>
              <a:t> Justin</a:t>
            </a:r>
            <a:r>
              <a:rPr sz="1050" spc="-50">
                <a:latin typeface="Calibri"/>
                <a:cs typeface="Calibri"/>
              </a:rPr>
              <a:t> </a:t>
            </a:r>
            <a:r>
              <a:rPr sz="1050" spc="-10">
                <a:latin typeface="Calibri"/>
                <a:cs typeface="Calibri"/>
              </a:rPr>
              <a:t>Johnson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47054" y="4874974"/>
            <a:ext cx="254635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spc="-25">
                <a:solidFill>
                  <a:srgbClr val="FFFFFF"/>
                </a:solidFill>
                <a:latin typeface="Calibri"/>
                <a:cs typeface="Calibri"/>
              </a:rPr>
              <a:t>21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>
              <a:lnSpc>
                <a:spcPts val="1810"/>
              </a:lnSpc>
            </a:pPr>
            <a:r>
              <a:t>April 1,</a:t>
            </a:r>
            <a:r>
              <a:rPr spc="-35"/>
              <a:t> </a:t>
            </a:r>
            <a:r>
              <a:rPr spc="-20"/>
              <a:t>2025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t>CS231n:</a:t>
            </a:r>
            <a:r>
              <a:rPr spc="-5"/>
              <a:t> </a:t>
            </a:r>
            <a:r>
              <a:t>Lecture</a:t>
            </a:r>
            <a:r>
              <a:rPr spc="95"/>
              <a:t> </a:t>
            </a:r>
            <a:r>
              <a:t>1</a:t>
            </a:r>
            <a:r>
              <a:rPr spc="15"/>
              <a:t> </a:t>
            </a:r>
            <a:r>
              <a:rPr spc="-50"/>
              <a:t>-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07657" y="4910517"/>
            <a:ext cx="2085339" cy="1536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Fei-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Fei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Li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9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Ehsan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Adeli</a:t>
            </a: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90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Zane Durante</a:t>
            </a:r>
            <a:endParaRPr sz="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4775" y="4133850"/>
            <a:ext cx="3291840" cy="171450"/>
          </a:xfrm>
          <a:custGeom>
            <a:avLst/>
            <a:gdLst/>
            <a:ahLst/>
            <a:cxnLst/>
            <a:rect l="l" t="t" r="r" b="b"/>
            <a:pathLst>
              <a:path w="3291840" h="171450">
                <a:moveTo>
                  <a:pt x="0" y="171450"/>
                </a:moveTo>
                <a:lnTo>
                  <a:pt x="3291840" y="171450"/>
                </a:lnTo>
              </a:path>
              <a:path w="3291840" h="171450">
                <a:moveTo>
                  <a:pt x="542925" y="171450"/>
                </a:moveTo>
                <a:lnTo>
                  <a:pt x="542925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76212" y="3862387"/>
            <a:ext cx="876300" cy="2762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R="3175" algn="ctr">
              <a:lnSpc>
                <a:spcPct val="100000"/>
              </a:lnSpc>
              <a:spcBef>
                <a:spcPts val="105"/>
              </a:spcBef>
            </a:pPr>
            <a:r>
              <a:rPr sz="800" spc="-20">
                <a:latin typeface="Calibri"/>
                <a:cs typeface="Calibri"/>
              </a:rPr>
              <a:t>1959</a:t>
            </a:r>
            <a:endParaRPr sz="800">
              <a:latin typeface="Calibri"/>
              <a:cs typeface="Calibri"/>
            </a:endParaRPr>
          </a:p>
          <a:p>
            <a:pPr marR="3175" algn="ctr">
              <a:lnSpc>
                <a:spcPct val="100000"/>
              </a:lnSpc>
              <a:spcBef>
                <a:spcPts val="15"/>
              </a:spcBef>
            </a:pPr>
            <a:r>
              <a:rPr sz="800">
                <a:latin typeface="Calibri"/>
                <a:cs typeface="Calibri"/>
              </a:rPr>
              <a:t>Hubel</a:t>
            </a:r>
            <a:r>
              <a:rPr sz="800" spc="-20">
                <a:latin typeface="Calibri"/>
                <a:cs typeface="Calibri"/>
              </a:rPr>
              <a:t> </a:t>
            </a:r>
            <a:r>
              <a:rPr sz="800">
                <a:latin typeface="Calibri"/>
                <a:cs typeface="Calibri"/>
              </a:rPr>
              <a:t>&amp;</a:t>
            </a:r>
            <a:r>
              <a:rPr sz="800" spc="-15">
                <a:latin typeface="Calibri"/>
                <a:cs typeface="Calibri"/>
              </a:rPr>
              <a:t> </a:t>
            </a:r>
            <a:r>
              <a:rPr sz="800" spc="-10">
                <a:latin typeface="Calibri"/>
                <a:cs typeface="Calibri"/>
              </a:rPr>
              <a:t>Wiesel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00150" y="4133850"/>
            <a:ext cx="0" cy="171450"/>
          </a:xfrm>
          <a:custGeom>
            <a:avLst/>
            <a:gdLst/>
            <a:ahLst/>
            <a:cxnLst/>
            <a:rect l="l" t="t" r="r" b="b"/>
            <a:pathLst>
              <a:path h="171450">
                <a:moveTo>
                  <a:pt x="0" y="17145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96181" y="3862387"/>
            <a:ext cx="656590" cy="2762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R="8890" algn="ctr">
              <a:lnSpc>
                <a:spcPts val="1040"/>
              </a:lnSpc>
            </a:pPr>
            <a:r>
              <a:rPr sz="900" spc="-20">
                <a:latin typeface="Calibri"/>
                <a:cs typeface="Calibri"/>
              </a:rPr>
              <a:t>1963</a:t>
            </a:r>
            <a:endParaRPr sz="900">
              <a:latin typeface="Calibri"/>
              <a:cs typeface="Calibri"/>
            </a:endParaRPr>
          </a:p>
          <a:p>
            <a:pPr marR="10795" algn="ctr">
              <a:lnSpc>
                <a:spcPct val="100000"/>
              </a:lnSpc>
              <a:spcBef>
                <a:spcPts val="45"/>
              </a:spcBef>
            </a:pPr>
            <a:r>
              <a:rPr sz="900" spc="-10">
                <a:latin typeface="Calibri"/>
                <a:cs typeface="Calibri"/>
              </a:rPr>
              <a:t>Roberts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847975" y="4133850"/>
            <a:ext cx="0" cy="171450"/>
          </a:xfrm>
          <a:custGeom>
            <a:avLst/>
            <a:gdLst/>
            <a:ahLst/>
            <a:cxnLst/>
            <a:rect l="l" t="t" r="r" b="b"/>
            <a:pathLst>
              <a:path h="171450">
                <a:moveTo>
                  <a:pt x="0" y="17145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033651" y="3862387"/>
            <a:ext cx="876300" cy="2762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040"/>
              </a:lnSpc>
            </a:pPr>
            <a:r>
              <a:rPr sz="900" spc="-10">
                <a:latin typeface="Calibri"/>
                <a:cs typeface="Calibri"/>
              </a:rPr>
              <a:t>1970s</a:t>
            </a:r>
            <a:endParaRPr sz="9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45"/>
              </a:spcBef>
            </a:pPr>
            <a:r>
              <a:rPr sz="900" spc="-10">
                <a:latin typeface="Calibri"/>
                <a:cs typeface="Calibri"/>
              </a:rPr>
              <a:t>David </a:t>
            </a:r>
            <a:r>
              <a:rPr sz="900" spc="-20">
                <a:latin typeface="Calibri"/>
                <a:cs typeface="Calibri"/>
              </a:rPr>
              <a:t>Marr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390900" y="4133850"/>
            <a:ext cx="0" cy="171450"/>
          </a:xfrm>
          <a:custGeom>
            <a:avLst/>
            <a:gdLst/>
            <a:ahLst/>
            <a:cxnLst/>
            <a:rect l="l" t="t" r="r" b="b"/>
            <a:pathLst>
              <a:path h="171450">
                <a:moveTo>
                  <a:pt x="0" y="17145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976626" y="3862387"/>
            <a:ext cx="1038225" cy="2762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175" algn="ctr">
              <a:lnSpc>
                <a:spcPts val="1040"/>
              </a:lnSpc>
            </a:pPr>
            <a:r>
              <a:rPr sz="900" spc="-20">
                <a:latin typeface="Calibri"/>
                <a:cs typeface="Calibri"/>
              </a:rPr>
              <a:t>1979</a:t>
            </a:r>
            <a:endParaRPr sz="900">
              <a:latin typeface="Calibri"/>
              <a:cs typeface="Calibri"/>
            </a:endParaRPr>
          </a:p>
          <a:p>
            <a:pPr marL="4445" algn="ctr">
              <a:lnSpc>
                <a:spcPct val="100000"/>
              </a:lnSpc>
              <a:spcBef>
                <a:spcPts val="45"/>
              </a:spcBef>
            </a:pPr>
            <a:r>
              <a:rPr sz="900">
                <a:latin typeface="Calibri"/>
                <a:cs typeface="Calibri"/>
              </a:rPr>
              <a:t>Gen.</a:t>
            </a:r>
            <a:r>
              <a:rPr sz="900" spc="5">
                <a:latin typeface="Calibri"/>
                <a:cs typeface="Calibri"/>
              </a:rPr>
              <a:t> </a:t>
            </a:r>
            <a:r>
              <a:rPr sz="900" spc="-10">
                <a:latin typeface="Calibri"/>
                <a:cs typeface="Calibri"/>
              </a:rPr>
              <a:t>Cylinders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981234" y="1057211"/>
            <a:ext cx="2139315" cy="2862580"/>
            <a:chOff x="4981234" y="1057211"/>
            <a:chExt cx="2139315" cy="286258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95634" y="1094986"/>
              <a:ext cx="338817" cy="36725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57874" y="1057211"/>
              <a:ext cx="404812" cy="481012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938900" y="1119251"/>
              <a:ext cx="257175" cy="276225"/>
            </a:xfrm>
            <a:custGeom>
              <a:avLst/>
              <a:gdLst/>
              <a:ahLst/>
              <a:cxnLst/>
              <a:rect l="l" t="t" r="r" b="b"/>
              <a:pathLst>
                <a:path w="257175" h="276225">
                  <a:moveTo>
                    <a:pt x="128524" y="0"/>
                  </a:moveTo>
                  <a:lnTo>
                    <a:pt x="87896" y="7029"/>
                  </a:lnTo>
                  <a:lnTo>
                    <a:pt x="52614" y="26611"/>
                  </a:lnTo>
                  <a:lnTo>
                    <a:pt x="24794" y="56482"/>
                  </a:lnTo>
                  <a:lnTo>
                    <a:pt x="6551" y="94382"/>
                  </a:lnTo>
                  <a:lnTo>
                    <a:pt x="0" y="138049"/>
                  </a:lnTo>
                  <a:lnTo>
                    <a:pt x="6551" y="181728"/>
                  </a:lnTo>
                  <a:lnTo>
                    <a:pt x="24794" y="219660"/>
                  </a:lnTo>
                  <a:lnTo>
                    <a:pt x="52614" y="249569"/>
                  </a:lnTo>
                  <a:lnTo>
                    <a:pt x="87896" y="269182"/>
                  </a:lnTo>
                  <a:lnTo>
                    <a:pt x="128524" y="276225"/>
                  </a:lnTo>
                  <a:lnTo>
                    <a:pt x="169165" y="269182"/>
                  </a:lnTo>
                  <a:lnTo>
                    <a:pt x="204478" y="249569"/>
                  </a:lnTo>
                  <a:lnTo>
                    <a:pt x="232335" y="219660"/>
                  </a:lnTo>
                  <a:lnTo>
                    <a:pt x="250610" y="181728"/>
                  </a:lnTo>
                  <a:lnTo>
                    <a:pt x="257175" y="138049"/>
                  </a:lnTo>
                  <a:lnTo>
                    <a:pt x="250610" y="94382"/>
                  </a:lnTo>
                  <a:lnTo>
                    <a:pt x="232335" y="56482"/>
                  </a:lnTo>
                  <a:lnTo>
                    <a:pt x="204478" y="26611"/>
                  </a:lnTo>
                  <a:lnTo>
                    <a:pt x="169165" y="7029"/>
                  </a:lnTo>
                  <a:lnTo>
                    <a:pt x="1285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38900" y="1119251"/>
              <a:ext cx="257175" cy="276225"/>
            </a:xfrm>
            <a:custGeom>
              <a:avLst/>
              <a:gdLst/>
              <a:ahLst/>
              <a:cxnLst/>
              <a:rect l="l" t="t" r="r" b="b"/>
              <a:pathLst>
                <a:path w="257175" h="276225">
                  <a:moveTo>
                    <a:pt x="0" y="138049"/>
                  </a:moveTo>
                  <a:lnTo>
                    <a:pt x="6551" y="94382"/>
                  </a:lnTo>
                  <a:lnTo>
                    <a:pt x="24794" y="56482"/>
                  </a:lnTo>
                  <a:lnTo>
                    <a:pt x="52614" y="26611"/>
                  </a:lnTo>
                  <a:lnTo>
                    <a:pt x="87896" y="7029"/>
                  </a:lnTo>
                  <a:lnTo>
                    <a:pt x="128524" y="0"/>
                  </a:lnTo>
                  <a:lnTo>
                    <a:pt x="169165" y="7029"/>
                  </a:lnTo>
                  <a:lnTo>
                    <a:pt x="204478" y="26611"/>
                  </a:lnTo>
                  <a:lnTo>
                    <a:pt x="232335" y="56482"/>
                  </a:lnTo>
                  <a:lnTo>
                    <a:pt x="250610" y="94382"/>
                  </a:lnTo>
                  <a:lnTo>
                    <a:pt x="257175" y="138049"/>
                  </a:lnTo>
                  <a:lnTo>
                    <a:pt x="250610" y="181728"/>
                  </a:lnTo>
                  <a:lnTo>
                    <a:pt x="232335" y="219660"/>
                  </a:lnTo>
                  <a:lnTo>
                    <a:pt x="204478" y="249569"/>
                  </a:lnTo>
                  <a:lnTo>
                    <a:pt x="169165" y="269182"/>
                  </a:lnTo>
                  <a:lnTo>
                    <a:pt x="128524" y="276225"/>
                  </a:lnTo>
                  <a:lnTo>
                    <a:pt x="87896" y="269182"/>
                  </a:lnTo>
                  <a:lnTo>
                    <a:pt x="52614" y="249569"/>
                  </a:lnTo>
                  <a:lnTo>
                    <a:pt x="24794" y="219660"/>
                  </a:lnTo>
                  <a:lnTo>
                    <a:pt x="6551" y="181728"/>
                  </a:lnTo>
                  <a:lnTo>
                    <a:pt x="0" y="138049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43184" y="1542661"/>
              <a:ext cx="338817" cy="367253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386450" y="1566926"/>
              <a:ext cx="257175" cy="276225"/>
            </a:xfrm>
            <a:custGeom>
              <a:avLst/>
              <a:gdLst/>
              <a:ahLst/>
              <a:cxnLst/>
              <a:rect l="l" t="t" r="r" b="b"/>
              <a:pathLst>
                <a:path w="257175" h="276225">
                  <a:moveTo>
                    <a:pt x="128524" y="0"/>
                  </a:moveTo>
                  <a:lnTo>
                    <a:pt x="87896" y="7029"/>
                  </a:lnTo>
                  <a:lnTo>
                    <a:pt x="52614" y="26611"/>
                  </a:lnTo>
                  <a:lnTo>
                    <a:pt x="24794" y="56482"/>
                  </a:lnTo>
                  <a:lnTo>
                    <a:pt x="6551" y="94382"/>
                  </a:lnTo>
                  <a:lnTo>
                    <a:pt x="0" y="138049"/>
                  </a:lnTo>
                  <a:lnTo>
                    <a:pt x="6551" y="181728"/>
                  </a:lnTo>
                  <a:lnTo>
                    <a:pt x="24794" y="219660"/>
                  </a:lnTo>
                  <a:lnTo>
                    <a:pt x="52614" y="249569"/>
                  </a:lnTo>
                  <a:lnTo>
                    <a:pt x="87896" y="269182"/>
                  </a:lnTo>
                  <a:lnTo>
                    <a:pt x="128524" y="276225"/>
                  </a:lnTo>
                  <a:lnTo>
                    <a:pt x="169165" y="269182"/>
                  </a:lnTo>
                  <a:lnTo>
                    <a:pt x="204478" y="249569"/>
                  </a:lnTo>
                  <a:lnTo>
                    <a:pt x="232335" y="219660"/>
                  </a:lnTo>
                  <a:lnTo>
                    <a:pt x="250610" y="181728"/>
                  </a:lnTo>
                  <a:lnTo>
                    <a:pt x="257175" y="138049"/>
                  </a:lnTo>
                  <a:lnTo>
                    <a:pt x="250610" y="94382"/>
                  </a:lnTo>
                  <a:lnTo>
                    <a:pt x="232335" y="56482"/>
                  </a:lnTo>
                  <a:lnTo>
                    <a:pt x="204478" y="26611"/>
                  </a:lnTo>
                  <a:lnTo>
                    <a:pt x="169165" y="7029"/>
                  </a:lnTo>
                  <a:lnTo>
                    <a:pt x="1285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386450" y="1566926"/>
              <a:ext cx="257175" cy="276225"/>
            </a:xfrm>
            <a:custGeom>
              <a:avLst/>
              <a:gdLst/>
              <a:ahLst/>
              <a:cxnLst/>
              <a:rect l="l" t="t" r="r" b="b"/>
              <a:pathLst>
                <a:path w="257175" h="276225">
                  <a:moveTo>
                    <a:pt x="0" y="138049"/>
                  </a:moveTo>
                  <a:lnTo>
                    <a:pt x="6551" y="94382"/>
                  </a:lnTo>
                  <a:lnTo>
                    <a:pt x="24794" y="56482"/>
                  </a:lnTo>
                  <a:lnTo>
                    <a:pt x="52614" y="26611"/>
                  </a:lnTo>
                  <a:lnTo>
                    <a:pt x="87896" y="7029"/>
                  </a:lnTo>
                  <a:lnTo>
                    <a:pt x="128524" y="0"/>
                  </a:lnTo>
                  <a:lnTo>
                    <a:pt x="169165" y="7029"/>
                  </a:lnTo>
                  <a:lnTo>
                    <a:pt x="204478" y="26611"/>
                  </a:lnTo>
                  <a:lnTo>
                    <a:pt x="232335" y="56482"/>
                  </a:lnTo>
                  <a:lnTo>
                    <a:pt x="250610" y="94382"/>
                  </a:lnTo>
                  <a:lnTo>
                    <a:pt x="257175" y="138049"/>
                  </a:lnTo>
                  <a:lnTo>
                    <a:pt x="250610" y="181728"/>
                  </a:lnTo>
                  <a:lnTo>
                    <a:pt x="232335" y="219660"/>
                  </a:lnTo>
                  <a:lnTo>
                    <a:pt x="204478" y="249569"/>
                  </a:lnTo>
                  <a:lnTo>
                    <a:pt x="169165" y="269182"/>
                  </a:lnTo>
                  <a:lnTo>
                    <a:pt x="128524" y="276225"/>
                  </a:lnTo>
                  <a:lnTo>
                    <a:pt x="87896" y="269182"/>
                  </a:lnTo>
                  <a:lnTo>
                    <a:pt x="52614" y="249569"/>
                  </a:lnTo>
                  <a:lnTo>
                    <a:pt x="24794" y="219660"/>
                  </a:lnTo>
                  <a:lnTo>
                    <a:pt x="6551" y="181728"/>
                  </a:lnTo>
                  <a:lnTo>
                    <a:pt x="0" y="138049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95634" y="1571236"/>
              <a:ext cx="338817" cy="367253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5938900" y="1595501"/>
              <a:ext cx="257175" cy="276225"/>
            </a:xfrm>
            <a:custGeom>
              <a:avLst/>
              <a:gdLst/>
              <a:ahLst/>
              <a:cxnLst/>
              <a:rect l="l" t="t" r="r" b="b"/>
              <a:pathLst>
                <a:path w="257175" h="276225">
                  <a:moveTo>
                    <a:pt x="128524" y="0"/>
                  </a:moveTo>
                  <a:lnTo>
                    <a:pt x="87896" y="7029"/>
                  </a:lnTo>
                  <a:lnTo>
                    <a:pt x="52614" y="26611"/>
                  </a:lnTo>
                  <a:lnTo>
                    <a:pt x="24794" y="56482"/>
                  </a:lnTo>
                  <a:lnTo>
                    <a:pt x="6551" y="94382"/>
                  </a:lnTo>
                  <a:lnTo>
                    <a:pt x="0" y="138049"/>
                  </a:lnTo>
                  <a:lnTo>
                    <a:pt x="6551" y="181728"/>
                  </a:lnTo>
                  <a:lnTo>
                    <a:pt x="24794" y="219660"/>
                  </a:lnTo>
                  <a:lnTo>
                    <a:pt x="52614" y="249569"/>
                  </a:lnTo>
                  <a:lnTo>
                    <a:pt x="87896" y="269182"/>
                  </a:lnTo>
                  <a:lnTo>
                    <a:pt x="128524" y="276225"/>
                  </a:lnTo>
                  <a:lnTo>
                    <a:pt x="169165" y="269182"/>
                  </a:lnTo>
                  <a:lnTo>
                    <a:pt x="204478" y="249569"/>
                  </a:lnTo>
                  <a:lnTo>
                    <a:pt x="232335" y="219660"/>
                  </a:lnTo>
                  <a:lnTo>
                    <a:pt x="250610" y="181728"/>
                  </a:lnTo>
                  <a:lnTo>
                    <a:pt x="257175" y="138049"/>
                  </a:lnTo>
                  <a:lnTo>
                    <a:pt x="250610" y="94382"/>
                  </a:lnTo>
                  <a:lnTo>
                    <a:pt x="232335" y="56482"/>
                  </a:lnTo>
                  <a:lnTo>
                    <a:pt x="204478" y="26611"/>
                  </a:lnTo>
                  <a:lnTo>
                    <a:pt x="169165" y="7029"/>
                  </a:lnTo>
                  <a:lnTo>
                    <a:pt x="1285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938900" y="1595501"/>
              <a:ext cx="257175" cy="276225"/>
            </a:xfrm>
            <a:custGeom>
              <a:avLst/>
              <a:gdLst/>
              <a:ahLst/>
              <a:cxnLst/>
              <a:rect l="l" t="t" r="r" b="b"/>
              <a:pathLst>
                <a:path w="257175" h="276225">
                  <a:moveTo>
                    <a:pt x="0" y="138049"/>
                  </a:moveTo>
                  <a:lnTo>
                    <a:pt x="6551" y="94382"/>
                  </a:lnTo>
                  <a:lnTo>
                    <a:pt x="24794" y="56482"/>
                  </a:lnTo>
                  <a:lnTo>
                    <a:pt x="52614" y="26611"/>
                  </a:lnTo>
                  <a:lnTo>
                    <a:pt x="87896" y="7029"/>
                  </a:lnTo>
                  <a:lnTo>
                    <a:pt x="128524" y="0"/>
                  </a:lnTo>
                  <a:lnTo>
                    <a:pt x="169165" y="7029"/>
                  </a:lnTo>
                  <a:lnTo>
                    <a:pt x="204478" y="26611"/>
                  </a:lnTo>
                  <a:lnTo>
                    <a:pt x="232335" y="56482"/>
                  </a:lnTo>
                  <a:lnTo>
                    <a:pt x="250610" y="94382"/>
                  </a:lnTo>
                  <a:lnTo>
                    <a:pt x="257175" y="138049"/>
                  </a:lnTo>
                  <a:lnTo>
                    <a:pt x="250610" y="181728"/>
                  </a:lnTo>
                  <a:lnTo>
                    <a:pt x="232335" y="219660"/>
                  </a:lnTo>
                  <a:lnTo>
                    <a:pt x="204478" y="249569"/>
                  </a:lnTo>
                  <a:lnTo>
                    <a:pt x="169165" y="269182"/>
                  </a:lnTo>
                  <a:lnTo>
                    <a:pt x="128524" y="276225"/>
                  </a:lnTo>
                  <a:lnTo>
                    <a:pt x="87896" y="269182"/>
                  </a:lnTo>
                  <a:lnTo>
                    <a:pt x="52614" y="249569"/>
                  </a:lnTo>
                  <a:lnTo>
                    <a:pt x="24794" y="219660"/>
                  </a:lnTo>
                  <a:lnTo>
                    <a:pt x="6551" y="181728"/>
                  </a:lnTo>
                  <a:lnTo>
                    <a:pt x="0" y="138049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57609" y="1533136"/>
              <a:ext cx="338817" cy="367253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6500875" y="1557401"/>
              <a:ext cx="257175" cy="276225"/>
            </a:xfrm>
            <a:custGeom>
              <a:avLst/>
              <a:gdLst/>
              <a:ahLst/>
              <a:cxnLst/>
              <a:rect l="l" t="t" r="r" b="b"/>
              <a:pathLst>
                <a:path w="257175" h="276225">
                  <a:moveTo>
                    <a:pt x="128524" y="0"/>
                  </a:moveTo>
                  <a:lnTo>
                    <a:pt x="87896" y="7029"/>
                  </a:lnTo>
                  <a:lnTo>
                    <a:pt x="52614" y="26611"/>
                  </a:lnTo>
                  <a:lnTo>
                    <a:pt x="24794" y="56482"/>
                  </a:lnTo>
                  <a:lnTo>
                    <a:pt x="6551" y="94382"/>
                  </a:lnTo>
                  <a:lnTo>
                    <a:pt x="0" y="138049"/>
                  </a:lnTo>
                  <a:lnTo>
                    <a:pt x="6551" y="181728"/>
                  </a:lnTo>
                  <a:lnTo>
                    <a:pt x="24794" y="219660"/>
                  </a:lnTo>
                  <a:lnTo>
                    <a:pt x="52614" y="249569"/>
                  </a:lnTo>
                  <a:lnTo>
                    <a:pt x="87896" y="269182"/>
                  </a:lnTo>
                  <a:lnTo>
                    <a:pt x="128524" y="276225"/>
                  </a:lnTo>
                  <a:lnTo>
                    <a:pt x="169165" y="269182"/>
                  </a:lnTo>
                  <a:lnTo>
                    <a:pt x="204478" y="249569"/>
                  </a:lnTo>
                  <a:lnTo>
                    <a:pt x="232335" y="219660"/>
                  </a:lnTo>
                  <a:lnTo>
                    <a:pt x="250610" y="181728"/>
                  </a:lnTo>
                  <a:lnTo>
                    <a:pt x="257175" y="138049"/>
                  </a:lnTo>
                  <a:lnTo>
                    <a:pt x="250610" y="94382"/>
                  </a:lnTo>
                  <a:lnTo>
                    <a:pt x="232335" y="56482"/>
                  </a:lnTo>
                  <a:lnTo>
                    <a:pt x="204478" y="26611"/>
                  </a:lnTo>
                  <a:lnTo>
                    <a:pt x="169165" y="7029"/>
                  </a:lnTo>
                  <a:lnTo>
                    <a:pt x="1285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500875" y="1557401"/>
              <a:ext cx="257175" cy="276225"/>
            </a:xfrm>
            <a:custGeom>
              <a:avLst/>
              <a:gdLst/>
              <a:ahLst/>
              <a:cxnLst/>
              <a:rect l="l" t="t" r="r" b="b"/>
              <a:pathLst>
                <a:path w="257175" h="276225">
                  <a:moveTo>
                    <a:pt x="0" y="138049"/>
                  </a:moveTo>
                  <a:lnTo>
                    <a:pt x="6551" y="94382"/>
                  </a:lnTo>
                  <a:lnTo>
                    <a:pt x="24794" y="56482"/>
                  </a:lnTo>
                  <a:lnTo>
                    <a:pt x="52614" y="26611"/>
                  </a:lnTo>
                  <a:lnTo>
                    <a:pt x="87896" y="7029"/>
                  </a:lnTo>
                  <a:lnTo>
                    <a:pt x="128524" y="0"/>
                  </a:lnTo>
                  <a:lnTo>
                    <a:pt x="169165" y="7029"/>
                  </a:lnTo>
                  <a:lnTo>
                    <a:pt x="204478" y="26611"/>
                  </a:lnTo>
                  <a:lnTo>
                    <a:pt x="232335" y="56482"/>
                  </a:lnTo>
                  <a:lnTo>
                    <a:pt x="250610" y="94382"/>
                  </a:lnTo>
                  <a:lnTo>
                    <a:pt x="257175" y="138049"/>
                  </a:lnTo>
                  <a:lnTo>
                    <a:pt x="250610" y="181728"/>
                  </a:lnTo>
                  <a:lnTo>
                    <a:pt x="232335" y="219660"/>
                  </a:lnTo>
                  <a:lnTo>
                    <a:pt x="204478" y="249569"/>
                  </a:lnTo>
                  <a:lnTo>
                    <a:pt x="169165" y="269182"/>
                  </a:lnTo>
                  <a:lnTo>
                    <a:pt x="128524" y="276225"/>
                  </a:lnTo>
                  <a:lnTo>
                    <a:pt x="87896" y="269182"/>
                  </a:lnTo>
                  <a:lnTo>
                    <a:pt x="52614" y="249569"/>
                  </a:lnTo>
                  <a:lnTo>
                    <a:pt x="24794" y="219660"/>
                  </a:lnTo>
                  <a:lnTo>
                    <a:pt x="6551" y="181728"/>
                  </a:lnTo>
                  <a:lnTo>
                    <a:pt x="0" y="138049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33734" y="2161786"/>
              <a:ext cx="338817" cy="367253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95974" y="2133536"/>
              <a:ext cx="404812" cy="471487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5977000" y="2186051"/>
              <a:ext cx="257175" cy="276225"/>
            </a:xfrm>
            <a:custGeom>
              <a:avLst/>
              <a:gdLst/>
              <a:ahLst/>
              <a:cxnLst/>
              <a:rect l="l" t="t" r="r" b="b"/>
              <a:pathLst>
                <a:path w="257175" h="276225">
                  <a:moveTo>
                    <a:pt x="128524" y="0"/>
                  </a:moveTo>
                  <a:lnTo>
                    <a:pt x="87896" y="7029"/>
                  </a:lnTo>
                  <a:lnTo>
                    <a:pt x="52614" y="26611"/>
                  </a:lnTo>
                  <a:lnTo>
                    <a:pt x="24794" y="56482"/>
                  </a:lnTo>
                  <a:lnTo>
                    <a:pt x="6551" y="94382"/>
                  </a:lnTo>
                  <a:lnTo>
                    <a:pt x="0" y="138049"/>
                  </a:lnTo>
                  <a:lnTo>
                    <a:pt x="6551" y="181728"/>
                  </a:lnTo>
                  <a:lnTo>
                    <a:pt x="24794" y="219660"/>
                  </a:lnTo>
                  <a:lnTo>
                    <a:pt x="52614" y="249569"/>
                  </a:lnTo>
                  <a:lnTo>
                    <a:pt x="87896" y="269182"/>
                  </a:lnTo>
                  <a:lnTo>
                    <a:pt x="128524" y="276225"/>
                  </a:lnTo>
                  <a:lnTo>
                    <a:pt x="169165" y="269182"/>
                  </a:lnTo>
                  <a:lnTo>
                    <a:pt x="204478" y="249569"/>
                  </a:lnTo>
                  <a:lnTo>
                    <a:pt x="232335" y="219660"/>
                  </a:lnTo>
                  <a:lnTo>
                    <a:pt x="250610" y="181728"/>
                  </a:lnTo>
                  <a:lnTo>
                    <a:pt x="257175" y="138049"/>
                  </a:lnTo>
                  <a:lnTo>
                    <a:pt x="250610" y="94382"/>
                  </a:lnTo>
                  <a:lnTo>
                    <a:pt x="232335" y="56482"/>
                  </a:lnTo>
                  <a:lnTo>
                    <a:pt x="204478" y="26611"/>
                  </a:lnTo>
                  <a:lnTo>
                    <a:pt x="169165" y="7029"/>
                  </a:lnTo>
                  <a:lnTo>
                    <a:pt x="1285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977000" y="2186051"/>
              <a:ext cx="257175" cy="276225"/>
            </a:xfrm>
            <a:custGeom>
              <a:avLst/>
              <a:gdLst/>
              <a:ahLst/>
              <a:cxnLst/>
              <a:rect l="l" t="t" r="r" b="b"/>
              <a:pathLst>
                <a:path w="257175" h="276225">
                  <a:moveTo>
                    <a:pt x="0" y="138049"/>
                  </a:moveTo>
                  <a:lnTo>
                    <a:pt x="6551" y="94382"/>
                  </a:lnTo>
                  <a:lnTo>
                    <a:pt x="24794" y="56482"/>
                  </a:lnTo>
                  <a:lnTo>
                    <a:pt x="52614" y="26611"/>
                  </a:lnTo>
                  <a:lnTo>
                    <a:pt x="87896" y="7029"/>
                  </a:lnTo>
                  <a:lnTo>
                    <a:pt x="128524" y="0"/>
                  </a:lnTo>
                  <a:lnTo>
                    <a:pt x="169165" y="7029"/>
                  </a:lnTo>
                  <a:lnTo>
                    <a:pt x="204478" y="26611"/>
                  </a:lnTo>
                  <a:lnTo>
                    <a:pt x="232335" y="56482"/>
                  </a:lnTo>
                  <a:lnTo>
                    <a:pt x="250610" y="94382"/>
                  </a:lnTo>
                  <a:lnTo>
                    <a:pt x="257175" y="138049"/>
                  </a:lnTo>
                  <a:lnTo>
                    <a:pt x="250610" y="181728"/>
                  </a:lnTo>
                  <a:lnTo>
                    <a:pt x="232335" y="219660"/>
                  </a:lnTo>
                  <a:lnTo>
                    <a:pt x="204478" y="249569"/>
                  </a:lnTo>
                  <a:lnTo>
                    <a:pt x="169165" y="269182"/>
                  </a:lnTo>
                  <a:lnTo>
                    <a:pt x="128524" y="276225"/>
                  </a:lnTo>
                  <a:lnTo>
                    <a:pt x="87896" y="269182"/>
                  </a:lnTo>
                  <a:lnTo>
                    <a:pt x="52614" y="249569"/>
                  </a:lnTo>
                  <a:lnTo>
                    <a:pt x="24794" y="219660"/>
                  </a:lnTo>
                  <a:lnTo>
                    <a:pt x="6551" y="181728"/>
                  </a:lnTo>
                  <a:lnTo>
                    <a:pt x="0" y="138049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81234" y="2161786"/>
              <a:ext cx="338817" cy="367253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5024500" y="2186051"/>
              <a:ext cx="257175" cy="276225"/>
            </a:xfrm>
            <a:custGeom>
              <a:avLst/>
              <a:gdLst/>
              <a:ahLst/>
              <a:cxnLst/>
              <a:rect l="l" t="t" r="r" b="b"/>
              <a:pathLst>
                <a:path w="257175" h="276225">
                  <a:moveTo>
                    <a:pt x="128524" y="0"/>
                  </a:moveTo>
                  <a:lnTo>
                    <a:pt x="87896" y="7029"/>
                  </a:lnTo>
                  <a:lnTo>
                    <a:pt x="52614" y="26611"/>
                  </a:lnTo>
                  <a:lnTo>
                    <a:pt x="24794" y="56482"/>
                  </a:lnTo>
                  <a:lnTo>
                    <a:pt x="6551" y="94382"/>
                  </a:lnTo>
                  <a:lnTo>
                    <a:pt x="0" y="138049"/>
                  </a:lnTo>
                  <a:lnTo>
                    <a:pt x="6551" y="181728"/>
                  </a:lnTo>
                  <a:lnTo>
                    <a:pt x="24794" y="219660"/>
                  </a:lnTo>
                  <a:lnTo>
                    <a:pt x="52614" y="249569"/>
                  </a:lnTo>
                  <a:lnTo>
                    <a:pt x="87896" y="269182"/>
                  </a:lnTo>
                  <a:lnTo>
                    <a:pt x="128524" y="276225"/>
                  </a:lnTo>
                  <a:lnTo>
                    <a:pt x="169165" y="269182"/>
                  </a:lnTo>
                  <a:lnTo>
                    <a:pt x="204478" y="249569"/>
                  </a:lnTo>
                  <a:lnTo>
                    <a:pt x="232335" y="219660"/>
                  </a:lnTo>
                  <a:lnTo>
                    <a:pt x="250610" y="181728"/>
                  </a:lnTo>
                  <a:lnTo>
                    <a:pt x="257175" y="138049"/>
                  </a:lnTo>
                  <a:lnTo>
                    <a:pt x="250610" y="94382"/>
                  </a:lnTo>
                  <a:lnTo>
                    <a:pt x="232335" y="56482"/>
                  </a:lnTo>
                  <a:lnTo>
                    <a:pt x="204478" y="26611"/>
                  </a:lnTo>
                  <a:lnTo>
                    <a:pt x="169165" y="7029"/>
                  </a:lnTo>
                  <a:lnTo>
                    <a:pt x="1285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024500" y="2186051"/>
              <a:ext cx="257175" cy="276225"/>
            </a:xfrm>
            <a:custGeom>
              <a:avLst/>
              <a:gdLst/>
              <a:ahLst/>
              <a:cxnLst/>
              <a:rect l="l" t="t" r="r" b="b"/>
              <a:pathLst>
                <a:path w="257175" h="276225">
                  <a:moveTo>
                    <a:pt x="0" y="138049"/>
                  </a:moveTo>
                  <a:lnTo>
                    <a:pt x="6551" y="94382"/>
                  </a:lnTo>
                  <a:lnTo>
                    <a:pt x="24794" y="56482"/>
                  </a:lnTo>
                  <a:lnTo>
                    <a:pt x="52614" y="26611"/>
                  </a:lnTo>
                  <a:lnTo>
                    <a:pt x="87896" y="7029"/>
                  </a:lnTo>
                  <a:lnTo>
                    <a:pt x="128524" y="0"/>
                  </a:lnTo>
                  <a:lnTo>
                    <a:pt x="169165" y="7029"/>
                  </a:lnTo>
                  <a:lnTo>
                    <a:pt x="204478" y="26611"/>
                  </a:lnTo>
                  <a:lnTo>
                    <a:pt x="232335" y="56482"/>
                  </a:lnTo>
                  <a:lnTo>
                    <a:pt x="250610" y="94382"/>
                  </a:lnTo>
                  <a:lnTo>
                    <a:pt x="257175" y="138049"/>
                  </a:lnTo>
                  <a:lnTo>
                    <a:pt x="250610" y="181728"/>
                  </a:lnTo>
                  <a:lnTo>
                    <a:pt x="232335" y="219660"/>
                  </a:lnTo>
                  <a:lnTo>
                    <a:pt x="204478" y="249569"/>
                  </a:lnTo>
                  <a:lnTo>
                    <a:pt x="169165" y="269182"/>
                  </a:lnTo>
                  <a:lnTo>
                    <a:pt x="128524" y="276225"/>
                  </a:lnTo>
                  <a:lnTo>
                    <a:pt x="87896" y="269182"/>
                  </a:lnTo>
                  <a:lnTo>
                    <a:pt x="52614" y="249569"/>
                  </a:lnTo>
                  <a:lnTo>
                    <a:pt x="24794" y="219660"/>
                  </a:lnTo>
                  <a:lnTo>
                    <a:pt x="6551" y="181728"/>
                  </a:lnTo>
                  <a:lnTo>
                    <a:pt x="0" y="138049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81434" y="3552500"/>
              <a:ext cx="338817" cy="367253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6624700" y="3576700"/>
              <a:ext cx="257175" cy="276225"/>
            </a:xfrm>
            <a:custGeom>
              <a:avLst/>
              <a:gdLst/>
              <a:ahLst/>
              <a:cxnLst/>
              <a:rect l="l" t="t" r="r" b="b"/>
              <a:pathLst>
                <a:path w="257175" h="276225">
                  <a:moveTo>
                    <a:pt x="128524" y="0"/>
                  </a:moveTo>
                  <a:lnTo>
                    <a:pt x="87896" y="7029"/>
                  </a:lnTo>
                  <a:lnTo>
                    <a:pt x="52614" y="26611"/>
                  </a:lnTo>
                  <a:lnTo>
                    <a:pt x="24794" y="56482"/>
                  </a:lnTo>
                  <a:lnTo>
                    <a:pt x="6551" y="94382"/>
                  </a:lnTo>
                  <a:lnTo>
                    <a:pt x="0" y="138049"/>
                  </a:lnTo>
                  <a:lnTo>
                    <a:pt x="6551" y="181728"/>
                  </a:lnTo>
                  <a:lnTo>
                    <a:pt x="24794" y="219660"/>
                  </a:lnTo>
                  <a:lnTo>
                    <a:pt x="52614" y="249569"/>
                  </a:lnTo>
                  <a:lnTo>
                    <a:pt x="87896" y="269182"/>
                  </a:lnTo>
                  <a:lnTo>
                    <a:pt x="128524" y="276225"/>
                  </a:lnTo>
                  <a:lnTo>
                    <a:pt x="169165" y="269182"/>
                  </a:lnTo>
                  <a:lnTo>
                    <a:pt x="204478" y="249569"/>
                  </a:lnTo>
                  <a:lnTo>
                    <a:pt x="232335" y="219660"/>
                  </a:lnTo>
                  <a:lnTo>
                    <a:pt x="250610" y="181728"/>
                  </a:lnTo>
                  <a:lnTo>
                    <a:pt x="257175" y="138049"/>
                  </a:lnTo>
                  <a:lnTo>
                    <a:pt x="250610" y="94382"/>
                  </a:lnTo>
                  <a:lnTo>
                    <a:pt x="232335" y="56482"/>
                  </a:lnTo>
                  <a:lnTo>
                    <a:pt x="204478" y="26611"/>
                  </a:lnTo>
                  <a:lnTo>
                    <a:pt x="169165" y="7029"/>
                  </a:lnTo>
                  <a:lnTo>
                    <a:pt x="1285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624700" y="3576700"/>
              <a:ext cx="257175" cy="276225"/>
            </a:xfrm>
            <a:custGeom>
              <a:avLst/>
              <a:gdLst/>
              <a:ahLst/>
              <a:cxnLst/>
              <a:rect l="l" t="t" r="r" b="b"/>
              <a:pathLst>
                <a:path w="257175" h="276225">
                  <a:moveTo>
                    <a:pt x="0" y="138049"/>
                  </a:moveTo>
                  <a:lnTo>
                    <a:pt x="6551" y="94382"/>
                  </a:lnTo>
                  <a:lnTo>
                    <a:pt x="24794" y="56482"/>
                  </a:lnTo>
                  <a:lnTo>
                    <a:pt x="52614" y="26611"/>
                  </a:lnTo>
                  <a:lnTo>
                    <a:pt x="87896" y="7029"/>
                  </a:lnTo>
                  <a:lnTo>
                    <a:pt x="128524" y="0"/>
                  </a:lnTo>
                  <a:lnTo>
                    <a:pt x="169165" y="7029"/>
                  </a:lnTo>
                  <a:lnTo>
                    <a:pt x="204478" y="26611"/>
                  </a:lnTo>
                  <a:lnTo>
                    <a:pt x="232335" y="56482"/>
                  </a:lnTo>
                  <a:lnTo>
                    <a:pt x="250610" y="94382"/>
                  </a:lnTo>
                  <a:lnTo>
                    <a:pt x="257175" y="138049"/>
                  </a:lnTo>
                  <a:lnTo>
                    <a:pt x="250610" y="181728"/>
                  </a:lnTo>
                  <a:lnTo>
                    <a:pt x="232335" y="219660"/>
                  </a:lnTo>
                  <a:lnTo>
                    <a:pt x="204478" y="249569"/>
                  </a:lnTo>
                  <a:lnTo>
                    <a:pt x="169165" y="269182"/>
                  </a:lnTo>
                  <a:lnTo>
                    <a:pt x="128524" y="276225"/>
                  </a:lnTo>
                  <a:lnTo>
                    <a:pt x="87896" y="269182"/>
                  </a:lnTo>
                  <a:lnTo>
                    <a:pt x="52614" y="249569"/>
                  </a:lnTo>
                  <a:lnTo>
                    <a:pt x="24794" y="219660"/>
                  </a:lnTo>
                  <a:lnTo>
                    <a:pt x="6551" y="181728"/>
                  </a:lnTo>
                  <a:lnTo>
                    <a:pt x="0" y="138049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790976" y="2047486"/>
              <a:ext cx="329309" cy="367253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6834250" y="2071751"/>
              <a:ext cx="247650" cy="276225"/>
            </a:xfrm>
            <a:custGeom>
              <a:avLst/>
              <a:gdLst/>
              <a:ahLst/>
              <a:cxnLst/>
              <a:rect l="l" t="t" r="r" b="b"/>
              <a:pathLst>
                <a:path w="247650" h="276225">
                  <a:moveTo>
                    <a:pt x="123825" y="0"/>
                  </a:moveTo>
                  <a:lnTo>
                    <a:pt x="75598" y="10836"/>
                  </a:lnTo>
                  <a:lnTo>
                    <a:pt x="36242" y="40401"/>
                  </a:lnTo>
                  <a:lnTo>
                    <a:pt x="9721" y="84278"/>
                  </a:lnTo>
                  <a:lnTo>
                    <a:pt x="0" y="138049"/>
                  </a:lnTo>
                  <a:lnTo>
                    <a:pt x="9721" y="191839"/>
                  </a:lnTo>
                  <a:lnTo>
                    <a:pt x="36242" y="235759"/>
                  </a:lnTo>
                  <a:lnTo>
                    <a:pt x="75598" y="265368"/>
                  </a:lnTo>
                  <a:lnTo>
                    <a:pt x="123825" y="276225"/>
                  </a:lnTo>
                  <a:lnTo>
                    <a:pt x="171997" y="265368"/>
                  </a:lnTo>
                  <a:lnTo>
                    <a:pt x="211359" y="235759"/>
                  </a:lnTo>
                  <a:lnTo>
                    <a:pt x="237910" y="191839"/>
                  </a:lnTo>
                  <a:lnTo>
                    <a:pt x="247650" y="138049"/>
                  </a:lnTo>
                  <a:lnTo>
                    <a:pt x="237910" y="84278"/>
                  </a:lnTo>
                  <a:lnTo>
                    <a:pt x="211359" y="40401"/>
                  </a:lnTo>
                  <a:lnTo>
                    <a:pt x="171997" y="10836"/>
                  </a:lnTo>
                  <a:lnTo>
                    <a:pt x="1238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834250" y="2071751"/>
              <a:ext cx="247650" cy="276225"/>
            </a:xfrm>
            <a:custGeom>
              <a:avLst/>
              <a:gdLst/>
              <a:ahLst/>
              <a:cxnLst/>
              <a:rect l="l" t="t" r="r" b="b"/>
              <a:pathLst>
                <a:path w="247650" h="276225">
                  <a:moveTo>
                    <a:pt x="0" y="138049"/>
                  </a:moveTo>
                  <a:lnTo>
                    <a:pt x="9721" y="84278"/>
                  </a:lnTo>
                  <a:lnTo>
                    <a:pt x="36242" y="40401"/>
                  </a:lnTo>
                  <a:lnTo>
                    <a:pt x="75598" y="10836"/>
                  </a:lnTo>
                  <a:lnTo>
                    <a:pt x="123825" y="0"/>
                  </a:lnTo>
                  <a:lnTo>
                    <a:pt x="171997" y="10836"/>
                  </a:lnTo>
                  <a:lnTo>
                    <a:pt x="211359" y="40401"/>
                  </a:lnTo>
                  <a:lnTo>
                    <a:pt x="237910" y="84278"/>
                  </a:lnTo>
                  <a:lnTo>
                    <a:pt x="247650" y="138049"/>
                  </a:lnTo>
                  <a:lnTo>
                    <a:pt x="237910" y="191839"/>
                  </a:lnTo>
                  <a:lnTo>
                    <a:pt x="211359" y="235759"/>
                  </a:lnTo>
                  <a:lnTo>
                    <a:pt x="171997" y="265368"/>
                  </a:lnTo>
                  <a:lnTo>
                    <a:pt x="123825" y="276225"/>
                  </a:lnTo>
                  <a:lnTo>
                    <a:pt x="75598" y="265368"/>
                  </a:lnTo>
                  <a:lnTo>
                    <a:pt x="36242" y="235759"/>
                  </a:lnTo>
                  <a:lnTo>
                    <a:pt x="9721" y="191839"/>
                  </a:lnTo>
                  <a:lnTo>
                    <a:pt x="0" y="138049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43209" y="2780911"/>
              <a:ext cx="338817" cy="367253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5586475" y="2805175"/>
              <a:ext cx="257175" cy="276225"/>
            </a:xfrm>
            <a:custGeom>
              <a:avLst/>
              <a:gdLst/>
              <a:ahLst/>
              <a:cxnLst/>
              <a:rect l="l" t="t" r="r" b="b"/>
              <a:pathLst>
                <a:path w="257175" h="276225">
                  <a:moveTo>
                    <a:pt x="128524" y="0"/>
                  </a:moveTo>
                  <a:lnTo>
                    <a:pt x="87896" y="7029"/>
                  </a:lnTo>
                  <a:lnTo>
                    <a:pt x="52614" y="26611"/>
                  </a:lnTo>
                  <a:lnTo>
                    <a:pt x="24794" y="56482"/>
                  </a:lnTo>
                  <a:lnTo>
                    <a:pt x="6551" y="94382"/>
                  </a:lnTo>
                  <a:lnTo>
                    <a:pt x="0" y="138049"/>
                  </a:lnTo>
                  <a:lnTo>
                    <a:pt x="6551" y="181728"/>
                  </a:lnTo>
                  <a:lnTo>
                    <a:pt x="24794" y="219660"/>
                  </a:lnTo>
                  <a:lnTo>
                    <a:pt x="52614" y="249569"/>
                  </a:lnTo>
                  <a:lnTo>
                    <a:pt x="87896" y="269182"/>
                  </a:lnTo>
                  <a:lnTo>
                    <a:pt x="128524" y="276225"/>
                  </a:lnTo>
                  <a:lnTo>
                    <a:pt x="169165" y="269182"/>
                  </a:lnTo>
                  <a:lnTo>
                    <a:pt x="204478" y="249569"/>
                  </a:lnTo>
                  <a:lnTo>
                    <a:pt x="232335" y="219660"/>
                  </a:lnTo>
                  <a:lnTo>
                    <a:pt x="250610" y="181728"/>
                  </a:lnTo>
                  <a:lnTo>
                    <a:pt x="257175" y="138049"/>
                  </a:lnTo>
                  <a:lnTo>
                    <a:pt x="250610" y="94382"/>
                  </a:lnTo>
                  <a:lnTo>
                    <a:pt x="232335" y="56482"/>
                  </a:lnTo>
                  <a:lnTo>
                    <a:pt x="204478" y="26611"/>
                  </a:lnTo>
                  <a:lnTo>
                    <a:pt x="169165" y="7029"/>
                  </a:lnTo>
                  <a:lnTo>
                    <a:pt x="1285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586475" y="2805175"/>
              <a:ext cx="257175" cy="276225"/>
            </a:xfrm>
            <a:custGeom>
              <a:avLst/>
              <a:gdLst/>
              <a:ahLst/>
              <a:cxnLst/>
              <a:rect l="l" t="t" r="r" b="b"/>
              <a:pathLst>
                <a:path w="257175" h="276225">
                  <a:moveTo>
                    <a:pt x="0" y="138049"/>
                  </a:moveTo>
                  <a:lnTo>
                    <a:pt x="6551" y="94382"/>
                  </a:lnTo>
                  <a:lnTo>
                    <a:pt x="24794" y="56482"/>
                  </a:lnTo>
                  <a:lnTo>
                    <a:pt x="52614" y="26611"/>
                  </a:lnTo>
                  <a:lnTo>
                    <a:pt x="87896" y="7029"/>
                  </a:lnTo>
                  <a:lnTo>
                    <a:pt x="128524" y="0"/>
                  </a:lnTo>
                  <a:lnTo>
                    <a:pt x="169165" y="7029"/>
                  </a:lnTo>
                  <a:lnTo>
                    <a:pt x="204478" y="26611"/>
                  </a:lnTo>
                  <a:lnTo>
                    <a:pt x="232335" y="56482"/>
                  </a:lnTo>
                  <a:lnTo>
                    <a:pt x="250610" y="94382"/>
                  </a:lnTo>
                  <a:lnTo>
                    <a:pt x="257175" y="138049"/>
                  </a:lnTo>
                  <a:lnTo>
                    <a:pt x="250610" y="181728"/>
                  </a:lnTo>
                  <a:lnTo>
                    <a:pt x="232335" y="219660"/>
                  </a:lnTo>
                  <a:lnTo>
                    <a:pt x="204478" y="249569"/>
                  </a:lnTo>
                  <a:lnTo>
                    <a:pt x="169165" y="269182"/>
                  </a:lnTo>
                  <a:lnTo>
                    <a:pt x="128524" y="276225"/>
                  </a:lnTo>
                  <a:lnTo>
                    <a:pt x="87896" y="269182"/>
                  </a:lnTo>
                  <a:lnTo>
                    <a:pt x="52614" y="249569"/>
                  </a:lnTo>
                  <a:lnTo>
                    <a:pt x="24794" y="219660"/>
                  </a:lnTo>
                  <a:lnTo>
                    <a:pt x="6551" y="181728"/>
                  </a:lnTo>
                  <a:lnTo>
                    <a:pt x="0" y="138049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24284" y="2780911"/>
              <a:ext cx="338817" cy="367253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6567550" y="2805175"/>
              <a:ext cx="257175" cy="276225"/>
            </a:xfrm>
            <a:custGeom>
              <a:avLst/>
              <a:gdLst/>
              <a:ahLst/>
              <a:cxnLst/>
              <a:rect l="l" t="t" r="r" b="b"/>
              <a:pathLst>
                <a:path w="257175" h="276225">
                  <a:moveTo>
                    <a:pt x="128524" y="0"/>
                  </a:moveTo>
                  <a:lnTo>
                    <a:pt x="87896" y="7029"/>
                  </a:lnTo>
                  <a:lnTo>
                    <a:pt x="52614" y="26611"/>
                  </a:lnTo>
                  <a:lnTo>
                    <a:pt x="24794" y="56482"/>
                  </a:lnTo>
                  <a:lnTo>
                    <a:pt x="6551" y="94382"/>
                  </a:lnTo>
                  <a:lnTo>
                    <a:pt x="0" y="138049"/>
                  </a:lnTo>
                  <a:lnTo>
                    <a:pt x="6551" y="181728"/>
                  </a:lnTo>
                  <a:lnTo>
                    <a:pt x="24794" y="219660"/>
                  </a:lnTo>
                  <a:lnTo>
                    <a:pt x="52614" y="249569"/>
                  </a:lnTo>
                  <a:lnTo>
                    <a:pt x="87896" y="269182"/>
                  </a:lnTo>
                  <a:lnTo>
                    <a:pt x="128524" y="276225"/>
                  </a:lnTo>
                  <a:lnTo>
                    <a:pt x="169165" y="269182"/>
                  </a:lnTo>
                  <a:lnTo>
                    <a:pt x="204478" y="249569"/>
                  </a:lnTo>
                  <a:lnTo>
                    <a:pt x="232335" y="219660"/>
                  </a:lnTo>
                  <a:lnTo>
                    <a:pt x="250610" y="181728"/>
                  </a:lnTo>
                  <a:lnTo>
                    <a:pt x="257175" y="138049"/>
                  </a:lnTo>
                  <a:lnTo>
                    <a:pt x="250610" y="94382"/>
                  </a:lnTo>
                  <a:lnTo>
                    <a:pt x="232335" y="56482"/>
                  </a:lnTo>
                  <a:lnTo>
                    <a:pt x="204478" y="26611"/>
                  </a:lnTo>
                  <a:lnTo>
                    <a:pt x="169165" y="7029"/>
                  </a:lnTo>
                  <a:lnTo>
                    <a:pt x="1285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567550" y="2805175"/>
              <a:ext cx="257175" cy="276225"/>
            </a:xfrm>
            <a:custGeom>
              <a:avLst/>
              <a:gdLst/>
              <a:ahLst/>
              <a:cxnLst/>
              <a:rect l="l" t="t" r="r" b="b"/>
              <a:pathLst>
                <a:path w="257175" h="276225">
                  <a:moveTo>
                    <a:pt x="0" y="138049"/>
                  </a:moveTo>
                  <a:lnTo>
                    <a:pt x="6551" y="94382"/>
                  </a:lnTo>
                  <a:lnTo>
                    <a:pt x="24794" y="56482"/>
                  </a:lnTo>
                  <a:lnTo>
                    <a:pt x="52614" y="26611"/>
                  </a:lnTo>
                  <a:lnTo>
                    <a:pt x="87896" y="7029"/>
                  </a:lnTo>
                  <a:lnTo>
                    <a:pt x="128524" y="0"/>
                  </a:lnTo>
                  <a:lnTo>
                    <a:pt x="169165" y="7029"/>
                  </a:lnTo>
                  <a:lnTo>
                    <a:pt x="204478" y="26611"/>
                  </a:lnTo>
                  <a:lnTo>
                    <a:pt x="232335" y="56482"/>
                  </a:lnTo>
                  <a:lnTo>
                    <a:pt x="250610" y="94382"/>
                  </a:lnTo>
                  <a:lnTo>
                    <a:pt x="257175" y="138049"/>
                  </a:lnTo>
                  <a:lnTo>
                    <a:pt x="250610" y="181728"/>
                  </a:lnTo>
                  <a:lnTo>
                    <a:pt x="232335" y="219660"/>
                  </a:lnTo>
                  <a:lnTo>
                    <a:pt x="204478" y="249569"/>
                  </a:lnTo>
                  <a:lnTo>
                    <a:pt x="169165" y="269182"/>
                  </a:lnTo>
                  <a:lnTo>
                    <a:pt x="128524" y="276225"/>
                  </a:lnTo>
                  <a:lnTo>
                    <a:pt x="87896" y="269182"/>
                  </a:lnTo>
                  <a:lnTo>
                    <a:pt x="52614" y="249569"/>
                  </a:lnTo>
                  <a:lnTo>
                    <a:pt x="24794" y="219660"/>
                  </a:lnTo>
                  <a:lnTo>
                    <a:pt x="6551" y="181728"/>
                  </a:lnTo>
                  <a:lnTo>
                    <a:pt x="0" y="138049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43209" y="3552500"/>
              <a:ext cx="338817" cy="367253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5586475" y="3576700"/>
              <a:ext cx="257175" cy="276225"/>
            </a:xfrm>
            <a:custGeom>
              <a:avLst/>
              <a:gdLst/>
              <a:ahLst/>
              <a:cxnLst/>
              <a:rect l="l" t="t" r="r" b="b"/>
              <a:pathLst>
                <a:path w="257175" h="276225">
                  <a:moveTo>
                    <a:pt x="128524" y="0"/>
                  </a:moveTo>
                  <a:lnTo>
                    <a:pt x="87896" y="7029"/>
                  </a:lnTo>
                  <a:lnTo>
                    <a:pt x="52614" y="26611"/>
                  </a:lnTo>
                  <a:lnTo>
                    <a:pt x="24794" y="56482"/>
                  </a:lnTo>
                  <a:lnTo>
                    <a:pt x="6551" y="94382"/>
                  </a:lnTo>
                  <a:lnTo>
                    <a:pt x="0" y="138049"/>
                  </a:lnTo>
                  <a:lnTo>
                    <a:pt x="6551" y="181728"/>
                  </a:lnTo>
                  <a:lnTo>
                    <a:pt x="24794" y="219660"/>
                  </a:lnTo>
                  <a:lnTo>
                    <a:pt x="52614" y="249569"/>
                  </a:lnTo>
                  <a:lnTo>
                    <a:pt x="87896" y="269182"/>
                  </a:lnTo>
                  <a:lnTo>
                    <a:pt x="128524" y="276225"/>
                  </a:lnTo>
                  <a:lnTo>
                    <a:pt x="169165" y="269182"/>
                  </a:lnTo>
                  <a:lnTo>
                    <a:pt x="204478" y="249569"/>
                  </a:lnTo>
                  <a:lnTo>
                    <a:pt x="232335" y="219660"/>
                  </a:lnTo>
                  <a:lnTo>
                    <a:pt x="250610" y="181728"/>
                  </a:lnTo>
                  <a:lnTo>
                    <a:pt x="257175" y="138049"/>
                  </a:lnTo>
                  <a:lnTo>
                    <a:pt x="250610" y="94382"/>
                  </a:lnTo>
                  <a:lnTo>
                    <a:pt x="232335" y="56482"/>
                  </a:lnTo>
                  <a:lnTo>
                    <a:pt x="204478" y="26611"/>
                  </a:lnTo>
                  <a:lnTo>
                    <a:pt x="169165" y="7029"/>
                  </a:lnTo>
                  <a:lnTo>
                    <a:pt x="1285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586475" y="3576700"/>
              <a:ext cx="257175" cy="276225"/>
            </a:xfrm>
            <a:custGeom>
              <a:avLst/>
              <a:gdLst/>
              <a:ahLst/>
              <a:cxnLst/>
              <a:rect l="l" t="t" r="r" b="b"/>
              <a:pathLst>
                <a:path w="257175" h="276225">
                  <a:moveTo>
                    <a:pt x="0" y="138049"/>
                  </a:moveTo>
                  <a:lnTo>
                    <a:pt x="6551" y="94382"/>
                  </a:lnTo>
                  <a:lnTo>
                    <a:pt x="24794" y="56482"/>
                  </a:lnTo>
                  <a:lnTo>
                    <a:pt x="52614" y="26611"/>
                  </a:lnTo>
                  <a:lnTo>
                    <a:pt x="87896" y="7029"/>
                  </a:lnTo>
                  <a:lnTo>
                    <a:pt x="128524" y="0"/>
                  </a:lnTo>
                  <a:lnTo>
                    <a:pt x="169165" y="7029"/>
                  </a:lnTo>
                  <a:lnTo>
                    <a:pt x="204478" y="26611"/>
                  </a:lnTo>
                  <a:lnTo>
                    <a:pt x="232335" y="56482"/>
                  </a:lnTo>
                  <a:lnTo>
                    <a:pt x="250610" y="94382"/>
                  </a:lnTo>
                  <a:lnTo>
                    <a:pt x="257175" y="138049"/>
                  </a:lnTo>
                  <a:lnTo>
                    <a:pt x="250610" y="181728"/>
                  </a:lnTo>
                  <a:lnTo>
                    <a:pt x="232335" y="219660"/>
                  </a:lnTo>
                  <a:lnTo>
                    <a:pt x="204478" y="249569"/>
                  </a:lnTo>
                  <a:lnTo>
                    <a:pt x="169165" y="269182"/>
                  </a:lnTo>
                  <a:lnTo>
                    <a:pt x="128524" y="276225"/>
                  </a:lnTo>
                  <a:lnTo>
                    <a:pt x="87896" y="269182"/>
                  </a:lnTo>
                  <a:lnTo>
                    <a:pt x="52614" y="249569"/>
                  </a:lnTo>
                  <a:lnTo>
                    <a:pt x="24794" y="219660"/>
                  </a:lnTo>
                  <a:lnTo>
                    <a:pt x="6551" y="181728"/>
                  </a:lnTo>
                  <a:lnTo>
                    <a:pt x="0" y="138049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00749" y="1362011"/>
              <a:ext cx="138112" cy="319087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6072250" y="1395476"/>
              <a:ext cx="1905" cy="201295"/>
            </a:xfrm>
            <a:custGeom>
              <a:avLst/>
              <a:gdLst/>
              <a:ahLst/>
              <a:cxnLst/>
              <a:rect l="l" t="t" r="r" b="b"/>
              <a:pathLst>
                <a:path w="1904" h="201294">
                  <a:moveTo>
                    <a:pt x="0" y="0"/>
                  </a:moveTo>
                  <a:lnTo>
                    <a:pt x="1524" y="200913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81649" y="1647761"/>
              <a:ext cx="433387" cy="166687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5643625" y="1700276"/>
              <a:ext cx="302895" cy="25400"/>
            </a:xfrm>
            <a:custGeom>
              <a:avLst/>
              <a:gdLst/>
              <a:ahLst/>
              <a:cxnLst/>
              <a:rect l="l" t="t" r="r" b="b"/>
              <a:pathLst>
                <a:path w="302895" h="25400">
                  <a:moveTo>
                    <a:pt x="0" y="0"/>
                  </a:moveTo>
                  <a:lnTo>
                    <a:pt x="302895" y="25273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134099" y="1647761"/>
              <a:ext cx="423862" cy="166687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6196075" y="1700276"/>
              <a:ext cx="301625" cy="25400"/>
            </a:xfrm>
            <a:custGeom>
              <a:avLst/>
              <a:gdLst/>
              <a:ahLst/>
              <a:cxnLst/>
              <a:rect l="l" t="t" r="r" b="b"/>
              <a:pathLst>
                <a:path w="301625" h="25400">
                  <a:moveTo>
                    <a:pt x="0" y="25273"/>
                  </a:moveTo>
                  <a:lnTo>
                    <a:pt x="301244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172074" y="1762061"/>
              <a:ext cx="319087" cy="557212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5243575" y="1805051"/>
              <a:ext cx="182880" cy="426720"/>
            </a:xfrm>
            <a:custGeom>
              <a:avLst/>
              <a:gdLst/>
              <a:ahLst/>
              <a:cxnLst/>
              <a:rect l="l" t="t" r="r" b="b"/>
              <a:pathLst>
                <a:path w="182879" h="426719">
                  <a:moveTo>
                    <a:pt x="182372" y="0"/>
                  </a:moveTo>
                  <a:lnTo>
                    <a:pt x="0" y="426466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686549" y="1685861"/>
              <a:ext cx="338137" cy="471487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6758050" y="1728851"/>
              <a:ext cx="204470" cy="345440"/>
            </a:xfrm>
            <a:custGeom>
              <a:avLst/>
              <a:gdLst/>
              <a:ahLst/>
              <a:cxnLst/>
              <a:rect l="l" t="t" r="r" b="b"/>
              <a:pathLst>
                <a:path w="204470" h="345439">
                  <a:moveTo>
                    <a:pt x="0" y="0"/>
                  </a:moveTo>
                  <a:lnTo>
                    <a:pt x="204343" y="345313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000749" y="1819211"/>
              <a:ext cx="176212" cy="442912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6072250" y="1871726"/>
              <a:ext cx="37465" cy="320675"/>
            </a:xfrm>
            <a:custGeom>
              <a:avLst/>
              <a:gdLst/>
              <a:ahLst/>
              <a:cxnLst/>
              <a:rect l="l" t="t" r="r" b="b"/>
              <a:pathLst>
                <a:path w="37464" h="320675">
                  <a:moveTo>
                    <a:pt x="37084" y="320548"/>
                  </a:moveTo>
                  <a:lnTo>
                    <a:pt x="0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8" name="object 5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648324" y="2371661"/>
              <a:ext cx="433387" cy="519112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5719825" y="2424176"/>
              <a:ext cx="301625" cy="382270"/>
            </a:xfrm>
            <a:custGeom>
              <a:avLst/>
              <a:gdLst/>
              <a:ahLst/>
              <a:cxnLst/>
              <a:rect l="l" t="t" r="r" b="b"/>
              <a:pathLst>
                <a:path w="301625" h="382269">
                  <a:moveTo>
                    <a:pt x="0" y="382143"/>
                  </a:moveTo>
                  <a:lnTo>
                    <a:pt x="301244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0" name="object 6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143624" y="2371661"/>
              <a:ext cx="528637" cy="566737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6205600" y="2414651"/>
              <a:ext cx="403860" cy="435609"/>
            </a:xfrm>
            <a:custGeom>
              <a:avLst/>
              <a:gdLst/>
              <a:ahLst/>
              <a:cxnLst/>
              <a:rect l="l" t="t" r="r" b="b"/>
              <a:pathLst>
                <a:path w="403859" h="435610">
                  <a:moveTo>
                    <a:pt x="0" y="0"/>
                  </a:moveTo>
                  <a:lnTo>
                    <a:pt x="403605" y="435101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2" name="object 6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648324" y="3048063"/>
              <a:ext cx="138112" cy="614362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5719825" y="3081400"/>
              <a:ext cx="0" cy="496570"/>
            </a:xfrm>
            <a:custGeom>
              <a:avLst/>
              <a:gdLst/>
              <a:ahLst/>
              <a:cxnLst/>
              <a:rect l="l" t="t" r="r" b="b"/>
              <a:pathLst>
                <a:path h="496570">
                  <a:moveTo>
                    <a:pt x="0" y="0"/>
                  </a:moveTo>
                  <a:lnTo>
                    <a:pt x="0" y="496062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657974" y="3048063"/>
              <a:ext cx="157162" cy="614362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6729475" y="3081400"/>
              <a:ext cx="25400" cy="496570"/>
            </a:xfrm>
            <a:custGeom>
              <a:avLst/>
              <a:gdLst/>
              <a:ahLst/>
              <a:cxnLst/>
              <a:rect l="l" t="t" r="r" b="b"/>
              <a:pathLst>
                <a:path w="25400" h="496570">
                  <a:moveTo>
                    <a:pt x="0" y="0"/>
                  </a:moveTo>
                  <a:lnTo>
                    <a:pt x="25146" y="496062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6" name="object 66"/>
          <p:cNvGrpSpPr/>
          <p:nvPr/>
        </p:nvGrpSpPr>
        <p:grpSpPr>
          <a:xfrm>
            <a:off x="1943100" y="933386"/>
            <a:ext cx="1643380" cy="2710180"/>
            <a:chOff x="1943100" y="933386"/>
            <a:chExt cx="1643380" cy="2710180"/>
          </a:xfrm>
        </p:grpSpPr>
        <p:pic>
          <p:nvPicPr>
            <p:cNvPr id="67" name="object 6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428696" y="1466665"/>
              <a:ext cx="700444" cy="1071764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2462276" y="1560957"/>
              <a:ext cx="638175" cy="920750"/>
            </a:xfrm>
            <a:custGeom>
              <a:avLst/>
              <a:gdLst/>
              <a:ahLst/>
              <a:cxnLst/>
              <a:rect l="l" t="t" r="r" b="b"/>
              <a:pathLst>
                <a:path w="638175" h="920750">
                  <a:moveTo>
                    <a:pt x="638175" y="0"/>
                  </a:moveTo>
                  <a:lnTo>
                    <a:pt x="605738" y="35083"/>
                  </a:lnTo>
                  <a:lnTo>
                    <a:pt x="568065" y="49892"/>
                  </a:lnTo>
                  <a:lnTo>
                    <a:pt x="518642" y="62241"/>
                  </a:lnTo>
                  <a:lnTo>
                    <a:pt x="459384" y="71653"/>
                  </a:lnTo>
                  <a:lnTo>
                    <a:pt x="392206" y="77650"/>
                  </a:lnTo>
                  <a:lnTo>
                    <a:pt x="319024" y="79755"/>
                  </a:lnTo>
                  <a:lnTo>
                    <a:pt x="245848" y="77650"/>
                  </a:lnTo>
                  <a:lnTo>
                    <a:pt x="178688" y="71653"/>
                  </a:lnTo>
                  <a:lnTo>
                    <a:pt x="119455" y="62241"/>
                  </a:lnTo>
                  <a:lnTo>
                    <a:pt x="70059" y="49892"/>
                  </a:lnTo>
                  <a:lnTo>
                    <a:pt x="32411" y="35083"/>
                  </a:lnTo>
                  <a:lnTo>
                    <a:pt x="0" y="0"/>
                  </a:lnTo>
                  <a:lnTo>
                    <a:pt x="0" y="840485"/>
                  </a:lnTo>
                  <a:lnTo>
                    <a:pt x="32411" y="875595"/>
                  </a:lnTo>
                  <a:lnTo>
                    <a:pt x="70059" y="890428"/>
                  </a:lnTo>
                  <a:lnTo>
                    <a:pt x="119455" y="902804"/>
                  </a:lnTo>
                  <a:lnTo>
                    <a:pt x="178688" y="912240"/>
                  </a:lnTo>
                  <a:lnTo>
                    <a:pt x="245848" y="918256"/>
                  </a:lnTo>
                  <a:lnTo>
                    <a:pt x="319024" y="920368"/>
                  </a:lnTo>
                  <a:lnTo>
                    <a:pt x="392206" y="918256"/>
                  </a:lnTo>
                  <a:lnTo>
                    <a:pt x="459384" y="912240"/>
                  </a:lnTo>
                  <a:lnTo>
                    <a:pt x="518642" y="902804"/>
                  </a:lnTo>
                  <a:lnTo>
                    <a:pt x="568065" y="890428"/>
                  </a:lnTo>
                  <a:lnTo>
                    <a:pt x="605738" y="875595"/>
                  </a:lnTo>
                  <a:lnTo>
                    <a:pt x="638175" y="840485"/>
                  </a:lnTo>
                  <a:lnTo>
                    <a:pt x="638175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2462276" y="1481201"/>
              <a:ext cx="638175" cy="160020"/>
            </a:xfrm>
            <a:custGeom>
              <a:avLst/>
              <a:gdLst/>
              <a:ahLst/>
              <a:cxnLst/>
              <a:rect l="l" t="t" r="r" b="b"/>
              <a:pathLst>
                <a:path w="638175" h="160019">
                  <a:moveTo>
                    <a:pt x="319024" y="0"/>
                  </a:moveTo>
                  <a:lnTo>
                    <a:pt x="245848" y="2105"/>
                  </a:lnTo>
                  <a:lnTo>
                    <a:pt x="178688" y="8102"/>
                  </a:lnTo>
                  <a:lnTo>
                    <a:pt x="119455" y="17514"/>
                  </a:lnTo>
                  <a:lnTo>
                    <a:pt x="70059" y="29863"/>
                  </a:lnTo>
                  <a:lnTo>
                    <a:pt x="32411" y="44672"/>
                  </a:lnTo>
                  <a:lnTo>
                    <a:pt x="0" y="79756"/>
                  </a:lnTo>
                  <a:lnTo>
                    <a:pt x="8421" y="98049"/>
                  </a:lnTo>
                  <a:lnTo>
                    <a:pt x="70059" y="129648"/>
                  </a:lnTo>
                  <a:lnTo>
                    <a:pt x="119455" y="141997"/>
                  </a:lnTo>
                  <a:lnTo>
                    <a:pt x="178688" y="151409"/>
                  </a:lnTo>
                  <a:lnTo>
                    <a:pt x="245848" y="157406"/>
                  </a:lnTo>
                  <a:lnTo>
                    <a:pt x="319024" y="159512"/>
                  </a:lnTo>
                  <a:lnTo>
                    <a:pt x="392206" y="157406"/>
                  </a:lnTo>
                  <a:lnTo>
                    <a:pt x="459384" y="151409"/>
                  </a:lnTo>
                  <a:lnTo>
                    <a:pt x="518642" y="141997"/>
                  </a:lnTo>
                  <a:lnTo>
                    <a:pt x="568065" y="129648"/>
                  </a:lnTo>
                  <a:lnTo>
                    <a:pt x="605738" y="114839"/>
                  </a:lnTo>
                  <a:lnTo>
                    <a:pt x="638175" y="79756"/>
                  </a:lnTo>
                  <a:lnTo>
                    <a:pt x="629746" y="61462"/>
                  </a:lnTo>
                  <a:lnTo>
                    <a:pt x="568065" y="29863"/>
                  </a:lnTo>
                  <a:lnTo>
                    <a:pt x="518642" y="17514"/>
                  </a:lnTo>
                  <a:lnTo>
                    <a:pt x="459384" y="8102"/>
                  </a:lnTo>
                  <a:lnTo>
                    <a:pt x="392206" y="2105"/>
                  </a:lnTo>
                  <a:lnTo>
                    <a:pt x="319024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2462276" y="1481201"/>
              <a:ext cx="638175" cy="1000125"/>
            </a:xfrm>
            <a:custGeom>
              <a:avLst/>
              <a:gdLst/>
              <a:ahLst/>
              <a:cxnLst/>
              <a:rect l="l" t="t" r="r" b="b"/>
              <a:pathLst>
                <a:path w="638175" h="1000125">
                  <a:moveTo>
                    <a:pt x="638175" y="79756"/>
                  </a:moveTo>
                  <a:lnTo>
                    <a:pt x="605738" y="114839"/>
                  </a:lnTo>
                  <a:lnTo>
                    <a:pt x="568065" y="129648"/>
                  </a:lnTo>
                  <a:lnTo>
                    <a:pt x="518642" y="141997"/>
                  </a:lnTo>
                  <a:lnTo>
                    <a:pt x="459384" y="151409"/>
                  </a:lnTo>
                  <a:lnTo>
                    <a:pt x="392206" y="157406"/>
                  </a:lnTo>
                  <a:lnTo>
                    <a:pt x="319024" y="159512"/>
                  </a:lnTo>
                  <a:lnTo>
                    <a:pt x="245848" y="157406"/>
                  </a:lnTo>
                  <a:lnTo>
                    <a:pt x="178688" y="151409"/>
                  </a:lnTo>
                  <a:lnTo>
                    <a:pt x="119455" y="141997"/>
                  </a:lnTo>
                  <a:lnTo>
                    <a:pt x="70059" y="129648"/>
                  </a:lnTo>
                  <a:lnTo>
                    <a:pt x="32411" y="114839"/>
                  </a:lnTo>
                  <a:lnTo>
                    <a:pt x="0" y="79756"/>
                  </a:lnTo>
                  <a:lnTo>
                    <a:pt x="8421" y="61462"/>
                  </a:lnTo>
                  <a:lnTo>
                    <a:pt x="70059" y="29863"/>
                  </a:lnTo>
                  <a:lnTo>
                    <a:pt x="119455" y="17514"/>
                  </a:lnTo>
                  <a:lnTo>
                    <a:pt x="178688" y="8102"/>
                  </a:lnTo>
                  <a:lnTo>
                    <a:pt x="245848" y="2105"/>
                  </a:lnTo>
                  <a:lnTo>
                    <a:pt x="319024" y="0"/>
                  </a:lnTo>
                  <a:lnTo>
                    <a:pt x="392206" y="2105"/>
                  </a:lnTo>
                  <a:lnTo>
                    <a:pt x="459384" y="8102"/>
                  </a:lnTo>
                  <a:lnTo>
                    <a:pt x="518642" y="17514"/>
                  </a:lnTo>
                  <a:lnTo>
                    <a:pt x="568065" y="29863"/>
                  </a:lnTo>
                  <a:lnTo>
                    <a:pt x="605738" y="44672"/>
                  </a:lnTo>
                  <a:lnTo>
                    <a:pt x="638175" y="79756"/>
                  </a:lnTo>
                  <a:lnTo>
                    <a:pt x="638175" y="920242"/>
                  </a:lnTo>
                  <a:lnTo>
                    <a:pt x="605738" y="955351"/>
                  </a:lnTo>
                  <a:lnTo>
                    <a:pt x="568065" y="970184"/>
                  </a:lnTo>
                  <a:lnTo>
                    <a:pt x="518642" y="982560"/>
                  </a:lnTo>
                  <a:lnTo>
                    <a:pt x="459384" y="991997"/>
                  </a:lnTo>
                  <a:lnTo>
                    <a:pt x="392206" y="998012"/>
                  </a:lnTo>
                  <a:lnTo>
                    <a:pt x="319024" y="1000125"/>
                  </a:lnTo>
                  <a:lnTo>
                    <a:pt x="245848" y="998012"/>
                  </a:lnTo>
                  <a:lnTo>
                    <a:pt x="178688" y="991996"/>
                  </a:lnTo>
                  <a:lnTo>
                    <a:pt x="119455" y="982560"/>
                  </a:lnTo>
                  <a:lnTo>
                    <a:pt x="70059" y="970184"/>
                  </a:lnTo>
                  <a:lnTo>
                    <a:pt x="32411" y="955351"/>
                  </a:lnTo>
                  <a:lnTo>
                    <a:pt x="0" y="920242"/>
                  </a:lnTo>
                  <a:lnTo>
                    <a:pt x="0" y="79756"/>
                  </a:lnTo>
                </a:path>
              </a:pathLst>
            </a:custGeom>
            <a:ln w="952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1" name="object 7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400300" y="2457513"/>
              <a:ext cx="319087" cy="1185862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2462276" y="2525268"/>
              <a:ext cx="200025" cy="1042035"/>
            </a:xfrm>
            <a:custGeom>
              <a:avLst/>
              <a:gdLst/>
              <a:ahLst/>
              <a:cxnLst/>
              <a:rect l="l" t="t" r="r" b="b"/>
              <a:pathLst>
                <a:path w="200025" h="1042035">
                  <a:moveTo>
                    <a:pt x="200025" y="0"/>
                  </a:moveTo>
                  <a:lnTo>
                    <a:pt x="192156" y="9749"/>
                  </a:lnTo>
                  <a:lnTo>
                    <a:pt x="170703" y="17700"/>
                  </a:lnTo>
                  <a:lnTo>
                    <a:pt x="138892" y="23056"/>
                  </a:lnTo>
                  <a:lnTo>
                    <a:pt x="99949" y="25018"/>
                  </a:lnTo>
                  <a:lnTo>
                    <a:pt x="61025" y="23056"/>
                  </a:lnTo>
                  <a:lnTo>
                    <a:pt x="29257" y="17700"/>
                  </a:lnTo>
                  <a:lnTo>
                    <a:pt x="7848" y="9749"/>
                  </a:lnTo>
                  <a:lnTo>
                    <a:pt x="0" y="0"/>
                  </a:lnTo>
                  <a:lnTo>
                    <a:pt x="0" y="1016888"/>
                  </a:lnTo>
                  <a:lnTo>
                    <a:pt x="7848" y="1026584"/>
                  </a:lnTo>
                  <a:lnTo>
                    <a:pt x="29257" y="1034541"/>
                  </a:lnTo>
                  <a:lnTo>
                    <a:pt x="61025" y="1039927"/>
                  </a:lnTo>
                  <a:lnTo>
                    <a:pt x="99949" y="1041907"/>
                  </a:lnTo>
                  <a:lnTo>
                    <a:pt x="138892" y="1039927"/>
                  </a:lnTo>
                  <a:lnTo>
                    <a:pt x="170703" y="1034541"/>
                  </a:lnTo>
                  <a:lnTo>
                    <a:pt x="192156" y="1026584"/>
                  </a:lnTo>
                  <a:lnTo>
                    <a:pt x="200025" y="1016888"/>
                  </a:lnTo>
                  <a:lnTo>
                    <a:pt x="200025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2462276" y="2500376"/>
              <a:ext cx="200025" cy="50165"/>
            </a:xfrm>
            <a:custGeom>
              <a:avLst/>
              <a:gdLst/>
              <a:ahLst/>
              <a:cxnLst/>
              <a:rect l="l" t="t" r="r" b="b"/>
              <a:pathLst>
                <a:path w="200025" h="50164">
                  <a:moveTo>
                    <a:pt x="99949" y="0"/>
                  </a:moveTo>
                  <a:lnTo>
                    <a:pt x="61025" y="1960"/>
                  </a:lnTo>
                  <a:lnTo>
                    <a:pt x="29257" y="7302"/>
                  </a:lnTo>
                  <a:lnTo>
                    <a:pt x="7848" y="15216"/>
                  </a:lnTo>
                  <a:lnTo>
                    <a:pt x="0" y="24892"/>
                  </a:lnTo>
                  <a:lnTo>
                    <a:pt x="7848" y="34641"/>
                  </a:lnTo>
                  <a:lnTo>
                    <a:pt x="29257" y="42592"/>
                  </a:lnTo>
                  <a:lnTo>
                    <a:pt x="61025" y="47948"/>
                  </a:lnTo>
                  <a:lnTo>
                    <a:pt x="99949" y="49911"/>
                  </a:lnTo>
                  <a:lnTo>
                    <a:pt x="138892" y="47948"/>
                  </a:lnTo>
                  <a:lnTo>
                    <a:pt x="170703" y="42592"/>
                  </a:lnTo>
                  <a:lnTo>
                    <a:pt x="192156" y="34641"/>
                  </a:lnTo>
                  <a:lnTo>
                    <a:pt x="200025" y="24892"/>
                  </a:lnTo>
                  <a:lnTo>
                    <a:pt x="192156" y="15216"/>
                  </a:lnTo>
                  <a:lnTo>
                    <a:pt x="170703" y="7302"/>
                  </a:lnTo>
                  <a:lnTo>
                    <a:pt x="138892" y="1960"/>
                  </a:lnTo>
                  <a:lnTo>
                    <a:pt x="99949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2462276" y="2500376"/>
              <a:ext cx="200025" cy="1066800"/>
            </a:xfrm>
            <a:custGeom>
              <a:avLst/>
              <a:gdLst/>
              <a:ahLst/>
              <a:cxnLst/>
              <a:rect l="l" t="t" r="r" b="b"/>
              <a:pathLst>
                <a:path w="200025" h="1066800">
                  <a:moveTo>
                    <a:pt x="200025" y="24892"/>
                  </a:moveTo>
                  <a:lnTo>
                    <a:pt x="138892" y="47948"/>
                  </a:lnTo>
                  <a:lnTo>
                    <a:pt x="99949" y="49911"/>
                  </a:lnTo>
                  <a:lnTo>
                    <a:pt x="61025" y="47948"/>
                  </a:lnTo>
                  <a:lnTo>
                    <a:pt x="7848" y="34641"/>
                  </a:lnTo>
                  <a:lnTo>
                    <a:pt x="0" y="24892"/>
                  </a:lnTo>
                  <a:lnTo>
                    <a:pt x="7848" y="15216"/>
                  </a:lnTo>
                  <a:lnTo>
                    <a:pt x="29257" y="7302"/>
                  </a:lnTo>
                  <a:lnTo>
                    <a:pt x="61025" y="1960"/>
                  </a:lnTo>
                  <a:lnTo>
                    <a:pt x="99949" y="0"/>
                  </a:lnTo>
                  <a:lnTo>
                    <a:pt x="138892" y="1960"/>
                  </a:lnTo>
                  <a:lnTo>
                    <a:pt x="170703" y="7302"/>
                  </a:lnTo>
                  <a:lnTo>
                    <a:pt x="192156" y="15216"/>
                  </a:lnTo>
                  <a:lnTo>
                    <a:pt x="200025" y="24892"/>
                  </a:lnTo>
                  <a:lnTo>
                    <a:pt x="200025" y="1041781"/>
                  </a:lnTo>
                  <a:lnTo>
                    <a:pt x="192156" y="1051476"/>
                  </a:lnTo>
                  <a:lnTo>
                    <a:pt x="170703" y="1059434"/>
                  </a:lnTo>
                  <a:lnTo>
                    <a:pt x="138892" y="1064819"/>
                  </a:lnTo>
                  <a:lnTo>
                    <a:pt x="99949" y="1066800"/>
                  </a:lnTo>
                  <a:lnTo>
                    <a:pt x="61025" y="1064819"/>
                  </a:lnTo>
                  <a:lnTo>
                    <a:pt x="29257" y="1059434"/>
                  </a:lnTo>
                  <a:lnTo>
                    <a:pt x="7848" y="1051476"/>
                  </a:lnTo>
                  <a:lnTo>
                    <a:pt x="0" y="1041781"/>
                  </a:lnTo>
                  <a:lnTo>
                    <a:pt x="0" y="24892"/>
                  </a:lnTo>
                </a:path>
              </a:pathLst>
            </a:custGeom>
            <a:ln w="952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5" name="object 7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828925" y="2457513"/>
              <a:ext cx="319087" cy="1185862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2890900" y="2525268"/>
              <a:ext cx="200025" cy="1042035"/>
            </a:xfrm>
            <a:custGeom>
              <a:avLst/>
              <a:gdLst/>
              <a:ahLst/>
              <a:cxnLst/>
              <a:rect l="l" t="t" r="r" b="b"/>
              <a:pathLst>
                <a:path w="200025" h="1042035">
                  <a:moveTo>
                    <a:pt x="200025" y="0"/>
                  </a:moveTo>
                  <a:lnTo>
                    <a:pt x="192156" y="9749"/>
                  </a:lnTo>
                  <a:lnTo>
                    <a:pt x="170703" y="17700"/>
                  </a:lnTo>
                  <a:lnTo>
                    <a:pt x="138892" y="23056"/>
                  </a:lnTo>
                  <a:lnTo>
                    <a:pt x="99949" y="25018"/>
                  </a:lnTo>
                  <a:lnTo>
                    <a:pt x="61025" y="23056"/>
                  </a:lnTo>
                  <a:lnTo>
                    <a:pt x="29257" y="17700"/>
                  </a:lnTo>
                  <a:lnTo>
                    <a:pt x="7848" y="9749"/>
                  </a:lnTo>
                  <a:lnTo>
                    <a:pt x="0" y="0"/>
                  </a:lnTo>
                  <a:lnTo>
                    <a:pt x="0" y="1016888"/>
                  </a:lnTo>
                  <a:lnTo>
                    <a:pt x="7848" y="1026584"/>
                  </a:lnTo>
                  <a:lnTo>
                    <a:pt x="29257" y="1034541"/>
                  </a:lnTo>
                  <a:lnTo>
                    <a:pt x="61025" y="1039927"/>
                  </a:lnTo>
                  <a:lnTo>
                    <a:pt x="99949" y="1041907"/>
                  </a:lnTo>
                  <a:lnTo>
                    <a:pt x="138892" y="1039927"/>
                  </a:lnTo>
                  <a:lnTo>
                    <a:pt x="170703" y="1034541"/>
                  </a:lnTo>
                  <a:lnTo>
                    <a:pt x="192156" y="1026584"/>
                  </a:lnTo>
                  <a:lnTo>
                    <a:pt x="200025" y="1016888"/>
                  </a:lnTo>
                  <a:lnTo>
                    <a:pt x="200025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2890900" y="2500376"/>
              <a:ext cx="200025" cy="50165"/>
            </a:xfrm>
            <a:custGeom>
              <a:avLst/>
              <a:gdLst/>
              <a:ahLst/>
              <a:cxnLst/>
              <a:rect l="l" t="t" r="r" b="b"/>
              <a:pathLst>
                <a:path w="200025" h="50164">
                  <a:moveTo>
                    <a:pt x="99949" y="0"/>
                  </a:moveTo>
                  <a:lnTo>
                    <a:pt x="61025" y="1960"/>
                  </a:lnTo>
                  <a:lnTo>
                    <a:pt x="29257" y="7302"/>
                  </a:lnTo>
                  <a:lnTo>
                    <a:pt x="7848" y="15216"/>
                  </a:lnTo>
                  <a:lnTo>
                    <a:pt x="0" y="24892"/>
                  </a:lnTo>
                  <a:lnTo>
                    <a:pt x="7848" y="34641"/>
                  </a:lnTo>
                  <a:lnTo>
                    <a:pt x="29257" y="42592"/>
                  </a:lnTo>
                  <a:lnTo>
                    <a:pt x="61025" y="47948"/>
                  </a:lnTo>
                  <a:lnTo>
                    <a:pt x="99949" y="49911"/>
                  </a:lnTo>
                  <a:lnTo>
                    <a:pt x="138892" y="47948"/>
                  </a:lnTo>
                  <a:lnTo>
                    <a:pt x="170703" y="42592"/>
                  </a:lnTo>
                  <a:lnTo>
                    <a:pt x="192156" y="34641"/>
                  </a:lnTo>
                  <a:lnTo>
                    <a:pt x="200025" y="24892"/>
                  </a:lnTo>
                  <a:lnTo>
                    <a:pt x="192156" y="15216"/>
                  </a:lnTo>
                  <a:lnTo>
                    <a:pt x="170703" y="7302"/>
                  </a:lnTo>
                  <a:lnTo>
                    <a:pt x="138892" y="1960"/>
                  </a:lnTo>
                  <a:lnTo>
                    <a:pt x="99949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2890900" y="2500376"/>
              <a:ext cx="200025" cy="1066800"/>
            </a:xfrm>
            <a:custGeom>
              <a:avLst/>
              <a:gdLst/>
              <a:ahLst/>
              <a:cxnLst/>
              <a:rect l="l" t="t" r="r" b="b"/>
              <a:pathLst>
                <a:path w="200025" h="1066800">
                  <a:moveTo>
                    <a:pt x="200025" y="24892"/>
                  </a:moveTo>
                  <a:lnTo>
                    <a:pt x="138892" y="47948"/>
                  </a:lnTo>
                  <a:lnTo>
                    <a:pt x="99949" y="49911"/>
                  </a:lnTo>
                  <a:lnTo>
                    <a:pt x="61025" y="47948"/>
                  </a:lnTo>
                  <a:lnTo>
                    <a:pt x="7848" y="34641"/>
                  </a:lnTo>
                  <a:lnTo>
                    <a:pt x="0" y="24892"/>
                  </a:lnTo>
                  <a:lnTo>
                    <a:pt x="7848" y="15216"/>
                  </a:lnTo>
                  <a:lnTo>
                    <a:pt x="29257" y="7302"/>
                  </a:lnTo>
                  <a:lnTo>
                    <a:pt x="61025" y="1960"/>
                  </a:lnTo>
                  <a:lnTo>
                    <a:pt x="99949" y="0"/>
                  </a:lnTo>
                  <a:lnTo>
                    <a:pt x="138892" y="1960"/>
                  </a:lnTo>
                  <a:lnTo>
                    <a:pt x="170703" y="7302"/>
                  </a:lnTo>
                  <a:lnTo>
                    <a:pt x="192156" y="15216"/>
                  </a:lnTo>
                  <a:lnTo>
                    <a:pt x="200025" y="24892"/>
                  </a:lnTo>
                  <a:lnTo>
                    <a:pt x="200025" y="1041781"/>
                  </a:lnTo>
                  <a:lnTo>
                    <a:pt x="192156" y="1051476"/>
                  </a:lnTo>
                  <a:lnTo>
                    <a:pt x="170703" y="1059434"/>
                  </a:lnTo>
                  <a:lnTo>
                    <a:pt x="138892" y="1064819"/>
                  </a:lnTo>
                  <a:lnTo>
                    <a:pt x="99949" y="1066800"/>
                  </a:lnTo>
                  <a:lnTo>
                    <a:pt x="61025" y="1064819"/>
                  </a:lnTo>
                  <a:lnTo>
                    <a:pt x="29257" y="1059434"/>
                  </a:lnTo>
                  <a:lnTo>
                    <a:pt x="7848" y="1051476"/>
                  </a:lnTo>
                  <a:lnTo>
                    <a:pt x="0" y="1041781"/>
                  </a:lnTo>
                  <a:lnTo>
                    <a:pt x="0" y="24892"/>
                  </a:lnTo>
                </a:path>
              </a:pathLst>
            </a:custGeom>
            <a:ln w="952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9" name="object 7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524125" y="933386"/>
              <a:ext cx="509587" cy="738187"/>
            </a:xfrm>
            <a:prstGeom prst="rect">
              <a:avLst/>
            </a:prstGeom>
          </p:spPr>
        </p:pic>
        <p:sp>
          <p:nvSpPr>
            <p:cNvPr id="80" name="object 80"/>
            <p:cNvSpPr/>
            <p:nvPr/>
          </p:nvSpPr>
          <p:spPr>
            <a:xfrm>
              <a:off x="2586101" y="1025144"/>
              <a:ext cx="390525" cy="570865"/>
            </a:xfrm>
            <a:custGeom>
              <a:avLst/>
              <a:gdLst/>
              <a:ahLst/>
              <a:cxnLst/>
              <a:rect l="l" t="t" r="r" b="b"/>
              <a:pathLst>
                <a:path w="390525" h="570865">
                  <a:moveTo>
                    <a:pt x="390525" y="0"/>
                  </a:moveTo>
                  <a:lnTo>
                    <a:pt x="375167" y="18978"/>
                  </a:lnTo>
                  <a:lnTo>
                    <a:pt x="333295" y="34480"/>
                  </a:lnTo>
                  <a:lnTo>
                    <a:pt x="271206" y="44934"/>
                  </a:lnTo>
                  <a:lnTo>
                    <a:pt x="195199" y="48767"/>
                  </a:lnTo>
                  <a:lnTo>
                    <a:pt x="119211" y="44934"/>
                  </a:lnTo>
                  <a:lnTo>
                    <a:pt x="57165" y="34480"/>
                  </a:lnTo>
                  <a:lnTo>
                    <a:pt x="15337" y="18978"/>
                  </a:lnTo>
                  <a:lnTo>
                    <a:pt x="0" y="0"/>
                  </a:lnTo>
                  <a:lnTo>
                    <a:pt x="0" y="521461"/>
                  </a:lnTo>
                  <a:lnTo>
                    <a:pt x="15337" y="540460"/>
                  </a:lnTo>
                  <a:lnTo>
                    <a:pt x="57165" y="556005"/>
                  </a:lnTo>
                  <a:lnTo>
                    <a:pt x="119211" y="566503"/>
                  </a:lnTo>
                  <a:lnTo>
                    <a:pt x="195199" y="570356"/>
                  </a:lnTo>
                  <a:lnTo>
                    <a:pt x="271206" y="566503"/>
                  </a:lnTo>
                  <a:lnTo>
                    <a:pt x="333295" y="556005"/>
                  </a:lnTo>
                  <a:lnTo>
                    <a:pt x="375167" y="540460"/>
                  </a:lnTo>
                  <a:lnTo>
                    <a:pt x="390525" y="521461"/>
                  </a:lnTo>
                  <a:lnTo>
                    <a:pt x="390525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2586101" y="976376"/>
              <a:ext cx="390525" cy="97790"/>
            </a:xfrm>
            <a:custGeom>
              <a:avLst/>
              <a:gdLst/>
              <a:ahLst/>
              <a:cxnLst/>
              <a:rect l="l" t="t" r="r" b="b"/>
              <a:pathLst>
                <a:path w="390525" h="97790">
                  <a:moveTo>
                    <a:pt x="195199" y="0"/>
                  </a:moveTo>
                  <a:lnTo>
                    <a:pt x="119211" y="3833"/>
                  </a:lnTo>
                  <a:lnTo>
                    <a:pt x="57165" y="14287"/>
                  </a:lnTo>
                  <a:lnTo>
                    <a:pt x="15337" y="29789"/>
                  </a:lnTo>
                  <a:lnTo>
                    <a:pt x="0" y="48768"/>
                  </a:lnTo>
                  <a:lnTo>
                    <a:pt x="15337" y="67746"/>
                  </a:lnTo>
                  <a:lnTo>
                    <a:pt x="57165" y="83248"/>
                  </a:lnTo>
                  <a:lnTo>
                    <a:pt x="119211" y="93702"/>
                  </a:lnTo>
                  <a:lnTo>
                    <a:pt x="195199" y="97536"/>
                  </a:lnTo>
                  <a:lnTo>
                    <a:pt x="271206" y="93702"/>
                  </a:lnTo>
                  <a:lnTo>
                    <a:pt x="333295" y="83248"/>
                  </a:lnTo>
                  <a:lnTo>
                    <a:pt x="375167" y="67746"/>
                  </a:lnTo>
                  <a:lnTo>
                    <a:pt x="390525" y="48768"/>
                  </a:lnTo>
                  <a:lnTo>
                    <a:pt x="375167" y="29789"/>
                  </a:lnTo>
                  <a:lnTo>
                    <a:pt x="333295" y="14287"/>
                  </a:lnTo>
                  <a:lnTo>
                    <a:pt x="271206" y="3833"/>
                  </a:lnTo>
                  <a:lnTo>
                    <a:pt x="195199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2586101" y="976376"/>
              <a:ext cx="390525" cy="619125"/>
            </a:xfrm>
            <a:custGeom>
              <a:avLst/>
              <a:gdLst/>
              <a:ahLst/>
              <a:cxnLst/>
              <a:rect l="l" t="t" r="r" b="b"/>
              <a:pathLst>
                <a:path w="390525" h="619125">
                  <a:moveTo>
                    <a:pt x="390525" y="48768"/>
                  </a:moveTo>
                  <a:lnTo>
                    <a:pt x="333295" y="83248"/>
                  </a:lnTo>
                  <a:lnTo>
                    <a:pt x="271206" y="93702"/>
                  </a:lnTo>
                  <a:lnTo>
                    <a:pt x="195199" y="97536"/>
                  </a:lnTo>
                  <a:lnTo>
                    <a:pt x="119211" y="93702"/>
                  </a:lnTo>
                  <a:lnTo>
                    <a:pt x="57165" y="83248"/>
                  </a:lnTo>
                  <a:lnTo>
                    <a:pt x="15337" y="67746"/>
                  </a:lnTo>
                  <a:lnTo>
                    <a:pt x="0" y="48768"/>
                  </a:lnTo>
                  <a:lnTo>
                    <a:pt x="15337" y="29789"/>
                  </a:lnTo>
                  <a:lnTo>
                    <a:pt x="57165" y="14287"/>
                  </a:lnTo>
                  <a:lnTo>
                    <a:pt x="119211" y="3833"/>
                  </a:lnTo>
                  <a:lnTo>
                    <a:pt x="195199" y="0"/>
                  </a:lnTo>
                  <a:lnTo>
                    <a:pt x="271206" y="3833"/>
                  </a:lnTo>
                  <a:lnTo>
                    <a:pt x="333295" y="14287"/>
                  </a:lnTo>
                  <a:lnTo>
                    <a:pt x="375167" y="29789"/>
                  </a:lnTo>
                  <a:lnTo>
                    <a:pt x="390525" y="48768"/>
                  </a:lnTo>
                  <a:lnTo>
                    <a:pt x="390525" y="570229"/>
                  </a:lnTo>
                  <a:lnTo>
                    <a:pt x="375167" y="589228"/>
                  </a:lnTo>
                  <a:lnTo>
                    <a:pt x="333295" y="604774"/>
                  </a:lnTo>
                  <a:lnTo>
                    <a:pt x="271206" y="615271"/>
                  </a:lnTo>
                  <a:lnTo>
                    <a:pt x="195199" y="619125"/>
                  </a:lnTo>
                  <a:lnTo>
                    <a:pt x="119211" y="615271"/>
                  </a:lnTo>
                  <a:lnTo>
                    <a:pt x="57165" y="604773"/>
                  </a:lnTo>
                  <a:lnTo>
                    <a:pt x="15337" y="589228"/>
                  </a:lnTo>
                  <a:lnTo>
                    <a:pt x="0" y="570229"/>
                  </a:lnTo>
                  <a:lnTo>
                    <a:pt x="0" y="48768"/>
                  </a:lnTo>
                </a:path>
              </a:pathLst>
            </a:custGeom>
            <a:ln w="952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3" name="object 8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057525" y="1685861"/>
              <a:ext cx="528637" cy="928687"/>
            </a:xfrm>
            <a:prstGeom prst="rect">
              <a:avLst/>
            </a:prstGeom>
          </p:spPr>
        </p:pic>
        <p:sp>
          <p:nvSpPr>
            <p:cNvPr id="84" name="object 84"/>
            <p:cNvSpPr/>
            <p:nvPr/>
          </p:nvSpPr>
          <p:spPr>
            <a:xfrm>
              <a:off x="3118103" y="1730629"/>
              <a:ext cx="410209" cy="803275"/>
            </a:xfrm>
            <a:custGeom>
              <a:avLst/>
              <a:gdLst/>
              <a:ahLst/>
              <a:cxnLst/>
              <a:rect l="l" t="t" r="r" b="b"/>
              <a:pathLst>
                <a:path w="410210" h="803275">
                  <a:moveTo>
                    <a:pt x="209549" y="0"/>
                  </a:moveTo>
                  <a:lnTo>
                    <a:pt x="152185" y="41576"/>
                  </a:lnTo>
                  <a:lnTo>
                    <a:pt x="112013" y="54737"/>
                  </a:lnTo>
                  <a:lnTo>
                    <a:pt x="70651" y="63773"/>
                  </a:lnTo>
                  <a:lnTo>
                    <a:pt x="35813" y="67214"/>
                  </a:lnTo>
                  <a:lnTo>
                    <a:pt x="11072" y="64988"/>
                  </a:lnTo>
                  <a:lnTo>
                    <a:pt x="0" y="57023"/>
                  </a:lnTo>
                  <a:lnTo>
                    <a:pt x="200406" y="792734"/>
                  </a:lnTo>
                  <a:lnTo>
                    <a:pt x="211423" y="800699"/>
                  </a:lnTo>
                  <a:lnTo>
                    <a:pt x="236156" y="802925"/>
                  </a:lnTo>
                  <a:lnTo>
                    <a:pt x="270986" y="799484"/>
                  </a:lnTo>
                  <a:lnTo>
                    <a:pt x="312293" y="790448"/>
                  </a:lnTo>
                  <a:lnTo>
                    <a:pt x="352538" y="777287"/>
                  </a:lnTo>
                  <a:lnTo>
                    <a:pt x="404500" y="748157"/>
                  </a:lnTo>
                  <a:lnTo>
                    <a:pt x="409956" y="735711"/>
                  </a:lnTo>
                  <a:lnTo>
                    <a:pt x="20954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5" name="object 8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118103" y="1720437"/>
              <a:ext cx="209549" cy="77406"/>
            </a:xfrm>
            <a:prstGeom prst="rect">
              <a:avLst/>
            </a:prstGeom>
          </p:spPr>
        </p:pic>
        <p:sp>
          <p:nvSpPr>
            <p:cNvPr id="86" name="object 86"/>
            <p:cNvSpPr/>
            <p:nvPr/>
          </p:nvSpPr>
          <p:spPr>
            <a:xfrm>
              <a:off x="3118103" y="1720437"/>
              <a:ext cx="410209" cy="813435"/>
            </a:xfrm>
            <a:custGeom>
              <a:avLst/>
              <a:gdLst/>
              <a:ahLst/>
              <a:cxnLst/>
              <a:rect l="l" t="t" r="r" b="b"/>
              <a:pathLst>
                <a:path w="410210" h="813435">
                  <a:moveTo>
                    <a:pt x="209549" y="10191"/>
                  </a:moveTo>
                  <a:lnTo>
                    <a:pt x="152185" y="51768"/>
                  </a:lnTo>
                  <a:lnTo>
                    <a:pt x="112013" y="64928"/>
                  </a:lnTo>
                  <a:lnTo>
                    <a:pt x="70633" y="73965"/>
                  </a:lnTo>
                  <a:lnTo>
                    <a:pt x="11019" y="75180"/>
                  </a:lnTo>
                  <a:lnTo>
                    <a:pt x="0" y="67214"/>
                  </a:lnTo>
                  <a:lnTo>
                    <a:pt x="5472" y="54768"/>
                  </a:lnTo>
                  <a:lnTo>
                    <a:pt x="57471" y="25638"/>
                  </a:lnTo>
                  <a:lnTo>
                    <a:pt x="97662" y="12477"/>
                  </a:lnTo>
                  <a:lnTo>
                    <a:pt x="139023" y="3440"/>
                  </a:lnTo>
                  <a:lnTo>
                    <a:pt x="173847" y="0"/>
                  </a:lnTo>
                  <a:lnTo>
                    <a:pt x="198550" y="2226"/>
                  </a:lnTo>
                  <a:lnTo>
                    <a:pt x="209549" y="10191"/>
                  </a:lnTo>
                  <a:lnTo>
                    <a:pt x="409956" y="745902"/>
                  </a:lnTo>
                  <a:lnTo>
                    <a:pt x="404500" y="758348"/>
                  </a:lnTo>
                  <a:lnTo>
                    <a:pt x="352538" y="787479"/>
                  </a:lnTo>
                  <a:lnTo>
                    <a:pt x="312293" y="800639"/>
                  </a:lnTo>
                  <a:lnTo>
                    <a:pt x="270986" y="809676"/>
                  </a:lnTo>
                  <a:lnTo>
                    <a:pt x="236156" y="813117"/>
                  </a:lnTo>
                  <a:lnTo>
                    <a:pt x="211423" y="810891"/>
                  </a:lnTo>
                  <a:lnTo>
                    <a:pt x="200406" y="802925"/>
                  </a:lnTo>
                  <a:lnTo>
                    <a:pt x="0" y="67214"/>
                  </a:lnTo>
                </a:path>
              </a:pathLst>
            </a:custGeom>
            <a:ln w="952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7" name="object 87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943100" y="1685861"/>
              <a:ext cx="547687" cy="928687"/>
            </a:xfrm>
            <a:prstGeom prst="rect">
              <a:avLst/>
            </a:prstGeom>
          </p:spPr>
        </p:pic>
        <p:sp>
          <p:nvSpPr>
            <p:cNvPr id="88" name="object 88"/>
            <p:cNvSpPr/>
            <p:nvPr/>
          </p:nvSpPr>
          <p:spPr>
            <a:xfrm>
              <a:off x="2005710" y="1730756"/>
              <a:ext cx="430530" cy="802005"/>
            </a:xfrm>
            <a:custGeom>
              <a:avLst/>
              <a:gdLst/>
              <a:ahLst/>
              <a:cxnLst/>
              <a:rect l="l" t="t" r="r" b="b"/>
              <a:pathLst>
                <a:path w="430530" h="802005">
                  <a:moveTo>
                    <a:pt x="222376" y="0"/>
                  </a:moveTo>
                  <a:lnTo>
                    <a:pt x="0" y="729361"/>
                  </a:lnTo>
                  <a:lnTo>
                    <a:pt x="5107" y="741959"/>
                  </a:lnTo>
                  <a:lnTo>
                    <a:pt x="24860" y="756999"/>
                  </a:lnTo>
                  <a:lnTo>
                    <a:pt x="56185" y="772634"/>
                  </a:lnTo>
                  <a:lnTo>
                    <a:pt x="96012" y="787019"/>
                  </a:lnTo>
                  <a:lnTo>
                    <a:pt x="137013" y="797323"/>
                  </a:lnTo>
                  <a:lnTo>
                    <a:pt x="171703" y="801830"/>
                  </a:lnTo>
                  <a:lnTo>
                    <a:pt x="196488" y="800359"/>
                  </a:lnTo>
                  <a:lnTo>
                    <a:pt x="207771" y="792734"/>
                  </a:lnTo>
                  <a:lnTo>
                    <a:pt x="430149" y="63373"/>
                  </a:lnTo>
                  <a:lnTo>
                    <a:pt x="418865" y="70981"/>
                  </a:lnTo>
                  <a:lnTo>
                    <a:pt x="394080" y="72421"/>
                  </a:lnTo>
                  <a:lnTo>
                    <a:pt x="318388" y="57658"/>
                  </a:lnTo>
                  <a:lnTo>
                    <a:pt x="278562" y="43273"/>
                  </a:lnTo>
                  <a:lnTo>
                    <a:pt x="227484" y="12598"/>
                  </a:lnTo>
                  <a:lnTo>
                    <a:pt x="222376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9" name="object 89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228088" y="1721659"/>
              <a:ext cx="207772" cy="81518"/>
            </a:xfrm>
            <a:prstGeom prst="rect">
              <a:avLst/>
            </a:prstGeom>
          </p:spPr>
        </p:pic>
        <p:sp>
          <p:nvSpPr>
            <p:cNvPr id="90" name="object 90"/>
            <p:cNvSpPr/>
            <p:nvPr/>
          </p:nvSpPr>
          <p:spPr>
            <a:xfrm>
              <a:off x="2005710" y="1721659"/>
              <a:ext cx="430530" cy="811530"/>
            </a:xfrm>
            <a:custGeom>
              <a:avLst/>
              <a:gdLst/>
              <a:ahLst/>
              <a:cxnLst/>
              <a:rect l="l" t="t" r="r" b="b"/>
              <a:pathLst>
                <a:path w="430530" h="811530">
                  <a:moveTo>
                    <a:pt x="430149" y="72469"/>
                  </a:moveTo>
                  <a:lnTo>
                    <a:pt x="359336" y="77005"/>
                  </a:lnTo>
                  <a:lnTo>
                    <a:pt x="318262" y="66754"/>
                  </a:lnTo>
                  <a:lnTo>
                    <a:pt x="278509" y="52369"/>
                  </a:lnTo>
                  <a:lnTo>
                    <a:pt x="227482" y="21695"/>
                  </a:lnTo>
                  <a:lnTo>
                    <a:pt x="258349" y="0"/>
                  </a:lnTo>
                  <a:lnTo>
                    <a:pt x="293064" y="4506"/>
                  </a:lnTo>
                  <a:lnTo>
                    <a:pt x="334137" y="14811"/>
                  </a:lnTo>
                  <a:lnTo>
                    <a:pt x="373963" y="29196"/>
                  </a:lnTo>
                  <a:lnTo>
                    <a:pt x="425041" y="59870"/>
                  </a:lnTo>
                  <a:lnTo>
                    <a:pt x="430149" y="72469"/>
                  </a:lnTo>
                  <a:lnTo>
                    <a:pt x="207771" y="801830"/>
                  </a:lnTo>
                  <a:lnTo>
                    <a:pt x="196488" y="809456"/>
                  </a:lnTo>
                  <a:lnTo>
                    <a:pt x="171703" y="810926"/>
                  </a:lnTo>
                  <a:lnTo>
                    <a:pt x="137013" y="806420"/>
                  </a:lnTo>
                  <a:lnTo>
                    <a:pt x="96012" y="796115"/>
                  </a:lnTo>
                  <a:lnTo>
                    <a:pt x="56185" y="781730"/>
                  </a:lnTo>
                  <a:lnTo>
                    <a:pt x="5107" y="751056"/>
                  </a:lnTo>
                  <a:lnTo>
                    <a:pt x="0" y="738457"/>
                  </a:lnTo>
                  <a:lnTo>
                    <a:pt x="222376" y="9096"/>
                  </a:lnTo>
                </a:path>
              </a:pathLst>
            </a:custGeom>
            <a:ln w="952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1" name="object 91"/>
          <p:cNvSpPr txBox="1"/>
          <p:nvPr/>
        </p:nvSpPr>
        <p:spPr>
          <a:xfrm>
            <a:off x="579119" y="3154616"/>
            <a:ext cx="1395730" cy="571500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5080">
              <a:lnSpc>
                <a:spcPts val="1430"/>
              </a:lnSpc>
              <a:spcBef>
                <a:spcPts val="155"/>
              </a:spcBef>
            </a:pPr>
            <a:r>
              <a:rPr sz="1200" spc="-10">
                <a:latin typeface="Calibri"/>
                <a:cs typeface="Calibri"/>
              </a:rPr>
              <a:t>Generalized</a:t>
            </a:r>
            <a:r>
              <a:rPr sz="1200" spc="25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Cylinders, Brooks</a:t>
            </a:r>
            <a:r>
              <a:rPr sz="1200" spc="-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and</a:t>
            </a:r>
            <a:r>
              <a:rPr sz="1200" spc="-15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Binford, </a:t>
            </a:r>
            <a:r>
              <a:rPr sz="1200" spc="-20">
                <a:latin typeface="Calibri"/>
                <a:cs typeface="Calibri"/>
              </a:rPr>
              <a:t>1979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7325359" y="4618672"/>
            <a:ext cx="1741170" cy="158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95"/>
              </a:lnSpc>
            </a:pPr>
            <a:r>
              <a:rPr sz="1050">
                <a:latin typeface="Calibri"/>
                <a:cs typeface="Calibri"/>
              </a:rPr>
              <a:t>Slide</a:t>
            </a:r>
            <a:r>
              <a:rPr sz="1050" spc="-30">
                <a:latin typeface="Calibri"/>
                <a:cs typeface="Calibri"/>
              </a:rPr>
              <a:t> </a:t>
            </a:r>
            <a:r>
              <a:rPr sz="1050">
                <a:latin typeface="Calibri"/>
                <a:cs typeface="Calibri"/>
              </a:rPr>
              <a:t>inspiration:</a:t>
            </a:r>
            <a:r>
              <a:rPr sz="1050" spc="-10">
                <a:latin typeface="Calibri"/>
                <a:cs typeface="Calibri"/>
              </a:rPr>
              <a:t> Justin</a:t>
            </a:r>
            <a:r>
              <a:rPr sz="1050" spc="-50">
                <a:latin typeface="Calibri"/>
                <a:cs typeface="Calibri"/>
              </a:rPr>
              <a:t> </a:t>
            </a:r>
            <a:r>
              <a:rPr sz="1050" spc="-10">
                <a:latin typeface="Calibri"/>
                <a:cs typeface="Calibri"/>
              </a:rPr>
              <a:t>Johnson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95" name="object 9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19</a:t>
            </a:fld>
            <a:endParaRPr spc="-25"/>
          </a:p>
        </p:txBody>
      </p:sp>
      <p:sp>
        <p:nvSpPr>
          <p:cNvPr id="96" name="object 9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>
              <a:lnSpc>
                <a:spcPts val="1810"/>
              </a:lnSpc>
            </a:pPr>
            <a:r>
              <a:t>April 1,</a:t>
            </a:r>
            <a:r>
              <a:rPr spc="-35"/>
              <a:t> </a:t>
            </a:r>
            <a:r>
              <a:rPr spc="-20"/>
              <a:t>2025</a:t>
            </a:r>
          </a:p>
        </p:txBody>
      </p:sp>
      <p:sp>
        <p:nvSpPr>
          <p:cNvPr id="97" name="object 9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t>CS231n:</a:t>
            </a:r>
            <a:r>
              <a:rPr spc="-5"/>
              <a:t> </a:t>
            </a:r>
            <a:r>
              <a:t>Lecture</a:t>
            </a:r>
            <a:r>
              <a:rPr spc="95"/>
              <a:t> </a:t>
            </a:r>
            <a:r>
              <a:t>1</a:t>
            </a:r>
            <a:r>
              <a:rPr spc="15"/>
              <a:t> </a:t>
            </a:r>
            <a:r>
              <a:rPr spc="-50"/>
              <a:t>-</a:t>
            </a:r>
          </a:p>
        </p:txBody>
      </p:sp>
      <p:sp>
        <p:nvSpPr>
          <p:cNvPr id="98" name="object 98"/>
          <p:cNvSpPr txBox="1"/>
          <p:nvPr/>
        </p:nvSpPr>
        <p:spPr>
          <a:xfrm>
            <a:off x="307657" y="4910517"/>
            <a:ext cx="2085339" cy="1536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Fei-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Fei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Li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9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Ehsan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Adeli</a:t>
            </a: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90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Zane Durante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7165340" y="3154616"/>
            <a:ext cx="1728470" cy="39052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5080">
              <a:lnSpc>
                <a:spcPts val="1430"/>
              </a:lnSpc>
              <a:spcBef>
                <a:spcPts val="155"/>
              </a:spcBef>
            </a:pPr>
            <a:r>
              <a:rPr sz="1200">
                <a:latin typeface="Calibri"/>
                <a:cs typeface="Calibri"/>
              </a:rPr>
              <a:t>Pictorial</a:t>
            </a:r>
            <a:r>
              <a:rPr sz="1200" spc="-20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Structures,</a:t>
            </a:r>
            <a:r>
              <a:rPr sz="1200" spc="50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Fischler</a:t>
            </a:r>
            <a:r>
              <a:rPr sz="1200" spc="-2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and</a:t>
            </a:r>
            <a:r>
              <a:rPr sz="1200" spc="-30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Elshlager,</a:t>
            </a:r>
            <a:r>
              <a:rPr sz="1200">
                <a:latin typeface="Calibri"/>
                <a:cs typeface="Calibri"/>
              </a:rPr>
              <a:t> </a:t>
            </a:r>
            <a:r>
              <a:rPr sz="1200" spc="-20">
                <a:latin typeface="Calibri"/>
                <a:cs typeface="Calibri"/>
              </a:rPr>
              <a:t>1973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3" name="object 9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3039" rIns="0" bIns="0" rtlCol="0">
            <a:spAutoFit/>
          </a:bodyPr>
          <a:lstStyle/>
          <a:p>
            <a:pPr marL="1410970">
              <a:lnSpc>
                <a:spcPct val="100000"/>
              </a:lnSpc>
              <a:spcBef>
                <a:spcPts val="105"/>
              </a:spcBef>
            </a:pPr>
            <a:r>
              <a:rPr sz="3000"/>
              <a:t>Recognition</a:t>
            </a:r>
            <a:r>
              <a:rPr sz="3000" spc="-80"/>
              <a:t> </a:t>
            </a:r>
            <a:r>
              <a:rPr sz="3000"/>
              <a:t>via</a:t>
            </a:r>
            <a:r>
              <a:rPr sz="3000" spc="-70"/>
              <a:t> </a:t>
            </a:r>
            <a:r>
              <a:rPr sz="3000"/>
              <a:t>Parts</a:t>
            </a:r>
            <a:r>
              <a:rPr sz="3000" spc="-105"/>
              <a:t> </a:t>
            </a:r>
            <a:r>
              <a:rPr sz="3000" spc="-10"/>
              <a:t>(1970s)</a:t>
            </a:r>
            <a:endParaRPr sz="3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4775" y="4133850"/>
            <a:ext cx="4251960" cy="171450"/>
          </a:xfrm>
          <a:custGeom>
            <a:avLst/>
            <a:gdLst/>
            <a:ahLst/>
            <a:cxnLst/>
            <a:rect l="l" t="t" r="r" b="b"/>
            <a:pathLst>
              <a:path w="4251960" h="171450">
                <a:moveTo>
                  <a:pt x="0" y="171450"/>
                </a:moveTo>
                <a:lnTo>
                  <a:pt x="4251960" y="171450"/>
                </a:lnTo>
              </a:path>
              <a:path w="4251960" h="171450">
                <a:moveTo>
                  <a:pt x="542925" y="171450"/>
                </a:moveTo>
                <a:lnTo>
                  <a:pt x="542925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76212" y="3862387"/>
            <a:ext cx="876300" cy="2762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R="3175" algn="ctr">
              <a:lnSpc>
                <a:spcPct val="100000"/>
              </a:lnSpc>
              <a:spcBef>
                <a:spcPts val="105"/>
              </a:spcBef>
            </a:pPr>
            <a:r>
              <a:rPr sz="800" spc="-20">
                <a:latin typeface="Calibri"/>
                <a:cs typeface="Calibri"/>
              </a:rPr>
              <a:t>1959</a:t>
            </a:r>
            <a:endParaRPr sz="800">
              <a:latin typeface="Calibri"/>
              <a:cs typeface="Calibri"/>
            </a:endParaRPr>
          </a:p>
          <a:p>
            <a:pPr marR="3175" algn="ctr">
              <a:lnSpc>
                <a:spcPct val="100000"/>
              </a:lnSpc>
              <a:spcBef>
                <a:spcPts val="15"/>
              </a:spcBef>
            </a:pPr>
            <a:r>
              <a:rPr sz="800">
                <a:latin typeface="Calibri"/>
                <a:cs typeface="Calibri"/>
              </a:rPr>
              <a:t>Hubel</a:t>
            </a:r>
            <a:r>
              <a:rPr sz="800" spc="-20">
                <a:latin typeface="Calibri"/>
                <a:cs typeface="Calibri"/>
              </a:rPr>
              <a:t> </a:t>
            </a:r>
            <a:r>
              <a:rPr sz="800">
                <a:latin typeface="Calibri"/>
                <a:cs typeface="Calibri"/>
              </a:rPr>
              <a:t>&amp;</a:t>
            </a:r>
            <a:r>
              <a:rPr sz="800" spc="-15">
                <a:latin typeface="Calibri"/>
                <a:cs typeface="Calibri"/>
              </a:rPr>
              <a:t> </a:t>
            </a:r>
            <a:r>
              <a:rPr sz="800" spc="-10">
                <a:latin typeface="Calibri"/>
                <a:cs typeface="Calibri"/>
              </a:rPr>
              <a:t>Wiesel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00150" y="4133850"/>
            <a:ext cx="0" cy="171450"/>
          </a:xfrm>
          <a:custGeom>
            <a:avLst/>
            <a:gdLst/>
            <a:ahLst/>
            <a:cxnLst/>
            <a:rect l="l" t="t" r="r" b="b"/>
            <a:pathLst>
              <a:path h="171450">
                <a:moveTo>
                  <a:pt x="0" y="17145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96181" y="3862387"/>
            <a:ext cx="656590" cy="2762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R="8890" algn="ctr">
              <a:lnSpc>
                <a:spcPts val="1040"/>
              </a:lnSpc>
            </a:pPr>
            <a:r>
              <a:rPr sz="900" spc="-20">
                <a:latin typeface="Calibri"/>
                <a:cs typeface="Calibri"/>
              </a:rPr>
              <a:t>1963</a:t>
            </a:r>
            <a:endParaRPr sz="900">
              <a:latin typeface="Calibri"/>
              <a:cs typeface="Calibri"/>
            </a:endParaRPr>
          </a:p>
          <a:p>
            <a:pPr marR="10795" algn="ctr">
              <a:lnSpc>
                <a:spcPct val="100000"/>
              </a:lnSpc>
              <a:spcBef>
                <a:spcPts val="45"/>
              </a:spcBef>
            </a:pPr>
            <a:r>
              <a:rPr sz="900" spc="-10">
                <a:latin typeface="Calibri"/>
                <a:cs typeface="Calibri"/>
              </a:rPr>
              <a:t>Roberts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847975" y="4133850"/>
            <a:ext cx="0" cy="171450"/>
          </a:xfrm>
          <a:custGeom>
            <a:avLst/>
            <a:gdLst/>
            <a:ahLst/>
            <a:cxnLst/>
            <a:rect l="l" t="t" r="r" b="b"/>
            <a:pathLst>
              <a:path h="171450">
                <a:moveTo>
                  <a:pt x="0" y="17145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033651" y="3862387"/>
            <a:ext cx="876300" cy="2762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040"/>
              </a:lnSpc>
            </a:pPr>
            <a:r>
              <a:rPr sz="900" spc="-10">
                <a:latin typeface="Calibri"/>
                <a:cs typeface="Calibri"/>
              </a:rPr>
              <a:t>1970s</a:t>
            </a:r>
            <a:endParaRPr sz="9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45"/>
              </a:spcBef>
            </a:pPr>
            <a:r>
              <a:rPr sz="900" spc="-10">
                <a:latin typeface="Calibri"/>
                <a:cs typeface="Calibri"/>
              </a:rPr>
              <a:t>David </a:t>
            </a:r>
            <a:r>
              <a:rPr sz="900" spc="-20">
                <a:latin typeface="Calibri"/>
                <a:cs typeface="Calibri"/>
              </a:rPr>
              <a:t>Marr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390900" y="4133850"/>
            <a:ext cx="0" cy="171450"/>
          </a:xfrm>
          <a:custGeom>
            <a:avLst/>
            <a:gdLst/>
            <a:ahLst/>
            <a:cxnLst/>
            <a:rect l="l" t="t" r="r" b="b"/>
            <a:pathLst>
              <a:path h="171450">
                <a:moveTo>
                  <a:pt x="0" y="17145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976626" y="3862387"/>
            <a:ext cx="1038225" cy="2762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175" algn="ctr">
              <a:lnSpc>
                <a:spcPts val="1040"/>
              </a:lnSpc>
            </a:pPr>
            <a:r>
              <a:rPr sz="900" spc="-20">
                <a:latin typeface="Calibri"/>
                <a:cs typeface="Calibri"/>
              </a:rPr>
              <a:t>1979</a:t>
            </a:r>
            <a:endParaRPr sz="900">
              <a:latin typeface="Calibri"/>
              <a:cs typeface="Calibri"/>
            </a:endParaRPr>
          </a:p>
          <a:p>
            <a:pPr marL="4445" algn="ctr">
              <a:lnSpc>
                <a:spcPct val="100000"/>
              </a:lnSpc>
              <a:spcBef>
                <a:spcPts val="45"/>
              </a:spcBef>
            </a:pPr>
            <a:r>
              <a:rPr sz="900">
                <a:latin typeface="Calibri"/>
                <a:cs typeface="Calibri"/>
              </a:rPr>
              <a:t>Gen.</a:t>
            </a:r>
            <a:r>
              <a:rPr sz="900" spc="5">
                <a:latin typeface="Calibri"/>
                <a:cs typeface="Calibri"/>
              </a:rPr>
              <a:t> </a:t>
            </a:r>
            <a:r>
              <a:rPr sz="900" spc="-10">
                <a:latin typeface="Calibri"/>
                <a:cs typeface="Calibri"/>
              </a:rPr>
              <a:t>Cylinders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352925" y="4133850"/>
            <a:ext cx="0" cy="171450"/>
          </a:xfrm>
          <a:custGeom>
            <a:avLst/>
            <a:gdLst/>
            <a:ahLst/>
            <a:cxnLst/>
            <a:rect l="l" t="t" r="r" b="b"/>
            <a:pathLst>
              <a:path h="171450">
                <a:moveTo>
                  <a:pt x="0" y="17145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129151" y="3862387"/>
            <a:ext cx="561975" cy="2762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67640">
              <a:lnSpc>
                <a:spcPts val="1040"/>
              </a:lnSpc>
            </a:pPr>
            <a:r>
              <a:rPr sz="900" spc="-20">
                <a:latin typeface="Calibri"/>
                <a:cs typeface="Calibri"/>
              </a:rPr>
              <a:t>1986</a:t>
            </a:r>
            <a:endParaRPr sz="900">
              <a:latin typeface="Calibri"/>
              <a:cs typeface="Calibri"/>
            </a:endParaRPr>
          </a:p>
          <a:p>
            <a:pPr marL="138430">
              <a:lnSpc>
                <a:spcPct val="100000"/>
              </a:lnSpc>
              <a:spcBef>
                <a:spcPts val="45"/>
              </a:spcBef>
            </a:pPr>
            <a:r>
              <a:rPr sz="900" spc="-10">
                <a:latin typeface="Calibri"/>
                <a:cs typeface="Calibri"/>
              </a:rPr>
              <a:t>Canny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765925" y="3809682"/>
            <a:ext cx="1124585" cy="390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435"/>
              </a:lnSpc>
              <a:spcBef>
                <a:spcPts val="100"/>
              </a:spcBef>
            </a:pPr>
            <a:r>
              <a:rPr sz="1200">
                <a:latin typeface="Calibri"/>
                <a:cs typeface="Calibri"/>
              </a:rPr>
              <a:t>John</a:t>
            </a:r>
            <a:r>
              <a:rPr sz="1200" spc="10">
                <a:latin typeface="Calibri"/>
                <a:cs typeface="Calibri"/>
              </a:rPr>
              <a:t> </a:t>
            </a:r>
            <a:r>
              <a:rPr sz="1200" spc="-20">
                <a:latin typeface="Calibri"/>
                <a:cs typeface="Calibri"/>
              </a:rPr>
              <a:t>Canny,</a:t>
            </a:r>
            <a:r>
              <a:rPr sz="1200" spc="-35">
                <a:latin typeface="Calibri"/>
                <a:cs typeface="Calibri"/>
              </a:rPr>
              <a:t> </a:t>
            </a:r>
            <a:r>
              <a:rPr sz="1200" spc="-20">
                <a:latin typeface="Calibri"/>
                <a:cs typeface="Calibri"/>
              </a:rPr>
              <a:t>1986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ts val="1435"/>
              </a:lnSpc>
            </a:pPr>
            <a:r>
              <a:rPr sz="1200">
                <a:latin typeface="Calibri"/>
                <a:cs typeface="Calibri"/>
              </a:rPr>
              <a:t>David</a:t>
            </a:r>
            <a:r>
              <a:rPr sz="1200" spc="-3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Lowe,</a:t>
            </a:r>
            <a:r>
              <a:rPr sz="1200" spc="-30">
                <a:latin typeface="Calibri"/>
                <a:cs typeface="Calibri"/>
              </a:rPr>
              <a:t> </a:t>
            </a:r>
            <a:r>
              <a:rPr sz="1200" spc="-20">
                <a:latin typeface="Calibri"/>
                <a:cs typeface="Calibri"/>
              </a:rPr>
              <a:t>1987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7947" y="4615179"/>
            <a:ext cx="98996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u="sng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2"/>
              </a:rPr>
              <a:t>Image</a:t>
            </a:r>
            <a:r>
              <a:rPr sz="600" u="sng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</a:rPr>
              <a:t> </a:t>
            </a:r>
            <a:r>
              <a:rPr sz="600">
                <a:solidFill>
                  <a:srgbClr val="BEBEBE"/>
                </a:solidFill>
                <a:latin typeface="Calibri"/>
                <a:cs typeface="Calibri"/>
              </a:rPr>
              <a:t>is</a:t>
            </a:r>
            <a:r>
              <a:rPr sz="600" spc="-5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600" u="sng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3"/>
              </a:rPr>
              <a:t>CC0</a:t>
            </a:r>
            <a:r>
              <a:rPr sz="600" u="sng" spc="15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600" u="sng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3"/>
              </a:rPr>
              <a:t>1.0</a:t>
            </a:r>
            <a:r>
              <a:rPr sz="600" spc="-35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600" spc="-10">
                <a:solidFill>
                  <a:srgbClr val="BEBEBE"/>
                </a:solidFill>
                <a:latin typeface="Calibri"/>
                <a:cs typeface="Calibri"/>
              </a:rPr>
              <a:t>public domain</a:t>
            </a:r>
            <a:endParaRPr sz="600">
              <a:latin typeface="Calibri"/>
              <a:cs typeface="Calibri"/>
            </a:endParaRPr>
          </a:p>
        </p:txBody>
      </p:sp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0050" y="781050"/>
            <a:ext cx="4057650" cy="2695575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572000" y="781050"/>
            <a:ext cx="4057650" cy="2695575"/>
          </a:xfrm>
          <a:prstGeom prst="rect">
            <a:avLst/>
          </a:prstGeom>
        </p:spPr>
      </p:pic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3039" rIns="0" bIns="0" rtlCol="0">
            <a:spAutoFit/>
          </a:bodyPr>
          <a:lstStyle/>
          <a:p>
            <a:pPr marL="630555">
              <a:lnSpc>
                <a:spcPct val="100000"/>
              </a:lnSpc>
              <a:spcBef>
                <a:spcPts val="105"/>
              </a:spcBef>
            </a:pPr>
            <a:r>
              <a:rPr sz="3000"/>
              <a:t>Recognition</a:t>
            </a:r>
            <a:r>
              <a:rPr sz="3000" spc="-105"/>
              <a:t> </a:t>
            </a:r>
            <a:r>
              <a:rPr sz="3000"/>
              <a:t>via</a:t>
            </a:r>
            <a:r>
              <a:rPr sz="3000" spc="-105"/>
              <a:t> </a:t>
            </a:r>
            <a:r>
              <a:rPr sz="3000"/>
              <a:t>Edge</a:t>
            </a:r>
            <a:r>
              <a:rPr sz="3000" spc="-85"/>
              <a:t> </a:t>
            </a:r>
            <a:r>
              <a:rPr sz="3000"/>
              <a:t>Detection</a:t>
            </a:r>
            <a:r>
              <a:rPr sz="3000" spc="-105"/>
              <a:t> </a:t>
            </a:r>
            <a:r>
              <a:rPr sz="3000" spc="-10"/>
              <a:t>(1980s)</a:t>
            </a:r>
            <a:endParaRPr sz="3000"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20</a:t>
            </a:fld>
            <a:endParaRPr spc="-25"/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>
              <a:lnSpc>
                <a:spcPts val="1810"/>
              </a:lnSpc>
            </a:pPr>
            <a:r>
              <a:t>April 1,</a:t>
            </a:r>
            <a:r>
              <a:rPr spc="-35"/>
              <a:t> </a:t>
            </a:r>
            <a:r>
              <a:rPr spc="-20"/>
              <a:t>2025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t>CS231n:</a:t>
            </a:r>
            <a:r>
              <a:rPr spc="-5"/>
              <a:t> </a:t>
            </a:r>
            <a:r>
              <a:t>Lecture</a:t>
            </a:r>
            <a:r>
              <a:rPr spc="95"/>
              <a:t> </a:t>
            </a:r>
            <a:r>
              <a:t>1</a:t>
            </a:r>
            <a:r>
              <a:rPr spc="15"/>
              <a:t> </a:t>
            </a:r>
            <a:r>
              <a:rPr spc="-50"/>
              <a:t>-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307657" y="4910517"/>
            <a:ext cx="2085339" cy="1536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Fei-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Fei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Li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9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Ehsan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Adeli</a:t>
            </a: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90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Zane Durante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325359" y="4585334"/>
            <a:ext cx="174117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>
                <a:latin typeface="Calibri"/>
                <a:cs typeface="Calibri"/>
              </a:rPr>
              <a:t>Slide</a:t>
            </a:r>
            <a:r>
              <a:rPr sz="1050" spc="-30">
                <a:latin typeface="Calibri"/>
                <a:cs typeface="Calibri"/>
              </a:rPr>
              <a:t> </a:t>
            </a:r>
            <a:r>
              <a:rPr sz="1050">
                <a:latin typeface="Calibri"/>
                <a:cs typeface="Calibri"/>
              </a:rPr>
              <a:t>inspiration:</a:t>
            </a:r>
            <a:r>
              <a:rPr sz="1050" spc="-10">
                <a:latin typeface="Calibri"/>
                <a:cs typeface="Calibri"/>
              </a:rPr>
              <a:t> Justin</a:t>
            </a:r>
            <a:r>
              <a:rPr sz="1050" spc="-50">
                <a:latin typeface="Calibri"/>
                <a:cs typeface="Calibri"/>
              </a:rPr>
              <a:t> </a:t>
            </a:r>
            <a:r>
              <a:rPr sz="1050" spc="-10">
                <a:latin typeface="Calibri"/>
                <a:cs typeface="Calibri"/>
              </a:rPr>
              <a:t>Johnson</a:t>
            </a:r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4112" y="1854136"/>
            <a:ext cx="7049770" cy="12433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3950">
                <a:solidFill>
                  <a:srgbClr val="C00000"/>
                </a:solidFill>
              </a:rPr>
              <a:t>In</a:t>
            </a:r>
            <a:r>
              <a:rPr sz="3950" spc="10">
                <a:solidFill>
                  <a:srgbClr val="C00000"/>
                </a:solidFill>
              </a:rPr>
              <a:t> </a:t>
            </a:r>
            <a:r>
              <a:rPr sz="3950">
                <a:solidFill>
                  <a:srgbClr val="C00000"/>
                </a:solidFill>
              </a:rPr>
              <a:t>the</a:t>
            </a:r>
            <a:r>
              <a:rPr sz="3950" spc="70">
                <a:solidFill>
                  <a:srgbClr val="C00000"/>
                </a:solidFill>
              </a:rPr>
              <a:t> </a:t>
            </a:r>
            <a:r>
              <a:rPr sz="3950">
                <a:solidFill>
                  <a:srgbClr val="C00000"/>
                </a:solidFill>
              </a:rPr>
              <a:t>meantime…seminal work</a:t>
            </a:r>
            <a:r>
              <a:rPr sz="3950" spc="75">
                <a:solidFill>
                  <a:srgbClr val="C00000"/>
                </a:solidFill>
              </a:rPr>
              <a:t> </a:t>
            </a:r>
            <a:r>
              <a:rPr sz="3950" spc="-25">
                <a:solidFill>
                  <a:srgbClr val="C00000"/>
                </a:solidFill>
              </a:rPr>
              <a:t>in</a:t>
            </a:r>
            <a:endParaRPr sz="3950"/>
          </a:p>
          <a:p>
            <a:pPr marR="1905" algn="ctr">
              <a:lnSpc>
                <a:spcPct val="100000"/>
              </a:lnSpc>
              <a:spcBef>
                <a:spcPts val="70"/>
              </a:spcBef>
            </a:pPr>
            <a:r>
              <a:rPr sz="3950">
                <a:solidFill>
                  <a:srgbClr val="C00000"/>
                </a:solidFill>
              </a:rPr>
              <a:t>cognitive and</a:t>
            </a:r>
            <a:r>
              <a:rPr sz="3950" spc="-20">
                <a:solidFill>
                  <a:srgbClr val="C00000"/>
                </a:solidFill>
              </a:rPr>
              <a:t> </a:t>
            </a:r>
            <a:r>
              <a:rPr sz="3950" spc="-10">
                <a:solidFill>
                  <a:srgbClr val="C00000"/>
                </a:solidFill>
              </a:rPr>
              <a:t>neuroscience</a:t>
            </a:r>
            <a:endParaRPr sz="3950"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21</a:t>
            </a:fld>
            <a:endParaRPr spc="-25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>
              <a:lnSpc>
                <a:spcPts val="1810"/>
              </a:lnSpc>
            </a:pPr>
            <a:r>
              <a:t>April 1,</a:t>
            </a:r>
            <a:r>
              <a:rPr spc="-35"/>
              <a:t> </a:t>
            </a:r>
            <a:r>
              <a:rPr spc="-20"/>
              <a:t>2025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t>CS231n:</a:t>
            </a:r>
            <a:r>
              <a:rPr spc="-5"/>
              <a:t> </a:t>
            </a:r>
            <a:r>
              <a:t>Lecture</a:t>
            </a:r>
            <a:r>
              <a:rPr spc="95"/>
              <a:t> </a:t>
            </a:r>
            <a:r>
              <a:t>1</a:t>
            </a:r>
            <a:r>
              <a:rPr spc="15"/>
              <a:t> </a:t>
            </a:r>
            <a:r>
              <a:rPr spc="-50"/>
              <a:t>-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07657" y="4910517"/>
            <a:ext cx="2085339" cy="1536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Fei-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Fei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Li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9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Ehsan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Adeli</a:t>
            </a: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90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Zane Durante</a:t>
            </a:r>
            <a:endParaRPr sz="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4300" y="61598"/>
            <a:ext cx="8791575" cy="4415155"/>
            <a:chOff x="114300" y="61598"/>
            <a:chExt cx="8791575" cy="44151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300" y="971550"/>
              <a:ext cx="4286250" cy="347662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24375" y="971550"/>
              <a:ext cx="4381500" cy="35052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81325" y="61598"/>
              <a:ext cx="3619500" cy="871851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7075551" y="4508500"/>
            <a:ext cx="1939925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>
                <a:latin typeface="Calibri"/>
                <a:cs typeface="Calibri"/>
              </a:rPr>
              <a:t>I.</a:t>
            </a:r>
            <a:r>
              <a:rPr sz="1350" spc="-75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Biederman,</a:t>
            </a:r>
            <a:r>
              <a:rPr sz="1350" spc="-15">
                <a:latin typeface="Calibri"/>
                <a:cs typeface="Calibri"/>
              </a:rPr>
              <a:t> </a:t>
            </a:r>
            <a:r>
              <a:rPr sz="1350" i="1">
                <a:latin typeface="Calibri"/>
                <a:cs typeface="Calibri"/>
              </a:rPr>
              <a:t>Science</a:t>
            </a:r>
            <a:r>
              <a:rPr sz="1350">
                <a:latin typeface="Calibri"/>
                <a:cs typeface="Calibri"/>
              </a:rPr>
              <a:t>,</a:t>
            </a:r>
            <a:r>
              <a:rPr sz="1350" spc="-5">
                <a:latin typeface="Calibri"/>
                <a:cs typeface="Calibri"/>
              </a:rPr>
              <a:t> </a:t>
            </a:r>
            <a:r>
              <a:rPr sz="1350" spc="-20">
                <a:latin typeface="Calibri"/>
                <a:cs typeface="Calibri"/>
              </a:rPr>
              <a:t>1972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22</a:t>
            </a:fld>
            <a:endParaRPr spc="-25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>
              <a:lnSpc>
                <a:spcPts val="1810"/>
              </a:lnSpc>
            </a:pPr>
            <a:r>
              <a:t>April 1,</a:t>
            </a:r>
            <a:r>
              <a:rPr spc="-35"/>
              <a:t> </a:t>
            </a:r>
            <a:r>
              <a:rPr spc="-20"/>
              <a:t>2025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t>CS231n:</a:t>
            </a:r>
            <a:r>
              <a:rPr spc="-5"/>
              <a:t> </a:t>
            </a:r>
            <a:r>
              <a:t>Lecture</a:t>
            </a:r>
            <a:r>
              <a:rPr spc="95"/>
              <a:t> </a:t>
            </a:r>
            <a:r>
              <a:t>1</a:t>
            </a:r>
            <a:r>
              <a:rPr spc="15"/>
              <a:t> </a:t>
            </a:r>
            <a:r>
              <a:rPr spc="-50"/>
              <a:t>-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07657" y="4910517"/>
            <a:ext cx="2085339" cy="1536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Fei-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Fei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Li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9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Ehsan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Adeli</a:t>
            </a: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90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Zane Durante</a:t>
            </a:r>
            <a:endParaRPr sz="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2098" y="948816"/>
            <a:ext cx="5356701" cy="3080258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5781675" y="1047750"/>
            <a:ext cx="3105150" cy="3289935"/>
            <a:chOff x="5781675" y="1047750"/>
            <a:chExt cx="3105150" cy="328993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19686" y="1047750"/>
              <a:ext cx="3067138" cy="16002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81675" y="2647950"/>
              <a:ext cx="3092679" cy="1689652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476628" y="4356100"/>
            <a:ext cx="2216785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>
                <a:latin typeface="Calibri"/>
                <a:cs typeface="Calibri"/>
              </a:rPr>
              <a:t>Kanwisher</a:t>
            </a:r>
            <a:r>
              <a:rPr sz="1350" spc="-25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et</a:t>
            </a:r>
            <a:r>
              <a:rPr sz="1350" spc="-5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al.</a:t>
            </a:r>
            <a:r>
              <a:rPr sz="1350" spc="245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J.</a:t>
            </a:r>
            <a:r>
              <a:rPr sz="1350" spc="-45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Neuro.</a:t>
            </a:r>
            <a:r>
              <a:rPr sz="1350" spc="-45">
                <a:latin typeface="Calibri"/>
                <a:cs typeface="Calibri"/>
              </a:rPr>
              <a:t> </a:t>
            </a:r>
            <a:r>
              <a:rPr sz="1350" spc="-20">
                <a:latin typeface="Calibri"/>
                <a:cs typeface="Calibri"/>
              </a:rPr>
              <a:t>1997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23</a:t>
            </a:fld>
            <a:endParaRPr spc="-25"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>
              <a:lnSpc>
                <a:spcPts val="1810"/>
              </a:lnSpc>
            </a:pPr>
            <a:r>
              <a:t>April 1,</a:t>
            </a:r>
            <a:r>
              <a:rPr spc="-35"/>
              <a:t> </a:t>
            </a:r>
            <a:r>
              <a:rPr spc="-20"/>
              <a:t>2025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t>CS231n:</a:t>
            </a:r>
            <a:r>
              <a:rPr spc="-5"/>
              <a:t> </a:t>
            </a:r>
            <a:r>
              <a:t>Lecture</a:t>
            </a:r>
            <a:r>
              <a:rPr spc="95"/>
              <a:t> </a:t>
            </a:r>
            <a:r>
              <a:t>1</a:t>
            </a:r>
            <a:r>
              <a:rPr spc="15"/>
              <a:t> </a:t>
            </a:r>
            <a:r>
              <a:rPr spc="-50"/>
              <a:t>-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07657" y="4910517"/>
            <a:ext cx="2085339" cy="1536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Fei-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Fei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Li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9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Ehsan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Adeli</a:t>
            </a: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90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Zane Durante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06134" y="4356100"/>
            <a:ext cx="2426335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>
                <a:latin typeface="Calibri"/>
                <a:cs typeface="Calibri"/>
              </a:rPr>
              <a:t>Epstein</a:t>
            </a:r>
            <a:r>
              <a:rPr sz="1350" spc="-20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&amp;</a:t>
            </a:r>
            <a:r>
              <a:rPr sz="1350" spc="-65">
                <a:latin typeface="Calibri"/>
                <a:cs typeface="Calibri"/>
              </a:rPr>
              <a:t> </a:t>
            </a:r>
            <a:r>
              <a:rPr sz="1350" spc="-20">
                <a:latin typeface="Calibri"/>
                <a:cs typeface="Calibri"/>
              </a:rPr>
              <a:t>Kanwisher, </a:t>
            </a:r>
            <a:r>
              <a:rPr sz="1350" spc="-10">
                <a:latin typeface="Calibri"/>
                <a:cs typeface="Calibri"/>
              </a:rPr>
              <a:t>Nature,</a:t>
            </a:r>
            <a:r>
              <a:rPr sz="1350" spc="-15">
                <a:latin typeface="Calibri"/>
                <a:cs typeface="Calibri"/>
              </a:rPr>
              <a:t> </a:t>
            </a:r>
            <a:r>
              <a:rPr sz="1350" spc="-20">
                <a:latin typeface="Calibri"/>
                <a:cs typeface="Calibri"/>
              </a:rPr>
              <a:t>1998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609600" y="184149"/>
            <a:ext cx="8039734" cy="529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t>Neural</a:t>
            </a:r>
            <a:r>
              <a:rPr spc="-65"/>
              <a:t> </a:t>
            </a:r>
            <a:r>
              <a:rPr spc="-10"/>
              <a:t>correlates</a:t>
            </a:r>
            <a:r>
              <a:rPr spc="-55"/>
              <a:t> </a:t>
            </a:r>
            <a:r>
              <a:t>of</a:t>
            </a:r>
            <a:r>
              <a:rPr spc="-5"/>
              <a:t> </a:t>
            </a:r>
            <a:r>
              <a:t>object</a:t>
            </a:r>
            <a:r>
              <a:rPr spc="-35"/>
              <a:t> </a:t>
            </a:r>
            <a:r>
              <a:t>&amp;</a:t>
            </a:r>
            <a:r>
              <a:rPr spc="-45"/>
              <a:t> </a:t>
            </a:r>
            <a:r>
              <a:t>scene</a:t>
            </a:r>
            <a:r>
              <a:rPr spc="-45"/>
              <a:t> </a:t>
            </a:r>
            <a:r>
              <a:rPr spc="-10"/>
              <a:t>recognition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1555" y="1049718"/>
            <a:ext cx="7385684" cy="112903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736725" marR="5080" indent="-1724660">
              <a:lnSpc>
                <a:spcPct val="100899"/>
              </a:lnSpc>
              <a:spcBef>
                <a:spcPts val="65"/>
              </a:spcBef>
            </a:pPr>
            <a:r>
              <a:rPr sz="3600">
                <a:solidFill>
                  <a:srgbClr val="C00000"/>
                </a:solidFill>
              </a:rPr>
              <a:t>Visual</a:t>
            </a:r>
            <a:r>
              <a:rPr sz="3600" spc="-85">
                <a:solidFill>
                  <a:srgbClr val="C00000"/>
                </a:solidFill>
              </a:rPr>
              <a:t> </a:t>
            </a:r>
            <a:r>
              <a:rPr sz="3600">
                <a:solidFill>
                  <a:srgbClr val="C00000"/>
                </a:solidFill>
              </a:rPr>
              <a:t>recognition</a:t>
            </a:r>
            <a:r>
              <a:rPr sz="3600" spc="-100">
                <a:solidFill>
                  <a:srgbClr val="C00000"/>
                </a:solidFill>
              </a:rPr>
              <a:t> </a:t>
            </a:r>
            <a:r>
              <a:rPr sz="3600">
                <a:solidFill>
                  <a:srgbClr val="C00000"/>
                </a:solidFill>
              </a:rPr>
              <a:t>is</a:t>
            </a:r>
            <a:r>
              <a:rPr sz="3600" spc="-70">
                <a:solidFill>
                  <a:srgbClr val="C00000"/>
                </a:solidFill>
              </a:rPr>
              <a:t> </a:t>
            </a:r>
            <a:r>
              <a:rPr sz="3600">
                <a:solidFill>
                  <a:srgbClr val="C00000"/>
                </a:solidFill>
              </a:rPr>
              <a:t>a</a:t>
            </a:r>
            <a:r>
              <a:rPr sz="3600" spc="-70">
                <a:solidFill>
                  <a:srgbClr val="C00000"/>
                </a:solidFill>
              </a:rPr>
              <a:t> </a:t>
            </a:r>
            <a:r>
              <a:rPr sz="3600">
                <a:solidFill>
                  <a:srgbClr val="C00000"/>
                </a:solidFill>
              </a:rPr>
              <a:t>fundamental</a:t>
            </a:r>
            <a:r>
              <a:rPr sz="3600" spc="-85">
                <a:solidFill>
                  <a:srgbClr val="C00000"/>
                </a:solidFill>
              </a:rPr>
              <a:t> </a:t>
            </a:r>
            <a:r>
              <a:rPr sz="3600" spc="-20">
                <a:solidFill>
                  <a:srgbClr val="C00000"/>
                </a:solidFill>
              </a:rPr>
              <a:t>task </a:t>
            </a:r>
            <a:r>
              <a:rPr sz="3600">
                <a:solidFill>
                  <a:srgbClr val="C00000"/>
                </a:solidFill>
              </a:rPr>
              <a:t>for</a:t>
            </a:r>
            <a:r>
              <a:rPr sz="3600" spc="-100">
                <a:solidFill>
                  <a:srgbClr val="C00000"/>
                </a:solidFill>
              </a:rPr>
              <a:t> </a:t>
            </a:r>
            <a:r>
              <a:rPr sz="3600">
                <a:solidFill>
                  <a:srgbClr val="C00000"/>
                </a:solidFill>
              </a:rPr>
              <a:t>visual</a:t>
            </a:r>
            <a:r>
              <a:rPr sz="3600" spc="-50">
                <a:solidFill>
                  <a:srgbClr val="C00000"/>
                </a:solidFill>
              </a:rPr>
              <a:t> </a:t>
            </a:r>
            <a:r>
              <a:rPr sz="3600" spc="-10">
                <a:solidFill>
                  <a:srgbClr val="C00000"/>
                </a:solidFill>
              </a:rPr>
              <a:t>intelligence</a:t>
            </a:r>
            <a:endParaRPr sz="3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800" y="3181350"/>
            <a:ext cx="1809750" cy="146685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3581400" y="3171825"/>
            <a:ext cx="2209800" cy="1476375"/>
            <a:chOff x="3581400" y="3171825"/>
            <a:chExt cx="2209800" cy="147637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81400" y="3181350"/>
              <a:ext cx="1104900" cy="146685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76775" y="3905250"/>
              <a:ext cx="1104900" cy="74295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86300" y="3171825"/>
              <a:ext cx="1104900" cy="742950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6781800" y="2533650"/>
            <a:ext cx="2028825" cy="2136140"/>
            <a:chOff x="6781800" y="2533650"/>
            <a:chExt cx="2028825" cy="2136140"/>
          </a:xfrm>
        </p:grpSpPr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81800" y="2533650"/>
              <a:ext cx="2028825" cy="103822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00850" y="3571875"/>
              <a:ext cx="1993165" cy="1097791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24</a:t>
            </a:fld>
            <a:endParaRPr spc="-25"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>
              <a:lnSpc>
                <a:spcPts val="1810"/>
              </a:lnSpc>
            </a:pPr>
            <a:r>
              <a:t>April 1,</a:t>
            </a:r>
            <a:r>
              <a:rPr spc="-35"/>
              <a:t> </a:t>
            </a:r>
            <a:r>
              <a:rPr spc="-20"/>
              <a:t>2025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t>CS231n:</a:t>
            </a:r>
            <a:r>
              <a:rPr spc="-5"/>
              <a:t> </a:t>
            </a:r>
            <a:r>
              <a:t>Lecture</a:t>
            </a:r>
            <a:r>
              <a:rPr spc="95"/>
              <a:t> </a:t>
            </a:r>
            <a:r>
              <a:t>1</a:t>
            </a:r>
            <a:r>
              <a:rPr spc="15"/>
              <a:t> </a:t>
            </a:r>
            <a:r>
              <a:rPr spc="-50"/>
              <a:t>-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307657" y="4910517"/>
            <a:ext cx="2085339" cy="1536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Fei-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Fei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Li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9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Ehsan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Adeli</a:t>
            </a: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90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Zane Durante</a:t>
            </a:r>
            <a:endParaRPr sz="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4775" y="4133850"/>
            <a:ext cx="4396105" cy="171450"/>
          </a:xfrm>
          <a:custGeom>
            <a:avLst/>
            <a:gdLst/>
            <a:ahLst/>
            <a:cxnLst/>
            <a:rect l="l" t="t" r="r" b="b"/>
            <a:pathLst>
              <a:path w="4396105" h="171450">
                <a:moveTo>
                  <a:pt x="0" y="171450"/>
                </a:moveTo>
                <a:lnTo>
                  <a:pt x="4395851" y="171450"/>
                </a:lnTo>
              </a:path>
              <a:path w="4396105" h="171450">
                <a:moveTo>
                  <a:pt x="542925" y="171450"/>
                </a:moveTo>
                <a:lnTo>
                  <a:pt x="542925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319776" y="4133850"/>
            <a:ext cx="511809" cy="171450"/>
          </a:xfrm>
          <a:custGeom>
            <a:avLst/>
            <a:gdLst/>
            <a:ahLst/>
            <a:cxnLst/>
            <a:rect l="l" t="t" r="r" b="b"/>
            <a:pathLst>
              <a:path w="511810" h="171450">
                <a:moveTo>
                  <a:pt x="0" y="171450"/>
                </a:moveTo>
                <a:lnTo>
                  <a:pt x="511428" y="171450"/>
                </a:lnTo>
              </a:path>
              <a:path w="511810" h="171450">
                <a:moveTo>
                  <a:pt x="499999" y="171450"/>
                </a:moveTo>
                <a:lnTo>
                  <a:pt x="499999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76212" y="3862387"/>
            <a:ext cx="876300" cy="2762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R="3175" algn="ctr">
              <a:lnSpc>
                <a:spcPct val="100000"/>
              </a:lnSpc>
              <a:spcBef>
                <a:spcPts val="105"/>
              </a:spcBef>
            </a:pPr>
            <a:r>
              <a:rPr sz="800" spc="-20">
                <a:latin typeface="Calibri"/>
                <a:cs typeface="Calibri"/>
              </a:rPr>
              <a:t>1959</a:t>
            </a:r>
            <a:endParaRPr sz="800">
              <a:latin typeface="Calibri"/>
              <a:cs typeface="Calibri"/>
            </a:endParaRPr>
          </a:p>
          <a:p>
            <a:pPr marR="3175" algn="ctr">
              <a:lnSpc>
                <a:spcPct val="100000"/>
              </a:lnSpc>
              <a:spcBef>
                <a:spcPts val="15"/>
              </a:spcBef>
            </a:pPr>
            <a:r>
              <a:rPr sz="800">
                <a:latin typeface="Calibri"/>
                <a:cs typeface="Calibri"/>
              </a:rPr>
              <a:t>Hubel</a:t>
            </a:r>
            <a:r>
              <a:rPr sz="800" spc="-20">
                <a:latin typeface="Calibri"/>
                <a:cs typeface="Calibri"/>
              </a:rPr>
              <a:t> </a:t>
            </a:r>
            <a:r>
              <a:rPr sz="800">
                <a:latin typeface="Calibri"/>
                <a:cs typeface="Calibri"/>
              </a:rPr>
              <a:t>&amp;</a:t>
            </a:r>
            <a:r>
              <a:rPr sz="800" spc="-15">
                <a:latin typeface="Calibri"/>
                <a:cs typeface="Calibri"/>
              </a:rPr>
              <a:t> </a:t>
            </a:r>
            <a:r>
              <a:rPr sz="800" spc="-10">
                <a:latin typeface="Calibri"/>
                <a:cs typeface="Calibri"/>
              </a:rPr>
              <a:t>Wiesel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00150" y="4133850"/>
            <a:ext cx="0" cy="171450"/>
          </a:xfrm>
          <a:custGeom>
            <a:avLst/>
            <a:gdLst/>
            <a:ahLst/>
            <a:cxnLst/>
            <a:rect l="l" t="t" r="r" b="b"/>
            <a:pathLst>
              <a:path h="171450">
                <a:moveTo>
                  <a:pt x="0" y="17145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96181" y="3862387"/>
            <a:ext cx="656590" cy="2762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R="8890" algn="ctr">
              <a:lnSpc>
                <a:spcPts val="1040"/>
              </a:lnSpc>
            </a:pPr>
            <a:r>
              <a:rPr sz="900" spc="-20">
                <a:latin typeface="Calibri"/>
                <a:cs typeface="Calibri"/>
              </a:rPr>
              <a:t>1963</a:t>
            </a:r>
            <a:endParaRPr sz="900">
              <a:latin typeface="Calibri"/>
              <a:cs typeface="Calibri"/>
            </a:endParaRPr>
          </a:p>
          <a:p>
            <a:pPr marR="10795" algn="ctr">
              <a:lnSpc>
                <a:spcPct val="100000"/>
              </a:lnSpc>
              <a:spcBef>
                <a:spcPts val="45"/>
              </a:spcBef>
            </a:pPr>
            <a:r>
              <a:rPr sz="900" spc="-10">
                <a:latin typeface="Calibri"/>
                <a:cs typeface="Calibri"/>
              </a:rPr>
              <a:t>Roberts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847975" y="4133850"/>
            <a:ext cx="0" cy="171450"/>
          </a:xfrm>
          <a:custGeom>
            <a:avLst/>
            <a:gdLst/>
            <a:ahLst/>
            <a:cxnLst/>
            <a:rect l="l" t="t" r="r" b="b"/>
            <a:pathLst>
              <a:path h="171450">
                <a:moveTo>
                  <a:pt x="0" y="17145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033651" y="3862387"/>
            <a:ext cx="876300" cy="2762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040"/>
              </a:lnSpc>
            </a:pPr>
            <a:r>
              <a:rPr sz="900" spc="-10">
                <a:latin typeface="Calibri"/>
                <a:cs typeface="Calibri"/>
              </a:rPr>
              <a:t>1970s</a:t>
            </a:r>
            <a:endParaRPr sz="9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45"/>
              </a:spcBef>
            </a:pPr>
            <a:r>
              <a:rPr sz="900" spc="-10">
                <a:latin typeface="Calibri"/>
                <a:cs typeface="Calibri"/>
              </a:rPr>
              <a:t>David </a:t>
            </a:r>
            <a:r>
              <a:rPr sz="900" spc="-20">
                <a:latin typeface="Calibri"/>
                <a:cs typeface="Calibri"/>
              </a:rPr>
              <a:t>Marr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390900" y="4133850"/>
            <a:ext cx="0" cy="171450"/>
          </a:xfrm>
          <a:custGeom>
            <a:avLst/>
            <a:gdLst/>
            <a:ahLst/>
            <a:cxnLst/>
            <a:rect l="l" t="t" r="r" b="b"/>
            <a:pathLst>
              <a:path h="171450">
                <a:moveTo>
                  <a:pt x="0" y="17145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976626" y="3862387"/>
            <a:ext cx="1038225" cy="2762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175" algn="ctr">
              <a:lnSpc>
                <a:spcPts val="1040"/>
              </a:lnSpc>
            </a:pPr>
            <a:r>
              <a:rPr sz="900" spc="-20">
                <a:latin typeface="Calibri"/>
                <a:cs typeface="Calibri"/>
              </a:rPr>
              <a:t>1979</a:t>
            </a:r>
            <a:endParaRPr sz="900">
              <a:latin typeface="Calibri"/>
              <a:cs typeface="Calibri"/>
            </a:endParaRPr>
          </a:p>
          <a:p>
            <a:pPr marL="4445" algn="ctr">
              <a:lnSpc>
                <a:spcPct val="100000"/>
              </a:lnSpc>
              <a:spcBef>
                <a:spcPts val="45"/>
              </a:spcBef>
            </a:pPr>
            <a:r>
              <a:rPr sz="900">
                <a:latin typeface="Calibri"/>
                <a:cs typeface="Calibri"/>
              </a:rPr>
              <a:t>Gen.</a:t>
            </a:r>
            <a:r>
              <a:rPr sz="900" spc="5">
                <a:latin typeface="Calibri"/>
                <a:cs typeface="Calibri"/>
              </a:rPr>
              <a:t> </a:t>
            </a:r>
            <a:r>
              <a:rPr sz="900" spc="-10">
                <a:latin typeface="Calibri"/>
                <a:cs typeface="Calibri"/>
              </a:rPr>
              <a:t>Cylinders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352925" y="4133850"/>
            <a:ext cx="0" cy="171450"/>
          </a:xfrm>
          <a:custGeom>
            <a:avLst/>
            <a:gdLst/>
            <a:ahLst/>
            <a:cxnLst/>
            <a:rect l="l" t="t" r="r" b="b"/>
            <a:pathLst>
              <a:path h="171450">
                <a:moveTo>
                  <a:pt x="0" y="17145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129151" y="3862387"/>
            <a:ext cx="561975" cy="2762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67640">
              <a:lnSpc>
                <a:spcPts val="1040"/>
              </a:lnSpc>
            </a:pPr>
            <a:r>
              <a:rPr sz="900" spc="-20">
                <a:latin typeface="Calibri"/>
                <a:cs typeface="Calibri"/>
              </a:rPr>
              <a:t>1986</a:t>
            </a:r>
            <a:endParaRPr sz="900">
              <a:latin typeface="Calibri"/>
              <a:cs typeface="Calibri"/>
            </a:endParaRPr>
          </a:p>
          <a:p>
            <a:pPr marL="138430">
              <a:lnSpc>
                <a:spcPct val="100000"/>
              </a:lnSpc>
              <a:spcBef>
                <a:spcPts val="45"/>
              </a:spcBef>
            </a:pPr>
            <a:r>
              <a:rPr sz="900" spc="-10">
                <a:latin typeface="Calibri"/>
                <a:cs typeface="Calibri"/>
              </a:rPr>
              <a:t>Canny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7950" y="4614545"/>
            <a:ext cx="749300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u="sng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2"/>
              </a:rPr>
              <a:t>Left</a:t>
            </a:r>
            <a:r>
              <a:rPr sz="600" u="sng" spc="-35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600" u="sng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2"/>
              </a:rPr>
              <a:t>Image</a:t>
            </a:r>
            <a:r>
              <a:rPr sz="600" u="sng" spc="114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</a:rPr>
              <a:t> </a:t>
            </a:r>
            <a:r>
              <a:rPr sz="600">
                <a:solidFill>
                  <a:srgbClr val="BEBEBE"/>
                </a:solidFill>
                <a:latin typeface="Calibri"/>
                <a:cs typeface="Calibri"/>
              </a:rPr>
              <a:t>is</a:t>
            </a:r>
            <a:r>
              <a:rPr sz="600" spc="-2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600" u="sng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3"/>
              </a:rPr>
              <a:t>CC</a:t>
            </a:r>
            <a:r>
              <a:rPr sz="600" u="sng" spc="55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600" u="sng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3"/>
              </a:rPr>
              <a:t>BY</a:t>
            </a:r>
            <a:r>
              <a:rPr sz="600" u="sng" spc="5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600" u="sng" spc="-25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3"/>
              </a:rPr>
              <a:t>3.0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17155" y="4614545"/>
            <a:ext cx="2170430" cy="212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20115" algn="l"/>
              </a:tabLst>
            </a:pPr>
            <a:r>
              <a:rPr sz="600" u="sng" spc="-114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sz="600" u="sng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4"/>
              </a:rPr>
              <a:t>Middl</a:t>
            </a:r>
            <a:r>
              <a:rPr sz="600" u="sng" spc="1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sz="600" u="sng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4"/>
              </a:rPr>
              <a:t>Image</a:t>
            </a:r>
            <a:r>
              <a:rPr sz="600" u="sng" spc="105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</a:rPr>
              <a:t> </a:t>
            </a:r>
            <a:r>
              <a:rPr sz="600">
                <a:solidFill>
                  <a:srgbClr val="BEBEBE"/>
                </a:solidFill>
                <a:latin typeface="Calibri"/>
                <a:cs typeface="Calibri"/>
              </a:rPr>
              <a:t>is</a:t>
            </a:r>
            <a:r>
              <a:rPr sz="600" spc="-5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600" spc="-10">
                <a:solidFill>
                  <a:srgbClr val="BEBEBE"/>
                </a:solidFill>
                <a:latin typeface="Calibri"/>
                <a:cs typeface="Calibri"/>
              </a:rPr>
              <a:t>public</a:t>
            </a:r>
            <a:r>
              <a:rPr sz="600">
                <a:solidFill>
                  <a:srgbClr val="BEBEBE"/>
                </a:solidFill>
                <a:latin typeface="Calibri"/>
                <a:cs typeface="Calibri"/>
              </a:rPr>
              <a:t>	</a:t>
            </a:r>
            <a:r>
              <a:rPr sz="900" u="sng" spc="-179" baseline="4629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sz="900" u="sng" baseline="4629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5"/>
              </a:rPr>
              <a:t>Right</a:t>
            </a:r>
            <a:r>
              <a:rPr sz="900" u="sng" spc="44" baseline="4629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sz="900" u="sng" spc="-15" baseline="4629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5"/>
              </a:rPr>
              <a:t>Image</a:t>
            </a:r>
            <a:r>
              <a:rPr sz="900" spc="-30" baseline="4629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900" baseline="4629">
                <a:solidFill>
                  <a:srgbClr val="BEBEBE"/>
                </a:solidFill>
                <a:latin typeface="Calibri"/>
                <a:cs typeface="Calibri"/>
              </a:rPr>
              <a:t>is</a:t>
            </a:r>
            <a:r>
              <a:rPr sz="900" spc="-89" baseline="4629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900" u="sng" spc="-135" baseline="4629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6"/>
              </a:rPr>
              <a:t> </a:t>
            </a:r>
            <a:r>
              <a:rPr sz="900" u="sng" spc="-15" baseline="4629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6"/>
              </a:rPr>
              <a:t>CC-</a:t>
            </a:r>
            <a:r>
              <a:rPr sz="900" u="sng" baseline="4629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6"/>
              </a:rPr>
              <a:t>BY</a:t>
            </a:r>
            <a:r>
              <a:rPr sz="900" u="sng" spc="22" baseline="4629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6"/>
              </a:rPr>
              <a:t> </a:t>
            </a:r>
            <a:r>
              <a:rPr sz="900" u="sng" baseline="4629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6"/>
              </a:rPr>
              <a:t>2.0</a:t>
            </a:r>
            <a:r>
              <a:rPr sz="900" baseline="4629">
                <a:solidFill>
                  <a:srgbClr val="BEBEBE"/>
                </a:solidFill>
                <a:latin typeface="Calibri"/>
                <a:cs typeface="Calibri"/>
              </a:rPr>
              <a:t>; </a:t>
            </a:r>
            <a:r>
              <a:rPr sz="900" spc="-15" baseline="4629">
                <a:solidFill>
                  <a:srgbClr val="BEBEBE"/>
                </a:solidFill>
                <a:latin typeface="Calibri"/>
                <a:cs typeface="Calibri"/>
              </a:rPr>
              <a:t>changes</a:t>
            </a:r>
            <a:r>
              <a:rPr sz="900" spc="7" baseline="4629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900" spc="-15" baseline="4629">
                <a:solidFill>
                  <a:srgbClr val="BEBEBE"/>
                </a:solidFill>
                <a:latin typeface="Calibri"/>
                <a:cs typeface="Calibri"/>
              </a:rPr>
              <a:t>made</a:t>
            </a:r>
            <a:endParaRPr sz="900" baseline="4629">
              <a:latin typeface="Calibri"/>
              <a:cs typeface="Calibri"/>
            </a:endParaRPr>
          </a:p>
          <a:p>
            <a:pPr marL="236220">
              <a:lnSpc>
                <a:spcPct val="100000"/>
              </a:lnSpc>
              <a:spcBef>
                <a:spcPts val="30"/>
              </a:spcBef>
            </a:pPr>
            <a:r>
              <a:rPr sz="600" spc="-10">
                <a:solidFill>
                  <a:srgbClr val="BEBEBE"/>
                </a:solidFill>
                <a:latin typeface="Calibri"/>
                <a:cs typeface="Calibri"/>
              </a:rPr>
              <a:t>domain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743075" y="685800"/>
            <a:ext cx="5219700" cy="3000375"/>
            <a:chOff x="1743075" y="685800"/>
            <a:chExt cx="5219700" cy="3000375"/>
          </a:xfrm>
        </p:grpSpPr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43075" y="695325"/>
              <a:ext cx="2000250" cy="149542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62125" y="2190750"/>
              <a:ext cx="4238625" cy="149542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743325" y="695325"/>
              <a:ext cx="2247900" cy="1495425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019800" y="685800"/>
              <a:ext cx="942975" cy="149542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019800" y="2209800"/>
              <a:ext cx="942975" cy="1476375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5072126" y="3862387"/>
            <a:ext cx="751840" cy="2762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0795" algn="ctr">
              <a:lnSpc>
                <a:spcPts val="1040"/>
              </a:lnSpc>
            </a:pPr>
            <a:r>
              <a:rPr sz="900" spc="-20">
                <a:latin typeface="Calibri"/>
                <a:cs typeface="Calibri"/>
              </a:rPr>
              <a:t>1997</a:t>
            </a:r>
            <a:endParaRPr sz="900">
              <a:latin typeface="Calibri"/>
              <a:cs typeface="Calibri"/>
            </a:endParaRPr>
          </a:p>
          <a:p>
            <a:pPr marL="8890" algn="ctr">
              <a:lnSpc>
                <a:spcPct val="100000"/>
              </a:lnSpc>
              <a:spcBef>
                <a:spcPts val="45"/>
              </a:spcBef>
            </a:pPr>
            <a:r>
              <a:rPr sz="900">
                <a:latin typeface="Calibri"/>
                <a:cs typeface="Calibri"/>
              </a:rPr>
              <a:t>Norm.</a:t>
            </a:r>
            <a:r>
              <a:rPr sz="900" spc="10">
                <a:latin typeface="Calibri"/>
                <a:cs typeface="Calibri"/>
              </a:rPr>
              <a:t> </a:t>
            </a:r>
            <a:r>
              <a:rPr sz="900" spc="-20">
                <a:latin typeface="Calibri"/>
                <a:cs typeface="Calibri"/>
              </a:rPr>
              <a:t>Cuts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25</a:t>
            </a:fld>
            <a:endParaRPr spc="-25"/>
          </a:p>
        </p:txBody>
      </p: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>
              <a:lnSpc>
                <a:spcPts val="1810"/>
              </a:lnSpc>
            </a:pPr>
            <a:r>
              <a:t>April 1,</a:t>
            </a:r>
            <a:r>
              <a:rPr spc="-35"/>
              <a:t> </a:t>
            </a:r>
            <a:r>
              <a:rPr spc="-20"/>
              <a:t>2025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t>CS231n:</a:t>
            </a:r>
            <a:r>
              <a:rPr spc="-5"/>
              <a:t> </a:t>
            </a:r>
            <a:r>
              <a:t>Lecture</a:t>
            </a:r>
            <a:r>
              <a:rPr spc="95"/>
              <a:t> </a:t>
            </a:r>
            <a:r>
              <a:t>1</a:t>
            </a:r>
            <a:r>
              <a:rPr spc="15"/>
              <a:t> </a:t>
            </a:r>
            <a:r>
              <a:rPr spc="-50"/>
              <a:t>-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307657" y="4910517"/>
            <a:ext cx="2085339" cy="1536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Fei-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Fei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Li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9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Ehsan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Adeli</a:t>
            </a: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90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Zane Durante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500626" y="4205287"/>
            <a:ext cx="819150" cy="209550"/>
          </a:xfrm>
          <a:prstGeom prst="rect">
            <a:avLst/>
          </a:prstGeom>
          <a:solidFill>
            <a:srgbClr val="4F81BC"/>
          </a:solidFill>
          <a:ln w="25400">
            <a:solidFill>
              <a:srgbClr val="385D89"/>
            </a:solidFill>
          </a:ln>
        </p:spPr>
        <p:txBody>
          <a:bodyPr vert="horz" wrap="square" lIns="0" tIns="16510" rIns="0" bIns="0" rtlCol="0">
            <a:spAutoFit/>
          </a:bodyPr>
          <a:lstStyle/>
          <a:p>
            <a:pPr marL="149860">
              <a:lnSpc>
                <a:spcPct val="100000"/>
              </a:lnSpc>
              <a:spcBef>
                <a:spcPts val="130"/>
              </a:spcBef>
            </a:pPr>
            <a:r>
              <a:rPr sz="1050">
                <a:solidFill>
                  <a:srgbClr val="FFFFFF"/>
                </a:solidFill>
                <a:latin typeface="Calibri"/>
                <a:cs typeface="Calibri"/>
              </a:rPr>
              <a:t>AI</a:t>
            </a:r>
            <a:r>
              <a:rPr sz="1050" spc="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spc="-10">
                <a:solidFill>
                  <a:srgbClr val="FFFFFF"/>
                </a:solidFill>
                <a:latin typeface="Calibri"/>
                <a:cs typeface="Calibri"/>
              </a:rPr>
              <a:t>Winter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418834" y="4041457"/>
            <a:ext cx="233108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>
                <a:latin typeface="Calibri"/>
                <a:cs typeface="Calibri"/>
              </a:rPr>
              <a:t>Normalized</a:t>
            </a:r>
            <a:r>
              <a:rPr sz="1200" spc="-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Cuts,</a:t>
            </a:r>
            <a:r>
              <a:rPr sz="1200" spc="-4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Shi</a:t>
            </a:r>
            <a:r>
              <a:rPr sz="1200" spc="-2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and Malik,</a:t>
            </a:r>
            <a:r>
              <a:rPr sz="1200" spc="30">
                <a:latin typeface="Calibri"/>
                <a:cs typeface="Calibri"/>
              </a:rPr>
              <a:t> </a:t>
            </a:r>
            <a:r>
              <a:rPr sz="1200" spc="-20">
                <a:latin typeface="Calibri"/>
                <a:cs typeface="Calibri"/>
              </a:rPr>
              <a:t>1997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3039" rIns="0" bIns="0" rtlCol="0">
            <a:spAutoFit/>
          </a:bodyPr>
          <a:lstStyle/>
          <a:p>
            <a:pPr marL="1083945">
              <a:lnSpc>
                <a:spcPct val="100000"/>
              </a:lnSpc>
              <a:spcBef>
                <a:spcPts val="105"/>
              </a:spcBef>
            </a:pPr>
            <a:r>
              <a:rPr sz="3000"/>
              <a:t>Recognition</a:t>
            </a:r>
            <a:r>
              <a:rPr sz="3000" spc="-70"/>
              <a:t> </a:t>
            </a:r>
            <a:r>
              <a:rPr sz="3000"/>
              <a:t>via</a:t>
            </a:r>
            <a:r>
              <a:rPr sz="3000" spc="-80"/>
              <a:t> </a:t>
            </a:r>
            <a:r>
              <a:rPr sz="3000"/>
              <a:t>Grouping</a:t>
            </a:r>
            <a:r>
              <a:rPr sz="3000" spc="-55"/>
              <a:t> </a:t>
            </a:r>
            <a:r>
              <a:rPr sz="3000" spc="-10"/>
              <a:t>(1990s)</a:t>
            </a:r>
            <a:endParaRPr sz="3000"/>
          </a:p>
        </p:txBody>
      </p:sp>
      <p:sp>
        <p:nvSpPr>
          <p:cNvPr id="25" name="object 25"/>
          <p:cNvSpPr txBox="1"/>
          <p:nvPr/>
        </p:nvSpPr>
        <p:spPr>
          <a:xfrm>
            <a:off x="7325359" y="4585334"/>
            <a:ext cx="174117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>
                <a:latin typeface="Calibri"/>
                <a:cs typeface="Calibri"/>
              </a:rPr>
              <a:t>Slide</a:t>
            </a:r>
            <a:r>
              <a:rPr sz="1050" spc="-30">
                <a:latin typeface="Calibri"/>
                <a:cs typeface="Calibri"/>
              </a:rPr>
              <a:t> </a:t>
            </a:r>
            <a:r>
              <a:rPr sz="1050">
                <a:latin typeface="Calibri"/>
                <a:cs typeface="Calibri"/>
              </a:rPr>
              <a:t>inspiration:</a:t>
            </a:r>
            <a:r>
              <a:rPr sz="1050" spc="-10">
                <a:latin typeface="Calibri"/>
                <a:cs typeface="Calibri"/>
              </a:rPr>
              <a:t> Justin</a:t>
            </a:r>
            <a:r>
              <a:rPr sz="1050" spc="-50">
                <a:latin typeface="Calibri"/>
                <a:cs typeface="Calibri"/>
              </a:rPr>
              <a:t> </a:t>
            </a:r>
            <a:r>
              <a:rPr sz="1050" spc="-10">
                <a:latin typeface="Calibri"/>
                <a:cs typeface="Calibri"/>
              </a:rPr>
              <a:t>Johnson</a:t>
            </a:r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4775" y="4133850"/>
            <a:ext cx="6043930" cy="171450"/>
          </a:xfrm>
          <a:custGeom>
            <a:avLst/>
            <a:gdLst/>
            <a:ahLst/>
            <a:cxnLst/>
            <a:rect l="l" t="t" r="r" b="b"/>
            <a:pathLst>
              <a:path w="6043930" h="171450">
                <a:moveTo>
                  <a:pt x="0" y="171450"/>
                </a:moveTo>
                <a:lnTo>
                  <a:pt x="4395851" y="171450"/>
                </a:lnTo>
              </a:path>
              <a:path w="6043930" h="171450">
                <a:moveTo>
                  <a:pt x="5215001" y="171450"/>
                </a:moveTo>
                <a:lnTo>
                  <a:pt x="6043676" y="171450"/>
                </a:lnTo>
              </a:path>
              <a:path w="6043930" h="171450">
                <a:moveTo>
                  <a:pt x="542925" y="171450"/>
                </a:moveTo>
                <a:lnTo>
                  <a:pt x="542925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76212" y="3862387"/>
            <a:ext cx="876300" cy="2762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R="3175" algn="ctr">
              <a:lnSpc>
                <a:spcPct val="100000"/>
              </a:lnSpc>
              <a:spcBef>
                <a:spcPts val="105"/>
              </a:spcBef>
            </a:pPr>
            <a:r>
              <a:rPr sz="800" spc="-20">
                <a:latin typeface="Calibri"/>
                <a:cs typeface="Calibri"/>
              </a:rPr>
              <a:t>1959</a:t>
            </a:r>
            <a:endParaRPr sz="800">
              <a:latin typeface="Calibri"/>
              <a:cs typeface="Calibri"/>
            </a:endParaRPr>
          </a:p>
          <a:p>
            <a:pPr marR="3175" algn="ctr">
              <a:lnSpc>
                <a:spcPct val="100000"/>
              </a:lnSpc>
              <a:spcBef>
                <a:spcPts val="15"/>
              </a:spcBef>
            </a:pPr>
            <a:r>
              <a:rPr sz="800">
                <a:latin typeface="Calibri"/>
                <a:cs typeface="Calibri"/>
              </a:rPr>
              <a:t>Hubel</a:t>
            </a:r>
            <a:r>
              <a:rPr sz="800" spc="-20">
                <a:latin typeface="Calibri"/>
                <a:cs typeface="Calibri"/>
              </a:rPr>
              <a:t> </a:t>
            </a:r>
            <a:r>
              <a:rPr sz="800">
                <a:latin typeface="Calibri"/>
                <a:cs typeface="Calibri"/>
              </a:rPr>
              <a:t>&amp;</a:t>
            </a:r>
            <a:r>
              <a:rPr sz="800" spc="-15">
                <a:latin typeface="Calibri"/>
                <a:cs typeface="Calibri"/>
              </a:rPr>
              <a:t> </a:t>
            </a:r>
            <a:r>
              <a:rPr sz="800" spc="-10">
                <a:latin typeface="Calibri"/>
                <a:cs typeface="Calibri"/>
              </a:rPr>
              <a:t>Wiesel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00150" y="4133850"/>
            <a:ext cx="0" cy="171450"/>
          </a:xfrm>
          <a:custGeom>
            <a:avLst/>
            <a:gdLst/>
            <a:ahLst/>
            <a:cxnLst/>
            <a:rect l="l" t="t" r="r" b="b"/>
            <a:pathLst>
              <a:path h="171450">
                <a:moveTo>
                  <a:pt x="0" y="17145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96181" y="3862387"/>
            <a:ext cx="656590" cy="2762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R="8890" algn="ctr">
              <a:lnSpc>
                <a:spcPts val="1040"/>
              </a:lnSpc>
            </a:pPr>
            <a:r>
              <a:rPr sz="900" spc="-20">
                <a:latin typeface="Calibri"/>
                <a:cs typeface="Calibri"/>
              </a:rPr>
              <a:t>1963</a:t>
            </a:r>
            <a:endParaRPr sz="900">
              <a:latin typeface="Calibri"/>
              <a:cs typeface="Calibri"/>
            </a:endParaRPr>
          </a:p>
          <a:p>
            <a:pPr marR="10795" algn="ctr">
              <a:lnSpc>
                <a:spcPct val="100000"/>
              </a:lnSpc>
              <a:spcBef>
                <a:spcPts val="45"/>
              </a:spcBef>
            </a:pPr>
            <a:r>
              <a:rPr sz="900" spc="-10">
                <a:latin typeface="Calibri"/>
                <a:cs typeface="Calibri"/>
              </a:rPr>
              <a:t>Roberts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847975" y="4133850"/>
            <a:ext cx="0" cy="171450"/>
          </a:xfrm>
          <a:custGeom>
            <a:avLst/>
            <a:gdLst/>
            <a:ahLst/>
            <a:cxnLst/>
            <a:rect l="l" t="t" r="r" b="b"/>
            <a:pathLst>
              <a:path h="171450">
                <a:moveTo>
                  <a:pt x="0" y="17145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033651" y="3862387"/>
            <a:ext cx="876300" cy="2762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040"/>
              </a:lnSpc>
            </a:pPr>
            <a:r>
              <a:rPr sz="900" spc="-10">
                <a:latin typeface="Calibri"/>
                <a:cs typeface="Calibri"/>
              </a:rPr>
              <a:t>1970s</a:t>
            </a:r>
            <a:endParaRPr sz="9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45"/>
              </a:spcBef>
            </a:pPr>
            <a:r>
              <a:rPr sz="900" spc="-10">
                <a:latin typeface="Calibri"/>
                <a:cs typeface="Calibri"/>
              </a:rPr>
              <a:t>David </a:t>
            </a:r>
            <a:r>
              <a:rPr sz="900" spc="-20">
                <a:latin typeface="Calibri"/>
                <a:cs typeface="Calibri"/>
              </a:rPr>
              <a:t>Marr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390900" y="4133850"/>
            <a:ext cx="0" cy="171450"/>
          </a:xfrm>
          <a:custGeom>
            <a:avLst/>
            <a:gdLst/>
            <a:ahLst/>
            <a:cxnLst/>
            <a:rect l="l" t="t" r="r" b="b"/>
            <a:pathLst>
              <a:path h="171450">
                <a:moveTo>
                  <a:pt x="0" y="17145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976626" y="3862387"/>
            <a:ext cx="1038225" cy="2762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175" algn="ctr">
              <a:lnSpc>
                <a:spcPts val="1040"/>
              </a:lnSpc>
            </a:pPr>
            <a:r>
              <a:rPr sz="900" spc="-20">
                <a:latin typeface="Calibri"/>
                <a:cs typeface="Calibri"/>
              </a:rPr>
              <a:t>1979</a:t>
            </a:r>
            <a:endParaRPr sz="900">
              <a:latin typeface="Calibri"/>
              <a:cs typeface="Calibri"/>
            </a:endParaRPr>
          </a:p>
          <a:p>
            <a:pPr marL="4445" algn="ctr">
              <a:lnSpc>
                <a:spcPct val="100000"/>
              </a:lnSpc>
              <a:spcBef>
                <a:spcPts val="45"/>
              </a:spcBef>
            </a:pPr>
            <a:r>
              <a:rPr sz="900">
                <a:latin typeface="Calibri"/>
                <a:cs typeface="Calibri"/>
              </a:rPr>
              <a:t>Gen.</a:t>
            </a:r>
            <a:r>
              <a:rPr sz="900" spc="5">
                <a:latin typeface="Calibri"/>
                <a:cs typeface="Calibri"/>
              </a:rPr>
              <a:t> </a:t>
            </a:r>
            <a:r>
              <a:rPr sz="900" spc="-10">
                <a:latin typeface="Calibri"/>
                <a:cs typeface="Calibri"/>
              </a:rPr>
              <a:t>Cylinders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352925" y="4133850"/>
            <a:ext cx="0" cy="171450"/>
          </a:xfrm>
          <a:custGeom>
            <a:avLst/>
            <a:gdLst/>
            <a:ahLst/>
            <a:cxnLst/>
            <a:rect l="l" t="t" r="r" b="b"/>
            <a:pathLst>
              <a:path h="171450">
                <a:moveTo>
                  <a:pt x="0" y="17145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129151" y="3862387"/>
            <a:ext cx="561975" cy="2762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67640">
              <a:lnSpc>
                <a:spcPts val="1040"/>
              </a:lnSpc>
            </a:pPr>
            <a:r>
              <a:rPr sz="900" spc="-20">
                <a:latin typeface="Calibri"/>
                <a:cs typeface="Calibri"/>
              </a:rPr>
              <a:t>1986</a:t>
            </a:r>
            <a:endParaRPr sz="900">
              <a:latin typeface="Calibri"/>
              <a:cs typeface="Calibri"/>
            </a:endParaRPr>
          </a:p>
          <a:p>
            <a:pPr marL="138430">
              <a:lnSpc>
                <a:spcPct val="100000"/>
              </a:lnSpc>
              <a:spcBef>
                <a:spcPts val="45"/>
              </a:spcBef>
            </a:pPr>
            <a:r>
              <a:rPr sz="900" spc="-10">
                <a:latin typeface="Calibri"/>
                <a:cs typeface="Calibri"/>
              </a:rPr>
              <a:t>Canny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819775" y="4133850"/>
            <a:ext cx="0" cy="171450"/>
          </a:xfrm>
          <a:custGeom>
            <a:avLst/>
            <a:gdLst/>
            <a:ahLst/>
            <a:cxnLst/>
            <a:rect l="l" t="t" r="r" b="b"/>
            <a:pathLst>
              <a:path h="171450">
                <a:moveTo>
                  <a:pt x="0" y="17145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072126" y="3862387"/>
            <a:ext cx="751840" cy="2762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0795" algn="ctr">
              <a:lnSpc>
                <a:spcPts val="1040"/>
              </a:lnSpc>
            </a:pPr>
            <a:r>
              <a:rPr sz="900" spc="-20">
                <a:latin typeface="Calibri"/>
                <a:cs typeface="Calibri"/>
              </a:rPr>
              <a:t>1997</a:t>
            </a:r>
            <a:endParaRPr sz="900">
              <a:latin typeface="Calibri"/>
              <a:cs typeface="Calibri"/>
            </a:endParaRPr>
          </a:p>
          <a:p>
            <a:pPr marL="8890" algn="ctr">
              <a:lnSpc>
                <a:spcPct val="100000"/>
              </a:lnSpc>
              <a:spcBef>
                <a:spcPts val="45"/>
              </a:spcBef>
            </a:pPr>
            <a:r>
              <a:rPr sz="900">
                <a:latin typeface="Calibri"/>
                <a:cs typeface="Calibri"/>
              </a:rPr>
              <a:t>Norm.</a:t>
            </a:r>
            <a:r>
              <a:rPr sz="900" spc="10">
                <a:latin typeface="Calibri"/>
                <a:cs typeface="Calibri"/>
              </a:rPr>
              <a:t> </a:t>
            </a:r>
            <a:r>
              <a:rPr sz="900" spc="-20">
                <a:latin typeface="Calibri"/>
                <a:cs typeface="Calibri"/>
              </a:rPr>
              <a:t>Cuts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487926" y="4133850"/>
            <a:ext cx="1665605" cy="294005"/>
            <a:chOff x="4487926" y="4133850"/>
            <a:chExt cx="1665605" cy="294005"/>
          </a:xfrm>
        </p:grpSpPr>
        <p:sp>
          <p:nvSpPr>
            <p:cNvPr id="15" name="object 15"/>
            <p:cNvSpPr/>
            <p:nvPr/>
          </p:nvSpPr>
          <p:spPr>
            <a:xfrm>
              <a:off x="4500626" y="4205287"/>
              <a:ext cx="819150" cy="209550"/>
            </a:xfrm>
            <a:custGeom>
              <a:avLst/>
              <a:gdLst/>
              <a:ahLst/>
              <a:cxnLst/>
              <a:rect l="l" t="t" r="r" b="b"/>
              <a:pathLst>
                <a:path w="819150" h="209550">
                  <a:moveTo>
                    <a:pt x="819150" y="0"/>
                  </a:moveTo>
                  <a:lnTo>
                    <a:pt x="0" y="0"/>
                  </a:lnTo>
                  <a:lnTo>
                    <a:pt x="0" y="209550"/>
                  </a:lnTo>
                  <a:lnTo>
                    <a:pt x="819150" y="209550"/>
                  </a:lnTo>
                  <a:lnTo>
                    <a:pt x="81915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500626" y="4205287"/>
              <a:ext cx="819150" cy="209550"/>
            </a:xfrm>
            <a:custGeom>
              <a:avLst/>
              <a:gdLst/>
              <a:ahLst/>
              <a:cxnLst/>
              <a:rect l="l" t="t" r="r" b="b"/>
              <a:pathLst>
                <a:path w="819150" h="209550">
                  <a:moveTo>
                    <a:pt x="0" y="209550"/>
                  </a:moveTo>
                  <a:lnTo>
                    <a:pt x="819150" y="209550"/>
                  </a:lnTo>
                  <a:lnTo>
                    <a:pt x="819150" y="0"/>
                  </a:lnTo>
                  <a:lnTo>
                    <a:pt x="0" y="0"/>
                  </a:lnTo>
                  <a:lnTo>
                    <a:pt x="0" y="209550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134100" y="4133850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17145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3039" rIns="0" bIns="0" rtlCol="0">
            <a:spAutoFit/>
          </a:bodyPr>
          <a:lstStyle/>
          <a:p>
            <a:pPr marL="1074420">
              <a:lnSpc>
                <a:spcPct val="100000"/>
              </a:lnSpc>
              <a:spcBef>
                <a:spcPts val="105"/>
              </a:spcBef>
            </a:pPr>
            <a:r>
              <a:rPr sz="3000"/>
              <a:t>Recognition</a:t>
            </a:r>
            <a:r>
              <a:rPr sz="3000" spc="-100"/>
              <a:t> </a:t>
            </a:r>
            <a:r>
              <a:rPr sz="3000"/>
              <a:t>via</a:t>
            </a:r>
            <a:r>
              <a:rPr sz="3000" spc="-90"/>
              <a:t> </a:t>
            </a:r>
            <a:r>
              <a:rPr sz="3000"/>
              <a:t>Matching</a:t>
            </a:r>
            <a:r>
              <a:rPr sz="3000" spc="-65"/>
              <a:t> </a:t>
            </a:r>
            <a:r>
              <a:rPr sz="3000" spc="-10"/>
              <a:t>(2000s)</a:t>
            </a:r>
            <a:endParaRPr sz="3000"/>
          </a:p>
        </p:txBody>
      </p:sp>
      <p:grpSp>
        <p:nvGrpSpPr>
          <p:cNvPr id="19" name="object 19"/>
          <p:cNvGrpSpPr/>
          <p:nvPr/>
        </p:nvGrpSpPr>
        <p:grpSpPr>
          <a:xfrm>
            <a:off x="1562100" y="1181100"/>
            <a:ext cx="6115050" cy="2085975"/>
            <a:chOff x="1562100" y="1181100"/>
            <a:chExt cx="6115050" cy="2085975"/>
          </a:xfrm>
        </p:grpSpPr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05375" y="1181100"/>
              <a:ext cx="2771775" cy="2085975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62100" y="1181100"/>
              <a:ext cx="2743200" cy="20574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33650" y="2209736"/>
              <a:ext cx="147637" cy="176212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2595625" y="2252725"/>
              <a:ext cx="28575" cy="57150"/>
            </a:xfrm>
            <a:custGeom>
              <a:avLst/>
              <a:gdLst/>
              <a:ahLst/>
              <a:cxnLst/>
              <a:rect l="l" t="t" r="r" b="b"/>
              <a:pathLst>
                <a:path w="28575" h="57150">
                  <a:moveTo>
                    <a:pt x="14224" y="0"/>
                  </a:moveTo>
                  <a:lnTo>
                    <a:pt x="8679" y="2232"/>
                  </a:lnTo>
                  <a:lnTo>
                    <a:pt x="4159" y="8334"/>
                  </a:lnTo>
                  <a:lnTo>
                    <a:pt x="1115" y="17412"/>
                  </a:lnTo>
                  <a:lnTo>
                    <a:pt x="0" y="28575"/>
                  </a:lnTo>
                  <a:lnTo>
                    <a:pt x="1115" y="39683"/>
                  </a:lnTo>
                  <a:lnTo>
                    <a:pt x="4159" y="48768"/>
                  </a:lnTo>
                  <a:lnTo>
                    <a:pt x="8679" y="54899"/>
                  </a:lnTo>
                  <a:lnTo>
                    <a:pt x="14224" y="57150"/>
                  </a:lnTo>
                  <a:lnTo>
                    <a:pt x="19788" y="54899"/>
                  </a:lnTo>
                  <a:lnTo>
                    <a:pt x="24352" y="48768"/>
                  </a:lnTo>
                  <a:lnTo>
                    <a:pt x="27439" y="39683"/>
                  </a:lnTo>
                  <a:lnTo>
                    <a:pt x="28575" y="28575"/>
                  </a:lnTo>
                  <a:lnTo>
                    <a:pt x="27439" y="17412"/>
                  </a:lnTo>
                  <a:lnTo>
                    <a:pt x="24352" y="8334"/>
                  </a:lnTo>
                  <a:lnTo>
                    <a:pt x="19788" y="2232"/>
                  </a:lnTo>
                  <a:lnTo>
                    <a:pt x="1422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595625" y="2252725"/>
              <a:ext cx="28575" cy="57150"/>
            </a:xfrm>
            <a:custGeom>
              <a:avLst/>
              <a:gdLst/>
              <a:ahLst/>
              <a:cxnLst/>
              <a:rect l="l" t="t" r="r" b="b"/>
              <a:pathLst>
                <a:path w="28575" h="57150">
                  <a:moveTo>
                    <a:pt x="0" y="28575"/>
                  </a:moveTo>
                  <a:lnTo>
                    <a:pt x="1115" y="17412"/>
                  </a:lnTo>
                  <a:lnTo>
                    <a:pt x="4159" y="8334"/>
                  </a:lnTo>
                  <a:lnTo>
                    <a:pt x="8679" y="2232"/>
                  </a:lnTo>
                  <a:lnTo>
                    <a:pt x="14224" y="0"/>
                  </a:lnTo>
                  <a:lnTo>
                    <a:pt x="19788" y="2232"/>
                  </a:lnTo>
                  <a:lnTo>
                    <a:pt x="24352" y="8334"/>
                  </a:lnTo>
                  <a:lnTo>
                    <a:pt x="27439" y="17412"/>
                  </a:lnTo>
                  <a:lnTo>
                    <a:pt x="28575" y="28575"/>
                  </a:lnTo>
                  <a:lnTo>
                    <a:pt x="27439" y="39683"/>
                  </a:lnTo>
                  <a:lnTo>
                    <a:pt x="24352" y="48768"/>
                  </a:lnTo>
                  <a:lnTo>
                    <a:pt x="19788" y="54899"/>
                  </a:lnTo>
                  <a:lnTo>
                    <a:pt x="14224" y="57150"/>
                  </a:lnTo>
                  <a:lnTo>
                    <a:pt x="8679" y="54899"/>
                  </a:lnTo>
                  <a:lnTo>
                    <a:pt x="4159" y="48768"/>
                  </a:lnTo>
                  <a:lnTo>
                    <a:pt x="1115" y="39683"/>
                  </a:lnTo>
                  <a:lnTo>
                    <a:pt x="0" y="28575"/>
                  </a:lnTo>
                  <a:close/>
                </a:path>
              </a:pathLst>
            </a:custGeom>
            <a:ln w="9525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62225" y="2057336"/>
              <a:ext cx="157162" cy="176212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624200" y="2100325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19050" y="0"/>
                  </a:moveTo>
                  <a:lnTo>
                    <a:pt x="11626" y="2232"/>
                  </a:lnTo>
                  <a:lnTo>
                    <a:pt x="5572" y="8334"/>
                  </a:lnTo>
                  <a:lnTo>
                    <a:pt x="1494" y="17412"/>
                  </a:lnTo>
                  <a:lnTo>
                    <a:pt x="0" y="28575"/>
                  </a:lnTo>
                  <a:lnTo>
                    <a:pt x="1494" y="39683"/>
                  </a:lnTo>
                  <a:lnTo>
                    <a:pt x="5572" y="48768"/>
                  </a:lnTo>
                  <a:lnTo>
                    <a:pt x="11626" y="54899"/>
                  </a:lnTo>
                  <a:lnTo>
                    <a:pt x="19050" y="57150"/>
                  </a:lnTo>
                  <a:lnTo>
                    <a:pt x="26419" y="54899"/>
                  </a:lnTo>
                  <a:lnTo>
                    <a:pt x="32480" y="48768"/>
                  </a:lnTo>
                  <a:lnTo>
                    <a:pt x="36587" y="39683"/>
                  </a:lnTo>
                  <a:lnTo>
                    <a:pt x="38100" y="28575"/>
                  </a:lnTo>
                  <a:lnTo>
                    <a:pt x="36587" y="17412"/>
                  </a:lnTo>
                  <a:lnTo>
                    <a:pt x="32480" y="8334"/>
                  </a:lnTo>
                  <a:lnTo>
                    <a:pt x="26419" y="2232"/>
                  </a:lnTo>
                  <a:lnTo>
                    <a:pt x="1905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624200" y="2100325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0" y="28575"/>
                  </a:moveTo>
                  <a:lnTo>
                    <a:pt x="1494" y="17412"/>
                  </a:lnTo>
                  <a:lnTo>
                    <a:pt x="5572" y="8334"/>
                  </a:lnTo>
                  <a:lnTo>
                    <a:pt x="11626" y="2232"/>
                  </a:lnTo>
                  <a:lnTo>
                    <a:pt x="19050" y="0"/>
                  </a:lnTo>
                  <a:lnTo>
                    <a:pt x="26419" y="2232"/>
                  </a:lnTo>
                  <a:lnTo>
                    <a:pt x="32480" y="8334"/>
                  </a:lnTo>
                  <a:lnTo>
                    <a:pt x="36587" y="17412"/>
                  </a:lnTo>
                  <a:lnTo>
                    <a:pt x="38100" y="28575"/>
                  </a:lnTo>
                  <a:lnTo>
                    <a:pt x="36587" y="39683"/>
                  </a:lnTo>
                  <a:lnTo>
                    <a:pt x="32480" y="48768"/>
                  </a:lnTo>
                  <a:lnTo>
                    <a:pt x="26419" y="54899"/>
                  </a:lnTo>
                  <a:lnTo>
                    <a:pt x="19050" y="57150"/>
                  </a:lnTo>
                  <a:lnTo>
                    <a:pt x="11626" y="54899"/>
                  </a:lnTo>
                  <a:lnTo>
                    <a:pt x="5572" y="48768"/>
                  </a:lnTo>
                  <a:lnTo>
                    <a:pt x="1494" y="39683"/>
                  </a:lnTo>
                  <a:lnTo>
                    <a:pt x="0" y="28575"/>
                  </a:lnTo>
                  <a:close/>
                </a:path>
              </a:pathLst>
            </a:custGeom>
            <a:ln w="9525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81275" y="1981136"/>
              <a:ext cx="157162" cy="176212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2643250" y="2024125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19050" y="0"/>
                  </a:moveTo>
                  <a:lnTo>
                    <a:pt x="11626" y="2232"/>
                  </a:lnTo>
                  <a:lnTo>
                    <a:pt x="5572" y="8334"/>
                  </a:lnTo>
                  <a:lnTo>
                    <a:pt x="1494" y="17412"/>
                  </a:lnTo>
                  <a:lnTo>
                    <a:pt x="0" y="28575"/>
                  </a:lnTo>
                  <a:lnTo>
                    <a:pt x="1494" y="39683"/>
                  </a:lnTo>
                  <a:lnTo>
                    <a:pt x="5572" y="48768"/>
                  </a:lnTo>
                  <a:lnTo>
                    <a:pt x="11626" y="54899"/>
                  </a:lnTo>
                  <a:lnTo>
                    <a:pt x="19050" y="57150"/>
                  </a:lnTo>
                  <a:lnTo>
                    <a:pt x="26419" y="54899"/>
                  </a:lnTo>
                  <a:lnTo>
                    <a:pt x="32480" y="48768"/>
                  </a:lnTo>
                  <a:lnTo>
                    <a:pt x="36587" y="39683"/>
                  </a:lnTo>
                  <a:lnTo>
                    <a:pt x="38100" y="28575"/>
                  </a:lnTo>
                  <a:lnTo>
                    <a:pt x="36587" y="17412"/>
                  </a:lnTo>
                  <a:lnTo>
                    <a:pt x="32480" y="8334"/>
                  </a:lnTo>
                  <a:lnTo>
                    <a:pt x="26419" y="2232"/>
                  </a:lnTo>
                  <a:lnTo>
                    <a:pt x="1905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643250" y="2024125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0" y="28575"/>
                  </a:moveTo>
                  <a:lnTo>
                    <a:pt x="1494" y="17412"/>
                  </a:lnTo>
                  <a:lnTo>
                    <a:pt x="5572" y="8334"/>
                  </a:lnTo>
                  <a:lnTo>
                    <a:pt x="11626" y="2232"/>
                  </a:lnTo>
                  <a:lnTo>
                    <a:pt x="19050" y="0"/>
                  </a:lnTo>
                  <a:lnTo>
                    <a:pt x="26419" y="2232"/>
                  </a:lnTo>
                  <a:lnTo>
                    <a:pt x="32480" y="8334"/>
                  </a:lnTo>
                  <a:lnTo>
                    <a:pt x="36587" y="17412"/>
                  </a:lnTo>
                  <a:lnTo>
                    <a:pt x="38100" y="28575"/>
                  </a:lnTo>
                  <a:lnTo>
                    <a:pt x="36587" y="39683"/>
                  </a:lnTo>
                  <a:lnTo>
                    <a:pt x="32480" y="48768"/>
                  </a:lnTo>
                  <a:lnTo>
                    <a:pt x="26419" y="54899"/>
                  </a:lnTo>
                  <a:lnTo>
                    <a:pt x="19050" y="57150"/>
                  </a:lnTo>
                  <a:lnTo>
                    <a:pt x="11626" y="54899"/>
                  </a:lnTo>
                  <a:lnTo>
                    <a:pt x="5572" y="48768"/>
                  </a:lnTo>
                  <a:lnTo>
                    <a:pt x="1494" y="39683"/>
                  </a:lnTo>
                  <a:lnTo>
                    <a:pt x="0" y="28575"/>
                  </a:lnTo>
                  <a:close/>
                </a:path>
              </a:pathLst>
            </a:custGeom>
            <a:ln w="9525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62250" y="1981136"/>
              <a:ext cx="147637" cy="176212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2824225" y="2024125"/>
              <a:ext cx="28575" cy="57150"/>
            </a:xfrm>
            <a:custGeom>
              <a:avLst/>
              <a:gdLst/>
              <a:ahLst/>
              <a:cxnLst/>
              <a:rect l="l" t="t" r="r" b="b"/>
              <a:pathLst>
                <a:path w="28575" h="57150">
                  <a:moveTo>
                    <a:pt x="14224" y="0"/>
                  </a:moveTo>
                  <a:lnTo>
                    <a:pt x="8679" y="2232"/>
                  </a:lnTo>
                  <a:lnTo>
                    <a:pt x="4159" y="8334"/>
                  </a:lnTo>
                  <a:lnTo>
                    <a:pt x="1115" y="17412"/>
                  </a:lnTo>
                  <a:lnTo>
                    <a:pt x="0" y="28575"/>
                  </a:lnTo>
                  <a:lnTo>
                    <a:pt x="1115" y="39683"/>
                  </a:lnTo>
                  <a:lnTo>
                    <a:pt x="4159" y="48768"/>
                  </a:lnTo>
                  <a:lnTo>
                    <a:pt x="8679" y="54899"/>
                  </a:lnTo>
                  <a:lnTo>
                    <a:pt x="14224" y="57150"/>
                  </a:lnTo>
                  <a:lnTo>
                    <a:pt x="19788" y="54899"/>
                  </a:lnTo>
                  <a:lnTo>
                    <a:pt x="24352" y="48768"/>
                  </a:lnTo>
                  <a:lnTo>
                    <a:pt x="27439" y="39683"/>
                  </a:lnTo>
                  <a:lnTo>
                    <a:pt x="28575" y="28575"/>
                  </a:lnTo>
                  <a:lnTo>
                    <a:pt x="27439" y="17412"/>
                  </a:lnTo>
                  <a:lnTo>
                    <a:pt x="24352" y="8334"/>
                  </a:lnTo>
                  <a:lnTo>
                    <a:pt x="19788" y="2232"/>
                  </a:lnTo>
                  <a:lnTo>
                    <a:pt x="1422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824225" y="2024125"/>
              <a:ext cx="28575" cy="57150"/>
            </a:xfrm>
            <a:custGeom>
              <a:avLst/>
              <a:gdLst/>
              <a:ahLst/>
              <a:cxnLst/>
              <a:rect l="l" t="t" r="r" b="b"/>
              <a:pathLst>
                <a:path w="28575" h="57150">
                  <a:moveTo>
                    <a:pt x="0" y="28575"/>
                  </a:moveTo>
                  <a:lnTo>
                    <a:pt x="1115" y="17412"/>
                  </a:lnTo>
                  <a:lnTo>
                    <a:pt x="4159" y="8334"/>
                  </a:lnTo>
                  <a:lnTo>
                    <a:pt x="8679" y="2232"/>
                  </a:lnTo>
                  <a:lnTo>
                    <a:pt x="14224" y="0"/>
                  </a:lnTo>
                  <a:lnTo>
                    <a:pt x="19788" y="2232"/>
                  </a:lnTo>
                  <a:lnTo>
                    <a:pt x="24352" y="8334"/>
                  </a:lnTo>
                  <a:lnTo>
                    <a:pt x="27439" y="17412"/>
                  </a:lnTo>
                  <a:lnTo>
                    <a:pt x="28575" y="28575"/>
                  </a:lnTo>
                  <a:lnTo>
                    <a:pt x="27439" y="39683"/>
                  </a:lnTo>
                  <a:lnTo>
                    <a:pt x="24352" y="48768"/>
                  </a:lnTo>
                  <a:lnTo>
                    <a:pt x="19788" y="54899"/>
                  </a:lnTo>
                  <a:lnTo>
                    <a:pt x="14224" y="57150"/>
                  </a:lnTo>
                  <a:lnTo>
                    <a:pt x="8679" y="54899"/>
                  </a:lnTo>
                  <a:lnTo>
                    <a:pt x="4159" y="48768"/>
                  </a:lnTo>
                  <a:lnTo>
                    <a:pt x="1115" y="39683"/>
                  </a:lnTo>
                  <a:lnTo>
                    <a:pt x="0" y="28575"/>
                  </a:lnTo>
                  <a:close/>
                </a:path>
              </a:pathLst>
            </a:custGeom>
            <a:ln w="9525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24150" y="2181161"/>
              <a:ext cx="157162" cy="176212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2786125" y="2224150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19050" y="0"/>
                  </a:moveTo>
                  <a:lnTo>
                    <a:pt x="11626" y="2232"/>
                  </a:lnTo>
                  <a:lnTo>
                    <a:pt x="5572" y="8334"/>
                  </a:lnTo>
                  <a:lnTo>
                    <a:pt x="1494" y="17412"/>
                  </a:lnTo>
                  <a:lnTo>
                    <a:pt x="0" y="28575"/>
                  </a:lnTo>
                  <a:lnTo>
                    <a:pt x="1494" y="39683"/>
                  </a:lnTo>
                  <a:lnTo>
                    <a:pt x="5572" y="48768"/>
                  </a:lnTo>
                  <a:lnTo>
                    <a:pt x="11626" y="54899"/>
                  </a:lnTo>
                  <a:lnTo>
                    <a:pt x="19050" y="57150"/>
                  </a:lnTo>
                  <a:lnTo>
                    <a:pt x="26419" y="54899"/>
                  </a:lnTo>
                  <a:lnTo>
                    <a:pt x="32480" y="48768"/>
                  </a:lnTo>
                  <a:lnTo>
                    <a:pt x="36587" y="39683"/>
                  </a:lnTo>
                  <a:lnTo>
                    <a:pt x="38100" y="28575"/>
                  </a:lnTo>
                  <a:lnTo>
                    <a:pt x="36587" y="17412"/>
                  </a:lnTo>
                  <a:lnTo>
                    <a:pt x="32480" y="8334"/>
                  </a:lnTo>
                  <a:lnTo>
                    <a:pt x="26419" y="2232"/>
                  </a:lnTo>
                  <a:lnTo>
                    <a:pt x="1905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786125" y="2224150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0" y="28575"/>
                  </a:moveTo>
                  <a:lnTo>
                    <a:pt x="1494" y="17412"/>
                  </a:lnTo>
                  <a:lnTo>
                    <a:pt x="5572" y="8334"/>
                  </a:lnTo>
                  <a:lnTo>
                    <a:pt x="11626" y="2232"/>
                  </a:lnTo>
                  <a:lnTo>
                    <a:pt x="19050" y="0"/>
                  </a:lnTo>
                  <a:lnTo>
                    <a:pt x="26419" y="2232"/>
                  </a:lnTo>
                  <a:lnTo>
                    <a:pt x="32480" y="8334"/>
                  </a:lnTo>
                  <a:lnTo>
                    <a:pt x="36587" y="17412"/>
                  </a:lnTo>
                  <a:lnTo>
                    <a:pt x="38100" y="28575"/>
                  </a:lnTo>
                  <a:lnTo>
                    <a:pt x="36587" y="39683"/>
                  </a:lnTo>
                  <a:lnTo>
                    <a:pt x="32480" y="48768"/>
                  </a:lnTo>
                  <a:lnTo>
                    <a:pt x="26419" y="54899"/>
                  </a:lnTo>
                  <a:lnTo>
                    <a:pt x="19050" y="57150"/>
                  </a:lnTo>
                  <a:lnTo>
                    <a:pt x="11626" y="54899"/>
                  </a:lnTo>
                  <a:lnTo>
                    <a:pt x="5572" y="48768"/>
                  </a:lnTo>
                  <a:lnTo>
                    <a:pt x="1494" y="39683"/>
                  </a:lnTo>
                  <a:lnTo>
                    <a:pt x="0" y="28575"/>
                  </a:lnTo>
                  <a:close/>
                </a:path>
              </a:pathLst>
            </a:custGeom>
            <a:ln w="9525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33700" y="2209736"/>
              <a:ext cx="147637" cy="176212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2995675" y="2252725"/>
              <a:ext cx="28575" cy="57150"/>
            </a:xfrm>
            <a:custGeom>
              <a:avLst/>
              <a:gdLst/>
              <a:ahLst/>
              <a:cxnLst/>
              <a:rect l="l" t="t" r="r" b="b"/>
              <a:pathLst>
                <a:path w="28575" h="57150">
                  <a:moveTo>
                    <a:pt x="14224" y="0"/>
                  </a:moveTo>
                  <a:lnTo>
                    <a:pt x="8679" y="2232"/>
                  </a:lnTo>
                  <a:lnTo>
                    <a:pt x="4159" y="8334"/>
                  </a:lnTo>
                  <a:lnTo>
                    <a:pt x="1115" y="17412"/>
                  </a:lnTo>
                  <a:lnTo>
                    <a:pt x="0" y="28575"/>
                  </a:lnTo>
                  <a:lnTo>
                    <a:pt x="1115" y="39683"/>
                  </a:lnTo>
                  <a:lnTo>
                    <a:pt x="4159" y="48768"/>
                  </a:lnTo>
                  <a:lnTo>
                    <a:pt x="8679" y="54899"/>
                  </a:lnTo>
                  <a:lnTo>
                    <a:pt x="14224" y="57150"/>
                  </a:lnTo>
                  <a:lnTo>
                    <a:pt x="19788" y="54899"/>
                  </a:lnTo>
                  <a:lnTo>
                    <a:pt x="24352" y="48768"/>
                  </a:lnTo>
                  <a:lnTo>
                    <a:pt x="27439" y="39683"/>
                  </a:lnTo>
                  <a:lnTo>
                    <a:pt x="28575" y="28575"/>
                  </a:lnTo>
                  <a:lnTo>
                    <a:pt x="27439" y="17412"/>
                  </a:lnTo>
                  <a:lnTo>
                    <a:pt x="24352" y="8334"/>
                  </a:lnTo>
                  <a:lnTo>
                    <a:pt x="19788" y="2232"/>
                  </a:lnTo>
                  <a:lnTo>
                    <a:pt x="1422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995675" y="2252725"/>
              <a:ext cx="28575" cy="57150"/>
            </a:xfrm>
            <a:custGeom>
              <a:avLst/>
              <a:gdLst/>
              <a:ahLst/>
              <a:cxnLst/>
              <a:rect l="l" t="t" r="r" b="b"/>
              <a:pathLst>
                <a:path w="28575" h="57150">
                  <a:moveTo>
                    <a:pt x="0" y="28575"/>
                  </a:moveTo>
                  <a:lnTo>
                    <a:pt x="1115" y="17412"/>
                  </a:lnTo>
                  <a:lnTo>
                    <a:pt x="4159" y="8334"/>
                  </a:lnTo>
                  <a:lnTo>
                    <a:pt x="8679" y="2232"/>
                  </a:lnTo>
                  <a:lnTo>
                    <a:pt x="14224" y="0"/>
                  </a:lnTo>
                  <a:lnTo>
                    <a:pt x="19788" y="2232"/>
                  </a:lnTo>
                  <a:lnTo>
                    <a:pt x="24352" y="8334"/>
                  </a:lnTo>
                  <a:lnTo>
                    <a:pt x="27439" y="17412"/>
                  </a:lnTo>
                  <a:lnTo>
                    <a:pt x="28575" y="28575"/>
                  </a:lnTo>
                  <a:lnTo>
                    <a:pt x="27439" y="39683"/>
                  </a:lnTo>
                  <a:lnTo>
                    <a:pt x="24352" y="48768"/>
                  </a:lnTo>
                  <a:lnTo>
                    <a:pt x="19788" y="54899"/>
                  </a:lnTo>
                  <a:lnTo>
                    <a:pt x="14224" y="57150"/>
                  </a:lnTo>
                  <a:lnTo>
                    <a:pt x="8679" y="54899"/>
                  </a:lnTo>
                  <a:lnTo>
                    <a:pt x="4159" y="48768"/>
                  </a:lnTo>
                  <a:lnTo>
                    <a:pt x="1115" y="39683"/>
                  </a:lnTo>
                  <a:lnTo>
                    <a:pt x="0" y="28575"/>
                  </a:lnTo>
                  <a:close/>
                </a:path>
              </a:pathLst>
            </a:custGeom>
            <a:ln w="9525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90850" y="2085911"/>
              <a:ext cx="147637" cy="176212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3052825" y="2128900"/>
              <a:ext cx="28575" cy="57150"/>
            </a:xfrm>
            <a:custGeom>
              <a:avLst/>
              <a:gdLst/>
              <a:ahLst/>
              <a:cxnLst/>
              <a:rect l="l" t="t" r="r" b="b"/>
              <a:pathLst>
                <a:path w="28575" h="57150">
                  <a:moveTo>
                    <a:pt x="14224" y="0"/>
                  </a:moveTo>
                  <a:lnTo>
                    <a:pt x="8679" y="2232"/>
                  </a:lnTo>
                  <a:lnTo>
                    <a:pt x="4159" y="8334"/>
                  </a:lnTo>
                  <a:lnTo>
                    <a:pt x="1115" y="17412"/>
                  </a:lnTo>
                  <a:lnTo>
                    <a:pt x="0" y="28575"/>
                  </a:lnTo>
                  <a:lnTo>
                    <a:pt x="1115" y="39683"/>
                  </a:lnTo>
                  <a:lnTo>
                    <a:pt x="4159" y="48768"/>
                  </a:lnTo>
                  <a:lnTo>
                    <a:pt x="8679" y="54899"/>
                  </a:lnTo>
                  <a:lnTo>
                    <a:pt x="14224" y="57150"/>
                  </a:lnTo>
                  <a:lnTo>
                    <a:pt x="19788" y="54899"/>
                  </a:lnTo>
                  <a:lnTo>
                    <a:pt x="24352" y="48768"/>
                  </a:lnTo>
                  <a:lnTo>
                    <a:pt x="27439" y="39683"/>
                  </a:lnTo>
                  <a:lnTo>
                    <a:pt x="28575" y="28575"/>
                  </a:lnTo>
                  <a:lnTo>
                    <a:pt x="27439" y="17412"/>
                  </a:lnTo>
                  <a:lnTo>
                    <a:pt x="24352" y="8334"/>
                  </a:lnTo>
                  <a:lnTo>
                    <a:pt x="19788" y="2232"/>
                  </a:lnTo>
                  <a:lnTo>
                    <a:pt x="1422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052825" y="2128900"/>
              <a:ext cx="28575" cy="57150"/>
            </a:xfrm>
            <a:custGeom>
              <a:avLst/>
              <a:gdLst/>
              <a:ahLst/>
              <a:cxnLst/>
              <a:rect l="l" t="t" r="r" b="b"/>
              <a:pathLst>
                <a:path w="28575" h="57150">
                  <a:moveTo>
                    <a:pt x="0" y="28575"/>
                  </a:moveTo>
                  <a:lnTo>
                    <a:pt x="1115" y="17412"/>
                  </a:lnTo>
                  <a:lnTo>
                    <a:pt x="4159" y="8334"/>
                  </a:lnTo>
                  <a:lnTo>
                    <a:pt x="8679" y="2232"/>
                  </a:lnTo>
                  <a:lnTo>
                    <a:pt x="14224" y="0"/>
                  </a:lnTo>
                  <a:lnTo>
                    <a:pt x="19788" y="2232"/>
                  </a:lnTo>
                  <a:lnTo>
                    <a:pt x="24352" y="8334"/>
                  </a:lnTo>
                  <a:lnTo>
                    <a:pt x="27439" y="17412"/>
                  </a:lnTo>
                  <a:lnTo>
                    <a:pt x="28575" y="28575"/>
                  </a:lnTo>
                  <a:lnTo>
                    <a:pt x="27439" y="39683"/>
                  </a:lnTo>
                  <a:lnTo>
                    <a:pt x="24352" y="48768"/>
                  </a:lnTo>
                  <a:lnTo>
                    <a:pt x="19788" y="54899"/>
                  </a:lnTo>
                  <a:lnTo>
                    <a:pt x="14224" y="57150"/>
                  </a:lnTo>
                  <a:lnTo>
                    <a:pt x="8679" y="54899"/>
                  </a:lnTo>
                  <a:lnTo>
                    <a:pt x="4159" y="48768"/>
                  </a:lnTo>
                  <a:lnTo>
                    <a:pt x="1115" y="39683"/>
                  </a:lnTo>
                  <a:lnTo>
                    <a:pt x="0" y="28575"/>
                  </a:lnTo>
                  <a:close/>
                </a:path>
              </a:pathLst>
            </a:custGeom>
            <a:ln w="9525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76550" y="2085911"/>
              <a:ext cx="147637" cy="176212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2938525" y="2128900"/>
              <a:ext cx="28575" cy="57150"/>
            </a:xfrm>
            <a:custGeom>
              <a:avLst/>
              <a:gdLst/>
              <a:ahLst/>
              <a:cxnLst/>
              <a:rect l="l" t="t" r="r" b="b"/>
              <a:pathLst>
                <a:path w="28575" h="57150">
                  <a:moveTo>
                    <a:pt x="14224" y="0"/>
                  </a:moveTo>
                  <a:lnTo>
                    <a:pt x="8679" y="2232"/>
                  </a:lnTo>
                  <a:lnTo>
                    <a:pt x="4159" y="8334"/>
                  </a:lnTo>
                  <a:lnTo>
                    <a:pt x="1115" y="17412"/>
                  </a:lnTo>
                  <a:lnTo>
                    <a:pt x="0" y="28575"/>
                  </a:lnTo>
                  <a:lnTo>
                    <a:pt x="1115" y="39683"/>
                  </a:lnTo>
                  <a:lnTo>
                    <a:pt x="4159" y="48768"/>
                  </a:lnTo>
                  <a:lnTo>
                    <a:pt x="8679" y="54899"/>
                  </a:lnTo>
                  <a:lnTo>
                    <a:pt x="14224" y="57150"/>
                  </a:lnTo>
                  <a:lnTo>
                    <a:pt x="19788" y="54899"/>
                  </a:lnTo>
                  <a:lnTo>
                    <a:pt x="24352" y="48768"/>
                  </a:lnTo>
                  <a:lnTo>
                    <a:pt x="27439" y="39683"/>
                  </a:lnTo>
                  <a:lnTo>
                    <a:pt x="28575" y="28575"/>
                  </a:lnTo>
                  <a:lnTo>
                    <a:pt x="27439" y="17412"/>
                  </a:lnTo>
                  <a:lnTo>
                    <a:pt x="24352" y="8334"/>
                  </a:lnTo>
                  <a:lnTo>
                    <a:pt x="19788" y="2232"/>
                  </a:lnTo>
                  <a:lnTo>
                    <a:pt x="1422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938525" y="2128900"/>
              <a:ext cx="28575" cy="57150"/>
            </a:xfrm>
            <a:custGeom>
              <a:avLst/>
              <a:gdLst/>
              <a:ahLst/>
              <a:cxnLst/>
              <a:rect l="l" t="t" r="r" b="b"/>
              <a:pathLst>
                <a:path w="28575" h="57150">
                  <a:moveTo>
                    <a:pt x="0" y="28575"/>
                  </a:moveTo>
                  <a:lnTo>
                    <a:pt x="1115" y="17412"/>
                  </a:lnTo>
                  <a:lnTo>
                    <a:pt x="4159" y="8334"/>
                  </a:lnTo>
                  <a:lnTo>
                    <a:pt x="8679" y="2232"/>
                  </a:lnTo>
                  <a:lnTo>
                    <a:pt x="14224" y="0"/>
                  </a:lnTo>
                  <a:lnTo>
                    <a:pt x="19788" y="2232"/>
                  </a:lnTo>
                  <a:lnTo>
                    <a:pt x="24352" y="8334"/>
                  </a:lnTo>
                  <a:lnTo>
                    <a:pt x="27439" y="17412"/>
                  </a:lnTo>
                  <a:lnTo>
                    <a:pt x="28575" y="28575"/>
                  </a:lnTo>
                  <a:lnTo>
                    <a:pt x="27439" y="39683"/>
                  </a:lnTo>
                  <a:lnTo>
                    <a:pt x="24352" y="48768"/>
                  </a:lnTo>
                  <a:lnTo>
                    <a:pt x="19788" y="54899"/>
                  </a:lnTo>
                  <a:lnTo>
                    <a:pt x="14224" y="57150"/>
                  </a:lnTo>
                  <a:lnTo>
                    <a:pt x="8679" y="54899"/>
                  </a:lnTo>
                  <a:lnTo>
                    <a:pt x="4159" y="48768"/>
                  </a:lnTo>
                  <a:lnTo>
                    <a:pt x="1115" y="39683"/>
                  </a:lnTo>
                  <a:lnTo>
                    <a:pt x="0" y="28575"/>
                  </a:lnTo>
                  <a:close/>
                </a:path>
              </a:pathLst>
            </a:custGeom>
            <a:ln w="9525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33700" y="1952561"/>
              <a:ext cx="147637" cy="176212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2995675" y="1995550"/>
              <a:ext cx="28575" cy="57150"/>
            </a:xfrm>
            <a:custGeom>
              <a:avLst/>
              <a:gdLst/>
              <a:ahLst/>
              <a:cxnLst/>
              <a:rect l="l" t="t" r="r" b="b"/>
              <a:pathLst>
                <a:path w="28575" h="57150">
                  <a:moveTo>
                    <a:pt x="14224" y="0"/>
                  </a:moveTo>
                  <a:lnTo>
                    <a:pt x="8679" y="2232"/>
                  </a:lnTo>
                  <a:lnTo>
                    <a:pt x="4159" y="8334"/>
                  </a:lnTo>
                  <a:lnTo>
                    <a:pt x="1115" y="17412"/>
                  </a:lnTo>
                  <a:lnTo>
                    <a:pt x="0" y="28575"/>
                  </a:lnTo>
                  <a:lnTo>
                    <a:pt x="1115" y="39683"/>
                  </a:lnTo>
                  <a:lnTo>
                    <a:pt x="4159" y="48768"/>
                  </a:lnTo>
                  <a:lnTo>
                    <a:pt x="8679" y="54899"/>
                  </a:lnTo>
                  <a:lnTo>
                    <a:pt x="14224" y="57150"/>
                  </a:lnTo>
                  <a:lnTo>
                    <a:pt x="19788" y="54899"/>
                  </a:lnTo>
                  <a:lnTo>
                    <a:pt x="24352" y="48768"/>
                  </a:lnTo>
                  <a:lnTo>
                    <a:pt x="27439" y="39683"/>
                  </a:lnTo>
                  <a:lnTo>
                    <a:pt x="28575" y="28575"/>
                  </a:lnTo>
                  <a:lnTo>
                    <a:pt x="27439" y="17412"/>
                  </a:lnTo>
                  <a:lnTo>
                    <a:pt x="24352" y="8334"/>
                  </a:lnTo>
                  <a:lnTo>
                    <a:pt x="19788" y="2232"/>
                  </a:lnTo>
                  <a:lnTo>
                    <a:pt x="1422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2995675" y="1995550"/>
              <a:ext cx="28575" cy="57150"/>
            </a:xfrm>
            <a:custGeom>
              <a:avLst/>
              <a:gdLst/>
              <a:ahLst/>
              <a:cxnLst/>
              <a:rect l="l" t="t" r="r" b="b"/>
              <a:pathLst>
                <a:path w="28575" h="57150">
                  <a:moveTo>
                    <a:pt x="0" y="28575"/>
                  </a:moveTo>
                  <a:lnTo>
                    <a:pt x="1115" y="17412"/>
                  </a:lnTo>
                  <a:lnTo>
                    <a:pt x="4159" y="8334"/>
                  </a:lnTo>
                  <a:lnTo>
                    <a:pt x="8679" y="2232"/>
                  </a:lnTo>
                  <a:lnTo>
                    <a:pt x="14224" y="0"/>
                  </a:lnTo>
                  <a:lnTo>
                    <a:pt x="19788" y="2232"/>
                  </a:lnTo>
                  <a:lnTo>
                    <a:pt x="24352" y="8334"/>
                  </a:lnTo>
                  <a:lnTo>
                    <a:pt x="27439" y="17412"/>
                  </a:lnTo>
                  <a:lnTo>
                    <a:pt x="28575" y="28575"/>
                  </a:lnTo>
                  <a:lnTo>
                    <a:pt x="27439" y="39683"/>
                  </a:lnTo>
                  <a:lnTo>
                    <a:pt x="24352" y="48768"/>
                  </a:lnTo>
                  <a:lnTo>
                    <a:pt x="19788" y="54899"/>
                  </a:lnTo>
                  <a:lnTo>
                    <a:pt x="14224" y="57150"/>
                  </a:lnTo>
                  <a:lnTo>
                    <a:pt x="8679" y="54899"/>
                  </a:lnTo>
                  <a:lnTo>
                    <a:pt x="4159" y="48768"/>
                  </a:lnTo>
                  <a:lnTo>
                    <a:pt x="1115" y="39683"/>
                  </a:lnTo>
                  <a:lnTo>
                    <a:pt x="0" y="28575"/>
                  </a:lnTo>
                  <a:close/>
                </a:path>
              </a:pathLst>
            </a:custGeom>
            <a:ln w="9525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05150" y="2066861"/>
              <a:ext cx="147637" cy="176212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3167125" y="2109850"/>
              <a:ext cx="28575" cy="57150"/>
            </a:xfrm>
            <a:custGeom>
              <a:avLst/>
              <a:gdLst/>
              <a:ahLst/>
              <a:cxnLst/>
              <a:rect l="l" t="t" r="r" b="b"/>
              <a:pathLst>
                <a:path w="28575" h="57150">
                  <a:moveTo>
                    <a:pt x="14224" y="0"/>
                  </a:moveTo>
                  <a:lnTo>
                    <a:pt x="8679" y="2232"/>
                  </a:lnTo>
                  <a:lnTo>
                    <a:pt x="4159" y="8334"/>
                  </a:lnTo>
                  <a:lnTo>
                    <a:pt x="1115" y="17412"/>
                  </a:lnTo>
                  <a:lnTo>
                    <a:pt x="0" y="28575"/>
                  </a:lnTo>
                  <a:lnTo>
                    <a:pt x="1115" y="39683"/>
                  </a:lnTo>
                  <a:lnTo>
                    <a:pt x="4159" y="48768"/>
                  </a:lnTo>
                  <a:lnTo>
                    <a:pt x="8679" y="54899"/>
                  </a:lnTo>
                  <a:lnTo>
                    <a:pt x="14224" y="57150"/>
                  </a:lnTo>
                  <a:lnTo>
                    <a:pt x="19788" y="54899"/>
                  </a:lnTo>
                  <a:lnTo>
                    <a:pt x="24352" y="48768"/>
                  </a:lnTo>
                  <a:lnTo>
                    <a:pt x="27439" y="39683"/>
                  </a:lnTo>
                  <a:lnTo>
                    <a:pt x="28575" y="28575"/>
                  </a:lnTo>
                  <a:lnTo>
                    <a:pt x="27439" y="17412"/>
                  </a:lnTo>
                  <a:lnTo>
                    <a:pt x="24352" y="8334"/>
                  </a:lnTo>
                  <a:lnTo>
                    <a:pt x="19788" y="2232"/>
                  </a:lnTo>
                  <a:lnTo>
                    <a:pt x="1422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167125" y="2109850"/>
              <a:ext cx="28575" cy="57150"/>
            </a:xfrm>
            <a:custGeom>
              <a:avLst/>
              <a:gdLst/>
              <a:ahLst/>
              <a:cxnLst/>
              <a:rect l="l" t="t" r="r" b="b"/>
              <a:pathLst>
                <a:path w="28575" h="57150">
                  <a:moveTo>
                    <a:pt x="0" y="28575"/>
                  </a:moveTo>
                  <a:lnTo>
                    <a:pt x="1115" y="17412"/>
                  </a:lnTo>
                  <a:lnTo>
                    <a:pt x="4159" y="8334"/>
                  </a:lnTo>
                  <a:lnTo>
                    <a:pt x="8679" y="2232"/>
                  </a:lnTo>
                  <a:lnTo>
                    <a:pt x="14224" y="0"/>
                  </a:lnTo>
                  <a:lnTo>
                    <a:pt x="19788" y="2232"/>
                  </a:lnTo>
                  <a:lnTo>
                    <a:pt x="24352" y="8334"/>
                  </a:lnTo>
                  <a:lnTo>
                    <a:pt x="27439" y="17412"/>
                  </a:lnTo>
                  <a:lnTo>
                    <a:pt x="28575" y="28575"/>
                  </a:lnTo>
                  <a:lnTo>
                    <a:pt x="27439" y="39683"/>
                  </a:lnTo>
                  <a:lnTo>
                    <a:pt x="24352" y="48768"/>
                  </a:lnTo>
                  <a:lnTo>
                    <a:pt x="19788" y="54899"/>
                  </a:lnTo>
                  <a:lnTo>
                    <a:pt x="14224" y="57150"/>
                  </a:lnTo>
                  <a:lnTo>
                    <a:pt x="8679" y="54899"/>
                  </a:lnTo>
                  <a:lnTo>
                    <a:pt x="4159" y="48768"/>
                  </a:lnTo>
                  <a:lnTo>
                    <a:pt x="1115" y="39683"/>
                  </a:lnTo>
                  <a:lnTo>
                    <a:pt x="0" y="28575"/>
                  </a:lnTo>
                  <a:close/>
                </a:path>
              </a:pathLst>
            </a:custGeom>
            <a:ln w="9525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19450" y="2057336"/>
              <a:ext cx="147637" cy="176212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3281426" y="2100325"/>
              <a:ext cx="28575" cy="57150"/>
            </a:xfrm>
            <a:custGeom>
              <a:avLst/>
              <a:gdLst/>
              <a:ahLst/>
              <a:cxnLst/>
              <a:rect l="l" t="t" r="r" b="b"/>
              <a:pathLst>
                <a:path w="28575" h="57150">
                  <a:moveTo>
                    <a:pt x="14224" y="0"/>
                  </a:moveTo>
                  <a:lnTo>
                    <a:pt x="8679" y="2232"/>
                  </a:lnTo>
                  <a:lnTo>
                    <a:pt x="4159" y="8334"/>
                  </a:lnTo>
                  <a:lnTo>
                    <a:pt x="1115" y="17412"/>
                  </a:lnTo>
                  <a:lnTo>
                    <a:pt x="0" y="28575"/>
                  </a:lnTo>
                  <a:lnTo>
                    <a:pt x="1115" y="39683"/>
                  </a:lnTo>
                  <a:lnTo>
                    <a:pt x="4159" y="48768"/>
                  </a:lnTo>
                  <a:lnTo>
                    <a:pt x="8679" y="54899"/>
                  </a:lnTo>
                  <a:lnTo>
                    <a:pt x="14224" y="57150"/>
                  </a:lnTo>
                  <a:lnTo>
                    <a:pt x="19788" y="54899"/>
                  </a:lnTo>
                  <a:lnTo>
                    <a:pt x="24352" y="48768"/>
                  </a:lnTo>
                  <a:lnTo>
                    <a:pt x="27439" y="39683"/>
                  </a:lnTo>
                  <a:lnTo>
                    <a:pt x="28575" y="28575"/>
                  </a:lnTo>
                  <a:lnTo>
                    <a:pt x="27439" y="17412"/>
                  </a:lnTo>
                  <a:lnTo>
                    <a:pt x="24352" y="8334"/>
                  </a:lnTo>
                  <a:lnTo>
                    <a:pt x="19788" y="2232"/>
                  </a:lnTo>
                  <a:lnTo>
                    <a:pt x="1422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281426" y="2100325"/>
              <a:ext cx="28575" cy="57150"/>
            </a:xfrm>
            <a:custGeom>
              <a:avLst/>
              <a:gdLst/>
              <a:ahLst/>
              <a:cxnLst/>
              <a:rect l="l" t="t" r="r" b="b"/>
              <a:pathLst>
                <a:path w="28575" h="57150">
                  <a:moveTo>
                    <a:pt x="0" y="28575"/>
                  </a:moveTo>
                  <a:lnTo>
                    <a:pt x="1115" y="17412"/>
                  </a:lnTo>
                  <a:lnTo>
                    <a:pt x="4159" y="8334"/>
                  </a:lnTo>
                  <a:lnTo>
                    <a:pt x="8679" y="2232"/>
                  </a:lnTo>
                  <a:lnTo>
                    <a:pt x="14224" y="0"/>
                  </a:lnTo>
                  <a:lnTo>
                    <a:pt x="19788" y="2232"/>
                  </a:lnTo>
                  <a:lnTo>
                    <a:pt x="24352" y="8334"/>
                  </a:lnTo>
                  <a:lnTo>
                    <a:pt x="27439" y="17412"/>
                  </a:lnTo>
                  <a:lnTo>
                    <a:pt x="28575" y="28575"/>
                  </a:lnTo>
                  <a:lnTo>
                    <a:pt x="27439" y="39683"/>
                  </a:lnTo>
                  <a:lnTo>
                    <a:pt x="24352" y="48768"/>
                  </a:lnTo>
                  <a:lnTo>
                    <a:pt x="19788" y="54899"/>
                  </a:lnTo>
                  <a:lnTo>
                    <a:pt x="14224" y="57150"/>
                  </a:lnTo>
                  <a:lnTo>
                    <a:pt x="8679" y="54899"/>
                  </a:lnTo>
                  <a:lnTo>
                    <a:pt x="4159" y="48768"/>
                  </a:lnTo>
                  <a:lnTo>
                    <a:pt x="1115" y="39683"/>
                  </a:lnTo>
                  <a:lnTo>
                    <a:pt x="0" y="28575"/>
                  </a:lnTo>
                  <a:close/>
                </a:path>
              </a:pathLst>
            </a:custGeom>
            <a:ln w="9525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81350" y="1952561"/>
              <a:ext cx="147637" cy="176212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3243326" y="1995550"/>
              <a:ext cx="28575" cy="57150"/>
            </a:xfrm>
            <a:custGeom>
              <a:avLst/>
              <a:gdLst/>
              <a:ahLst/>
              <a:cxnLst/>
              <a:rect l="l" t="t" r="r" b="b"/>
              <a:pathLst>
                <a:path w="28575" h="57150">
                  <a:moveTo>
                    <a:pt x="14224" y="0"/>
                  </a:moveTo>
                  <a:lnTo>
                    <a:pt x="8679" y="2232"/>
                  </a:lnTo>
                  <a:lnTo>
                    <a:pt x="4159" y="8334"/>
                  </a:lnTo>
                  <a:lnTo>
                    <a:pt x="1115" y="17412"/>
                  </a:lnTo>
                  <a:lnTo>
                    <a:pt x="0" y="28575"/>
                  </a:lnTo>
                  <a:lnTo>
                    <a:pt x="1115" y="39683"/>
                  </a:lnTo>
                  <a:lnTo>
                    <a:pt x="4159" y="48768"/>
                  </a:lnTo>
                  <a:lnTo>
                    <a:pt x="8679" y="54899"/>
                  </a:lnTo>
                  <a:lnTo>
                    <a:pt x="14224" y="57150"/>
                  </a:lnTo>
                  <a:lnTo>
                    <a:pt x="19788" y="54899"/>
                  </a:lnTo>
                  <a:lnTo>
                    <a:pt x="24352" y="48768"/>
                  </a:lnTo>
                  <a:lnTo>
                    <a:pt x="27439" y="39683"/>
                  </a:lnTo>
                  <a:lnTo>
                    <a:pt x="28575" y="28575"/>
                  </a:lnTo>
                  <a:lnTo>
                    <a:pt x="27439" y="17412"/>
                  </a:lnTo>
                  <a:lnTo>
                    <a:pt x="24352" y="8334"/>
                  </a:lnTo>
                  <a:lnTo>
                    <a:pt x="19788" y="2232"/>
                  </a:lnTo>
                  <a:lnTo>
                    <a:pt x="1422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243326" y="1995550"/>
              <a:ext cx="28575" cy="57150"/>
            </a:xfrm>
            <a:custGeom>
              <a:avLst/>
              <a:gdLst/>
              <a:ahLst/>
              <a:cxnLst/>
              <a:rect l="l" t="t" r="r" b="b"/>
              <a:pathLst>
                <a:path w="28575" h="57150">
                  <a:moveTo>
                    <a:pt x="0" y="28575"/>
                  </a:moveTo>
                  <a:lnTo>
                    <a:pt x="1115" y="17412"/>
                  </a:lnTo>
                  <a:lnTo>
                    <a:pt x="4159" y="8334"/>
                  </a:lnTo>
                  <a:lnTo>
                    <a:pt x="8679" y="2232"/>
                  </a:lnTo>
                  <a:lnTo>
                    <a:pt x="14224" y="0"/>
                  </a:lnTo>
                  <a:lnTo>
                    <a:pt x="19788" y="2232"/>
                  </a:lnTo>
                  <a:lnTo>
                    <a:pt x="24352" y="8334"/>
                  </a:lnTo>
                  <a:lnTo>
                    <a:pt x="27439" y="17412"/>
                  </a:lnTo>
                  <a:lnTo>
                    <a:pt x="28575" y="28575"/>
                  </a:lnTo>
                  <a:lnTo>
                    <a:pt x="27439" y="39683"/>
                  </a:lnTo>
                  <a:lnTo>
                    <a:pt x="24352" y="48768"/>
                  </a:lnTo>
                  <a:lnTo>
                    <a:pt x="19788" y="54899"/>
                  </a:lnTo>
                  <a:lnTo>
                    <a:pt x="14224" y="57150"/>
                  </a:lnTo>
                  <a:lnTo>
                    <a:pt x="8679" y="54899"/>
                  </a:lnTo>
                  <a:lnTo>
                    <a:pt x="4159" y="48768"/>
                  </a:lnTo>
                  <a:lnTo>
                    <a:pt x="1115" y="39683"/>
                  </a:lnTo>
                  <a:lnTo>
                    <a:pt x="0" y="28575"/>
                  </a:lnTo>
                  <a:close/>
                </a:path>
              </a:pathLst>
            </a:custGeom>
            <a:ln w="9525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8" name="object 5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76575" y="2181161"/>
              <a:ext cx="157162" cy="176212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3138550" y="2224150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19050" y="0"/>
                  </a:moveTo>
                  <a:lnTo>
                    <a:pt x="11626" y="2232"/>
                  </a:lnTo>
                  <a:lnTo>
                    <a:pt x="5572" y="8334"/>
                  </a:lnTo>
                  <a:lnTo>
                    <a:pt x="1494" y="17412"/>
                  </a:lnTo>
                  <a:lnTo>
                    <a:pt x="0" y="28575"/>
                  </a:lnTo>
                  <a:lnTo>
                    <a:pt x="1494" y="39683"/>
                  </a:lnTo>
                  <a:lnTo>
                    <a:pt x="5572" y="48768"/>
                  </a:lnTo>
                  <a:lnTo>
                    <a:pt x="11626" y="54899"/>
                  </a:lnTo>
                  <a:lnTo>
                    <a:pt x="19050" y="57150"/>
                  </a:lnTo>
                  <a:lnTo>
                    <a:pt x="26419" y="54899"/>
                  </a:lnTo>
                  <a:lnTo>
                    <a:pt x="32480" y="48768"/>
                  </a:lnTo>
                  <a:lnTo>
                    <a:pt x="36587" y="39683"/>
                  </a:lnTo>
                  <a:lnTo>
                    <a:pt x="38100" y="28575"/>
                  </a:lnTo>
                  <a:lnTo>
                    <a:pt x="36587" y="17412"/>
                  </a:lnTo>
                  <a:lnTo>
                    <a:pt x="32480" y="8334"/>
                  </a:lnTo>
                  <a:lnTo>
                    <a:pt x="26419" y="2232"/>
                  </a:lnTo>
                  <a:lnTo>
                    <a:pt x="1905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3138550" y="2224150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0" y="28575"/>
                  </a:moveTo>
                  <a:lnTo>
                    <a:pt x="1494" y="17412"/>
                  </a:lnTo>
                  <a:lnTo>
                    <a:pt x="5572" y="8334"/>
                  </a:lnTo>
                  <a:lnTo>
                    <a:pt x="11626" y="2232"/>
                  </a:lnTo>
                  <a:lnTo>
                    <a:pt x="19050" y="0"/>
                  </a:lnTo>
                  <a:lnTo>
                    <a:pt x="26419" y="2232"/>
                  </a:lnTo>
                  <a:lnTo>
                    <a:pt x="32480" y="8334"/>
                  </a:lnTo>
                  <a:lnTo>
                    <a:pt x="36587" y="17412"/>
                  </a:lnTo>
                  <a:lnTo>
                    <a:pt x="38100" y="28575"/>
                  </a:lnTo>
                  <a:lnTo>
                    <a:pt x="36587" y="39683"/>
                  </a:lnTo>
                  <a:lnTo>
                    <a:pt x="32480" y="48768"/>
                  </a:lnTo>
                  <a:lnTo>
                    <a:pt x="26419" y="54899"/>
                  </a:lnTo>
                  <a:lnTo>
                    <a:pt x="19050" y="57150"/>
                  </a:lnTo>
                  <a:lnTo>
                    <a:pt x="11626" y="54899"/>
                  </a:lnTo>
                  <a:lnTo>
                    <a:pt x="5572" y="48768"/>
                  </a:lnTo>
                  <a:lnTo>
                    <a:pt x="1494" y="39683"/>
                  </a:lnTo>
                  <a:lnTo>
                    <a:pt x="0" y="28575"/>
                  </a:lnTo>
                  <a:close/>
                </a:path>
              </a:pathLst>
            </a:custGeom>
            <a:ln w="9525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72200" y="2428811"/>
              <a:ext cx="157162" cy="176212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6234176" y="2471800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19050" y="0"/>
                  </a:moveTo>
                  <a:lnTo>
                    <a:pt x="11626" y="2232"/>
                  </a:lnTo>
                  <a:lnTo>
                    <a:pt x="5572" y="8334"/>
                  </a:lnTo>
                  <a:lnTo>
                    <a:pt x="1494" y="17412"/>
                  </a:lnTo>
                  <a:lnTo>
                    <a:pt x="0" y="28575"/>
                  </a:lnTo>
                  <a:lnTo>
                    <a:pt x="1494" y="39683"/>
                  </a:lnTo>
                  <a:lnTo>
                    <a:pt x="5572" y="48768"/>
                  </a:lnTo>
                  <a:lnTo>
                    <a:pt x="11626" y="54899"/>
                  </a:lnTo>
                  <a:lnTo>
                    <a:pt x="19050" y="57150"/>
                  </a:lnTo>
                  <a:lnTo>
                    <a:pt x="26419" y="54899"/>
                  </a:lnTo>
                  <a:lnTo>
                    <a:pt x="32480" y="48768"/>
                  </a:lnTo>
                  <a:lnTo>
                    <a:pt x="36587" y="39683"/>
                  </a:lnTo>
                  <a:lnTo>
                    <a:pt x="38100" y="28575"/>
                  </a:lnTo>
                  <a:lnTo>
                    <a:pt x="36587" y="17412"/>
                  </a:lnTo>
                  <a:lnTo>
                    <a:pt x="32480" y="8334"/>
                  </a:lnTo>
                  <a:lnTo>
                    <a:pt x="26419" y="2232"/>
                  </a:lnTo>
                  <a:lnTo>
                    <a:pt x="1905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234176" y="2471800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0" y="28575"/>
                  </a:moveTo>
                  <a:lnTo>
                    <a:pt x="1494" y="17412"/>
                  </a:lnTo>
                  <a:lnTo>
                    <a:pt x="5572" y="8334"/>
                  </a:lnTo>
                  <a:lnTo>
                    <a:pt x="11626" y="2232"/>
                  </a:lnTo>
                  <a:lnTo>
                    <a:pt x="19050" y="0"/>
                  </a:lnTo>
                  <a:lnTo>
                    <a:pt x="26419" y="2232"/>
                  </a:lnTo>
                  <a:lnTo>
                    <a:pt x="32480" y="8334"/>
                  </a:lnTo>
                  <a:lnTo>
                    <a:pt x="36587" y="17412"/>
                  </a:lnTo>
                  <a:lnTo>
                    <a:pt x="38100" y="28575"/>
                  </a:lnTo>
                  <a:lnTo>
                    <a:pt x="36587" y="39683"/>
                  </a:lnTo>
                  <a:lnTo>
                    <a:pt x="32480" y="48768"/>
                  </a:lnTo>
                  <a:lnTo>
                    <a:pt x="26419" y="54899"/>
                  </a:lnTo>
                  <a:lnTo>
                    <a:pt x="19050" y="57150"/>
                  </a:lnTo>
                  <a:lnTo>
                    <a:pt x="11626" y="54899"/>
                  </a:lnTo>
                  <a:lnTo>
                    <a:pt x="5572" y="48768"/>
                  </a:lnTo>
                  <a:lnTo>
                    <a:pt x="1494" y="39683"/>
                  </a:lnTo>
                  <a:lnTo>
                    <a:pt x="0" y="28575"/>
                  </a:lnTo>
                  <a:close/>
                </a:path>
              </a:pathLst>
            </a:custGeom>
            <a:ln w="9525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53150" y="2143061"/>
              <a:ext cx="157162" cy="176212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6215126" y="2186050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19050" y="0"/>
                  </a:moveTo>
                  <a:lnTo>
                    <a:pt x="11626" y="2232"/>
                  </a:lnTo>
                  <a:lnTo>
                    <a:pt x="5572" y="8334"/>
                  </a:lnTo>
                  <a:lnTo>
                    <a:pt x="1494" y="17412"/>
                  </a:lnTo>
                  <a:lnTo>
                    <a:pt x="0" y="28575"/>
                  </a:lnTo>
                  <a:lnTo>
                    <a:pt x="1494" y="39683"/>
                  </a:lnTo>
                  <a:lnTo>
                    <a:pt x="5572" y="48768"/>
                  </a:lnTo>
                  <a:lnTo>
                    <a:pt x="11626" y="54899"/>
                  </a:lnTo>
                  <a:lnTo>
                    <a:pt x="19050" y="57150"/>
                  </a:lnTo>
                  <a:lnTo>
                    <a:pt x="26419" y="54899"/>
                  </a:lnTo>
                  <a:lnTo>
                    <a:pt x="32480" y="48768"/>
                  </a:lnTo>
                  <a:lnTo>
                    <a:pt x="36587" y="39683"/>
                  </a:lnTo>
                  <a:lnTo>
                    <a:pt x="38100" y="28575"/>
                  </a:lnTo>
                  <a:lnTo>
                    <a:pt x="36587" y="17412"/>
                  </a:lnTo>
                  <a:lnTo>
                    <a:pt x="32480" y="8334"/>
                  </a:lnTo>
                  <a:lnTo>
                    <a:pt x="26419" y="2232"/>
                  </a:lnTo>
                  <a:lnTo>
                    <a:pt x="1905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215126" y="2186050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0" y="28575"/>
                  </a:moveTo>
                  <a:lnTo>
                    <a:pt x="1494" y="17412"/>
                  </a:lnTo>
                  <a:lnTo>
                    <a:pt x="5572" y="8334"/>
                  </a:lnTo>
                  <a:lnTo>
                    <a:pt x="11626" y="2232"/>
                  </a:lnTo>
                  <a:lnTo>
                    <a:pt x="19050" y="0"/>
                  </a:lnTo>
                  <a:lnTo>
                    <a:pt x="26419" y="2232"/>
                  </a:lnTo>
                  <a:lnTo>
                    <a:pt x="32480" y="8334"/>
                  </a:lnTo>
                  <a:lnTo>
                    <a:pt x="36587" y="17412"/>
                  </a:lnTo>
                  <a:lnTo>
                    <a:pt x="38100" y="28575"/>
                  </a:lnTo>
                  <a:lnTo>
                    <a:pt x="36587" y="39683"/>
                  </a:lnTo>
                  <a:lnTo>
                    <a:pt x="32480" y="48768"/>
                  </a:lnTo>
                  <a:lnTo>
                    <a:pt x="26419" y="54899"/>
                  </a:lnTo>
                  <a:lnTo>
                    <a:pt x="19050" y="57150"/>
                  </a:lnTo>
                  <a:lnTo>
                    <a:pt x="11626" y="54899"/>
                  </a:lnTo>
                  <a:lnTo>
                    <a:pt x="5572" y="48768"/>
                  </a:lnTo>
                  <a:lnTo>
                    <a:pt x="1494" y="39683"/>
                  </a:lnTo>
                  <a:lnTo>
                    <a:pt x="0" y="28575"/>
                  </a:lnTo>
                  <a:close/>
                </a:path>
              </a:pathLst>
            </a:custGeom>
            <a:ln w="9525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7" name="object 6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29350" y="1990661"/>
              <a:ext cx="157162" cy="176212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6291326" y="2033650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19050" y="0"/>
                  </a:moveTo>
                  <a:lnTo>
                    <a:pt x="11626" y="2232"/>
                  </a:lnTo>
                  <a:lnTo>
                    <a:pt x="5572" y="8334"/>
                  </a:lnTo>
                  <a:lnTo>
                    <a:pt x="1494" y="17412"/>
                  </a:lnTo>
                  <a:lnTo>
                    <a:pt x="0" y="28575"/>
                  </a:lnTo>
                  <a:lnTo>
                    <a:pt x="1494" y="39683"/>
                  </a:lnTo>
                  <a:lnTo>
                    <a:pt x="5572" y="48768"/>
                  </a:lnTo>
                  <a:lnTo>
                    <a:pt x="11626" y="54899"/>
                  </a:lnTo>
                  <a:lnTo>
                    <a:pt x="19050" y="57150"/>
                  </a:lnTo>
                  <a:lnTo>
                    <a:pt x="26419" y="54899"/>
                  </a:lnTo>
                  <a:lnTo>
                    <a:pt x="32480" y="48768"/>
                  </a:lnTo>
                  <a:lnTo>
                    <a:pt x="36587" y="39683"/>
                  </a:lnTo>
                  <a:lnTo>
                    <a:pt x="38100" y="28575"/>
                  </a:lnTo>
                  <a:lnTo>
                    <a:pt x="36587" y="17412"/>
                  </a:lnTo>
                  <a:lnTo>
                    <a:pt x="32480" y="8334"/>
                  </a:lnTo>
                  <a:lnTo>
                    <a:pt x="26419" y="2232"/>
                  </a:lnTo>
                  <a:lnTo>
                    <a:pt x="1905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6291326" y="2033650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0" y="28575"/>
                  </a:moveTo>
                  <a:lnTo>
                    <a:pt x="1494" y="17412"/>
                  </a:lnTo>
                  <a:lnTo>
                    <a:pt x="5572" y="8334"/>
                  </a:lnTo>
                  <a:lnTo>
                    <a:pt x="11626" y="2232"/>
                  </a:lnTo>
                  <a:lnTo>
                    <a:pt x="19050" y="0"/>
                  </a:lnTo>
                  <a:lnTo>
                    <a:pt x="26419" y="2232"/>
                  </a:lnTo>
                  <a:lnTo>
                    <a:pt x="32480" y="8334"/>
                  </a:lnTo>
                  <a:lnTo>
                    <a:pt x="36587" y="17412"/>
                  </a:lnTo>
                  <a:lnTo>
                    <a:pt x="38100" y="28575"/>
                  </a:lnTo>
                  <a:lnTo>
                    <a:pt x="36587" y="39683"/>
                  </a:lnTo>
                  <a:lnTo>
                    <a:pt x="32480" y="48768"/>
                  </a:lnTo>
                  <a:lnTo>
                    <a:pt x="26419" y="54899"/>
                  </a:lnTo>
                  <a:lnTo>
                    <a:pt x="19050" y="57150"/>
                  </a:lnTo>
                  <a:lnTo>
                    <a:pt x="11626" y="54899"/>
                  </a:lnTo>
                  <a:lnTo>
                    <a:pt x="5572" y="48768"/>
                  </a:lnTo>
                  <a:lnTo>
                    <a:pt x="1494" y="39683"/>
                  </a:lnTo>
                  <a:lnTo>
                    <a:pt x="0" y="28575"/>
                  </a:lnTo>
                  <a:close/>
                </a:path>
              </a:pathLst>
            </a:custGeom>
            <a:ln w="9525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0" name="object 7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24600" y="2409761"/>
              <a:ext cx="147637" cy="176212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6386576" y="2452750"/>
              <a:ext cx="28575" cy="57150"/>
            </a:xfrm>
            <a:custGeom>
              <a:avLst/>
              <a:gdLst/>
              <a:ahLst/>
              <a:cxnLst/>
              <a:rect l="l" t="t" r="r" b="b"/>
              <a:pathLst>
                <a:path w="28575" h="57150">
                  <a:moveTo>
                    <a:pt x="14224" y="0"/>
                  </a:moveTo>
                  <a:lnTo>
                    <a:pt x="8679" y="2232"/>
                  </a:lnTo>
                  <a:lnTo>
                    <a:pt x="4159" y="8334"/>
                  </a:lnTo>
                  <a:lnTo>
                    <a:pt x="1115" y="17412"/>
                  </a:lnTo>
                  <a:lnTo>
                    <a:pt x="0" y="28575"/>
                  </a:lnTo>
                  <a:lnTo>
                    <a:pt x="1115" y="39683"/>
                  </a:lnTo>
                  <a:lnTo>
                    <a:pt x="4159" y="48768"/>
                  </a:lnTo>
                  <a:lnTo>
                    <a:pt x="8679" y="54899"/>
                  </a:lnTo>
                  <a:lnTo>
                    <a:pt x="14224" y="57150"/>
                  </a:lnTo>
                  <a:lnTo>
                    <a:pt x="19788" y="54899"/>
                  </a:lnTo>
                  <a:lnTo>
                    <a:pt x="24352" y="48768"/>
                  </a:lnTo>
                  <a:lnTo>
                    <a:pt x="27439" y="39683"/>
                  </a:lnTo>
                  <a:lnTo>
                    <a:pt x="28575" y="28575"/>
                  </a:lnTo>
                  <a:lnTo>
                    <a:pt x="27439" y="17412"/>
                  </a:lnTo>
                  <a:lnTo>
                    <a:pt x="24352" y="8334"/>
                  </a:lnTo>
                  <a:lnTo>
                    <a:pt x="19788" y="2232"/>
                  </a:lnTo>
                  <a:lnTo>
                    <a:pt x="1422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6386576" y="2452750"/>
              <a:ext cx="28575" cy="57150"/>
            </a:xfrm>
            <a:custGeom>
              <a:avLst/>
              <a:gdLst/>
              <a:ahLst/>
              <a:cxnLst/>
              <a:rect l="l" t="t" r="r" b="b"/>
              <a:pathLst>
                <a:path w="28575" h="57150">
                  <a:moveTo>
                    <a:pt x="0" y="28575"/>
                  </a:moveTo>
                  <a:lnTo>
                    <a:pt x="1115" y="17412"/>
                  </a:lnTo>
                  <a:lnTo>
                    <a:pt x="4159" y="8334"/>
                  </a:lnTo>
                  <a:lnTo>
                    <a:pt x="8679" y="2232"/>
                  </a:lnTo>
                  <a:lnTo>
                    <a:pt x="14224" y="0"/>
                  </a:lnTo>
                  <a:lnTo>
                    <a:pt x="19788" y="2232"/>
                  </a:lnTo>
                  <a:lnTo>
                    <a:pt x="24352" y="8334"/>
                  </a:lnTo>
                  <a:lnTo>
                    <a:pt x="27439" y="17412"/>
                  </a:lnTo>
                  <a:lnTo>
                    <a:pt x="28575" y="28575"/>
                  </a:lnTo>
                  <a:lnTo>
                    <a:pt x="27439" y="39683"/>
                  </a:lnTo>
                  <a:lnTo>
                    <a:pt x="24352" y="48768"/>
                  </a:lnTo>
                  <a:lnTo>
                    <a:pt x="19788" y="54899"/>
                  </a:lnTo>
                  <a:lnTo>
                    <a:pt x="14224" y="57150"/>
                  </a:lnTo>
                  <a:lnTo>
                    <a:pt x="8679" y="54899"/>
                  </a:lnTo>
                  <a:lnTo>
                    <a:pt x="4159" y="48768"/>
                  </a:lnTo>
                  <a:lnTo>
                    <a:pt x="1115" y="39683"/>
                  </a:lnTo>
                  <a:lnTo>
                    <a:pt x="0" y="28575"/>
                  </a:lnTo>
                  <a:close/>
                </a:path>
              </a:pathLst>
            </a:custGeom>
            <a:ln w="9525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62700" y="2000186"/>
              <a:ext cx="157162" cy="176212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6424676" y="2043175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19050" y="0"/>
                  </a:moveTo>
                  <a:lnTo>
                    <a:pt x="11626" y="2232"/>
                  </a:lnTo>
                  <a:lnTo>
                    <a:pt x="5572" y="8334"/>
                  </a:lnTo>
                  <a:lnTo>
                    <a:pt x="1494" y="17412"/>
                  </a:lnTo>
                  <a:lnTo>
                    <a:pt x="0" y="28575"/>
                  </a:lnTo>
                  <a:lnTo>
                    <a:pt x="1494" y="39683"/>
                  </a:lnTo>
                  <a:lnTo>
                    <a:pt x="5572" y="48768"/>
                  </a:lnTo>
                  <a:lnTo>
                    <a:pt x="11626" y="54899"/>
                  </a:lnTo>
                  <a:lnTo>
                    <a:pt x="19050" y="57150"/>
                  </a:lnTo>
                  <a:lnTo>
                    <a:pt x="26419" y="54899"/>
                  </a:lnTo>
                  <a:lnTo>
                    <a:pt x="32480" y="48768"/>
                  </a:lnTo>
                  <a:lnTo>
                    <a:pt x="36587" y="39683"/>
                  </a:lnTo>
                  <a:lnTo>
                    <a:pt x="38100" y="28575"/>
                  </a:lnTo>
                  <a:lnTo>
                    <a:pt x="36587" y="17412"/>
                  </a:lnTo>
                  <a:lnTo>
                    <a:pt x="32480" y="8334"/>
                  </a:lnTo>
                  <a:lnTo>
                    <a:pt x="26419" y="2232"/>
                  </a:lnTo>
                  <a:lnTo>
                    <a:pt x="1905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6424676" y="2043175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0" y="28575"/>
                  </a:moveTo>
                  <a:lnTo>
                    <a:pt x="1494" y="17412"/>
                  </a:lnTo>
                  <a:lnTo>
                    <a:pt x="5572" y="8334"/>
                  </a:lnTo>
                  <a:lnTo>
                    <a:pt x="11626" y="2232"/>
                  </a:lnTo>
                  <a:lnTo>
                    <a:pt x="19050" y="0"/>
                  </a:lnTo>
                  <a:lnTo>
                    <a:pt x="26419" y="2232"/>
                  </a:lnTo>
                  <a:lnTo>
                    <a:pt x="32480" y="8334"/>
                  </a:lnTo>
                  <a:lnTo>
                    <a:pt x="36587" y="17412"/>
                  </a:lnTo>
                  <a:lnTo>
                    <a:pt x="38100" y="28575"/>
                  </a:lnTo>
                  <a:lnTo>
                    <a:pt x="36587" y="39683"/>
                  </a:lnTo>
                  <a:lnTo>
                    <a:pt x="32480" y="48768"/>
                  </a:lnTo>
                  <a:lnTo>
                    <a:pt x="26419" y="54899"/>
                  </a:lnTo>
                  <a:lnTo>
                    <a:pt x="19050" y="57150"/>
                  </a:lnTo>
                  <a:lnTo>
                    <a:pt x="11626" y="54899"/>
                  </a:lnTo>
                  <a:lnTo>
                    <a:pt x="5572" y="48768"/>
                  </a:lnTo>
                  <a:lnTo>
                    <a:pt x="1494" y="39683"/>
                  </a:lnTo>
                  <a:lnTo>
                    <a:pt x="0" y="28575"/>
                  </a:lnTo>
                  <a:close/>
                </a:path>
              </a:pathLst>
            </a:custGeom>
            <a:ln w="9525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6" name="object 7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34150" y="2476436"/>
              <a:ext cx="157162" cy="176212"/>
            </a:xfrm>
            <a:prstGeom prst="rect">
              <a:avLst/>
            </a:prstGeom>
          </p:spPr>
        </p:pic>
        <p:sp>
          <p:nvSpPr>
            <p:cNvPr id="77" name="object 77"/>
            <p:cNvSpPr/>
            <p:nvPr/>
          </p:nvSpPr>
          <p:spPr>
            <a:xfrm>
              <a:off x="6596126" y="2519425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19050" y="0"/>
                  </a:moveTo>
                  <a:lnTo>
                    <a:pt x="11626" y="2232"/>
                  </a:lnTo>
                  <a:lnTo>
                    <a:pt x="5572" y="8334"/>
                  </a:lnTo>
                  <a:lnTo>
                    <a:pt x="1494" y="17412"/>
                  </a:lnTo>
                  <a:lnTo>
                    <a:pt x="0" y="28575"/>
                  </a:lnTo>
                  <a:lnTo>
                    <a:pt x="1494" y="39683"/>
                  </a:lnTo>
                  <a:lnTo>
                    <a:pt x="5572" y="48768"/>
                  </a:lnTo>
                  <a:lnTo>
                    <a:pt x="11626" y="54899"/>
                  </a:lnTo>
                  <a:lnTo>
                    <a:pt x="19050" y="57150"/>
                  </a:lnTo>
                  <a:lnTo>
                    <a:pt x="26419" y="54899"/>
                  </a:lnTo>
                  <a:lnTo>
                    <a:pt x="32480" y="48768"/>
                  </a:lnTo>
                  <a:lnTo>
                    <a:pt x="36587" y="39683"/>
                  </a:lnTo>
                  <a:lnTo>
                    <a:pt x="38100" y="28575"/>
                  </a:lnTo>
                  <a:lnTo>
                    <a:pt x="36587" y="17412"/>
                  </a:lnTo>
                  <a:lnTo>
                    <a:pt x="32480" y="8334"/>
                  </a:lnTo>
                  <a:lnTo>
                    <a:pt x="26419" y="2232"/>
                  </a:lnTo>
                  <a:lnTo>
                    <a:pt x="1905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6596126" y="2519425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0" y="28575"/>
                  </a:moveTo>
                  <a:lnTo>
                    <a:pt x="1494" y="17412"/>
                  </a:lnTo>
                  <a:lnTo>
                    <a:pt x="5572" y="8334"/>
                  </a:lnTo>
                  <a:lnTo>
                    <a:pt x="11626" y="2232"/>
                  </a:lnTo>
                  <a:lnTo>
                    <a:pt x="19050" y="0"/>
                  </a:lnTo>
                  <a:lnTo>
                    <a:pt x="26419" y="2232"/>
                  </a:lnTo>
                  <a:lnTo>
                    <a:pt x="32480" y="8334"/>
                  </a:lnTo>
                  <a:lnTo>
                    <a:pt x="36587" y="17412"/>
                  </a:lnTo>
                  <a:lnTo>
                    <a:pt x="38100" y="28575"/>
                  </a:lnTo>
                  <a:lnTo>
                    <a:pt x="36587" y="39683"/>
                  </a:lnTo>
                  <a:lnTo>
                    <a:pt x="32480" y="48768"/>
                  </a:lnTo>
                  <a:lnTo>
                    <a:pt x="26419" y="54899"/>
                  </a:lnTo>
                  <a:lnTo>
                    <a:pt x="19050" y="57150"/>
                  </a:lnTo>
                  <a:lnTo>
                    <a:pt x="11626" y="54899"/>
                  </a:lnTo>
                  <a:lnTo>
                    <a:pt x="5572" y="48768"/>
                  </a:lnTo>
                  <a:lnTo>
                    <a:pt x="1494" y="39683"/>
                  </a:lnTo>
                  <a:lnTo>
                    <a:pt x="0" y="28575"/>
                  </a:lnTo>
                  <a:close/>
                </a:path>
              </a:pathLst>
            </a:custGeom>
            <a:ln w="9525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9" name="object 7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24625" y="1904936"/>
              <a:ext cx="147637" cy="176212"/>
            </a:xfrm>
            <a:prstGeom prst="rect">
              <a:avLst/>
            </a:prstGeom>
          </p:spPr>
        </p:pic>
        <p:sp>
          <p:nvSpPr>
            <p:cNvPr id="80" name="object 80"/>
            <p:cNvSpPr/>
            <p:nvPr/>
          </p:nvSpPr>
          <p:spPr>
            <a:xfrm>
              <a:off x="6586601" y="1947926"/>
              <a:ext cx="28575" cy="57150"/>
            </a:xfrm>
            <a:custGeom>
              <a:avLst/>
              <a:gdLst/>
              <a:ahLst/>
              <a:cxnLst/>
              <a:rect l="l" t="t" r="r" b="b"/>
              <a:pathLst>
                <a:path w="28575" h="57150">
                  <a:moveTo>
                    <a:pt x="14224" y="0"/>
                  </a:moveTo>
                  <a:lnTo>
                    <a:pt x="8679" y="2232"/>
                  </a:lnTo>
                  <a:lnTo>
                    <a:pt x="4159" y="8334"/>
                  </a:lnTo>
                  <a:lnTo>
                    <a:pt x="1115" y="17412"/>
                  </a:lnTo>
                  <a:lnTo>
                    <a:pt x="0" y="28575"/>
                  </a:lnTo>
                  <a:lnTo>
                    <a:pt x="1115" y="39683"/>
                  </a:lnTo>
                  <a:lnTo>
                    <a:pt x="4159" y="48768"/>
                  </a:lnTo>
                  <a:lnTo>
                    <a:pt x="8679" y="54899"/>
                  </a:lnTo>
                  <a:lnTo>
                    <a:pt x="14224" y="57150"/>
                  </a:lnTo>
                  <a:lnTo>
                    <a:pt x="19788" y="54899"/>
                  </a:lnTo>
                  <a:lnTo>
                    <a:pt x="24352" y="48768"/>
                  </a:lnTo>
                  <a:lnTo>
                    <a:pt x="27439" y="39683"/>
                  </a:lnTo>
                  <a:lnTo>
                    <a:pt x="28575" y="28575"/>
                  </a:lnTo>
                  <a:lnTo>
                    <a:pt x="27439" y="17412"/>
                  </a:lnTo>
                  <a:lnTo>
                    <a:pt x="24352" y="8334"/>
                  </a:lnTo>
                  <a:lnTo>
                    <a:pt x="19788" y="2232"/>
                  </a:lnTo>
                  <a:lnTo>
                    <a:pt x="1422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6586601" y="1947926"/>
              <a:ext cx="28575" cy="57150"/>
            </a:xfrm>
            <a:custGeom>
              <a:avLst/>
              <a:gdLst/>
              <a:ahLst/>
              <a:cxnLst/>
              <a:rect l="l" t="t" r="r" b="b"/>
              <a:pathLst>
                <a:path w="28575" h="57150">
                  <a:moveTo>
                    <a:pt x="0" y="28575"/>
                  </a:moveTo>
                  <a:lnTo>
                    <a:pt x="1115" y="17412"/>
                  </a:lnTo>
                  <a:lnTo>
                    <a:pt x="4159" y="8334"/>
                  </a:lnTo>
                  <a:lnTo>
                    <a:pt x="8679" y="2232"/>
                  </a:lnTo>
                  <a:lnTo>
                    <a:pt x="14224" y="0"/>
                  </a:lnTo>
                  <a:lnTo>
                    <a:pt x="19788" y="2232"/>
                  </a:lnTo>
                  <a:lnTo>
                    <a:pt x="24352" y="8334"/>
                  </a:lnTo>
                  <a:lnTo>
                    <a:pt x="27439" y="17412"/>
                  </a:lnTo>
                  <a:lnTo>
                    <a:pt x="28575" y="28575"/>
                  </a:lnTo>
                  <a:lnTo>
                    <a:pt x="27439" y="39683"/>
                  </a:lnTo>
                  <a:lnTo>
                    <a:pt x="24352" y="48768"/>
                  </a:lnTo>
                  <a:lnTo>
                    <a:pt x="19788" y="54899"/>
                  </a:lnTo>
                  <a:lnTo>
                    <a:pt x="14224" y="57150"/>
                  </a:lnTo>
                  <a:lnTo>
                    <a:pt x="8679" y="54899"/>
                  </a:lnTo>
                  <a:lnTo>
                    <a:pt x="4159" y="48768"/>
                  </a:lnTo>
                  <a:lnTo>
                    <a:pt x="1115" y="39683"/>
                  </a:lnTo>
                  <a:lnTo>
                    <a:pt x="0" y="28575"/>
                  </a:lnTo>
                  <a:close/>
                </a:path>
              </a:pathLst>
            </a:custGeom>
            <a:ln w="9525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2" name="object 8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91300" y="2219261"/>
              <a:ext cx="157162" cy="176212"/>
            </a:xfrm>
            <a:prstGeom prst="rect">
              <a:avLst/>
            </a:prstGeom>
          </p:spPr>
        </p:pic>
        <p:sp>
          <p:nvSpPr>
            <p:cNvPr id="83" name="object 83"/>
            <p:cNvSpPr/>
            <p:nvPr/>
          </p:nvSpPr>
          <p:spPr>
            <a:xfrm>
              <a:off x="6653276" y="2262250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19050" y="0"/>
                  </a:moveTo>
                  <a:lnTo>
                    <a:pt x="11626" y="2232"/>
                  </a:lnTo>
                  <a:lnTo>
                    <a:pt x="5572" y="8334"/>
                  </a:lnTo>
                  <a:lnTo>
                    <a:pt x="1494" y="17412"/>
                  </a:lnTo>
                  <a:lnTo>
                    <a:pt x="0" y="28575"/>
                  </a:lnTo>
                  <a:lnTo>
                    <a:pt x="1494" y="39683"/>
                  </a:lnTo>
                  <a:lnTo>
                    <a:pt x="5572" y="48768"/>
                  </a:lnTo>
                  <a:lnTo>
                    <a:pt x="11626" y="54899"/>
                  </a:lnTo>
                  <a:lnTo>
                    <a:pt x="19050" y="57150"/>
                  </a:lnTo>
                  <a:lnTo>
                    <a:pt x="26419" y="54899"/>
                  </a:lnTo>
                  <a:lnTo>
                    <a:pt x="32480" y="48768"/>
                  </a:lnTo>
                  <a:lnTo>
                    <a:pt x="36587" y="39683"/>
                  </a:lnTo>
                  <a:lnTo>
                    <a:pt x="38100" y="28575"/>
                  </a:lnTo>
                  <a:lnTo>
                    <a:pt x="36587" y="17412"/>
                  </a:lnTo>
                  <a:lnTo>
                    <a:pt x="32480" y="8334"/>
                  </a:lnTo>
                  <a:lnTo>
                    <a:pt x="26419" y="2232"/>
                  </a:lnTo>
                  <a:lnTo>
                    <a:pt x="1905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6653276" y="2262250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0" y="28575"/>
                  </a:moveTo>
                  <a:lnTo>
                    <a:pt x="1494" y="17412"/>
                  </a:lnTo>
                  <a:lnTo>
                    <a:pt x="5572" y="8334"/>
                  </a:lnTo>
                  <a:lnTo>
                    <a:pt x="11626" y="2232"/>
                  </a:lnTo>
                  <a:lnTo>
                    <a:pt x="19050" y="0"/>
                  </a:lnTo>
                  <a:lnTo>
                    <a:pt x="26419" y="2232"/>
                  </a:lnTo>
                  <a:lnTo>
                    <a:pt x="32480" y="8334"/>
                  </a:lnTo>
                  <a:lnTo>
                    <a:pt x="36587" y="17412"/>
                  </a:lnTo>
                  <a:lnTo>
                    <a:pt x="38100" y="28575"/>
                  </a:lnTo>
                  <a:lnTo>
                    <a:pt x="36587" y="39683"/>
                  </a:lnTo>
                  <a:lnTo>
                    <a:pt x="32480" y="48768"/>
                  </a:lnTo>
                  <a:lnTo>
                    <a:pt x="26419" y="54899"/>
                  </a:lnTo>
                  <a:lnTo>
                    <a:pt x="19050" y="57150"/>
                  </a:lnTo>
                  <a:lnTo>
                    <a:pt x="11626" y="54899"/>
                  </a:lnTo>
                  <a:lnTo>
                    <a:pt x="5572" y="48768"/>
                  </a:lnTo>
                  <a:lnTo>
                    <a:pt x="1494" y="39683"/>
                  </a:lnTo>
                  <a:lnTo>
                    <a:pt x="0" y="28575"/>
                  </a:lnTo>
                  <a:close/>
                </a:path>
              </a:pathLst>
            </a:custGeom>
            <a:ln w="9525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5" name="object 8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24650" y="2552636"/>
              <a:ext cx="147637" cy="176212"/>
            </a:xfrm>
            <a:prstGeom prst="rect">
              <a:avLst/>
            </a:prstGeom>
          </p:spPr>
        </p:pic>
        <p:sp>
          <p:nvSpPr>
            <p:cNvPr id="86" name="object 86"/>
            <p:cNvSpPr/>
            <p:nvPr/>
          </p:nvSpPr>
          <p:spPr>
            <a:xfrm>
              <a:off x="6786626" y="2595625"/>
              <a:ext cx="28575" cy="57150"/>
            </a:xfrm>
            <a:custGeom>
              <a:avLst/>
              <a:gdLst/>
              <a:ahLst/>
              <a:cxnLst/>
              <a:rect l="l" t="t" r="r" b="b"/>
              <a:pathLst>
                <a:path w="28575" h="57150">
                  <a:moveTo>
                    <a:pt x="14224" y="0"/>
                  </a:moveTo>
                  <a:lnTo>
                    <a:pt x="8679" y="2232"/>
                  </a:lnTo>
                  <a:lnTo>
                    <a:pt x="4159" y="8334"/>
                  </a:lnTo>
                  <a:lnTo>
                    <a:pt x="1115" y="17412"/>
                  </a:lnTo>
                  <a:lnTo>
                    <a:pt x="0" y="28575"/>
                  </a:lnTo>
                  <a:lnTo>
                    <a:pt x="1115" y="39683"/>
                  </a:lnTo>
                  <a:lnTo>
                    <a:pt x="4159" y="48768"/>
                  </a:lnTo>
                  <a:lnTo>
                    <a:pt x="8679" y="54899"/>
                  </a:lnTo>
                  <a:lnTo>
                    <a:pt x="14224" y="57150"/>
                  </a:lnTo>
                  <a:lnTo>
                    <a:pt x="19788" y="54899"/>
                  </a:lnTo>
                  <a:lnTo>
                    <a:pt x="24352" y="48768"/>
                  </a:lnTo>
                  <a:lnTo>
                    <a:pt x="27439" y="39683"/>
                  </a:lnTo>
                  <a:lnTo>
                    <a:pt x="28575" y="28575"/>
                  </a:lnTo>
                  <a:lnTo>
                    <a:pt x="27439" y="17412"/>
                  </a:lnTo>
                  <a:lnTo>
                    <a:pt x="24352" y="8334"/>
                  </a:lnTo>
                  <a:lnTo>
                    <a:pt x="19788" y="2232"/>
                  </a:lnTo>
                  <a:lnTo>
                    <a:pt x="1422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6786626" y="2595625"/>
              <a:ext cx="28575" cy="57150"/>
            </a:xfrm>
            <a:custGeom>
              <a:avLst/>
              <a:gdLst/>
              <a:ahLst/>
              <a:cxnLst/>
              <a:rect l="l" t="t" r="r" b="b"/>
              <a:pathLst>
                <a:path w="28575" h="57150">
                  <a:moveTo>
                    <a:pt x="0" y="28575"/>
                  </a:moveTo>
                  <a:lnTo>
                    <a:pt x="1115" y="17412"/>
                  </a:lnTo>
                  <a:lnTo>
                    <a:pt x="4159" y="8334"/>
                  </a:lnTo>
                  <a:lnTo>
                    <a:pt x="8679" y="2232"/>
                  </a:lnTo>
                  <a:lnTo>
                    <a:pt x="14224" y="0"/>
                  </a:lnTo>
                  <a:lnTo>
                    <a:pt x="19788" y="2232"/>
                  </a:lnTo>
                  <a:lnTo>
                    <a:pt x="24352" y="8334"/>
                  </a:lnTo>
                  <a:lnTo>
                    <a:pt x="27439" y="17412"/>
                  </a:lnTo>
                  <a:lnTo>
                    <a:pt x="28575" y="28575"/>
                  </a:lnTo>
                  <a:lnTo>
                    <a:pt x="27439" y="39683"/>
                  </a:lnTo>
                  <a:lnTo>
                    <a:pt x="24352" y="48768"/>
                  </a:lnTo>
                  <a:lnTo>
                    <a:pt x="19788" y="54899"/>
                  </a:lnTo>
                  <a:lnTo>
                    <a:pt x="14224" y="57150"/>
                  </a:lnTo>
                  <a:lnTo>
                    <a:pt x="8679" y="54899"/>
                  </a:lnTo>
                  <a:lnTo>
                    <a:pt x="4159" y="48768"/>
                  </a:lnTo>
                  <a:lnTo>
                    <a:pt x="1115" y="39683"/>
                  </a:lnTo>
                  <a:lnTo>
                    <a:pt x="0" y="28575"/>
                  </a:lnTo>
                  <a:close/>
                </a:path>
              </a:pathLst>
            </a:custGeom>
            <a:ln w="9525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8" name="object 8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38900" y="2190686"/>
              <a:ext cx="157162" cy="176212"/>
            </a:xfrm>
            <a:prstGeom prst="rect">
              <a:avLst/>
            </a:prstGeom>
          </p:spPr>
        </p:pic>
        <p:sp>
          <p:nvSpPr>
            <p:cNvPr id="89" name="object 89"/>
            <p:cNvSpPr/>
            <p:nvPr/>
          </p:nvSpPr>
          <p:spPr>
            <a:xfrm>
              <a:off x="6500876" y="2233675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19050" y="0"/>
                  </a:moveTo>
                  <a:lnTo>
                    <a:pt x="11626" y="2232"/>
                  </a:lnTo>
                  <a:lnTo>
                    <a:pt x="5572" y="8334"/>
                  </a:lnTo>
                  <a:lnTo>
                    <a:pt x="1494" y="17412"/>
                  </a:lnTo>
                  <a:lnTo>
                    <a:pt x="0" y="28575"/>
                  </a:lnTo>
                  <a:lnTo>
                    <a:pt x="1494" y="39683"/>
                  </a:lnTo>
                  <a:lnTo>
                    <a:pt x="5572" y="48768"/>
                  </a:lnTo>
                  <a:lnTo>
                    <a:pt x="11626" y="54899"/>
                  </a:lnTo>
                  <a:lnTo>
                    <a:pt x="19050" y="57150"/>
                  </a:lnTo>
                  <a:lnTo>
                    <a:pt x="26419" y="54899"/>
                  </a:lnTo>
                  <a:lnTo>
                    <a:pt x="32480" y="48768"/>
                  </a:lnTo>
                  <a:lnTo>
                    <a:pt x="36587" y="39683"/>
                  </a:lnTo>
                  <a:lnTo>
                    <a:pt x="38100" y="28575"/>
                  </a:lnTo>
                  <a:lnTo>
                    <a:pt x="36587" y="17412"/>
                  </a:lnTo>
                  <a:lnTo>
                    <a:pt x="32480" y="8334"/>
                  </a:lnTo>
                  <a:lnTo>
                    <a:pt x="26419" y="2232"/>
                  </a:lnTo>
                  <a:lnTo>
                    <a:pt x="1905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6500876" y="2233675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0" y="28575"/>
                  </a:moveTo>
                  <a:lnTo>
                    <a:pt x="1494" y="17412"/>
                  </a:lnTo>
                  <a:lnTo>
                    <a:pt x="5572" y="8334"/>
                  </a:lnTo>
                  <a:lnTo>
                    <a:pt x="11626" y="2232"/>
                  </a:lnTo>
                  <a:lnTo>
                    <a:pt x="19050" y="0"/>
                  </a:lnTo>
                  <a:lnTo>
                    <a:pt x="26419" y="2232"/>
                  </a:lnTo>
                  <a:lnTo>
                    <a:pt x="32480" y="8334"/>
                  </a:lnTo>
                  <a:lnTo>
                    <a:pt x="36587" y="17412"/>
                  </a:lnTo>
                  <a:lnTo>
                    <a:pt x="38100" y="28575"/>
                  </a:lnTo>
                  <a:lnTo>
                    <a:pt x="36587" y="39683"/>
                  </a:lnTo>
                  <a:lnTo>
                    <a:pt x="32480" y="48768"/>
                  </a:lnTo>
                  <a:lnTo>
                    <a:pt x="26419" y="54899"/>
                  </a:lnTo>
                  <a:lnTo>
                    <a:pt x="19050" y="57150"/>
                  </a:lnTo>
                  <a:lnTo>
                    <a:pt x="11626" y="54899"/>
                  </a:lnTo>
                  <a:lnTo>
                    <a:pt x="5572" y="48768"/>
                  </a:lnTo>
                  <a:lnTo>
                    <a:pt x="1494" y="39683"/>
                  </a:lnTo>
                  <a:lnTo>
                    <a:pt x="0" y="28575"/>
                  </a:lnTo>
                  <a:close/>
                </a:path>
              </a:pathLst>
            </a:custGeom>
            <a:ln w="9525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1" name="object 9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34175" y="2190686"/>
              <a:ext cx="147637" cy="176212"/>
            </a:xfrm>
            <a:prstGeom prst="rect">
              <a:avLst/>
            </a:prstGeom>
          </p:spPr>
        </p:pic>
        <p:sp>
          <p:nvSpPr>
            <p:cNvPr id="92" name="object 92"/>
            <p:cNvSpPr/>
            <p:nvPr/>
          </p:nvSpPr>
          <p:spPr>
            <a:xfrm>
              <a:off x="6796151" y="2233675"/>
              <a:ext cx="28575" cy="57150"/>
            </a:xfrm>
            <a:custGeom>
              <a:avLst/>
              <a:gdLst/>
              <a:ahLst/>
              <a:cxnLst/>
              <a:rect l="l" t="t" r="r" b="b"/>
              <a:pathLst>
                <a:path w="28575" h="57150">
                  <a:moveTo>
                    <a:pt x="14224" y="0"/>
                  </a:moveTo>
                  <a:lnTo>
                    <a:pt x="8679" y="2232"/>
                  </a:lnTo>
                  <a:lnTo>
                    <a:pt x="4159" y="8334"/>
                  </a:lnTo>
                  <a:lnTo>
                    <a:pt x="1115" y="17412"/>
                  </a:lnTo>
                  <a:lnTo>
                    <a:pt x="0" y="28575"/>
                  </a:lnTo>
                  <a:lnTo>
                    <a:pt x="1115" y="39683"/>
                  </a:lnTo>
                  <a:lnTo>
                    <a:pt x="4159" y="48768"/>
                  </a:lnTo>
                  <a:lnTo>
                    <a:pt x="8679" y="54899"/>
                  </a:lnTo>
                  <a:lnTo>
                    <a:pt x="14224" y="57150"/>
                  </a:lnTo>
                  <a:lnTo>
                    <a:pt x="19788" y="54899"/>
                  </a:lnTo>
                  <a:lnTo>
                    <a:pt x="24352" y="48768"/>
                  </a:lnTo>
                  <a:lnTo>
                    <a:pt x="27439" y="39683"/>
                  </a:lnTo>
                  <a:lnTo>
                    <a:pt x="28575" y="28575"/>
                  </a:lnTo>
                  <a:lnTo>
                    <a:pt x="27439" y="17412"/>
                  </a:lnTo>
                  <a:lnTo>
                    <a:pt x="24352" y="8334"/>
                  </a:lnTo>
                  <a:lnTo>
                    <a:pt x="19788" y="2232"/>
                  </a:lnTo>
                  <a:lnTo>
                    <a:pt x="1422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6796151" y="2233675"/>
              <a:ext cx="28575" cy="57150"/>
            </a:xfrm>
            <a:custGeom>
              <a:avLst/>
              <a:gdLst/>
              <a:ahLst/>
              <a:cxnLst/>
              <a:rect l="l" t="t" r="r" b="b"/>
              <a:pathLst>
                <a:path w="28575" h="57150">
                  <a:moveTo>
                    <a:pt x="0" y="28575"/>
                  </a:moveTo>
                  <a:lnTo>
                    <a:pt x="1115" y="17412"/>
                  </a:lnTo>
                  <a:lnTo>
                    <a:pt x="4159" y="8334"/>
                  </a:lnTo>
                  <a:lnTo>
                    <a:pt x="8679" y="2232"/>
                  </a:lnTo>
                  <a:lnTo>
                    <a:pt x="14224" y="0"/>
                  </a:lnTo>
                  <a:lnTo>
                    <a:pt x="19788" y="2232"/>
                  </a:lnTo>
                  <a:lnTo>
                    <a:pt x="24352" y="8334"/>
                  </a:lnTo>
                  <a:lnTo>
                    <a:pt x="27439" y="17412"/>
                  </a:lnTo>
                  <a:lnTo>
                    <a:pt x="28575" y="28575"/>
                  </a:lnTo>
                  <a:lnTo>
                    <a:pt x="27439" y="39683"/>
                  </a:lnTo>
                  <a:lnTo>
                    <a:pt x="24352" y="48768"/>
                  </a:lnTo>
                  <a:lnTo>
                    <a:pt x="19788" y="54899"/>
                  </a:lnTo>
                  <a:lnTo>
                    <a:pt x="14224" y="57150"/>
                  </a:lnTo>
                  <a:lnTo>
                    <a:pt x="8679" y="54899"/>
                  </a:lnTo>
                  <a:lnTo>
                    <a:pt x="4159" y="48768"/>
                  </a:lnTo>
                  <a:lnTo>
                    <a:pt x="1115" y="39683"/>
                  </a:lnTo>
                  <a:lnTo>
                    <a:pt x="0" y="28575"/>
                  </a:lnTo>
                  <a:close/>
                </a:path>
              </a:pathLst>
            </a:custGeom>
            <a:ln w="9525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4" name="object 9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77050" y="2190686"/>
              <a:ext cx="157162" cy="176212"/>
            </a:xfrm>
            <a:prstGeom prst="rect">
              <a:avLst/>
            </a:prstGeom>
          </p:spPr>
        </p:pic>
        <p:sp>
          <p:nvSpPr>
            <p:cNvPr id="95" name="object 95"/>
            <p:cNvSpPr/>
            <p:nvPr/>
          </p:nvSpPr>
          <p:spPr>
            <a:xfrm>
              <a:off x="6939026" y="2233675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19050" y="0"/>
                  </a:moveTo>
                  <a:lnTo>
                    <a:pt x="11626" y="2232"/>
                  </a:lnTo>
                  <a:lnTo>
                    <a:pt x="5572" y="8334"/>
                  </a:lnTo>
                  <a:lnTo>
                    <a:pt x="1494" y="17412"/>
                  </a:lnTo>
                  <a:lnTo>
                    <a:pt x="0" y="28575"/>
                  </a:lnTo>
                  <a:lnTo>
                    <a:pt x="1494" y="39683"/>
                  </a:lnTo>
                  <a:lnTo>
                    <a:pt x="5572" y="48768"/>
                  </a:lnTo>
                  <a:lnTo>
                    <a:pt x="11626" y="54899"/>
                  </a:lnTo>
                  <a:lnTo>
                    <a:pt x="19050" y="57150"/>
                  </a:lnTo>
                  <a:lnTo>
                    <a:pt x="26419" y="54899"/>
                  </a:lnTo>
                  <a:lnTo>
                    <a:pt x="32480" y="48768"/>
                  </a:lnTo>
                  <a:lnTo>
                    <a:pt x="36587" y="39683"/>
                  </a:lnTo>
                  <a:lnTo>
                    <a:pt x="38100" y="28575"/>
                  </a:lnTo>
                  <a:lnTo>
                    <a:pt x="36587" y="17412"/>
                  </a:lnTo>
                  <a:lnTo>
                    <a:pt x="32480" y="8334"/>
                  </a:lnTo>
                  <a:lnTo>
                    <a:pt x="26419" y="2232"/>
                  </a:lnTo>
                  <a:lnTo>
                    <a:pt x="1905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6939026" y="2233675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0" y="28575"/>
                  </a:moveTo>
                  <a:lnTo>
                    <a:pt x="1494" y="17412"/>
                  </a:lnTo>
                  <a:lnTo>
                    <a:pt x="5572" y="8334"/>
                  </a:lnTo>
                  <a:lnTo>
                    <a:pt x="11626" y="2232"/>
                  </a:lnTo>
                  <a:lnTo>
                    <a:pt x="19050" y="0"/>
                  </a:lnTo>
                  <a:lnTo>
                    <a:pt x="26419" y="2232"/>
                  </a:lnTo>
                  <a:lnTo>
                    <a:pt x="32480" y="8334"/>
                  </a:lnTo>
                  <a:lnTo>
                    <a:pt x="36587" y="17412"/>
                  </a:lnTo>
                  <a:lnTo>
                    <a:pt x="38100" y="28575"/>
                  </a:lnTo>
                  <a:lnTo>
                    <a:pt x="36587" y="39683"/>
                  </a:lnTo>
                  <a:lnTo>
                    <a:pt x="32480" y="48768"/>
                  </a:lnTo>
                  <a:lnTo>
                    <a:pt x="26419" y="54899"/>
                  </a:lnTo>
                  <a:lnTo>
                    <a:pt x="19050" y="57150"/>
                  </a:lnTo>
                  <a:lnTo>
                    <a:pt x="11626" y="54899"/>
                  </a:lnTo>
                  <a:lnTo>
                    <a:pt x="5572" y="48768"/>
                  </a:lnTo>
                  <a:lnTo>
                    <a:pt x="1494" y="39683"/>
                  </a:lnTo>
                  <a:lnTo>
                    <a:pt x="0" y="28575"/>
                  </a:lnTo>
                  <a:close/>
                </a:path>
              </a:pathLst>
            </a:custGeom>
            <a:ln w="9525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7" name="object 9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77050" y="1904936"/>
              <a:ext cx="147637" cy="176212"/>
            </a:xfrm>
            <a:prstGeom prst="rect">
              <a:avLst/>
            </a:prstGeom>
          </p:spPr>
        </p:pic>
        <p:sp>
          <p:nvSpPr>
            <p:cNvPr id="98" name="object 98"/>
            <p:cNvSpPr/>
            <p:nvPr/>
          </p:nvSpPr>
          <p:spPr>
            <a:xfrm>
              <a:off x="6939026" y="1947926"/>
              <a:ext cx="28575" cy="57150"/>
            </a:xfrm>
            <a:custGeom>
              <a:avLst/>
              <a:gdLst/>
              <a:ahLst/>
              <a:cxnLst/>
              <a:rect l="l" t="t" r="r" b="b"/>
              <a:pathLst>
                <a:path w="28575" h="57150">
                  <a:moveTo>
                    <a:pt x="14224" y="0"/>
                  </a:moveTo>
                  <a:lnTo>
                    <a:pt x="8679" y="2232"/>
                  </a:lnTo>
                  <a:lnTo>
                    <a:pt x="4159" y="8334"/>
                  </a:lnTo>
                  <a:lnTo>
                    <a:pt x="1115" y="17412"/>
                  </a:lnTo>
                  <a:lnTo>
                    <a:pt x="0" y="28575"/>
                  </a:lnTo>
                  <a:lnTo>
                    <a:pt x="1115" y="39683"/>
                  </a:lnTo>
                  <a:lnTo>
                    <a:pt x="4159" y="48768"/>
                  </a:lnTo>
                  <a:lnTo>
                    <a:pt x="8679" y="54899"/>
                  </a:lnTo>
                  <a:lnTo>
                    <a:pt x="14224" y="57150"/>
                  </a:lnTo>
                  <a:lnTo>
                    <a:pt x="19788" y="54899"/>
                  </a:lnTo>
                  <a:lnTo>
                    <a:pt x="24352" y="48768"/>
                  </a:lnTo>
                  <a:lnTo>
                    <a:pt x="27439" y="39683"/>
                  </a:lnTo>
                  <a:lnTo>
                    <a:pt x="28575" y="28575"/>
                  </a:lnTo>
                  <a:lnTo>
                    <a:pt x="27439" y="17412"/>
                  </a:lnTo>
                  <a:lnTo>
                    <a:pt x="24352" y="8334"/>
                  </a:lnTo>
                  <a:lnTo>
                    <a:pt x="19788" y="2232"/>
                  </a:lnTo>
                  <a:lnTo>
                    <a:pt x="1422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6939026" y="1947926"/>
              <a:ext cx="28575" cy="57150"/>
            </a:xfrm>
            <a:custGeom>
              <a:avLst/>
              <a:gdLst/>
              <a:ahLst/>
              <a:cxnLst/>
              <a:rect l="l" t="t" r="r" b="b"/>
              <a:pathLst>
                <a:path w="28575" h="57150">
                  <a:moveTo>
                    <a:pt x="0" y="28575"/>
                  </a:moveTo>
                  <a:lnTo>
                    <a:pt x="1115" y="17412"/>
                  </a:lnTo>
                  <a:lnTo>
                    <a:pt x="4159" y="8334"/>
                  </a:lnTo>
                  <a:lnTo>
                    <a:pt x="8679" y="2232"/>
                  </a:lnTo>
                  <a:lnTo>
                    <a:pt x="14224" y="0"/>
                  </a:lnTo>
                  <a:lnTo>
                    <a:pt x="19788" y="2232"/>
                  </a:lnTo>
                  <a:lnTo>
                    <a:pt x="24352" y="8334"/>
                  </a:lnTo>
                  <a:lnTo>
                    <a:pt x="27439" y="17412"/>
                  </a:lnTo>
                  <a:lnTo>
                    <a:pt x="28575" y="28575"/>
                  </a:lnTo>
                  <a:lnTo>
                    <a:pt x="27439" y="39683"/>
                  </a:lnTo>
                  <a:lnTo>
                    <a:pt x="24352" y="48768"/>
                  </a:lnTo>
                  <a:lnTo>
                    <a:pt x="19788" y="54899"/>
                  </a:lnTo>
                  <a:lnTo>
                    <a:pt x="14224" y="57150"/>
                  </a:lnTo>
                  <a:lnTo>
                    <a:pt x="8679" y="54899"/>
                  </a:lnTo>
                  <a:lnTo>
                    <a:pt x="4159" y="48768"/>
                  </a:lnTo>
                  <a:lnTo>
                    <a:pt x="1115" y="39683"/>
                  </a:lnTo>
                  <a:lnTo>
                    <a:pt x="0" y="2857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0" name="object 10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248025" y="2076386"/>
              <a:ext cx="3757676" cy="261937"/>
            </a:xfrm>
            <a:prstGeom prst="rect">
              <a:avLst/>
            </a:prstGeom>
          </p:spPr>
        </p:pic>
        <p:sp>
          <p:nvSpPr>
            <p:cNvPr id="101" name="object 101"/>
            <p:cNvSpPr/>
            <p:nvPr/>
          </p:nvSpPr>
          <p:spPr>
            <a:xfrm>
              <a:off x="3305175" y="2124075"/>
              <a:ext cx="3640454" cy="128270"/>
            </a:xfrm>
            <a:custGeom>
              <a:avLst/>
              <a:gdLst/>
              <a:ahLst/>
              <a:cxnLst/>
              <a:rect l="l" t="t" r="r" b="b"/>
              <a:pathLst>
                <a:path w="3640454" h="128269">
                  <a:moveTo>
                    <a:pt x="0" y="0"/>
                  </a:moveTo>
                  <a:lnTo>
                    <a:pt x="3639947" y="128269"/>
                  </a:lnTo>
                </a:path>
              </a:pathLst>
            </a:custGeom>
            <a:ln w="19050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2" name="object 10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181350" y="1923986"/>
              <a:ext cx="3805301" cy="176212"/>
            </a:xfrm>
            <a:prstGeom prst="rect">
              <a:avLst/>
            </a:prstGeom>
          </p:spPr>
        </p:pic>
        <p:sp>
          <p:nvSpPr>
            <p:cNvPr id="103" name="object 103"/>
            <p:cNvSpPr/>
            <p:nvPr/>
          </p:nvSpPr>
          <p:spPr>
            <a:xfrm>
              <a:off x="3238500" y="1971675"/>
              <a:ext cx="3688079" cy="43180"/>
            </a:xfrm>
            <a:custGeom>
              <a:avLst/>
              <a:gdLst/>
              <a:ahLst/>
              <a:cxnLst/>
              <a:rect l="l" t="t" r="r" b="b"/>
              <a:pathLst>
                <a:path w="3688079" h="43180">
                  <a:moveTo>
                    <a:pt x="0" y="43180"/>
                  </a:moveTo>
                  <a:lnTo>
                    <a:pt x="3687572" y="0"/>
                  </a:lnTo>
                </a:path>
              </a:pathLst>
            </a:custGeom>
            <a:ln w="19050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4" name="object 10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105150" y="2209736"/>
              <a:ext cx="3729101" cy="500062"/>
            </a:xfrm>
            <a:prstGeom prst="rect">
              <a:avLst/>
            </a:prstGeom>
          </p:spPr>
        </p:pic>
        <p:sp>
          <p:nvSpPr>
            <p:cNvPr id="105" name="object 105"/>
            <p:cNvSpPr/>
            <p:nvPr/>
          </p:nvSpPr>
          <p:spPr>
            <a:xfrm>
              <a:off x="3162300" y="2257425"/>
              <a:ext cx="3613785" cy="372745"/>
            </a:xfrm>
            <a:custGeom>
              <a:avLst/>
              <a:gdLst/>
              <a:ahLst/>
              <a:cxnLst/>
              <a:rect l="l" t="t" r="r" b="b"/>
              <a:pathLst>
                <a:path w="3613784" h="372744">
                  <a:moveTo>
                    <a:pt x="0" y="0"/>
                  </a:moveTo>
                  <a:lnTo>
                    <a:pt x="3613277" y="372744"/>
                  </a:lnTo>
                </a:path>
              </a:pathLst>
            </a:custGeom>
            <a:ln w="19050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6" name="object 10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124200" y="2066861"/>
              <a:ext cx="3595751" cy="300037"/>
            </a:xfrm>
            <a:prstGeom prst="rect">
              <a:avLst/>
            </a:prstGeom>
          </p:spPr>
        </p:pic>
        <p:sp>
          <p:nvSpPr>
            <p:cNvPr id="107" name="object 107"/>
            <p:cNvSpPr/>
            <p:nvPr/>
          </p:nvSpPr>
          <p:spPr>
            <a:xfrm>
              <a:off x="3181350" y="2114550"/>
              <a:ext cx="3475354" cy="168910"/>
            </a:xfrm>
            <a:custGeom>
              <a:avLst/>
              <a:gdLst/>
              <a:ahLst/>
              <a:cxnLst/>
              <a:rect l="l" t="t" r="r" b="b"/>
              <a:pathLst>
                <a:path w="3475354" h="168910">
                  <a:moveTo>
                    <a:pt x="0" y="0"/>
                  </a:moveTo>
                  <a:lnTo>
                    <a:pt x="3475354" y="168656"/>
                  </a:lnTo>
                </a:path>
              </a:pathLst>
            </a:custGeom>
            <a:ln w="19050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8" name="object 10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962275" y="2228786"/>
              <a:ext cx="3691001" cy="395287"/>
            </a:xfrm>
            <a:prstGeom prst="rect">
              <a:avLst/>
            </a:prstGeom>
          </p:spPr>
        </p:pic>
        <p:sp>
          <p:nvSpPr>
            <p:cNvPr id="109" name="object 109"/>
            <p:cNvSpPr/>
            <p:nvPr/>
          </p:nvSpPr>
          <p:spPr>
            <a:xfrm>
              <a:off x="3019425" y="2276475"/>
              <a:ext cx="3571240" cy="270510"/>
            </a:xfrm>
            <a:custGeom>
              <a:avLst/>
              <a:gdLst/>
              <a:ahLst/>
              <a:cxnLst/>
              <a:rect l="l" t="t" r="r" b="b"/>
              <a:pathLst>
                <a:path w="3571240" h="270510">
                  <a:moveTo>
                    <a:pt x="0" y="0"/>
                  </a:moveTo>
                  <a:lnTo>
                    <a:pt x="3570985" y="270256"/>
                  </a:lnTo>
                </a:path>
              </a:pathLst>
            </a:custGeom>
            <a:ln w="19050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0" name="object 11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876550" y="2114486"/>
              <a:ext cx="3691001" cy="223837"/>
            </a:xfrm>
            <a:prstGeom prst="rect">
              <a:avLst/>
            </a:prstGeom>
          </p:spPr>
        </p:pic>
        <p:sp>
          <p:nvSpPr>
            <p:cNvPr id="111" name="object 111"/>
            <p:cNvSpPr/>
            <p:nvPr/>
          </p:nvSpPr>
          <p:spPr>
            <a:xfrm>
              <a:off x="2933700" y="2162175"/>
              <a:ext cx="3573779" cy="95885"/>
            </a:xfrm>
            <a:custGeom>
              <a:avLst/>
              <a:gdLst/>
              <a:ahLst/>
              <a:cxnLst/>
              <a:rect l="l" t="t" r="r" b="b"/>
              <a:pathLst>
                <a:path w="3573779" h="95885">
                  <a:moveTo>
                    <a:pt x="0" y="0"/>
                  </a:moveTo>
                  <a:lnTo>
                    <a:pt x="3573653" y="95757"/>
                  </a:lnTo>
                </a:path>
              </a:pathLst>
            </a:custGeom>
            <a:ln w="19050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2" name="object 11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952750" y="1923986"/>
              <a:ext cx="3700526" cy="185737"/>
            </a:xfrm>
            <a:prstGeom prst="rect">
              <a:avLst/>
            </a:prstGeom>
          </p:spPr>
        </p:pic>
        <p:sp>
          <p:nvSpPr>
            <p:cNvPr id="113" name="object 113"/>
            <p:cNvSpPr/>
            <p:nvPr/>
          </p:nvSpPr>
          <p:spPr>
            <a:xfrm>
              <a:off x="3009900" y="1971675"/>
              <a:ext cx="3578225" cy="57150"/>
            </a:xfrm>
            <a:custGeom>
              <a:avLst/>
              <a:gdLst/>
              <a:ahLst/>
              <a:cxnLst/>
              <a:rect l="l" t="t" r="r" b="b"/>
              <a:pathLst>
                <a:path w="3578225" h="57150">
                  <a:moveTo>
                    <a:pt x="0" y="56895"/>
                  </a:moveTo>
                  <a:lnTo>
                    <a:pt x="3578225" y="0"/>
                  </a:lnTo>
                </a:path>
              </a:pathLst>
            </a:custGeom>
            <a:ln w="19050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4" name="object 11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762250" y="2200211"/>
              <a:ext cx="3681476" cy="357187"/>
            </a:xfrm>
            <a:prstGeom prst="rect">
              <a:avLst/>
            </a:prstGeom>
          </p:spPr>
        </p:pic>
        <p:sp>
          <p:nvSpPr>
            <p:cNvPr id="115" name="object 115"/>
            <p:cNvSpPr/>
            <p:nvPr/>
          </p:nvSpPr>
          <p:spPr>
            <a:xfrm>
              <a:off x="2819400" y="2247900"/>
              <a:ext cx="3564254" cy="227965"/>
            </a:xfrm>
            <a:custGeom>
              <a:avLst/>
              <a:gdLst/>
              <a:ahLst/>
              <a:cxnLst/>
              <a:rect l="l" t="t" r="r" b="b"/>
              <a:pathLst>
                <a:path w="3564254" h="227964">
                  <a:moveTo>
                    <a:pt x="0" y="0"/>
                  </a:moveTo>
                  <a:lnTo>
                    <a:pt x="3564254" y="227711"/>
                  </a:lnTo>
                </a:path>
              </a:pathLst>
            </a:custGeom>
            <a:ln w="19050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6" name="object 11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790825" y="2000186"/>
              <a:ext cx="3710051" cy="138112"/>
            </a:xfrm>
            <a:prstGeom prst="rect">
              <a:avLst/>
            </a:prstGeom>
          </p:spPr>
        </p:pic>
        <p:sp>
          <p:nvSpPr>
            <p:cNvPr id="117" name="object 117"/>
            <p:cNvSpPr/>
            <p:nvPr/>
          </p:nvSpPr>
          <p:spPr>
            <a:xfrm>
              <a:off x="2847975" y="2047875"/>
              <a:ext cx="3592195" cy="8890"/>
            </a:xfrm>
            <a:custGeom>
              <a:avLst/>
              <a:gdLst/>
              <a:ahLst/>
              <a:cxnLst/>
              <a:rect l="l" t="t" r="r" b="b"/>
              <a:pathLst>
                <a:path w="3592195" h="8889">
                  <a:moveTo>
                    <a:pt x="0" y="0"/>
                  </a:moveTo>
                  <a:lnTo>
                    <a:pt x="3592067" y="8381"/>
                  </a:lnTo>
                </a:path>
              </a:pathLst>
            </a:custGeom>
            <a:ln w="19050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8" name="object 11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562225" y="2238311"/>
              <a:ext cx="3729101" cy="347662"/>
            </a:xfrm>
            <a:prstGeom prst="rect">
              <a:avLst/>
            </a:prstGeom>
          </p:spPr>
        </p:pic>
        <p:sp>
          <p:nvSpPr>
            <p:cNvPr id="119" name="object 119"/>
            <p:cNvSpPr/>
            <p:nvPr/>
          </p:nvSpPr>
          <p:spPr>
            <a:xfrm>
              <a:off x="2619375" y="2286000"/>
              <a:ext cx="3610610" cy="216535"/>
            </a:xfrm>
            <a:custGeom>
              <a:avLst/>
              <a:gdLst/>
              <a:ahLst/>
              <a:cxnLst/>
              <a:rect l="l" t="t" r="r" b="b"/>
              <a:pathLst>
                <a:path w="3610610" h="216535">
                  <a:moveTo>
                    <a:pt x="0" y="0"/>
                  </a:moveTo>
                  <a:lnTo>
                    <a:pt x="3610610" y="216026"/>
                  </a:lnTo>
                </a:path>
              </a:pathLst>
            </a:custGeom>
            <a:ln w="19049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0" name="object 12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562225" y="2085911"/>
              <a:ext cx="3710051" cy="204787"/>
            </a:xfrm>
            <a:prstGeom prst="rect">
              <a:avLst/>
            </a:prstGeom>
          </p:spPr>
        </p:pic>
        <p:sp>
          <p:nvSpPr>
            <p:cNvPr id="121" name="object 121"/>
            <p:cNvSpPr/>
            <p:nvPr/>
          </p:nvSpPr>
          <p:spPr>
            <a:xfrm>
              <a:off x="2619375" y="2133600"/>
              <a:ext cx="3594735" cy="74930"/>
            </a:xfrm>
            <a:custGeom>
              <a:avLst/>
              <a:gdLst/>
              <a:ahLst/>
              <a:cxnLst/>
              <a:rect l="l" t="t" r="r" b="b"/>
              <a:pathLst>
                <a:path w="3594735" h="74930">
                  <a:moveTo>
                    <a:pt x="0" y="0"/>
                  </a:moveTo>
                  <a:lnTo>
                    <a:pt x="3594735" y="74422"/>
                  </a:lnTo>
                </a:path>
              </a:pathLst>
            </a:custGeom>
            <a:ln w="19049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2" name="object 12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886075" y="2009711"/>
              <a:ext cx="3462401" cy="157162"/>
            </a:xfrm>
            <a:prstGeom prst="rect">
              <a:avLst/>
            </a:prstGeom>
          </p:spPr>
        </p:pic>
        <p:sp>
          <p:nvSpPr>
            <p:cNvPr id="123" name="object 123"/>
            <p:cNvSpPr/>
            <p:nvPr/>
          </p:nvSpPr>
          <p:spPr>
            <a:xfrm>
              <a:off x="2943225" y="2057400"/>
              <a:ext cx="3346450" cy="26034"/>
            </a:xfrm>
            <a:custGeom>
              <a:avLst/>
              <a:gdLst/>
              <a:ahLst/>
              <a:cxnLst/>
              <a:rect l="l" t="t" r="r" b="b"/>
              <a:pathLst>
                <a:path w="3346450" h="26035">
                  <a:moveTo>
                    <a:pt x="0" y="25907"/>
                  </a:moveTo>
                  <a:lnTo>
                    <a:pt x="3346450" y="0"/>
                  </a:lnTo>
                </a:path>
              </a:pathLst>
            </a:custGeom>
            <a:ln w="19049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4" name="object 124"/>
          <p:cNvSpPr txBox="1"/>
          <p:nvPr/>
        </p:nvSpPr>
        <p:spPr>
          <a:xfrm>
            <a:off x="7247890" y="3817937"/>
            <a:ext cx="912494" cy="483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500" spc="-225">
                <a:latin typeface="Arial MT"/>
                <a:cs typeface="Arial MT"/>
              </a:rPr>
              <a:t>SIFT,</a:t>
            </a:r>
            <a:r>
              <a:rPr sz="1500" spc="25">
                <a:latin typeface="Arial MT"/>
                <a:cs typeface="Arial MT"/>
              </a:rPr>
              <a:t> </a:t>
            </a:r>
            <a:r>
              <a:rPr sz="1500" spc="-10">
                <a:latin typeface="Arial MT"/>
                <a:cs typeface="Arial MT"/>
              </a:rPr>
              <a:t>David </a:t>
            </a:r>
            <a:r>
              <a:rPr sz="1500" spc="-165">
                <a:latin typeface="Arial MT"/>
                <a:cs typeface="Arial MT"/>
              </a:rPr>
              <a:t>Lowe,</a:t>
            </a:r>
            <a:r>
              <a:rPr sz="1500" spc="30">
                <a:latin typeface="Arial MT"/>
                <a:cs typeface="Arial MT"/>
              </a:rPr>
              <a:t> </a:t>
            </a:r>
            <a:r>
              <a:rPr sz="1500" spc="-20">
                <a:latin typeface="Arial MT"/>
                <a:cs typeface="Arial MT"/>
              </a:rPr>
              <a:t>1999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28" name="object 128"/>
          <p:cNvSpPr txBox="1"/>
          <p:nvPr/>
        </p:nvSpPr>
        <p:spPr>
          <a:xfrm>
            <a:off x="4638294" y="4242196"/>
            <a:ext cx="548005" cy="159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00"/>
              </a:lnSpc>
            </a:pPr>
            <a:r>
              <a:rPr sz="1050">
                <a:solidFill>
                  <a:srgbClr val="FFFFFF"/>
                </a:solidFill>
                <a:latin typeface="Calibri"/>
                <a:cs typeface="Calibri"/>
              </a:rPr>
              <a:t>AI</a:t>
            </a:r>
            <a:r>
              <a:rPr sz="1050" spc="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spc="-10">
                <a:solidFill>
                  <a:srgbClr val="FFFFFF"/>
                </a:solidFill>
                <a:latin typeface="Calibri"/>
                <a:cs typeface="Calibri"/>
              </a:rPr>
              <a:t>Winter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7325359" y="4618672"/>
            <a:ext cx="1741170" cy="158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95"/>
              </a:lnSpc>
            </a:pPr>
            <a:r>
              <a:rPr sz="1050">
                <a:latin typeface="Calibri"/>
                <a:cs typeface="Calibri"/>
              </a:rPr>
              <a:t>Slide</a:t>
            </a:r>
            <a:r>
              <a:rPr sz="1050" spc="-30">
                <a:latin typeface="Calibri"/>
                <a:cs typeface="Calibri"/>
              </a:rPr>
              <a:t> </a:t>
            </a:r>
            <a:r>
              <a:rPr sz="1050">
                <a:latin typeface="Calibri"/>
                <a:cs typeface="Calibri"/>
              </a:rPr>
              <a:t>inspiration:</a:t>
            </a:r>
            <a:r>
              <a:rPr sz="1050" spc="-10">
                <a:latin typeface="Calibri"/>
                <a:cs typeface="Calibri"/>
              </a:rPr>
              <a:t> Justin</a:t>
            </a:r>
            <a:r>
              <a:rPr sz="1050" spc="-50">
                <a:latin typeface="Calibri"/>
                <a:cs typeface="Calibri"/>
              </a:rPr>
              <a:t> </a:t>
            </a:r>
            <a:r>
              <a:rPr sz="1050" spc="-10">
                <a:latin typeface="Calibri"/>
                <a:cs typeface="Calibri"/>
              </a:rPr>
              <a:t>Johnson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30" name="object 13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26</a:t>
            </a:fld>
            <a:endParaRPr spc="-25"/>
          </a:p>
        </p:txBody>
      </p:sp>
      <p:sp>
        <p:nvSpPr>
          <p:cNvPr id="131" name="object 13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>
              <a:lnSpc>
                <a:spcPts val="1810"/>
              </a:lnSpc>
            </a:pPr>
            <a:r>
              <a:t>April 1,</a:t>
            </a:r>
            <a:r>
              <a:rPr spc="-35"/>
              <a:t> </a:t>
            </a:r>
            <a:r>
              <a:rPr spc="-20"/>
              <a:t>2025</a:t>
            </a:r>
          </a:p>
        </p:txBody>
      </p:sp>
      <p:sp>
        <p:nvSpPr>
          <p:cNvPr id="132" name="object 13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t>CS231n:</a:t>
            </a:r>
            <a:r>
              <a:rPr spc="-5"/>
              <a:t> </a:t>
            </a:r>
            <a:r>
              <a:t>Lecture</a:t>
            </a:r>
            <a:r>
              <a:rPr spc="95"/>
              <a:t> </a:t>
            </a:r>
            <a:r>
              <a:t>1</a:t>
            </a:r>
            <a:r>
              <a:rPr spc="15"/>
              <a:t> </a:t>
            </a:r>
            <a:r>
              <a:rPr spc="-50"/>
              <a:t>-</a:t>
            </a:r>
          </a:p>
        </p:txBody>
      </p:sp>
      <p:sp>
        <p:nvSpPr>
          <p:cNvPr id="133" name="object 133"/>
          <p:cNvSpPr txBox="1"/>
          <p:nvPr/>
        </p:nvSpPr>
        <p:spPr>
          <a:xfrm>
            <a:off x="307657" y="4910517"/>
            <a:ext cx="2085339" cy="1536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Fei-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Fei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Li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9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Ehsan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Adeli</a:t>
            </a: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90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Zane Durante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25" name="object 125"/>
          <p:cNvSpPr txBox="1"/>
          <p:nvPr/>
        </p:nvSpPr>
        <p:spPr>
          <a:xfrm>
            <a:off x="2532379" y="3387090"/>
            <a:ext cx="762000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u="sng">
                <a:solidFill>
                  <a:srgbClr val="A4A4A4"/>
                </a:solidFill>
                <a:uFill>
                  <a:solidFill>
                    <a:srgbClr val="A4A4A4"/>
                  </a:solidFill>
                </a:uFill>
                <a:latin typeface="Calibri"/>
                <a:cs typeface="Calibri"/>
              </a:rPr>
              <a:t>Image </a:t>
            </a:r>
            <a:r>
              <a:rPr sz="600" spc="15">
                <a:solidFill>
                  <a:srgbClr val="A4A4A4"/>
                </a:solidFill>
                <a:latin typeface="Calibri"/>
                <a:cs typeface="Calibri"/>
              </a:rPr>
              <a:t> </a:t>
            </a:r>
            <a:r>
              <a:rPr sz="600">
                <a:solidFill>
                  <a:srgbClr val="A6A6A6"/>
                </a:solidFill>
                <a:latin typeface="Calibri"/>
                <a:cs typeface="Calibri"/>
              </a:rPr>
              <a:t>is</a:t>
            </a:r>
            <a:r>
              <a:rPr sz="600" spc="1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600" spc="-10">
                <a:solidFill>
                  <a:srgbClr val="A6A6A6"/>
                </a:solidFill>
                <a:latin typeface="Calibri"/>
                <a:cs typeface="Calibri"/>
              </a:rPr>
              <a:t>public domain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5987669" y="3339528"/>
            <a:ext cx="763905" cy="117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u="sng" spc="-95">
                <a:solidFill>
                  <a:srgbClr val="A4A4A4"/>
                </a:solidFill>
                <a:uFill>
                  <a:solidFill>
                    <a:srgbClr val="A4A4A4"/>
                  </a:solidFill>
                </a:uFill>
                <a:latin typeface="Calibri"/>
                <a:cs typeface="Calibri"/>
                <a:hlinkClick r:id="rId18"/>
              </a:rPr>
              <a:t> </a:t>
            </a:r>
            <a:r>
              <a:rPr sz="600" u="sng">
                <a:solidFill>
                  <a:srgbClr val="A4A4A4"/>
                </a:solidFill>
                <a:uFill>
                  <a:solidFill>
                    <a:srgbClr val="A4A4A4"/>
                  </a:solidFill>
                </a:uFill>
                <a:latin typeface="Calibri"/>
                <a:cs typeface="Calibri"/>
                <a:hlinkClick r:id="rId18"/>
              </a:rPr>
              <a:t>Image</a:t>
            </a:r>
            <a:r>
              <a:rPr sz="600" u="sng" spc="125">
                <a:solidFill>
                  <a:srgbClr val="A4A4A4"/>
                </a:solidFill>
                <a:uFill>
                  <a:solidFill>
                    <a:srgbClr val="A4A4A4"/>
                  </a:solidFill>
                </a:uFill>
                <a:latin typeface="Calibri"/>
                <a:cs typeface="Calibri"/>
              </a:rPr>
              <a:t> </a:t>
            </a:r>
            <a:r>
              <a:rPr sz="600">
                <a:solidFill>
                  <a:srgbClr val="A6A6A6"/>
                </a:solidFill>
                <a:latin typeface="Calibri"/>
                <a:cs typeface="Calibri"/>
              </a:rPr>
              <a:t>is</a:t>
            </a:r>
            <a:r>
              <a:rPr sz="600" spc="1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600" spc="-10">
                <a:solidFill>
                  <a:srgbClr val="A6A6A6"/>
                </a:solidFill>
                <a:latin typeface="Calibri"/>
                <a:cs typeface="Calibri"/>
              </a:rPr>
              <a:t>public</a:t>
            </a:r>
            <a:r>
              <a:rPr sz="600" spc="-15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600" spc="-10">
                <a:solidFill>
                  <a:srgbClr val="A6A6A6"/>
                </a:solidFill>
                <a:latin typeface="Calibri"/>
                <a:cs typeface="Calibri"/>
              </a:rPr>
              <a:t>domain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5891276" y="3862387"/>
            <a:ext cx="419100" cy="2762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2075">
              <a:lnSpc>
                <a:spcPts val="1040"/>
              </a:lnSpc>
            </a:pPr>
            <a:r>
              <a:rPr sz="900" spc="-20">
                <a:latin typeface="Calibri"/>
                <a:cs typeface="Calibri"/>
              </a:rPr>
              <a:t>1999</a:t>
            </a:r>
            <a:endParaRPr sz="900">
              <a:latin typeface="Calibri"/>
              <a:cs typeface="Calibri"/>
            </a:endParaRPr>
          </a:p>
          <a:p>
            <a:pPr marL="111760">
              <a:lnSpc>
                <a:spcPct val="100000"/>
              </a:lnSpc>
              <a:spcBef>
                <a:spcPts val="45"/>
              </a:spcBef>
            </a:pPr>
            <a:r>
              <a:rPr sz="900" spc="-20">
                <a:latin typeface="Calibri"/>
                <a:cs typeface="Calibri"/>
              </a:rPr>
              <a:t>SIFT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4775" y="4133850"/>
            <a:ext cx="6352540" cy="171450"/>
          </a:xfrm>
          <a:custGeom>
            <a:avLst/>
            <a:gdLst/>
            <a:ahLst/>
            <a:cxnLst/>
            <a:rect l="l" t="t" r="r" b="b"/>
            <a:pathLst>
              <a:path w="6352540" h="171450">
                <a:moveTo>
                  <a:pt x="0" y="171450"/>
                </a:moveTo>
                <a:lnTo>
                  <a:pt x="4395851" y="171450"/>
                </a:lnTo>
              </a:path>
              <a:path w="6352540" h="171450">
                <a:moveTo>
                  <a:pt x="5215001" y="171450"/>
                </a:moveTo>
                <a:lnTo>
                  <a:pt x="6352159" y="171450"/>
                </a:lnTo>
              </a:path>
              <a:path w="6352540" h="171450">
                <a:moveTo>
                  <a:pt x="542925" y="171450"/>
                </a:moveTo>
                <a:lnTo>
                  <a:pt x="542925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76212" y="3862387"/>
            <a:ext cx="876300" cy="2762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R="3175" algn="ctr">
              <a:lnSpc>
                <a:spcPct val="100000"/>
              </a:lnSpc>
              <a:spcBef>
                <a:spcPts val="105"/>
              </a:spcBef>
            </a:pPr>
            <a:r>
              <a:rPr sz="800" spc="-20">
                <a:latin typeface="Calibri"/>
                <a:cs typeface="Calibri"/>
              </a:rPr>
              <a:t>1959</a:t>
            </a:r>
            <a:endParaRPr sz="800">
              <a:latin typeface="Calibri"/>
              <a:cs typeface="Calibri"/>
            </a:endParaRPr>
          </a:p>
          <a:p>
            <a:pPr marR="3175" algn="ctr">
              <a:lnSpc>
                <a:spcPct val="100000"/>
              </a:lnSpc>
              <a:spcBef>
                <a:spcPts val="15"/>
              </a:spcBef>
            </a:pPr>
            <a:r>
              <a:rPr sz="800">
                <a:latin typeface="Calibri"/>
                <a:cs typeface="Calibri"/>
              </a:rPr>
              <a:t>Hubel</a:t>
            </a:r>
            <a:r>
              <a:rPr sz="800" spc="-20">
                <a:latin typeface="Calibri"/>
                <a:cs typeface="Calibri"/>
              </a:rPr>
              <a:t> </a:t>
            </a:r>
            <a:r>
              <a:rPr sz="800">
                <a:latin typeface="Calibri"/>
                <a:cs typeface="Calibri"/>
              </a:rPr>
              <a:t>&amp;</a:t>
            </a:r>
            <a:r>
              <a:rPr sz="800" spc="-15">
                <a:latin typeface="Calibri"/>
                <a:cs typeface="Calibri"/>
              </a:rPr>
              <a:t> </a:t>
            </a:r>
            <a:r>
              <a:rPr sz="800" spc="-10">
                <a:latin typeface="Calibri"/>
                <a:cs typeface="Calibri"/>
              </a:rPr>
              <a:t>Wiesel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00150" y="4133850"/>
            <a:ext cx="0" cy="171450"/>
          </a:xfrm>
          <a:custGeom>
            <a:avLst/>
            <a:gdLst/>
            <a:ahLst/>
            <a:cxnLst/>
            <a:rect l="l" t="t" r="r" b="b"/>
            <a:pathLst>
              <a:path h="171450">
                <a:moveTo>
                  <a:pt x="0" y="17145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96181" y="3862387"/>
            <a:ext cx="656590" cy="2762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R="8890" algn="ctr">
              <a:lnSpc>
                <a:spcPts val="1040"/>
              </a:lnSpc>
            </a:pPr>
            <a:r>
              <a:rPr sz="900" spc="-20">
                <a:latin typeface="Calibri"/>
                <a:cs typeface="Calibri"/>
              </a:rPr>
              <a:t>1963</a:t>
            </a:r>
            <a:endParaRPr sz="900">
              <a:latin typeface="Calibri"/>
              <a:cs typeface="Calibri"/>
            </a:endParaRPr>
          </a:p>
          <a:p>
            <a:pPr marR="10795" algn="ctr">
              <a:lnSpc>
                <a:spcPct val="100000"/>
              </a:lnSpc>
              <a:spcBef>
                <a:spcPts val="45"/>
              </a:spcBef>
            </a:pPr>
            <a:r>
              <a:rPr sz="900" spc="-10">
                <a:latin typeface="Calibri"/>
                <a:cs typeface="Calibri"/>
              </a:rPr>
              <a:t>Roberts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847975" y="4133850"/>
            <a:ext cx="0" cy="171450"/>
          </a:xfrm>
          <a:custGeom>
            <a:avLst/>
            <a:gdLst/>
            <a:ahLst/>
            <a:cxnLst/>
            <a:rect l="l" t="t" r="r" b="b"/>
            <a:pathLst>
              <a:path h="171450">
                <a:moveTo>
                  <a:pt x="0" y="17145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033651" y="3862387"/>
            <a:ext cx="876300" cy="2762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040"/>
              </a:lnSpc>
            </a:pPr>
            <a:r>
              <a:rPr sz="900" spc="-10">
                <a:latin typeface="Calibri"/>
                <a:cs typeface="Calibri"/>
              </a:rPr>
              <a:t>1970s</a:t>
            </a:r>
            <a:endParaRPr sz="9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45"/>
              </a:spcBef>
            </a:pPr>
            <a:r>
              <a:rPr sz="900" spc="-10">
                <a:latin typeface="Calibri"/>
                <a:cs typeface="Calibri"/>
              </a:rPr>
              <a:t>David </a:t>
            </a:r>
            <a:r>
              <a:rPr sz="900" spc="-20">
                <a:latin typeface="Calibri"/>
                <a:cs typeface="Calibri"/>
              </a:rPr>
              <a:t>Marr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390900" y="4133850"/>
            <a:ext cx="0" cy="171450"/>
          </a:xfrm>
          <a:custGeom>
            <a:avLst/>
            <a:gdLst/>
            <a:ahLst/>
            <a:cxnLst/>
            <a:rect l="l" t="t" r="r" b="b"/>
            <a:pathLst>
              <a:path h="171450">
                <a:moveTo>
                  <a:pt x="0" y="17145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976626" y="3862387"/>
            <a:ext cx="1038225" cy="2762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175" algn="ctr">
              <a:lnSpc>
                <a:spcPts val="1040"/>
              </a:lnSpc>
            </a:pPr>
            <a:r>
              <a:rPr sz="900" spc="-20">
                <a:latin typeface="Calibri"/>
                <a:cs typeface="Calibri"/>
              </a:rPr>
              <a:t>1979</a:t>
            </a:r>
            <a:endParaRPr sz="900">
              <a:latin typeface="Calibri"/>
              <a:cs typeface="Calibri"/>
            </a:endParaRPr>
          </a:p>
          <a:p>
            <a:pPr marL="4445" algn="ctr">
              <a:lnSpc>
                <a:spcPct val="100000"/>
              </a:lnSpc>
              <a:spcBef>
                <a:spcPts val="45"/>
              </a:spcBef>
            </a:pPr>
            <a:r>
              <a:rPr sz="900">
                <a:latin typeface="Calibri"/>
                <a:cs typeface="Calibri"/>
              </a:rPr>
              <a:t>Gen.</a:t>
            </a:r>
            <a:r>
              <a:rPr sz="900" spc="5">
                <a:latin typeface="Calibri"/>
                <a:cs typeface="Calibri"/>
              </a:rPr>
              <a:t> </a:t>
            </a:r>
            <a:r>
              <a:rPr sz="900" spc="-10">
                <a:latin typeface="Calibri"/>
                <a:cs typeface="Calibri"/>
              </a:rPr>
              <a:t>Cylinders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352925" y="4133850"/>
            <a:ext cx="0" cy="171450"/>
          </a:xfrm>
          <a:custGeom>
            <a:avLst/>
            <a:gdLst/>
            <a:ahLst/>
            <a:cxnLst/>
            <a:rect l="l" t="t" r="r" b="b"/>
            <a:pathLst>
              <a:path h="171450">
                <a:moveTo>
                  <a:pt x="0" y="17145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129151" y="3862387"/>
            <a:ext cx="561975" cy="2762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67640">
              <a:lnSpc>
                <a:spcPts val="1040"/>
              </a:lnSpc>
            </a:pPr>
            <a:r>
              <a:rPr sz="900" spc="-20">
                <a:latin typeface="Calibri"/>
                <a:cs typeface="Calibri"/>
              </a:rPr>
              <a:t>1986</a:t>
            </a:r>
            <a:endParaRPr sz="900">
              <a:latin typeface="Calibri"/>
              <a:cs typeface="Calibri"/>
            </a:endParaRPr>
          </a:p>
          <a:p>
            <a:pPr marL="138430">
              <a:lnSpc>
                <a:spcPct val="100000"/>
              </a:lnSpc>
              <a:spcBef>
                <a:spcPts val="45"/>
              </a:spcBef>
            </a:pPr>
            <a:r>
              <a:rPr sz="900" spc="-10">
                <a:latin typeface="Calibri"/>
                <a:cs typeface="Calibri"/>
              </a:rPr>
              <a:t>Canny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819775" y="4133850"/>
            <a:ext cx="0" cy="171450"/>
          </a:xfrm>
          <a:custGeom>
            <a:avLst/>
            <a:gdLst/>
            <a:ahLst/>
            <a:cxnLst/>
            <a:rect l="l" t="t" r="r" b="b"/>
            <a:pathLst>
              <a:path h="171450">
                <a:moveTo>
                  <a:pt x="0" y="17145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072126" y="3862387"/>
            <a:ext cx="751840" cy="2762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0795" algn="ctr">
              <a:lnSpc>
                <a:spcPts val="1040"/>
              </a:lnSpc>
            </a:pPr>
            <a:r>
              <a:rPr sz="900" spc="-20">
                <a:latin typeface="Calibri"/>
                <a:cs typeface="Calibri"/>
              </a:rPr>
              <a:t>1997</a:t>
            </a:r>
            <a:endParaRPr sz="900">
              <a:latin typeface="Calibri"/>
              <a:cs typeface="Calibri"/>
            </a:endParaRPr>
          </a:p>
          <a:p>
            <a:pPr marL="8890" algn="ctr">
              <a:lnSpc>
                <a:spcPct val="100000"/>
              </a:lnSpc>
              <a:spcBef>
                <a:spcPts val="45"/>
              </a:spcBef>
            </a:pPr>
            <a:r>
              <a:rPr sz="900">
                <a:latin typeface="Calibri"/>
                <a:cs typeface="Calibri"/>
              </a:rPr>
              <a:t>Norm.</a:t>
            </a:r>
            <a:r>
              <a:rPr sz="900" spc="10">
                <a:latin typeface="Calibri"/>
                <a:cs typeface="Calibri"/>
              </a:rPr>
              <a:t> </a:t>
            </a:r>
            <a:r>
              <a:rPr sz="900" spc="-20">
                <a:latin typeface="Calibri"/>
                <a:cs typeface="Calibri"/>
              </a:rPr>
              <a:t>Cuts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487926" y="4114800"/>
            <a:ext cx="1989455" cy="313055"/>
            <a:chOff x="4487926" y="4114800"/>
            <a:chExt cx="1989455" cy="313055"/>
          </a:xfrm>
        </p:grpSpPr>
        <p:sp>
          <p:nvSpPr>
            <p:cNvPr id="15" name="object 15"/>
            <p:cNvSpPr/>
            <p:nvPr/>
          </p:nvSpPr>
          <p:spPr>
            <a:xfrm>
              <a:off x="4500626" y="4205287"/>
              <a:ext cx="819150" cy="209550"/>
            </a:xfrm>
            <a:custGeom>
              <a:avLst/>
              <a:gdLst/>
              <a:ahLst/>
              <a:cxnLst/>
              <a:rect l="l" t="t" r="r" b="b"/>
              <a:pathLst>
                <a:path w="819150" h="209550">
                  <a:moveTo>
                    <a:pt x="819150" y="0"/>
                  </a:moveTo>
                  <a:lnTo>
                    <a:pt x="0" y="0"/>
                  </a:lnTo>
                  <a:lnTo>
                    <a:pt x="0" y="209550"/>
                  </a:lnTo>
                  <a:lnTo>
                    <a:pt x="819150" y="209550"/>
                  </a:lnTo>
                  <a:lnTo>
                    <a:pt x="81915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500626" y="4205287"/>
              <a:ext cx="819150" cy="209550"/>
            </a:xfrm>
            <a:custGeom>
              <a:avLst/>
              <a:gdLst/>
              <a:ahLst/>
              <a:cxnLst/>
              <a:rect l="l" t="t" r="r" b="b"/>
              <a:pathLst>
                <a:path w="819150" h="209550">
                  <a:moveTo>
                    <a:pt x="0" y="209550"/>
                  </a:moveTo>
                  <a:lnTo>
                    <a:pt x="819150" y="209550"/>
                  </a:lnTo>
                  <a:lnTo>
                    <a:pt x="819150" y="0"/>
                  </a:lnTo>
                  <a:lnTo>
                    <a:pt x="0" y="0"/>
                  </a:lnTo>
                  <a:lnTo>
                    <a:pt x="0" y="209550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457950" y="4133850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17145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906462" y="1277937"/>
            <a:ext cx="2019935" cy="1170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>
                <a:latin typeface="Calibri"/>
                <a:cs typeface="Calibri"/>
              </a:rPr>
              <a:t>Viola</a:t>
            </a:r>
            <a:r>
              <a:rPr sz="1500" spc="-50">
                <a:latin typeface="Calibri"/>
                <a:cs typeface="Calibri"/>
              </a:rPr>
              <a:t> </a:t>
            </a:r>
            <a:r>
              <a:rPr sz="1500">
                <a:latin typeface="Calibri"/>
                <a:cs typeface="Calibri"/>
              </a:rPr>
              <a:t>and</a:t>
            </a:r>
            <a:r>
              <a:rPr sz="1500" spc="-35">
                <a:latin typeface="Calibri"/>
                <a:cs typeface="Calibri"/>
              </a:rPr>
              <a:t> </a:t>
            </a:r>
            <a:r>
              <a:rPr sz="1500">
                <a:latin typeface="Calibri"/>
                <a:cs typeface="Calibri"/>
              </a:rPr>
              <a:t>Jones,</a:t>
            </a:r>
            <a:r>
              <a:rPr sz="1500" spc="-5">
                <a:latin typeface="Calibri"/>
                <a:cs typeface="Calibri"/>
              </a:rPr>
              <a:t> </a:t>
            </a:r>
            <a:r>
              <a:rPr sz="1500" spc="-20">
                <a:latin typeface="Calibri"/>
                <a:cs typeface="Calibri"/>
              </a:rPr>
              <a:t>2001</a:t>
            </a:r>
            <a:endParaRPr sz="15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1805"/>
              </a:spcBef>
            </a:pPr>
            <a:r>
              <a:rPr sz="1500">
                <a:latin typeface="Calibri"/>
                <a:cs typeface="Calibri"/>
              </a:rPr>
              <a:t>One</a:t>
            </a:r>
            <a:r>
              <a:rPr sz="1500" spc="-30">
                <a:latin typeface="Calibri"/>
                <a:cs typeface="Calibri"/>
              </a:rPr>
              <a:t> </a:t>
            </a:r>
            <a:r>
              <a:rPr sz="1500">
                <a:latin typeface="Calibri"/>
                <a:cs typeface="Calibri"/>
              </a:rPr>
              <a:t>of</a:t>
            </a:r>
            <a:r>
              <a:rPr sz="1500" spc="-40">
                <a:latin typeface="Calibri"/>
                <a:cs typeface="Calibri"/>
              </a:rPr>
              <a:t> </a:t>
            </a:r>
            <a:r>
              <a:rPr sz="1500">
                <a:latin typeface="Calibri"/>
                <a:cs typeface="Calibri"/>
              </a:rPr>
              <a:t>the</a:t>
            </a:r>
            <a:r>
              <a:rPr sz="1500" spc="-25">
                <a:latin typeface="Calibri"/>
                <a:cs typeface="Calibri"/>
              </a:rPr>
              <a:t> </a:t>
            </a:r>
            <a:r>
              <a:rPr sz="1500" spc="-10">
                <a:latin typeface="Calibri"/>
                <a:cs typeface="Calibri"/>
              </a:rPr>
              <a:t>first successful applications</a:t>
            </a:r>
            <a:r>
              <a:rPr sz="1500">
                <a:latin typeface="Calibri"/>
                <a:cs typeface="Calibri"/>
              </a:rPr>
              <a:t> of</a:t>
            </a:r>
            <a:r>
              <a:rPr sz="1500" spc="-20">
                <a:latin typeface="Calibri"/>
                <a:cs typeface="Calibri"/>
              </a:rPr>
              <a:t> </a:t>
            </a:r>
            <a:r>
              <a:rPr sz="1500" spc="-10">
                <a:latin typeface="Calibri"/>
                <a:cs typeface="Calibri"/>
              </a:rPr>
              <a:t>machine </a:t>
            </a:r>
            <a:r>
              <a:rPr sz="1500">
                <a:latin typeface="Calibri"/>
                <a:cs typeface="Calibri"/>
              </a:rPr>
              <a:t>learning</a:t>
            </a:r>
            <a:r>
              <a:rPr sz="1500" spc="-35">
                <a:latin typeface="Calibri"/>
                <a:cs typeface="Calibri"/>
              </a:rPr>
              <a:t> </a:t>
            </a:r>
            <a:r>
              <a:rPr sz="1500">
                <a:latin typeface="Calibri"/>
                <a:cs typeface="Calibri"/>
              </a:rPr>
              <a:t>to</a:t>
            </a:r>
            <a:r>
              <a:rPr sz="1500" spc="-45">
                <a:latin typeface="Calibri"/>
                <a:cs typeface="Calibri"/>
              </a:rPr>
              <a:t> </a:t>
            </a:r>
            <a:r>
              <a:rPr sz="1500" spc="-10">
                <a:latin typeface="Calibri"/>
                <a:cs typeface="Calibri"/>
              </a:rPr>
              <a:t>vision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3039" rIns="0" bIns="0" rtlCol="0">
            <a:spAutoFit/>
          </a:bodyPr>
          <a:lstStyle/>
          <a:p>
            <a:pPr marL="48895">
              <a:lnSpc>
                <a:spcPct val="100000"/>
              </a:lnSpc>
              <a:spcBef>
                <a:spcPts val="105"/>
              </a:spcBef>
            </a:pPr>
            <a:r>
              <a:rPr sz="3000"/>
              <a:t>Face</a:t>
            </a:r>
            <a:r>
              <a:rPr sz="3000" spc="-120"/>
              <a:t> </a:t>
            </a:r>
            <a:r>
              <a:rPr sz="3000" spc="-10"/>
              <a:t>Detection</a:t>
            </a:r>
            <a:endParaRPr sz="3000"/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43300" y="200025"/>
            <a:ext cx="4972050" cy="3486150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6367526" y="3862387"/>
            <a:ext cx="428625" cy="2762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02235">
              <a:lnSpc>
                <a:spcPts val="1040"/>
              </a:lnSpc>
            </a:pPr>
            <a:r>
              <a:rPr sz="900" spc="-20">
                <a:latin typeface="Calibri"/>
                <a:cs typeface="Calibri"/>
              </a:rPr>
              <a:t>2001</a:t>
            </a:r>
            <a:endParaRPr sz="900">
              <a:latin typeface="Calibri"/>
              <a:cs typeface="Calibri"/>
            </a:endParaRPr>
          </a:p>
          <a:p>
            <a:pPr marL="126364">
              <a:lnSpc>
                <a:spcPct val="100000"/>
              </a:lnSpc>
              <a:spcBef>
                <a:spcPts val="45"/>
              </a:spcBef>
            </a:pPr>
            <a:r>
              <a:rPr sz="900" spc="-25">
                <a:latin typeface="Calibri"/>
                <a:cs typeface="Calibri"/>
              </a:rPr>
              <a:t>V&amp;J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134100" y="4133850"/>
            <a:ext cx="0" cy="171450"/>
          </a:xfrm>
          <a:custGeom>
            <a:avLst/>
            <a:gdLst/>
            <a:ahLst/>
            <a:cxnLst/>
            <a:rect l="l" t="t" r="r" b="b"/>
            <a:pathLst>
              <a:path h="171450">
                <a:moveTo>
                  <a:pt x="0" y="17145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5891276" y="3862387"/>
            <a:ext cx="419100" cy="2762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2075">
              <a:lnSpc>
                <a:spcPts val="1040"/>
              </a:lnSpc>
            </a:pPr>
            <a:r>
              <a:rPr sz="900" spc="-20">
                <a:latin typeface="Calibri"/>
                <a:cs typeface="Calibri"/>
              </a:rPr>
              <a:t>1999</a:t>
            </a:r>
            <a:endParaRPr sz="900">
              <a:latin typeface="Calibri"/>
              <a:cs typeface="Calibri"/>
            </a:endParaRPr>
          </a:p>
          <a:p>
            <a:pPr marL="111760">
              <a:lnSpc>
                <a:spcPct val="100000"/>
              </a:lnSpc>
              <a:spcBef>
                <a:spcPts val="45"/>
              </a:spcBef>
            </a:pPr>
            <a:r>
              <a:rPr sz="900" spc="-20">
                <a:latin typeface="Calibri"/>
                <a:cs typeface="Calibri"/>
              </a:rPr>
              <a:t>SIFT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638294" y="4242196"/>
            <a:ext cx="548005" cy="159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00"/>
              </a:lnSpc>
            </a:pPr>
            <a:r>
              <a:rPr sz="1050">
                <a:solidFill>
                  <a:srgbClr val="FFFFFF"/>
                </a:solidFill>
                <a:latin typeface="Calibri"/>
                <a:cs typeface="Calibri"/>
              </a:rPr>
              <a:t>AI</a:t>
            </a:r>
            <a:r>
              <a:rPr sz="1050" spc="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spc="-10">
                <a:solidFill>
                  <a:srgbClr val="FFFFFF"/>
                </a:solidFill>
                <a:latin typeface="Calibri"/>
                <a:cs typeface="Calibri"/>
              </a:rPr>
              <a:t>Winter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325359" y="4618672"/>
            <a:ext cx="1741170" cy="158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95"/>
              </a:lnSpc>
            </a:pPr>
            <a:r>
              <a:rPr sz="1050">
                <a:latin typeface="Calibri"/>
                <a:cs typeface="Calibri"/>
              </a:rPr>
              <a:t>Slide</a:t>
            </a:r>
            <a:r>
              <a:rPr sz="1050" spc="-30">
                <a:latin typeface="Calibri"/>
                <a:cs typeface="Calibri"/>
              </a:rPr>
              <a:t> </a:t>
            </a:r>
            <a:r>
              <a:rPr sz="1050">
                <a:latin typeface="Calibri"/>
                <a:cs typeface="Calibri"/>
              </a:rPr>
              <a:t>inspiration:</a:t>
            </a:r>
            <a:r>
              <a:rPr sz="1050" spc="-10">
                <a:latin typeface="Calibri"/>
                <a:cs typeface="Calibri"/>
              </a:rPr>
              <a:t> Justin</a:t>
            </a:r>
            <a:r>
              <a:rPr sz="1050" spc="-50">
                <a:latin typeface="Calibri"/>
                <a:cs typeface="Calibri"/>
              </a:rPr>
              <a:t> </a:t>
            </a:r>
            <a:r>
              <a:rPr sz="1050" spc="-10">
                <a:latin typeface="Calibri"/>
                <a:cs typeface="Calibri"/>
              </a:rPr>
              <a:t>Johnson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27</a:t>
            </a:fld>
            <a:endParaRPr spc="-25"/>
          </a:p>
        </p:txBody>
      </p: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>
              <a:lnSpc>
                <a:spcPts val="1810"/>
              </a:lnSpc>
            </a:pPr>
            <a:r>
              <a:t>April 1,</a:t>
            </a:r>
            <a:r>
              <a:rPr spc="-35"/>
              <a:t> </a:t>
            </a:r>
            <a:r>
              <a:rPr spc="-20"/>
              <a:t>2025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t>CS231n:</a:t>
            </a:r>
            <a:r>
              <a:rPr spc="-5"/>
              <a:t> </a:t>
            </a:r>
            <a:r>
              <a:t>Lecture</a:t>
            </a:r>
            <a:r>
              <a:rPr spc="95"/>
              <a:t> </a:t>
            </a:r>
            <a:r>
              <a:t>1</a:t>
            </a:r>
            <a:r>
              <a:rPr spc="15"/>
              <a:t> </a:t>
            </a:r>
            <a:r>
              <a:rPr spc="-50"/>
              <a:t>-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307657" y="4910517"/>
            <a:ext cx="2085339" cy="1536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Fei-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Fei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Li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9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Ehsan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Adeli</a:t>
            </a: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90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Zane Durante</a:t>
            </a:r>
            <a:endParaRPr sz="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13171" y="237490"/>
            <a:ext cx="2637155" cy="755015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711200" marR="5080" indent="-699135">
              <a:lnSpc>
                <a:spcPts val="2850"/>
              </a:lnSpc>
              <a:spcBef>
                <a:spcPts val="225"/>
              </a:spcBef>
            </a:pPr>
            <a:r>
              <a:rPr sz="2400" spc="-30"/>
              <a:t>PASCAL</a:t>
            </a:r>
            <a:r>
              <a:rPr sz="2400" spc="-45"/>
              <a:t> </a:t>
            </a:r>
            <a:r>
              <a:rPr sz="2400"/>
              <a:t>Visual</a:t>
            </a:r>
            <a:r>
              <a:rPr sz="2400" spc="-35"/>
              <a:t> </a:t>
            </a:r>
            <a:r>
              <a:rPr sz="2400" spc="-10"/>
              <a:t>Object Challenge</a:t>
            </a:r>
            <a:endParaRPr sz="2400"/>
          </a:p>
        </p:txBody>
      </p:sp>
      <p:sp>
        <p:nvSpPr>
          <p:cNvPr id="3" name="object 3"/>
          <p:cNvSpPr/>
          <p:nvPr/>
        </p:nvSpPr>
        <p:spPr>
          <a:xfrm>
            <a:off x="647700" y="4133850"/>
            <a:ext cx="0" cy="171450"/>
          </a:xfrm>
          <a:custGeom>
            <a:avLst/>
            <a:gdLst/>
            <a:ahLst/>
            <a:cxnLst/>
            <a:rect l="l" t="t" r="r" b="b"/>
            <a:pathLst>
              <a:path h="171450">
                <a:moveTo>
                  <a:pt x="0" y="17145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76212" y="3862387"/>
            <a:ext cx="876300" cy="2762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R="3175" algn="ctr">
              <a:lnSpc>
                <a:spcPct val="100000"/>
              </a:lnSpc>
              <a:spcBef>
                <a:spcPts val="105"/>
              </a:spcBef>
            </a:pPr>
            <a:r>
              <a:rPr sz="800" spc="-20">
                <a:latin typeface="Calibri"/>
                <a:cs typeface="Calibri"/>
              </a:rPr>
              <a:t>1959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00150" y="4133850"/>
            <a:ext cx="0" cy="171450"/>
          </a:xfrm>
          <a:custGeom>
            <a:avLst/>
            <a:gdLst/>
            <a:ahLst/>
            <a:cxnLst/>
            <a:rect l="l" t="t" r="r" b="b"/>
            <a:pathLst>
              <a:path h="171450">
                <a:moveTo>
                  <a:pt x="0" y="17145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96181" y="3862387"/>
            <a:ext cx="656590" cy="2762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05104">
              <a:lnSpc>
                <a:spcPts val="1040"/>
              </a:lnSpc>
            </a:pPr>
            <a:r>
              <a:rPr sz="900" spc="-20">
                <a:latin typeface="Calibri"/>
                <a:cs typeface="Calibri"/>
              </a:rPr>
              <a:t>1963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847975" y="4133850"/>
            <a:ext cx="0" cy="171450"/>
          </a:xfrm>
          <a:custGeom>
            <a:avLst/>
            <a:gdLst/>
            <a:ahLst/>
            <a:cxnLst/>
            <a:rect l="l" t="t" r="r" b="b"/>
            <a:pathLst>
              <a:path h="171450">
                <a:moveTo>
                  <a:pt x="0" y="17145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033651" y="3862387"/>
            <a:ext cx="876300" cy="2762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040"/>
              </a:lnSpc>
            </a:pPr>
            <a:r>
              <a:rPr sz="900" spc="-10">
                <a:latin typeface="Calibri"/>
                <a:cs typeface="Calibri"/>
              </a:rPr>
              <a:t>1970s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390900" y="4133850"/>
            <a:ext cx="0" cy="171450"/>
          </a:xfrm>
          <a:custGeom>
            <a:avLst/>
            <a:gdLst/>
            <a:ahLst/>
            <a:cxnLst/>
            <a:rect l="l" t="t" r="r" b="b"/>
            <a:pathLst>
              <a:path h="171450">
                <a:moveTo>
                  <a:pt x="0" y="17145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976626" y="3862387"/>
            <a:ext cx="1038225" cy="2762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175" algn="ctr">
              <a:lnSpc>
                <a:spcPts val="1040"/>
              </a:lnSpc>
            </a:pPr>
            <a:r>
              <a:rPr sz="900" spc="-20">
                <a:latin typeface="Calibri"/>
                <a:cs typeface="Calibri"/>
              </a:rPr>
              <a:t>1979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352925" y="4133850"/>
            <a:ext cx="0" cy="171450"/>
          </a:xfrm>
          <a:custGeom>
            <a:avLst/>
            <a:gdLst/>
            <a:ahLst/>
            <a:cxnLst/>
            <a:rect l="l" t="t" r="r" b="b"/>
            <a:pathLst>
              <a:path h="171450">
                <a:moveTo>
                  <a:pt x="0" y="17145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129151" y="3862387"/>
            <a:ext cx="561975" cy="2762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67640">
              <a:lnSpc>
                <a:spcPts val="1040"/>
              </a:lnSpc>
            </a:pPr>
            <a:r>
              <a:rPr sz="900" spc="-20">
                <a:latin typeface="Calibri"/>
                <a:cs typeface="Calibri"/>
              </a:rPr>
              <a:t>1986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819775" y="4133850"/>
            <a:ext cx="0" cy="171450"/>
          </a:xfrm>
          <a:custGeom>
            <a:avLst/>
            <a:gdLst/>
            <a:ahLst/>
            <a:cxnLst/>
            <a:rect l="l" t="t" r="r" b="b"/>
            <a:pathLst>
              <a:path h="171450">
                <a:moveTo>
                  <a:pt x="0" y="17145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072126" y="3862387"/>
            <a:ext cx="751840" cy="2762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0795" algn="ctr">
              <a:lnSpc>
                <a:spcPts val="1040"/>
              </a:lnSpc>
            </a:pPr>
            <a:r>
              <a:rPr sz="900" spc="-20">
                <a:latin typeface="Calibri"/>
                <a:cs typeface="Calibri"/>
              </a:rPr>
              <a:t>1997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354826" y="3849687"/>
            <a:ext cx="454025" cy="474980"/>
            <a:chOff x="6354826" y="3849687"/>
            <a:chExt cx="454025" cy="474980"/>
          </a:xfrm>
        </p:grpSpPr>
        <p:sp>
          <p:nvSpPr>
            <p:cNvPr id="16" name="object 16"/>
            <p:cNvSpPr/>
            <p:nvPr/>
          </p:nvSpPr>
          <p:spPr>
            <a:xfrm>
              <a:off x="6457950" y="4133850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17145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367526" y="3862387"/>
              <a:ext cx="428625" cy="276225"/>
            </a:xfrm>
            <a:custGeom>
              <a:avLst/>
              <a:gdLst/>
              <a:ahLst/>
              <a:cxnLst/>
              <a:rect l="l" t="t" r="r" b="b"/>
              <a:pathLst>
                <a:path w="428625" h="276225">
                  <a:moveTo>
                    <a:pt x="0" y="276225"/>
                  </a:moveTo>
                  <a:lnTo>
                    <a:pt x="428625" y="276225"/>
                  </a:lnTo>
                  <a:lnTo>
                    <a:pt x="428625" y="0"/>
                  </a:lnTo>
                  <a:lnTo>
                    <a:pt x="0" y="0"/>
                  </a:lnTo>
                  <a:lnTo>
                    <a:pt x="0" y="276225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380226" y="3844607"/>
            <a:ext cx="4222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100"/>
              </a:spcBef>
            </a:pPr>
            <a:r>
              <a:rPr sz="900" spc="-20">
                <a:latin typeface="Calibri"/>
                <a:cs typeface="Calibri"/>
              </a:rPr>
              <a:t>2001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134100" y="4133850"/>
            <a:ext cx="0" cy="171450"/>
          </a:xfrm>
          <a:custGeom>
            <a:avLst/>
            <a:gdLst/>
            <a:ahLst/>
            <a:cxnLst/>
            <a:rect l="l" t="t" r="r" b="b"/>
            <a:pathLst>
              <a:path h="171450">
                <a:moveTo>
                  <a:pt x="0" y="17145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5891276" y="3862387"/>
            <a:ext cx="419100" cy="2762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2075">
              <a:lnSpc>
                <a:spcPts val="1040"/>
              </a:lnSpc>
            </a:pPr>
            <a:r>
              <a:rPr sz="900" spc="-20">
                <a:latin typeface="Calibri"/>
                <a:cs typeface="Calibri"/>
              </a:rPr>
              <a:t>1999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286375" y="1125347"/>
            <a:ext cx="3467100" cy="2303780"/>
            <a:chOff x="5286375" y="1125347"/>
            <a:chExt cx="3467100" cy="2303780"/>
          </a:xfrm>
        </p:grpSpPr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24700" y="1125347"/>
              <a:ext cx="1628775" cy="230365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86375" y="1133475"/>
              <a:ext cx="1781175" cy="1190625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86375" y="2362200"/>
              <a:ext cx="1762125" cy="106680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86375" y="2476436"/>
              <a:ext cx="1747901" cy="804862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5362575" y="2533650"/>
            <a:ext cx="1600200" cy="657225"/>
          </a:xfrm>
          <a:prstGeom prst="rect">
            <a:avLst/>
          </a:prstGeom>
          <a:ln w="38100">
            <a:solidFill>
              <a:srgbClr val="FFFF00"/>
            </a:solidFill>
          </a:ln>
        </p:spPr>
        <p:txBody>
          <a:bodyPr vert="horz" wrap="square" lIns="0" tIns="67945" rIns="0" bIns="0" rtlCol="0">
            <a:spAutoFit/>
          </a:bodyPr>
          <a:lstStyle/>
          <a:p>
            <a:pPr marL="897255">
              <a:lnSpc>
                <a:spcPct val="100000"/>
              </a:lnSpc>
              <a:spcBef>
                <a:spcPts val="535"/>
              </a:spcBef>
            </a:pPr>
            <a:r>
              <a:rPr sz="1350" spc="-10">
                <a:solidFill>
                  <a:srgbClr val="FFFF00"/>
                </a:solidFill>
                <a:latin typeface="Calibri"/>
                <a:cs typeface="Calibri"/>
              </a:rPr>
              <a:t>Airplane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5686425" y="1381061"/>
            <a:ext cx="1443355" cy="814705"/>
            <a:chOff x="5686425" y="1381061"/>
            <a:chExt cx="1443355" cy="814705"/>
          </a:xfrm>
        </p:grpSpPr>
        <p:pic>
          <p:nvPicPr>
            <p:cNvPr id="28" name="object 2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86425" y="1381061"/>
              <a:ext cx="1442974" cy="814387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5762625" y="1438275"/>
              <a:ext cx="1295400" cy="666750"/>
            </a:xfrm>
            <a:custGeom>
              <a:avLst/>
              <a:gdLst/>
              <a:ahLst/>
              <a:cxnLst/>
              <a:rect l="l" t="t" r="r" b="b"/>
              <a:pathLst>
                <a:path w="1295400" h="666750">
                  <a:moveTo>
                    <a:pt x="0" y="666750"/>
                  </a:moveTo>
                  <a:lnTo>
                    <a:pt x="1295400" y="666750"/>
                  </a:lnTo>
                  <a:lnTo>
                    <a:pt x="1295400" y="0"/>
                  </a:lnTo>
                  <a:lnTo>
                    <a:pt x="0" y="0"/>
                  </a:lnTo>
                  <a:lnTo>
                    <a:pt x="0" y="666750"/>
                  </a:lnTo>
                  <a:close/>
                </a:path>
              </a:pathLst>
            </a:custGeom>
            <a:ln w="38100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6602730" y="1193482"/>
            <a:ext cx="374015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10">
                <a:solidFill>
                  <a:srgbClr val="FFFF00"/>
                </a:solidFill>
                <a:latin typeface="Calibri"/>
                <a:cs typeface="Calibri"/>
              </a:rPr>
              <a:t>Train</a:t>
            </a:r>
            <a:endParaRPr sz="1350">
              <a:latin typeface="Calibri"/>
              <a:cs typeface="Calibri"/>
            </a:endParaRPr>
          </a:p>
        </p:txBody>
      </p:sp>
      <p:pic>
        <p:nvPicPr>
          <p:cNvPr id="31" name="object 3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134225" y="1352422"/>
            <a:ext cx="1585849" cy="2157476"/>
          </a:xfrm>
          <a:prstGeom prst="rect">
            <a:avLst/>
          </a:prstGeom>
        </p:spPr>
      </p:pic>
      <p:sp>
        <p:nvSpPr>
          <p:cNvPr id="32" name="object 32"/>
          <p:cNvSpPr txBox="1"/>
          <p:nvPr/>
        </p:nvSpPr>
        <p:spPr>
          <a:xfrm>
            <a:off x="7215251" y="1414399"/>
            <a:ext cx="1428750" cy="1990725"/>
          </a:xfrm>
          <a:prstGeom prst="rect">
            <a:avLst/>
          </a:prstGeom>
          <a:ln w="50800">
            <a:solidFill>
              <a:srgbClr val="FFFF00"/>
            </a:solidFill>
          </a:ln>
        </p:spPr>
        <p:txBody>
          <a:bodyPr vert="horz" wrap="square" lIns="0" tIns="59055" rIns="0" bIns="0" rtlCol="0">
            <a:spAutoFit/>
          </a:bodyPr>
          <a:lstStyle/>
          <a:p>
            <a:pPr marL="789305">
              <a:lnSpc>
                <a:spcPct val="100000"/>
              </a:lnSpc>
              <a:spcBef>
                <a:spcPts val="465"/>
              </a:spcBef>
            </a:pPr>
            <a:r>
              <a:rPr sz="1350" spc="-10">
                <a:solidFill>
                  <a:srgbClr val="FFFF00"/>
                </a:solidFill>
                <a:latin typeface="Calibri"/>
                <a:cs typeface="Calibri"/>
              </a:rPr>
              <a:t>Person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734177" y="984884"/>
            <a:ext cx="995680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u="sng" spc="-95">
                <a:solidFill>
                  <a:srgbClr val="A4A4A4"/>
                </a:solidFill>
                <a:uFill>
                  <a:solidFill>
                    <a:srgbClr val="A4A4A4"/>
                  </a:solidFill>
                </a:uFill>
                <a:latin typeface="Calibri"/>
                <a:cs typeface="Calibri"/>
              </a:rPr>
              <a:t> </a:t>
            </a:r>
            <a:r>
              <a:rPr sz="600" u="sng">
                <a:solidFill>
                  <a:srgbClr val="A4A4A4"/>
                </a:solidFill>
                <a:uFill>
                  <a:solidFill>
                    <a:srgbClr val="A4A4A4"/>
                  </a:solidFill>
                </a:uFill>
                <a:latin typeface="Calibri"/>
                <a:cs typeface="Calibri"/>
                <a:hlinkClick r:id="rId8"/>
              </a:rPr>
              <a:t>Image</a:t>
            </a:r>
            <a:r>
              <a:rPr sz="600" spc="10">
                <a:solidFill>
                  <a:srgbClr val="A4A4A4"/>
                </a:solidFill>
                <a:latin typeface="Calibri"/>
                <a:cs typeface="Calibri"/>
              </a:rPr>
              <a:t> </a:t>
            </a:r>
            <a:r>
              <a:rPr sz="600">
                <a:solidFill>
                  <a:srgbClr val="A6A6A6"/>
                </a:solidFill>
                <a:latin typeface="Calibri"/>
                <a:cs typeface="Calibri"/>
              </a:rPr>
              <a:t>is</a:t>
            </a:r>
            <a:r>
              <a:rPr sz="600" spc="-3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600" u="sng" spc="-114">
                <a:solidFill>
                  <a:srgbClr val="A4A4A4"/>
                </a:solidFill>
                <a:uFill>
                  <a:solidFill>
                    <a:srgbClr val="A4A4A4"/>
                  </a:solidFill>
                </a:uFill>
                <a:latin typeface="Calibri"/>
                <a:cs typeface="Calibri"/>
              </a:rPr>
              <a:t> </a:t>
            </a:r>
            <a:r>
              <a:rPr sz="600" u="sng">
                <a:solidFill>
                  <a:srgbClr val="A4A4A4"/>
                </a:solidFill>
                <a:uFill>
                  <a:solidFill>
                    <a:srgbClr val="A4A4A4"/>
                  </a:solidFill>
                </a:uFill>
                <a:latin typeface="Calibri"/>
                <a:cs typeface="Calibri"/>
                <a:hlinkClick r:id="rId9"/>
              </a:rPr>
              <a:t>CC0</a:t>
            </a:r>
            <a:r>
              <a:rPr sz="600" u="sng" spc="10">
                <a:solidFill>
                  <a:srgbClr val="A4A4A4"/>
                </a:solidFill>
                <a:uFill>
                  <a:solidFill>
                    <a:srgbClr val="A4A4A4"/>
                  </a:solidFill>
                </a:uFill>
                <a:latin typeface="Calibri"/>
                <a:cs typeface="Calibri"/>
                <a:hlinkClick r:id="rId9"/>
              </a:rPr>
              <a:t> </a:t>
            </a:r>
            <a:r>
              <a:rPr sz="600" u="sng">
                <a:solidFill>
                  <a:srgbClr val="A4A4A4"/>
                </a:solidFill>
                <a:uFill>
                  <a:solidFill>
                    <a:srgbClr val="A4A4A4"/>
                  </a:solidFill>
                </a:uFill>
                <a:latin typeface="Calibri"/>
                <a:cs typeface="Calibri"/>
                <a:hlinkClick r:id="rId9"/>
              </a:rPr>
              <a:t>1.0</a:t>
            </a:r>
            <a:r>
              <a:rPr sz="600" spc="-35">
                <a:solidFill>
                  <a:srgbClr val="A4A4A4"/>
                </a:solidFill>
                <a:latin typeface="Calibri"/>
                <a:cs typeface="Calibri"/>
              </a:rPr>
              <a:t> </a:t>
            </a:r>
            <a:r>
              <a:rPr sz="600" spc="-10">
                <a:solidFill>
                  <a:srgbClr val="A6A6A6"/>
                </a:solidFill>
                <a:latin typeface="Calibri"/>
                <a:cs typeface="Calibri"/>
              </a:rPr>
              <a:t>public domain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407402" y="3467036"/>
            <a:ext cx="1000760" cy="117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u="sng" spc="-80">
                <a:solidFill>
                  <a:srgbClr val="A4A4A4"/>
                </a:solidFill>
                <a:uFill>
                  <a:solidFill>
                    <a:srgbClr val="A4A4A4"/>
                  </a:solidFill>
                </a:uFill>
                <a:latin typeface="Calibri"/>
                <a:cs typeface="Calibri"/>
              </a:rPr>
              <a:t> </a:t>
            </a:r>
            <a:r>
              <a:rPr sz="600" u="sng">
                <a:solidFill>
                  <a:srgbClr val="A4A4A4"/>
                </a:solidFill>
                <a:uFill>
                  <a:solidFill>
                    <a:srgbClr val="A4A4A4"/>
                  </a:solidFill>
                </a:uFill>
                <a:latin typeface="Calibri"/>
                <a:cs typeface="Calibri"/>
                <a:hlinkClick r:id="rId10"/>
              </a:rPr>
              <a:t>Image</a:t>
            </a:r>
            <a:r>
              <a:rPr sz="600" spc="5">
                <a:solidFill>
                  <a:srgbClr val="A4A4A4"/>
                </a:solidFill>
                <a:latin typeface="Calibri"/>
                <a:cs typeface="Calibri"/>
              </a:rPr>
              <a:t> </a:t>
            </a:r>
            <a:r>
              <a:rPr sz="600">
                <a:solidFill>
                  <a:srgbClr val="A6A6A6"/>
                </a:solidFill>
                <a:latin typeface="Calibri"/>
                <a:cs typeface="Calibri"/>
              </a:rPr>
              <a:t>is</a:t>
            </a:r>
            <a:r>
              <a:rPr sz="600" spc="-5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600" u="sng" spc="-100">
                <a:solidFill>
                  <a:srgbClr val="A4A4A4"/>
                </a:solidFill>
                <a:uFill>
                  <a:solidFill>
                    <a:srgbClr val="A4A4A4"/>
                  </a:solidFill>
                </a:uFill>
                <a:latin typeface="Calibri"/>
                <a:cs typeface="Calibri"/>
              </a:rPr>
              <a:t> </a:t>
            </a:r>
            <a:r>
              <a:rPr sz="600" u="sng">
                <a:solidFill>
                  <a:srgbClr val="A4A4A4"/>
                </a:solidFill>
                <a:uFill>
                  <a:solidFill>
                    <a:srgbClr val="A4A4A4"/>
                  </a:solidFill>
                </a:uFill>
                <a:latin typeface="Calibri"/>
                <a:cs typeface="Calibri"/>
                <a:hlinkClick r:id="rId9"/>
              </a:rPr>
              <a:t>CC0</a:t>
            </a:r>
            <a:r>
              <a:rPr sz="600" u="sng" spc="5">
                <a:solidFill>
                  <a:srgbClr val="A4A4A4"/>
                </a:solidFill>
                <a:uFill>
                  <a:solidFill>
                    <a:srgbClr val="A4A4A4"/>
                  </a:solidFill>
                </a:uFill>
                <a:latin typeface="Calibri"/>
                <a:cs typeface="Calibri"/>
                <a:hlinkClick r:id="rId9"/>
              </a:rPr>
              <a:t> </a:t>
            </a:r>
            <a:r>
              <a:rPr sz="600" u="sng" spc="-10">
                <a:solidFill>
                  <a:srgbClr val="A4A4A4"/>
                </a:solidFill>
                <a:uFill>
                  <a:solidFill>
                    <a:srgbClr val="A4A4A4"/>
                  </a:solidFill>
                </a:uFill>
                <a:latin typeface="Calibri"/>
                <a:cs typeface="Calibri"/>
                <a:hlinkClick r:id="rId9"/>
              </a:rPr>
              <a:t>1.</a:t>
            </a:r>
            <a:r>
              <a:rPr sz="600" spc="-10">
                <a:solidFill>
                  <a:srgbClr val="A4A4A4"/>
                </a:solidFill>
                <a:latin typeface="Calibri"/>
                <a:cs typeface="Calibri"/>
                <a:hlinkClick r:id="rId9"/>
              </a:rPr>
              <a:t>0</a:t>
            </a:r>
            <a:r>
              <a:rPr sz="600" spc="-35">
                <a:solidFill>
                  <a:srgbClr val="A4A4A4"/>
                </a:solidFill>
                <a:latin typeface="Calibri"/>
                <a:cs typeface="Calibri"/>
              </a:rPr>
              <a:t> </a:t>
            </a:r>
            <a:r>
              <a:rPr sz="600">
                <a:solidFill>
                  <a:srgbClr val="A6A6A6"/>
                </a:solidFill>
                <a:latin typeface="Calibri"/>
                <a:cs typeface="Calibri"/>
              </a:rPr>
              <a:t>public</a:t>
            </a:r>
            <a:r>
              <a:rPr sz="600" spc="-10">
                <a:solidFill>
                  <a:srgbClr val="A6A6A6"/>
                </a:solidFill>
                <a:latin typeface="Calibri"/>
                <a:cs typeface="Calibri"/>
              </a:rPr>
              <a:t> domain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6821551" y="3849687"/>
            <a:ext cx="739775" cy="474980"/>
            <a:chOff x="6821551" y="3849687"/>
            <a:chExt cx="739775" cy="474980"/>
          </a:xfrm>
        </p:grpSpPr>
        <p:sp>
          <p:nvSpPr>
            <p:cNvPr id="36" name="object 36"/>
            <p:cNvSpPr/>
            <p:nvPr/>
          </p:nvSpPr>
          <p:spPr>
            <a:xfrm>
              <a:off x="7239000" y="4133850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17145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834251" y="3862387"/>
              <a:ext cx="714375" cy="276225"/>
            </a:xfrm>
            <a:custGeom>
              <a:avLst/>
              <a:gdLst/>
              <a:ahLst/>
              <a:cxnLst/>
              <a:rect l="l" t="t" r="r" b="b"/>
              <a:pathLst>
                <a:path w="714375" h="276225">
                  <a:moveTo>
                    <a:pt x="0" y="276225"/>
                  </a:moveTo>
                  <a:lnTo>
                    <a:pt x="714375" y="276225"/>
                  </a:lnTo>
                  <a:lnTo>
                    <a:pt x="714375" y="0"/>
                  </a:lnTo>
                  <a:lnTo>
                    <a:pt x="0" y="0"/>
                  </a:lnTo>
                  <a:lnTo>
                    <a:pt x="0" y="276225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6827901" y="3843972"/>
            <a:ext cx="708025" cy="212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215">
              <a:lnSpc>
                <a:spcPct val="100000"/>
              </a:lnSpc>
              <a:spcBef>
                <a:spcPts val="100"/>
              </a:spcBef>
            </a:pPr>
            <a:r>
              <a:rPr sz="600">
                <a:latin typeface="Calibri"/>
                <a:cs typeface="Calibri"/>
              </a:rPr>
              <a:t>2004,</a:t>
            </a:r>
            <a:r>
              <a:rPr sz="600" spc="-20">
                <a:latin typeface="Calibri"/>
                <a:cs typeface="Calibri"/>
              </a:rPr>
              <a:t> 2007</a:t>
            </a:r>
            <a:endParaRPr sz="600">
              <a:latin typeface="Calibri"/>
              <a:cs typeface="Calibri"/>
            </a:endParaRPr>
          </a:p>
          <a:p>
            <a:pPr marL="184150">
              <a:lnSpc>
                <a:spcPct val="100000"/>
              </a:lnSpc>
              <a:spcBef>
                <a:spcPts val="35"/>
              </a:spcBef>
            </a:pPr>
            <a:r>
              <a:rPr sz="600" spc="-10">
                <a:latin typeface="Calibri"/>
                <a:cs typeface="Calibri"/>
              </a:rPr>
              <a:t>Caltech101;</a:t>
            </a:r>
            <a:endParaRPr sz="600">
              <a:latin typeface="Calibri"/>
              <a:cs typeface="Calibri"/>
            </a:endParaRPr>
          </a:p>
        </p:txBody>
      </p:sp>
      <p:pic>
        <p:nvPicPr>
          <p:cNvPr id="39" name="object 39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47700" y="280074"/>
            <a:ext cx="3943350" cy="3397170"/>
          </a:xfrm>
          <a:prstGeom prst="rect">
            <a:avLst/>
          </a:prstGeom>
        </p:spPr>
      </p:pic>
      <p:grpSp>
        <p:nvGrpSpPr>
          <p:cNvPr id="40" name="object 40"/>
          <p:cNvGrpSpPr/>
          <p:nvPr/>
        </p:nvGrpSpPr>
        <p:grpSpPr>
          <a:xfrm>
            <a:off x="104775" y="4192587"/>
            <a:ext cx="7827645" cy="234950"/>
            <a:chOff x="104775" y="4192587"/>
            <a:chExt cx="7827645" cy="234950"/>
          </a:xfrm>
        </p:grpSpPr>
        <p:sp>
          <p:nvSpPr>
            <p:cNvPr id="41" name="object 41"/>
            <p:cNvSpPr/>
            <p:nvPr/>
          </p:nvSpPr>
          <p:spPr>
            <a:xfrm>
              <a:off x="104775" y="4305300"/>
              <a:ext cx="7827645" cy="0"/>
            </a:xfrm>
            <a:custGeom>
              <a:avLst/>
              <a:gdLst/>
              <a:ahLst/>
              <a:cxnLst/>
              <a:rect l="l" t="t" r="r" b="b"/>
              <a:pathLst>
                <a:path w="7827645">
                  <a:moveTo>
                    <a:pt x="0" y="0"/>
                  </a:moveTo>
                  <a:lnTo>
                    <a:pt x="4395851" y="0"/>
                  </a:lnTo>
                </a:path>
                <a:path w="7827645">
                  <a:moveTo>
                    <a:pt x="5215001" y="0"/>
                  </a:moveTo>
                  <a:lnTo>
                    <a:pt x="7827645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500626" y="4205287"/>
              <a:ext cx="819150" cy="209550"/>
            </a:xfrm>
            <a:custGeom>
              <a:avLst/>
              <a:gdLst/>
              <a:ahLst/>
              <a:cxnLst/>
              <a:rect l="l" t="t" r="r" b="b"/>
              <a:pathLst>
                <a:path w="819150" h="209550">
                  <a:moveTo>
                    <a:pt x="819150" y="0"/>
                  </a:moveTo>
                  <a:lnTo>
                    <a:pt x="0" y="0"/>
                  </a:lnTo>
                  <a:lnTo>
                    <a:pt x="0" y="209550"/>
                  </a:lnTo>
                  <a:lnTo>
                    <a:pt x="819150" y="209550"/>
                  </a:lnTo>
                  <a:lnTo>
                    <a:pt x="81915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500626" y="4205287"/>
              <a:ext cx="819150" cy="209550"/>
            </a:xfrm>
            <a:custGeom>
              <a:avLst/>
              <a:gdLst/>
              <a:ahLst/>
              <a:cxnLst/>
              <a:rect l="l" t="t" r="r" b="b"/>
              <a:pathLst>
                <a:path w="819150" h="209550">
                  <a:moveTo>
                    <a:pt x="0" y="209550"/>
                  </a:moveTo>
                  <a:lnTo>
                    <a:pt x="819150" y="209550"/>
                  </a:lnTo>
                  <a:lnTo>
                    <a:pt x="819150" y="0"/>
                  </a:lnTo>
                  <a:lnTo>
                    <a:pt x="0" y="0"/>
                  </a:lnTo>
                  <a:lnTo>
                    <a:pt x="0" y="209550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274954" y="4009628"/>
            <a:ext cx="668020" cy="130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80"/>
              </a:lnSpc>
            </a:pPr>
            <a:r>
              <a:rPr sz="800">
                <a:latin typeface="Calibri"/>
                <a:cs typeface="Calibri"/>
              </a:rPr>
              <a:t>Hubel</a:t>
            </a:r>
            <a:r>
              <a:rPr sz="800" spc="-20">
                <a:latin typeface="Calibri"/>
                <a:cs typeface="Calibri"/>
              </a:rPr>
              <a:t> </a:t>
            </a:r>
            <a:r>
              <a:rPr sz="800">
                <a:latin typeface="Calibri"/>
                <a:cs typeface="Calibri"/>
              </a:rPr>
              <a:t>&amp;</a:t>
            </a:r>
            <a:r>
              <a:rPr sz="800" spc="-15">
                <a:latin typeface="Calibri"/>
                <a:cs typeface="Calibri"/>
              </a:rPr>
              <a:t> </a:t>
            </a:r>
            <a:r>
              <a:rPr sz="800" spc="-10">
                <a:latin typeface="Calibri"/>
                <a:cs typeface="Calibri"/>
              </a:rPr>
              <a:t>Wiesel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322069" y="4015819"/>
            <a:ext cx="386080" cy="140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spc="-10">
                <a:latin typeface="Calibri"/>
                <a:cs typeface="Calibri"/>
              </a:rPr>
              <a:t>Roberts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196719" y="4015819"/>
            <a:ext cx="551180" cy="140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spc="-10">
                <a:latin typeface="Calibri"/>
                <a:cs typeface="Calibri"/>
              </a:rPr>
              <a:t>David </a:t>
            </a:r>
            <a:r>
              <a:rPr sz="900" spc="-20">
                <a:latin typeface="Calibri"/>
                <a:cs typeface="Calibri"/>
              </a:rPr>
              <a:t>Marr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148964" y="4015819"/>
            <a:ext cx="698500" cy="140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>
                <a:latin typeface="Calibri"/>
                <a:cs typeface="Calibri"/>
              </a:rPr>
              <a:t>Gen.</a:t>
            </a:r>
            <a:r>
              <a:rPr sz="900" spc="5">
                <a:latin typeface="Calibri"/>
                <a:cs typeface="Calibri"/>
              </a:rPr>
              <a:t> </a:t>
            </a:r>
            <a:r>
              <a:rPr sz="900" spc="-10">
                <a:latin typeface="Calibri"/>
                <a:cs typeface="Calibri"/>
              </a:rPr>
              <a:t>Cylinders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255134" y="4015819"/>
            <a:ext cx="315595" cy="140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spc="-10">
                <a:latin typeface="Calibri"/>
                <a:cs typeface="Calibri"/>
              </a:rPr>
              <a:t>Canny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179314" y="4015819"/>
            <a:ext cx="1026160" cy="140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  <a:tabLst>
                <a:tab pos="823594" algn="l"/>
              </a:tabLst>
            </a:pPr>
            <a:r>
              <a:rPr sz="900">
                <a:latin typeface="Calibri"/>
                <a:cs typeface="Calibri"/>
              </a:rPr>
              <a:t>Norm.</a:t>
            </a:r>
            <a:r>
              <a:rPr sz="900" spc="10">
                <a:latin typeface="Calibri"/>
                <a:cs typeface="Calibri"/>
              </a:rPr>
              <a:t> </a:t>
            </a:r>
            <a:r>
              <a:rPr sz="900" spc="-20">
                <a:latin typeface="Calibri"/>
                <a:cs typeface="Calibri"/>
              </a:rPr>
              <a:t>Cuts</a:t>
            </a:r>
            <a:r>
              <a:rPr sz="900">
                <a:latin typeface="Calibri"/>
                <a:cs typeface="Calibri"/>
              </a:rPr>
              <a:t>	</a:t>
            </a:r>
            <a:r>
              <a:rPr sz="900" spc="-20">
                <a:latin typeface="Calibri"/>
                <a:cs typeface="Calibri"/>
              </a:rPr>
              <a:t>SIFT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6481445" y="4015819"/>
            <a:ext cx="205740" cy="140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spc="-25">
                <a:latin typeface="Calibri"/>
                <a:cs typeface="Calibri"/>
              </a:rPr>
              <a:t>V&amp;J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7063993" y="4053919"/>
            <a:ext cx="26733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spc="-10">
                <a:latin typeface="Calibri"/>
                <a:cs typeface="Calibri"/>
              </a:rPr>
              <a:t>PASCAL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4638294" y="4242196"/>
            <a:ext cx="548005" cy="159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00"/>
              </a:lnSpc>
            </a:pPr>
            <a:r>
              <a:rPr sz="1050">
                <a:solidFill>
                  <a:srgbClr val="FFFFFF"/>
                </a:solidFill>
                <a:latin typeface="Calibri"/>
                <a:cs typeface="Calibri"/>
              </a:rPr>
              <a:t>AI</a:t>
            </a:r>
            <a:r>
              <a:rPr sz="1050" spc="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spc="-10">
                <a:solidFill>
                  <a:srgbClr val="FFFFFF"/>
                </a:solidFill>
                <a:latin typeface="Calibri"/>
                <a:cs typeface="Calibri"/>
              </a:rPr>
              <a:t>Winter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7325359" y="4618672"/>
            <a:ext cx="1741170" cy="158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95"/>
              </a:lnSpc>
            </a:pPr>
            <a:r>
              <a:rPr sz="1050">
                <a:latin typeface="Calibri"/>
                <a:cs typeface="Calibri"/>
              </a:rPr>
              <a:t>Slide</a:t>
            </a:r>
            <a:r>
              <a:rPr sz="1050" spc="-30">
                <a:latin typeface="Calibri"/>
                <a:cs typeface="Calibri"/>
              </a:rPr>
              <a:t> </a:t>
            </a:r>
            <a:r>
              <a:rPr sz="1050">
                <a:latin typeface="Calibri"/>
                <a:cs typeface="Calibri"/>
              </a:rPr>
              <a:t>inspiration:</a:t>
            </a:r>
            <a:r>
              <a:rPr sz="1050" spc="-10">
                <a:latin typeface="Calibri"/>
                <a:cs typeface="Calibri"/>
              </a:rPr>
              <a:t> Justin</a:t>
            </a:r>
            <a:r>
              <a:rPr sz="1050" spc="-50">
                <a:latin typeface="Calibri"/>
                <a:cs typeface="Calibri"/>
              </a:rPr>
              <a:t> </a:t>
            </a:r>
            <a:r>
              <a:rPr sz="1050" spc="-10">
                <a:latin typeface="Calibri"/>
                <a:cs typeface="Calibri"/>
              </a:rPr>
              <a:t>Johnson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4" name="object 5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28</a:t>
            </a:fld>
            <a:endParaRPr spc="-25"/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>
              <a:lnSpc>
                <a:spcPts val="1810"/>
              </a:lnSpc>
            </a:pPr>
            <a:r>
              <a:t>April 1,</a:t>
            </a:r>
            <a:r>
              <a:rPr spc="-35"/>
              <a:t> </a:t>
            </a:r>
            <a:r>
              <a:rPr spc="-20"/>
              <a:t>2025</a:t>
            </a:r>
          </a:p>
        </p:txBody>
      </p:sp>
      <p:sp>
        <p:nvSpPr>
          <p:cNvPr id="56" name="object 5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t>CS231n:</a:t>
            </a:r>
            <a:r>
              <a:rPr spc="-5"/>
              <a:t> </a:t>
            </a:r>
            <a:r>
              <a:t>Lecture</a:t>
            </a:r>
            <a:r>
              <a:rPr spc="95"/>
              <a:t> </a:t>
            </a:r>
            <a:r>
              <a:t>1</a:t>
            </a:r>
            <a:r>
              <a:rPr spc="15"/>
              <a:t> </a:t>
            </a:r>
            <a:r>
              <a:rPr spc="-50"/>
              <a:t>-</a:t>
            </a:r>
          </a:p>
        </p:txBody>
      </p:sp>
      <p:sp>
        <p:nvSpPr>
          <p:cNvPr id="57" name="object 57"/>
          <p:cNvSpPr txBox="1"/>
          <p:nvPr/>
        </p:nvSpPr>
        <p:spPr>
          <a:xfrm>
            <a:off x="307657" y="4910517"/>
            <a:ext cx="2085339" cy="1536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Fei-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Fei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Li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9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Ehsan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Adeli</a:t>
            </a: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90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Zane Durante</a:t>
            </a:r>
            <a:endParaRPr sz="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69130" y="4872354"/>
            <a:ext cx="1478280" cy="2203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>
                <a:solidFill>
                  <a:srgbClr val="FFFFFF"/>
                </a:solidFill>
                <a:latin typeface="Arial MT"/>
                <a:cs typeface="Arial MT"/>
              </a:rPr>
              <a:t>CS231n:</a:t>
            </a:r>
            <a:r>
              <a:rPr sz="12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50">
                <a:solidFill>
                  <a:srgbClr val="FFFFFF"/>
                </a:solidFill>
                <a:latin typeface="Arial MT"/>
                <a:cs typeface="Arial MT"/>
              </a:rPr>
              <a:t>Lecture</a:t>
            </a:r>
            <a:r>
              <a:rPr sz="1250" spc="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50">
                <a:solidFill>
                  <a:srgbClr val="FFFFFF"/>
                </a:solidFill>
                <a:latin typeface="Arial MT"/>
                <a:cs typeface="Arial MT"/>
              </a:rPr>
              <a:t>1</a:t>
            </a:r>
            <a:r>
              <a:rPr sz="1250" spc="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50" spc="-50">
                <a:solidFill>
                  <a:srgbClr val="FFFFFF"/>
                </a:solidFill>
                <a:latin typeface="Arial MT"/>
                <a:cs typeface="Arial MT"/>
              </a:rPr>
              <a:t>-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657" y="4899659"/>
            <a:ext cx="2085339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Fei-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Fei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Li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9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Ehsan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Adeli</a:t>
            </a: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90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Zane Durante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47700" y="4133850"/>
            <a:ext cx="0" cy="171450"/>
          </a:xfrm>
          <a:custGeom>
            <a:avLst/>
            <a:gdLst/>
            <a:ahLst/>
            <a:cxnLst/>
            <a:rect l="l" t="t" r="r" b="b"/>
            <a:pathLst>
              <a:path h="171450">
                <a:moveTo>
                  <a:pt x="0" y="17145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66687" y="3862387"/>
            <a:ext cx="885825" cy="2762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800" spc="-20">
                <a:latin typeface="Calibri"/>
                <a:cs typeface="Calibri"/>
              </a:rPr>
              <a:t>1959</a:t>
            </a:r>
            <a:endParaRPr sz="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sz="800">
                <a:latin typeface="Calibri"/>
                <a:cs typeface="Calibri"/>
              </a:rPr>
              <a:t>Hubel</a:t>
            </a:r>
            <a:r>
              <a:rPr sz="800" spc="-20">
                <a:latin typeface="Calibri"/>
                <a:cs typeface="Calibri"/>
              </a:rPr>
              <a:t> </a:t>
            </a:r>
            <a:r>
              <a:rPr sz="800">
                <a:latin typeface="Calibri"/>
                <a:cs typeface="Calibri"/>
              </a:rPr>
              <a:t>&amp;</a:t>
            </a:r>
            <a:r>
              <a:rPr sz="800" spc="-15">
                <a:latin typeface="Calibri"/>
                <a:cs typeface="Calibri"/>
              </a:rPr>
              <a:t> </a:t>
            </a:r>
            <a:r>
              <a:rPr sz="800" spc="-10">
                <a:latin typeface="Calibri"/>
                <a:cs typeface="Calibri"/>
              </a:rPr>
              <a:t>Wiesel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200150" y="4133850"/>
            <a:ext cx="0" cy="171450"/>
          </a:xfrm>
          <a:custGeom>
            <a:avLst/>
            <a:gdLst/>
            <a:ahLst/>
            <a:cxnLst/>
            <a:rect l="l" t="t" r="r" b="b"/>
            <a:pathLst>
              <a:path h="171450">
                <a:moveTo>
                  <a:pt x="0" y="17145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96181" y="3862387"/>
            <a:ext cx="656590" cy="2762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R="8890" algn="ctr">
              <a:lnSpc>
                <a:spcPts val="1040"/>
              </a:lnSpc>
            </a:pPr>
            <a:r>
              <a:rPr sz="900" spc="-20">
                <a:latin typeface="Calibri"/>
                <a:cs typeface="Calibri"/>
              </a:rPr>
              <a:t>1963</a:t>
            </a:r>
            <a:endParaRPr sz="900">
              <a:latin typeface="Calibri"/>
              <a:cs typeface="Calibri"/>
            </a:endParaRPr>
          </a:p>
          <a:p>
            <a:pPr marR="10795" algn="ctr">
              <a:lnSpc>
                <a:spcPct val="100000"/>
              </a:lnSpc>
              <a:spcBef>
                <a:spcPts val="45"/>
              </a:spcBef>
            </a:pPr>
            <a:r>
              <a:rPr sz="900" spc="-10">
                <a:latin typeface="Calibri"/>
                <a:cs typeface="Calibri"/>
              </a:rPr>
              <a:t>Roberts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847975" y="4133850"/>
            <a:ext cx="0" cy="171450"/>
          </a:xfrm>
          <a:custGeom>
            <a:avLst/>
            <a:gdLst/>
            <a:ahLst/>
            <a:cxnLst/>
            <a:rect l="l" t="t" r="r" b="b"/>
            <a:pathLst>
              <a:path h="171450">
                <a:moveTo>
                  <a:pt x="0" y="17145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026475" y="3862387"/>
            <a:ext cx="883919" cy="2762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540" algn="ctr">
              <a:lnSpc>
                <a:spcPts val="1040"/>
              </a:lnSpc>
            </a:pPr>
            <a:r>
              <a:rPr sz="900" spc="-10">
                <a:latin typeface="Calibri"/>
                <a:cs typeface="Calibri"/>
              </a:rPr>
              <a:t>1970s</a:t>
            </a:r>
            <a:endParaRPr sz="900">
              <a:latin typeface="Calibri"/>
              <a:cs typeface="Calibri"/>
            </a:endParaRPr>
          </a:p>
          <a:p>
            <a:pPr marL="7620" algn="ctr">
              <a:lnSpc>
                <a:spcPct val="100000"/>
              </a:lnSpc>
              <a:spcBef>
                <a:spcPts val="45"/>
              </a:spcBef>
            </a:pPr>
            <a:r>
              <a:rPr sz="900" spc="-10">
                <a:latin typeface="Calibri"/>
                <a:cs typeface="Calibri"/>
              </a:rPr>
              <a:t>David </a:t>
            </a:r>
            <a:r>
              <a:rPr sz="900" spc="-20">
                <a:latin typeface="Calibri"/>
                <a:cs typeface="Calibri"/>
              </a:rPr>
              <a:t>Marr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390900" y="4133850"/>
            <a:ext cx="0" cy="171450"/>
          </a:xfrm>
          <a:custGeom>
            <a:avLst/>
            <a:gdLst/>
            <a:ahLst/>
            <a:cxnLst/>
            <a:rect l="l" t="t" r="r" b="b"/>
            <a:pathLst>
              <a:path h="171450">
                <a:moveTo>
                  <a:pt x="0" y="17145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976626" y="3862387"/>
            <a:ext cx="1038225" cy="2762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175" algn="ctr">
              <a:lnSpc>
                <a:spcPts val="1040"/>
              </a:lnSpc>
            </a:pPr>
            <a:r>
              <a:rPr sz="900" spc="-20">
                <a:latin typeface="Calibri"/>
                <a:cs typeface="Calibri"/>
              </a:rPr>
              <a:t>1979</a:t>
            </a:r>
            <a:endParaRPr sz="900">
              <a:latin typeface="Calibri"/>
              <a:cs typeface="Calibri"/>
            </a:endParaRPr>
          </a:p>
          <a:p>
            <a:pPr marL="4445" algn="ctr">
              <a:lnSpc>
                <a:spcPct val="100000"/>
              </a:lnSpc>
              <a:spcBef>
                <a:spcPts val="45"/>
              </a:spcBef>
            </a:pPr>
            <a:r>
              <a:rPr sz="900">
                <a:latin typeface="Calibri"/>
                <a:cs typeface="Calibri"/>
              </a:rPr>
              <a:t>Gen.</a:t>
            </a:r>
            <a:r>
              <a:rPr sz="900" spc="5">
                <a:latin typeface="Calibri"/>
                <a:cs typeface="Calibri"/>
              </a:rPr>
              <a:t> </a:t>
            </a:r>
            <a:r>
              <a:rPr sz="900" spc="-10">
                <a:latin typeface="Calibri"/>
                <a:cs typeface="Calibri"/>
              </a:rPr>
              <a:t>Cylinders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352925" y="4133850"/>
            <a:ext cx="0" cy="171450"/>
          </a:xfrm>
          <a:custGeom>
            <a:avLst/>
            <a:gdLst/>
            <a:ahLst/>
            <a:cxnLst/>
            <a:rect l="l" t="t" r="r" b="b"/>
            <a:pathLst>
              <a:path h="171450">
                <a:moveTo>
                  <a:pt x="0" y="17145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129151" y="3862387"/>
            <a:ext cx="561975" cy="2762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67640">
              <a:lnSpc>
                <a:spcPts val="1040"/>
              </a:lnSpc>
            </a:pPr>
            <a:r>
              <a:rPr sz="900" spc="-20">
                <a:latin typeface="Calibri"/>
                <a:cs typeface="Calibri"/>
              </a:rPr>
              <a:t>1986</a:t>
            </a:r>
            <a:endParaRPr sz="900">
              <a:latin typeface="Calibri"/>
              <a:cs typeface="Calibri"/>
            </a:endParaRPr>
          </a:p>
          <a:p>
            <a:pPr marL="138430">
              <a:lnSpc>
                <a:spcPct val="100000"/>
              </a:lnSpc>
              <a:spcBef>
                <a:spcPts val="45"/>
              </a:spcBef>
            </a:pPr>
            <a:r>
              <a:rPr sz="900" spc="-10">
                <a:latin typeface="Calibri"/>
                <a:cs typeface="Calibri"/>
              </a:rPr>
              <a:t>Canny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819775" y="4133850"/>
            <a:ext cx="0" cy="171450"/>
          </a:xfrm>
          <a:custGeom>
            <a:avLst/>
            <a:gdLst/>
            <a:ahLst/>
            <a:cxnLst/>
            <a:rect l="l" t="t" r="r" b="b"/>
            <a:pathLst>
              <a:path h="171450">
                <a:moveTo>
                  <a:pt x="0" y="17145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072126" y="3862387"/>
            <a:ext cx="751840" cy="2762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0795" algn="ctr">
              <a:lnSpc>
                <a:spcPts val="1040"/>
              </a:lnSpc>
            </a:pPr>
            <a:r>
              <a:rPr sz="900" spc="-20">
                <a:latin typeface="Calibri"/>
                <a:cs typeface="Calibri"/>
              </a:rPr>
              <a:t>1997</a:t>
            </a:r>
            <a:endParaRPr sz="900">
              <a:latin typeface="Calibri"/>
              <a:cs typeface="Calibri"/>
            </a:endParaRPr>
          </a:p>
          <a:p>
            <a:pPr marL="8890" algn="ctr">
              <a:lnSpc>
                <a:spcPct val="100000"/>
              </a:lnSpc>
              <a:spcBef>
                <a:spcPts val="45"/>
              </a:spcBef>
            </a:pPr>
            <a:r>
              <a:rPr sz="900">
                <a:latin typeface="Calibri"/>
                <a:cs typeface="Calibri"/>
              </a:rPr>
              <a:t>Norm.</a:t>
            </a:r>
            <a:r>
              <a:rPr sz="900" spc="10">
                <a:latin typeface="Calibri"/>
                <a:cs typeface="Calibri"/>
              </a:rPr>
              <a:t> </a:t>
            </a:r>
            <a:r>
              <a:rPr sz="900" spc="-20">
                <a:latin typeface="Calibri"/>
                <a:cs typeface="Calibri"/>
              </a:rPr>
              <a:t>Cuts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354826" y="3849687"/>
            <a:ext cx="454025" cy="474980"/>
            <a:chOff x="6354826" y="3849687"/>
            <a:chExt cx="454025" cy="474980"/>
          </a:xfrm>
        </p:grpSpPr>
        <p:sp>
          <p:nvSpPr>
            <p:cNvPr id="17" name="object 17"/>
            <p:cNvSpPr/>
            <p:nvPr/>
          </p:nvSpPr>
          <p:spPr>
            <a:xfrm>
              <a:off x="6457950" y="4133850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17145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367526" y="3862387"/>
              <a:ext cx="428625" cy="276225"/>
            </a:xfrm>
            <a:custGeom>
              <a:avLst/>
              <a:gdLst/>
              <a:ahLst/>
              <a:cxnLst/>
              <a:rect l="l" t="t" r="r" b="b"/>
              <a:pathLst>
                <a:path w="428625" h="276225">
                  <a:moveTo>
                    <a:pt x="0" y="276225"/>
                  </a:moveTo>
                  <a:lnTo>
                    <a:pt x="428625" y="276225"/>
                  </a:lnTo>
                  <a:lnTo>
                    <a:pt x="428625" y="0"/>
                  </a:lnTo>
                  <a:lnTo>
                    <a:pt x="0" y="0"/>
                  </a:lnTo>
                  <a:lnTo>
                    <a:pt x="0" y="276225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380226" y="3844607"/>
            <a:ext cx="422275" cy="306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100"/>
              </a:spcBef>
            </a:pPr>
            <a:r>
              <a:rPr sz="900" spc="-20">
                <a:latin typeface="Calibri"/>
                <a:cs typeface="Calibri"/>
              </a:rPr>
              <a:t>2001</a:t>
            </a:r>
            <a:endParaRPr sz="900">
              <a:latin typeface="Calibri"/>
              <a:cs typeface="Calibri"/>
            </a:endParaRPr>
          </a:p>
          <a:p>
            <a:pPr marL="113664">
              <a:lnSpc>
                <a:spcPct val="100000"/>
              </a:lnSpc>
              <a:spcBef>
                <a:spcPts val="45"/>
              </a:spcBef>
            </a:pPr>
            <a:r>
              <a:rPr sz="900" spc="-25">
                <a:latin typeface="Calibri"/>
                <a:cs typeface="Calibri"/>
              </a:rPr>
              <a:t>V&amp;J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134100" y="4133850"/>
            <a:ext cx="0" cy="171450"/>
          </a:xfrm>
          <a:custGeom>
            <a:avLst/>
            <a:gdLst/>
            <a:ahLst/>
            <a:cxnLst/>
            <a:rect l="l" t="t" r="r" b="b"/>
            <a:pathLst>
              <a:path h="171450">
                <a:moveTo>
                  <a:pt x="0" y="17145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5891276" y="3862387"/>
            <a:ext cx="400050" cy="2762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2075">
              <a:lnSpc>
                <a:spcPts val="1040"/>
              </a:lnSpc>
            </a:pPr>
            <a:r>
              <a:rPr sz="900" spc="-20">
                <a:latin typeface="Calibri"/>
                <a:cs typeface="Calibri"/>
              </a:rPr>
              <a:t>1999</a:t>
            </a:r>
            <a:endParaRPr sz="900">
              <a:latin typeface="Calibri"/>
              <a:cs typeface="Calibri"/>
            </a:endParaRPr>
          </a:p>
          <a:p>
            <a:pPr marL="111760">
              <a:lnSpc>
                <a:spcPct val="100000"/>
              </a:lnSpc>
              <a:spcBef>
                <a:spcPts val="45"/>
              </a:spcBef>
            </a:pPr>
            <a:r>
              <a:rPr sz="900" spc="-20">
                <a:latin typeface="Calibri"/>
                <a:cs typeface="Calibri"/>
              </a:rPr>
              <a:t>SIFT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7219950" y="3849687"/>
            <a:ext cx="979805" cy="474980"/>
            <a:chOff x="7219950" y="3849687"/>
            <a:chExt cx="979805" cy="474980"/>
          </a:xfrm>
        </p:grpSpPr>
        <p:sp>
          <p:nvSpPr>
            <p:cNvPr id="23" name="object 23"/>
            <p:cNvSpPr/>
            <p:nvPr/>
          </p:nvSpPr>
          <p:spPr>
            <a:xfrm>
              <a:off x="7239000" y="4133850"/>
              <a:ext cx="266700" cy="171450"/>
            </a:xfrm>
            <a:custGeom>
              <a:avLst/>
              <a:gdLst/>
              <a:ahLst/>
              <a:cxnLst/>
              <a:rect l="l" t="t" r="r" b="b"/>
              <a:pathLst>
                <a:path w="266700" h="171450">
                  <a:moveTo>
                    <a:pt x="0" y="171450"/>
                  </a:moveTo>
                  <a:lnTo>
                    <a:pt x="0" y="0"/>
                  </a:lnTo>
                </a:path>
                <a:path w="266700" h="171450">
                  <a:moveTo>
                    <a:pt x="266700" y="171450"/>
                  </a:moveTo>
                  <a:lnTo>
                    <a:pt x="26670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501000" y="3862387"/>
              <a:ext cx="685800" cy="276225"/>
            </a:xfrm>
            <a:custGeom>
              <a:avLst/>
              <a:gdLst/>
              <a:ahLst/>
              <a:cxnLst/>
              <a:rect l="l" t="t" r="r" b="b"/>
              <a:pathLst>
                <a:path w="685800" h="276225">
                  <a:moveTo>
                    <a:pt x="0" y="276225"/>
                  </a:moveTo>
                  <a:lnTo>
                    <a:pt x="685800" y="276225"/>
                  </a:lnTo>
                  <a:lnTo>
                    <a:pt x="685800" y="0"/>
                  </a:lnTo>
                  <a:lnTo>
                    <a:pt x="0" y="0"/>
                  </a:lnTo>
                  <a:lnTo>
                    <a:pt x="0" y="276225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7500175" y="3844607"/>
            <a:ext cx="674370" cy="306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" algn="ctr">
              <a:lnSpc>
                <a:spcPct val="100000"/>
              </a:lnSpc>
              <a:spcBef>
                <a:spcPts val="100"/>
              </a:spcBef>
            </a:pPr>
            <a:r>
              <a:rPr sz="900" spc="-20">
                <a:latin typeface="Calibri"/>
                <a:cs typeface="Calibri"/>
              </a:rPr>
              <a:t>2009</a:t>
            </a:r>
            <a:endParaRPr sz="900">
              <a:latin typeface="Calibri"/>
              <a:cs typeface="Calibri"/>
            </a:endParaRPr>
          </a:p>
          <a:p>
            <a:pPr marL="20955" algn="ctr">
              <a:lnSpc>
                <a:spcPct val="100000"/>
              </a:lnSpc>
              <a:spcBef>
                <a:spcPts val="45"/>
              </a:spcBef>
            </a:pPr>
            <a:r>
              <a:rPr sz="900" spc="-10">
                <a:latin typeface="Calibri"/>
                <a:cs typeface="Calibri"/>
              </a:rPr>
              <a:t>ImageNet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0" y="0"/>
            <a:ext cx="9144000" cy="3752850"/>
            <a:chOff x="0" y="0"/>
            <a:chExt cx="9144000" cy="3752850"/>
          </a:xfrm>
        </p:grpSpPr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3999" cy="375285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8624" y="180975"/>
              <a:ext cx="8286750" cy="552450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247650" y="1581150"/>
            <a:ext cx="4905375" cy="1238250"/>
          </a:xfrm>
          <a:prstGeom prst="rect">
            <a:avLst/>
          </a:prstGeom>
          <a:solidFill>
            <a:srgbClr val="FFFFFF">
              <a:alpha val="94900"/>
            </a:srgbClr>
          </a:solidFill>
        </p:spPr>
        <p:txBody>
          <a:bodyPr vert="horz" wrap="square" lIns="0" tIns="69215" rIns="0" bIns="0" rtlCol="0">
            <a:spAutoFit/>
          </a:bodyPr>
          <a:lstStyle/>
          <a:p>
            <a:pPr marL="5080" algn="ctr">
              <a:lnSpc>
                <a:spcPct val="100000"/>
              </a:lnSpc>
              <a:spcBef>
                <a:spcPts val="545"/>
              </a:spcBef>
            </a:pPr>
            <a:r>
              <a:rPr sz="2100" spc="-245">
                <a:latin typeface="Arial MT"/>
                <a:cs typeface="Arial MT"/>
              </a:rPr>
              <a:t>The</a:t>
            </a:r>
            <a:r>
              <a:rPr sz="2100" spc="-40">
                <a:latin typeface="Arial MT"/>
                <a:cs typeface="Arial MT"/>
              </a:rPr>
              <a:t> </a:t>
            </a:r>
            <a:r>
              <a:rPr sz="2100" spc="-130">
                <a:latin typeface="Arial MT"/>
                <a:cs typeface="Arial MT"/>
              </a:rPr>
              <a:t>Image</a:t>
            </a:r>
            <a:r>
              <a:rPr sz="2100" spc="-40">
                <a:latin typeface="Arial MT"/>
                <a:cs typeface="Arial MT"/>
              </a:rPr>
              <a:t> </a:t>
            </a:r>
            <a:r>
              <a:rPr sz="2100" spc="-110">
                <a:latin typeface="Arial MT"/>
                <a:cs typeface="Arial MT"/>
              </a:rPr>
              <a:t>Classification</a:t>
            </a:r>
            <a:r>
              <a:rPr sz="2100" spc="10">
                <a:latin typeface="Arial MT"/>
                <a:cs typeface="Arial MT"/>
              </a:rPr>
              <a:t> </a:t>
            </a:r>
            <a:r>
              <a:rPr sz="2100" spc="-10">
                <a:latin typeface="Arial MT"/>
                <a:cs typeface="Arial MT"/>
              </a:rPr>
              <a:t>Challenge:</a:t>
            </a:r>
            <a:endParaRPr sz="21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560"/>
              </a:spcBef>
            </a:pPr>
            <a:r>
              <a:rPr sz="2100" spc="-10">
                <a:latin typeface="Arial MT"/>
                <a:cs typeface="Arial MT"/>
              </a:rPr>
              <a:t>1,000</a:t>
            </a:r>
            <a:r>
              <a:rPr sz="2100" spc="-125">
                <a:latin typeface="Arial MT"/>
                <a:cs typeface="Arial MT"/>
              </a:rPr>
              <a:t> </a:t>
            </a:r>
            <a:r>
              <a:rPr sz="2100" spc="-75">
                <a:latin typeface="Arial MT"/>
                <a:cs typeface="Arial MT"/>
              </a:rPr>
              <a:t>object</a:t>
            </a:r>
            <a:r>
              <a:rPr sz="2100" spc="-65">
                <a:latin typeface="Arial MT"/>
                <a:cs typeface="Arial MT"/>
              </a:rPr>
              <a:t> </a:t>
            </a:r>
            <a:r>
              <a:rPr sz="2100" spc="-70">
                <a:latin typeface="Arial MT"/>
                <a:cs typeface="Arial MT"/>
              </a:rPr>
              <a:t>classes</a:t>
            </a:r>
            <a:endParaRPr sz="2100">
              <a:latin typeface="Arial MT"/>
              <a:cs typeface="Arial MT"/>
            </a:endParaRPr>
          </a:p>
          <a:p>
            <a:pPr marL="3175" algn="ctr">
              <a:lnSpc>
                <a:spcPct val="100000"/>
              </a:lnSpc>
              <a:spcBef>
                <a:spcPts val="484"/>
              </a:spcBef>
            </a:pPr>
            <a:r>
              <a:rPr sz="2100" spc="-30">
                <a:latin typeface="Arial MT"/>
                <a:cs typeface="Arial MT"/>
              </a:rPr>
              <a:t>1,431,167</a:t>
            </a:r>
            <a:r>
              <a:rPr sz="2100" spc="-65">
                <a:latin typeface="Arial MT"/>
                <a:cs typeface="Arial MT"/>
              </a:rPr>
              <a:t> </a:t>
            </a:r>
            <a:r>
              <a:rPr sz="2100" spc="-10">
                <a:latin typeface="Arial MT"/>
                <a:cs typeface="Arial MT"/>
              </a:rPr>
              <a:t>images</a:t>
            </a:r>
            <a:endParaRPr sz="2100">
              <a:latin typeface="Arial MT"/>
              <a:cs typeface="Arial MT"/>
            </a:endParaRPr>
          </a:p>
        </p:txBody>
      </p:sp>
      <p:pic>
        <p:nvPicPr>
          <p:cNvPr id="30" name="object 3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00700" y="1495425"/>
            <a:ext cx="1857375" cy="1390650"/>
          </a:xfrm>
          <a:prstGeom prst="rect">
            <a:avLst/>
          </a:prstGeom>
        </p:spPr>
      </p:pic>
      <p:sp>
        <p:nvSpPr>
          <p:cNvPr id="31" name="object 31"/>
          <p:cNvSpPr txBox="1"/>
          <p:nvPr/>
        </p:nvSpPr>
        <p:spPr>
          <a:xfrm>
            <a:off x="7577201" y="1471675"/>
            <a:ext cx="1266825" cy="1476375"/>
          </a:xfrm>
          <a:prstGeom prst="rect">
            <a:avLst/>
          </a:prstGeom>
          <a:solidFill>
            <a:srgbClr val="FFFFFF">
              <a:alpha val="89019"/>
            </a:srgbClr>
          </a:solidFill>
          <a:ln w="9525">
            <a:solidFill>
              <a:srgbClr val="000000"/>
            </a:solidFill>
          </a:ln>
        </p:spPr>
        <p:txBody>
          <a:bodyPr vert="horz" wrap="square" lIns="0" tIns="33020" rIns="0" bIns="0" rtlCol="0">
            <a:spAutoFit/>
          </a:bodyPr>
          <a:lstStyle/>
          <a:p>
            <a:pPr marL="412750" marR="327660" indent="-75565">
              <a:lnSpc>
                <a:spcPct val="100000"/>
              </a:lnSpc>
              <a:spcBef>
                <a:spcPts val="260"/>
              </a:spcBef>
            </a:pPr>
            <a:r>
              <a:rPr sz="1500" b="1" spc="-114">
                <a:latin typeface="Arial"/>
                <a:cs typeface="Arial"/>
              </a:rPr>
              <a:t>Output: </a:t>
            </a:r>
            <a:r>
              <a:rPr sz="1500" spc="-10">
                <a:latin typeface="Arial MT"/>
                <a:cs typeface="Arial MT"/>
              </a:rPr>
              <a:t>Scale </a:t>
            </a:r>
            <a:r>
              <a:rPr sz="1500" spc="-190">
                <a:latin typeface="Arial MT"/>
                <a:cs typeface="Arial MT"/>
              </a:rPr>
              <a:t>T-</a:t>
            </a:r>
            <a:r>
              <a:rPr sz="1500" spc="-10">
                <a:latin typeface="Arial MT"/>
                <a:cs typeface="Arial MT"/>
              </a:rPr>
              <a:t>shirt</a:t>
            </a:r>
            <a:endParaRPr sz="1500">
              <a:latin typeface="Arial MT"/>
              <a:cs typeface="Arial MT"/>
            </a:endParaRPr>
          </a:p>
          <a:p>
            <a:pPr marL="243840" marR="219075" indent="-16510" algn="just">
              <a:lnSpc>
                <a:spcPct val="100000"/>
              </a:lnSpc>
              <a:spcBef>
                <a:spcPts val="10"/>
              </a:spcBef>
            </a:pPr>
            <a:r>
              <a:rPr sz="1500" u="sng" spc="-10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Steel</a:t>
            </a:r>
            <a:r>
              <a:rPr sz="1500" u="sng" spc="5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1500" u="sng" spc="-11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drum</a:t>
            </a:r>
            <a:r>
              <a:rPr sz="1500" spc="-110">
                <a:latin typeface="Arial MT"/>
                <a:cs typeface="Arial MT"/>
              </a:rPr>
              <a:t> </a:t>
            </a:r>
            <a:r>
              <a:rPr sz="1500" spc="-55">
                <a:latin typeface="Arial MT"/>
                <a:cs typeface="Arial MT"/>
              </a:rPr>
              <a:t>Drumstick </a:t>
            </a:r>
            <a:r>
              <a:rPr sz="1500" spc="-100">
                <a:latin typeface="Arial MT"/>
                <a:cs typeface="Arial MT"/>
              </a:rPr>
              <a:t>Mud</a:t>
            </a:r>
            <a:r>
              <a:rPr sz="1500">
                <a:latin typeface="Arial MT"/>
                <a:cs typeface="Arial MT"/>
              </a:rPr>
              <a:t> </a:t>
            </a:r>
            <a:r>
              <a:rPr sz="1500" spc="-30">
                <a:latin typeface="Arial MT"/>
                <a:cs typeface="Arial MT"/>
              </a:rPr>
              <a:t>turtle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686550" y="3238500"/>
            <a:ext cx="2457450" cy="466725"/>
          </a:xfrm>
          <a:prstGeom prst="rect">
            <a:avLst/>
          </a:prstGeom>
          <a:solidFill>
            <a:srgbClr val="FFFFFF">
              <a:alpha val="81959"/>
            </a:srgbClr>
          </a:solidFill>
        </p:spPr>
        <p:txBody>
          <a:bodyPr vert="horz" wrap="square" lIns="0" tIns="51435" rIns="0" bIns="0" rtlCol="0">
            <a:spAutoFit/>
          </a:bodyPr>
          <a:lstStyle/>
          <a:p>
            <a:pPr marL="98425" marR="572135">
              <a:lnSpc>
                <a:spcPts val="1430"/>
              </a:lnSpc>
              <a:spcBef>
                <a:spcPts val="405"/>
              </a:spcBef>
            </a:pPr>
            <a:r>
              <a:rPr sz="1200" spc="-85">
                <a:latin typeface="Arial MT"/>
                <a:cs typeface="Arial MT"/>
              </a:rPr>
              <a:t>Deng</a:t>
            </a:r>
            <a:r>
              <a:rPr sz="1200" spc="-30">
                <a:latin typeface="Arial MT"/>
                <a:cs typeface="Arial MT"/>
              </a:rPr>
              <a:t> </a:t>
            </a:r>
            <a:r>
              <a:rPr sz="1200">
                <a:latin typeface="Arial MT"/>
                <a:cs typeface="Arial MT"/>
              </a:rPr>
              <a:t>et</a:t>
            </a:r>
            <a:r>
              <a:rPr sz="1200" spc="-60">
                <a:latin typeface="Arial MT"/>
                <a:cs typeface="Arial MT"/>
              </a:rPr>
              <a:t> </a:t>
            </a:r>
            <a:r>
              <a:rPr sz="1200" spc="-20">
                <a:latin typeface="Arial MT"/>
                <a:cs typeface="Arial MT"/>
              </a:rPr>
              <a:t>al,</a:t>
            </a:r>
            <a:r>
              <a:rPr sz="1200" spc="-40">
                <a:latin typeface="Arial MT"/>
                <a:cs typeface="Arial MT"/>
              </a:rPr>
              <a:t> </a:t>
            </a:r>
            <a:r>
              <a:rPr sz="1200" spc="-20">
                <a:latin typeface="Arial MT"/>
                <a:cs typeface="Arial MT"/>
              </a:rPr>
              <a:t>2009</a:t>
            </a:r>
            <a:r>
              <a:rPr sz="1200" spc="500">
                <a:latin typeface="Arial MT"/>
                <a:cs typeface="Arial MT"/>
              </a:rPr>
              <a:t> </a:t>
            </a:r>
            <a:r>
              <a:rPr sz="1200" spc="-125">
                <a:latin typeface="Arial MT"/>
                <a:cs typeface="Arial MT"/>
              </a:rPr>
              <a:t>Russakovsky</a:t>
            </a:r>
            <a:r>
              <a:rPr sz="1200" spc="-25">
                <a:latin typeface="Arial MT"/>
                <a:cs typeface="Arial MT"/>
              </a:rPr>
              <a:t> </a:t>
            </a:r>
            <a:r>
              <a:rPr sz="1200">
                <a:latin typeface="Arial MT"/>
                <a:cs typeface="Arial MT"/>
              </a:rPr>
              <a:t>et</a:t>
            </a:r>
            <a:r>
              <a:rPr sz="1200" spc="-30">
                <a:latin typeface="Arial MT"/>
                <a:cs typeface="Arial MT"/>
              </a:rPr>
              <a:t> </a:t>
            </a:r>
            <a:r>
              <a:rPr sz="1200" spc="-20">
                <a:latin typeface="Arial MT"/>
                <a:cs typeface="Arial MT"/>
              </a:rPr>
              <a:t>al.</a:t>
            </a:r>
            <a:r>
              <a:rPr sz="1200" spc="-15">
                <a:latin typeface="Arial MT"/>
                <a:cs typeface="Arial MT"/>
              </a:rPr>
              <a:t> </a:t>
            </a:r>
            <a:r>
              <a:rPr sz="1200" spc="-125">
                <a:latin typeface="Arial MT"/>
                <a:cs typeface="Arial MT"/>
              </a:rPr>
              <a:t>IJCV</a:t>
            </a:r>
            <a:r>
              <a:rPr sz="1200" spc="-15">
                <a:latin typeface="Arial MT"/>
                <a:cs typeface="Arial MT"/>
              </a:rPr>
              <a:t> </a:t>
            </a:r>
            <a:r>
              <a:rPr sz="1200" spc="-20">
                <a:latin typeface="Arial MT"/>
                <a:cs typeface="Arial MT"/>
              </a:rPr>
              <a:t>2015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6834251" y="3862387"/>
            <a:ext cx="628650" cy="276225"/>
          </a:xfrm>
          <a:custGeom>
            <a:avLst/>
            <a:gdLst/>
            <a:ahLst/>
            <a:cxnLst/>
            <a:rect l="l" t="t" r="r" b="b"/>
            <a:pathLst>
              <a:path w="628650" h="276225">
                <a:moveTo>
                  <a:pt x="0" y="276225"/>
                </a:moveTo>
                <a:lnTo>
                  <a:pt x="628650" y="276225"/>
                </a:lnTo>
                <a:lnTo>
                  <a:pt x="628650" y="0"/>
                </a:lnTo>
                <a:lnTo>
                  <a:pt x="0" y="0"/>
                </a:lnTo>
                <a:lnTo>
                  <a:pt x="0" y="276225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6827901" y="3843972"/>
            <a:ext cx="647065" cy="308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00"/>
              </a:spcBef>
            </a:pPr>
            <a:r>
              <a:rPr sz="600">
                <a:latin typeface="Calibri"/>
                <a:cs typeface="Calibri"/>
              </a:rPr>
              <a:t>2004,</a:t>
            </a:r>
            <a:r>
              <a:rPr sz="600" spc="-20">
                <a:latin typeface="Calibri"/>
                <a:cs typeface="Calibri"/>
              </a:rPr>
              <a:t> 2007</a:t>
            </a:r>
            <a:endParaRPr sz="6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sz="600" spc="-10">
                <a:latin typeface="Calibri"/>
                <a:cs typeface="Calibri"/>
              </a:rPr>
              <a:t>Caltech101;</a:t>
            </a:r>
            <a:endParaRPr sz="600">
              <a:latin typeface="Calibri"/>
              <a:cs typeface="Calibri"/>
            </a:endParaRPr>
          </a:p>
          <a:p>
            <a:pPr marL="5715" algn="ctr">
              <a:lnSpc>
                <a:spcPct val="100000"/>
              </a:lnSpc>
              <a:spcBef>
                <a:spcPts val="30"/>
              </a:spcBef>
            </a:pPr>
            <a:r>
              <a:rPr sz="600" spc="-10">
                <a:latin typeface="Calibri"/>
                <a:cs typeface="Calibri"/>
              </a:rPr>
              <a:t>PASCAL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5729351" y="4491037"/>
            <a:ext cx="542925" cy="276225"/>
          </a:xfrm>
          <a:custGeom>
            <a:avLst/>
            <a:gdLst/>
            <a:ahLst/>
            <a:cxnLst/>
            <a:rect l="l" t="t" r="r" b="b"/>
            <a:pathLst>
              <a:path w="542925" h="276225">
                <a:moveTo>
                  <a:pt x="0" y="276225"/>
                </a:moveTo>
                <a:lnTo>
                  <a:pt x="542925" y="276225"/>
                </a:lnTo>
                <a:lnTo>
                  <a:pt x="542925" y="0"/>
                </a:lnTo>
                <a:lnTo>
                  <a:pt x="0" y="0"/>
                </a:lnTo>
                <a:lnTo>
                  <a:pt x="0" y="276225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5742051" y="4469447"/>
            <a:ext cx="536575" cy="306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050">
              <a:lnSpc>
                <a:spcPct val="100000"/>
              </a:lnSpc>
              <a:spcBef>
                <a:spcPts val="100"/>
              </a:spcBef>
            </a:pPr>
            <a:r>
              <a:rPr sz="900" spc="-20">
                <a:latin typeface="Calibri"/>
                <a:cs typeface="Calibri"/>
              </a:rPr>
              <a:t>1998</a:t>
            </a:r>
            <a:endParaRPr sz="900">
              <a:latin typeface="Calibri"/>
              <a:cs typeface="Calibri"/>
            </a:endParaRPr>
          </a:p>
          <a:p>
            <a:pPr marL="123825">
              <a:lnSpc>
                <a:spcPct val="100000"/>
              </a:lnSpc>
              <a:spcBef>
                <a:spcPts val="50"/>
              </a:spcBef>
            </a:pPr>
            <a:r>
              <a:rPr sz="900" spc="-10">
                <a:latin typeface="Calibri"/>
                <a:cs typeface="Calibri"/>
              </a:rPr>
              <a:t>LeNet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144462" y="4286250"/>
            <a:ext cx="5875655" cy="484505"/>
            <a:chOff x="144462" y="4286250"/>
            <a:chExt cx="5875655" cy="484505"/>
          </a:xfrm>
        </p:grpSpPr>
        <p:sp>
          <p:nvSpPr>
            <p:cNvPr id="38" name="object 38"/>
            <p:cNvSpPr/>
            <p:nvPr/>
          </p:nvSpPr>
          <p:spPr>
            <a:xfrm>
              <a:off x="514350" y="4305300"/>
              <a:ext cx="5486400" cy="171450"/>
            </a:xfrm>
            <a:custGeom>
              <a:avLst/>
              <a:gdLst/>
              <a:ahLst/>
              <a:cxnLst/>
              <a:rect l="l" t="t" r="r" b="b"/>
              <a:pathLst>
                <a:path w="5486400" h="171450">
                  <a:moveTo>
                    <a:pt x="5486400" y="171450"/>
                  </a:moveTo>
                  <a:lnTo>
                    <a:pt x="5486400" y="0"/>
                  </a:lnTo>
                </a:path>
                <a:path w="5486400" h="171450">
                  <a:moveTo>
                    <a:pt x="0" y="17145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57162" y="4481512"/>
              <a:ext cx="819150" cy="276225"/>
            </a:xfrm>
            <a:custGeom>
              <a:avLst/>
              <a:gdLst/>
              <a:ahLst/>
              <a:cxnLst/>
              <a:rect l="l" t="t" r="r" b="b"/>
              <a:pathLst>
                <a:path w="819150" h="276225">
                  <a:moveTo>
                    <a:pt x="0" y="276225"/>
                  </a:moveTo>
                  <a:lnTo>
                    <a:pt x="819150" y="276225"/>
                  </a:lnTo>
                  <a:lnTo>
                    <a:pt x="819150" y="0"/>
                  </a:lnTo>
                  <a:lnTo>
                    <a:pt x="0" y="0"/>
                  </a:lnTo>
                  <a:lnTo>
                    <a:pt x="0" y="276225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179387" y="4461192"/>
            <a:ext cx="784225" cy="306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8255" algn="ctr">
              <a:lnSpc>
                <a:spcPct val="100000"/>
              </a:lnSpc>
              <a:spcBef>
                <a:spcPts val="100"/>
              </a:spcBef>
            </a:pPr>
            <a:r>
              <a:rPr sz="900" spc="-20">
                <a:latin typeface="Calibri"/>
                <a:cs typeface="Calibri"/>
              </a:rPr>
              <a:t>1958</a:t>
            </a:r>
            <a:endParaRPr sz="900">
              <a:latin typeface="Calibri"/>
              <a:cs typeface="Calibri"/>
            </a:endParaRPr>
          </a:p>
          <a:p>
            <a:pPr marR="10160" algn="ctr">
              <a:lnSpc>
                <a:spcPct val="100000"/>
              </a:lnSpc>
              <a:spcBef>
                <a:spcPts val="45"/>
              </a:spcBef>
            </a:pPr>
            <a:r>
              <a:rPr sz="900" spc="-10">
                <a:latin typeface="Calibri"/>
                <a:cs typeface="Calibri"/>
              </a:rPr>
              <a:t>Perceptron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1116012" y="4286250"/>
            <a:ext cx="1263650" cy="494030"/>
            <a:chOff x="1116012" y="4286250"/>
            <a:chExt cx="1263650" cy="494030"/>
          </a:xfrm>
        </p:grpSpPr>
        <p:sp>
          <p:nvSpPr>
            <p:cNvPr id="42" name="object 42"/>
            <p:cNvSpPr/>
            <p:nvPr/>
          </p:nvSpPr>
          <p:spPr>
            <a:xfrm>
              <a:off x="2019300" y="4305300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17145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128712" y="4491037"/>
              <a:ext cx="1238250" cy="276225"/>
            </a:xfrm>
            <a:custGeom>
              <a:avLst/>
              <a:gdLst/>
              <a:ahLst/>
              <a:cxnLst/>
              <a:rect l="l" t="t" r="r" b="b"/>
              <a:pathLst>
                <a:path w="1238250" h="276225">
                  <a:moveTo>
                    <a:pt x="0" y="276225"/>
                  </a:moveTo>
                  <a:lnTo>
                    <a:pt x="1238250" y="276225"/>
                  </a:lnTo>
                  <a:lnTo>
                    <a:pt x="1238250" y="0"/>
                  </a:lnTo>
                  <a:lnTo>
                    <a:pt x="0" y="0"/>
                  </a:lnTo>
                  <a:lnTo>
                    <a:pt x="0" y="276225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1141412" y="4469447"/>
            <a:ext cx="1212850" cy="306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900" spc="-20">
                <a:latin typeface="Calibri"/>
                <a:cs typeface="Calibri"/>
              </a:rPr>
              <a:t>1969</a:t>
            </a:r>
            <a:endParaRPr sz="9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0"/>
              </a:spcBef>
            </a:pPr>
            <a:r>
              <a:rPr sz="900">
                <a:latin typeface="Calibri"/>
                <a:cs typeface="Calibri"/>
              </a:rPr>
              <a:t>Minsky</a:t>
            </a:r>
            <a:r>
              <a:rPr sz="900" spc="-10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&amp;</a:t>
            </a:r>
            <a:r>
              <a:rPr sz="900" spc="-25">
                <a:latin typeface="Calibri"/>
                <a:cs typeface="Calibri"/>
              </a:rPr>
              <a:t> </a:t>
            </a:r>
            <a:r>
              <a:rPr sz="900" spc="-10">
                <a:latin typeface="Calibri"/>
                <a:cs typeface="Calibri"/>
              </a:rPr>
              <a:t>Papert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2592451" y="4286250"/>
            <a:ext cx="1025525" cy="484505"/>
            <a:chOff x="2592451" y="4286250"/>
            <a:chExt cx="1025525" cy="484505"/>
          </a:xfrm>
        </p:grpSpPr>
        <p:sp>
          <p:nvSpPr>
            <p:cNvPr id="46" name="object 46"/>
            <p:cNvSpPr/>
            <p:nvPr/>
          </p:nvSpPr>
          <p:spPr>
            <a:xfrm>
              <a:off x="3533775" y="4305300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17145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605151" y="4481512"/>
              <a:ext cx="1000125" cy="276225"/>
            </a:xfrm>
            <a:custGeom>
              <a:avLst/>
              <a:gdLst/>
              <a:ahLst/>
              <a:cxnLst/>
              <a:rect l="l" t="t" r="r" b="b"/>
              <a:pathLst>
                <a:path w="1000125" h="276225">
                  <a:moveTo>
                    <a:pt x="0" y="276225"/>
                  </a:moveTo>
                  <a:lnTo>
                    <a:pt x="1000125" y="276225"/>
                  </a:lnTo>
                  <a:lnTo>
                    <a:pt x="1000125" y="0"/>
                  </a:lnTo>
                  <a:lnTo>
                    <a:pt x="0" y="0"/>
                  </a:lnTo>
                  <a:lnTo>
                    <a:pt x="0" y="276225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2617851" y="4461192"/>
            <a:ext cx="974725" cy="306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900" spc="-20">
                <a:latin typeface="Calibri"/>
                <a:cs typeface="Calibri"/>
              </a:rPr>
              <a:t>1980</a:t>
            </a:r>
            <a:endParaRPr sz="9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45"/>
              </a:spcBef>
            </a:pPr>
            <a:r>
              <a:rPr sz="900" spc="-10">
                <a:latin typeface="Calibri"/>
                <a:cs typeface="Calibri"/>
              </a:rPr>
              <a:t>Neocognitron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3668776" y="4286250"/>
            <a:ext cx="768350" cy="494030"/>
            <a:chOff x="3668776" y="4286250"/>
            <a:chExt cx="768350" cy="494030"/>
          </a:xfrm>
        </p:grpSpPr>
        <p:sp>
          <p:nvSpPr>
            <p:cNvPr id="50" name="object 50"/>
            <p:cNvSpPr/>
            <p:nvPr/>
          </p:nvSpPr>
          <p:spPr>
            <a:xfrm>
              <a:off x="4219575" y="4305300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17145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681476" y="4491037"/>
              <a:ext cx="742950" cy="276225"/>
            </a:xfrm>
            <a:custGeom>
              <a:avLst/>
              <a:gdLst/>
              <a:ahLst/>
              <a:cxnLst/>
              <a:rect l="l" t="t" r="r" b="b"/>
              <a:pathLst>
                <a:path w="742950" h="276225">
                  <a:moveTo>
                    <a:pt x="0" y="276225"/>
                  </a:moveTo>
                  <a:lnTo>
                    <a:pt x="742950" y="276225"/>
                  </a:lnTo>
                  <a:lnTo>
                    <a:pt x="742950" y="0"/>
                  </a:lnTo>
                  <a:lnTo>
                    <a:pt x="0" y="0"/>
                  </a:lnTo>
                  <a:lnTo>
                    <a:pt x="0" y="276225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3694176" y="4469447"/>
            <a:ext cx="717550" cy="306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900" spc="-20">
                <a:latin typeface="Calibri"/>
                <a:cs typeface="Calibri"/>
              </a:rPr>
              <a:t>1985</a:t>
            </a:r>
            <a:endParaRPr sz="9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0"/>
              </a:spcBef>
            </a:pPr>
            <a:r>
              <a:rPr sz="900" spc="-10">
                <a:latin typeface="Calibri"/>
                <a:cs typeface="Calibri"/>
              </a:rPr>
              <a:t>Backprop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6548501" y="4491037"/>
            <a:ext cx="838200" cy="276225"/>
          </a:xfrm>
          <a:custGeom>
            <a:avLst/>
            <a:gdLst/>
            <a:ahLst/>
            <a:cxnLst/>
            <a:rect l="l" t="t" r="r" b="b"/>
            <a:pathLst>
              <a:path w="838200" h="276225">
                <a:moveTo>
                  <a:pt x="0" y="276225"/>
                </a:moveTo>
                <a:lnTo>
                  <a:pt x="838200" y="276225"/>
                </a:lnTo>
                <a:lnTo>
                  <a:pt x="838200" y="0"/>
                </a:lnTo>
                <a:lnTo>
                  <a:pt x="0" y="0"/>
                </a:lnTo>
                <a:lnTo>
                  <a:pt x="0" y="276225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6561201" y="4484687"/>
            <a:ext cx="812800" cy="2755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25"/>
              </a:spcBef>
            </a:pPr>
            <a:r>
              <a:rPr sz="800" spc="-20">
                <a:latin typeface="Calibri"/>
                <a:cs typeface="Calibri"/>
              </a:rPr>
              <a:t>2006</a:t>
            </a:r>
            <a:endParaRPr sz="800">
              <a:latin typeface="Calibri"/>
              <a:cs typeface="Calibri"/>
            </a:endParaRPr>
          </a:p>
          <a:p>
            <a:pPr marL="4445" algn="ctr">
              <a:lnSpc>
                <a:spcPct val="100000"/>
              </a:lnSpc>
              <a:spcBef>
                <a:spcPts val="20"/>
              </a:spcBef>
            </a:pPr>
            <a:r>
              <a:rPr sz="800" spc="-10">
                <a:latin typeface="Calibri"/>
                <a:cs typeface="Calibri"/>
              </a:rPr>
              <a:t>Deep Learning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104775" y="4305300"/>
            <a:ext cx="7827645" cy="171450"/>
          </a:xfrm>
          <a:custGeom>
            <a:avLst/>
            <a:gdLst/>
            <a:ahLst/>
            <a:cxnLst/>
            <a:rect l="l" t="t" r="r" b="b"/>
            <a:pathLst>
              <a:path w="7827645" h="171450">
                <a:moveTo>
                  <a:pt x="6991350" y="171450"/>
                </a:moveTo>
                <a:lnTo>
                  <a:pt x="6991350" y="0"/>
                </a:lnTo>
              </a:path>
              <a:path w="7827645" h="171450">
                <a:moveTo>
                  <a:pt x="0" y="0"/>
                </a:moveTo>
                <a:lnTo>
                  <a:pt x="4395851" y="0"/>
                </a:lnTo>
              </a:path>
              <a:path w="7827645" h="171450">
                <a:moveTo>
                  <a:pt x="5215001" y="0"/>
                </a:moveTo>
                <a:lnTo>
                  <a:pt x="7827645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 txBox="1"/>
          <p:nvPr/>
        </p:nvSpPr>
        <p:spPr>
          <a:xfrm>
            <a:off x="4500626" y="4205287"/>
            <a:ext cx="819150" cy="209550"/>
          </a:xfrm>
          <a:prstGeom prst="rect">
            <a:avLst/>
          </a:prstGeom>
          <a:solidFill>
            <a:srgbClr val="4F81BC"/>
          </a:solidFill>
          <a:ln w="25400">
            <a:solidFill>
              <a:srgbClr val="385D89"/>
            </a:solidFill>
          </a:ln>
        </p:spPr>
        <p:txBody>
          <a:bodyPr vert="horz" wrap="square" lIns="0" tIns="16510" rIns="0" bIns="0" rtlCol="0">
            <a:spAutoFit/>
          </a:bodyPr>
          <a:lstStyle/>
          <a:p>
            <a:pPr marL="149860">
              <a:lnSpc>
                <a:spcPct val="100000"/>
              </a:lnSpc>
              <a:spcBef>
                <a:spcPts val="130"/>
              </a:spcBef>
            </a:pPr>
            <a:r>
              <a:rPr sz="1050">
                <a:solidFill>
                  <a:srgbClr val="FFFFFF"/>
                </a:solidFill>
                <a:latin typeface="Calibri"/>
                <a:cs typeface="Calibri"/>
              </a:rPr>
              <a:t>AI</a:t>
            </a:r>
            <a:r>
              <a:rPr sz="1050" spc="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spc="-10">
                <a:solidFill>
                  <a:srgbClr val="FFFFFF"/>
                </a:solidFill>
                <a:latin typeface="Calibri"/>
                <a:cs typeface="Calibri"/>
              </a:rPr>
              <a:t>Winter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7643494" y="4822825"/>
            <a:ext cx="12077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>
                <a:solidFill>
                  <a:srgbClr val="FFFFFF"/>
                </a:solidFill>
                <a:latin typeface="Calibri"/>
                <a:cs typeface="Calibri"/>
              </a:rPr>
              <a:t>April 1,</a:t>
            </a:r>
            <a:r>
              <a:rPr sz="1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>
                <a:solidFill>
                  <a:srgbClr val="FFFFFF"/>
                </a:solidFill>
                <a:latin typeface="Calibri"/>
                <a:cs typeface="Calibri"/>
              </a:rPr>
              <a:t>2025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5647054" y="4817745"/>
            <a:ext cx="2546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>
                <a:solidFill>
                  <a:srgbClr val="FFFFFF"/>
                </a:solidFill>
                <a:latin typeface="Calibri"/>
                <a:cs typeface="Calibri"/>
              </a:rPr>
              <a:t>43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69130" y="4872354"/>
            <a:ext cx="1478280" cy="2203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>
                <a:solidFill>
                  <a:srgbClr val="FFFFFF"/>
                </a:solidFill>
                <a:latin typeface="Arial MT"/>
                <a:cs typeface="Arial MT"/>
              </a:rPr>
              <a:t>CS231n:</a:t>
            </a:r>
            <a:r>
              <a:rPr sz="12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50">
                <a:solidFill>
                  <a:srgbClr val="FFFFFF"/>
                </a:solidFill>
                <a:latin typeface="Arial MT"/>
                <a:cs typeface="Arial MT"/>
              </a:rPr>
              <a:t>Lecture</a:t>
            </a:r>
            <a:r>
              <a:rPr sz="1250" spc="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50">
                <a:solidFill>
                  <a:srgbClr val="FFFFFF"/>
                </a:solidFill>
                <a:latin typeface="Arial MT"/>
                <a:cs typeface="Arial MT"/>
              </a:rPr>
              <a:t>1</a:t>
            </a:r>
            <a:r>
              <a:rPr sz="1250" spc="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50" spc="-50">
                <a:solidFill>
                  <a:srgbClr val="FFFFFF"/>
                </a:solidFill>
                <a:latin typeface="Arial MT"/>
                <a:cs typeface="Arial MT"/>
              </a:rPr>
              <a:t>-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657" y="4899659"/>
            <a:ext cx="2085339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Fei-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Fei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Li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9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Ehsan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Adeli</a:t>
            </a: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90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Zane Durante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47700" y="4133850"/>
            <a:ext cx="0" cy="171450"/>
          </a:xfrm>
          <a:custGeom>
            <a:avLst/>
            <a:gdLst/>
            <a:ahLst/>
            <a:cxnLst/>
            <a:rect l="l" t="t" r="r" b="b"/>
            <a:pathLst>
              <a:path h="171450">
                <a:moveTo>
                  <a:pt x="0" y="17145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66687" y="3862387"/>
            <a:ext cx="885825" cy="2762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800" spc="-20">
                <a:latin typeface="Calibri"/>
                <a:cs typeface="Calibri"/>
              </a:rPr>
              <a:t>1959</a:t>
            </a:r>
            <a:endParaRPr sz="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sz="800">
                <a:latin typeface="Calibri"/>
                <a:cs typeface="Calibri"/>
              </a:rPr>
              <a:t>Hubel</a:t>
            </a:r>
            <a:r>
              <a:rPr sz="800" spc="-20">
                <a:latin typeface="Calibri"/>
                <a:cs typeface="Calibri"/>
              </a:rPr>
              <a:t> </a:t>
            </a:r>
            <a:r>
              <a:rPr sz="800">
                <a:latin typeface="Calibri"/>
                <a:cs typeface="Calibri"/>
              </a:rPr>
              <a:t>&amp;</a:t>
            </a:r>
            <a:r>
              <a:rPr sz="800" spc="-15">
                <a:latin typeface="Calibri"/>
                <a:cs typeface="Calibri"/>
              </a:rPr>
              <a:t> </a:t>
            </a:r>
            <a:r>
              <a:rPr sz="800" spc="-10">
                <a:latin typeface="Calibri"/>
                <a:cs typeface="Calibri"/>
              </a:rPr>
              <a:t>Wiesel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200150" y="4133850"/>
            <a:ext cx="0" cy="171450"/>
          </a:xfrm>
          <a:custGeom>
            <a:avLst/>
            <a:gdLst/>
            <a:ahLst/>
            <a:cxnLst/>
            <a:rect l="l" t="t" r="r" b="b"/>
            <a:pathLst>
              <a:path h="171450">
                <a:moveTo>
                  <a:pt x="0" y="17145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96181" y="3862387"/>
            <a:ext cx="656590" cy="2762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R="8890" algn="ctr">
              <a:lnSpc>
                <a:spcPts val="1040"/>
              </a:lnSpc>
            </a:pPr>
            <a:r>
              <a:rPr sz="900" spc="-20">
                <a:latin typeface="Calibri"/>
                <a:cs typeface="Calibri"/>
              </a:rPr>
              <a:t>1963</a:t>
            </a:r>
            <a:endParaRPr sz="900">
              <a:latin typeface="Calibri"/>
              <a:cs typeface="Calibri"/>
            </a:endParaRPr>
          </a:p>
          <a:p>
            <a:pPr marR="10795" algn="ctr">
              <a:lnSpc>
                <a:spcPct val="100000"/>
              </a:lnSpc>
              <a:spcBef>
                <a:spcPts val="45"/>
              </a:spcBef>
            </a:pPr>
            <a:r>
              <a:rPr sz="900" spc="-10">
                <a:latin typeface="Calibri"/>
                <a:cs typeface="Calibri"/>
              </a:rPr>
              <a:t>Roberts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847975" y="4133850"/>
            <a:ext cx="0" cy="171450"/>
          </a:xfrm>
          <a:custGeom>
            <a:avLst/>
            <a:gdLst/>
            <a:ahLst/>
            <a:cxnLst/>
            <a:rect l="l" t="t" r="r" b="b"/>
            <a:pathLst>
              <a:path h="171450">
                <a:moveTo>
                  <a:pt x="0" y="17145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026475" y="3862387"/>
            <a:ext cx="883919" cy="2762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540" algn="ctr">
              <a:lnSpc>
                <a:spcPts val="1040"/>
              </a:lnSpc>
            </a:pPr>
            <a:r>
              <a:rPr sz="900" spc="-10">
                <a:latin typeface="Calibri"/>
                <a:cs typeface="Calibri"/>
              </a:rPr>
              <a:t>1970s</a:t>
            </a:r>
            <a:endParaRPr sz="900">
              <a:latin typeface="Calibri"/>
              <a:cs typeface="Calibri"/>
            </a:endParaRPr>
          </a:p>
          <a:p>
            <a:pPr marL="7620" algn="ctr">
              <a:lnSpc>
                <a:spcPct val="100000"/>
              </a:lnSpc>
              <a:spcBef>
                <a:spcPts val="45"/>
              </a:spcBef>
            </a:pPr>
            <a:r>
              <a:rPr sz="900" spc="-10">
                <a:latin typeface="Calibri"/>
                <a:cs typeface="Calibri"/>
              </a:rPr>
              <a:t>David </a:t>
            </a:r>
            <a:r>
              <a:rPr sz="900" spc="-20">
                <a:latin typeface="Calibri"/>
                <a:cs typeface="Calibri"/>
              </a:rPr>
              <a:t>Marr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390900" y="4133850"/>
            <a:ext cx="0" cy="171450"/>
          </a:xfrm>
          <a:custGeom>
            <a:avLst/>
            <a:gdLst/>
            <a:ahLst/>
            <a:cxnLst/>
            <a:rect l="l" t="t" r="r" b="b"/>
            <a:pathLst>
              <a:path h="171450">
                <a:moveTo>
                  <a:pt x="0" y="17145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976626" y="3862387"/>
            <a:ext cx="1038225" cy="2762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175" algn="ctr">
              <a:lnSpc>
                <a:spcPts val="1040"/>
              </a:lnSpc>
            </a:pPr>
            <a:r>
              <a:rPr sz="900" spc="-20">
                <a:latin typeface="Calibri"/>
                <a:cs typeface="Calibri"/>
              </a:rPr>
              <a:t>1979</a:t>
            </a:r>
            <a:endParaRPr sz="900">
              <a:latin typeface="Calibri"/>
              <a:cs typeface="Calibri"/>
            </a:endParaRPr>
          </a:p>
          <a:p>
            <a:pPr marL="4445" algn="ctr">
              <a:lnSpc>
                <a:spcPct val="100000"/>
              </a:lnSpc>
              <a:spcBef>
                <a:spcPts val="45"/>
              </a:spcBef>
            </a:pPr>
            <a:r>
              <a:rPr sz="900">
                <a:latin typeface="Calibri"/>
                <a:cs typeface="Calibri"/>
              </a:rPr>
              <a:t>Gen.</a:t>
            </a:r>
            <a:r>
              <a:rPr sz="900" spc="5">
                <a:latin typeface="Calibri"/>
                <a:cs typeface="Calibri"/>
              </a:rPr>
              <a:t> </a:t>
            </a:r>
            <a:r>
              <a:rPr sz="900" spc="-10">
                <a:latin typeface="Calibri"/>
                <a:cs typeface="Calibri"/>
              </a:rPr>
              <a:t>Cylinders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352925" y="4133850"/>
            <a:ext cx="0" cy="171450"/>
          </a:xfrm>
          <a:custGeom>
            <a:avLst/>
            <a:gdLst/>
            <a:ahLst/>
            <a:cxnLst/>
            <a:rect l="l" t="t" r="r" b="b"/>
            <a:pathLst>
              <a:path h="171450">
                <a:moveTo>
                  <a:pt x="0" y="17145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129151" y="3862387"/>
            <a:ext cx="561975" cy="2762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67640">
              <a:lnSpc>
                <a:spcPts val="1040"/>
              </a:lnSpc>
            </a:pPr>
            <a:r>
              <a:rPr sz="900" spc="-20">
                <a:latin typeface="Calibri"/>
                <a:cs typeface="Calibri"/>
              </a:rPr>
              <a:t>1986</a:t>
            </a:r>
            <a:endParaRPr sz="900">
              <a:latin typeface="Calibri"/>
              <a:cs typeface="Calibri"/>
            </a:endParaRPr>
          </a:p>
          <a:p>
            <a:pPr marL="138430">
              <a:lnSpc>
                <a:spcPct val="100000"/>
              </a:lnSpc>
              <a:spcBef>
                <a:spcPts val="45"/>
              </a:spcBef>
            </a:pPr>
            <a:r>
              <a:rPr sz="900" spc="-10">
                <a:latin typeface="Calibri"/>
                <a:cs typeface="Calibri"/>
              </a:rPr>
              <a:t>Canny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819775" y="4133850"/>
            <a:ext cx="0" cy="171450"/>
          </a:xfrm>
          <a:custGeom>
            <a:avLst/>
            <a:gdLst/>
            <a:ahLst/>
            <a:cxnLst/>
            <a:rect l="l" t="t" r="r" b="b"/>
            <a:pathLst>
              <a:path h="171450">
                <a:moveTo>
                  <a:pt x="0" y="17145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072126" y="3862387"/>
            <a:ext cx="751840" cy="2762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0795" algn="ctr">
              <a:lnSpc>
                <a:spcPts val="1040"/>
              </a:lnSpc>
            </a:pPr>
            <a:r>
              <a:rPr sz="900" spc="-20">
                <a:latin typeface="Calibri"/>
                <a:cs typeface="Calibri"/>
              </a:rPr>
              <a:t>1997</a:t>
            </a:r>
            <a:endParaRPr sz="900">
              <a:latin typeface="Calibri"/>
              <a:cs typeface="Calibri"/>
            </a:endParaRPr>
          </a:p>
          <a:p>
            <a:pPr marL="8890" algn="ctr">
              <a:lnSpc>
                <a:spcPct val="100000"/>
              </a:lnSpc>
              <a:spcBef>
                <a:spcPts val="45"/>
              </a:spcBef>
            </a:pPr>
            <a:r>
              <a:rPr sz="900">
                <a:latin typeface="Calibri"/>
                <a:cs typeface="Calibri"/>
              </a:rPr>
              <a:t>Norm.</a:t>
            </a:r>
            <a:r>
              <a:rPr sz="900" spc="10">
                <a:latin typeface="Calibri"/>
                <a:cs typeface="Calibri"/>
              </a:rPr>
              <a:t> </a:t>
            </a:r>
            <a:r>
              <a:rPr sz="900" spc="-20">
                <a:latin typeface="Calibri"/>
                <a:cs typeface="Calibri"/>
              </a:rPr>
              <a:t>Cuts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354826" y="3849687"/>
            <a:ext cx="454025" cy="474980"/>
            <a:chOff x="6354826" y="3849687"/>
            <a:chExt cx="454025" cy="474980"/>
          </a:xfrm>
        </p:grpSpPr>
        <p:sp>
          <p:nvSpPr>
            <p:cNvPr id="17" name="object 17"/>
            <p:cNvSpPr/>
            <p:nvPr/>
          </p:nvSpPr>
          <p:spPr>
            <a:xfrm>
              <a:off x="6457950" y="4133850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17145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367526" y="3862387"/>
              <a:ext cx="428625" cy="276225"/>
            </a:xfrm>
            <a:custGeom>
              <a:avLst/>
              <a:gdLst/>
              <a:ahLst/>
              <a:cxnLst/>
              <a:rect l="l" t="t" r="r" b="b"/>
              <a:pathLst>
                <a:path w="428625" h="276225">
                  <a:moveTo>
                    <a:pt x="0" y="276225"/>
                  </a:moveTo>
                  <a:lnTo>
                    <a:pt x="428625" y="276225"/>
                  </a:lnTo>
                  <a:lnTo>
                    <a:pt x="428625" y="0"/>
                  </a:lnTo>
                  <a:lnTo>
                    <a:pt x="0" y="0"/>
                  </a:lnTo>
                  <a:lnTo>
                    <a:pt x="0" y="276225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380226" y="3844607"/>
            <a:ext cx="422275" cy="306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100"/>
              </a:spcBef>
            </a:pPr>
            <a:r>
              <a:rPr sz="900" spc="-20">
                <a:latin typeface="Calibri"/>
                <a:cs typeface="Calibri"/>
              </a:rPr>
              <a:t>2001</a:t>
            </a:r>
            <a:endParaRPr sz="900">
              <a:latin typeface="Calibri"/>
              <a:cs typeface="Calibri"/>
            </a:endParaRPr>
          </a:p>
          <a:p>
            <a:pPr marL="113664">
              <a:lnSpc>
                <a:spcPct val="100000"/>
              </a:lnSpc>
              <a:spcBef>
                <a:spcPts val="45"/>
              </a:spcBef>
            </a:pPr>
            <a:r>
              <a:rPr sz="900" spc="-25">
                <a:latin typeface="Calibri"/>
                <a:cs typeface="Calibri"/>
              </a:rPr>
              <a:t>V&amp;J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134100" y="4133850"/>
            <a:ext cx="0" cy="171450"/>
          </a:xfrm>
          <a:custGeom>
            <a:avLst/>
            <a:gdLst/>
            <a:ahLst/>
            <a:cxnLst/>
            <a:rect l="l" t="t" r="r" b="b"/>
            <a:pathLst>
              <a:path h="171450">
                <a:moveTo>
                  <a:pt x="0" y="17145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5891276" y="3862387"/>
            <a:ext cx="400050" cy="2762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2075">
              <a:lnSpc>
                <a:spcPts val="1040"/>
              </a:lnSpc>
            </a:pPr>
            <a:r>
              <a:rPr sz="900" spc="-20">
                <a:latin typeface="Calibri"/>
                <a:cs typeface="Calibri"/>
              </a:rPr>
              <a:t>1999</a:t>
            </a:r>
            <a:endParaRPr sz="900">
              <a:latin typeface="Calibri"/>
              <a:cs typeface="Calibri"/>
            </a:endParaRPr>
          </a:p>
          <a:p>
            <a:pPr marL="111760">
              <a:lnSpc>
                <a:spcPct val="100000"/>
              </a:lnSpc>
              <a:spcBef>
                <a:spcPts val="45"/>
              </a:spcBef>
            </a:pPr>
            <a:r>
              <a:rPr sz="900" spc="-20">
                <a:latin typeface="Calibri"/>
                <a:cs typeface="Calibri"/>
              </a:rPr>
              <a:t>SIFT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7219950" y="3849687"/>
            <a:ext cx="979805" cy="474980"/>
            <a:chOff x="7219950" y="3849687"/>
            <a:chExt cx="979805" cy="474980"/>
          </a:xfrm>
        </p:grpSpPr>
        <p:sp>
          <p:nvSpPr>
            <p:cNvPr id="23" name="object 23"/>
            <p:cNvSpPr/>
            <p:nvPr/>
          </p:nvSpPr>
          <p:spPr>
            <a:xfrm>
              <a:off x="7239000" y="4133850"/>
              <a:ext cx="266700" cy="171450"/>
            </a:xfrm>
            <a:custGeom>
              <a:avLst/>
              <a:gdLst/>
              <a:ahLst/>
              <a:cxnLst/>
              <a:rect l="l" t="t" r="r" b="b"/>
              <a:pathLst>
                <a:path w="266700" h="171450">
                  <a:moveTo>
                    <a:pt x="0" y="171450"/>
                  </a:moveTo>
                  <a:lnTo>
                    <a:pt x="0" y="0"/>
                  </a:lnTo>
                </a:path>
                <a:path w="266700" h="171450">
                  <a:moveTo>
                    <a:pt x="266700" y="171450"/>
                  </a:moveTo>
                  <a:lnTo>
                    <a:pt x="26670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501000" y="3862387"/>
              <a:ext cx="685800" cy="276225"/>
            </a:xfrm>
            <a:custGeom>
              <a:avLst/>
              <a:gdLst/>
              <a:ahLst/>
              <a:cxnLst/>
              <a:rect l="l" t="t" r="r" b="b"/>
              <a:pathLst>
                <a:path w="685800" h="276225">
                  <a:moveTo>
                    <a:pt x="0" y="276225"/>
                  </a:moveTo>
                  <a:lnTo>
                    <a:pt x="685800" y="276225"/>
                  </a:lnTo>
                  <a:lnTo>
                    <a:pt x="685800" y="0"/>
                  </a:lnTo>
                  <a:lnTo>
                    <a:pt x="0" y="0"/>
                  </a:lnTo>
                  <a:lnTo>
                    <a:pt x="0" y="276225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7561326" y="3844607"/>
            <a:ext cx="612775" cy="306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5560" algn="ctr">
              <a:lnSpc>
                <a:spcPct val="100000"/>
              </a:lnSpc>
              <a:spcBef>
                <a:spcPts val="100"/>
              </a:spcBef>
            </a:pPr>
            <a:r>
              <a:rPr sz="900" spc="-20">
                <a:latin typeface="Calibri"/>
                <a:cs typeface="Calibri"/>
              </a:rPr>
              <a:t>2009</a:t>
            </a:r>
            <a:endParaRPr sz="900">
              <a:latin typeface="Calibri"/>
              <a:cs typeface="Calibri"/>
            </a:endParaRPr>
          </a:p>
          <a:p>
            <a:pPr marR="31750" algn="ctr">
              <a:lnSpc>
                <a:spcPct val="100000"/>
              </a:lnSpc>
              <a:spcBef>
                <a:spcPts val="45"/>
              </a:spcBef>
            </a:pPr>
            <a:r>
              <a:rPr sz="900" spc="-10">
                <a:latin typeface="Calibri"/>
                <a:cs typeface="Calibri"/>
              </a:rPr>
              <a:t>ImageNet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0" y="0"/>
            <a:ext cx="9144000" cy="3752850"/>
            <a:chOff x="0" y="0"/>
            <a:chExt cx="9144000" cy="3752850"/>
          </a:xfrm>
        </p:grpSpPr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3999" cy="375285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8624" y="180975"/>
              <a:ext cx="8286750" cy="55245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76424" y="885825"/>
              <a:ext cx="6057900" cy="2724150"/>
            </a:xfrm>
            <a:prstGeom prst="rect">
              <a:avLst/>
            </a:prstGeom>
          </p:spPr>
        </p:pic>
      </p:grpSp>
      <p:sp>
        <p:nvSpPr>
          <p:cNvPr id="30" name="object 30"/>
          <p:cNvSpPr/>
          <p:nvPr/>
        </p:nvSpPr>
        <p:spPr>
          <a:xfrm>
            <a:off x="6834251" y="3862387"/>
            <a:ext cx="714375" cy="276225"/>
          </a:xfrm>
          <a:custGeom>
            <a:avLst/>
            <a:gdLst/>
            <a:ahLst/>
            <a:cxnLst/>
            <a:rect l="l" t="t" r="r" b="b"/>
            <a:pathLst>
              <a:path w="714375" h="276225">
                <a:moveTo>
                  <a:pt x="0" y="276225"/>
                </a:moveTo>
                <a:lnTo>
                  <a:pt x="714375" y="276225"/>
                </a:lnTo>
                <a:lnTo>
                  <a:pt x="714375" y="0"/>
                </a:lnTo>
                <a:lnTo>
                  <a:pt x="0" y="0"/>
                </a:lnTo>
                <a:lnTo>
                  <a:pt x="0" y="276225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6827901" y="3843972"/>
            <a:ext cx="659130" cy="308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7470" algn="ctr">
              <a:lnSpc>
                <a:spcPct val="100000"/>
              </a:lnSpc>
              <a:spcBef>
                <a:spcPts val="100"/>
              </a:spcBef>
            </a:pPr>
            <a:r>
              <a:rPr sz="600">
                <a:latin typeface="Calibri"/>
                <a:cs typeface="Calibri"/>
              </a:rPr>
              <a:t>2004,</a:t>
            </a:r>
            <a:r>
              <a:rPr sz="600" spc="-20">
                <a:latin typeface="Calibri"/>
                <a:cs typeface="Calibri"/>
              </a:rPr>
              <a:t> 2007</a:t>
            </a:r>
            <a:endParaRPr sz="600">
              <a:latin typeface="Calibri"/>
              <a:cs typeface="Calibri"/>
            </a:endParaRPr>
          </a:p>
          <a:p>
            <a:pPr marL="73025" algn="ctr">
              <a:lnSpc>
                <a:spcPct val="100000"/>
              </a:lnSpc>
              <a:spcBef>
                <a:spcPts val="35"/>
              </a:spcBef>
            </a:pPr>
            <a:r>
              <a:rPr sz="600" spc="-10">
                <a:latin typeface="Calibri"/>
                <a:cs typeface="Calibri"/>
              </a:rPr>
              <a:t>Caltech101;</a:t>
            </a:r>
            <a:endParaRPr sz="600">
              <a:latin typeface="Calibri"/>
              <a:cs typeface="Calibri"/>
            </a:endParaRPr>
          </a:p>
          <a:p>
            <a:pPr marL="80010" algn="ctr">
              <a:lnSpc>
                <a:spcPct val="100000"/>
              </a:lnSpc>
              <a:spcBef>
                <a:spcPts val="30"/>
              </a:spcBef>
            </a:pPr>
            <a:r>
              <a:rPr sz="600" spc="-10">
                <a:latin typeface="Calibri"/>
                <a:cs typeface="Calibri"/>
              </a:rPr>
              <a:t>PASCAL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5729351" y="4491037"/>
            <a:ext cx="542925" cy="276225"/>
          </a:xfrm>
          <a:custGeom>
            <a:avLst/>
            <a:gdLst/>
            <a:ahLst/>
            <a:cxnLst/>
            <a:rect l="l" t="t" r="r" b="b"/>
            <a:pathLst>
              <a:path w="542925" h="276225">
                <a:moveTo>
                  <a:pt x="0" y="276225"/>
                </a:moveTo>
                <a:lnTo>
                  <a:pt x="542925" y="276225"/>
                </a:lnTo>
                <a:lnTo>
                  <a:pt x="542925" y="0"/>
                </a:lnTo>
                <a:lnTo>
                  <a:pt x="0" y="0"/>
                </a:lnTo>
                <a:lnTo>
                  <a:pt x="0" y="276225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5742051" y="4469447"/>
            <a:ext cx="536575" cy="306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050">
              <a:lnSpc>
                <a:spcPct val="100000"/>
              </a:lnSpc>
              <a:spcBef>
                <a:spcPts val="100"/>
              </a:spcBef>
            </a:pPr>
            <a:r>
              <a:rPr sz="900" spc="-20">
                <a:latin typeface="Calibri"/>
                <a:cs typeface="Calibri"/>
              </a:rPr>
              <a:t>1998</a:t>
            </a:r>
            <a:endParaRPr sz="900">
              <a:latin typeface="Calibri"/>
              <a:cs typeface="Calibri"/>
            </a:endParaRPr>
          </a:p>
          <a:p>
            <a:pPr marL="123825">
              <a:lnSpc>
                <a:spcPct val="100000"/>
              </a:lnSpc>
              <a:spcBef>
                <a:spcPts val="50"/>
              </a:spcBef>
            </a:pPr>
            <a:r>
              <a:rPr sz="900" spc="-10">
                <a:latin typeface="Calibri"/>
                <a:cs typeface="Calibri"/>
              </a:rPr>
              <a:t>LeNet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144462" y="4286250"/>
            <a:ext cx="5875655" cy="484505"/>
            <a:chOff x="144462" y="4286250"/>
            <a:chExt cx="5875655" cy="484505"/>
          </a:xfrm>
        </p:grpSpPr>
        <p:sp>
          <p:nvSpPr>
            <p:cNvPr id="35" name="object 35"/>
            <p:cNvSpPr/>
            <p:nvPr/>
          </p:nvSpPr>
          <p:spPr>
            <a:xfrm>
              <a:off x="514350" y="4305300"/>
              <a:ext cx="5486400" cy="171450"/>
            </a:xfrm>
            <a:custGeom>
              <a:avLst/>
              <a:gdLst/>
              <a:ahLst/>
              <a:cxnLst/>
              <a:rect l="l" t="t" r="r" b="b"/>
              <a:pathLst>
                <a:path w="5486400" h="171450">
                  <a:moveTo>
                    <a:pt x="5486400" y="171450"/>
                  </a:moveTo>
                  <a:lnTo>
                    <a:pt x="5486400" y="0"/>
                  </a:lnTo>
                </a:path>
                <a:path w="5486400" h="171450">
                  <a:moveTo>
                    <a:pt x="0" y="17145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57162" y="4481512"/>
              <a:ext cx="819150" cy="276225"/>
            </a:xfrm>
            <a:custGeom>
              <a:avLst/>
              <a:gdLst/>
              <a:ahLst/>
              <a:cxnLst/>
              <a:rect l="l" t="t" r="r" b="b"/>
              <a:pathLst>
                <a:path w="819150" h="276225">
                  <a:moveTo>
                    <a:pt x="0" y="276225"/>
                  </a:moveTo>
                  <a:lnTo>
                    <a:pt x="819150" y="276225"/>
                  </a:lnTo>
                  <a:lnTo>
                    <a:pt x="819150" y="0"/>
                  </a:lnTo>
                  <a:lnTo>
                    <a:pt x="0" y="0"/>
                  </a:lnTo>
                  <a:lnTo>
                    <a:pt x="0" y="276225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179387" y="4461192"/>
            <a:ext cx="784225" cy="306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8255" algn="ctr">
              <a:lnSpc>
                <a:spcPct val="100000"/>
              </a:lnSpc>
              <a:spcBef>
                <a:spcPts val="100"/>
              </a:spcBef>
            </a:pPr>
            <a:r>
              <a:rPr sz="900" spc="-20">
                <a:latin typeface="Calibri"/>
                <a:cs typeface="Calibri"/>
              </a:rPr>
              <a:t>1958</a:t>
            </a:r>
            <a:endParaRPr sz="900">
              <a:latin typeface="Calibri"/>
              <a:cs typeface="Calibri"/>
            </a:endParaRPr>
          </a:p>
          <a:p>
            <a:pPr marR="10160" algn="ctr">
              <a:lnSpc>
                <a:spcPct val="100000"/>
              </a:lnSpc>
              <a:spcBef>
                <a:spcPts val="45"/>
              </a:spcBef>
            </a:pPr>
            <a:r>
              <a:rPr sz="900" spc="-10">
                <a:latin typeface="Calibri"/>
                <a:cs typeface="Calibri"/>
              </a:rPr>
              <a:t>Perceptron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1116012" y="4286250"/>
            <a:ext cx="1263650" cy="494030"/>
            <a:chOff x="1116012" y="4286250"/>
            <a:chExt cx="1263650" cy="494030"/>
          </a:xfrm>
        </p:grpSpPr>
        <p:sp>
          <p:nvSpPr>
            <p:cNvPr id="39" name="object 39"/>
            <p:cNvSpPr/>
            <p:nvPr/>
          </p:nvSpPr>
          <p:spPr>
            <a:xfrm>
              <a:off x="2019300" y="4305300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17145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128712" y="4491037"/>
              <a:ext cx="1238250" cy="276225"/>
            </a:xfrm>
            <a:custGeom>
              <a:avLst/>
              <a:gdLst/>
              <a:ahLst/>
              <a:cxnLst/>
              <a:rect l="l" t="t" r="r" b="b"/>
              <a:pathLst>
                <a:path w="1238250" h="276225">
                  <a:moveTo>
                    <a:pt x="0" y="276225"/>
                  </a:moveTo>
                  <a:lnTo>
                    <a:pt x="1238250" y="276225"/>
                  </a:lnTo>
                  <a:lnTo>
                    <a:pt x="1238250" y="0"/>
                  </a:lnTo>
                  <a:lnTo>
                    <a:pt x="0" y="0"/>
                  </a:lnTo>
                  <a:lnTo>
                    <a:pt x="0" y="276225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1141412" y="4469447"/>
            <a:ext cx="1212850" cy="306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900" spc="-20">
                <a:latin typeface="Calibri"/>
                <a:cs typeface="Calibri"/>
              </a:rPr>
              <a:t>1969</a:t>
            </a:r>
            <a:endParaRPr sz="9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0"/>
              </a:spcBef>
            </a:pPr>
            <a:r>
              <a:rPr sz="900">
                <a:latin typeface="Calibri"/>
                <a:cs typeface="Calibri"/>
              </a:rPr>
              <a:t>Minsky</a:t>
            </a:r>
            <a:r>
              <a:rPr sz="900" spc="-10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&amp;</a:t>
            </a:r>
            <a:r>
              <a:rPr sz="900" spc="-25">
                <a:latin typeface="Calibri"/>
                <a:cs typeface="Calibri"/>
              </a:rPr>
              <a:t> </a:t>
            </a:r>
            <a:r>
              <a:rPr sz="900" spc="-10">
                <a:latin typeface="Calibri"/>
                <a:cs typeface="Calibri"/>
              </a:rPr>
              <a:t>Papert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2592451" y="4286250"/>
            <a:ext cx="1025525" cy="484505"/>
            <a:chOff x="2592451" y="4286250"/>
            <a:chExt cx="1025525" cy="484505"/>
          </a:xfrm>
        </p:grpSpPr>
        <p:sp>
          <p:nvSpPr>
            <p:cNvPr id="43" name="object 43"/>
            <p:cNvSpPr/>
            <p:nvPr/>
          </p:nvSpPr>
          <p:spPr>
            <a:xfrm>
              <a:off x="3533775" y="4305300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17145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605151" y="4481512"/>
              <a:ext cx="1000125" cy="276225"/>
            </a:xfrm>
            <a:custGeom>
              <a:avLst/>
              <a:gdLst/>
              <a:ahLst/>
              <a:cxnLst/>
              <a:rect l="l" t="t" r="r" b="b"/>
              <a:pathLst>
                <a:path w="1000125" h="276225">
                  <a:moveTo>
                    <a:pt x="0" y="276225"/>
                  </a:moveTo>
                  <a:lnTo>
                    <a:pt x="1000125" y="276225"/>
                  </a:lnTo>
                  <a:lnTo>
                    <a:pt x="1000125" y="0"/>
                  </a:lnTo>
                  <a:lnTo>
                    <a:pt x="0" y="0"/>
                  </a:lnTo>
                  <a:lnTo>
                    <a:pt x="0" y="276225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2617851" y="4461192"/>
            <a:ext cx="974725" cy="306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900" spc="-20">
                <a:latin typeface="Calibri"/>
                <a:cs typeface="Calibri"/>
              </a:rPr>
              <a:t>1980</a:t>
            </a:r>
            <a:endParaRPr sz="9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45"/>
              </a:spcBef>
            </a:pPr>
            <a:r>
              <a:rPr sz="900" spc="-10">
                <a:latin typeface="Calibri"/>
                <a:cs typeface="Calibri"/>
              </a:rPr>
              <a:t>Neocognitron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3668776" y="4286250"/>
            <a:ext cx="768350" cy="494030"/>
            <a:chOff x="3668776" y="4286250"/>
            <a:chExt cx="768350" cy="494030"/>
          </a:xfrm>
        </p:grpSpPr>
        <p:sp>
          <p:nvSpPr>
            <p:cNvPr id="47" name="object 47"/>
            <p:cNvSpPr/>
            <p:nvPr/>
          </p:nvSpPr>
          <p:spPr>
            <a:xfrm>
              <a:off x="4219575" y="4305300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17145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681476" y="4491037"/>
              <a:ext cx="742950" cy="276225"/>
            </a:xfrm>
            <a:custGeom>
              <a:avLst/>
              <a:gdLst/>
              <a:ahLst/>
              <a:cxnLst/>
              <a:rect l="l" t="t" r="r" b="b"/>
              <a:pathLst>
                <a:path w="742950" h="276225">
                  <a:moveTo>
                    <a:pt x="0" y="276225"/>
                  </a:moveTo>
                  <a:lnTo>
                    <a:pt x="742950" y="276225"/>
                  </a:lnTo>
                  <a:lnTo>
                    <a:pt x="742950" y="0"/>
                  </a:lnTo>
                  <a:lnTo>
                    <a:pt x="0" y="0"/>
                  </a:lnTo>
                  <a:lnTo>
                    <a:pt x="0" y="276225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3694176" y="4469447"/>
            <a:ext cx="717550" cy="306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900" spc="-20">
                <a:latin typeface="Calibri"/>
                <a:cs typeface="Calibri"/>
              </a:rPr>
              <a:t>1985</a:t>
            </a:r>
            <a:endParaRPr sz="9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0"/>
              </a:spcBef>
            </a:pPr>
            <a:r>
              <a:rPr sz="900" spc="-10">
                <a:latin typeface="Calibri"/>
                <a:cs typeface="Calibri"/>
              </a:rPr>
              <a:t>Backprop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6548501" y="4491037"/>
            <a:ext cx="838200" cy="276225"/>
          </a:xfrm>
          <a:custGeom>
            <a:avLst/>
            <a:gdLst/>
            <a:ahLst/>
            <a:cxnLst/>
            <a:rect l="l" t="t" r="r" b="b"/>
            <a:pathLst>
              <a:path w="838200" h="276225">
                <a:moveTo>
                  <a:pt x="0" y="276225"/>
                </a:moveTo>
                <a:lnTo>
                  <a:pt x="838200" y="276225"/>
                </a:lnTo>
                <a:lnTo>
                  <a:pt x="838200" y="0"/>
                </a:lnTo>
                <a:lnTo>
                  <a:pt x="0" y="0"/>
                </a:lnTo>
                <a:lnTo>
                  <a:pt x="0" y="276225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6561201" y="4484687"/>
            <a:ext cx="812800" cy="2755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25"/>
              </a:spcBef>
            </a:pPr>
            <a:r>
              <a:rPr sz="800" spc="-20">
                <a:latin typeface="Calibri"/>
                <a:cs typeface="Calibri"/>
              </a:rPr>
              <a:t>2006</a:t>
            </a:r>
            <a:endParaRPr sz="800">
              <a:latin typeface="Calibri"/>
              <a:cs typeface="Calibri"/>
            </a:endParaRPr>
          </a:p>
          <a:p>
            <a:pPr marL="4445" algn="ctr">
              <a:lnSpc>
                <a:spcPct val="100000"/>
              </a:lnSpc>
              <a:spcBef>
                <a:spcPts val="20"/>
              </a:spcBef>
            </a:pPr>
            <a:r>
              <a:rPr sz="800" spc="-10">
                <a:latin typeface="Calibri"/>
                <a:cs typeface="Calibri"/>
              </a:rPr>
              <a:t>Deep Learning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104775" y="4305300"/>
            <a:ext cx="7827645" cy="171450"/>
          </a:xfrm>
          <a:custGeom>
            <a:avLst/>
            <a:gdLst/>
            <a:ahLst/>
            <a:cxnLst/>
            <a:rect l="l" t="t" r="r" b="b"/>
            <a:pathLst>
              <a:path w="7827645" h="171450">
                <a:moveTo>
                  <a:pt x="6991350" y="171450"/>
                </a:moveTo>
                <a:lnTo>
                  <a:pt x="6991350" y="0"/>
                </a:lnTo>
              </a:path>
              <a:path w="7827645" h="171450">
                <a:moveTo>
                  <a:pt x="0" y="0"/>
                </a:moveTo>
                <a:lnTo>
                  <a:pt x="4395851" y="0"/>
                </a:lnTo>
              </a:path>
              <a:path w="7827645" h="171450">
                <a:moveTo>
                  <a:pt x="5215001" y="0"/>
                </a:moveTo>
                <a:lnTo>
                  <a:pt x="7827645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4500626" y="4205287"/>
            <a:ext cx="819150" cy="209550"/>
          </a:xfrm>
          <a:prstGeom prst="rect">
            <a:avLst/>
          </a:prstGeom>
          <a:solidFill>
            <a:srgbClr val="4F81BC"/>
          </a:solidFill>
          <a:ln w="25400">
            <a:solidFill>
              <a:srgbClr val="385D89"/>
            </a:solidFill>
          </a:ln>
        </p:spPr>
        <p:txBody>
          <a:bodyPr vert="horz" wrap="square" lIns="0" tIns="16510" rIns="0" bIns="0" rtlCol="0">
            <a:spAutoFit/>
          </a:bodyPr>
          <a:lstStyle/>
          <a:p>
            <a:pPr marL="149860">
              <a:lnSpc>
                <a:spcPct val="100000"/>
              </a:lnSpc>
              <a:spcBef>
                <a:spcPts val="130"/>
              </a:spcBef>
            </a:pPr>
            <a:r>
              <a:rPr sz="1050">
                <a:solidFill>
                  <a:srgbClr val="FFFFFF"/>
                </a:solidFill>
                <a:latin typeface="Calibri"/>
                <a:cs typeface="Calibri"/>
              </a:rPr>
              <a:t>AI</a:t>
            </a:r>
            <a:r>
              <a:rPr sz="1050" spc="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spc="-10">
                <a:solidFill>
                  <a:srgbClr val="FFFFFF"/>
                </a:solidFill>
                <a:latin typeface="Calibri"/>
                <a:cs typeface="Calibri"/>
              </a:rPr>
              <a:t>Winter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7643494" y="4822825"/>
            <a:ext cx="12077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>
                <a:solidFill>
                  <a:srgbClr val="FFFFFF"/>
                </a:solidFill>
                <a:latin typeface="Calibri"/>
                <a:cs typeface="Calibri"/>
              </a:rPr>
              <a:t>April 1,</a:t>
            </a:r>
            <a:r>
              <a:rPr sz="1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>
                <a:solidFill>
                  <a:srgbClr val="FFFFFF"/>
                </a:solidFill>
                <a:latin typeface="Calibri"/>
                <a:cs typeface="Calibri"/>
              </a:rPr>
              <a:t>2025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5647054" y="4817745"/>
            <a:ext cx="2546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>
                <a:solidFill>
                  <a:srgbClr val="FFFFFF"/>
                </a:solidFill>
                <a:latin typeface="Calibri"/>
                <a:cs typeface="Calibri"/>
              </a:rPr>
              <a:t>44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69130" y="4872354"/>
            <a:ext cx="1478280" cy="2203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>
                <a:solidFill>
                  <a:srgbClr val="FFFFFF"/>
                </a:solidFill>
                <a:latin typeface="Arial MT"/>
                <a:cs typeface="Arial MT"/>
              </a:rPr>
              <a:t>CS231n:</a:t>
            </a:r>
            <a:r>
              <a:rPr sz="12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50">
                <a:solidFill>
                  <a:srgbClr val="FFFFFF"/>
                </a:solidFill>
                <a:latin typeface="Arial MT"/>
                <a:cs typeface="Arial MT"/>
              </a:rPr>
              <a:t>Lecture</a:t>
            </a:r>
            <a:r>
              <a:rPr sz="1250" spc="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50">
                <a:solidFill>
                  <a:srgbClr val="FFFFFF"/>
                </a:solidFill>
                <a:latin typeface="Arial MT"/>
                <a:cs typeface="Arial MT"/>
              </a:rPr>
              <a:t>1</a:t>
            </a:r>
            <a:r>
              <a:rPr sz="1250" spc="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50" spc="-50">
                <a:solidFill>
                  <a:srgbClr val="FFFFFF"/>
                </a:solidFill>
                <a:latin typeface="Arial MT"/>
                <a:cs typeface="Arial MT"/>
              </a:rPr>
              <a:t>-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657" y="4899659"/>
            <a:ext cx="2085339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Fei-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Fei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Li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9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Ehsan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Adeli</a:t>
            </a: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90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Zane Durante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47700" y="4133850"/>
            <a:ext cx="0" cy="171450"/>
          </a:xfrm>
          <a:custGeom>
            <a:avLst/>
            <a:gdLst/>
            <a:ahLst/>
            <a:cxnLst/>
            <a:rect l="l" t="t" r="r" b="b"/>
            <a:pathLst>
              <a:path h="171450">
                <a:moveTo>
                  <a:pt x="0" y="17145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66687" y="3862387"/>
            <a:ext cx="885825" cy="2762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800" spc="-20">
                <a:latin typeface="Calibri"/>
                <a:cs typeface="Calibri"/>
              </a:rPr>
              <a:t>1959</a:t>
            </a:r>
            <a:endParaRPr sz="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sz="800">
                <a:latin typeface="Calibri"/>
                <a:cs typeface="Calibri"/>
              </a:rPr>
              <a:t>Hubel</a:t>
            </a:r>
            <a:r>
              <a:rPr sz="800" spc="-20">
                <a:latin typeface="Calibri"/>
                <a:cs typeface="Calibri"/>
              </a:rPr>
              <a:t> </a:t>
            </a:r>
            <a:r>
              <a:rPr sz="800">
                <a:latin typeface="Calibri"/>
                <a:cs typeface="Calibri"/>
              </a:rPr>
              <a:t>&amp;</a:t>
            </a:r>
            <a:r>
              <a:rPr sz="800" spc="-15">
                <a:latin typeface="Calibri"/>
                <a:cs typeface="Calibri"/>
              </a:rPr>
              <a:t> </a:t>
            </a:r>
            <a:r>
              <a:rPr sz="800" spc="-10">
                <a:latin typeface="Calibri"/>
                <a:cs typeface="Calibri"/>
              </a:rPr>
              <a:t>Wiesel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200150" y="4133850"/>
            <a:ext cx="0" cy="171450"/>
          </a:xfrm>
          <a:custGeom>
            <a:avLst/>
            <a:gdLst/>
            <a:ahLst/>
            <a:cxnLst/>
            <a:rect l="l" t="t" r="r" b="b"/>
            <a:pathLst>
              <a:path h="171450">
                <a:moveTo>
                  <a:pt x="0" y="17145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96181" y="3862387"/>
            <a:ext cx="656590" cy="2762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R="8890" algn="ctr">
              <a:lnSpc>
                <a:spcPts val="1040"/>
              </a:lnSpc>
            </a:pPr>
            <a:r>
              <a:rPr sz="900" spc="-20">
                <a:latin typeface="Calibri"/>
                <a:cs typeface="Calibri"/>
              </a:rPr>
              <a:t>1963</a:t>
            </a:r>
            <a:endParaRPr sz="900">
              <a:latin typeface="Calibri"/>
              <a:cs typeface="Calibri"/>
            </a:endParaRPr>
          </a:p>
          <a:p>
            <a:pPr marR="10795" algn="ctr">
              <a:lnSpc>
                <a:spcPct val="100000"/>
              </a:lnSpc>
              <a:spcBef>
                <a:spcPts val="45"/>
              </a:spcBef>
            </a:pPr>
            <a:r>
              <a:rPr sz="900" spc="-10">
                <a:latin typeface="Calibri"/>
                <a:cs typeface="Calibri"/>
              </a:rPr>
              <a:t>Roberts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847975" y="4133850"/>
            <a:ext cx="0" cy="171450"/>
          </a:xfrm>
          <a:custGeom>
            <a:avLst/>
            <a:gdLst/>
            <a:ahLst/>
            <a:cxnLst/>
            <a:rect l="l" t="t" r="r" b="b"/>
            <a:pathLst>
              <a:path h="171450">
                <a:moveTo>
                  <a:pt x="0" y="17145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026475" y="3862387"/>
            <a:ext cx="883919" cy="2762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540" algn="ctr">
              <a:lnSpc>
                <a:spcPts val="1040"/>
              </a:lnSpc>
            </a:pPr>
            <a:r>
              <a:rPr sz="900" spc="-10">
                <a:latin typeface="Calibri"/>
                <a:cs typeface="Calibri"/>
              </a:rPr>
              <a:t>1970s</a:t>
            </a:r>
            <a:endParaRPr sz="900">
              <a:latin typeface="Calibri"/>
              <a:cs typeface="Calibri"/>
            </a:endParaRPr>
          </a:p>
          <a:p>
            <a:pPr marL="7620" algn="ctr">
              <a:lnSpc>
                <a:spcPct val="100000"/>
              </a:lnSpc>
              <a:spcBef>
                <a:spcPts val="45"/>
              </a:spcBef>
            </a:pPr>
            <a:r>
              <a:rPr sz="900" spc="-10">
                <a:latin typeface="Calibri"/>
                <a:cs typeface="Calibri"/>
              </a:rPr>
              <a:t>David </a:t>
            </a:r>
            <a:r>
              <a:rPr sz="900" spc="-20">
                <a:latin typeface="Calibri"/>
                <a:cs typeface="Calibri"/>
              </a:rPr>
              <a:t>Marr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390900" y="4133850"/>
            <a:ext cx="0" cy="171450"/>
          </a:xfrm>
          <a:custGeom>
            <a:avLst/>
            <a:gdLst/>
            <a:ahLst/>
            <a:cxnLst/>
            <a:rect l="l" t="t" r="r" b="b"/>
            <a:pathLst>
              <a:path h="171450">
                <a:moveTo>
                  <a:pt x="0" y="17145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976626" y="3862387"/>
            <a:ext cx="1038225" cy="2762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175" algn="ctr">
              <a:lnSpc>
                <a:spcPts val="1040"/>
              </a:lnSpc>
            </a:pPr>
            <a:r>
              <a:rPr sz="900" spc="-20">
                <a:latin typeface="Calibri"/>
                <a:cs typeface="Calibri"/>
              </a:rPr>
              <a:t>1979</a:t>
            </a:r>
            <a:endParaRPr sz="900">
              <a:latin typeface="Calibri"/>
              <a:cs typeface="Calibri"/>
            </a:endParaRPr>
          </a:p>
          <a:p>
            <a:pPr marL="4445" algn="ctr">
              <a:lnSpc>
                <a:spcPct val="100000"/>
              </a:lnSpc>
              <a:spcBef>
                <a:spcPts val="45"/>
              </a:spcBef>
            </a:pPr>
            <a:r>
              <a:rPr sz="900">
                <a:latin typeface="Calibri"/>
                <a:cs typeface="Calibri"/>
              </a:rPr>
              <a:t>Gen.</a:t>
            </a:r>
            <a:r>
              <a:rPr sz="900" spc="5">
                <a:latin typeface="Calibri"/>
                <a:cs typeface="Calibri"/>
              </a:rPr>
              <a:t> </a:t>
            </a:r>
            <a:r>
              <a:rPr sz="900" spc="-10">
                <a:latin typeface="Calibri"/>
                <a:cs typeface="Calibri"/>
              </a:rPr>
              <a:t>Cylinders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352925" y="4133850"/>
            <a:ext cx="0" cy="171450"/>
          </a:xfrm>
          <a:custGeom>
            <a:avLst/>
            <a:gdLst/>
            <a:ahLst/>
            <a:cxnLst/>
            <a:rect l="l" t="t" r="r" b="b"/>
            <a:pathLst>
              <a:path h="171450">
                <a:moveTo>
                  <a:pt x="0" y="17145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129151" y="3862387"/>
            <a:ext cx="561975" cy="2762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67640">
              <a:lnSpc>
                <a:spcPts val="1040"/>
              </a:lnSpc>
            </a:pPr>
            <a:r>
              <a:rPr sz="900" spc="-20">
                <a:latin typeface="Calibri"/>
                <a:cs typeface="Calibri"/>
              </a:rPr>
              <a:t>1986</a:t>
            </a:r>
            <a:endParaRPr sz="900">
              <a:latin typeface="Calibri"/>
              <a:cs typeface="Calibri"/>
            </a:endParaRPr>
          </a:p>
          <a:p>
            <a:pPr marL="138430">
              <a:lnSpc>
                <a:spcPct val="100000"/>
              </a:lnSpc>
              <a:spcBef>
                <a:spcPts val="45"/>
              </a:spcBef>
            </a:pPr>
            <a:r>
              <a:rPr sz="900" spc="-10">
                <a:latin typeface="Calibri"/>
                <a:cs typeface="Calibri"/>
              </a:rPr>
              <a:t>Canny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819775" y="4133850"/>
            <a:ext cx="0" cy="171450"/>
          </a:xfrm>
          <a:custGeom>
            <a:avLst/>
            <a:gdLst/>
            <a:ahLst/>
            <a:cxnLst/>
            <a:rect l="l" t="t" r="r" b="b"/>
            <a:pathLst>
              <a:path h="171450">
                <a:moveTo>
                  <a:pt x="0" y="17145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072126" y="3862387"/>
            <a:ext cx="751840" cy="2762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0795" algn="ctr">
              <a:lnSpc>
                <a:spcPts val="1040"/>
              </a:lnSpc>
            </a:pPr>
            <a:r>
              <a:rPr sz="900" spc="-20">
                <a:latin typeface="Calibri"/>
                <a:cs typeface="Calibri"/>
              </a:rPr>
              <a:t>1997</a:t>
            </a:r>
            <a:endParaRPr sz="900">
              <a:latin typeface="Calibri"/>
              <a:cs typeface="Calibri"/>
            </a:endParaRPr>
          </a:p>
          <a:p>
            <a:pPr marL="8890" algn="ctr">
              <a:lnSpc>
                <a:spcPct val="100000"/>
              </a:lnSpc>
              <a:spcBef>
                <a:spcPts val="45"/>
              </a:spcBef>
            </a:pPr>
            <a:r>
              <a:rPr sz="900">
                <a:latin typeface="Calibri"/>
                <a:cs typeface="Calibri"/>
              </a:rPr>
              <a:t>Norm.</a:t>
            </a:r>
            <a:r>
              <a:rPr sz="900" spc="10">
                <a:latin typeface="Calibri"/>
                <a:cs typeface="Calibri"/>
              </a:rPr>
              <a:t> </a:t>
            </a:r>
            <a:r>
              <a:rPr sz="900" spc="-20">
                <a:latin typeface="Calibri"/>
                <a:cs typeface="Calibri"/>
              </a:rPr>
              <a:t>Cuts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354826" y="3849687"/>
            <a:ext cx="454025" cy="474980"/>
            <a:chOff x="6354826" y="3849687"/>
            <a:chExt cx="454025" cy="474980"/>
          </a:xfrm>
        </p:grpSpPr>
        <p:sp>
          <p:nvSpPr>
            <p:cNvPr id="17" name="object 17"/>
            <p:cNvSpPr/>
            <p:nvPr/>
          </p:nvSpPr>
          <p:spPr>
            <a:xfrm>
              <a:off x="6457950" y="4133850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17145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367526" y="3862387"/>
              <a:ext cx="428625" cy="276225"/>
            </a:xfrm>
            <a:custGeom>
              <a:avLst/>
              <a:gdLst/>
              <a:ahLst/>
              <a:cxnLst/>
              <a:rect l="l" t="t" r="r" b="b"/>
              <a:pathLst>
                <a:path w="428625" h="276225">
                  <a:moveTo>
                    <a:pt x="0" y="276225"/>
                  </a:moveTo>
                  <a:lnTo>
                    <a:pt x="428625" y="276225"/>
                  </a:lnTo>
                  <a:lnTo>
                    <a:pt x="428625" y="0"/>
                  </a:lnTo>
                  <a:lnTo>
                    <a:pt x="0" y="0"/>
                  </a:lnTo>
                  <a:lnTo>
                    <a:pt x="0" y="276225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380226" y="3844607"/>
            <a:ext cx="422275" cy="306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100"/>
              </a:spcBef>
            </a:pPr>
            <a:r>
              <a:rPr sz="900" spc="-20">
                <a:latin typeface="Calibri"/>
                <a:cs typeface="Calibri"/>
              </a:rPr>
              <a:t>2001</a:t>
            </a:r>
            <a:endParaRPr sz="900">
              <a:latin typeface="Calibri"/>
              <a:cs typeface="Calibri"/>
            </a:endParaRPr>
          </a:p>
          <a:p>
            <a:pPr marL="113664">
              <a:lnSpc>
                <a:spcPct val="100000"/>
              </a:lnSpc>
              <a:spcBef>
                <a:spcPts val="45"/>
              </a:spcBef>
            </a:pPr>
            <a:r>
              <a:rPr sz="900" spc="-25">
                <a:latin typeface="Calibri"/>
                <a:cs typeface="Calibri"/>
              </a:rPr>
              <a:t>V&amp;J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134100" y="4133850"/>
            <a:ext cx="0" cy="171450"/>
          </a:xfrm>
          <a:custGeom>
            <a:avLst/>
            <a:gdLst/>
            <a:ahLst/>
            <a:cxnLst/>
            <a:rect l="l" t="t" r="r" b="b"/>
            <a:pathLst>
              <a:path h="171450">
                <a:moveTo>
                  <a:pt x="0" y="171450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5891276" y="3862387"/>
            <a:ext cx="400050" cy="2762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2075">
              <a:lnSpc>
                <a:spcPts val="1040"/>
              </a:lnSpc>
            </a:pPr>
            <a:r>
              <a:rPr sz="900" spc="-20">
                <a:latin typeface="Calibri"/>
                <a:cs typeface="Calibri"/>
              </a:rPr>
              <a:t>1999</a:t>
            </a:r>
            <a:endParaRPr sz="900">
              <a:latin typeface="Calibri"/>
              <a:cs typeface="Calibri"/>
            </a:endParaRPr>
          </a:p>
          <a:p>
            <a:pPr marL="111760">
              <a:lnSpc>
                <a:spcPct val="100000"/>
              </a:lnSpc>
              <a:spcBef>
                <a:spcPts val="45"/>
              </a:spcBef>
            </a:pPr>
            <a:r>
              <a:rPr sz="900" spc="-20">
                <a:latin typeface="Calibri"/>
                <a:cs typeface="Calibri"/>
              </a:rPr>
              <a:t>SIFT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7219950" y="3849687"/>
            <a:ext cx="979805" cy="474980"/>
            <a:chOff x="7219950" y="3849687"/>
            <a:chExt cx="979805" cy="474980"/>
          </a:xfrm>
        </p:grpSpPr>
        <p:sp>
          <p:nvSpPr>
            <p:cNvPr id="23" name="object 23"/>
            <p:cNvSpPr/>
            <p:nvPr/>
          </p:nvSpPr>
          <p:spPr>
            <a:xfrm>
              <a:off x="7239000" y="4133850"/>
              <a:ext cx="266700" cy="171450"/>
            </a:xfrm>
            <a:custGeom>
              <a:avLst/>
              <a:gdLst/>
              <a:ahLst/>
              <a:cxnLst/>
              <a:rect l="l" t="t" r="r" b="b"/>
              <a:pathLst>
                <a:path w="266700" h="171450">
                  <a:moveTo>
                    <a:pt x="0" y="171450"/>
                  </a:moveTo>
                  <a:lnTo>
                    <a:pt x="0" y="0"/>
                  </a:lnTo>
                </a:path>
                <a:path w="266700" h="171450">
                  <a:moveTo>
                    <a:pt x="266700" y="171450"/>
                  </a:moveTo>
                  <a:lnTo>
                    <a:pt x="26670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501000" y="3862387"/>
              <a:ext cx="685800" cy="276225"/>
            </a:xfrm>
            <a:custGeom>
              <a:avLst/>
              <a:gdLst/>
              <a:ahLst/>
              <a:cxnLst/>
              <a:rect l="l" t="t" r="r" b="b"/>
              <a:pathLst>
                <a:path w="685800" h="276225">
                  <a:moveTo>
                    <a:pt x="0" y="276225"/>
                  </a:moveTo>
                  <a:lnTo>
                    <a:pt x="685800" y="276225"/>
                  </a:lnTo>
                  <a:lnTo>
                    <a:pt x="685800" y="0"/>
                  </a:lnTo>
                  <a:lnTo>
                    <a:pt x="0" y="0"/>
                  </a:lnTo>
                  <a:lnTo>
                    <a:pt x="0" y="276225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7561326" y="3844607"/>
            <a:ext cx="593725" cy="306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6510" algn="ctr">
              <a:lnSpc>
                <a:spcPct val="100000"/>
              </a:lnSpc>
              <a:spcBef>
                <a:spcPts val="100"/>
              </a:spcBef>
            </a:pPr>
            <a:r>
              <a:rPr sz="900" spc="-20">
                <a:latin typeface="Calibri"/>
                <a:cs typeface="Calibri"/>
              </a:rPr>
              <a:t>2009</a:t>
            </a:r>
            <a:endParaRPr sz="900">
              <a:latin typeface="Calibri"/>
              <a:cs typeface="Calibri"/>
            </a:endParaRPr>
          </a:p>
          <a:p>
            <a:pPr marR="12700" algn="ctr">
              <a:lnSpc>
                <a:spcPct val="100000"/>
              </a:lnSpc>
              <a:spcBef>
                <a:spcPts val="45"/>
              </a:spcBef>
            </a:pPr>
            <a:r>
              <a:rPr sz="900" spc="-10">
                <a:latin typeface="Calibri"/>
                <a:cs typeface="Calibri"/>
              </a:rPr>
              <a:t>ImageNet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0" y="0"/>
            <a:ext cx="9144000" cy="3752850"/>
            <a:chOff x="0" y="0"/>
            <a:chExt cx="9144000" cy="3752850"/>
          </a:xfrm>
        </p:grpSpPr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3999" cy="375285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8624" y="180975"/>
              <a:ext cx="8286750" cy="55245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76424" y="885825"/>
              <a:ext cx="6057900" cy="2724150"/>
            </a:xfrm>
            <a:prstGeom prst="rect">
              <a:avLst/>
            </a:prstGeom>
          </p:spPr>
        </p:pic>
      </p:grpSp>
      <p:sp>
        <p:nvSpPr>
          <p:cNvPr id="30" name="object 30"/>
          <p:cNvSpPr txBox="1">
            <a:spLocks noGrp="1"/>
          </p:cNvSpPr>
          <p:nvPr>
            <p:ph type="title"/>
          </p:nvPr>
        </p:nvSpPr>
        <p:spPr>
          <a:xfrm>
            <a:off x="3428365" y="1025842"/>
            <a:ext cx="13296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/>
              <a:t>AlexNet,</a:t>
            </a:r>
            <a:r>
              <a:rPr sz="1800" spc="-20"/>
              <a:t> 2012</a:t>
            </a:r>
            <a:endParaRPr sz="1800"/>
          </a:p>
        </p:txBody>
      </p:sp>
      <p:sp>
        <p:nvSpPr>
          <p:cNvPr id="31" name="object 31"/>
          <p:cNvSpPr/>
          <p:nvPr/>
        </p:nvSpPr>
        <p:spPr>
          <a:xfrm>
            <a:off x="3562350" y="1352550"/>
            <a:ext cx="114300" cy="315595"/>
          </a:xfrm>
          <a:custGeom>
            <a:avLst/>
            <a:gdLst/>
            <a:ahLst/>
            <a:cxnLst/>
            <a:rect l="l" t="t" r="r" b="b"/>
            <a:pathLst>
              <a:path w="114300" h="315594">
                <a:moveTo>
                  <a:pt x="38100" y="201295"/>
                </a:moveTo>
                <a:lnTo>
                  <a:pt x="0" y="201295"/>
                </a:lnTo>
                <a:lnTo>
                  <a:pt x="57150" y="315595"/>
                </a:lnTo>
                <a:lnTo>
                  <a:pt x="104775" y="220345"/>
                </a:lnTo>
                <a:lnTo>
                  <a:pt x="38100" y="220345"/>
                </a:lnTo>
                <a:lnTo>
                  <a:pt x="38100" y="201295"/>
                </a:lnTo>
                <a:close/>
              </a:path>
              <a:path w="114300" h="315594">
                <a:moveTo>
                  <a:pt x="76200" y="0"/>
                </a:moveTo>
                <a:lnTo>
                  <a:pt x="38100" y="0"/>
                </a:lnTo>
                <a:lnTo>
                  <a:pt x="38100" y="220345"/>
                </a:lnTo>
                <a:lnTo>
                  <a:pt x="76200" y="220345"/>
                </a:lnTo>
                <a:lnTo>
                  <a:pt x="76200" y="0"/>
                </a:lnTo>
                <a:close/>
              </a:path>
              <a:path w="114300" h="315594">
                <a:moveTo>
                  <a:pt x="114300" y="201295"/>
                </a:moveTo>
                <a:lnTo>
                  <a:pt x="76200" y="201295"/>
                </a:lnTo>
                <a:lnTo>
                  <a:pt x="76200" y="220345"/>
                </a:lnTo>
                <a:lnTo>
                  <a:pt x="104775" y="220345"/>
                </a:lnTo>
                <a:lnTo>
                  <a:pt x="114300" y="201295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2" name="object 32"/>
          <p:cNvGrpSpPr/>
          <p:nvPr/>
        </p:nvGrpSpPr>
        <p:grpSpPr>
          <a:xfrm>
            <a:off x="7450201" y="4286250"/>
            <a:ext cx="711200" cy="494030"/>
            <a:chOff x="7450201" y="4286250"/>
            <a:chExt cx="711200" cy="494030"/>
          </a:xfrm>
        </p:grpSpPr>
        <p:sp>
          <p:nvSpPr>
            <p:cNvPr id="33" name="object 33"/>
            <p:cNvSpPr/>
            <p:nvPr/>
          </p:nvSpPr>
          <p:spPr>
            <a:xfrm>
              <a:off x="7924800" y="4305300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17145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462901" y="4491037"/>
              <a:ext cx="685800" cy="276225"/>
            </a:xfrm>
            <a:custGeom>
              <a:avLst/>
              <a:gdLst/>
              <a:ahLst/>
              <a:cxnLst/>
              <a:rect l="l" t="t" r="r" b="b"/>
              <a:pathLst>
                <a:path w="685800" h="276225">
                  <a:moveTo>
                    <a:pt x="685800" y="0"/>
                  </a:moveTo>
                  <a:lnTo>
                    <a:pt x="0" y="0"/>
                  </a:lnTo>
                  <a:lnTo>
                    <a:pt x="0" y="276225"/>
                  </a:lnTo>
                  <a:lnTo>
                    <a:pt x="685800" y="276225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462901" y="4491037"/>
              <a:ext cx="685800" cy="276225"/>
            </a:xfrm>
            <a:custGeom>
              <a:avLst/>
              <a:gdLst/>
              <a:ahLst/>
              <a:cxnLst/>
              <a:rect l="l" t="t" r="r" b="b"/>
              <a:pathLst>
                <a:path w="685800" h="276225">
                  <a:moveTo>
                    <a:pt x="0" y="276225"/>
                  </a:moveTo>
                  <a:lnTo>
                    <a:pt x="685800" y="276225"/>
                  </a:lnTo>
                  <a:lnTo>
                    <a:pt x="685800" y="0"/>
                  </a:lnTo>
                  <a:lnTo>
                    <a:pt x="0" y="0"/>
                  </a:lnTo>
                  <a:lnTo>
                    <a:pt x="0" y="276225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7475601" y="4469447"/>
            <a:ext cx="679450" cy="306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7620" algn="ctr">
              <a:lnSpc>
                <a:spcPct val="100000"/>
              </a:lnSpc>
              <a:spcBef>
                <a:spcPts val="100"/>
              </a:spcBef>
            </a:pPr>
            <a:r>
              <a:rPr sz="900" spc="-20">
                <a:latin typeface="Calibri"/>
                <a:cs typeface="Calibri"/>
              </a:rPr>
              <a:t>2012</a:t>
            </a:r>
            <a:endParaRPr sz="900">
              <a:latin typeface="Calibri"/>
              <a:cs typeface="Calibri"/>
            </a:endParaRPr>
          </a:p>
          <a:p>
            <a:pPr marR="6350" algn="ctr">
              <a:lnSpc>
                <a:spcPct val="100000"/>
              </a:lnSpc>
              <a:spcBef>
                <a:spcPts val="50"/>
              </a:spcBef>
            </a:pPr>
            <a:r>
              <a:rPr sz="900" spc="-10">
                <a:latin typeface="Calibri"/>
                <a:cs typeface="Calibri"/>
              </a:rPr>
              <a:t>AlexNet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6834251" y="3862387"/>
            <a:ext cx="714375" cy="276225"/>
          </a:xfrm>
          <a:custGeom>
            <a:avLst/>
            <a:gdLst/>
            <a:ahLst/>
            <a:cxnLst/>
            <a:rect l="l" t="t" r="r" b="b"/>
            <a:pathLst>
              <a:path w="714375" h="276225">
                <a:moveTo>
                  <a:pt x="0" y="276225"/>
                </a:moveTo>
                <a:lnTo>
                  <a:pt x="714375" y="276225"/>
                </a:lnTo>
                <a:lnTo>
                  <a:pt x="714375" y="0"/>
                </a:lnTo>
                <a:lnTo>
                  <a:pt x="0" y="0"/>
                </a:lnTo>
                <a:lnTo>
                  <a:pt x="0" y="276225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6827901" y="3843972"/>
            <a:ext cx="659130" cy="308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7470" algn="ctr">
              <a:lnSpc>
                <a:spcPct val="100000"/>
              </a:lnSpc>
              <a:spcBef>
                <a:spcPts val="100"/>
              </a:spcBef>
            </a:pPr>
            <a:r>
              <a:rPr sz="600">
                <a:latin typeface="Calibri"/>
                <a:cs typeface="Calibri"/>
              </a:rPr>
              <a:t>2004,</a:t>
            </a:r>
            <a:r>
              <a:rPr sz="600" spc="-20">
                <a:latin typeface="Calibri"/>
                <a:cs typeface="Calibri"/>
              </a:rPr>
              <a:t> 2007</a:t>
            </a:r>
            <a:endParaRPr sz="600">
              <a:latin typeface="Calibri"/>
              <a:cs typeface="Calibri"/>
            </a:endParaRPr>
          </a:p>
          <a:p>
            <a:pPr marL="73025" algn="ctr">
              <a:lnSpc>
                <a:spcPct val="100000"/>
              </a:lnSpc>
              <a:spcBef>
                <a:spcPts val="35"/>
              </a:spcBef>
            </a:pPr>
            <a:r>
              <a:rPr sz="600" spc="-10">
                <a:latin typeface="Calibri"/>
                <a:cs typeface="Calibri"/>
              </a:rPr>
              <a:t>Caltech101;</a:t>
            </a:r>
            <a:endParaRPr sz="600">
              <a:latin typeface="Calibri"/>
              <a:cs typeface="Calibri"/>
            </a:endParaRPr>
          </a:p>
          <a:p>
            <a:pPr marL="80010" algn="ctr">
              <a:lnSpc>
                <a:spcPct val="100000"/>
              </a:lnSpc>
              <a:spcBef>
                <a:spcPts val="30"/>
              </a:spcBef>
            </a:pPr>
            <a:r>
              <a:rPr sz="600" spc="-10">
                <a:latin typeface="Calibri"/>
                <a:cs typeface="Calibri"/>
              </a:rPr>
              <a:t>PASCAL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5729351" y="4491037"/>
            <a:ext cx="542925" cy="276225"/>
          </a:xfrm>
          <a:custGeom>
            <a:avLst/>
            <a:gdLst/>
            <a:ahLst/>
            <a:cxnLst/>
            <a:rect l="l" t="t" r="r" b="b"/>
            <a:pathLst>
              <a:path w="542925" h="276225">
                <a:moveTo>
                  <a:pt x="0" y="276225"/>
                </a:moveTo>
                <a:lnTo>
                  <a:pt x="542925" y="276225"/>
                </a:lnTo>
                <a:lnTo>
                  <a:pt x="542925" y="0"/>
                </a:lnTo>
                <a:lnTo>
                  <a:pt x="0" y="0"/>
                </a:lnTo>
                <a:lnTo>
                  <a:pt x="0" y="276225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5742051" y="4469447"/>
            <a:ext cx="536575" cy="306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050">
              <a:lnSpc>
                <a:spcPct val="100000"/>
              </a:lnSpc>
              <a:spcBef>
                <a:spcPts val="100"/>
              </a:spcBef>
            </a:pPr>
            <a:r>
              <a:rPr sz="900" spc="-20">
                <a:latin typeface="Calibri"/>
                <a:cs typeface="Calibri"/>
              </a:rPr>
              <a:t>1998</a:t>
            </a:r>
            <a:endParaRPr sz="900">
              <a:latin typeface="Calibri"/>
              <a:cs typeface="Calibri"/>
            </a:endParaRPr>
          </a:p>
          <a:p>
            <a:pPr marL="123825">
              <a:lnSpc>
                <a:spcPct val="100000"/>
              </a:lnSpc>
              <a:spcBef>
                <a:spcPts val="50"/>
              </a:spcBef>
            </a:pPr>
            <a:r>
              <a:rPr sz="900" spc="-10">
                <a:latin typeface="Calibri"/>
                <a:cs typeface="Calibri"/>
              </a:rPr>
              <a:t>LeNet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144462" y="4286250"/>
            <a:ext cx="5875655" cy="484505"/>
            <a:chOff x="144462" y="4286250"/>
            <a:chExt cx="5875655" cy="484505"/>
          </a:xfrm>
        </p:grpSpPr>
        <p:sp>
          <p:nvSpPr>
            <p:cNvPr id="42" name="object 42"/>
            <p:cNvSpPr/>
            <p:nvPr/>
          </p:nvSpPr>
          <p:spPr>
            <a:xfrm>
              <a:off x="514350" y="4305300"/>
              <a:ext cx="5486400" cy="171450"/>
            </a:xfrm>
            <a:custGeom>
              <a:avLst/>
              <a:gdLst/>
              <a:ahLst/>
              <a:cxnLst/>
              <a:rect l="l" t="t" r="r" b="b"/>
              <a:pathLst>
                <a:path w="5486400" h="171450">
                  <a:moveTo>
                    <a:pt x="5486400" y="171450"/>
                  </a:moveTo>
                  <a:lnTo>
                    <a:pt x="5486400" y="0"/>
                  </a:lnTo>
                </a:path>
                <a:path w="5486400" h="171450">
                  <a:moveTo>
                    <a:pt x="0" y="17145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57162" y="4481512"/>
              <a:ext cx="819150" cy="276225"/>
            </a:xfrm>
            <a:custGeom>
              <a:avLst/>
              <a:gdLst/>
              <a:ahLst/>
              <a:cxnLst/>
              <a:rect l="l" t="t" r="r" b="b"/>
              <a:pathLst>
                <a:path w="819150" h="276225">
                  <a:moveTo>
                    <a:pt x="0" y="276225"/>
                  </a:moveTo>
                  <a:lnTo>
                    <a:pt x="819150" y="276225"/>
                  </a:lnTo>
                  <a:lnTo>
                    <a:pt x="819150" y="0"/>
                  </a:lnTo>
                  <a:lnTo>
                    <a:pt x="0" y="0"/>
                  </a:lnTo>
                  <a:lnTo>
                    <a:pt x="0" y="276225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179387" y="4461192"/>
            <a:ext cx="784225" cy="306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8255" algn="ctr">
              <a:lnSpc>
                <a:spcPct val="100000"/>
              </a:lnSpc>
              <a:spcBef>
                <a:spcPts val="100"/>
              </a:spcBef>
            </a:pPr>
            <a:r>
              <a:rPr sz="900" spc="-20">
                <a:latin typeface="Calibri"/>
                <a:cs typeface="Calibri"/>
              </a:rPr>
              <a:t>1958</a:t>
            </a:r>
            <a:endParaRPr sz="900">
              <a:latin typeface="Calibri"/>
              <a:cs typeface="Calibri"/>
            </a:endParaRPr>
          </a:p>
          <a:p>
            <a:pPr marR="10160" algn="ctr">
              <a:lnSpc>
                <a:spcPct val="100000"/>
              </a:lnSpc>
              <a:spcBef>
                <a:spcPts val="45"/>
              </a:spcBef>
            </a:pPr>
            <a:r>
              <a:rPr sz="900" spc="-10">
                <a:latin typeface="Calibri"/>
                <a:cs typeface="Calibri"/>
              </a:rPr>
              <a:t>Perceptron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1116012" y="4286250"/>
            <a:ext cx="1263650" cy="494030"/>
            <a:chOff x="1116012" y="4286250"/>
            <a:chExt cx="1263650" cy="494030"/>
          </a:xfrm>
        </p:grpSpPr>
        <p:sp>
          <p:nvSpPr>
            <p:cNvPr id="46" name="object 46"/>
            <p:cNvSpPr/>
            <p:nvPr/>
          </p:nvSpPr>
          <p:spPr>
            <a:xfrm>
              <a:off x="2019300" y="4305300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17145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128712" y="4491037"/>
              <a:ext cx="1238250" cy="276225"/>
            </a:xfrm>
            <a:custGeom>
              <a:avLst/>
              <a:gdLst/>
              <a:ahLst/>
              <a:cxnLst/>
              <a:rect l="l" t="t" r="r" b="b"/>
              <a:pathLst>
                <a:path w="1238250" h="276225">
                  <a:moveTo>
                    <a:pt x="0" y="276225"/>
                  </a:moveTo>
                  <a:lnTo>
                    <a:pt x="1238250" y="276225"/>
                  </a:lnTo>
                  <a:lnTo>
                    <a:pt x="1238250" y="0"/>
                  </a:lnTo>
                  <a:lnTo>
                    <a:pt x="0" y="0"/>
                  </a:lnTo>
                  <a:lnTo>
                    <a:pt x="0" y="276225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1141412" y="4469447"/>
            <a:ext cx="1212850" cy="306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900" spc="-20">
                <a:latin typeface="Calibri"/>
                <a:cs typeface="Calibri"/>
              </a:rPr>
              <a:t>1969</a:t>
            </a:r>
            <a:endParaRPr sz="9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0"/>
              </a:spcBef>
            </a:pPr>
            <a:r>
              <a:rPr sz="900">
                <a:latin typeface="Calibri"/>
                <a:cs typeface="Calibri"/>
              </a:rPr>
              <a:t>Minsky</a:t>
            </a:r>
            <a:r>
              <a:rPr sz="900" spc="-10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&amp;</a:t>
            </a:r>
            <a:r>
              <a:rPr sz="900" spc="-25">
                <a:latin typeface="Calibri"/>
                <a:cs typeface="Calibri"/>
              </a:rPr>
              <a:t> </a:t>
            </a:r>
            <a:r>
              <a:rPr sz="900" spc="-10">
                <a:latin typeface="Calibri"/>
                <a:cs typeface="Calibri"/>
              </a:rPr>
              <a:t>Papert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2592451" y="4286250"/>
            <a:ext cx="1025525" cy="484505"/>
            <a:chOff x="2592451" y="4286250"/>
            <a:chExt cx="1025525" cy="484505"/>
          </a:xfrm>
        </p:grpSpPr>
        <p:sp>
          <p:nvSpPr>
            <p:cNvPr id="50" name="object 50"/>
            <p:cNvSpPr/>
            <p:nvPr/>
          </p:nvSpPr>
          <p:spPr>
            <a:xfrm>
              <a:off x="3533775" y="4305300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17145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2605151" y="4481512"/>
              <a:ext cx="1000125" cy="276225"/>
            </a:xfrm>
            <a:custGeom>
              <a:avLst/>
              <a:gdLst/>
              <a:ahLst/>
              <a:cxnLst/>
              <a:rect l="l" t="t" r="r" b="b"/>
              <a:pathLst>
                <a:path w="1000125" h="276225">
                  <a:moveTo>
                    <a:pt x="0" y="276225"/>
                  </a:moveTo>
                  <a:lnTo>
                    <a:pt x="1000125" y="276225"/>
                  </a:lnTo>
                  <a:lnTo>
                    <a:pt x="1000125" y="0"/>
                  </a:lnTo>
                  <a:lnTo>
                    <a:pt x="0" y="0"/>
                  </a:lnTo>
                  <a:lnTo>
                    <a:pt x="0" y="276225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2617851" y="4461192"/>
            <a:ext cx="974725" cy="306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900" spc="-20">
                <a:latin typeface="Calibri"/>
                <a:cs typeface="Calibri"/>
              </a:rPr>
              <a:t>1980</a:t>
            </a:r>
            <a:endParaRPr sz="9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45"/>
              </a:spcBef>
            </a:pPr>
            <a:r>
              <a:rPr sz="900" spc="-10">
                <a:latin typeface="Calibri"/>
                <a:cs typeface="Calibri"/>
              </a:rPr>
              <a:t>Neocognitron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3668776" y="4286250"/>
            <a:ext cx="768350" cy="494030"/>
            <a:chOff x="3668776" y="4286250"/>
            <a:chExt cx="768350" cy="494030"/>
          </a:xfrm>
        </p:grpSpPr>
        <p:sp>
          <p:nvSpPr>
            <p:cNvPr id="54" name="object 54"/>
            <p:cNvSpPr/>
            <p:nvPr/>
          </p:nvSpPr>
          <p:spPr>
            <a:xfrm>
              <a:off x="4219575" y="4305300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17145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681476" y="4491037"/>
              <a:ext cx="742950" cy="276225"/>
            </a:xfrm>
            <a:custGeom>
              <a:avLst/>
              <a:gdLst/>
              <a:ahLst/>
              <a:cxnLst/>
              <a:rect l="l" t="t" r="r" b="b"/>
              <a:pathLst>
                <a:path w="742950" h="276225">
                  <a:moveTo>
                    <a:pt x="0" y="276225"/>
                  </a:moveTo>
                  <a:lnTo>
                    <a:pt x="742950" y="276225"/>
                  </a:lnTo>
                  <a:lnTo>
                    <a:pt x="742950" y="0"/>
                  </a:lnTo>
                  <a:lnTo>
                    <a:pt x="0" y="0"/>
                  </a:lnTo>
                  <a:lnTo>
                    <a:pt x="0" y="276225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3694176" y="4469447"/>
            <a:ext cx="717550" cy="306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900" spc="-20">
                <a:latin typeface="Calibri"/>
                <a:cs typeface="Calibri"/>
              </a:rPr>
              <a:t>1985</a:t>
            </a:r>
            <a:endParaRPr sz="9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0"/>
              </a:spcBef>
            </a:pPr>
            <a:r>
              <a:rPr sz="900" spc="-10">
                <a:latin typeface="Calibri"/>
                <a:cs typeface="Calibri"/>
              </a:rPr>
              <a:t>Backprop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6548501" y="4491037"/>
            <a:ext cx="838200" cy="276225"/>
          </a:xfrm>
          <a:custGeom>
            <a:avLst/>
            <a:gdLst/>
            <a:ahLst/>
            <a:cxnLst/>
            <a:rect l="l" t="t" r="r" b="b"/>
            <a:pathLst>
              <a:path w="838200" h="276225">
                <a:moveTo>
                  <a:pt x="0" y="276225"/>
                </a:moveTo>
                <a:lnTo>
                  <a:pt x="838200" y="276225"/>
                </a:lnTo>
                <a:lnTo>
                  <a:pt x="838200" y="0"/>
                </a:lnTo>
                <a:lnTo>
                  <a:pt x="0" y="0"/>
                </a:lnTo>
                <a:lnTo>
                  <a:pt x="0" y="276225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 txBox="1"/>
          <p:nvPr/>
        </p:nvSpPr>
        <p:spPr>
          <a:xfrm>
            <a:off x="6561201" y="4484687"/>
            <a:ext cx="812800" cy="2755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25"/>
              </a:spcBef>
            </a:pPr>
            <a:r>
              <a:rPr sz="800" spc="-20">
                <a:latin typeface="Calibri"/>
                <a:cs typeface="Calibri"/>
              </a:rPr>
              <a:t>2006</a:t>
            </a:r>
            <a:endParaRPr sz="800">
              <a:latin typeface="Calibri"/>
              <a:cs typeface="Calibri"/>
            </a:endParaRPr>
          </a:p>
          <a:p>
            <a:pPr marL="4445" algn="ctr">
              <a:lnSpc>
                <a:spcPct val="100000"/>
              </a:lnSpc>
              <a:spcBef>
                <a:spcPts val="20"/>
              </a:spcBef>
            </a:pPr>
            <a:r>
              <a:rPr sz="800" spc="-10">
                <a:latin typeface="Calibri"/>
                <a:cs typeface="Calibri"/>
              </a:rPr>
              <a:t>Deep Learning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104775" y="4305300"/>
            <a:ext cx="7827645" cy="171450"/>
          </a:xfrm>
          <a:custGeom>
            <a:avLst/>
            <a:gdLst/>
            <a:ahLst/>
            <a:cxnLst/>
            <a:rect l="l" t="t" r="r" b="b"/>
            <a:pathLst>
              <a:path w="7827645" h="171450">
                <a:moveTo>
                  <a:pt x="6991350" y="171450"/>
                </a:moveTo>
                <a:lnTo>
                  <a:pt x="6991350" y="0"/>
                </a:lnTo>
              </a:path>
              <a:path w="7827645" h="171450">
                <a:moveTo>
                  <a:pt x="0" y="0"/>
                </a:moveTo>
                <a:lnTo>
                  <a:pt x="4395851" y="0"/>
                </a:lnTo>
              </a:path>
              <a:path w="7827645" h="171450">
                <a:moveTo>
                  <a:pt x="5215001" y="0"/>
                </a:moveTo>
                <a:lnTo>
                  <a:pt x="7827645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 txBox="1"/>
          <p:nvPr/>
        </p:nvSpPr>
        <p:spPr>
          <a:xfrm>
            <a:off x="4500626" y="4205287"/>
            <a:ext cx="819150" cy="209550"/>
          </a:xfrm>
          <a:prstGeom prst="rect">
            <a:avLst/>
          </a:prstGeom>
          <a:solidFill>
            <a:srgbClr val="4F81BC"/>
          </a:solidFill>
          <a:ln w="25400">
            <a:solidFill>
              <a:srgbClr val="385D89"/>
            </a:solidFill>
          </a:ln>
        </p:spPr>
        <p:txBody>
          <a:bodyPr vert="horz" wrap="square" lIns="0" tIns="16510" rIns="0" bIns="0" rtlCol="0">
            <a:spAutoFit/>
          </a:bodyPr>
          <a:lstStyle/>
          <a:p>
            <a:pPr marL="149860">
              <a:lnSpc>
                <a:spcPct val="100000"/>
              </a:lnSpc>
              <a:spcBef>
                <a:spcPts val="130"/>
              </a:spcBef>
            </a:pPr>
            <a:r>
              <a:rPr sz="1050">
                <a:solidFill>
                  <a:srgbClr val="FFFFFF"/>
                </a:solidFill>
                <a:latin typeface="Calibri"/>
                <a:cs typeface="Calibri"/>
              </a:rPr>
              <a:t>AI</a:t>
            </a:r>
            <a:r>
              <a:rPr sz="1050" spc="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spc="-10">
                <a:solidFill>
                  <a:srgbClr val="FFFFFF"/>
                </a:solidFill>
                <a:latin typeface="Calibri"/>
                <a:cs typeface="Calibri"/>
              </a:rPr>
              <a:t>Winter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7643494" y="4822825"/>
            <a:ext cx="12077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>
                <a:solidFill>
                  <a:srgbClr val="FFFFFF"/>
                </a:solidFill>
                <a:latin typeface="Calibri"/>
                <a:cs typeface="Calibri"/>
              </a:rPr>
              <a:t>April 1,</a:t>
            </a:r>
            <a:r>
              <a:rPr sz="1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>
                <a:solidFill>
                  <a:srgbClr val="FFFFFF"/>
                </a:solidFill>
                <a:latin typeface="Calibri"/>
                <a:cs typeface="Calibri"/>
              </a:rPr>
              <a:t>2025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5647054" y="4817745"/>
            <a:ext cx="2546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>
                <a:solidFill>
                  <a:srgbClr val="FFFFFF"/>
                </a:solidFill>
                <a:latin typeface="Calibri"/>
                <a:cs typeface="Calibri"/>
              </a:rPr>
              <a:t>45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4325" y="1152525"/>
            <a:ext cx="8515350" cy="33147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12825" y="202818"/>
            <a:ext cx="7132320" cy="956944"/>
          </a:xfrm>
          <a:prstGeom prst="rect">
            <a:avLst/>
          </a:prstGeom>
        </p:spPr>
        <p:txBody>
          <a:bodyPr vert="horz" wrap="square" lIns="0" tIns="1758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85"/>
              </a:spcBef>
            </a:pPr>
            <a:r>
              <a:rPr sz="3000"/>
              <a:t>2012</a:t>
            </a:r>
            <a:r>
              <a:rPr sz="3000" spc="-60"/>
              <a:t> </a:t>
            </a:r>
            <a:r>
              <a:rPr sz="3000"/>
              <a:t>to</a:t>
            </a:r>
            <a:r>
              <a:rPr sz="3000" spc="-45"/>
              <a:t> </a:t>
            </a:r>
            <a:r>
              <a:rPr sz="3000"/>
              <a:t>Present:</a:t>
            </a:r>
            <a:r>
              <a:rPr sz="3000" spc="-25"/>
              <a:t> </a:t>
            </a:r>
            <a:r>
              <a:rPr sz="3000"/>
              <a:t>Deep</a:t>
            </a:r>
            <a:r>
              <a:rPr sz="3000" spc="-45"/>
              <a:t> </a:t>
            </a:r>
            <a:r>
              <a:rPr sz="3000"/>
              <a:t>Learning</a:t>
            </a:r>
            <a:r>
              <a:rPr sz="3000" spc="-30"/>
              <a:t> </a:t>
            </a:r>
            <a:r>
              <a:rPr sz="3000"/>
              <a:t>is</a:t>
            </a:r>
            <a:r>
              <a:rPr sz="3000" spc="-25"/>
              <a:t> </a:t>
            </a:r>
            <a:r>
              <a:rPr sz="3000" spc="-10"/>
              <a:t>Everywhere</a:t>
            </a:r>
            <a:endParaRPr sz="3000"/>
          </a:p>
          <a:p>
            <a:pPr marL="690245">
              <a:lnSpc>
                <a:spcPct val="100000"/>
              </a:lnSpc>
              <a:spcBef>
                <a:spcPts val="645"/>
              </a:spcBef>
              <a:tabLst>
                <a:tab pos="4853940" algn="l"/>
              </a:tabLst>
            </a:pPr>
            <a:r>
              <a:rPr sz="1500"/>
              <a:t>Image</a:t>
            </a:r>
            <a:r>
              <a:rPr sz="1500" spc="-60"/>
              <a:t> </a:t>
            </a:r>
            <a:r>
              <a:rPr sz="1500" spc="-10"/>
              <a:t>Classification</a:t>
            </a:r>
            <a:r>
              <a:rPr sz="1500"/>
              <a:t>	Image</a:t>
            </a:r>
            <a:r>
              <a:rPr sz="1500" spc="-40"/>
              <a:t> </a:t>
            </a:r>
            <a:r>
              <a:rPr sz="1500" spc="-10"/>
              <a:t>Retrieval</a:t>
            </a:r>
            <a:endParaRPr sz="15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32</a:t>
            </a:fld>
            <a:endParaRPr spc="-25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>
              <a:lnSpc>
                <a:spcPts val="1810"/>
              </a:lnSpc>
            </a:pPr>
            <a:r>
              <a:t>April 1,</a:t>
            </a:r>
            <a:r>
              <a:rPr spc="-35"/>
              <a:t> </a:t>
            </a:r>
            <a:r>
              <a:rPr spc="-20"/>
              <a:t>2025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t>CS231n:</a:t>
            </a:r>
            <a:r>
              <a:rPr spc="-5"/>
              <a:t> </a:t>
            </a:r>
            <a:r>
              <a:t>Lecture</a:t>
            </a:r>
            <a:r>
              <a:rPr spc="95"/>
              <a:t> </a:t>
            </a:r>
            <a:r>
              <a:t>1</a:t>
            </a:r>
            <a:r>
              <a:rPr spc="15"/>
              <a:t> </a:t>
            </a:r>
            <a:r>
              <a:rPr spc="-50"/>
              <a:t>-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07657" y="4910517"/>
            <a:ext cx="2085339" cy="1536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Fei-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Fei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Li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9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Ehsan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Adeli</a:t>
            </a: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90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Zane Durante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66645" y="4498022"/>
            <a:ext cx="332041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>
                <a:solidFill>
                  <a:srgbClr val="BEBEBE"/>
                </a:solidFill>
                <a:latin typeface="Calibri"/>
                <a:cs typeface="Calibri"/>
              </a:rPr>
              <a:t>Figures</a:t>
            </a:r>
            <a:r>
              <a:rPr sz="600" spc="-3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600">
                <a:solidFill>
                  <a:srgbClr val="BEBEBE"/>
                </a:solidFill>
                <a:latin typeface="Calibri"/>
                <a:cs typeface="Calibri"/>
              </a:rPr>
              <a:t>copyright</a:t>
            </a:r>
            <a:r>
              <a:rPr sz="600" spc="2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600" spc="-10">
                <a:solidFill>
                  <a:srgbClr val="BEBEBE"/>
                </a:solidFill>
                <a:latin typeface="Calibri"/>
                <a:cs typeface="Calibri"/>
              </a:rPr>
              <a:t>Alex</a:t>
            </a:r>
            <a:r>
              <a:rPr sz="600" spc="-15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600">
                <a:solidFill>
                  <a:srgbClr val="BEBEBE"/>
                </a:solidFill>
                <a:latin typeface="Calibri"/>
                <a:cs typeface="Calibri"/>
              </a:rPr>
              <a:t>Krizhevsky,</a:t>
            </a:r>
            <a:r>
              <a:rPr sz="600" spc="-5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600">
                <a:solidFill>
                  <a:srgbClr val="BEBEBE"/>
                </a:solidFill>
                <a:latin typeface="Calibri"/>
                <a:cs typeface="Calibri"/>
              </a:rPr>
              <a:t>Ilya</a:t>
            </a:r>
            <a:r>
              <a:rPr sz="600" spc="5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600">
                <a:solidFill>
                  <a:srgbClr val="BEBEBE"/>
                </a:solidFill>
                <a:latin typeface="Calibri"/>
                <a:cs typeface="Calibri"/>
              </a:rPr>
              <a:t>Sutskever,</a:t>
            </a:r>
            <a:r>
              <a:rPr sz="600" spc="-5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600">
                <a:solidFill>
                  <a:srgbClr val="BEBEBE"/>
                </a:solidFill>
                <a:latin typeface="Calibri"/>
                <a:cs typeface="Calibri"/>
              </a:rPr>
              <a:t>and</a:t>
            </a:r>
            <a:r>
              <a:rPr sz="600" spc="-2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600" spc="-10">
                <a:solidFill>
                  <a:srgbClr val="BEBEBE"/>
                </a:solidFill>
                <a:latin typeface="Calibri"/>
                <a:cs typeface="Calibri"/>
              </a:rPr>
              <a:t>Geoffrey</a:t>
            </a:r>
            <a:r>
              <a:rPr sz="600" spc="-35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600">
                <a:solidFill>
                  <a:srgbClr val="BEBEBE"/>
                </a:solidFill>
                <a:latin typeface="Calibri"/>
                <a:cs typeface="Calibri"/>
              </a:rPr>
              <a:t>Hinton,</a:t>
            </a:r>
            <a:r>
              <a:rPr sz="600" spc="-5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600">
                <a:solidFill>
                  <a:srgbClr val="BEBEBE"/>
                </a:solidFill>
                <a:latin typeface="Calibri"/>
                <a:cs typeface="Calibri"/>
              </a:rPr>
              <a:t>2012.</a:t>
            </a:r>
            <a:r>
              <a:rPr sz="600" spc="-5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600" spc="-20">
                <a:solidFill>
                  <a:srgbClr val="BEBEBE"/>
                </a:solidFill>
                <a:latin typeface="Calibri"/>
                <a:cs typeface="Calibri"/>
              </a:rPr>
              <a:t>Rep</a:t>
            </a:r>
            <a:r>
              <a:rPr sz="600" spc="-8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600" spc="-10">
                <a:solidFill>
                  <a:srgbClr val="BEBEBE"/>
                </a:solidFill>
                <a:latin typeface="Calibri"/>
                <a:cs typeface="Calibri"/>
              </a:rPr>
              <a:t>roduced</a:t>
            </a:r>
            <a:r>
              <a:rPr sz="600" spc="-2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600">
                <a:solidFill>
                  <a:srgbClr val="BEBEBE"/>
                </a:solidFill>
                <a:latin typeface="Calibri"/>
                <a:cs typeface="Calibri"/>
              </a:rPr>
              <a:t>with</a:t>
            </a:r>
            <a:r>
              <a:rPr sz="600" spc="-2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600" spc="-10">
                <a:solidFill>
                  <a:srgbClr val="BEBEBE"/>
                </a:solidFill>
                <a:latin typeface="Calibri"/>
                <a:cs typeface="Calibri"/>
              </a:rPr>
              <a:t>permission.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13840" y="3200079"/>
            <a:ext cx="140335" cy="151257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>
                <a:latin typeface="Calibri"/>
                <a:cs typeface="Calibri"/>
              </a:rPr>
              <a:t>Slide</a:t>
            </a:r>
            <a:r>
              <a:rPr sz="900" spc="-40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inspiration:</a:t>
            </a:r>
            <a:r>
              <a:rPr sz="900" spc="-50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Justin</a:t>
            </a:r>
            <a:r>
              <a:rPr sz="900" spc="15">
                <a:latin typeface="Calibri"/>
                <a:cs typeface="Calibri"/>
              </a:rPr>
              <a:t> </a:t>
            </a:r>
            <a:r>
              <a:rPr sz="900" spc="-10">
                <a:latin typeface="Calibri"/>
                <a:cs typeface="Calibri"/>
              </a:rPr>
              <a:t>Johnson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71878" y="927480"/>
            <a:ext cx="6002655" cy="255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389120" algn="l"/>
              </a:tabLst>
            </a:pPr>
            <a:r>
              <a:rPr sz="1500">
                <a:latin typeface="Calibri"/>
                <a:cs typeface="Calibri"/>
              </a:rPr>
              <a:t>Object</a:t>
            </a:r>
            <a:r>
              <a:rPr sz="1500" spc="-65">
                <a:latin typeface="Calibri"/>
                <a:cs typeface="Calibri"/>
              </a:rPr>
              <a:t> </a:t>
            </a:r>
            <a:r>
              <a:rPr sz="1500" spc="-10">
                <a:latin typeface="Calibri"/>
                <a:cs typeface="Calibri"/>
              </a:rPr>
              <a:t>Detection</a:t>
            </a:r>
            <a:r>
              <a:rPr sz="1500">
                <a:latin typeface="Calibri"/>
                <a:cs typeface="Calibri"/>
              </a:rPr>
              <a:t>	Image</a:t>
            </a:r>
            <a:r>
              <a:rPr sz="1500" spc="-50">
                <a:latin typeface="Calibri"/>
                <a:cs typeface="Calibri"/>
              </a:rPr>
              <a:t> </a:t>
            </a:r>
            <a:r>
              <a:rPr sz="1500" spc="-10">
                <a:latin typeface="Calibri"/>
                <a:cs typeface="Calibri"/>
              </a:rPr>
              <a:t>Segmentation</a:t>
            </a:r>
            <a:endParaRPr sz="15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925" y="1228725"/>
            <a:ext cx="3990975" cy="29718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95800" y="1228725"/>
            <a:ext cx="4486275" cy="29718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32510" y="4236720"/>
            <a:ext cx="2277745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>
                <a:latin typeface="Calibri"/>
                <a:cs typeface="Calibri"/>
              </a:rPr>
              <a:t>Ren,</a:t>
            </a:r>
            <a:r>
              <a:rPr sz="1350" spc="-5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He,</a:t>
            </a:r>
            <a:r>
              <a:rPr sz="1350" spc="-40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Girshick, </a:t>
            </a:r>
            <a:r>
              <a:rPr sz="1350" spc="-10">
                <a:latin typeface="Calibri"/>
                <a:cs typeface="Calibri"/>
              </a:rPr>
              <a:t>and</a:t>
            </a:r>
            <a:r>
              <a:rPr sz="1350" spc="-65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Sun,</a:t>
            </a:r>
            <a:r>
              <a:rPr sz="1350" spc="-65">
                <a:latin typeface="Calibri"/>
                <a:cs typeface="Calibri"/>
              </a:rPr>
              <a:t> </a:t>
            </a:r>
            <a:r>
              <a:rPr sz="1350" spc="-20">
                <a:latin typeface="Calibri"/>
                <a:cs typeface="Calibri"/>
              </a:rPr>
              <a:t>2015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33</a:t>
            </a:fld>
            <a:endParaRPr spc="-25"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>
              <a:lnSpc>
                <a:spcPts val="1810"/>
              </a:lnSpc>
            </a:pPr>
            <a:r>
              <a:t>April 1,</a:t>
            </a:r>
            <a:r>
              <a:rPr spc="-35"/>
              <a:t> </a:t>
            </a:r>
            <a:r>
              <a:rPr spc="-20"/>
              <a:t>2025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t>CS231n:</a:t>
            </a:r>
            <a:r>
              <a:rPr spc="-5"/>
              <a:t> </a:t>
            </a:r>
            <a:r>
              <a:t>Lecture</a:t>
            </a:r>
            <a:r>
              <a:rPr spc="95"/>
              <a:t> </a:t>
            </a:r>
            <a:r>
              <a:t>1</a:t>
            </a:r>
            <a:r>
              <a:rPr spc="15"/>
              <a:t> </a:t>
            </a:r>
            <a:r>
              <a:rPr spc="-50"/>
              <a:t>-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07657" y="4910517"/>
            <a:ext cx="2085339" cy="1536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Fei-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Fei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Li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9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Ehsan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Adeli</a:t>
            </a: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90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Zane Durante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98285" y="4236084"/>
            <a:ext cx="1332230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10">
                <a:latin typeface="Calibri"/>
                <a:cs typeface="Calibri"/>
              </a:rPr>
              <a:t>Fabaret</a:t>
            </a:r>
            <a:r>
              <a:rPr sz="1350" spc="-35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et</a:t>
            </a:r>
            <a:r>
              <a:rPr sz="1350" spc="5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al,</a:t>
            </a:r>
            <a:r>
              <a:rPr sz="1350" spc="-30">
                <a:latin typeface="Calibri"/>
                <a:cs typeface="Calibri"/>
              </a:rPr>
              <a:t> </a:t>
            </a:r>
            <a:r>
              <a:rPr sz="1350" spc="-20">
                <a:latin typeface="Calibri"/>
                <a:cs typeface="Calibri"/>
              </a:rPr>
              <a:t>2012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0430" rIns="0" bIns="0" rtlCol="0">
            <a:spAutoFit/>
          </a:bodyPr>
          <a:lstStyle/>
          <a:p>
            <a:pPr marL="95250">
              <a:lnSpc>
                <a:spcPct val="100000"/>
              </a:lnSpc>
              <a:spcBef>
                <a:spcPts val="105"/>
              </a:spcBef>
            </a:pPr>
            <a:r>
              <a:rPr sz="3000"/>
              <a:t>2012</a:t>
            </a:r>
            <a:r>
              <a:rPr sz="3000" spc="-60"/>
              <a:t> </a:t>
            </a:r>
            <a:r>
              <a:rPr sz="3000"/>
              <a:t>to</a:t>
            </a:r>
            <a:r>
              <a:rPr sz="3000" spc="-45"/>
              <a:t> </a:t>
            </a:r>
            <a:r>
              <a:rPr sz="3000"/>
              <a:t>Present:</a:t>
            </a:r>
            <a:r>
              <a:rPr sz="3000" spc="-25"/>
              <a:t> </a:t>
            </a:r>
            <a:r>
              <a:rPr sz="3000"/>
              <a:t>Deep</a:t>
            </a:r>
            <a:r>
              <a:rPr sz="3000" spc="-45"/>
              <a:t> </a:t>
            </a:r>
            <a:r>
              <a:rPr sz="3000"/>
              <a:t>Learning</a:t>
            </a:r>
            <a:r>
              <a:rPr sz="3000" spc="-30"/>
              <a:t> </a:t>
            </a:r>
            <a:r>
              <a:rPr sz="3000"/>
              <a:t>is</a:t>
            </a:r>
            <a:r>
              <a:rPr sz="3000" spc="-25"/>
              <a:t> </a:t>
            </a:r>
            <a:r>
              <a:rPr sz="3000" spc="-10"/>
              <a:t>Everywhere</a:t>
            </a:r>
            <a:endParaRPr sz="3000"/>
          </a:p>
        </p:txBody>
      </p:sp>
      <p:sp>
        <p:nvSpPr>
          <p:cNvPr id="8" name="object 8"/>
          <p:cNvSpPr txBox="1"/>
          <p:nvPr/>
        </p:nvSpPr>
        <p:spPr>
          <a:xfrm>
            <a:off x="9013840" y="3200079"/>
            <a:ext cx="140335" cy="151257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>
                <a:latin typeface="Calibri"/>
                <a:cs typeface="Calibri"/>
              </a:rPr>
              <a:t>Slide</a:t>
            </a:r>
            <a:r>
              <a:rPr sz="900" spc="-40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inspiration:</a:t>
            </a:r>
            <a:r>
              <a:rPr sz="900" spc="-50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Justin</a:t>
            </a:r>
            <a:r>
              <a:rPr sz="900" spc="15">
                <a:latin typeface="Calibri"/>
                <a:cs typeface="Calibri"/>
              </a:rPr>
              <a:t> </a:t>
            </a:r>
            <a:r>
              <a:rPr sz="900" spc="-10">
                <a:latin typeface="Calibri"/>
                <a:cs typeface="Calibri"/>
              </a:rPr>
              <a:t>Johnson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575" y="1952625"/>
            <a:ext cx="4714875" cy="172402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81575" y="1771650"/>
            <a:ext cx="3924300" cy="206692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642110" y="1457261"/>
            <a:ext cx="152400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>
                <a:latin typeface="Calibri"/>
                <a:cs typeface="Calibri"/>
              </a:rPr>
              <a:t>Video </a:t>
            </a:r>
            <a:r>
              <a:rPr sz="1500" spc="-10">
                <a:latin typeface="Calibri"/>
                <a:cs typeface="Calibri"/>
              </a:rPr>
              <a:t>Classification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34</a:t>
            </a:fld>
            <a:endParaRPr spc="-25"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>
              <a:lnSpc>
                <a:spcPts val="1810"/>
              </a:lnSpc>
            </a:pPr>
            <a:r>
              <a:t>April 1,</a:t>
            </a:r>
            <a:r>
              <a:rPr spc="-35"/>
              <a:t> </a:t>
            </a:r>
            <a:r>
              <a:rPr spc="-20"/>
              <a:t>2025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t>CS231n:</a:t>
            </a:r>
            <a:r>
              <a:rPr spc="-5"/>
              <a:t> </a:t>
            </a:r>
            <a:r>
              <a:t>Lecture</a:t>
            </a:r>
            <a:r>
              <a:rPr spc="95"/>
              <a:t> </a:t>
            </a:r>
            <a:r>
              <a:t>1</a:t>
            </a:r>
            <a:r>
              <a:rPr spc="15"/>
              <a:t> </a:t>
            </a:r>
            <a:r>
              <a:rPr spc="-50"/>
              <a:t>-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07657" y="4910517"/>
            <a:ext cx="2085339" cy="1536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Fei-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Fei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Li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9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Ehsan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Adeli</a:t>
            </a: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90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Zane Durante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11951" y="1457261"/>
            <a:ext cx="156210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>
                <a:latin typeface="Calibri"/>
                <a:cs typeface="Calibri"/>
              </a:rPr>
              <a:t>Activity</a:t>
            </a:r>
            <a:r>
              <a:rPr sz="1500" spc="-80">
                <a:latin typeface="Calibri"/>
                <a:cs typeface="Calibri"/>
              </a:rPr>
              <a:t> </a:t>
            </a:r>
            <a:r>
              <a:rPr sz="1500" spc="-10">
                <a:latin typeface="Calibri"/>
                <a:cs typeface="Calibri"/>
              </a:rPr>
              <a:t>Recognition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20291" y="3743325"/>
            <a:ext cx="1480820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10">
                <a:latin typeface="Calibri"/>
                <a:cs typeface="Calibri"/>
              </a:rPr>
              <a:t>Simonyan</a:t>
            </a:r>
            <a:r>
              <a:rPr sz="1350" spc="-5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et</a:t>
            </a:r>
            <a:r>
              <a:rPr sz="1350" spc="-20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al,</a:t>
            </a:r>
            <a:r>
              <a:rPr sz="1350" spc="-50">
                <a:latin typeface="Calibri"/>
                <a:cs typeface="Calibri"/>
              </a:rPr>
              <a:t> </a:t>
            </a:r>
            <a:r>
              <a:rPr sz="1350" spc="-20">
                <a:latin typeface="Calibri"/>
                <a:cs typeface="Calibri"/>
              </a:rPr>
              <a:t>2014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0430" rIns="0" bIns="0" rtlCol="0">
            <a:spAutoFit/>
          </a:bodyPr>
          <a:lstStyle/>
          <a:p>
            <a:pPr marL="95250">
              <a:lnSpc>
                <a:spcPct val="100000"/>
              </a:lnSpc>
              <a:spcBef>
                <a:spcPts val="105"/>
              </a:spcBef>
            </a:pPr>
            <a:r>
              <a:rPr sz="3000"/>
              <a:t>2012</a:t>
            </a:r>
            <a:r>
              <a:rPr sz="3000" spc="-60"/>
              <a:t> </a:t>
            </a:r>
            <a:r>
              <a:rPr sz="3000"/>
              <a:t>to</a:t>
            </a:r>
            <a:r>
              <a:rPr sz="3000" spc="-45"/>
              <a:t> </a:t>
            </a:r>
            <a:r>
              <a:rPr sz="3000"/>
              <a:t>Present:</a:t>
            </a:r>
            <a:r>
              <a:rPr sz="3000" spc="-25"/>
              <a:t> </a:t>
            </a:r>
            <a:r>
              <a:rPr sz="3000"/>
              <a:t>Deep</a:t>
            </a:r>
            <a:r>
              <a:rPr sz="3000" spc="-45"/>
              <a:t> </a:t>
            </a:r>
            <a:r>
              <a:rPr sz="3000"/>
              <a:t>Learning</a:t>
            </a:r>
            <a:r>
              <a:rPr sz="3000" spc="-30"/>
              <a:t> </a:t>
            </a:r>
            <a:r>
              <a:rPr sz="3000"/>
              <a:t>is</a:t>
            </a:r>
            <a:r>
              <a:rPr sz="3000" spc="-25"/>
              <a:t> </a:t>
            </a:r>
            <a:r>
              <a:rPr sz="3000" spc="-10"/>
              <a:t>Everywhere</a:t>
            </a:r>
            <a:endParaRPr sz="3000"/>
          </a:p>
        </p:txBody>
      </p:sp>
      <p:sp>
        <p:nvSpPr>
          <p:cNvPr id="8" name="object 8"/>
          <p:cNvSpPr txBox="1"/>
          <p:nvPr/>
        </p:nvSpPr>
        <p:spPr>
          <a:xfrm>
            <a:off x="9013840" y="3200079"/>
            <a:ext cx="140335" cy="151257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>
                <a:latin typeface="Calibri"/>
                <a:cs typeface="Calibri"/>
              </a:rPr>
              <a:t>Slide</a:t>
            </a:r>
            <a:r>
              <a:rPr sz="900" spc="-40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inspiration:</a:t>
            </a:r>
            <a:r>
              <a:rPr sz="900" spc="-50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Justin</a:t>
            </a:r>
            <a:r>
              <a:rPr sz="900" spc="15">
                <a:latin typeface="Calibri"/>
                <a:cs typeface="Calibri"/>
              </a:rPr>
              <a:t> </a:t>
            </a:r>
            <a:r>
              <a:rPr sz="900" spc="-10">
                <a:latin typeface="Calibri"/>
                <a:cs typeface="Calibri"/>
              </a:rPr>
              <a:t>Johnson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5775" y="1181100"/>
            <a:ext cx="8172450" cy="13716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1475" y="3124200"/>
            <a:ext cx="4219575" cy="13239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53000" y="3057525"/>
            <a:ext cx="3562350" cy="155257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012825" y="297306"/>
            <a:ext cx="7132320" cy="81470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40"/>
              </a:spcBef>
            </a:pPr>
            <a:r>
              <a:rPr sz="3000"/>
              <a:t>2012</a:t>
            </a:r>
            <a:r>
              <a:rPr sz="3000" spc="-60"/>
              <a:t> </a:t>
            </a:r>
            <a:r>
              <a:rPr sz="3000"/>
              <a:t>to</a:t>
            </a:r>
            <a:r>
              <a:rPr sz="3000" spc="-45"/>
              <a:t> </a:t>
            </a:r>
            <a:r>
              <a:rPr sz="3000"/>
              <a:t>Present:</a:t>
            </a:r>
            <a:r>
              <a:rPr sz="3000" spc="-25"/>
              <a:t> </a:t>
            </a:r>
            <a:r>
              <a:rPr sz="3000"/>
              <a:t>Deep</a:t>
            </a:r>
            <a:r>
              <a:rPr sz="3000" spc="-45"/>
              <a:t> </a:t>
            </a:r>
            <a:r>
              <a:rPr sz="3000"/>
              <a:t>Learning</a:t>
            </a:r>
            <a:r>
              <a:rPr sz="3000" spc="-30"/>
              <a:t> </a:t>
            </a:r>
            <a:r>
              <a:rPr sz="3000"/>
              <a:t>is</a:t>
            </a:r>
            <a:r>
              <a:rPr sz="3000" spc="-25"/>
              <a:t> </a:t>
            </a:r>
            <a:r>
              <a:rPr sz="3000" spc="-10"/>
              <a:t>Everywhere</a:t>
            </a:r>
            <a:endParaRPr sz="3000"/>
          </a:p>
          <a:p>
            <a:pPr algn="ctr">
              <a:lnSpc>
                <a:spcPct val="100000"/>
              </a:lnSpc>
              <a:spcBef>
                <a:spcPts val="275"/>
              </a:spcBef>
            </a:pPr>
            <a:r>
              <a:rPr sz="1500"/>
              <a:t>Pose</a:t>
            </a:r>
            <a:r>
              <a:rPr sz="1500" spc="-10"/>
              <a:t> Recognition</a:t>
            </a:r>
            <a:r>
              <a:rPr sz="1500" spc="-40"/>
              <a:t> </a:t>
            </a:r>
            <a:r>
              <a:rPr sz="1500" spc="-10"/>
              <a:t>(Toshev</a:t>
            </a:r>
            <a:r>
              <a:rPr sz="1500" spc="-60"/>
              <a:t> </a:t>
            </a:r>
            <a:r>
              <a:rPr sz="1500"/>
              <a:t>and</a:t>
            </a:r>
            <a:r>
              <a:rPr sz="1500" spc="-35"/>
              <a:t> </a:t>
            </a:r>
            <a:r>
              <a:rPr sz="1500" spc="-20"/>
              <a:t>Szegedy,</a:t>
            </a:r>
            <a:r>
              <a:rPr sz="1500" spc="-5"/>
              <a:t> </a:t>
            </a:r>
            <a:r>
              <a:rPr sz="1500" spc="-10"/>
              <a:t>2014)</a:t>
            </a:r>
            <a:endParaRPr sz="150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35</a:t>
            </a:fld>
            <a:endParaRPr spc="-25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>
              <a:lnSpc>
                <a:spcPts val="1810"/>
              </a:lnSpc>
            </a:pPr>
            <a:r>
              <a:t>April 1,</a:t>
            </a:r>
            <a:r>
              <a:rPr spc="-35"/>
              <a:t> </a:t>
            </a:r>
            <a:r>
              <a:rPr spc="-20"/>
              <a:t>2025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t>CS231n:</a:t>
            </a:r>
            <a:r>
              <a:rPr spc="-5"/>
              <a:t> </a:t>
            </a:r>
            <a:r>
              <a:t>Lecture</a:t>
            </a:r>
            <a:r>
              <a:rPr spc="95"/>
              <a:t> </a:t>
            </a:r>
            <a:r>
              <a:t>1</a:t>
            </a:r>
            <a:r>
              <a:rPr spc="15"/>
              <a:t> </a:t>
            </a:r>
            <a:r>
              <a:rPr spc="-50"/>
              <a:t>-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07657" y="4910517"/>
            <a:ext cx="2085339" cy="1536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Fei-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Fei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Li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9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Ehsan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Adeli</a:t>
            </a: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90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Zane Durante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49600" y="2778061"/>
            <a:ext cx="287337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>
                <a:latin typeface="Calibri"/>
                <a:cs typeface="Calibri"/>
              </a:rPr>
              <a:t>Playing</a:t>
            </a:r>
            <a:r>
              <a:rPr sz="1500" spc="-25">
                <a:latin typeface="Calibri"/>
                <a:cs typeface="Calibri"/>
              </a:rPr>
              <a:t> </a:t>
            </a:r>
            <a:r>
              <a:rPr sz="1500">
                <a:latin typeface="Calibri"/>
                <a:cs typeface="Calibri"/>
              </a:rPr>
              <a:t>Atari</a:t>
            </a:r>
            <a:r>
              <a:rPr sz="1500" spc="-30">
                <a:latin typeface="Calibri"/>
                <a:cs typeface="Calibri"/>
              </a:rPr>
              <a:t> </a:t>
            </a:r>
            <a:r>
              <a:rPr sz="1500">
                <a:latin typeface="Calibri"/>
                <a:cs typeface="Calibri"/>
              </a:rPr>
              <a:t>games</a:t>
            </a:r>
            <a:r>
              <a:rPr sz="1500" spc="-55">
                <a:latin typeface="Calibri"/>
                <a:cs typeface="Calibri"/>
              </a:rPr>
              <a:t> </a:t>
            </a:r>
            <a:r>
              <a:rPr sz="1500">
                <a:latin typeface="Calibri"/>
                <a:cs typeface="Calibri"/>
              </a:rPr>
              <a:t>(Guo</a:t>
            </a:r>
            <a:r>
              <a:rPr sz="1500" spc="-30">
                <a:latin typeface="Calibri"/>
                <a:cs typeface="Calibri"/>
              </a:rPr>
              <a:t> </a:t>
            </a:r>
            <a:r>
              <a:rPr sz="1500">
                <a:latin typeface="Calibri"/>
                <a:cs typeface="Calibri"/>
              </a:rPr>
              <a:t>et</a:t>
            </a:r>
            <a:r>
              <a:rPr sz="1500" spc="-35">
                <a:latin typeface="Calibri"/>
                <a:cs typeface="Calibri"/>
              </a:rPr>
              <a:t> </a:t>
            </a:r>
            <a:r>
              <a:rPr sz="1500">
                <a:latin typeface="Calibri"/>
                <a:cs typeface="Calibri"/>
              </a:rPr>
              <a:t>al,</a:t>
            </a:r>
            <a:r>
              <a:rPr sz="1500" spc="5">
                <a:latin typeface="Calibri"/>
                <a:cs typeface="Calibri"/>
              </a:rPr>
              <a:t> </a:t>
            </a:r>
            <a:r>
              <a:rPr sz="1500" spc="-20">
                <a:latin typeface="Calibri"/>
                <a:cs typeface="Calibri"/>
              </a:rPr>
              <a:t>2014)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13840" y="3200079"/>
            <a:ext cx="140335" cy="151257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>
                <a:latin typeface="Calibri"/>
                <a:cs typeface="Calibri"/>
              </a:rPr>
              <a:t>Slide</a:t>
            </a:r>
            <a:r>
              <a:rPr sz="900" spc="-40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inspiration:</a:t>
            </a:r>
            <a:r>
              <a:rPr sz="900" spc="-50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Justin</a:t>
            </a:r>
            <a:r>
              <a:rPr sz="900" spc="15">
                <a:latin typeface="Calibri"/>
                <a:cs typeface="Calibri"/>
              </a:rPr>
              <a:t> </a:t>
            </a:r>
            <a:r>
              <a:rPr sz="900" spc="-10">
                <a:latin typeface="Calibri"/>
                <a:cs typeface="Calibri"/>
              </a:rPr>
              <a:t>Johnson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8625" y="1076325"/>
            <a:ext cx="4419600" cy="189547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8625" y="3581400"/>
            <a:ext cx="4448175" cy="89535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24475" y="1304925"/>
            <a:ext cx="3390900" cy="314325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08025" y="2844228"/>
            <a:ext cx="2759710" cy="744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500">
                <a:latin typeface="Calibri"/>
                <a:cs typeface="Calibri"/>
              </a:rPr>
              <a:t>Levy</a:t>
            </a:r>
            <a:r>
              <a:rPr sz="1500" spc="-5">
                <a:latin typeface="Calibri"/>
                <a:cs typeface="Calibri"/>
              </a:rPr>
              <a:t> </a:t>
            </a:r>
            <a:r>
              <a:rPr sz="1500">
                <a:latin typeface="Calibri"/>
                <a:cs typeface="Calibri"/>
              </a:rPr>
              <a:t>et</a:t>
            </a:r>
            <a:r>
              <a:rPr sz="1500" spc="-35">
                <a:latin typeface="Calibri"/>
                <a:cs typeface="Calibri"/>
              </a:rPr>
              <a:t> </a:t>
            </a:r>
            <a:r>
              <a:rPr sz="1500">
                <a:latin typeface="Calibri"/>
                <a:cs typeface="Calibri"/>
              </a:rPr>
              <a:t>al,</a:t>
            </a:r>
            <a:r>
              <a:rPr sz="1500" spc="10">
                <a:latin typeface="Calibri"/>
                <a:cs typeface="Calibri"/>
              </a:rPr>
              <a:t> </a:t>
            </a:r>
            <a:r>
              <a:rPr sz="1500">
                <a:latin typeface="Calibri"/>
                <a:cs typeface="Calibri"/>
              </a:rPr>
              <a:t>2016</a:t>
            </a:r>
            <a:r>
              <a:rPr sz="1500" spc="-40">
                <a:latin typeface="Calibri"/>
                <a:cs typeface="Calibri"/>
              </a:rPr>
              <a:t> </a:t>
            </a:r>
            <a:r>
              <a:rPr sz="450">
                <a:solidFill>
                  <a:srgbClr val="BEBEBE"/>
                </a:solidFill>
                <a:latin typeface="Calibri"/>
                <a:cs typeface="Calibri"/>
              </a:rPr>
              <a:t>Figure</a:t>
            </a:r>
            <a:r>
              <a:rPr sz="450" spc="35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450" spc="-20">
                <a:solidFill>
                  <a:srgbClr val="BEBEBE"/>
                </a:solidFill>
                <a:latin typeface="Calibri"/>
                <a:cs typeface="Calibri"/>
              </a:rPr>
              <a:t>reprod</a:t>
            </a:r>
            <a:r>
              <a:rPr sz="450" spc="-4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450" spc="-10">
                <a:solidFill>
                  <a:srgbClr val="BEBEBE"/>
                </a:solidFill>
                <a:latin typeface="Calibri"/>
                <a:cs typeface="Calibri"/>
              </a:rPr>
              <a:t>uced</a:t>
            </a:r>
            <a:r>
              <a:rPr sz="450" spc="25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450" spc="-10">
                <a:solidFill>
                  <a:srgbClr val="BEBEBE"/>
                </a:solidFill>
                <a:latin typeface="Calibri"/>
                <a:cs typeface="Calibri"/>
              </a:rPr>
              <a:t>with</a:t>
            </a:r>
            <a:r>
              <a:rPr sz="450" spc="25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450" spc="-10">
                <a:solidFill>
                  <a:srgbClr val="BEBEBE"/>
                </a:solidFill>
                <a:latin typeface="Calibri"/>
                <a:cs typeface="Calibri"/>
              </a:rPr>
              <a:t>permissio</a:t>
            </a:r>
            <a:r>
              <a:rPr sz="450" spc="-4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450" spc="-50">
                <a:solidFill>
                  <a:srgbClr val="BEBEBE"/>
                </a:solidFill>
                <a:latin typeface="Calibri"/>
                <a:cs typeface="Calibri"/>
              </a:rPr>
              <a:t>n</a:t>
            </a:r>
            <a:endParaRPr sz="4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80"/>
              </a:spcBef>
            </a:pPr>
            <a:endParaRPr sz="450">
              <a:latin typeface="Calibri"/>
              <a:cs typeface="Calibri"/>
            </a:endParaRPr>
          </a:p>
          <a:p>
            <a:pPr marL="1181735">
              <a:lnSpc>
                <a:spcPct val="100000"/>
              </a:lnSpc>
            </a:pPr>
            <a:r>
              <a:rPr sz="1500">
                <a:latin typeface="Calibri"/>
                <a:cs typeface="Calibri"/>
              </a:rPr>
              <a:t>Galaxy</a:t>
            </a:r>
            <a:r>
              <a:rPr sz="1500" spc="-80">
                <a:latin typeface="Calibri"/>
                <a:cs typeface="Calibri"/>
              </a:rPr>
              <a:t> </a:t>
            </a:r>
            <a:r>
              <a:rPr sz="1500" spc="-10">
                <a:latin typeface="Calibri"/>
                <a:cs typeface="Calibri"/>
              </a:rPr>
              <a:t>Classification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03425" y="805116"/>
            <a:ext cx="5761355" cy="478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780"/>
              </a:lnSpc>
              <a:spcBef>
                <a:spcPts val="100"/>
              </a:spcBef>
            </a:pPr>
            <a:r>
              <a:rPr sz="1500" spc="-10">
                <a:latin typeface="Calibri"/>
                <a:cs typeface="Calibri"/>
              </a:rPr>
              <a:t>Medical</a:t>
            </a:r>
            <a:r>
              <a:rPr sz="1500" spc="-25">
                <a:latin typeface="Calibri"/>
                <a:cs typeface="Calibri"/>
              </a:rPr>
              <a:t> </a:t>
            </a:r>
            <a:r>
              <a:rPr sz="1500" spc="-10">
                <a:latin typeface="Calibri"/>
                <a:cs typeface="Calibri"/>
              </a:rPr>
              <a:t>Imaging</a:t>
            </a:r>
            <a:endParaRPr sz="1500">
              <a:latin typeface="Calibri"/>
              <a:cs typeface="Calibri"/>
            </a:endParaRPr>
          </a:p>
          <a:p>
            <a:pPr marL="4324985">
              <a:lnSpc>
                <a:spcPts val="1780"/>
              </a:lnSpc>
            </a:pPr>
            <a:r>
              <a:rPr sz="1500">
                <a:latin typeface="Calibri"/>
                <a:cs typeface="Calibri"/>
              </a:rPr>
              <a:t>Whale</a:t>
            </a:r>
            <a:r>
              <a:rPr sz="1500" spc="-45">
                <a:latin typeface="Calibri"/>
                <a:cs typeface="Calibri"/>
              </a:rPr>
              <a:t> </a:t>
            </a:r>
            <a:r>
              <a:rPr sz="1500" spc="-10">
                <a:latin typeface="Calibri"/>
                <a:cs typeface="Calibri"/>
              </a:rPr>
              <a:t>recognition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0394" y="4510722"/>
            <a:ext cx="161671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>
                <a:latin typeface="Calibri"/>
                <a:cs typeface="Calibri"/>
              </a:rPr>
              <a:t>Dieleman</a:t>
            </a:r>
            <a:r>
              <a:rPr sz="1500" spc="-30">
                <a:latin typeface="Calibri"/>
                <a:cs typeface="Calibri"/>
              </a:rPr>
              <a:t> </a:t>
            </a:r>
            <a:r>
              <a:rPr sz="1500">
                <a:latin typeface="Calibri"/>
                <a:cs typeface="Calibri"/>
              </a:rPr>
              <a:t>et</a:t>
            </a:r>
            <a:r>
              <a:rPr sz="1500" spc="-40">
                <a:latin typeface="Calibri"/>
                <a:cs typeface="Calibri"/>
              </a:rPr>
              <a:t> </a:t>
            </a:r>
            <a:r>
              <a:rPr sz="1500">
                <a:latin typeface="Calibri"/>
                <a:cs typeface="Calibri"/>
              </a:rPr>
              <a:t>al,</a:t>
            </a:r>
            <a:r>
              <a:rPr sz="1500" spc="5">
                <a:latin typeface="Calibri"/>
                <a:cs typeface="Calibri"/>
              </a:rPr>
              <a:t> </a:t>
            </a:r>
            <a:r>
              <a:rPr sz="1500" spc="-20">
                <a:latin typeface="Calibri"/>
                <a:cs typeface="Calibri"/>
              </a:rPr>
              <a:t>2014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794378" y="4581334"/>
            <a:ext cx="542925" cy="9525"/>
          </a:xfrm>
          <a:custGeom>
            <a:avLst/>
            <a:gdLst/>
            <a:ahLst/>
            <a:cxnLst/>
            <a:rect l="l" t="t" r="r" b="b"/>
            <a:pathLst>
              <a:path w="542925" h="9525">
                <a:moveTo>
                  <a:pt x="542925" y="0"/>
                </a:moveTo>
                <a:lnTo>
                  <a:pt x="0" y="0"/>
                </a:lnTo>
                <a:lnTo>
                  <a:pt x="0" y="9524"/>
                </a:lnTo>
                <a:lnTo>
                  <a:pt x="542925" y="9524"/>
                </a:lnTo>
                <a:lnTo>
                  <a:pt x="542925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508753" y="4581334"/>
            <a:ext cx="238125" cy="9525"/>
          </a:xfrm>
          <a:custGeom>
            <a:avLst/>
            <a:gdLst/>
            <a:ahLst/>
            <a:cxnLst/>
            <a:rect l="l" t="t" r="r" b="b"/>
            <a:pathLst>
              <a:path w="238125" h="9525">
                <a:moveTo>
                  <a:pt x="238125" y="0"/>
                </a:moveTo>
                <a:lnTo>
                  <a:pt x="0" y="0"/>
                </a:lnTo>
                <a:lnTo>
                  <a:pt x="0" y="9524"/>
                </a:lnTo>
                <a:lnTo>
                  <a:pt x="238125" y="9524"/>
                </a:lnTo>
                <a:lnTo>
                  <a:pt x="238125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358134" y="4510404"/>
            <a:ext cx="1470660" cy="93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" spc="-10">
                <a:solidFill>
                  <a:srgbClr val="BEBEBE"/>
                </a:solidFill>
                <a:latin typeface="Calibri"/>
                <a:cs typeface="Calibri"/>
              </a:rPr>
              <a:t>From </a:t>
            </a:r>
            <a:r>
              <a:rPr sz="450">
                <a:solidFill>
                  <a:srgbClr val="BEBEBE"/>
                </a:solidFill>
                <a:latin typeface="Calibri"/>
                <a:cs typeface="Calibri"/>
              </a:rPr>
              <a:t>l</a:t>
            </a:r>
            <a:r>
              <a:rPr sz="450" spc="-55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450">
                <a:solidFill>
                  <a:srgbClr val="BEBEBE"/>
                </a:solidFill>
                <a:latin typeface="Calibri"/>
                <a:cs typeface="Calibri"/>
              </a:rPr>
              <a:t>eft</a:t>
            </a:r>
            <a:r>
              <a:rPr sz="450" spc="-25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450" spc="-10">
                <a:solidFill>
                  <a:srgbClr val="BEBEBE"/>
                </a:solidFill>
                <a:latin typeface="Calibri"/>
                <a:cs typeface="Calibri"/>
              </a:rPr>
              <a:t>to</a:t>
            </a:r>
            <a:r>
              <a:rPr sz="450" spc="-35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450" spc="-10">
                <a:solidFill>
                  <a:srgbClr val="BEBEBE"/>
                </a:solidFill>
                <a:latin typeface="Calibri"/>
                <a:cs typeface="Calibri"/>
              </a:rPr>
              <a:t>r</a:t>
            </a:r>
            <a:r>
              <a:rPr sz="450" spc="-3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450" spc="-10">
                <a:solidFill>
                  <a:srgbClr val="BEBEBE"/>
                </a:solidFill>
                <a:latin typeface="Calibri"/>
                <a:cs typeface="Calibri"/>
              </a:rPr>
              <a:t>ight:</a:t>
            </a:r>
            <a:r>
              <a:rPr sz="450" spc="5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450" spc="-20">
                <a:solidFill>
                  <a:srgbClr val="BEBEBE"/>
                </a:solidFill>
                <a:latin typeface="Calibri"/>
                <a:cs typeface="Calibri"/>
              </a:rPr>
              <a:t>pub</a:t>
            </a:r>
            <a:r>
              <a:rPr sz="450" spc="-35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450" spc="-20">
                <a:solidFill>
                  <a:srgbClr val="BEBEBE"/>
                </a:solidFill>
                <a:latin typeface="Calibri"/>
                <a:cs typeface="Calibri"/>
              </a:rPr>
              <a:t>lic</a:t>
            </a:r>
            <a:r>
              <a:rPr sz="450" spc="15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450" spc="-10">
                <a:solidFill>
                  <a:srgbClr val="BEBEBE"/>
                </a:solidFill>
                <a:latin typeface="Calibri"/>
                <a:cs typeface="Calibri"/>
              </a:rPr>
              <a:t>domain</a:t>
            </a:r>
            <a:r>
              <a:rPr sz="450" spc="45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450" spc="-10">
                <a:solidFill>
                  <a:srgbClr val="BEBEBE"/>
                </a:solidFill>
                <a:latin typeface="Calibri"/>
                <a:cs typeface="Calibri"/>
              </a:rPr>
              <a:t>by</a:t>
            </a:r>
            <a:r>
              <a:rPr sz="450">
                <a:solidFill>
                  <a:srgbClr val="BEBEBE"/>
                </a:solidFill>
                <a:latin typeface="Calibri"/>
                <a:cs typeface="Calibri"/>
              </a:rPr>
              <a:t> NASA,</a:t>
            </a:r>
            <a:r>
              <a:rPr sz="450" spc="2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450" spc="-10">
                <a:solidFill>
                  <a:srgbClr val="BEBEBE"/>
                </a:solidFill>
                <a:latin typeface="Calibri"/>
                <a:cs typeface="Calibri"/>
              </a:rPr>
              <a:t>usage</a:t>
            </a:r>
            <a:r>
              <a:rPr sz="450" spc="1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450">
                <a:solidFill>
                  <a:srgbClr val="BEBEBE"/>
                </a:solidFill>
                <a:latin typeface="Calibri"/>
                <a:cs typeface="Calibri"/>
              </a:rPr>
              <a:t>permitted</a:t>
            </a:r>
            <a:r>
              <a:rPr sz="450" spc="-35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450" spc="-25">
                <a:solidFill>
                  <a:srgbClr val="BEBEBE"/>
                </a:solidFill>
                <a:latin typeface="Calibri"/>
                <a:cs typeface="Calibri"/>
              </a:rPr>
              <a:t>by</a:t>
            </a:r>
            <a:endParaRPr sz="4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488435" y="4577397"/>
            <a:ext cx="1341755" cy="93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" spc="-20">
                <a:solidFill>
                  <a:srgbClr val="BEBEBE"/>
                </a:solidFill>
                <a:latin typeface="Calibri"/>
                <a:cs typeface="Calibri"/>
              </a:rPr>
              <a:t>ESA/</a:t>
            </a:r>
            <a:r>
              <a:rPr sz="450" spc="-5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450" spc="-35">
                <a:solidFill>
                  <a:srgbClr val="BEBEBE"/>
                </a:solidFill>
                <a:latin typeface="Calibri"/>
                <a:cs typeface="Calibri"/>
              </a:rPr>
              <a:t>Hu </a:t>
            </a:r>
            <a:r>
              <a:rPr sz="450" spc="-20">
                <a:solidFill>
                  <a:srgbClr val="BEBEBE"/>
                </a:solidFill>
                <a:latin typeface="Calibri"/>
                <a:cs typeface="Calibri"/>
              </a:rPr>
              <a:t>bble,</a:t>
            </a:r>
            <a:r>
              <a:rPr sz="450" spc="5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450" u="sng" spc="-8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</a:rPr>
              <a:t> </a:t>
            </a:r>
            <a:r>
              <a:rPr sz="450" u="sng" spc="-2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</a:rPr>
              <a:t>pub</a:t>
            </a:r>
            <a:r>
              <a:rPr sz="450" u="sng" spc="-35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</a:rPr>
              <a:t> </a:t>
            </a:r>
            <a:r>
              <a:rPr sz="450" u="sng" spc="-2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</a:rPr>
              <a:t>lic</a:t>
            </a:r>
            <a:r>
              <a:rPr sz="450" u="sng" spc="2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</a:rPr>
              <a:t> </a:t>
            </a:r>
            <a:r>
              <a:rPr sz="450" u="sng" spc="-1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</a:rPr>
              <a:t>domain</a:t>
            </a:r>
            <a:r>
              <a:rPr sz="450" u="sng" spc="5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</a:rPr>
              <a:t> </a:t>
            </a:r>
            <a:r>
              <a:rPr sz="450" u="sng" spc="-1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</a:rPr>
              <a:t>by</a:t>
            </a:r>
            <a:r>
              <a:rPr sz="450" u="sng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</a:rPr>
              <a:t> NASA</a:t>
            </a:r>
            <a:r>
              <a:rPr sz="450">
                <a:solidFill>
                  <a:srgbClr val="BEBEBE"/>
                </a:solidFill>
                <a:latin typeface="Calibri"/>
                <a:cs typeface="Calibri"/>
              </a:rPr>
              <a:t>,</a:t>
            </a:r>
            <a:r>
              <a:rPr sz="450" spc="25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450" spc="-10">
                <a:solidFill>
                  <a:srgbClr val="BEBEBE"/>
                </a:solidFill>
                <a:latin typeface="Calibri"/>
                <a:cs typeface="Calibri"/>
              </a:rPr>
              <a:t>and</a:t>
            </a:r>
            <a:r>
              <a:rPr sz="450" spc="-35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450" u="sng" spc="-75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sz="450" u="sng" spc="-1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5"/>
              </a:rPr>
              <a:t>pub</a:t>
            </a:r>
            <a:r>
              <a:rPr sz="450" u="sng" spc="-35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sz="450" u="sng" spc="-1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5"/>
              </a:rPr>
              <a:t>lic</a:t>
            </a:r>
            <a:r>
              <a:rPr sz="450" u="sng" spc="25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sz="450" u="sng" spc="-1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5"/>
              </a:rPr>
              <a:t>domai</a:t>
            </a:r>
            <a:r>
              <a:rPr sz="450" spc="-10">
                <a:solidFill>
                  <a:srgbClr val="BEBEBE"/>
                </a:solidFill>
                <a:latin typeface="Calibri"/>
                <a:cs typeface="Calibri"/>
                <a:hlinkClick r:id="rId5"/>
              </a:rPr>
              <a:t>n</a:t>
            </a:r>
            <a:r>
              <a:rPr sz="450" spc="-10">
                <a:solidFill>
                  <a:srgbClr val="BEBEBE"/>
                </a:solidFill>
                <a:latin typeface="Calibri"/>
                <a:cs typeface="Calibri"/>
              </a:rPr>
              <a:t>.</a:t>
            </a:r>
            <a:endParaRPr sz="45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409815" y="4581334"/>
            <a:ext cx="247650" cy="9525"/>
          </a:xfrm>
          <a:custGeom>
            <a:avLst/>
            <a:gdLst/>
            <a:ahLst/>
            <a:cxnLst/>
            <a:rect l="l" t="t" r="r" b="b"/>
            <a:pathLst>
              <a:path w="247650" h="9525">
                <a:moveTo>
                  <a:pt x="247650" y="0"/>
                </a:moveTo>
                <a:lnTo>
                  <a:pt x="0" y="0"/>
                </a:lnTo>
                <a:lnTo>
                  <a:pt x="0" y="9524"/>
                </a:lnTo>
                <a:lnTo>
                  <a:pt x="247650" y="9524"/>
                </a:lnTo>
                <a:lnTo>
                  <a:pt x="247650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404734" y="4510404"/>
            <a:ext cx="1297305" cy="1612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>
              <a:lnSpc>
                <a:spcPts val="530"/>
              </a:lnSpc>
              <a:spcBef>
                <a:spcPts val="125"/>
              </a:spcBef>
            </a:pPr>
            <a:r>
              <a:rPr sz="450">
                <a:solidFill>
                  <a:srgbClr val="BEBEBE"/>
                </a:solidFill>
                <a:latin typeface="Calibri"/>
                <a:cs typeface="Calibri"/>
              </a:rPr>
              <a:t>This</a:t>
            </a:r>
            <a:r>
              <a:rPr sz="450" spc="-55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450">
                <a:solidFill>
                  <a:srgbClr val="BEBEBE"/>
                </a:solidFill>
                <a:latin typeface="Calibri"/>
                <a:cs typeface="Calibri"/>
              </a:rPr>
              <a:t>image </a:t>
            </a:r>
            <a:r>
              <a:rPr sz="450" spc="-10">
                <a:solidFill>
                  <a:srgbClr val="BEBEBE"/>
                </a:solidFill>
                <a:latin typeface="Calibri"/>
                <a:cs typeface="Calibri"/>
              </a:rPr>
              <a:t>by</a:t>
            </a:r>
            <a:r>
              <a:rPr sz="450" spc="-5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450" spc="-10">
                <a:solidFill>
                  <a:srgbClr val="BEBEBE"/>
                </a:solidFill>
                <a:latin typeface="Calibri"/>
                <a:cs typeface="Calibri"/>
              </a:rPr>
              <a:t>Ch</a:t>
            </a:r>
            <a:r>
              <a:rPr sz="450" spc="-4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450" spc="-20">
                <a:solidFill>
                  <a:srgbClr val="BEBEBE"/>
                </a:solidFill>
                <a:latin typeface="Calibri"/>
                <a:cs typeface="Calibri"/>
              </a:rPr>
              <a:t>risti</a:t>
            </a:r>
            <a:r>
              <a:rPr sz="450" spc="-6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450" spc="-10">
                <a:solidFill>
                  <a:srgbClr val="BEBEBE"/>
                </a:solidFill>
                <a:latin typeface="Calibri"/>
                <a:cs typeface="Calibri"/>
              </a:rPr>
              <a:t>n</a:t>
            </a:r>
            <a:r>
              <a:rPr sz="450" spc="-35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450" spc="-10">
                <a:solidFill>
                  <a:srgbClr val="BEBEBE"/>
                </a:solidFill>
                <a:latin typeface="Calibri"/>
                <a:cs typeface="Calibri"/>
              </a:rPr>
              <a:t>Kh</a:t>
            </a:r>
            <a:r>
              <a:rPr sz="450" spc="-4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450" spc="-20">
                <a:solidFill>
                  <a:srgbClr val="BEBEBE"/>
                </a:solidFill>
                <a:latin typeface="Calibri"/>
                <a:cs typeface="Calibri"/>
              </a:rPr>
              <a:t>an</a:t>
            </a:r>
            <a:r>
              <a:rPr sz="450" spc="4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450">
                <a:solidFill>
                  <a:srgbClr val="BEBEBE"/>
                </a:solidFill>
                <a:latin typeface="Calibri"/>
                <a:cs typeface="Calibri"/>
              </a:rPr>
              <a:t>is</a:t>
            </a:r>
            <a:r>
              <a:rPr sz="450" spc="2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450">
                <a:solidFill>
                  <a:srgbClr val="BEBEBE"/>
                </a:solidFill>
                <a:latin typeface="Calibri"/>
                <a:cs typeface="Calibri"/>
              </a:rPr>
              <a:t>in</a:t>
            </a:r>
            <a:r>
              <a:rPr sz="450" spc="4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450" spc="-10">
                <a:solidFill>
                  <a:srgbClr val="BEBEBE"/>
                </a:solidFill>
                <a:latin typeface="Calibri"/>
                <a:cs typeface="Calibri"/>
              </a:rPr>
              <a:t>the</a:t>
            </a:r>
            <a:r>
              <a:rPr sz="450" spc="-3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450" spc="-10">
                <a:solidFill>
                  <a:srgbClr val="BEBEBE"/>
                </a:solidFill>
                <a:latin typeface="Calibri"/>
                <a:cs typeface="Calibri"/>
              </a:rPr>
              <a:t>pu</a:t>
            </a:r>
            <a:r>
              <a:rPr sz="450" spc="-35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450" spc="-20">
                <a:solidFill>
                  <a:srgbClr val="BEBEBE"/>
                </a:solidFill>
                <a:latin typeface="Calibri"/>
                <a:cs typeface="Calibri"/>
              </a:rPr>
              <a:t>blic</a:t>
            </a:r>
            <a:r>
              <a:rPr sz="450" spc="5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450" spc="-10">
                <a:solidFill>
                  <a:srgbClr val="BEBEBE"/>
                </a:solidFill>
                <a:latin typeface="Calibri"/>
                <a:cs typeface="Calibri"/>
              </a:rPr>
              <a:t>do</a:t>
            </a:r>
            <a:r>
              <a:rPr sz="450" spc="-35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450" spc="-10">
                <a:solidFill>
                  <a:srgbClr val="BEBEBE"/>
                </a:solidFill>
                <a:latin typeface="Calibri"/>
                <a:cs typeface="Calibri"/>
              </a:rPr>
              <a:t>main</a:t>
            </a:r>
            <a:r>
              <a:rPr sz="450" spc="-4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450" spc="-25">
                <a:solidFill>
                  <a:srgbClr val="BEBEBE"/>
                </a:solidFill>
                <a:latin typeface="Calibri"/>
                <a:cs typeface="Calibri"/>
              </a:rPr>
              <a:t>and</a:t>
            </a:r>
            <a:r>
              <a:rPr sz="450" spc="50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450">
                <a:solidFill>
                  <a:srgbClr val="BEBEBE"/>
                </a:solidFill>
                <a:latin typeface="Calibri"/>
                <a:cs typeface="Calibri"/>
              </a:rPr>
              <a:t>originally</a:t>
            </a:r>
            <a:r>
              <a:rPr sz="450" spc="-10">
                <a:solidFill>
                  <a:srgbClr val="BEBEBE"/>
                </a:solidFill>
                <a:latin typeface="Calibri"/>
                <a:cs typeface="Calibri"/>
              </a:rPr>
              <a:t> came</a:t>
            </a:r>
            <a:r>
              <a:rPr sz="450" spc="-25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450" spc="-10">
                <a:solidFill>
                  <a:srgbClr val="BEBEBE"/>
                </a:solidFill>
                <a:latin typeface="Calibri"/>
                <a:cs typeface="Calibri"/>
              </a:rPr>
              <a:t>from th</a:t>
            </a:r>
            <a:r>
              <a:rPr sz="450" spc="-35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450" spc="-10">
                <a:solidFill>
                  <a:srgbClr val="BEBEBE"/>
                </a:solidFill>
                <a:latin typeface="Calibri"/>
                <a:cs typeface="Calibri"/>
              </a:rPr>
              <a:t>e</a:t>
            </a:r>
            <a:r>
              <a:rPr sz="450" spc="-3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450">
                <a:solidFill>
                  <a:srgbClr val="BEBEBE"/>
                </a:solidFill>
                <a:latin typeface="Calibri"/>
                <a:cs typeface="Calibri"/>
              </a:rPr>
              <a:t>U.S.</a:t>
            </a:r>
            <a:r>
              <a:rPr sz="450" spc="1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450" spc="-10">
                <a:solidFill>
                  <a:srgbClr val="BEBEBE"/>
                </a:solidFill>
                <a:latin typeface="Calibri"/>
                <a:cs typeface="Calibri"/>
              </a:rPr>
              <a:t>NOAA.</a:t>
            </a:r>
            <a:endParaRPr sz="450">
              <a:latin typeface="Calibri"/>
              <a:cs typeface="Calibri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36</a:t>
            </a:fld>
            <a:endParaRPr spc="-25"/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>
              <a:lnSpc>
                <a:spcPts val="1810"/>
              </a:lnSpc>
            </a:pPr>
            <a:r>
              <a:t>April 1,</a:t>
            </a:r>
            <a:r>
              <a:rPr spc="-35"/>
              <a:t> </a:t>
            </a:r>
            <a:r>
              <a:rPr spc="-20"/>
              <a:t>2025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t>CS231n:</a:t>
            </a:r>
            <a:r>
              <a:rPr spc="-5"/>
              <a:t> </a:t>
            </a:r>
            <a:r>
              <a:t>Lecture</a:t>
            </a:r>
            <a:r>
              <a:rPr spc="95"/>
              <a:t> </a:t>
            </a:r>
            <a:r>
              <a:t>1</a:t>
            </a:r>
            <a:r>
              <a:rPr spc="15"/>
              <a:t> </a:t>
            </a:r>
            <a:r>
              <a:rPr spc="-50"/>
              <a:t>-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307657" y="4910517"/>
            <a:ext cx="2085339" cy="1536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Fei-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Fei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Li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9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Ehsan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Adeli</a:t>
            </a: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90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Zane Durante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361940" y="4465002"/>
            <a:ext cx="132905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u="sng">
                <a:solidFill>
                  <a:srgbClr val="A4A4A4"/>
                </a:solidFill>
                <a:uFill>
                  <a:solidFill>
                    <a:srgbClr val="A4A4A4"/>
                  </a:solidFill>
                </a:uFill>
                <a:latin typeface="Calibri"/>
                <a:cs typeface="Calibri"/>
                <a:hlinkClick r:id="rId6"/>
              </a:rPr>
              <a:t>Kaggle</a:t>
            </a:r>
            <a:r>
              <a:rPr sz="1500" u="sng" spc="-15">
                <a:solidFill>
                  <a:srgbClr val="A4A4A4"/>
                </a:solidFill>
                <a:uFill>
                  <a:solidFill>
                    <a:srgbClr val="A4A4A4"/>
                  </a:solidFill>
                </a:uFill>
                <a:latin typeface="Calibri"/>
                <a:cs typeface="Calibri"/>
                <a:hlinkClick r:id="rId6"/>
              </a:rPr>
              <a:t> </a:t>
            </a:r>
            <a:r>
              <a:rPr sz="1500" u="sng" spc="-10">
                <a:solidFill>
                  <a:srgbClr val="A4A4A4"/>
                </a:solidFill>
                <a:uFill>
                  <a:solidFill>
                    <a:srgbClr val="A4A4A4"/>
                  </a:solidFill>
                </a:uFill>
                <a:latin typeface="Calibri"/>
                <a:cs typeface="Calibri"/>
                <a:hlinkClick r:id="rId6"/>
              </a:rPr>
              <a:t>Challenge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012825" y="365505"/>
            <a:ext cx="7132320" cy="483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000"/>
              <a:t>2012</a:t>
            </a:r>
            <a:r>
              <a:rPr sz="3000" spc="-60"/>
              <a:t> </a:t>
            </a:r>
            <a:r>
              <a:rPr sz="3000"/>
              <a:t>to</a:t>
            </a:r>
            <a:r>
              <a:rPr sz="3000" spc="-45"/>
              <a:t> </a:t>
            </a:r>
            <a:r>
              <a:rPr sz="3000"/>
              <a:t>Present:</a:t>
            </a:r>
            <a:r>
              <a:rPr sz="3000" spc="-25"/>
              <a:t> </a:t>
            </a:r>
            <a:r>
              <a:rPr sz="3000"/>
              <a:t>Deep</a:t>
            </a:r>
            <a:r>
              <a:rPr sz="3000" spc="-45"/>
              <a:t> </a:t>
            </a:r>
            <a:r>
              <a:rPr sz="3000"/>
              <a:t>Learning</a:t>
            </a:r>
            <a:r>
              <a:rPr sz="3000" spc="-30"/>
              <a:t> </a:t>
            </a:r>
            <a:r>
              <a:rPr sz="3000"/>
              <a:t>is</a:t>
            </a:r>
            <a:r>
              <a:rPr sz="3000" spc="-25"/>
              <a:t> </a:t>
            </a:r>
            <a:r>
              <a:rPr sz="3000" spc="-10"/>
              <a:t>Everywhere</a:t>
            </a:r>
            <a:endParaRPr sz="3000"/>
          </a:p>
        </p:txBody>
      </p:sp>
      <p:sp>
        <p:nvSpPr>
          <p:cNvPr id="16" name="object 16"/>
          <p:cNvSpPr txBox="1"/>
          <p:nvPr/>
        </p:nvSpPr>
        <p:spPr>
          <a:xfrm>
            <a:off x="9013840" y="3200079"/>
            <a:ext cx="140335" cy="151257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>
                <a:latin typeface="Calibri"/>
                <a:cs typeface="Calibri"/>
              </a:rPr>
              <a:t>Slide</a:t>
            </a:r>
            <a:r>
              <a:rPr sz="900" spc="-40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inspiration:</a:t>
            </a:r>
            <a:r>
              <a:rPr sz="900" spc="-50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Justin</a:t>
            </a:r>
            <a:r>
              <a:rPr sz="900" spc="15">
                <a:latin typeface="Calibri"/>
                <a:cs typeface="Calibri"/>
              </a:rPr>
              <a:t> </a:t>
            </a:r>
            <a:r>
              <a:rPr sz="900" spc="-10">
                <a:latin typeface="Calibri"/>
                <a:cs typeface="Calibri"/>
              </a:rPr>
              <a:t>Johnson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1675" y="790575"/>
            <a:ext cx="2133600" cy="141922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432050" y="2248217"/>
            <a:ext cx="1191260" cy="389890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5080">
              <a:lnSpc>
                <a:spcPts val="1430"/>
              </a:lnSpc>
              <a:spcBef>
                <a:spcPts val="155"/>
              </a:spcBef>
            </a:pPr>
            <a:r>
              <a:rPr sz="1200" i="1">
                <a:latin typeface="Calibri"/>
                <a:cs typeface="Calibri"/>
              </a:rPr>
              <a:t>A</a:t>
            </a:r>
            <a:r>
              <a:rPr sz="1200" i="1" spc="-45">
                <a:latin typeface="Calibri"/>
                <a:cs typeface="Calibri"/>
              </a:rPr>
              <a:t> </a:t>
            </a:r>
            <a:r>
              <a:rPr sz="1200" i="1">
                <a:latin typeface="Calibri"/>
                <a:cs typeface="Calibri"/>
              </a:rPr>
              <a:t>white teddy</a:t>
            </a:r>
            <a:r>
              <a:rPr sz="1200" i="1" spc="-40">
                <a:latin typeface="Calibri"/>
                <a:cs typeface="Calibri"/>
              </a:rPr>
              <a:t> </a:t>
            </a:r>
            <a:r>
              <a:rPr sz="1200" i="1" spc="-20">
                <a:latin typeface="Calibri"/>
                <a:cs typeface="Calibri"/>
              </a:rPr>
              <a:t>bear </a:t>
            </a:r>
            <a:r>
              <a:rPr sz="1200" i="1">
                <a:latin typeface="Calibri"/>
                <a:cs typeface="Calibri"/>
              </a:rPr>
              <a:t>sitting</a:t>
            </a:r>
            <a:r>
              <a:rPr sz="1200" i="1" spc="-20">
                <a:latin typeface="Calibri"/>
                <a:cs typeface="Calibri"/>
              </a:rPr>
              <a:t> </a:t>
            </a:r>
            <a:r>
              <a:rPr sz="1200" i="1">
                <a:latin typeface="Calibri"/>
                <a:cs typeface="Calibri"/>
              </a:rPr>
              <a:t>in</a:t>
            </a:r>
            <a:r>
              <a:rPr sz="1200" i="1" spc="-15">
                <a:latin typeface="Calibri"/>
                <a:cs typeface="Calibri"/>
              </a:rPr>
              <a:t> </a:t>
            </a:r>
            <a:r>
              <a:rPr sz="1200" i="1" spc="-10">
                <a:latin typeface="Calibri"/>
                <a:cs typeface="Calibri"/>
              </a:rPr>
              <a:t>the</a:t>
            </a:r>
            <a:r>
              <a:rPr sz="1200" i="1" spc="-45">
                <a:latin typeface="Calibri"/>
                <a:cs typeface="Calibri"/>
              </a:rPr>
              <a:t> </a:t>
            </a:r>
            <a:r>
              <a:rPr sz="1200" i="1" spc="-20">
                <a:latin typeface="Calibri"/>
                <a:cs typeface="Calibri"/>
              </a:rPr>
              <a:t>grass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38375" y="2819400"/>
            <a:ext cx="1724025" cy="12954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367660" y="4137659"/>
            <a:ext cx="1322070" cy="39052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5080">
              <a:lnSpc>
                <a:spcPts val="1430"/>
              </a:lnSpc>
              <a:spcBef>
                <a:spcPts val="155"/>
              </a:spcBef>
            </a:pPr>
            <a:r>
              <a:rPr sz="1200" i="1">
                <a:latin typeface="Calibri"/>
                <a:cs typeface="Calibri"/>
              </a:rPr>
              <a:t>A</a:t>
            </a:r>
            <a:r>
              <a:rPr sz="1200" i="1" spc="-10">
                <a:latin typeface="Calibri"/>
                <a:cs typeface="Calibri"/>
              </a:rPr>
              <a:t> </a:t>
            </a:r>
            <a:r>
              <a:rPr sz="1200" i="1">
                <a:latin typeface="Calibri"/>
                <a:cs typeface="Calibri"/>
              </a:rPr>
              <a:t>man</a:t>
            </a:r>
            <a:r>
              <a:rPr sz="1200" i="1" spc="-10">
                <a:latin typeface="Calibri"/>
                <a:cs typeface="Calibri"/>
              </a:rPr>
              <a:t> </a:t>
            </a:r>
            <a:r>
              <a:rPr sz="1200" i="1">
                <a:latin typeface="Calibri"/>
                <a:cs typeface="Calibri"/>
              </a:rPr>
              <a:t>riding</a:t>
            </a:r>
            <a:r>
              <a:rPr sz="1200" i="1" spc="-5">
                <a:latin typeface="Calibri"/>
                <a:cs typeface="Calibri"/>
              </a:rPr>
              <a:t> </a:t>
            </a:r>
            <a:r>
              <a:rPr sz="1200" i="1">
                <a:latin typeface="Calibri"/>
                <a:cs typeface="Calibri"/>
              </a:rPr>
              <a:t>a</a:t>
            </a:r>
            <a:r>
              <a:rPr sz="1200" i="1" spc="-10">
                <a:latin typeface="Calibri"/>
                <a:cs typeface="Calibri"/>
              </a:rPr>
              <a:t> </a:t>
            </a:r>
            <a:r>
              <a:rPr sz="1200" i="1" spc="-20">
                <a:latin typeface="Calibri"/>
                <a:cs typeface="Calibri"/>
              </a:rPr>
              <a:t>wave </a:t>
            </a:r>
            <a:r>
              <a:rPr sz="1200" i="1">
                <a:latin typeface="Calibri"/>
                <a:cs typeface="Calibri"/>
              </a:rPr>
              <a:t>on</a:t>
            </a:r>
            <a:r>
              <a:rPr sz="1200" i="1" spc="-20">
                <a:latin typeface="Calibri"/>
                <a:cs typeface="Calibri"/>
              </a:rPr>
              <a:t> </a:t>
            </a:r>
            <a:r>
              <a:rPr sz="1200" i="1">
                <a:latin typeface="Calibri"/>
                <a:cs typeface="Calibri"/>
              </a:rPr>
              <a:t>top</a:t>
            </a:r>
            <a:r>
              <a:rPr sz="1200" i="1" spc="-15">
                <a:latin typeface="Calibri"/>
                <a:cs typeface="Calibri"/>
              </a:rPr>
              <a:t> </a:t>
            </a:r>
            <a:r>
              <a:rPr sz="1200" i="1">
                <a:latin typeface="Calibri"/>
                <a:cs typeface="Calibri"/>
              </a:rPr>
              <a:t>of</a:t>
            </a:r>
            <a:r>
              <a:rPr sz="1200" i="1" spc="5">
                <a:latin typeface="Calibri"/>
                <a:cs typeface="Calibri"/>
              </a:rPr>
              <a:t> </a:t>
            </a:r>
            <a:r>
              <a:rPr sz="1200" i="1">
                <a:latin typeface="Calibri"/>
                <a:cs typeface="Calibri"/>
              </a:rPr>
              <a:t>a</a:t>
            </a:r>
            <a:r>
              <a:rPr sz="1200" i="1" spc="-15">
                <a:latin typeface="Calibri"/>
                <a:cs typeface="Calibri"/>
              </a:rPr>
              <a:t> </a:t>
            </a:r>
            <a:r>
              <a:rPr sz="1200" i="1" spc="-10">
                <a:latin typeface="Calibri"/>
                <a:cs typeface="Calibri"/>
              </a:rPr>
              <a:t>surfboard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62450" y="819150"/>
            <a:ext cx="2038350" cy="136207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677664" y="2248217"/>
            <a:ext cx="1482090" cy="389890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5080">
              <a:lnSpc>
                <a:spcPts val="1430"/>
              </a:lnSpc>
              <a:spcBef>
                <a:spcPts val="155"/>
              </a:spcBef>
            </a:pPr>
            <a:r>
              <a:rPr sz="1200" i="1">
                <a:latin typeface="Calibri"/>
                <a:cs typeface="Calibri"/>
              </a:rPr>
              <a:t>A</a:t>
            </a:r>
            <a:r>
              <a:rPr sz="1200" i="1" spc="-10">
                <a:latin typeface="Calibri"/>
                <a:cs typeface="Calibri"/>
              </a:rPr>
              <a:t> </a:t>
            </a:r>
            <a:r>
              <a:rPr sz="1200" i="1">
                <a:latin typeface="Calibri"/>
                <a:cs typeface="Calibri"/>
              </a:rPr>
              <a:t>man</a:t>
            </a:r>
            <a:r>
              <a:rPr sz="1200" i="1" spc="-5">
                <a:latin typeface="Calibri"/>
                <a:cs typeface="Calibri"/>
              </a:rPr>
              <a:t> </a:t>
            </a:r>
            <a:r>
              <a:rPr sz="1200" i="1">
                <a:latin typeface="Calibri"/>
                <a:cs typeface="Calibri"/>
              </a:rPr>
              <a:t>in</a:t>
            </a:r>
            <a:r>
              <a:rPr sz="1200" i="1" spc="-5">
                <a:latin typeface="Calibri"/>
                <a:cs typeface="Calibri"/>
              </a:rPr>
              <a:t> </a:t>
            </a:r>
            <a:r>
              <a:rPr sz="1200" i="1">
                <a:latin typeface="Calibri"/>
                <a:cs typeface="Calibri"/>
              </a:rPr>
              <a:t>a</a:t>
            </a:r>
            <a:r>
              <a:rPr sz="1200" i="1" spc="-5">
                <a:latin typeface="Calibri"/>
                <a:cs typeface="Calibri"/>
              </a:rPr>
              <a:t> </a:t>
            </a:r>
            <a:r>
              <a:rPr sz="1200" i="1" spc="-10">
                <a:latin typeface="Calibri"/>
                <a:cs typeface="Calibri"/>
              </a:rPr>
              <a:t>baseball </a:t>
            </a:r>
            <a:r>
              <a:rPr sz="1200" i="1">
                <a:latin typeface="Calibri"/>
                <a:cs typeface="Calibri"/>
              </a:rPr>
              <a:t>uniform</a:t>
            </a:r>
            <a:r>
              <a:rPr sz="1200" i="1" spc="-5">
                <a:latin typeface="Calibri"/>
                <a:cs typeface="Calibri"/>
              </a:rPr>
              <a:t> </a:t>
            </a:r>
            <a:r>
              <a:rPr sz="1200" i="1">
                <a:latin typeface="Calibri"/>
                <a:cs typeface="Calibri"/>
              </a:rPr>
              <a:t>throwing</a:t>
            </a:r>
            <a:r>
              <a:rPr sz="1200" i="1" spc="-40">
                <a:latin typeface="Calibri"/>
                <a:cs typeface="Calibri"/>
              </a:rPr>
              <a:t> </a:t>
            </a:r>
            <a:r>
              <a:rPr sz="1200" i="1">
                <a:latin typeface="Calibri"/>
                <a:cs typeface="Calibri"/>
              </a:rPr>
              <a:t>a</a:t>
            </a:r>
            <a:r>
              <a:rPr sz="1200" i="1" spc="-35">
                <a:latin typeface="Calibri"/>
                <a:cs typeface="Calibri"/>
              </a:rPr>
              <a:t> </a:t>
            </a:r>
            <a:r>
              <a:rPr sz="1200" i="1" spc="-20">
                <a:latin typeface="Calibri"/>
                <a:cs typeface="Calibri"/>
              </a:rPr>
              <a:t>ball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57700" y="2819400"/>
            <a:ext cx="1762125" cy="129540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710810" y="4164329"/>
            <a:ext cx="1272540" cy="39052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5080">
              <a:lnSpc>
                <a:spcPts val="1430"/>
              </a:lnSpc>
              <a:spcBef>
                <a:spcPts val="155"/>
              </a:spcBef>
            </a:pPr>
            <a:r>
              <a:rPr sz="1200" i="1">
                <a:latin typeface="Calibri"/>
                <a:cs typeface="Calibri"/>
              </a:rPr>
              <a:t>A</a:t>
            </a:r>
            <a:r>
              <a:rPr sz="1200" i="1" spc="-10">
                <a:latin typeface="Calibri"/>
                <a:cs typeface="Calibri"/>
              </a:rPr>
              <a:t> </a:t>
            </a:r>
            <a:r>
              <a:rPr sz="1200" i="1">
                <a:latin typeface="Calibri"/>
                <a:cs typeface="Calibri"/>
              </a:rPr>
              <a:t>cat</a:t>
            </a:r>
            <a:r>
              <a:rPr sz="1200" i="1" spc="-10">
                <a:latin typeface="Calibri"/>
                <a:cs typeface="Calibri"/>
              </a:rPr>
              <a:t> </a:t>
            </a:r>
            <a:r>
              <a:rPr sz="1200" i="1">
                <a:latin typeface="Calibri"/>
                <a:cs typeface="Calibri"/>
              </a:rPr>
              <a:t>sitting</a:t>
            </a:r>
            <a:r>
              <a:rPr sz="1200" i="1" spc="-5">
                <a:latin typeface="Calibri"/>
                <a:cs typeface="Calibri"/>
              </a:rPr>
              <a:t> </a:t>
            </a:r>
            <a:r>
              <a:rPr sz="1200" i="1">
                <a:latin typeface="Calibri"/>
                <a:cs typeface="Calibri"/>
              </a:rPr>
              <a:t>on</a:t>
            </a:r>
            <a:r>
              <a:rPr sz="1200" i="1" spc="-5">
                <a:latin typeface="Calibri"/>
                <a:cs typeface="Calibri"/>
              </a:rPr>
              <a:t> </a:t>
            </a:r>
            <a:r>
              <a:rPr sz="1200" i="1" spc="-50">
                <a:latin typeface="Calibri"/>
                <a:cs typeface="Calibri"/>
              </a:rPr>
              <a:t>a </a:t>
            </a:r>
            <a:r>
              <a:rPr sz="1200" i="1" spc="-10">
                <a:latin typeface="Calibri"/>
                <a:cs typeface="Calibri"/>
              </a:rPr>
              <a:t>suitcase</a:t>
            </a:r>
            <a:r>
              <a:rPr sz="1200" i="1" spc="10">
                <a:latin typeface="Calibri"/>
                <a:cs typeface="Calibri"/>
              </a:rPr>
              <a:t> </a:t>
            </a:r>
            <a:r>
              <a:rPr sz="1200" i="1">
                <a:latin typeface="Calibri"/>
                <a:cs typeface="Calibri"/>
              </a:rPr>
              <a:t>on</a:t>
            </a:r>
            <a:r>
              <a:rPr sz="1200" i="1" spc="-35">
                <a:latin typeface="Calibri"/>
                <a:cs typeface="Calibri"/>
              </a:rPr>
              <a:t> </a:t>
            </a:r>
            <a:r>
              <a:rPr sz="1200" i="1">
                <a:latin typeface="Calibri"/>
                <a:cs typeface="Calibri"/>
              </a:rPr>
              <a:t>the</a:t>
            </a:r>
            <a:r>
              <a:rPr sz="1200" i="1" spc="15">
                <a:latin typeface="Calibri"/>
                <a:cs typeface="Calibri"/>
              </a:rPr>
              <a:t> </a:t>
            </a:r>
            <a:r>
              <a:rPr sz="1200" i="1" spc="-20">
                <a:latin typeface="Calibri"/>
                <a:cs typeface="Calibri"/>
              </a:rPr>
              <a:t>floor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600825" y="790575"/>
            <a:ext cx="2095500" cy="1390650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7093584" y="2259647"/>
            <a:ext cx="1239520" cy="390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435"/>
              </a:lnSpc>
              <a:spcBef>
                <a:spcPts val="100"/>
              </a:spcBef>
            </a:pPr>
            <a:r>
              <a:rPr sz="1200" i="1">
                <a:latin typeface="Calibri"/>
                <a:cs typeface="Calibri"/>
              </a:rPr>
              <a:t>A</a:t>
            </a:r>
            <a:r>
              <a:rPr sz="1200" i="1" spc="15">
                <a:latin typeface="Calibri"/>
                <a:cs typeface="Calibri"/>
              </a:rPr>
              <a:t> </a:t>
            </a:r>
            <a:r>
              <a:rPr sz="1200" i="1">
                <a:latin typeface="Calibri"/>
                <a:cs typeface="Calibri"/>
              </a:rPr>
              <a:t>woman</a:t>
            </a:r>
            <a:r>
              <a:rPr sz="1200" i="1" spc="-55">
                <a:latin typeface="Calibri"/>
                <a:cs typeface="Calibri"/>
              </a:rPr>
              <a:t> </a:t>
            </a:r>
            <a:r>
              <a:rPr sz="1200" i="1">
                <a:latin typeface="Calibri"/>
                <a:cs typeface="Calibri"/>
              </a:rPr>
              <a:t>is</a:t>
            </a:r>
            <a:r>
              <a:rPr sz="1200" i="1" spc="20">
                <a:latin typeface="Calibri"/>
                <a:cs typeface="Calibri"/>
              </a:rPr>
              <a:t> </a:t>
            </a:r>
            <a:r>
              <a:rPr sz="1200" i="1" spc="-10">
                <a:latin typeface="Calibri"/>
                <a:cs typeface="Calibri"/>
              </a:rPr>
              <a:t>holding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ts val="1435"/>
              </a:lnSpc>
            </a:pPr>
            <a:r>
              <a:rPr sz="1200" i="1">
                <a:latin typeface="Calibri"/>
                <a:cs typeface="Calibri"/>
              </a:rPr>
              <a:t>a</a:t>
            </a:r>
            <a:r>
              <a:rPr sz="1200" i="1" spc="-5">
                <a:latin typeface="Calibri"/>
                <a:cs typeface="Calibri"/>
              </a:rPr>
              <a:t> </a:t>
            </a:r>
            <a:r>
              <a:rPr sz="1200" i="1">
                <a:latin typeface="Calibri"/>
                <a:cs typeface="Calibri"/>
              </a:rPr>
              <a:t>cat</a:t>
            </a:r>
            <a:r>
              <a:rPr sz="1200" i="1" spc="-15">
                <a:latin typeface="Calibri"/>
                <a:cs typeface="Calibri"/>
              </a:rPr>
              <a:t> </a:t>
            </a:r>
            <a:r>
              <a:rPr sz="1200" i="1">
                <a:latin typeface="Calibri"/>
                <a:cs typeface="Calibri"/>
              </a:rPr>
              <a:t>in</a:t>
            </a:r>
            <a:r>
              <a:rPr sz="1200" i="1" spc="-5">
                <a:latin typeface="Calibri"/>
                <a:cs typeface="Calibri"/>
              </a:rPr>
              <a:t> </a:t>
            </a:r>
            <a:r>
              <a:rPr sz="1200" i="1">
                <a:latin typeface="Calibri"/>
                <a:cs typeface="Calibri"/>
              </a:rPr>
              <a:t>her</a:t>
            </a:r>
            <a:r>
              <a:rPr sz="1200" i="1" spc="-20">
                <a:latin typeface="Calibri"/>
                <a:cs typeface="Calibri"/>
              </a:rPr>
              <a:t> hand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162800" y="2838450"/>
            <a:ext cx="857250" cy="1285875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6686804" y="4181792"/>
            <a:ext cx="1636395" cy="39052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5080">
              <a:lnSpc>
                <a:spcPts val="1430"/>
              </a:lnSpc>
              <a:spcBef>
                <a:spcPts val="155"/>
              </a:spcBef>
            </a:pPr>
            <a:r>
              <a:rPr sz="1200" i="1">
                <a:latin typeface="Calibri"/>
                <a:cs typeface="Calibri"/>
              </a:rPr>
              <a:t>A</a:t>
            </a:r>
            <a:r>
              <a:rPr sz="1200" i="1" spc="-20">
                <a:latin typeface="Calibri"/>
                <a:cs typeface="Calibri"/>
              </a:rPr>
              <a:t> </a:t>
            </a:r>
            <a:r>
              <a:rPr sz="1200" i="1">
                <a:latin typeface="Calibri"/>
                <a:cs typeface="Calibri"/>
              </a:rPr>
              <a:t>woman</a:t>
            </a:r>
            <a:r>
              <a:rPr sz="1200" i="1" spc="-65">
                <a:latin typeface="Calibri"/>
                <a:cs typeface="Calibri"/>
              </a:rPr>
              <a:t> </a:t>
            </a:r>
            <a:r>
              <a:rPr sz="1200" i="1">
                <a:latin typeface="Calibri"/>
                <a:cs typeface="Calibri"/>
              </a:rPr>
              <a:t>standing</a:t>
            </a:r>
            <a:r>
              <a:rPr sz="1200" i="1" spc="-10">
                <a:latin typeface="Calibri"/>
                <a:cs typeface="Calibri"/>
              </a:rPr>
              <a:t> </a:t>
            </a:r>
            <a:r>
              <a:rPr sz="1200" i="1">
                <a:latin typeface="Calibri"/>
                <a:cs typeface="Calibri"/>
              </a:rPr>
              <a:t>on</a:t>
            </a:r>
            <a:r>
              <a:rPr sz="1200" i="1" spc="-10">
                <a:latin typeface="Calibri"/>
                <a:cs typeface="Calibri"/>
              </a:rPr>
              <a:t> </a:t>
            </a:r>
            <a:r>
              <a:rPr sz="1200" i="1" spc="-50">
                <a:latin typeface="Calibri"/>
                <a:cs typeface="Calibri"/>
              </a:rPr>
              <a:t>a </a:t>
            </a:r>
            <a:r>
              <a:rPr sz="1200" i="1">
                <a:latin typeface="Calibri"/>
                <a:cs typeface="Calibri"/>
              </a:rPr>
              <a:t>beach</a:t>
            </a:r>
            <a:r>
              <a:rPr sz="1200" i="1" spc="10">
                <a:latin typeface="Calibri"/>
                <a:cs typeface="Calibri"/>
              </a:rPr>
              <a:t> </a:t>
            </a:r>
            <a:r>
              <a:rPr sz="1200" i="1" spc="-10">
                <a:latin typeface="Calibri"/>
                <a:cs typeface="Calibri"/>
              </a:rPr>
              <a:t>holding</a:t>
            </a:r>
            <a:r>
              <a:rPr sz="1200" i="1" spc="-55">
                <a:latin typeface="Calibri"/>
                <a:cs typeface="Calibri"/>
              </a:rPr>
              <a:t> </a:t>
            </a:r>
            <a:r>
              <a:rPr sz="1200" i="1">
                <a:latin typeface="Calibri"/>
                <a:cs typeface="Calibri"/>
              </a:rPr>
              <a:t>a</a:t>
            </a:r>
            <a:r>
              <a:rPr sz="1200" i="1" spc="10">
                <a:latin typeface="Calibri"/>
                <a:cs typeface="Calibri"/>
              </a:rPr>
              <a:t> </a:t>
            </a:r>
            <a:r>
              <a:rPr sz="1200" i="1" spc="-10">
                <a:latin typeface="Calibri"/>
                <a:cs typeface="Calibri"/>
              </a:rPr>
              <a:t>surfboard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37</a:t>
            </a:fld>
            <a:endParaRPr spc="-25"/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>
              <a:lnSpc>
                <a:spcPts val="1810"/>
              </a:lnSpc>
            </a:pPr>
            <a:r>
              <a:t>April 1,</a:t>
            </a:r>
            <a:r>
              <a:rPr spc="-35"/>
              <a:t> </a:t>
            </a:r>
            <a:r>
              <a:rPr spc="-20"/>
              <a:t>2025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t>CS231n:</a:t>
            </a:r>
            <a:r>
              <a:rPr spc="-5"/>
              <a:t> </a:t>
            </a:r>
            <a:r>
              <a:t>Lecture</a:t>
            </a:r>
            <a:r>
              <a:rPr spc="95"/>
              <a:t> </a:t>
            </a:r>
            <a:r>
              <a:t>1</a:t>
            </a:r>
            <a:r>
              <a:rPr spc="15"/>
              <a:t> </a:t>
            </a:r>
            <a:r>
              <a:rPr spc="-50"/>
              <a:t>-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307657" y="4910517"/>
            <a:ext cx="2085339" cy="1536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Fei-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Fei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Li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9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Ehsan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Adeli</a:t>
            </a: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90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Zane Durante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4304" y="2333314"/>
            <a:ext cx="1646555" cy="94361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1800">
                <a:latin typeface="Calibri"/>
                <a:cs typeface="Calibri"/>
              </a:rPr>
              <a:t>Image</a:t>
            </a:r>
            <a:r>
              <a:rPr sz="1800" spc="-65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Captioning</a:t>
            </a:r>
            <a:endParaRPr sz="1800">
              <a:latin typeface="Calibri"/>
              <a:cs typeface="Calibri"/>
            </a:endParaRPr>
          </a:p>
          <a:p>
            <a:pPr marL="12700" marR="164465">
              <a:lnSpc>
                <a:spcPct val="99800"/>
              </a:lnSpc>
              <a:spcBef>
                <a:spcPts val="95"/>
              </a:spcBef>
            </a:pPr>
            <a:r>
              <a:rPr sz="1350" spc="-10">
                <a:latin typeface="Calibri"/>
                <a:cs typeface="Calibri"/>
              </a:rPr>
              <a:t>Vinyals</a:t>
            </a:r>
            <a:r>
              <a:rPr sz="1350" spc="-5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et</a:t>
            </a:r>
            <a:r>
              <a:rPr sz="1350" spc="-10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al,</a:t>
            </a:r>
            <a:r>
              <a:rPr sz="1350" spc="-45">
                <a:latin typeface="Calibri"/>
                <a:cs typeface="Calibri"/>
              </a:rPr>
              <a:t> </a:t>
            </a:r>
            <a:r>
              <a:rPr sz="1350" spc="-20">
                <a:latin typeface="Calibri"/>
                <a:cs typeface="Calibri"/>
              </a:rPr>
              <a:t>2015 </a:t>
            </a:r>
            <a:r>
              <a:rPr sz="1350" spc="-10">
                <a:latin typeface="Calibri"/>
                <a:cs typeface="Calibri"/>
              </a:rPr>
              <a:t>Karpathy</a:t>
            </a:r>
            <a:r>
              <a:rPr sz="1350" spc="-15">
                <a:latin typeface="Calibri"/>
                <a:cs typeface="Calibri"/>
              </a:rPr>
              <a:t> </a:t>
            </a:r>
            <a:r>
              <a:rPr sz="1350">
                <a:latin typeface="Calibri"/>
                <a:cs typeface="Calibri"/>
              </a:rPr>
              <a:t>and</a:t>
            </a:r>
            <a:r>
              <a:rPr sz="1350" spc="5">
                <a:latin typeface="Calibri"/>
                <a:cs typeface="Calibri"/>
              </a:rPr>
              <a:t> </a:t>
            </a:r>
            <a:r>
              <a:rPr sz="1350" spc="-20">
                <a:latin typeface="Calibri"/>
                <a:cs typeface="Calibri"/>
              </a:rPr>
              <a:t>Fei-Fei, 2015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2710" y="4060507"/>
            <a:ext cx="1664335" cy="504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535"/>
              </a:lnSpc>
              <a:spcBef>
                <a:spcPts val="100"/>
              </a:spcBef>
            </a:pPr>
            <a:r>
              <a:rPr sz="450">
                <a:solidFill>
                  <a:srgbClr val="BEBEBE"/>
                </a:solidFill>
                <a:latin typeface="Calibri"/>
                <a:cs typeface="Calibri"/>
              </a:rPr>
              <a:t>All</a:t>
            </a:r>
            <a:r>
              <a:rPr sz="450" spc="2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450" spc="-10">
                <a:solidFill>
                  <a:srgbClr val="BEBEBE"/>
                </a:solidFill>
                <a:latin typeface="Calibri"/>
                <a:cs typeface="Calibri"/>
              </a:rPr>
              <a:t>images</a:t>
            </a:r>
            <a:r>
              <a:rPr sz="450" spc="3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450" spc="-10">
                <a:solidFill>
                  <a:srgbClr val="BEBEBE"/>
                </a:solidFill>
                <a:latin typeface="Calibri"/>
                <a:cs typeface="Calibri"/>
              </a:rPr>
              <a:t>are</a:t>
            </a:r>
            <a:r>
              <a:rPr sz="450" spc="-25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450">
                <a:solidFill>
                  <a:srgbClr val="BEBEBE"/>
                </a:solidFill>
                <a:latin typeface="Calibri"/>
                <a:cs typeface="Calibri"/>
              </a:rPr>
              <a:t>C</a:t>
            </a:r>
            <a:r>
              <a:rPr sz="450" spc="-4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450" spc="-10">
                <a:solidFill>
                  <a:srgbClr val="BEBEBE"/>
                </a:solidFill>
                <a:latin typeface="Calibri"/>
                <a:cs typeface="Calibri"/>
              </a:rPr>
              <a:t>C0</a:t>
            </a:r>
            <a:r>
              <a:rPr sz="450" spc="-25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450" spc="-20">
                <a:solidFill>
                  <a:srgbClr val="BEBEBE"/>
                </a:solidFill>
                <a:latin typeface="Calibri"/>
                <a:cs typeface="Calibri"/>
              </a:rPr>
              <a:t>Pub</a:t>
            </a:r>
            <a:r>
              <a:rPr sz="450" spc="-35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450" spc="-20">
                <a:solidFill>
                  <a:srgbClr val="BEBEBE"/>
                </a:solidFill>
                <a:latin typeface="Calibri"/>
                <a:cs typeface="Calibri"/>
              </a:rPr>
              <a:t>lic</a:t>
            </a:r>
            <a:r>
              <a:rPr sz="450" spc="15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450" spc="-10">
                <a:solidFill>
                  <a:srgbClr val="BEBEBE"/>
                </a:solidFill>
                <a:latin typeface="Calibri"/>
                <a:cs typeface="Calibri"/>
              </a:rPr>
              <a:t>domain</a:t>
            </a:r>
            <a:r>
              <a:rPr sz="450" spc="-4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450" spc="-50">
                <a:solidFill>
                  <a:srgbClr val="BEBEBE"/>
                </a:solidFill>
                <a:latin typeface="Calibri"/>
                <a:cs typeface="Calibri"/>
              </a:rPr>
              <a:t>:</a:t>
            </a:r>
            <a:endParaRPr sz="450">
              <a:latin typeface="Calibri"/>
              <a:cs typeface="Calibri"/>
            </a:endParaRPr>
          </a:p>
          <a:p>
            <a:pPr marL="12700">
              <a:lnSpc>
                <a:spcPts val="525"/>
              </a:lnSpc>
            </a:pPr>
            <a:r>
              <a:rPr sz="450" u="sng" spc="-1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8"/>
              </a:rPr>
              <a:t>https://pixabay.com/en/luggage-antiq</a:t>
            </a:r>
            <a:r>
              <a:rPr sz="450" u="sng" spc="21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8"/>
              </a:rPr>
              <a:t> </a:t>
            </a:r>
            <a:r>
              <a:rPr sz="450" u="sng" spc="-25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8"/>
              </a:rPr>
              <a:t>ue-</a:t>
            </a:r>
            <a:r>
              <a:rPr sz="450" u="sng" spc="-1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8"/>
              </a:rPr>
              <a:t>cat-1643010/</a:t>
            </a:r>
            <a:endParaRPr sz="450">
              <a:latin typeface="Calibri"/>
              <a:cs typeface="Calibri"/>
            </a:endParaRPr>
          </a:p>
          <a:p>
            <a:pPr marL="12700" marR="5080">
              <a:lnSpc>
                <a:spcPct val="97500"/>
              </a:lnSpc>
              <a:spcBef>
                <a:spcPts val="5"/>
              </a:spcBef>
            </a:pPr>
            <a:r>
              <a:rPr sz="450" u="sng" spc="-1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9"/>
              </a:rPr>
              <a:t>https://pixabay.com/en/teddy-plush-bears-cute-teddy-bear-1623436/</a:t>
            </a:r>
            <a:r>
              <a:rPr sz="450" spc="50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450" u="sng" spc="-1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0"/>
              </a:rPr>
              <a:t>https://pixabay.com/en/surf-wave-</a:t>
            </a:r>
            <a:r>
              <a:rPr sz="450" u="sng" spc="-25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0"/>
              </a:rPr>
              <a:t>su</a:t>
            </a:r>
            <a:r>
              <a:rPr sz="450" u="sng" spc="7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0"/>
              </a:rPr>
              <a:t> </a:t>
            </a:r>
            <a:r>
              <a:rPr sz="450" u="sng" spc="-1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0"/>
              </a:rPr>
              <a:t>mmer-</a:t>
            </a:r>
            <a:r>
              <a:rPr sz="450" u="sng" spc="-25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0"/>
              </a:rPr>
              <a:t>sp</a:t>
            </a:r>
            <a:r>
              <a:rPr sz="450" u="sng" spc="75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0"/>
              </a:rPr>
              <a:t> </a:t>
            </a:r>
            <a:r>
              <a:rPr sz="450" u="sng" spc="-2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0"/>
              </a:rPr>
              <a:t>ort-li</a:t>
            </a:r>
            <a:r>
              <a:rPr sz="450" u="sng" spc="15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0"/>
              </a:rPr>
              <a:t> </a:t>
            </a:r>
            <a:r>
              <a:rPr sz="450" u="sng" spc="-1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0"/>
              </a:rPr>
              <a:t>toral-1668716/</a:t>
            </a:r>
            <a:r>
              <a:rPr sz="450" spc="50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450" u="sng" spc="-1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1"/>
              </a:rPr>
              <a:t>https://pixabay.com/en/woman-female-model-</a:t>
            </a:r>
            <a:r>
              <a:rPr sz="450" u="sng" spc="-2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1"/>
              </a:rPr>
              <a:t>por</a:t>
            </a:r>
            <a:r>
              <a:rPr sz="450" u="sng" spc="325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1"/>
              </a:rPr>
              <a:t> </a:t>
            </a:r>
            <a:r>
              <a:rPr sz="450" u="sng" spc="-1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1"/>
              </a:rPr>
              <a:t>trait-adult-983967/</a:t>
            </a:r>
            <a:endParaRPr sz="450">
              <a:latin typeface="Calibri"/>
              <a:cs typeface="Calibri"/>
            </a:endParaRPr>
          </a:p>
          <a:p>
            <a:pPr marL="12700">
              <a:lnSpc>
                <a:spcPts val="535"/>
              </a:lnSpc>
              <a:spcBef>
                <a:spcPts val="60"/>
              </a:spcBef>
            </a:pPr>
            <a:r>
              <a:rPr sz="450" u="sng" spc="-1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2"/>
              </a:rPr>
              <a:t>https://pixabay.com/en/handstand-lake-meditation-496008/</a:t>
            </a:r>
            <a:endParaRPr sz="450">
              <a:latin typeface="Calibri"/>
              <a:cs typeface="Calibri"/>
            </a:endParaRPr>
          </a:p>
          <a:p>
            <a:pPr marL="12700">
              <a:lnSpc>
                <a:spcPts val="530"/>
              </a:lnSpc>
            </a:pPr>
            <a:r>
              <a:rPr sz="450" u="sng" spc="-1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3"/>
              </a:rPr>
              <a:t>https://pixabay.com/en/baseball-player-</a:t>
            </a:r>
            <a:r>
              <a:rPr sz="450" u="sng" spc="-25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3"/>
              </a:rPr>
              <a:t>sh</a:t>
            </a:r>
            <a:r>
              <a:rPr sz="450" u="sng" spc="11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3"/>
              </a:rPr>
              <a:t> </a:t>
            </a:r>
            <a:r>
              <a:rPr sz="450" u="sng" spc="-1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3"/>
              </a:rPr>
              <a:t>ortstop-</a:t>
            </a:r>
            <a:r>
              <a:rPr sz="450" u="sng" spc="-2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3"/>
              </a:rPr>
              <a:t>in</a:t>
            </a:r>
            <a:r>
              <a:rPr sz="450" u="sng" spc="11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3"/>
              </a:rPr>
              <a:t> </a:t>
            </a:r>
            <a:r>
              <a:rPr sz="450" u="sng" spc="-1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3"/>
              </a:rPr>
              <a:t>field-1045263/</a:t>
            </a:r>
            <a:endParaRPr sz="45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2710" y="4604384"/>
            <a:ext cx="1311275" cy="93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">
                <a:solidFill>
                  <a:srgbClr val="BEBEBE"/>
                </a:solidFill>
                <a:latin typeface="Calibri"/>
                <a:cs typeface="Calibri"/>
              </a:rPr>
              <a:t>Captions</a:t>
            </a:r>
            <a:r>
              <a:rPr sz="450" spc="35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450" spc="-35">
                <a:solidFill>
                  <a:srgbClr val="BEBEBE"/>
                </a:solidFill>
                <a:latin typeface="Calibri"/>
                <a:cs typeface="Calibri"/>
              </a:rPr>
              <a:t>gen </a:t>
            </a:r>
            <a:r>
              <a:rPr sz="450" spc="-10">
                <a:solidFill>
                  <a:srgbClr val="BEBEBE"/>
                </a:solidFill>
                <a:latin typeface="Calibri"/>
                <a:cs typeface="Calibri"/>
              </a:rPr>
              <a:t>erated</a:t>
            </a:r>
            <a:r>
              <a:rPr sz="450" spc="-3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450" spc="-10">
                <a:solidFill>
                  <a:srgbClr val="BEBEBE"/>
                </a:solidFill>
                <a:latin typeface="Calibri"/>
                <a:cs typeface="Calibri"/>
              </a:rPr>
              <a:t>by</a:t>
            </a:r>
            <a:r>
              <a:rPr sz="450">
                <a:solidFill>
                  <a:srgbClr val="BEBEBE"/>
                </a:solidFill>
                <a:latin typeface="Calibri"/>
                <a:cs typeface="Calibri"/>
              </a:rPr>
              <a:t> Justin</a:t>
            </a:r>
            <a:r>
              <a:rPr sz="450" spc="-3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450" spc="-10">
                <a:solidFill>
                  <a:srgbClr val="BEBEBE"/>
                </a:solidFill>
                <a:latin typeface="Calibri"/>
                <a:cs typeface="Calibri"/>
              </a:rPr>
              <a:t>Joh</a:t>
            </a:r>
            <a:r>
              <a:rPr sz="450" spc="-35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450" spc="-10">
                <a:solidFill>
                  <a:srgbClr val="BEBEBE"/>
                </a:solidFill>
                <a:latin typeface="Calibri"/>
                <a:cs typeface="Calibri"/>
              </a:rPr>
              <a:t>nson</a:t>
            </a:r>
            <a:r>
              <a:rPr sz="450" spc="55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450" spc="-10">
                <a:solidFill>
                  <a:srgbClr val="BEBEBE"/>
                </a:solidFill>
                <a:latin typeface="Calibri"/>
                <a:cs typeface="Calibri"/>
              </a:rPr>
              <a:t>using</a:t>
            </a:r>
            <a:r>
              <a:rPr sz="450" spc="-5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450" u="sng" spc="-1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4"/>
              </a:rPr>
              <a:t>Neuraltalk2</a:t>
            </a:r>
            <a:endParaRPr sz="450">
              <a:latin typeface="Calibri"/>
              <a:cs typeface="Calibri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0430" rIns="0" bIns="0" rtlCol="0">
            <a:spAutoFit/>
          </a:bodyPr>
          <a:lstStyle/>
          <a:p>
            <a:pPr marL="95250">
              <a:lnSpc>
                <a:spcPct val="100000"/>
              </a:lnSpc>
              <a:spcBef>
                <a:spcPts val="105"/>
              </a:spcBef>
            </a:pPr>
            <a:r>
              <a:rPr sz="3000"/>
              <a:t>2012</a:t>
            </a:r>
            <a:r>
              <a:rPr sz="3000" spc="-60"/>
              <a:t> </a:t>
            </a:r>
            <a:r>
              <a:rPr sz="3000"/>
              <a:t>to</a:t>
            </a:r>
            <a:r>
              <a:rPr sz="3000" spc="-45"/>
              <a:t> </a:t>
            </a:r>
            <a:r>
              <a:rPr sz="3000"/>
              <a:t>Present:</a:t>
            </a:r>
            <a:r>
              <a:rPr sz="3000" spc="-25"/>
              <a:t> </a:t>
            </a:r>
            <a:r>
              <a:rPr sz="3000"/>
              <a:t>Deep</a:t>
            </a:r>
            <a:r>
              <a:rPr sz="3000" spc="-45"/>
              <a:t> </a:t>
            </a:r>
            <a:r>
              <a:rPr sz="3000"/>
              <a:t>Learning</a:t>
            </a:r>
            <a:r>
              <a:rPr sz="3000" spc="-30"/>
              <a:t> </a:t>
            </a:r>
            <a:r>
              <a:rPr sz="3000"/>
              <a:t>is</a:t>
            </a:r>
            <a:r>
              <a:rPr sz="3000" spc="-25"/>
              <a:t> </a:t>
            </a:r>
            <a:r>
              <a:rPr sz="3000" spc="-10"/>
              <a:t>Everywhere</a:t>
            </a:r>
            <a:endParaRPr sz="3000"/>
          </a:p>
        </p:txBody>
      </p:sp>
      <p:sp>
        <p:nvSpPr>
          <p:cNvPr id="18" name="object 18"/>
          <p:cNvSpPr txBox="1"/>
          <p:nvPr/>
        </p:nvSpPr>
        <p:spPr>
          <a:xfrm>
            <a:off x="9013840" y="3200079"/>
            <a:ext cx="140335" cy="151257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>
                <a:latin typeface="Calibri"/>
                <a:cs typeface="Calibri"/>
              </a:rPr>
              <a:t>Slide</a:t>
            </a:r>
            <a:r>
              <a:rPr sz="900" spc="-40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inspiration:</a:t>
            </a:r>
            <a:r>
              <a:rPr sz="900" spc="-50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Justin</a:t>
            </a:r>
            <a:r>
              <a:rPr sz="900" spc="15">
                <a:latin typeface="Calibri"/>
                <a:cs typeface="Calibri"/>
              </a:rPr>
              <a:t> </a:t>
            </a:r>
            <a:r>
              <a:rPr sz="900" spc="-10">
                <a:latin typeface="Calibri"/>
                <a:cs typeface="Calibri"/>
              </a:rPr>
              <a:t>Johnson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2825" y="140080"/>
            <a:ext cx="7132320" cy="483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000"/>
              <a:t>2012</a:t>
            </a:r>
            <a:r>
              <a:rPr sz="3000" spc="-60"/>
              <a:t> </a:t>
            </a:r>
            <a:r>
              <a:rPr sz="3000"/>
              <a:t>to</a:t>
            </a:r>
            <a:r>
              <a:rPr sz="3000" spc="-45"/>
              <a:t> </a:t>
            </a:r>
            <a:r>
              <a:rPr sz="3000"/>
              <a:t>Present:</a:t>
            </a:r>
            <a:r>
              <a:rPr sz="3000" spc="-25"/>
              <a:t> </a:t>
            </a:r>
            <a:r>
              <a:rPr sz="3000"/>
              <a:t>Deep</a:t>
            </a:r>
            <a:r>
              <a:rPr sz="3000" spc="-45"/>
              <a:t> </a:t>
            </a:r>
            <a:r>
              <a:rPr sz="3000"/>
              <a:t>Learning</a:t>
            </a:r>
            <a:r>
              <a:rPr sz="3000" spc="-30"/>
              <a:t> </a:t>
            </a:r>
            <a:r>
              <a:rPr sz="3000"/>
              <a:t>is</a:t>
            </a:r>
            <a:r>
              <a:rPr sz="3000" spc="-25"/>
              <a:t> </a:t>
            </a:r>
            <a:r>
              <a:rPr sz="3000" spc="-10"/>
              <a:t>Everywhere</a:t>
            </a:r>
            <a:endParaRPr sz="30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ts val="2390"/>
              </a:lnSpc>
              <a:spcBef>
                <a:spcPts val="130"/>
              </a:spcBef>
            </a:pPr>
            <a:r>
              <a:rPr spc="-10"/>
              <a:t>Results:</a:t>
            </a:r>
          </a:p>
          <a:p>
            <a:pPr marL="12700">
              <a:lnSpc>
                <a:spcPts val="2150"/>
              </a:lnSpc>
            </a:pPr>
            <a:r>
              <a:rPr sz="1800"/>
              <a:t>spatial,</a:t>
            </a:r>
            <a:r>
              <a:rPr sz="1800" spc="-65"/>
              <a:t> </a:t>
            </a:r>
            <a:r>
              <a:rPr sz="1800" spc="-10"/>
              <a:t>comparative,</a:t>
            </a:r>
            <a:r>
              <a:rPr sz="1800" spc="5"/>
              <a:t> </a:t>
            </a:r>
            <a:r>
              <a:rPr sz="1800" spc="-10"/>
              <a:t>asymmetrical,</a:t>
            </a:r>
            <a:r>
              <a:rPr sz="1800" spc="5"/>
              <a:t> </a:t>
            </a:r>
            <a:r>
              <a:rPr sz="1800" spc="-10"/>
              <a:t>verb,</a:t>
            </a:r>
            <a:endParaRPr sz="1800"/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10"/>
              <a:t>prepositional</a:t>
            </a:r>
            <a:endParaRPr sz="1800"/>
          </a:p>
          <a:p>
            <a:pPr marL="1867535">
              <a:lnSpc>
                <a:spcPct val="100000"/>
              </a:lnSpc>
              <a:spcBef>
                <a:spcPts val="1500"/>
              </a:spcBef>
            </a:pPr>
            <a:r>
              <a:t>taller</a:t>
            </a:r>
            <a:r>
              <a:rPr spc="-25"/>
              <a:t> </a:t>
            </a:r>
            <a:r>
              <a:rPr spc="-20"/>
              <a:t>than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671440" y="2388552"/>
            <a:ext cx="74168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10">
                <a:solidFill>
                  <a:srgbClr val="FF9900"/>
                </a:solidFill>
                <a:latin typeface="Calibri"/>
                <a:cs typeface="Calibri"/>
              </a:rPr>
              <a:t>person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40981" y="2354579"/>
            <a:ext cx="741680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spc="-10">
                <a:solidFill>
                  <a:srgbClr val="FF0000"/>
                </a:solidFill>
                <a:latin typeface="Calibri"/>
                <a:cs typeface="Calibri"/>
              </a:rPr>
              <a:t>person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29071" y="2767647"/>
            <a:ext cx="63754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>
                <a:latin typeface="Calibri"/>
                <a:cs typeface="Calibri"/>
              </a:rPr>
              <a:t>left</a:t>
            </a:r>
            <a:r>
              <a:rPr sz="2000" spc="-80">
                <a:latin typeface="Calibri"/>
                <a:cs typeface="Calibri"/>
              </a:rPr>
              <a:t> </a:t>
            </a:r>
            <a:r>
              <a:rPr sz="2000" spc="-25">
                <a:latin typeface="Calibri"/>
                <a:cs typeface="Calibri"/>
              </a:rPr>
              <a:t>of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570601" y="2257043"/>
            <a:ext cx="298450" cy="760730"/>
          </a:xfrm>
          <a:custGeom>
            <a:avLst/>
            <a:gdLst/>
            <a:ahLst/>
            <a:cxnLst/>
            <a:rect l="l" t="t" r="r" b="b"/>
            <a:pathLst>
              <a:path w="298450" h="760730">
                <a:moveTo>
                  <a:pt x="173863" y="10287"/>
                </a:moveTo>
                <a:lnTo>
                  <a:pt x="147193" y="0"/>
                </a:lnTo>
                <a:lnTo>
                  <a:pt x="53327" y="246164"/>
                </a:lnTo>
                <a:lnTo>
                  <a:pt x="0" y="225806"/>
                </a:lnTo>
                <a:lnTo>
                  <a:pt x="15875" y="384683"/>
                </a:lnTo>
                <a:lnTo>
                  <a:pt x="133477" y="276733"/>
                </a:lnTo>
                <a:lnTo>
                  <a:pt x="114833" y="269621"/>
                </a:lnTo>
                <a:lnTo>
                  <a:pt x="79997" y="256336"/>
                </a:lnTo>
                <a:lnTo>
                  <a:pt x="173863" y="10287"/>
                </a:lnTo>
                <a:close/>
              </a:path>
              <a:path w="298450" h="760730">
                <a:moveTo>
                  <a:pt x="297942" y="760730"/>
                </a:moveTo>
                <a:lnTo>
                  <a:pt x="280670" y="666623"/>
                </a:lnTo>
                <a:lnTo>
                  <a:pt x="269113" y="603631"/>
                </a:lnTo>
                <a:lnTo>
                  <a:pt x="223405" y="638048"/>
                </a:lnTo>
                <a:lnTo>
                  <a:pt x="27178" y="377571"/>
                </a:lnTo>
                <a:lnTo>
                  <a:pt x="4445" y="394716"/>
                </a:lnTo>
                <a:lnTo>
                  <a:pt x="200583" y="655243"/>
                </a:lnTo>
                <a:lnTo>
                  <a:pt x="154940" y="689610"/>
                </a:lnTo>
                <a:lnTo>
                  <a:pt x="297942" y="7607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832854" y="2252598"/>
            <a:ext cx="335280" cy="763905"/>
          </a:xfrm>
          <a:custGeom>
            <a:avLst/>
            <a:gdLst/>
            <a:ahLst/>
            <a:cxnLst/>
            <a:rect l="l" t="t" r="r" b="b"/>
            <a:pathLst>
              <a:path w="335279" h="763905">
                <a:moveTo>
                  <a:pt x="323342" y="390652"/>
                </a:moveTo>
                <a:lnTo>
                  <a:pt x="176022" y="452374"/>
                </a:lnTo>
                <a:lnTo>
                  <a:pt x="219417" y="489623"/>
                </a:lnTo>
                <a:lnTo>
                  <a:pt x="0" y="744982"/>
                </a:lnTo>
                <a:lnTo>
                  <a:pt x="21717" y="763524"/>
                </a:lnTo>
                <a:lnTo>
                  <a:pt x="241147" y="508279"/>
                </a:lnTo>
                <a:lnTo>
                  <a:pt x="284480" y="545465"/>
                </a:lnTo>
                <a:lnTo>
                  <a:pt x="301205" y="478790"/>
                </a:lnTo>
                <a:lnTo>
                  <a:pt x="323342" y="390652"/>
                </a:lnTo>
                <a:close/>
              </a:path>
              <a:path w="335279" h="763905">
                <a:moveTo>
                  <a:pt x="334899" y="377825"/>
                </a:moveTo>
                <a:lnTo>
                  <a:pt x="173850" y="114490"/>
                </a:lnTo>
                <a:lnTo>
                  <a:pt x="193865" y="102235"/>
                </a:lnTo>
                <a:lnTo>
                  <a:pt x="222504" y="84709"/>
                </a:lnTo>
                <a:lnTo>
                  <a:pt x="86995" y="0"/>
                </a:lnTo>
                <a:lnTo>
                  <a:pt x="100711" y="159258"/>
                </a:lnTo>
                <a:lnTo>
                  <a:pt x="149440" y="129425"/>
                </a:lnTo>
                <a:lnTo>
                  <a:pt x="310515" y="392684"/>
                </a:lnTo>
                <a:lnTo>
                  <a:pt x="334899" y="3778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964429" y="3576701"/>
            <a:ext cx="142875" cy="506730"/>
          </a:xfrm>
          <a:custGeom>
            <a:avLst/>
            <a:gdLst/>
            <a:ahLst/>
            <a:cxnLst/>
            <a:rect l="l" t="t" r="r" b="b"/>
            <a:pathLst>
              <a:path w="142875" h="506729">
                <a:moveTo>
                  <a:pt x="57200" y="363842"/>
                </a:moveTo>
                <a:lnTo>
                  <a:pt x="0" y="364147"/>
                </a:lnTo>
                <a:lnTo>
                  <a:pt x="72262" y="506641"/>
                </a:lnTo>
                <a:lnTo>
                  <a:pt x="135607" y="378129"/>
                </a:lnTo>
                <a:lnTo>
                  <a:pt x="57277" y="378129"/>
                </a:lnTo>
                <a:lnTo>
                  <a:pt x="57200" y="363842"/>
                </a:lnTo>
                <a:close/>
              </a:path>
              <a:path w="142875" h="506729">
                <a:moveTo>
                  <a:pt x="85775" y="363689"/>
                </a:moveTo>
                <a:lnTo>
                  <a:pt x="57200" y="363842"/>
                </a:lnTo>
                <a:lnTo>
                  <a:pt x="57277" y="378129"/>
                </a:lnTo>
                <a:lnTo>
                  <a:pt x="85852" y="377977"/>
                </a:lnTo>
                <a:lnTo>
                  <a:pt x="85775" y="363689"/>
                </a:lnTo>
                <a:close/>
              </a:path>
              <a:path w="142875" h="506729">
                <a:moveTo>
                  <a:pt x="142875" y="363385"/>
                </a:moveTo>
                <a:lnTo>
                  <a:pt x="85775" y="363689"/>
                </a:lnTo>
                <a:lnTo>
                  <a:pt x="85852" y="377977"/>
                </a:lnTo>
                <a:lnTo>
                  <a:pt x="57277" y="378129"/>
                </a:lnTo>
                <a:lnTo>
                  <a:pt x="135607" y="378129"/>
                </a:lnTo>
                <a:lnTo>
                  <a:pt x="142875" y="363385"/>
                </a:lnTo>
                <a:close/>
              </a:path>
              <a:path w="142875" h="506729">
                <a:moveTo>
                  <a:pt x="83820" y="0"/>
                </a:moveTo>
                <a:lnTo>
                  <a:pt x="55245" y="0"/>
                </a:lnTo>
                <a:lnTo>
                  <a:pt x="57197" y="363385"/>
                </a:lnTo>
                <a:lnTo>
                  <a:pt x="57200" y="363842"/>
                </a:lnTo>
                <a:lnTo>
                  <a:pt x="85775" y="363689"/>
                </a:lnTo>
                <a:lnTo>
                  <a:pt x="8382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067675" y="3547998"/>
            <a:ext cx="142875" cy="548005"/>
          </a:xfrm>
          <a:custGeom>
            <a:avLst/>
            <a:gdLst/>
            <a:ahLst/>
            <a:cxnLst/>
            <a:rect l="l" t="t" r="r" b="b"/>
            <a:pathLst>
              <a:path w="142875" h="548004">
                <a:moveTo>
                  <a:pt x="57150" y="404685"/>
                </a:moveTo>
                <a:lnTo>
                  <a:pt x="0" y="404685"/>
                </a:lnTo>
                <a:lnTo>
                  <a:pt x="71374" y="547560"/>
                </a:lnTo>
                <a:lnTo>
                  <a:pt x="135724" y="418972"/>
                </a:lnTo>
                <a:lnTo>
                  <a:pt x="57150" y="418972"/>
                </a:lnTo>
                <a:lnTo>
                  <a:pt x="57150" y="404685"/>
                </a:lnTo>
                <a:close/>
              </a:path>
              <a:path w="142875" h="548004">
                <a:moveTo>
                  <a:pt x="85725" y="0"/>
                </a:moveTo>
                <a:lnTo>
                  <a:pt x="57150" y="0"/>
                </a:lnTo>
                <a:lnTo>
                  <a:pt x="57150" y="418972"/>
                </a:lnTo>
                <a:lnTo>
                  <a:pt x="85725" y="418972"/>
                </a:lnTo>
                <a:lnTo>
                  <a:pt x="85725" y="0"/>
                </a:lnTo>
                <a:close/>
              </a:path>
              <a:path w="142875" h="548004">
                <a:moveTo>
                  <a:pt x="142875" y="404685"/>
                </a:moveTo>
                <a:lnTo>
                  <a:pt x="85725" y="404685"/>
                </a:lnTo>
                <a:lnTo>
                  <a:pt x="85725" y="418972"/>
                </a:lnTo>
                <a:lnTo>
                  <a:pt x="135724" y="418972"/>
                </a:lnTo>
                <a:lnTo>
                  <a:pt x="142875" y="4046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972050" y="2748026"/>
            <a:ext cx="142875" cy="557530"/>
          </a:xfrm>
          <a:custGeom>
            <a:avLst/>
            <a:gdLst/>
            <a:ahLst/>
            <a:cxnLst/>
            <a:rect l="l" t="t" r="r" b="b"/>
            <a:pathLst>
              <a:path w="142875" h="557529">
                <a:moveTo>
                  <a:pt x="57150" y="414400"/>
                </a:moveTo>
                <a:lnTo>
                  <a:pt x="0" y="414400"/>
                </a:lnTo>
                <a:lnTo>
                  <a:pt x="71500" y="557276"/>
                </a:lnTo>
                <a:lnTo>
                  <a:pt x="135769" y="428625"/>
                </a:lnTo>
                <a:lnTo>
                  <a:pt x="57150" y="428625"/>
                </a:lnTo>
                <a:lnTo>
                  <a:pt x="57150" y="414400"/>
                </a:lnTo>
                <a:close/>
              </a:path>
              <a:path w="142875" h="557529">
                <a:moveTo>
                  <a:pt x="85725" y="0"/>
                </a:moveTo>
                <a:lnTo>
                  <a:pt x="57150" y="0"/>
                </a:lnTo>
                <a:lnTo>
                  <a:pt x="57150" y="428625"/>
                </a:lnTo>
                <a:lnTo>
                  <a:pt x="85725" y="428625"/>
                </a:lnTo>
                <a:lnTo>
                  <a:pt x="85725" y="0"/>
                </a:lnTo>
                <a:close/>
              </a:path>
              <a:path w="142875" h="557529">
                <a:moveTo>
                  <a:pt x="142875" y="414400"/>
                </a:moveTo>
                <a:lnTo>
                  <a:pt x="85725" y="414400"/>
                </a:lnTo>
                <a:lnTo>
                  <a:pt x="85725" y="428625"/>
                </a:lnTo>
                <a:lnTo>
                  <a:pt x="135769" y="428625"/>
                </a:lnTo>
                <a:lnTo>
                  <a:pt x="142875" y="414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699120" y="2701289"/>
            <a:ext cx="458470" cy="599440"/>
          </a:xfrm>
          <a:custGeom>
            <a:avLst/>
            <a:gdLst/>
            <a:ahLst/>
            <a:cxnLst/>
            <a:rect l="l" t="t" r="r" b="b"/>
            <a:pathLst>
              <a:path w="458470" h="599439">
                <a:moveTo>
                  <a:pt x="360484" y="493986"/>
                </a:moveTo>
                <a:lnTo>
                  <a:pt x="314959" y="528447"/>
                </a:lnTo>
                <a:lnTo>
                  <a:pt x="458088" y="599313"/>
                </a:lnTo>
                <a:lnTo>
                  <a:pt x="440614" y="505333"/>
                </a:lnTo>
                <a:lnTo>
                  <a:pt x="369061" y="505333"/>
                </a:lnTo>
                <a:lnTo>
                  <a:pt x="360484" y="493986"/>
                </a:lnTo>
                <a:close/>
              </a:path>
              <a:path w="458470" h="599439">
                <a:moveTo>
                  <a:pt x="383325" y="476696"/>
                </a:moveTo>
                <a:lnTo>
                  <a:pt x="360484" y="493986"/>
                </a:lnTo>
                <a:lnTo>
                  <a:pt x="369061" y="505333"/>
                </a:lnTo>
                <a:lnTo>
                  <a:pt x="391922" y="488061"/>
                </a:lnTo>
                <a:lnTo>
                  <a:pt x="383325" y="476696"/>
                </a:lnTo>
                <a:close/>
              </a:path>
              <a:path w="458470" h="599439">
                <a:moveTo>
                  <a:pt x="428878" y="442214"/>
                </a:moveTo>
                <a:lnTo>
                  <a:pt x="383325" y="476696"/>
                </a:lnTo>
                <a:lnTo>
                  <a:pt x="391922" y="488061"/>
                </a:lnTo>
                <a:lnTo>
                  <a:pt x="369061" y="505333"/>
                </a:lnTo>
                <a:lnTo>
                  <a:pt x="440614" y="505333"/>
                </a:lnTo>
                <a:lnTo>
                  <a:pt x="428878" y="442214"/>
                </a:lnTo>
                <a:close/>
              </a:path>
              <a:path w="458470" h="599439">
                <a:moveTo>
                  <a:pt x="22732" y="0"/>
                </a:moveTo>
                <a:lnTo>
                  <a:pt x="0" y="17145"/>
                </a:lnTo>
                <a:lnTo>
                  <a:pt x="360484" y="493986"/>
                </a:lnTo>
                <a:lnTo>
                  <a:pt x="383325" y="476696"/>
                </a:lnTo>
                <a:lnTo>
                  <a:pt x="227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957439" y="3210623"/>
            <a:ext cx="54483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20">
                <a:latin typeface="Calibri"/>
                <a:cs typeface="Calibri"/>
              </a:rPr>
              <a:t>wear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793869" y="4044315"/>
            <a:ext cx="492759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spc="-10">
                <a:solidFill>
                  <a:srgbClr val="D51EEE"/>
                </a:solidFill>
                <a:latin typeface="Calibri"/>
                <a:cs typeface="Calibri"/>
              </a:rPr>
              <a:t>shirt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66055" y="3223577"/>
            <a:ext cx="54419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20">
                <a:latin typeface="Calibri"/>
                <a:cs typeface="Calibri"/>
              </a:rPr>
              <a:t>wear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144766" y="3223577"/>
            <a:ext cx="29273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25">
                <a:latin typeface="Calibri"/>
                <a:cs typeface="Calibri"/>
              </a:rPr>
              <a:t>on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219950" y="3586098"/>
            <a:ext cx="142875" cy="548005"/>
          </a:xfrm>
          <a:custGeom>
            <a:avLst/>
            <a:gdLst/>
            <a:ahLst/>
            <a:cxnLst/>
            <a:rect l="l" t="t" r="r" b="b"/>
            <a:pathLst>
              <a:path w="142875" h="548004">
                <a:moveTo>
                  <a:pt x="57150" y="404685"/>
                </a:moveTo>
                <a:lnTo>
                  <a:pt x="0" y="404685"/>
                </a:lnTo>
                <a:lnTo>
                  <a:pt x="71374" y="547560"/>
                </a:lnTo>
                <a:lnTo>
                  <a:pt x="135724" y="418972"/>
                </a:lnTo>
                <a:lnTo>
                  <a:pt x="57150" y="418972"/>
                </a:lnTo>
                <a:lnTo>
                  <a:pt x="57150" y="404685"/>
                </a:lnTo>
                <a:close/>
              </a:path>
              <a:path w="142875" h="548004">
                <a:moveTo>
                  <a:pt x="85725" y="0"/>
                </a:moveTo>
                <a:lnTo>
                  <a:pt x="57150" y="0"/>
                </a:lnTo>
                <a:lnTo>
                  <a:pt x="57150" y="418972"/>
                </a:lnTo>
                <a:lnTo>
                  <a:pt x="85725" y="418972"/>
                </a:lnTo>
                <a:lnTo>
                  <a:pt x="85725" y="0"/>
                </a:lnTo>
                <a:close/>
              </a:path>
              <a:path w="142875" h="548004">
                <a:moveTo>
                  <a:pt x="142875" y="404685"/>
                </a:moveTo>
                <a:lnTo>
                  <a:pt x="85725" y="404685"/>
                </a:lnTo>
                <a:lnTo>
                  <a:pt x="85725" y="418972"/>
                </a:lnTo>
                <a:lnTo>
                  <a:pt x="135724" y="418972"/>
                </a:lnTo>
                <a:lnTo>
                  <a:pt x="142875" y="4046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241796" y="4044315"/>
            <a:ext cx="2778760" cy="71056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807720">
              <a:lnSpc>
                <a:spcPct val="100000"/>
              </a:lnSpc>
              <a:spcBef>
                <a:spcPts val="130"/>
              </a:spcBef>
              <a:tabLst>
                <a:tab pos="1757680" algn="l"/>
              </a:tabLst>
            </a:pPr>
            <a:r>
              <a:rPr sz="2000" spc="-20">
                <a:solidFill>
                  <a:srgbClr val="396CBC"/>
                </a:solidFill>
                <a:latin typeface="Calibri"/>
                <a:cs typeface="Calibri"/>
              </a:rPr>
              <a:t>snow</a:t>
            </a:r>
            <a:r>
              <a:rPr sz="2000">
                <a:solidFill>
                  <a:srgbClr val="396CBC"/>
                </a:solidFill>
                <a:latin typeface="Calibri"/>
                <a:cs typeface="Calibri"/>
              </a:rPr>
              <a:t>	</a:t>
            </a:r>
            <a:r>
              <a:rPr sz="2000" spc="-25">
                <a:solidFill>
                  <a:srgbClr val="974707"/>
                </a:solidFill>
                <a:latin typeface="Calibri"/>
                <a:cs typeface="Calibri"/>
              </a:rPr>
              <a:t>ski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20"/>
              </a:spcBef>
            </a:pPr>
            <a:r>
              <a:rPr sz="1200">
                <a:latin typeface="Calibri"/>
                <a:cs typeface="Calibri"/>
              </a:rPr>
              <a:t>Krishna*,</a:t>
            </a:r>
            <a:r>
              <a:rPr sz="1200" spc="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Lu*,</a:t>
            </a:r>
            <a:r>
              <a:rPr sz="1200" spc="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Bernstein,</a:t>
            </a:r>
            <a:r>
              <a:rPr sz="1200" spc="-15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Fei-</a:t>
            </a:r>
            <a:r>
              <a:rPr sz="1200">
                <a:latin typeface="Calibri"/>
                <a:cs typeface="Calibri"/>
              </a:rPr>
              <a:t>Fei,</a:t>
            </a:r>
            <a:r>
              <a:rPr sz="1200" spc="245">
                <a:latin typeface="Calibri"/>
                <a:cs typeface="Calibri"/>
              </a:rPr>
              <a:t> </a:t>
            </a:r>
            <a:r>
              <a:rPr sz="1200" i="1">
                <a:latin typeface="Calibri"/>
                <a:cs typeface="Calibri"/>
              </a:rPr>
              <a:t>ECCV</a:t>
            </a:r>
            <a:r>
              <a:rPr sz="1200" i="1" spc="-50">
                <a:latin typeface="Calibri"/>
                <a:cs typeface="Calibri"/>
              </a:rPr>
              <a:t> </a:t>
            </a:r>
            <a:r>
              <a:rPr sz="1200" spc="-20">
                <a:latin typeface="Calibri"/>
                <a:cs typeface="Calibri"/>
              </a:rPr>
              <a:t>2016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253223" y="2701417"/>
            <a:ext cx="469265" cy="632460"/>
          </a:xfrm>
          <a:custGeom>
            <a:avLst/>
            <a:gdLst/>
            <a:ahLst/>
            <a:cxnLst/>
            <a:rect l="l" t="t" r="r" b="b"/>
            <a:pathLst>
              <a:path w="469265" h="632460">
                <a:moveTo>
                  <a:pt x="26924" y="474725"/>
                </a:moveTo>
                <a:lnTo>
                  <a:pt x="0" y="632206"/>
                </a:lnTo>
                <a:lnTo>
                  <a:pt x="142112" y="559181"/>
                </a:lnTo>
                <a:lnTo>
                  <a:pt x="111626" y="536828"/>
                </a:lnTo>
                <a:lnTo>
                  <a:pt x="87629" y="536828"/>
                </a:lnTo>
                <a:lnTo>
                  <a:pt x="64516" y="519938"/>
                </a:lnTo>
                <a:lnTo>
                  <a:pt x="72933" y="508459"/>
                </a:lnTo>
                <a:lnTo>
                  <a:pt x="26924" y="474725"/>
                </a:lnTo>
                <a:close/>
              </a:path>
              <a:path w="469265" h="632460">
                <a:moveTo>
                  <a:pt x="72933" y="508459"/>
                </a:moveTo>
                <a:lnTo>
                  <a:pt x="64516" y="519938"/>
                </a:lnTo>
                <a:lnTo>
                  <a:pt x="87629" y="536828"/>
                </a:lnTo>
                <a:lnTo>
                  <a:pt x="96018" y="525385"/>
                </a:lnTo>
                <a:lnTo>
                  <a:pt x="72933" y="508459"/>
                </a:lnTo>
                <a:close/>
              </a:path>
              <a:path w="469265" h="632460">
                <a:moveTo>
                  <a:pt x="96018" y="525385"/>
                </a:moveTo>
                <a:lnTo>
                  <a:pt x="87629" y="536828"/>
                </a:lnTo>
                <a:lnTo>
                  <a:pt x="111626" y="536828"/>
                </a:lnTo>
                <a:lnTo>
                  <a:pt x="96018" y="525385"/>
                </a:lnTo>
                <a:close/>
              </a:path>
              <a:path w="469265" h="632460">
                <a:moveTo>
                  <a:pt x="445770" y="0"/>
                </a:moveTo>
                <a:lnTo>
                  <a:pt x="72933" y="508459"/>
                </a:lnTo>
                <a:lnTo>
                  <a:pt x="96018" y="525385"/>
                </a:lnTo>
                <a:lnTo>
                  <a:pt x="468756" y="16890"/>
                </a:lnTo>
                <a:lnTo>
                  <a:pt x="4457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0" name="object 20"/>
          <p:cNvGrpSpPr/>
          <p:nvPr/>
        </p:nvGrpSpPr>
        <p:grpSpPr>
          <a:xfrm>
            <a:off x="247650" y="771525"/>
            <a:ext cx="3297554" cy="3848100"/>
            <a:chOff x="247650" y="771525"/>
            <a:chExt cx="3297554" cy="3848100"/>
          </a:xfrm>
        </p:grpSpPr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6225" y="800100"/>
              <a:ext cx="3238500" cy="379095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261937" y="785812"/>
              <a:ext cx="3267075" cy="3819525"/>
            </a:xfrm>
            <a:custGeom>
              <a:avLst/>
              <a:gdLst/>
              <a:ahLst/>
              <a:cxnLst/>
              <a:rect l="l" t="t" r="r" b="b"/>
              <a:pathLst>
                <a:path w="3267075" h="3819525">
                  <a:moveTo>
                    <a:pt x="0" y="3819525"/>
                  </a:moveTo>
                  <a:lnTo>
                    <a:pt x="3267075" y="3819525"/>
                  </a:lnTo>
                  <a:lnTo>
                    <a:pt x="3267075" y="0"/>
                  </a:lnTo>
                  <a:lnTo>
                    <a:pt x="0" y="0"/>
                  </a:lnTo>
                  <a:lnTo>
                    <a:pt x="0" y="3819525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157287" y="1166875"/>
              <a:ext cx="1381125" cy="2552700"/>
            </a:xfrm>
            <a:custGeom>
              <a:avLst/>
              <a:gdLst/>
              <a:ahLst/>
              <a:cxnLst/>
              <a:rect l="l" t="t" r="r" b="b"/>
              <a:pathLst>
                <a:path w="1381125" h="2552700">
                  <a:moveTo>
                    <a:pt x="0" y="2552700"/>
                  </a:moveTo>
                  <a:lnTo>
                    <a:pt x="1381125" y="2552700"/>
                  </a:lnTo>
                  <a:lnTo>
                    <a:pt x="1381125" y="0"/>
                  </a:lnTo>
                  <a:lnTo>
                    <a:pt x="0" y="0"/>
                  </a:lnTo>
                  <a:lnTo>
                    <a:pt x="0" y="2552700"/>
                  </a:lnTo>
                  <a:close/>
                </a:path>
              </a:pathLst>
            </a:custGeom>
            <a:ln w="508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33387" y="2414587"/>
              <a:ext cx="666750" cy="1495425"/>
            </a:xfrm>
            <a:custGeom>
              <a:avLst/>
              <a:gdLst/>
              <a:ahLst/>
              <a:cxnLst/>
              <a:rect l="l" t="t" r="r" b="b"/>
              <a:pathLst>
                <a:path w="666750" h="1495425">
                  <a:moveTo>
                    <a:pt x="0" y="1495425"/>
                  </a:moveTo>
                  <a:lnTo>
                    <a:pt x="666750" y="1495425"/>
                  </a:lnTo>
                  <a:lnTo>
                    <a:pt x="666750" y="0"/>
                  </a:lnTo>
                  <a:lnTo>
                    <a:pt x="0" y="0"/>
                  </a:lnTo>
                  <a:lnTo>
                    <a:pt x="0" y="1495425"/>
                  </a:lnTo>
                  <a:close/>
                </a:path>
              </a:pathLst>
            </a:custGeom>
            <a:ln w="50800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38162" y="2548001"/>
              <a:ext cx="542925" cy="657225"/>
            </a:xfrm>
            <a:custGeom>
              <a:avLst/>
              <a:gdLst/>
              <a:ahLst/>
              <a:cxnLst/>
              <a:rect l="l" t="t" r="r" b="b"/>
              <a:pathLst>
                <a:path w="542925" h="657225">
                  <a:moveTo>
                    <a:pt x="0" y="657225"/>
                  </a:moveTo>
                  <a:lnTo>
                    <a:pt x="542925" y="657225"/>
                  </a:lnTo>
                  <a:lnTo>
                    <a:pt x="542925" y="0"/>
                  </a:lnTo>
                  <a:lnTo>
                    <a:pt x="0" y="0"/>
                  </a:lnTo>
                  <a:lnTo>
                    <a:pt x="0" y="657225"/>
                  </a:lnTo>
                  <a:close/>
                </a:path>
              </a:pathLst>
            </a:custGeom>
            <a:ln w="50800">
              <a:solidFill>
                <a:srgbClr val="99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80987" y="3729037"/>
              <a:ext cx="3238500" cy="685800"/>
            </a:xfrm>
            <a:custGeom>
              <a:avLst/>
              <a:gdLst/>
              <a:ahLst/>
              <a:cxnLst/>
              <a:rect l="l" t="t" r="r" b="b"/>
              <a:pathLst>
                <a:path w="3238500" h="685800">
                  <a:moveTo>
                    <a:pt x="0" y="685800"/>
                  </a:moveTo>
                  <a:lnTo>
                    <a:pt x="3238500" y="685800"/>
                  </a:lnTo>
                  <a:lnTo>
                    <a:pt x="3238500" y="0"/>
                  </a:lnTo>
                  <a:lnTo>
                    <a:pt x="0" y="0"/>
                  </a:lnTo>
                  <a:lnTo>
                    <a:pt x="0" y="685800"/>
                  </a:lnTo>
                  <a:close/>
                </a:path>
              </a:pathLst>
            </a:custGeom>
            <a:ln w="50800">
              <a:solidFill>
                <a:srgbClr val="3B78D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719325" y="3719512"/>
              <a:ext cx="1009650" cy="438150"/>
            </a:xfrm>
            <a:custGeom>
              <a:avLst/>
              <a:gdLst/>
              <a:ahLst/>
              <a:cxnLst/>
              <a:rect l="l" t="t" r="r" b="b"/>
              <a:pathLst>
                <a:path w="1009650" h="438150">
                  <a:moveTo>
                    <a:pt x="0" y="438150"/>
                  </a:moveTo>
                  <a:lnTo>
                    <a:pt x="1009650" y="438150"/>
                  </a:lnTo>
                  <a:lnTo>
                    <a:pt x="1009650" y="0"/>
                  </a:lnTo>
                  <a:lnTo>
                    <a:pt x="0" y="0"/>
                  </a:lnTo>
                  <a:lnTo>
                    <a:pt x="0" y="438150"/>
                  </a:lnTo>
                  <a:close/>
                </a:path>
              </a:pathLst>
            </a:custGeom>
            <a:ln w="50800">
              <a:solidFill>
                <a:srgbClr val="929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38</a:t>
            </a:fld>
            <a:endParaRPr spc="-25"/>
          </a:p>
        </p:txBody>
      </p:sp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>
              <a:lnSpc>
                <a:spcPts val="1810"/>
              </a:lnSpc>
            </a:pPr>
            <a:r>
              <a:t>April 1,</a:t>
            </a:r>
            <a:r>
              <a:rPr spc="-35"/>
              <a:t> </a:t>
            </a:r>
            <a:r>
              <a:rPr spc="-20"/>
              <a:t>2025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t>CS231n:</a:t>
            </a:r>
            <a:r>
              <a:rPr spc="-5"/>
              <a:t> </a:t>
            </a:r>
            <a:r>
              <a:t>Lecture</a:t>
            </a:r>
            <a:r>
              <a:rPr spc="95"/>
              <a:t> </a:t>
            </a:r>
            <a:r>
              <a:t>1</a:t>
            </a:r>
            <a:r>
              <a:rPr spc="15"/>
              <a:t> </a:t>
            </a:r>
            <a:r>
              <a:rPr spc="-50"/>
              <a:t>-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307657" y="4910517"/>
            <a:ext cx="2085339" cy="1536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Fei-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Fei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Li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9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Ehsan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Adeli</a:t>
            </a: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90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Zane Durante</a:t>
            </a:r>
            <a:endParaRPr sz="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6200" y="85725"/>
            <a:ext cx="8963025" cy="4591050"/>
            <a:chOff x="76200" y="85725"/>
            <a:chExt cx="8963025" cy="45910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200" y="85725"/>
              <a:ext cx="4086225" cy="459105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62425" y="85725"/>
              <a:ext cx="4876800" cy="18288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91300" y="1914525"/>
              <a:ext cx="2438400" cy="18288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34275" y="3486150"/>
              <a:ext cx="1419225" cy="69532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524750" y="3476625"/>
              <a:ext cx="1438275" cy="714375"/>
            </a:xfrm>
            <a:custGeom>
              <a:avLst/>
              <a:gdLst/>
              <a:ahLst/>
              <a:cxnLst/>
              <a:rect l="l" t="t" r="r" b="b"/>
              <a:pathLst>
                <a:path w="1438275" h="714375">
                  <a:moveTo>
                    <a:pt x="0" y="714375"/>
                  </a:moveTo>
                  <a:lnTo>
                    <a:pt x="1438275" y="714375"/>
                  </a:lnTo>
                  <a:lnTo>
                    <a:pt x="1438275" y="0"/>
                  </a:lnTo>
                  <a:lnTo>
                    <a:pt x="0" y="0"/>
                  </a:lnTo>
                  <a:lnTo>
                    <a:pt x="0" y="714375"/>
                  </a:lnTo>
                  <a:close/>
                </a:path>
              </a:pathLst>
            </a:custGeom>
            <a:ln w="19050">
              <a:solidFill>
                <a:srgbClr val="1F48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162425" y="1914525"/>
              <a:ext cx="2428875" cy="18288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486400" y="3486150"/>
              <a:ext cx="1047750" cy="69532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476875" y="3476625"/>
              <a:ext cx="1066800" cy="714375"/>
            </a:xfrm>
            <a:custGeom>
              <a:avLst/>
              <a:gdLst/>
              <a:ahLst/>
              <a:cxnLst/>
              <a:rect l="l" t="t" r="r" b="b"/>
              <a:pathLst>
                <a:path w="1066800" h="714375">
                  <a:moveTo>
                    <a:pt x="0" y="714375"/>
                  </a:moveTo>
                  <a:lnTo>
                    <a:pt x="1066800" y="714375"/>
                  </a:lnTo>
                  <a:lnTo>
                    <a:pt x="1066800" y="0"/>
                  </a:lnTo>
                  <a:lnTo>
                    <a:pt x="0" y="0"/>
                  </a:lnTo>
                  <a:lnTo>
                    <a:pt x="0" y="714375"/>
                  </a:lnTo>
                  <a:close/>
                </a:path>
              </a:pathLst>
            </a:custGeom>
            <a:ln w="19050">
              <a:solidFill>
                <a:srgbClr val="1F48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34009" y="4688840"/>
            <a:ext cx="3536950" cy="93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" spc="-10">
                <a:solidFill>
                  <a:srgbClr val="BEBEBE"/>
                </a:solidFill>
                <a:latin typeface="Calibri"/>
                <a:cs typeface="Calibri"/>
              </a:rPr>
              <a:t>Figures</a:t>
            </a:r>
            <a:r>
              <a:rPr sz="450" spc="35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450" spc="-10">
                <a:solidFill>
                  <a:srgbClr val="BEBEBE"/>
                </a:solidFill>
                <a:latin typeface="Calibri"/>
                <a:cs typeface="Calibri"/>
              </a:rPr>
              <a:t>copyright</a:t>
            </a:r>
            <a:r>
              <a:rPr sz="450" spc="-2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450">
                <a:solidFill>
                  <a:srgbClr val="BEBEBE"/>
                </a:solidFill>
                <a:latin typeface="Calibri"/>
                <a:cs typeface="Calibri"/>
              </a:rPr>
              <a:t>Justin</a:t>
            </a:r>
            <a:r>
              <a:rPr sz="450" spc="55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450" spc="-40">
                <a:solidFill>
                  <a:srgbClr val="BEBEBE"/>
                </a:solidFill>
                <a:latin typeface="Calibri"/>
                <a:cs typeface="Calibri"/>
              </a:rPr>
              <a:t>Jo</a:t>
            </a:r>
            <a:r>
              <a:rPr sz="450" spc="-3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450" spc="-25">
                <a:solidFill>
                  <a:srgbClr val="BEBEBE"/>
                </a:solidFill>
                <a:latin typeface="Calibri"/>
                <a:cs typeface="Calibri"/>
              </a:rPr>
              <a:t>hnson</a:t>
            </a:r>
            <a:r>
              <a:rPr sz="450" spc="-3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450" spc="-10">
                <a:solidFill>
                  <a:srgbClr val="BEBEBE"/>
                </a:solidFill>
                <a:latin typeface="Calibri"/>
                <a:cs typeface="Calibri"/>
              </a:rPr>
              <a:t>,</a:t>
            </a:r>
            <a:r>
              <a:rPr sz="450" spc="-6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450">
                <a:solidFill>
                  <a:srgbClr val="BEBEBE"/>
                </a:solidFill>
                <a:latin typeface="Calibri"/>
                <a:cs typeface="Calibri"/>
              </a:rPr>
              <a:t>2015.</a:t>
            </a:r>
            <a:r>
              <a:rPr sz="450" spc="2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450" spc="-10">
                <a:solidFill>
                  <a:srgbClr val="BEBEBE"/>
                </a:solidFill>
                <a:latin typeface="Calibri"/>
                <a:cs typeface="Calibri"/>
              </a:rPr>
              <a:t>R</a:t>
            </a:r>
            <a:r>
              <a:rPr sz="450" spc="-4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450" spc="-10">
                <a:solidFill>
                  <a:srgbClr val="BEBEBE"/>
                </a:solidFill>
                <a:latin typeface="Calibri"/>
                <a:cs typeface="Calibri"/>
              </a:rPr>
              <a:t>eproduced</a:t>
            </a:r>
            <a:r>
              <a:rPr sz="450" spc="-35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450">
                <a:solidFill>
                  <a:srgbClr val="BEBEBE"/>
                </a:solidFill>
                <a:latin typeface="Calibri"/>
                <a:cs typeface="Calibri"/>
              </a:rPr>
              <a:t>with</a:t>
            </a:r>
            <a:r>
              <a:rPr sz="450" spc="6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450" spc="-10">
                <a:solidFill>
                  <a:srgbClr val="BEBEBE"/>
                </a:solidFill>
                <a:latin typeface="Calibri"/>
                <a:cs typeface="Calibri"/>
              </a:rPr>
              <a:t>permission.</a:t>
            </a:r>
            <a:r>
              <a:rPr sz="450" spc="2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450">
                <a:solidFill>
                  <a:srgbClr val="BEBEBE"/>
                </a:solidFill>
                <a:latin typeface="Calibri"/>
                <a:cs typeface="Calibri"/>
              </a:rPr>
              <a:t>Generated</a:t>
            </a:r>
            <a:r>
              <a:rPr sz="450" spc="55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450" spc="-10">
                <a:solidFill>
                  <a:srgbClr val="BEBEBE"/>
                </a:solidFill>
                <a:latin typeface="Calibri"/>
                <a:cs typeface="Calibri"/>
              </a:rPr>
              <a:t>using</a:t>
            </a:r>
            <a:r>
              <a:rPr sz="450" spc="-5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450">
                <a:solidFill>
                  <a:srgbClr val="BEBEBE"/>
                </a:solidFill>
                <a:latin typeface="Calibri"/>
                <a:cs typeface="Calibri"/>
              </a:rPr>
              <a:t>the</a:t>
            </a:r>
            <a:r>
              <a:rPr sz="450" spc="5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450" spc="-10">
                <a:solidFill>
                  <a:srgbClr val="BEBEBE"/>
                </a:solidFill>
                <a:latin typeface="Calibri"/>
                <a:cs typeface="Calibri"/>
              </a:rPr>
              <a:t>Incepti</a:t>
            </a:r>
            <a:r>
              <a:rPr sz="450" spc="-5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450" spc="-10">
                <a:solidFill>
                  <a:srgbClr val="BEBEBE"/>
                </a:solidFill>
                <a:latin typeface="Calibri"/>
                <a:cs typeface="Calibri"/>
              </a:rPr>
              <a:t>onism appro</a:t>
            </a:r>
            <a:r>
              <a:rPr sz="450" spc="-3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450" spc="-20">
                <a:solidFill>
                  <a:srgbClr val="BEBEBE"/>
                </a:solidFill>
                <a:latin typeface="Calibri"/>
                <a:cs typeface="Calibri"/>
              </a:rPr>
              <a:t>ach</a:t>
            </a:r>
            <a:r>
              <a:rPr sz="450" spc="-3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450" spc="-10">
                <a:solidFill>
                  <a:srgbClr val="BEBEBE"/>
                </a:solidFill>
                <a:latin typeface="Calibri"/>
                <a:cs typeface="Calibri"/>
              </a:rPr>
              <a:t>fro</a:t>
            </a:r>
            <a:r>
              <a:rPr sz="450" spc="-35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450">
                <a:solidFill>
                  <a:srgbClr val="BEBEBE"/>
                </a:solidFill>
                <a:latin typeface="Calibri"/>
                <a:cs typeface="Calibri"/>
              </a:rPr>
              <a:t>m a</a:t>
            </a:r>
            <a:r>
              <a:rPr sz="450" spc="-5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450" u="sng" spc="-75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8"/>
              </a:rPr>
              <a:t> </a:t>
            </a:r>
            <a:r>
              <a:rPr sz="450" u="sng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8"/>
              </a:rPr>
              <a:t>blog</a:t>
            </a:r>
            <a:r>
              <a:rPr sz="450" u="sng" spc="-5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8"/>
              </a:rPr>
              <a:t> </a:t>
            </a:r>
            <a:r>
              <a:rPr sz="450" u="sng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8"/>
              </a:rPr>
              <a:t>pos</a:t>
            </a:r>
            <a:r>
              <a:rPr sz="450">
                <a:solidFill>
                  <a:srgbClr val="BEBEBE"/>
                </a:solidFill>
                <a:latin typeface="Calibri"/>
                <a:cs typeface="Calibri"/>
                <a:hlinkClick r:id="rId8"/>
              </a:rPr>
              <a:t>t</a:t>
            </a:r>
            <a:r>
              <a:rPr sz="450" spc="-3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450" spc="-10">
                <a:solidFill>
                  <a:srgbClr val="BEBEBE"/>
                </a:solidFill>
                <a:latin typeface="Calibri"/>
                <a:cs typeface="Calibri"/>
              </a:rPr>
              <a:t>by</a:t>
            </a:r>
            <a:r>
              <a:rPr sz="450" spc="5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450">
                <a:solidFill>
                  <a:srgbClr val="BEBEBE"/>
                </a:solidFill>
                <a:latin typeface="Calibri"/>
                <a:cs typeface="Calibri"/>
              </a:rPr>
              <a:t>Google</a:t>
            </a:r>
            <a:r>
              <a:rPr sz="450" spc="-20">
                <a:solidFill>
                  <a:srgbClr val="BEBEBE"/>
                </a:solidFill>
                <a:latin typeface="Calibri"/>
                <a:cs typeface="Calibri"/>
              </a:rPr>
              <a:t> Res</a:t>
            </a:r>
            <a:r>
              <a:rPr sz="450" spc="-5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450" spc="-30">
                <a:solidFill>
                  <a:srgbClr val="BEBEBE"/>
                </a:solidFill>
                <a:latin typeface="Calibri"/>
                <a:cs typeface="Calibri"/>
              </a:rPr>
              <a:t>ear</a:t>
            </a:r>
            <a:r>
              <a:rPr sz="450" spc="-25">
                <a:solidFill>
                  <a:srgbClr val="BEBEBE"/>
                </a:solidFill>
                <a:latin typeface="Calibri"/>
                <a:cs typeface="Calibri"/>
              </a:rPr>
              <a:t> ch.</a:t>
            </a:r>
            <a:endParaRPr sz="450">
              <a:latin typeface="Calibri"/>
              <a:cs typeface="Calibri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39</a:t>
            </a:fld>
            <a:endParaRPr spc="-25"/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>
              <a:lnSpc>
                <a:spcPts val="1810"/>
              </a:lnSpc>
            </a:pPr>
            <a:r>
              <a:t>April 1,</a:t>
            </a:r>
            <a:r>
              <a:rPr spc="-35"/>
              <a:t> </a:t>
            </a:r>
            <a:r>
              <a:rPr spc="-20"/>
              <a:t>2025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t>CS231n:</a:t>
            </a:r>
            <a:r>
              <a:rPr spc="-5"/>
              <a:t> </a:t>
            </a:r>
            <a:r>
              <a:t>Lecture</a:t>
            </a:r>
            <a:r>
              <a:rPr spc="95"/>
              <a:t> </a:t>
            </a:r>
            <a:r>
              <a:t>1</a:t>
            </a:r>
            <a:r>
              <a:rPr spc="15"/>
              <a:t> </a:t>
            </a:r>
            <a:r>
              <a:rPr spc="-50"/>
              <a:t>-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307657" y="4910517"/>
            <a:ext cx="2085339" cy="1536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Fei-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Fei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Li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9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Ehsan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Adeli</a:t>
            </a: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90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Zane Durante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28210" y="4219297"/>
            <a:ext cx="1553845" cy="416559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450" u="sng" spc="-7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9"/>
              </a:rPr>
              <a:t> </a:t>
            </a:r>
            <a:r>
              <a:rPr sz="450" u="sng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9"/>
              </a:rPr>
              <a:t>Original</a:t>
            </a:r>
            <a:r>
              <a:rPr sz="450" u="sng" spc="-55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9"/>
              </a:rPr>
              <a:t> </a:t>
            </a:r>
            <a:r>
              <a:rPr sz="450" u="sng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9"/>
              </a:rPr>
              <a:t>image</a:t>
            </a:r>
            <a:r>
              <a:rPr sz="450" u="sng" spc="-15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9"/>
              </a:rPr>
              <a:t> </a:t>
            </a:r>
            <a:r>
              <a:rPr sz="450">
                <a:solidFill>
                  <a:srgbClr val="BEBEBE"/>
                </a:solidFill>
                <a:latin typeface="Calibri"/>
                <a:cs typeface="Calibri"/>
                <a:hlinkClick r:id="rId9"/>
              </a:rPr>
              <a:t>i</a:t>
            </a:r>
            <a:r>
              <a:rPr sz="450">
                <a:solidFill>
                  <a:srgbClr val="BEBEBE"/>
                </a:solidFill>
                <a:latin typeface="Calibri"/>
                <a:cs typeface="Calibri"/>
              </a:rPr>
              <a:t>s CC0</a:t>
            </a:r>
            <a:r>
              <a:rPr sz="450" spc="2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450">
                <a:solidFill>
                  <a:srgbClr val="BEBEBE"/>
                </a:solidFill>
                <a:latin typeface="Calibri"/>
                <a:cs typeface="Calibri"/>
              </a:rPr>
              <a:t>public</a:t>
            </a:r>
            <a:r>
              <a:rPr sz="450" spc="-10">
                <a:solidFill>
                  <a:srgbClr val="BEBEBE"/>
                </a:solidFill>
                <a:latin typeface="Calibri"/>
                <a:cs typeface="Calibri"/>
              </a:rPr>
              <a:t> domain</a:t>
            </a:r>
            <a:endParaRPr sz="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450" u="sng" spc="-7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</a:rPr>
              <a:t> </a:t>
            </a:r>
            <a:r>
              <a:rPr sz="450" u="sng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</a:rPr>
              <a:t>Starry</a:t>
            </a:r>
            <a:r>
              <a:rPr sz="450" u="sng" spc="-25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</a:rPr>
              <a:t> </a:t>
            </a:r>
            <a:r>
              <a:rPr sz="450" u="sng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</a:rPr>
              <a:t>Nigh</a:t>
            </a:r>
            <a:r>
              <a:rPr sz="450">
                <a:solidFill>
                  <a:srgbClr val="BEBEBE"/>
                </a:solidFill>
                <a:latin typeface="Calibri"/>
                <a:cs typeface="Calibri"/>
              </a:rPr>
              <a:t>t</a:t>
            </a:r>
            <a:r>
              <a:rPr sz="450" spc="-5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450" spc="-10">
                <a:solidFill>
                  <a:srgbClr val="BEBEBE"/>
                </a:solidFill>
                <a:latin typeface="Calibri"/>
                <a:cs typeface="Calibri"/>
              </a:rPr>
              <a:t>and</a:t>
            </a:r>
            <a:r>
              <a:rPr sz="450" spc="-4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450" u="sng" spc="-7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</a:rPr>
              <a:t> </a:t>
            </a:r>
            <a:r>
              <a:rPr sz="450" u="sng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</a:rPr>
              <a:t>Tree</a:t>
            </a:r>
            <a:r>
              <a:rPr sz="450" u="sng" spc="4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</a:rPr>
              <a:t> </a:t>
            </a:r>
            <a:r>
              <a:rPr sz="450" u="sng" spc="-1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</a:rPr>
              <a:t>Roots</a:t>
            </a:r>
            <a:r>
              <a:rPr sz="450" spc="5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450">
                <a:solidFill>
                  <a:srgbClr val="BEBEBE"/>
                </a:solidFill>
                <a:latin typeface="Calibri"/>
                <a:cs typeface="Calibri"/>
              </a:rPr>
              <a:t>by</a:t>
            </a:r>
            <a:r>
              <a:rPr sz="450" spc="-15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450">
                <a:solidFill>
                  <a:srgbClr val="BEBEBE"/>
                </a:solidFill>
                <a:latin typeface="Calibri"/>
                <a:cs typeface="Calibri"/>
              </a:rPr>
              <a:t>Van</a:t>
            </a:r>
            <a:r>
              <a:rPr sz="450" spc="25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450">
                <a:solidFill>
                  <a:srgbClr val="BEBEBE"/>
                </a:solidFill>
                <a:latin typeface="Calibri"/>
                <a:cs typeface="Calibri"/>
              </a:rPr>
              <a:t>Gogh</a:t>
            </a:r>
            <a:r>
              <a:rPr sz="450" spc="-4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450">
                <a:solidFill>
                  <a:srgbClr val="BEBEBE"/>
                </a:solidFill>
                <a:latin typeface="Calibri"/>
                <a:cs typeface="Calibri"/>
              </a:rPr>
              <a:t>are</a:t>
            </a:r>
            <a:r>
              <a:rPr sz="450" spc="4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450" spc="-20">
                <a:solidFill>
                  <a:srgbClr val="BEBEBE"/>
                </a:solidFill>
                <a:latin typeface="Calibri"/>
                <a:cs typeface="Calibri"/>
              </a:rPr>
              <a:t>in</a:t>
            </a:r>
            <a:r>
              <a:rPr sz="450" spc="-4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450" spc="-10">
                <a:solidFill>
                  <a:srgbClr val="BEBEBE"/>
                </a:solidFill>
                <a:latin typeface="Calibri"/>
                <a:cs typeface="Calibri"/>
              </a:rPr>
              <a:t>th</a:t>
            </a:r>
            <a:r>
              <a:rPr sz="450" spc="-4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450">
                <a:solidFill>
                  <a:srgbClr val="BEBEBE"/>
                </a:solidFill>
                <a:latin typeface="Calibri"/>
                <a:cs typeface="Calibri"/>
              </a:rPr>
              <a:t>e</a:t>
            </a:r>
            <a:r>
              <a:rPr sz="450" spc="-3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450">
                <a:solidFill>
                  <a:srgbClr val="BEBEBE"/>
                </a:solidFill>
                <a:latin typeface="Calibri"/>
                <a:cs typeface="Calibri"/>
              </a:rPr>
              <a:t>public </a:t>
            </a:r>
            <a:r>
              <a:rPr sz="450" spc="-10">
                <a:solidFill>
                  <a:srgbClr val="BEBEBE"/>
                </a:solidFill>
                <a:latin typeface="Calibri"/>
                <a:cs typeface="Calibri"/>
              </a:rPr>
              <a:t>domain</a:t>
            </a:r>
            <a:endParaRPr sz="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450" u="sng" spc="-7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0"/>
              </a:rPr>
              <a:t> </a:t>
            </a:r>
            <a:r>
              <a:rPr sz="450" u="sng" spc="-2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0"/>
              </a:rPr>
              <a:t>Bo</a:t>
            </a:r>
            <a:r>
              <a:rPr sz="450" u="sng" spc="-4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0"/>
              </a:rPr>
              <a:t> </a:t>
            </a:r>
            <a:r>
              <a:rPr sz="450" u="sng" spc="-1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0"/>
              </a:rPr>
              <a:t>keh</a:t>
            </a:r>
            <a:r>
              <a:rPr sz="450" u="sng" spc="3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0"/>
              </a:rPr>
              <a:t> </a:t>
            </a:r>
            <a:r>
              <a:rPr sz="450" u="sng" spc="-1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10"/>
              </a:rPr>
              <a:t>image</a:t>
            </a:r>
            <a:r>
              <a:rPr sz="450" spc="-35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450">
                <a:solidFill>
                  <a:srgbClr val="BEBEBE"/>
                </a:solidFill>
                <a:latin typeface="Calibri"/>
                <a:cs typeface="Calibri"/>
              </a:rPr>
              <a:t>is</a:t>
            </a:r>
            <a:r>
              <a:rPr sz="450" spc="15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450">
                <a:solidFill>
                  <a:srgbClr val="BEBEBE"/>
                </a:solidFill>
                <a:latin typeface="Calibri"/>
                <a:cs typeface="Calibri"/>
              </a:rPr>
              <a:t>in</a:t>
            </a:r>
            <a:r>
              <a:rPr sz="450" spc="35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450" spc="-10">
                <a:solidFill>
                  <a:srgbClr val="BEBEBE"/>
                </a:solidFill>
                <a:latin typeface="Calibri"/>
                <a:cs typeface="Calibri"/>
              </a:rPr>
              <a:t>the</a:t>
            </a:r>
            <a:r>
              <a:rPr sz="450" spc="-3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450" spc="-10">
                <a:solidFill>
                  <a:srgbClr val="BEBEBE"/>
                </a:solidFill>
                <a:latin typeface="Calibri"/>
                <a:cs typeface="Calibri"/>
              </a:rPr>
              <a:t>p</a:t>
            </a:r>
            <a:r>
              <a:rPr sz="450" spc="-4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450">
                <a:solidFill>
                  <a:srgbClr val="BEBEBE"/>
                </a:solidFill>
                <a:latin typeface="Calibri"/>
                <a:cs typeface="Calibri"/>
              </a:rPr>
              <a:t>ublicd</a:t>
            </a:r>
            <a:r>
              <a:rPr sz="450" spc="-4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450" spc="-20">
                <a:solidFill>
                  <a:srgbClr val="BEBEBE"/>
                </a:solidFill>
                <a:latin typeface="Calibri"/>
                <a:cs typeface="Calibri"/>
              </a:rPr>
              <a:t>omain</a:t>
            </a:r>
            <a:endParaRPr sz="450">
              <a:latin typeface="Calibri"/>
              <a:cs typeface="Calibri"/>
            </a:endParaRPr>
          </a:p>
          <a:p>
            <a:pPr marL="16510">
              <a:lnSpc>
                <a:spcPct val="100000"/>
              </a:lnSpc>
              <a:spcBef>
                <a:spcPts val="60"/>
              </a:spcBef>
            </a:pPr>
            <a:r>
              <a:rPr sz="450" spc="-10">
                <a:solidFill>
                  <a:srgbClr val="BEBEBE"/>
                </a:solidFill>
                <a:latin typeface="Calibri"/>
                <a:cs typeface="Calibri"/>
              </a:rPr>
              <a:t>Styliz</a:t>
            </a:r>
            <a:r>
              <a:rPr sz="450" spc="-55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450" spc="-10">
                <a:solidFill>
                  <a:srgbClr val="BEBEBE"/>
                </a:solidFill>
                <a:latin typeface="Calibri"/>
                <a:cs typeface="Calibri"/>
              </a:rPr>
              <a:t>ed</a:t>
            </a:r>
            <a:r>
              <a:rPr sz="450" spc="-25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450">
                <a:solidFill>
                  <a:srgbClr val="BEBEBE"/>
                </a:solidFill>
                <a:latin typeface="Calibri"/>
                <a:cs typeface="Calibri"/>
              </a:rPr>
              <a:t>images</a:t>
            </a:r>
            <a:r>
              <a:rPr sz="450" spc="45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450" spc="-20">
                <a:solidFill>
                  <a:srgbClr val="BEBEBE"/>
                </a:solidFill>
                <a:latin typeface="Calibri"/>
                <a:cs typeface="Calibri"/>
              </a:rPr>
              <a:t>copyrigh</a:t>
            </a:r>
            <a:r>
              <a:rPr sz="450" spc="-25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450">
                <a:solidFill>
                  <a:srgbClr val="BEBEBE"/>
                </a:solidFill>
                <a:latin typeface="Calibri"/>
                <a:cs typeface="Calibri"/>
              </a:rPr>
              <a:t>t</a:t>
            </a:r>
            <a:r>
              <a:rPr sz="450" spc="-15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450">
                <a:solidFill>
                  <a:srgbClr val="BEBEBE"/>
                </a:solidFill>
                <a:latin typeface="Calibri"/>
                <a:cs typeface="Calibri"/>
              </a:rPr>
              <a:t>Justin</a:t>
            </a:r>
            <a:r>
              <a:rPr sz="450" spc="-25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450">
                <a:solidFill>
                  <a:srgbClr val="BEBEBE"/>
                </a:solidFill>
                <a:latin typeface="Calibri"/>
                <a:cs typeface="Calibri"/>
              </a:rPr>
              <a:t>Johnson,</a:t>
            </a:r>
            <a:r>
              <a:rPr sz="450" spc="25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450" spc="-10">
                <a:solidFill>
                  <a:srgbClr val="BEBEBE"/>
                </a:solidFill>
                <a:latin typeface="Calibri"/>
                <a:cs typeface="Calibri"/>
              </a:rPr>
              <a:t>2017;</a:t>
            </a:r>
            <a:endParaRPr sz="450">
              <a:latin typeface="Calibri"/>
              <a:cs typeface="Calibri"/>
            </a:endParaRPr>
          </a:p>
          <a:p>
            <a:pPr marL="16510">
              <a:lnSpc>
                <a:spcPct val="100000"/>
              </a:lnSpc>
              <a:spcBef>
                <a:spcPts val="60"/>
              </a:spcBef>
            </a:pPr>
            <a:r>
              <a:rPr sz="450" spc="-20">
                <a:solidFill>
                  <a:srgbClr val="BEBEBE"/>
                </a:solidFill>
                <a:latin typeface="Calibri"/>
                <a:cs typeface="Calibri"/>
              </a:rPr>
              <a:t>repr</a:t>
            </a:r>
            <a:r>
              <a:rPr sz="450" spc="-25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450" spc="-10">
                <a:solidFill>
                  <a:srgbClr val="BEBEBE"/>
                </a:solidFill>
                <a:latin typeface="Calibri"/>
                <a:cs typeface="Calibri"/>
              </a:rPr>
              <a:t>oduced</a:t>
            </a:r>
            <a:r>
              <a:rPr sz="450" spc="-25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450" spc="-20">
                <a:solidFill>
                  <a:srgbClr val="BEBEBE"/>
                </a:solidFill>
                <a:latin typeface="Calibri"/>
                <a:cs typeface="Calibri"/>
              </a:rPr>
              <a:t>wi</a:t>
            </a:r>
            <a:r>
              <a:rPr sz="450" spc="-45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450" spc="-10">
                <a:solidFill>
                  <a:srgbClr val="BEBEBE"/>
                </a:solidFill>
                <a:latin typeface="Calibri"/>
                <a:cs typeface="Calibri"/>
              </a:rPr>
              <a:t>th</a:t>
            </a:r>
            <a:r>
              <a:rPr sz="450" spc="-25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450" spc="-10">
                <a:solidFill>
                  <a:srgbClr val="BEBEBE"/>
                </a:solidFill>
                <a:latin typeface="Calibri"/>
                <a:cs typeface="Calibri"/>
              </a:rPr>
              <a:t>per mission</a:t>
            </a:r>
            <a:endParaRPr sz="45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421244" y="4246569"/>
            <a:ext cx="1437640" cy="44640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200">
                <a:latin typeface="Calibri"/>
                <a:cs typeface="Calibri"/>
              </a:rPr>
              <a:t>Mordvinsev</a:t>
            </a:r>
            <a:r>
              <a:rPr sz="1200" spc="-2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et</a:t>
            </a:r>
            <a:r>
              <a:rPr sz="1200" spc="-3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al,</a:t>
            </a:r>
            <a:r>
              <a:rPr sz="1200" spc="-10">
                <a:latin typeface="Calibri"/>
                <a:cs typeface="Calibri"/>
              </a:rPr>
              <a:t> </a:t>
            </a:r>
            <a:r>
              <a:rPr sz="1200" spc="-20">
                <a:latin typeface="Calibri"/>
                <a:cs typeface="Calibri"/>
              </a:rPr>
              <a:t>2015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200">
                <a:latin typeface="Calibri"/>
                <a:cs typeface="Calibri"/>
              </a:rPr>
              <a:t>Gatys</a:t>
            </a:r>
            <a:r>
              <a:rPr sz="1200" spc="-2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et</a:t>
            </a:r>
            <a:r>
              <a:rPr sz="1200" spc="-3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al,</a:t>
            </a:r>
            <a:r>
              <a:rPr sz="1200" spc="-15">
                <a:latin typeface="Calibri"/>
                <a:cs typeface="Calibri"/>
              </a:rPr>
              <a:t> </a:t>
            </a:r>
            <a:r>
              <a:rPr sz="1200" spc="-20">
                <a:latin typeface="Calibri"/>
                <a:cs typeface="Calibri"/>
              </a:rPr>
              <a:t>2016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013840" y="3200079"/>
            <a:ext cx="140335" cy="151257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>
                <a:latin typeface="Calibri"/>
                <a:cs typeface="Calibri"/>
              </a:rPr>
              <a:t>Slide</a:t>
            </a:r>
            <a:r>
              <a:rPr sz="900" spc="-40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inspiration:</a:t>
            </a:r>
            <a:r>
              <a:rPr sz="900" spc="-50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Justin</a:t>
            </a:r>
            <a:r>
              <a:rPr sz="900" spc="15">
                <a:latin typeface="Calibri"/>
                <a:cs typeface="Calibri"/>
              </a:rPr>
              <a:t> </a:t>
            </a:r>
            <a:r>
              <a:rPr sz="900" spc="-10">
                <a:latin typeface="Calibri"/>
                <a:cs typeface="Calibri"/>
              </a:rPr>
              <a:t>Johnson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434590" y="4766246"/>
            <a:ext cx="1304925" cy="9525"/>
          </a:xfrm>
          <a:custGeom>
            <a:avLst/>
            <a:gdLst/>
            <a:ahLst/>
            <a:cxnLst/>
            <a:rect l="l" t="t" r="r" b="b"/>
            <a:pathLst>
              <a:path w="1304925" h="9525">
                <a:moveTo>
                  <a:pt x="1304925" y="0"/>
                </a:moveTo>
                <a:lnTo>
                  <a:pt x="0" y="0"/>
                </a:lnTo>
                <a:lnTo>
                  <a:pt x="0" y="9524"/>
                </a:lnTo>
                <a:lnTo>
                  <a:pt x="1304925" y="9524"/>
                </a:lnTo>
                <a:lnTo>
                  <a:pt x="1304925" y="0"/>
                </a:lnTo>
                <a:close/>
              </a:path>
            </a:pathLst>
          </a:custGeom>
          <a:solidFill>
            <a:srgbClr val="A4A4A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" y="1000125"/>
            <a:ext cx="8686800" cy="32766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0430" rIns="0" bIns="0" rtlCol="0">
            <a:spAutoFit/>
          </a:bodyPr>
          <a:lstStyle/>
          <a:p>
            <a:pPr marL="95250">
              <a:lnSpc>
                <a:spcPct val="100000"/>
              </a:lnSpc>
              <a:spcBef>
                <a:spcPts val="105"/>
              </a:spcBef>
            </a:pPr>
            <a:r>
              <a:rPr sz="3000"/>
              <a:t>2012</a:t>
            </a:r>
            <a:r>
              <a:rPr sz="3000" spc="-60"/>
              <a:t> </a:t>
            </a:r>
            <a:r>
              <a:rPr sz="3000"/>
              <a:t>to</a:t>
            </a:r>
            <a:r>
              <a:rPr sz="3000" spc="-45"/>
              <a:t> </a:t>
            </a:r>
            <a:r>
              <a:rPr sz="3000"/>
              <a:t>Present:</a:t>
            </a:r>
            <a:r>
              <a:rPr sz="3000" spc="-25"/>
              <a:t> </a:t>
            </a:r>
            <a:r>
              <a:rPr sz="3000"/>
              <a:t>Deep</a:t>
            </a:r>
            <a:r>
              <a:rPr sz="3000" spc="-45"/>
              <a:t> </a:t>
            </a:r>
            <a:r>
              <a:rPr sz="3000"/>
              <a:t>Learning</a:t>
            </a:r>
            <a:r>
              <a:rPr sz="3000" spc="-30"/>
              <a:t> </a:t>
            </a:r>
            <a:r>
              <a:rPr sz="3000"/>
              <a:t>is</a:t>
            </a:r>
            <a:r>
              <a:rPr sz="3000" spc="-25"/>
              <a:t> </a:t>
            </a:r>
            <a:r>
              <a:rPr sz="3000" spc="-10"/>
              <a:t>Everywhere</a:t>
            </a:r>
            <a:endParaRPr sz="3000"/>
          </a:p>
        </p:txBody>
      </p:sp>
      <p:sp>
        <p:nvSpPr>
          <p:cNvPr id="6" name="object 6"/>
          <p:cNvSpPr txBox="1"/>
          <p:nvPr/>
        </p:nvSpPr>
        <p:spPr>
          <a:xfrm>
            <a:off x="78739" y="4674393"/>
            <a:ext cx="3673475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80"/>
              </a:lnSpc>
            </a:pPr>
            <a:r>
              <a:rPr sz="800" spc="-20">
                <a:latin typeface="Calibri"/>
                <a:cs typeface="Calibri"/>
              </a:rPr>
              <a:t>Ramesh</a:t>
            </a:r>
            <a:r>
              <a:rPr sz="800" spc="15">
                <a:latin typeface="Calibri"/>
                <a:cs typeface="Calibri"/>
              </a:rPr>
              <a:t> </a:t>
            </a:r>
            <a:r>
              <a:rPr sz="800">
                <a:latin typeface="Calibri"/>
                <a:cs typeface="Calibri"/>
              </a:rPr>
              <a:t>et</a:t>
            </a:r>
            <a:r>
              <a:rPr sz="800" spc="20">
                <a:latin typeface="Calibri"/>
                <a:cs typeface="Calibri"/>
              </a:rPr>
              <a:t> </a:t>
            </a:r>
            <a:r>
              <a:rPr sz="800">
                <a:latin typeface="Calibri"/>
                <a:cs typeface="Calibri"/>
              </a:rPr>
              <a:t>al,</a:t>
            </a:r>
            <a:r>
              <a:rPr sz="800" spc="20">
                <a:latin typeface="Calibri"/>
                <a:cs typeface="Calibri"/>
              </a:rPr>
              <a:t> </a:t>
            </a:r>
            <a:r>
              <a:rPr sz="800" spc="-20">
                <a:latin typeface="Calibri"/>
                <a:cs typeface="Calibri"/>
              </a:rPr>
              <a:t>“DALL·E:</a:t>
            </a:r>
            <a:r>
              <a:rPr sz="800">
                <a:latin typeface="Calibri"/>
                <a:cs typeface="Calibri"/>
              </a:rPr>
              <a:t> Creating</a:t>
            </a:r>
            <a:r>
              <a:rPr sz="800" spc="70">
                <a:latin typeface="Calibri"/>
                <a:cs typeface="Calibri"/>
              </a:rPr>
              <a:t> </a:t>
            </a:r>
            <a:r>
              <a:rPr sz="800" spc="-20">
                <a:latin typeface="Calibri"/>
                <a:cs typeface="Calibri"/>
              </a:rPr>
              <a:t>Images</a:t>
            </a:r>
            <a:r>
              <a:rPr sz="800" spc="-35">
                <a:latin typeface="Calibri"/>
                <a:cs typeface="Calibri"/>
              </a:rPr>
              <a:t> </a:t>
            </a:r>
            <a:r>
              <a:rPr sz="800">
                <a:latin typeface="Calibri"/>
                <a:cs typeface="Calibri"/>
              </a:rPr>
              <a:t>from</a:t>
            </a:r>
            <a:r>
              <a:rPr sz="800" spc="-70">
                <a:latin typeface="Calibri"/>
                <a:cs typeface="Calibri"/>
              </a:rPr>
              <a:t> </a:t>
            </a:r>
            <a:r>
              <a:rPr sz="800">
                <a:latin typeface="Calibri"/>
                <a:cs typeface="Calibri"/>
              </a:rPr>
              <a:t>Text”,</a:t>
            </a:r>
            <a:r>
              <a:rPr sz="800" spc="15">
                <a:latin typeface="Calibri"/>
                <a:cs typeface="Calibri"/>
              </a:rPr>
              <a:t> </a:t>
            </a:r>
            <a:r>
              <a:rPr sz="800">
                <a:latin typeface="Calibri"/>
                <a:cs typeface="Calibri"/>
              </a:rPr>
              <a:t>2021.</a:t>
            </a:r>
            <a:r>
              <a:rPr sz="800" spc="30">
                <a:latin typeface="Calibri"/>
                <a:cs typeface="Calibri"/>
              </a:rPr>
              <a:t> </a:t>
            </a:r>
            <a:r>
              <a:rPr sz="800" spc="-20">
                <a:solidFill>
                  <a:srgbClr val="A4A4A4"/>
                </a:solidFill>
                <a:latin typeface="Calibri"/>
                <a:cs typeface="Calibri"/>
                <a:hlinkClick r:id="rId3"/>
              </a:rPr>
              <a:t>https://openai.com/blog/dall-</a:t>
            </a:r>
            <a:r>
              <a:rPr sz="800" spc="-25">
                <a:solidFill>
                  <a:srgbClr val="A4A4A4"/>
                </a:solidFill>
                <a:latin typeface="Calibri"/>
                <a:cs typeface="Calibri"/>
                <a:hlinkClick r:id="rId3"/>
              </a:rPr>
              <a:t>e/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40</a:t>
            </a:fld>
            <a:endParaRPr spc="-25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>
              <a:lnSpc>
                <a:spcPts val="1810"/>
              </a:lnSpc>
            </a:pPr>
            <a:r>
              <a:t>April 1,</a:t>
            </a:r>
            <a:r>
              <a:rPr spc="-35"/>
              <a:t> </a:t>
            </a:r>
            <a:r>
              <a:rPr spc="-20"/>
              <a:t>2025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t>CS231n:</a:t>
            </a:r>
            <a:r>
              <a:rPr spc="-5"/>
              <a:t> </a:t>
            </a:r>
            <a:r>
              <a:t>Lecture</a:t>
            </a:r>
            <a:r>
              <a:rPr spc="95"/>
              <a:t> </a:t>
            </a:r>
            <a:r>
              <a:t>1</a:t>
            </a:r>
            <a:r>
              <a:rPr spc="15"/>
              <a:t> </a:t>
            </a:r>
            <a:r>
              <a:rPr spc="-50"/>
              <a:t>-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07657" y="4910517"/>
            <a:ext cx="2085339" cy="1536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Fei-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Fei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Li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9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Ehsan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Adeli</a:t>
            </a: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90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Zane Durante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13840" y="3200079"/>
            <a:ext cx="140335" cy="151257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>
                <a:latin typeface="Calibri"/>
                <a:cs typeface="Calibri"/>
              </a:rPr>
              <a:t>Slide</a:t>
            </a:r>
            <a:r>
              <a:rPr sz="900" spc="-40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inspiration:</a:t>
            </a:r>
            <a:r>
              <a:rPr sz="900" spc="-50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Justin</a:t>
            </a:r>
            <a:r>
              <a:rPr sz="900" spc="15">
                <a:latin typeface="Calibri"/>
                <a:cs typeface="Calibri"/>
              </a:rPr>
              <a:t> </a:t>
            </a:r>
            <a:r>
              <a:rPr sz="900" spc="-10">
                <a:latin typeface="Calibri"/>
                <a:cs typeface="Calibri"/>
              </a:rPr>
              <a:t>Johnson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434590" y="4766246"/>
            <a:ext cx="1304925" cy="9525"/>
          </a:xfrm>
          <a:custGeom>
            <a:avLst/>
            <a:gdLst/>
            <a:ahLst/>
            <a:cxnLst/>
            <a:rect l="l" t="t" r="r" b="b"/>
            <a:pathLst>
              <a:path w="1304925" h="9525">
                <a:moveTo>
                  <a:pt x="1304925" y="0"/>
                </a:moveTo>
                <a:lnTo>
                  <a:pt x="0" y="0"/>
                </a:lnTo>
                <a:lnTo>
                  <a:pt x="0" y="9524"/>
                </a:lnTo>
                <a:lnTo>
                  <a:pt x="1304925" y="9524"/>
                </a:lnTo>
                <a:lnTo>
                  <a:pt x="1304925" y="0"/>
                </a:lnTo>
                <a:close/>
              </a:path>
            </a:pathLst>
          </a:custGeom>
          <a:solidFill>
            <a:srgbClr val="A4A4A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700" y="1000125"/>
            <a:ext cx="8610600" cy="32766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0430" rIns="0" bIns="0" rtlCol="0">
            <a:spAutoFit/>
          </a:bodyPr>
          <a:lstStyle/>
          <a:p>
            <a:pPr marL="95250">
              <a:lnSpc>
                <a:spcPct val="100000"/>
              </a:lnSpc>
              <a:spcBef>
                <a:spcPts val="105"/>
              </a:spcBef>
            </a:pPr>
            <a:r>
              <a:rPr sz="3000"/>
              <a:t>2012</a:t>
            </a:r>
            <a:r>
              <a:rPr sz="3000" spc="-60"/>
              <a:t> </a:t>
            </a:r>
            <a:r>
              <a:rPr sz="3000"/>
              <a:t>to</a:t>
            </a:r>
            <a:r>
              <a:rPr sz="3000" spc="-45"/>
              <a:t> </a:t>
            </a:r>
            <a:r>
              <a:rPr sz="3000"/>
              <a:t>Present:</a:t>
            </a:r>
            <a:r>
              <a:rPr sz="3000" spc="-25"/>
              <a:t> </a:t>
            </a:r>
            <a:r>
              <a:rPr sz="3000"/>
              <a:t>Deep</a:t>
            </a:r>
            <a:r>
              <a:rPr sz="3000" spc="-45"/>
              <a:t> </a:t>
            </a:r>
            <a:r>
              <a:rPr sz="3000"/>
              <a:t>Learning</a:t>
            </a:r>
            <a:r>
              <a:rPr sz="3000" spc="-30"/>
              <a:t> </a:t>
            </a:r>
            <a:r>
              <a:rPr sz="3000"/>
              <a:t>is</a:t>
            </a:r>
            <a:r>
              <a:rPr sz="3000" spc="-25"/>
              <a:t> </a:t>
            </a:r>
            <a:r>
              <a:rPr sz="3000" spc="-10"/>
              <a:t>Everywhere</a:t>
            </a:r>
            <a:endParaRPr sz="3000"/>
          </a:p>
        </p:txBody>
      </p:sp>
      <p:sp>
        <p:nvSpPr>
          <p:cNvPr id="6" name="object 6"/>
          <p:cNvSpPr txBox="1"/>
          <p:nvPr/>
        </p:nvSpPr>
        <p:spPr>
          <a:xfrm>
            <a:off x="78739" y="4674393"/>
            <a:ext cx="3673475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80"/>
              </a:lnSpc>
            </a:pPr>
            <a:r>
              <a:rPr sz="800" spc="-20">
                <a:latin typeface="Calibri"/>
                <a:cs typeface="Calibri"/>
              </a:rPr>
              <a:t>Ramesh</a:t>
            </a:r>
            <a:r>
              <a:rPr sz="800" spc="15">
                <a:latin typeface="Calibri"/>
                <a:cs typeface="Calibri"/>
              </a:rPr>
              <a:t> </a:t>
            </a:r>
            <a:r>
              <a:rPr sz="800">
                <a:latin typeface="Calibri"/>
                <a:cs typeface="Calibri"/>
              </a:rPr>
              <a:t>et</a:t>
            </a:r>
            <a:r>
              <a:rPr sz="800" spc="20">
                <a:latin typeface="Calibri"/>
                <a:cs typeface="Calibri"/>
              </a:rPr>
              <a:t> </a:t>
            </a:r>
            <a:r>
              <a:rPr sz="800">
                <a:latin typeface="Calibri"/>
                <a:cs typeface="Calibri"/>
              </a:rPr>
              <a:t>al,</a:t>
            </a:r>
            <a:r>
              <a:rPr sz="800" spc="20">
                <a:latin typeface="Calibri"/>
                <a:cs typeface="Calibri"/>
              </a:rPr>
              <a:t> </a:t>
            </a:r>
            <a:r>
              <a:rPr sz="800" spc="-20">
                <a:latin typeface="Calibri"/>
                <a:cs typeface="Calibri"/>
              </a:rPr>
              <a:t>“DALL·E:</a:t>
            </a:r>
            <a:r>
              <a:rPr sz="800">
                <a:latin typeface="Calibri"/>
                <a:cs typeface="Calibri"/>
              </a:rPr>
              <a:t> Creating</a:t>
            </a:r>
            <a:r>
              <a:rPr sz="800" spc="70">
                <a:latin typeface="Calibri"/>
                <a:cs typeface="Calibri"/>
              </a:rPr>
              <a:t> </a:t>
            </a:r>
            <a:r>
              <a:rPr sz="800" spc="-20">
                <a:latin typeface="Calibri"/>
                <a:cs typeface="Calibri"/>
              </a:rPr>
              <a:t>Images</a:t>
            </a:r>
            <a:r>
              <a:rPr sz="800" spc="-35">
                <a:latin typeface="Calibri"/>
                <a:cs typeface="Calibri"/>
              </a:rPr>
              <a:t> </a:t>
            </a:r>
            <a:r>
              <a:rPr sz="800">
                <a:latin typeface="Calibri"/>
                <a:cs typeface="Calibri"/>
              </a:rPr>
              <a:t>from</a:t>
            </a:r>
            <a:r>
              <a:rPr sz="800" spc="-70">
                <a:latin typeface="Calibri"/>
                <a:cs typeface="Calibri"/>
              </a:rPr>
              <a:t> </a:t>
            </a:r>
            <a:r>
              <a:rPr sz="800">
                <a:latin typeface="Calibri"/>
                <a:cs typeface="Calibri"/>
              </a:rPr>
              <a:t>Text”,</a:t>
            </a:r>
            <a:r>
              <a:rPr sz="800" spc="15">
                <a:latin typeface="Calibri"/>
                <a:cs typeface="Calibri"/>
              </a:rPr>
              <a:t> </a:t>
            </a:r>
            <a:r>
              <a:rPr sz="800">
                <a:latin typeface="Calibri"/>
                <a:cs typeface="Calibri"/>
              </a:rPr>
              <a:t>2021.</a:t>
            </a:r>
            <a:r>
              <a:rPr sz="800" spc="30">
                <a:latin typeface="Calibri"/>
                <a:cs typeface="Calibri"/>
              </a:rPr>
              <a:t> </a:t>
            </a:r>
            <a:r>
              <a:rPr sz="800" spc="-20">
                <a:solidFill>
                  <a:srgbClr val="A4A4A4"/>
                </a:solidFill>
                <a:latin typeface="Calibri"/>
                <a:cs typeface="Calibri"/>
                <a:hlinkClick r:id="rId3"/>
              </a:rPr>
              <a:t>https://openai.com/blog/dall-</a:t>
            </a:r>
            <a:r>
              <a:rPr sz="800" spc="-25">
                <a:solidFill>
                  <a:srgbClr val="A4A4A4"/>
                </a:solidFill>
                <a:latin typeface="Calibri"/>
                <a:cs typeface="Calibri"/>
                <a:hlinkClick r:id="rId3"/>
              </a:rPr>
              <a:t>e/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41</a:t>
            </a:fld>
            <a:endParaRPr spc="-25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>
              <a:lnSpc>
                <a:spcPts val="1810"/>
              </a:lnSpc>
            </a:pPr>
            <a:r>
              <a:t>April 1,</a:t>
            </a:r>
            <a:r>
              <a:rPr spc="-35"/>
              <a:t> </a:t>
            </a:r>
            <a:r>
              <a:rPr spc="-20"/>
              <a:t>2025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t>CS231n:</a:t>
            </a:r>
            <a:r>
              <a:rPr spc="-5"/>
              <a:t> </a:t>
            </a:r>
            <a:r>
              <a:t>Lecture</a:t>
            </a:r>
            <a:r>
              <a:rPr spc="95"/>
              <a:t> </a:t>
            </a:r>
            <a:r>
              <a:t>1</a:t>
            </a:r>
            <a:r>
              <a:rPr spc="15"/>
              <a:t> </a:t>
            </a:r>
            <a:r>
              <a:rPr spc="-50"/>
              <a:t>-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07657" y="4910517"/>
            <a:ext cx="2085339" cy="1536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Fei-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Fei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Li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9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Ehsan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Adeli</a:t>
            </a: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90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Zane Durante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13840" y="3200079"/>
            <a:ext cx="140335" cy="151257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>
                <a:latin typeface="Calibri"/>
                <a:cs typeface="Calibri"/>
              </a:rPr>
              <a:t>Slide</a:t>
            </a:r>
            <a:r>
              <a:rPr sz="900" spc="-40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inspiration:</a:t>
            </a:r>
            <a:r>
              <a:rPr sz="900" spc="-50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Justin</a:t>
            </a:r>
            <a:r>
              <a:rPr sz="900" spc="15">
                <a:latin typeface="Calibri"/>
                <a:cs typeface="Calibri"/>
              </a:rPr>
              <a:t> </a:t>
            </a:r>
            <a:r>
              <a:rPr sz="900" spc="-10">
                <a:latin typeface="Calibri"/>
                <a:cs typeface="Calibri"/>
              </a:rPr>
              <a:t>Johnson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86475" y="0"/>
            <a:ext cx="3057525" cy="51434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3057524" cy="51434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00400" y="257175"/>
            <a:ext cx="2752725" cy="38481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37222" y="4511040"/>
            <a:ext cx="2158365" cy="483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3000" b="1" spc="-1245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1350" spc="-15" baseline="-21604">
                <a:solidFill>
                  <a:srgbClr val="888888"/>
                </a:solidFill>
                <a:latin typeface="Calibri"/>
                <a:cs typeface="Calibri"/>
              </a:rPr>
              <a:t>A</a:t>
            </a:r>
            <a:r>
              <a:rPr sz="1350" spc="-60" baseline="-21604">
                <a:solidFill>
                  <a:srgbClr val="888888"/>
                </a:solidFill>
                <a:latin typeface="Calibri"/>
                <a:cs typeface="Calibri"/>
              </a:rPr>
              <a:t>p</a:t>
            </a:r>
            <a:r>
              <a:rPr sz="1350" spc="-127" baseline="-21604">
                <a:solidFill>
                  <a:srgbClr val="888888"/>
                </a:solidFill>
                <a:latin typeface="Calibri"/>
                <a:cs typeface="Calibri"/>
              </a:rPr>
              <a:t>r</a:t>
            </a:r>
            <a:r>
              <a:rPr sz="3000" b="1" spc="-1495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350" spc="-112" baseline="-21604">
                <a:solidFill>
                  <a:srgbClr val="888888"/>
                </a:solidFill>
                <a:latin typeface="Calibri"/>
                <a:cs typeface="Calibri"/>
              </a:rPr>
              <a:t>i</a:t>
            </a:r>
            <a:r>
              <a:rPr sz="1350" spc="-15" baseline="-21604">
                <a:solidFill>
                  <a:srgbClr val="888888"/>
                </a:solidFill>
                <a:latin typeface="Calibri"/>
                <a:cs typeface="Calibri"/>
              </a:rPr>
              <a:t>l</a:t>
            </a:r>
            <a:r>
              <a:rPr sz="1350" spc="75" baseline="-21604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350" baseline="-21604">
                <a:solidFill>
                  <a:srgbClr val="888888"/>
                </a:solidFill>
                <a:latin typeface="Calibri"/>
                <a:cs typeface="Calibri"/>
              </a:rPr>
              <a:t>1,</a:t>
            </a:r>
            <a:r>
              <a:rPr sz="1350" spc="52" baseline="-21604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350" spc="-667" baseline="-21604">
                <a:solidFill>
                  <a:srgbClr val="888888"/>
                </a:solidFill>
                <a:latin typeface="Calibri"/>
                <a:cs typeface="Calibri"/>
              </a:rPr>
              <a:t>2</a:t>
            </a:r>
            <a:r>
              <a:rPr sz="3000" b="1" spc="-201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1350" spc="-15" baseline="-21604">
                <a:solidFill>
                  <a:srgbClr val="888888"/>
                </a:solidFill>
                <a:latin typeface="Calibri"/>
                <a:cs typeface="Calibri"/>
              </a:rPr>
              <a:t>02</a:t>
            </a:r>
            <a:r>
              <a:rPr sz="1350" baseline="-21604">
                <a:solidFill>
                  <a:srgbClr val="888888"/>
                </a:solidFill>
                <a:latin typeface="Calibri"/>
                <a:cs typeface="Calibri"/>
              </a:rPr>
              <a:t>5</a:t>
            </a:r>
            <a:r>
              <a:rPr sz="1350" spc="644" baseline="-21604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3000" b="1" spc="-10">
                <a:solidFill>
                  <a:srgbClr val="FFFFFF"/>
                </a:solidFill>
                <a:latin typeface="Calibri"/>
                <a:cs typeface="Calibri"/>
              </a:rPr>
              <a:t>putation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89140" y="4511040"/>
            <a:ext cx="775970" cy="483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000" b="1" spc="-2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94684" y="4511040"/>
            <a:ext cx="1760220" cy="483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000" b="1" spc="-10">
                <a:solidFill>
                  <a:srgbClr val="666666"/>
                </a:solidFill>
                <a:latin typeface="Calibri"/>
                <a:cs typeface="Calibri"/>
              </a:rPr>
              <a:t>Algorithms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304276" y="4822190"/>
            <a:ext cx="13970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>
                <a:solidFill>
                  <a:srgbClr val="888888"/>
                </a:solidFill>
                <a:latin typeface="Calibri"/>
                <a:cs typeface="Calibri"/>
              </a:rPr>
              <a:t>61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38875" y="1952625"/>
            <a:ext cx="2524125" cy="13716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03642" y="470217"/>
            <a:ext cx="6744970" cy="6438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50" b="1">
                <a:solidFill>
                  <a:srgbClr val="666666"/>
                </a:solidFill>
                <a:latin typeface="Calibri"/>
                <a:cs typeface="Calibri"/>
              </a:rPr>
              <a:t>AI’s</a:t>
            </a:r>
            <a:r>
              <a:rPr sz="4050" b="1" spc="-3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4050" b="1">
                <a:solidFill>
                  <a:srgbClr val="666666"/>
                </a:solidFill>
                <a:latin typeface="Calibri"/>
                <a:cs typeface="Calibri"/>
              </a:rPr>
              <a:t>Explosive</a:t>
            </a:r>
            <a:r>
              <a:rPr sz="4050" b="1" spc="-6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4050" b="1">
                <a:solidFill>
                  <a:srgbClr val="666666"/>
                </a:solidFill>
                <a:latin typeface="Calibri"/>
                <a:cs typeface="Calibri"/>
              </a:rPr>
              <a:t>Growth</a:t>
            </a:r>
            <a:r>
              <a:rPr sz="4050" b="1" spc="-5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4050" b="1">
                <a:solidFill>
                  <a:srgbClr val="666666"/>
                </a:solidFill>
                <a:latin typeface="Calibri"/>
                <a:cs typeface="Calibri"/>
              </a:rPr>
              <a:t>&amp;</a:t>
            </a:r>
            <a:r>
              <a:rPr sz="4050" b="1" spc="2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4050" b="1" spc="-10">
                <a:solidFill>
                  <a:srgbClr val="666666"/>
                </a:solidFill>
                <a:latin typeface="Calibri"/>
                <a:cs typeface="Calibri"/>
              </a:rPr>
              <a:t>Impact</a:t>
            </a:r>
            <a:endParaRPr sz="40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16317" y="4176712"/>
            <a:ext cx="134048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>
                <a:solidFill>
                  <a:srgbClr val="666666"/>
                </a:solidFill>
                <a:latin typeface="Calibri"/>
                <a:cs typeface="Calibri"/>
              </a:rPr>
              <a:t>Source:</a:t>
            </a:r>
            <a:r>
              <a:rPr sz="1200" spc="-35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1200">
                <a:solidFill>
                  <a:srgbClr val="666666"/>
                </a:solidFill>
                <a:latin typeface="Calibri"/>
                <a:cs typeface="Calibri"/>
              </a:rPr>
              <a:t>The</a:t>
            </a:r>
            <a:r>
              <a:rPr sz="1200" spc="1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1200" spc="-10">
                <a:solidFill>
                  <a:srgbClr val="666666"/>
                </a:solidFill>
                <a:latin typeface="Calibri"/>
                <a:cs typeface="Calibri"/>
              </a:rPr>
              <a:t>Gradient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81350" y="1819275"/>
            <a:ext cx="2752725" cy="16002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355340" y="3348990"/>
            <a:ext cx="2442845" cy="6407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787400" marR="5080" indent="-774700">
              <a:lnSpc>
                <a:spcPct val="100000"/>
              </a:lnSpc>
              <a:spcBef>
                <a:spcPts val="130"/>
              </a:spcBef>
            </a:pPr>
            <a:r>
              <a:rPr sz="2000" b="1">
                <a:solidFill>
                  <a:srgbClr val="666666"/>
                </a:solidFill>
                <a:latin typeface="Calibri"/>
                <a:cs typeface="Calibri"/>
              </a:rPr>
              <a:t>Startups</a:t>
            </a:r>
            <a:r>
              <a:rPr sz="2000" b="1" spc="-1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2000" b="1">
                <a:solidFill>
                  <a:srgbClr val="666666"/>
                </a:solidFill>
                <a:latin typeface="Calibri"/>
                <a:cs typeface="Calibri"/>
              </a:rPr>
              <a:t>Developing</a:t>
            </a:r>
            <a:r>
              <a:rPr sz="2000" b="1" spc="-8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2000" b="1" spc="-25">
                <a:solidFill>
                  <a:srgbClr val="666666"/>
                </a:solidFill>
                <a:latin typeface="Calibri"/>
                <a:cs typeface="Calibri"/>
              </a:rPr>
              <a:t>AI </a:t>
            </a:r>
            <a:r>
              <a:rPr sz="2000" b="1" spc="-10">
                <a:solidFill>
                  <a:srgbClr val="666666"/>
                </a:solidFill>
                <a:latin typeface="Calibri"/>
                <a:cs typeface="Calibri"/>
              </a:rPr>
              <a:t>Systems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64153" y="4176712"/>
            <a:ext cx="2618105" cy="39052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772795" marR="5080" indent="-760730">
              <a:lnSpc>
                <a:spcPts val="1430"/>
              </a:lnSpc>
              <a:spcBef>
                <a:spcPts val="155"/>
              </a:spcBef>
            </a:pPr>
            <a:r>
              <a:rPr sz="1200">
                <a:solidFill>
                  <a:srgbClr val="666666"/>
                </a:solidFill>
                <a:latin typeface="Calibri"/>
                <a:cs typeface="Calibri"/>
              </a:rPr>
              <a:t>Source:</a:t>
            </a:r>
            <a:r>
              <a:rPr sz="1200" spc="-10">
                <a:solidFill>
                  <a:srgbClr val="666666"/>
                </a:solidFill>
                <a:latin typeface="Calibri"/>
                <a:cs typeface="Calibri"/>
              </a:rPr>
              <a:t> Crunchbase,</a:t>
            </a:r>
            <a:r>
              <a:rPr sz="1200" spc="-55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1200">
                <a:solidFill>
                  <a:srgbClr val="666666"/>
                </a:solidFill>
                <a:latin typeface="Calibri"/>
                <a:cs typeface="Calibri"/>
              </a:rPr>
              <a:t>VentureSource,</a:t>
            </a:r>
            <a:r>
              <a:rPr sz="1200" spc="15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1200" spc="-20">
                <a:solidFill>
                  <a:srgbClr val="666666"/>
                </a:solidFill>
                <a:latin typeface="Calibri"/>
                <a:cs typeface="Calibri"/>
              </a:rPr>
              <a:t>Sand </a:t>
            </a:r>
            <a:r>
              <a:rPr sz="1200">
                <a:solidFill>
                  <a:srgbClr val="666666"/>
                </a:solidFill>
                <a:latin typeface="Calibri"/>
                <a:cs typeface="Calibri"/>
              </a:rPr>
              <a:t>Hill</a:t>
            </a:r>
            <a:r>
              <a:rPr sz="1200" spc="1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1200" spc="-10">
                <a:solidFill>
                  <a:srgbClr val="666666"/>
                </a:solidFill>
                <a:latin typeface="Calibri"/>
                <a:cs typeface="Calibri"/>
              </a:rPr>
              <a:t>Econometrics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81090" y="3348990"/>
            <a:ext cx="2654300" cy="6407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865505" marR="5080" indent="-853440">
              <a:lnSpc>
                <a:spcPct val="100000"/>
              </a:lnSpc>
              <a:spcBef>
                <a:spcPts val="130"/>
              </a:spcBef>
            </a:pPr>
            <a:r>
              <a:rPr sz="2000" b="1">
                <a:solidFill>
                  <a:srgbClr val="666666"/>
                </a:solidFill>
                <a:latin typeface="Calibri"/>
                <a:cs typeface="Calibri"/>
              </a:rPr>
              <a:t>Enterprise</a:t>
            </a:r>
            <a:r>
              <a:rPr sz="2000" b="1" spc="-9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2000" b="1">
                <a:solidFill>
                  <a:srgbClr val="666666"/>
                </a:solidFill>
                <a:latin typeface="Calibri"/>
                <a:cs typeface="Calibri"/>
              </a:rPr>
              <a:t>Application</a:t>
            </a:r>
            <a:r>
              <a:rPr sz="2000" b="1" spc="-2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2000" b="1" spc="-25">
                <a:solidFill>
                  <a:srgbClr val="666666"/>
                </a:solidFill>
                <a:latin typeface="Calibri"/>
                <a:cs typeface="Calibri"/>
              </a:rPr>
              <a:t>AI </a:t>
            </a:r>
            <a:r>
              <a:rPr sz="2000" b="1" spc="-10">
                <a:solidFill>
                  <a:srgbClr val="666666"/>
                </a:solidFill>
                <a:latin typeface="Calibri"/>
                <a:cs typeface="Calibri"/>
              </a:rPr>
              <a:t>Revenue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013829" y="4176712"/>
            <a:ext cx="99314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>
                <a:solidFill>
                  <a:srgbClr val="666666"/>
                </a:solidFill>
                <a:latin typeface="Calibri"/>
                <a:cs typeface="Calibri"/>
              </a:rPr>
              <a:t>Source: </a:t>
            </a:r>
            <a:r>
              <a:rPr sz="1200" spc="-10">
                <a:solidFill>
                  <a:srgbClr val="666666"/>
                </a:solidFill>
                <a:latin typeface="Calibri"/>
                <a:cs typeface="Calibri"/>
              </a:rPr>
              <a:t>Statista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1965" y="3347783"/>
            <a:ext cx="2421890" cy="6400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81305" marR="5080" indent="-268605">
              <a:lnSpc>
                <a:spcPct val="100000"/>
              </a:lnSpc>
              <a:spcBef>
                <a:spcPts val="125"/>
              </a:spcBef>
            </a:pPr>
            <a:r>
              <a:rPr sz="2000" b="1">
                <a:solidFill>
                  <a:srgbClr val="666666"/>
                </a:solidFill>
                <a:latin typeface="Calibri"/>
                <a:cs typeface="Calibri"/>
              </a:rPr>
              <a:t>Number</a:t>
            </a:r>
            <a:r>
              <a:rPr sz="2000" b="1" spc="-3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2000" b="1">
                <a:solidFill>
                  <a:srgbClr val="666666"/>
                </a:solidFill>
                <a:latin typeface="Calibri"/>
                <a:cs typeface="Calibri"/>
              </a:rPr>
              <a:t>of</a:t>
            </a:r>
            <a:r>
              <a:rPr sz="2000" b="1" spc="-15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2000" b="1" spc="-10">
                <a:solidFill>
                  <a:srgbClr val="666666"/>
                </a:solidFill>
                <a:latin typeface="Calibri"/>
                <a:cs typeface="Calibri"/>
              </a:rPr>
              <a:t>attendance </a:t>
            </a:r>
            <a:r>
              <a:rPr sz="2000" b="1">
                <a:solidFill>
                  <a:srgbClr val="666666"/>
                </a:solidFill>
                <a:latin typeface="Calibri"/>
                <a:cs typeface="Calibri"/>
              </a:rPr>
              <a:t>At</a:t>
            </a:r>
            <a:r>
              <a:rPr sz="2000" b="1" spc="-5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2000" b="1">
                <a:solidFill>
                  <a:srgbClr val="666666"/>
                </a:solidFill>
                <a:latin typeface="Calibri"/>
                <a:cs typeface="Calibri"/>
              </a:rPr>
              <a:t>AI</a:t>
            </a:r>
            <a:r>
              <a:rPr sz="2000" b="1" spc="5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2000" b="1" spc="-10">
                <a:solidFill>
                  <a:srgbClr val="666666"/>
                </a:solidFill>
                <a:latin typeface="Calibri"/>
                <a:cs typeface="Calibri"/>
              </a:rPr>
              <a:t>conferences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6700" y="1714500"/>
            <a:ext cx="3190875" cy="1647825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43</a:t>
            </a:fld>
            <a:endParaRPr spc="-25"/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>
              <a:lnSpc>
                <a:spcPts val="1810"/>
              </a:lnSpc>
            </a:pPr>
            <a:r>
              <a:t>April 1,</a:t>
            </a:r>
            <a:r>
              <a:rPr spc="-35"/>
              <a:t> </a:t>
            </a:r>
            <a:r>
              <a:rPr spc="-20"/>
              <a:t>2025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t>CS231n:</a:t>
            </a:r>
            <a:r>
              <a:rPr spc="-5"/>
              <a:t> </a:t>
            </a:r>
            <a:r>
              <a:t>Lecture</a:t>
            </a:r>
            <a:r>
              <a:rPr spc="95"/>
              <a:t> </a:t>
            </a:r>
            <a:r>
              <a:t>1</a:t>
            </a:r>
            <a:r>
              <a:rPr spc="15"/>
              <a:t> </a:t>
            </a:r>
            <a:r>
              <a:rPr spc="-50"/>
              <a:t>-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307657" y="4910517"/>
            <a:ext cx="2085339" cy="1536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Fei-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Fei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Li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9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Ehsan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Adeli</a:t>
            </a: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90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Zane Durante</a:t>
            </a:r>
            <a:endParaRPr sz="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98575" y="1854136"/>
            <a:ext cx="6753225" cy="124333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223520" marR="5080" indent="-211454">
              <a:lnSpc>
                <a:spcPct val="101499"/>
              </a:lnSpc>
              <a:spcBef>
                <a:spcPts val="60"/>
              </a:spcBef>
            </a:pPr>
            <a:r>
              <a:rPr sz="3950">
                <a:solidFill>
                  <a:srgbClr val="C00000"/>
                </a:solidFill>
              </a:rPr>
              <a:t>Despite</a:t>
            </a:r>
            <a:r>
              <a:rPr sz="3950" spc="5">
                <a:solidFill>
                  <a:srgbClr val="C00000"/>
                </a:solidFill>
              </a:rPr>
              <a:t> </a:t>
            </a:r>
            <a:r>
              <a:rPr sz="3950">
                <a:solidFill>
                  <a:srgbClr val="C00000"/>
                </a:solidFill>
              </a:rPr>
              <a:t>the</a:t>
            </a:r>
            <a:r>
              <a:rPr sz="3950" spc="10">
                <a:solidFill>
                  <a:srgbClr val="C00000"/>
                </a:solidFill>
              </a:rPr>
              <a:t> </a:t>
            </a:r>
            <a:r>
              <a:rPr sz="3950">
                <a:solidFill>
                  <a:srgbClr val="C00000"/>
                </a:solidFill>
              </a:rPr>
              <a:t>successes,</a:t>
            </a:r>
            <a:r>
              <a:rPr sz="3950" spc="15">
                <a:solidFill>
                  <a:srgbClr val="C00000"/>
                </a:solidFill>
              </a:rPr>
              <a:t> </a:t>
            </a:r>
            <a:r>
              <a:rPr sz="3950" spc="-10">
                <a:solidFill>
                  <a:srgbClr val="C00000"/>
                </a:solidFill>
              </a:rPr>
              <a:t>computer </a:t>
            </a:r>
            <a:r>
              <a:rPr sz="3950">
                <a:solidFill>
                  <a:srgbClr val="C00000"/>
                </a:solidFill>
              </a:rPr>
              <a:t>vision</a:t>
            </a:r>
            <a:r>
              <a:rPr sz="3950" spc="5">
                <a:solidFill>
                  <a:srgbClr val="C00000"/>
                </a:solidFill>
              </a:rPr>
              <a:t> </a:t>
            </a:r>
            <a:r>
              <a:rPr sz="3950">
                <a:solidFill>
                  <a:srgbClr val="C00000"/>
                </a:solidFill>
              </a:rPr>
              <a:t>still</a:t>
            </a:r>
            <a:r>
              <a:rPr sz="3950" spc="-20">
                <a:solidFill>
                  <a:srgbClr val="C00000"/>
                </a:solidFill>
              </a:rPr>
              <a:t> </a:t>
            </a:r>
            <a:r>
              <a:rPr sz="3950">
                <a:solidFill>
                  <a:srgbClr val="C00000"/>
                </a:solidFill>
              </a:rPr>
              <a:t>has</a:t>
            </a:r>
            <a:r>
              <a:rPr sz="3950" spc="-60">
                <a:solidFill>
                  <a:srgbClr val="C00000"/>
                </a:solidFill>
              </a:rPr>
              <a:t> </a:t>
            </a:r>
            <a:r>
              <a:rPr sz="3950">
                <a:solidFill>
                  <a:srgbClr val="C00000"/>
                </a:solidFill>
              </a:rPr>
              <a:t>a</a:t>
            </a:r>
            <a:r>
              <a:rPr sz="3950" spc="45">
                <a:solidFill>
                  <a:srgbClr val="C00000"/>
                </a:solidFill>
              </a:rPr>
              <a:t> </a:t>
            </a:r>
            <a:r>
              <a:rPr sz="3950">
                <a:solidFill>
                  <a:srgbClr val="C00000"/>
                </a:solidFill>
              </a:rPr>
              <a:t>long</a:t>
            </a:r>
            <a:r>
              <a:rPr sz="3950" spc="-10">
                <a:solidFill>
                  <a:srgbClr val="C00000"/>
                </a:solidFill>
              </a:rPr>
              <a:t> </a:t>
            </a:r>
            <a:r>
              <a:rPr sz="3950">
                <a:solidFill>
                  <a:srgbClr val="C00000"/>
                </a:solidFill>
              </a:rPr>
              <a:t>way</a:t>
            </a:r>
            <a:r>
              <a:rPr sz="3950" spc="65">
                <a:solidFill>
                  <a:srgbClr val="C00000"/>
                </a:solidFill>
              </a:rPr>
              <a:t> </a:t>
            </a:r>
            <a:r>
              <a:rPr sz="3950">
                <a:solidFill>
                  <a:srgbClr val="C00000"/>
                </a:solidFill>
              </a:rPr>
              <a:t>to</a:t>
            </a:r>
            <a:r>
              <a:rPr sz="3950" spc="-5">
                <a:solidFill>
                  <a:srgbClr val="C00000"/>
                </a:solidFill>
              </a:rPr>
              <a:t> </a:t>
            </a:r>
            <a:r>
              <a:rPr sz="3950" spc="-25">
                <a:solidFill>
                  <a:srgbClr val="C00000"/>
                </a:solidFill>
              </a:rPr>
              <a:t>go</a:t>
            </a:r>
            <a:endParaRPr sz="3950"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44</a:t>
            </a:fld>
            <a:endParaRPr spc="-25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>
              <a:lnSpc>
                <a:spcPts val="1810"/>
              </a:lnSpc>
            </a:pPr>
            <a:r>
              <a:t>April 1,</a:t>
            </a:r>
            <a:r>
              <a:rPr spc="-35"/>
              <a:t> </a:t>
            </a:r>
            <a:r>
              <a:rPr spc="-20"/>
              <a:t>2025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t>CS231n:</a:t>
            </a:r>
            <a:r>
              <a:rPr spc="-5"/>
              <a:t> </a:t>
            </a:r>
            <a:r>
              <a:t>Lecture</a:t>
            </a:r>
            <a:r>
              <a:rPr spc="95"/>
              <a:t> </a:t>
            </a:r>
            <a:r>
              <a:t>1</a:t>
            </a:r>
            <a:r>
              <a:rPr spc="15"/>
              <a:t> </a:t>
            </a:r>
            <a:r>
              <a:rPr spc="-50"/>
              <a:t>-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07657" y="4910517"/>
            <a:ext cx="2085339" cy="1536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Fei-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Fei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Li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9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Ehsan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Adeli</a:t>
            </a: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90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Zane Durante</a:t>
            </a:r>
            <a:endParaRPr sz="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96466" y="92646"/>
            <a:ext cx="5751830" cy="529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t>Computer Vision</a:t>
            </a:r>
            <a:r>
              <a:rPr spc="-55"/>
              <a:t> </a:t>
            </a:r>
            <a:r>
              <a:t>Can</a:t>
            </a:r>
            <a:r>
              <a:rPr spc="-60"/>
              <a:t> </a:t>
            </a:r>
            <a:r>
              <a:t>Cause</a:t>
            </a:r>
            <a:r>
              <a:rPr spc="-40"/>
              <a:t> </a:t>
            </a:r>
            <a:r>
              <a:rPr spc="-20"/>
              <a:t>Harm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9025" y="799718"/>
            <a:ext cx="6905625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751070" algn="l"/>
              </a:tabLst>
            </a:pPr>
            <a:r>
              <a:rPr sz="2100">
                <a:latin typeface="Calibri"/>
                <a:cs typeface="Calibri"/>
              </a:rPr>
              <a:t>Harmful</a:t>
            </a:r>
            <a:r>
              <a:rPr sz="2100" spc="-50">
                <a:latin typeface="Calibri"/>
                <a:cs typeface="Calibri"/>
              </a:rPr>
              <a:t> </a:t>
            </a:r>
            <a:r>
              <a:rPr sz="2100" spc="-10">
                <a:latin typeface="Calibri"/>
                <a:cs typeface="Calibri"/>
              </a:rPr>
              <a:t>Stereotypes</a:t>
            </a:r>
            <a:r>
              <a:rPr sz="2100">
                <a:latin typeface="Calibri"/>
                <a:cs typeface="Calibri"/>
              </a:rPr>
              <a:t>	Affect</a:t>
            </a:r>
            <a:r>
              <a:rPr sz="2100" spc="-80">
                <a:latin typeface="Calibri"/>
                <a:cs typeface="Calibri"/>
              </a:rPr>
              <a:t> </a:t>
            </a:r>
            <a:r>
              <a:rPr sz="2100" spc="-20">
                <a:latin typeface="Calibri"/>
                <a:cs typeface="Calibri"/>
              </a:rPr>
              <a:t>people’s</a:t>
            </a:r>
            <a:r>
              <a:rPr sz="2100" spc="-95">
                <a:latin typeface="Calibri"/>
                <a:cs typeface="Calibri"/>
              </a:rPr>
              <a:t> </a:t>
            </a:r>
            <a:r>
              <a:rPr sz="2100" spc="-10">
                <a:latin typeface="Calibri"/>
                <a:cs typeface="Calibri"/>
              </a:rPr>
              <a:t>lives</a:t>
            </a:r>
            <a:endParaRPr sz="21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337841" y="1289288"/>
            <a:ext cx="4806315" cy="3168650"/>
            <a:chOff x="4337841" y="1289288"/>
            <a:chExt cx="4806315" cy="316865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37841" y="1289288"/>
              <a:ext cx="4606329" cy="105691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95925" y="2314575"/>
              <a:ext cx="3648075" cy="2143125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4432934" y="4502150"/>
            <a:ext cx="4668520" cy="30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8255" algn="r">
              <a:lnSpc>
                <a:spcPct val="100000"/>
              </a:lnSpc>
              <a:spcBef>
                <a:spcPts val="100"/>
              </a:spcBef>
            </a:pPr>
            <a:r>
              <a:rPr sz="600">
                <a:latin typeface="Calibri"/>
                <a:cs typeface="Calibri"/>
              </a:rPr>
              <a:t>Source:</a:t>
            </a:r>
            <a:r>
              <a:rPr sz="600" spc="200">
                <a:latin typeface="Calibri"/>
                <a:cs typeface="Calibri"/>
              </a:rPr>
              <a:t>  </a:t>
            </a:r>
            <a:r>
              <a:rPr sz="600" u="sng" spc="-10">
                <a:solidFill>
                  <a:srgbClr val="A4A4A4"/>
                </a:solidFill>
                <a:uFill>
                  <a:solidFill>
                    <a:srgbClr val="A4A4A4"/>
                  </a:solidFill>
                </a:uFill>
                <a:latin typeface="Calibri"/>
                <a:cs typeface="Calibri"/>
                <a:hlinkClick r:id="rId4"/>
              </a:rPr>
              <a:t>https://www.washingtonpost.com/technology/2019/10/22/ai-hiring-face-scanning-algorithm-increasingly-decid</a:t>
            </a:r>
            <a:r>
              <a:rPr sz="600" u="sng" spc="114">
                <a:solidFill>
                  <a:srgbClr val="A4A4A4"/>
                </a:solidFill>
                <a:uFill>
                  <a:solidFill>
                    <a:srgbClr val="A4A4A4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sz="600" u="sng" spc="-25">
                <a:solidFill>
                  <a:srgbClr val="A4A4A4"/>
                </a:solidFill>
                <a:uFill>
                  <a:solidFill>
                    <a:srgbClr val="A4A4A4"/>
                  </a:solidFill>
                </a:uFill>
                <a:latin typeface="Calibri"/>
                <a:cs typeface="Calibri"/>
                <a:hlinkClick r:id="rId4"/>
              </a:rPr>
              <a:t>es-</a:t>
            </a:r>
            <a:r>
              <a:rPr sz="600" u="sng" spc="-10">
                <a:solidFill>
                  <a:srgbClr val="A4A4A4"/>
                </a:solidFill>
                <a:uFill>
                  <a:solidFill>
                    <a:srgbClr val="A4A4A4"/>
                  </a:solidFill>
                </a:uFill>
                <a:latin typeface="Calibri"/>
                <a:cs typeface="Calibri"/>
                <a:hlinkClick r:id="rId4"/>
              </a:rPr>
              <a:t>whether-you-deserve-</a:t>
            </a:r>
            <a:r>
              <a:rPr sz="600" u="sng" spc="-20">
                <a:solidFill>
                  <a:srgbClr val="A4A4A4"/>
                </a:solidFill>
                <a:uFill>
                  <a:solidFill>
                    <a:srgbClr val="A4A4A4"/>
                  </a:solidFill>
                </a:uFill>
                <a:latin typeface="Calibri"/>
                <a:cs typeface="Calibri"/>
                <a:hlinkClick r:id="rId4"/>
              </a:rPr>
              <a:t>job</a:t>
            </a:r>
            <a:r>
              <a:rPr sz="600" spc="-20">
                <a:solidFill>
                  <a:srgbClr val="A4A4A4"/>
                </a:solidFill>
                <a:latin typeface="Calibri"/>
                <a:cs typeface="Calibri"/>
                <a:hlinkClick r:id="rId4"/>
              </a:rPr>
              <a:t>/</a:t>
            </a:r>
            <a:endParaRPr sz="60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  <a:spcBef>
                <a:spcPts val="30"/>
              </a:spcBef>
            </a:pPr>
            <a:r>
              <a:rPr sz="600" u="sng" spc="285">
                <a:solidFill>
                  <a:srgbClr val="A4A4A4"/>
                </a:solidFill>
                <a:uFill>
                  <a:solidFill>
                    <a:srgbClr val="A4A4A4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sz="600" u="sng" spc="-10">
                <a:solidFill>
                  <a:srgbClr val="A4A4A4"/>
                </a:solidFill>
                <a:uFill>
                  <a:solidFill>
                    <a:srgbClr val="A4A4A4"/>
                  </a:solidFill>
                </a:uFill>
                <a:latin typeface="Calibri"/>
                <a:cs typeface="Calibri"/>
                <a:hlinkClick r:id="rId5"/>
              </a:rPr>
              <a:t>https://www.hirevue.com/platform/online-video-interviewing-softwar</a:t>
            </a:r>
            <a:r>
              <a:rPr sz="600" spc="-10">
                <a:solidFill>
                  <a:srgbClr val="A4A4A4"/>
                </a:solidFill>
                <a:latin typeface="Calibri"/>
                <a:cs typeface="Calibri"/>
                <a:hlinkClick r:id="rId5"/>
              </a:rPr>
              <a:t>e</a:t>
            </a:r>
            <a:endParaRPr sz="600">
              <a:latin typeface="Calibri"/>
              <a:cs typeface="Calibri"/>
            </a:endParaRPr>
          </a:p>
          <a:p>
            <a:pPr marR="5715" algn="r">
              <a:lnSpc>
                <a:spcPct val="100000"/>
              </a:lnSpc>
              <a:spcBef>
                <a:spcPts val="30"/>
              </a:spcBef>
            </a:pPr>
            <a:r>
              <a:rPr sz="600">
                <a:latin typeface="Calibri"/>
                <a:cs typeface="Calibri"/>
              </a:rPr>
              <a:t>Example</a:t>
            </a:r>
            <a:r>
              <a:rPr sz="600" spc="-60">
                <a:latin typeface="Calibri"/>
                <a:cs typeface="Calibri"/>
              </a:rPr>
              <a:t> </a:t>
            </a:r>
            <a:r>
              <a:rPr sz="600">
                <a:latin typeface="Calibri"/>
                <a:cs typeface="Calibri"/>
              </a:rPr>
              <a:t>Credit:</a:t>
            </a:r>
            <a:r>
              <a:rPr sz="600" spc="5">
                <a:latin typeface="Calibri"/>
                <a:cs typeface="Calibri"/>
              </a:rPr>
              <a:t> </a:t>
            </a:r>
            <a:r>
              <a:rPr sz="600">
                <a:latin typeface="Calibri"/>
                <a:cs typeface="Calibri"/>
              </a:rPr>
              <a:t>Timnit</a:t>
            </a:r>
            <a:r>
              <a:rPr sz="600" spc="-5">
                <a:latin typeface="Calibri"/>
                <a:cs typeface="Calibri"/>
              </a:rPr>
              <a:t> </a:t>
            </a:r>
            <a:r>
              <a:rPr sz="600" spc="-20">
                <a:latin typeface="Calibri"/>
                <a:cs typeface="Calibri"/>
              </a:rPr>
              <a:t>Gebru</a:t>
            </a:r>
            <a:endParaRPr sz="6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65770" y="1422945"/>
            <a:ext cx="3711052" cy="2929918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45</a:t>
            </a:fld>
            <a:endParaRPr spc="-25"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>
              <a:lnSpc>
                <a:spcPts val="1810"/>
              </a:lnSpc>
            </a:pPr>
            <a:r>
              <a:t>April 1,</a:t>
            </a:r>
            <a:r>
              <a:rPr spc="-35"/>
              <a:t> </a:t>
            </a:r>
            <a:r>
              <a:rPr spc="-20"/>
              <a:t>2025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t>CS231n:</a:t>
            </a:r>
            <a:r>
              <a:rPr spc="-5"/>
              <a:t> </a:t>
            </a:r>
            <a:r>
              <a:t>Lecture</a:t>
            </a:r>
            <a:r>
              <a:rPr spc="95"/>
              <a:t> </a:t>
            </a:r>
            <a:r>
              <a:t>1</a:t>
            </a:r>
            <a:r>
              <a:rPr spc="15"/>
              <a:t> </a:t>
            </a:r>
            <a:r>
              <a:rPr spc="-50"/>
              <a:t>-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07657" y="4910517"/>
            <a:ext cx="2085339" cy="1536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Fei-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Fei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Li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9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Ehsan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Adeli</a:t>
            </a: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90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Zane Durante</a:t>
            </a:r>
            <a:endParaRPr sz="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571" rIns="0" bIns="0" rtlCol="0">
            <a:spAutoFit/>
          </a:bodyPr>
          <a:lstStyle/>
          <a:p>
            <a:pPr marL="953769">
              <a:lnSpc>
                <a:spcPct val="100000"/>
              </a:lnSpc>
              <a:spcBef>
                <a:spcPts val="105"/>
              </a:spcBef>
            </a:pPr>
            <a:r>
              <a:t>Computer</a:t>
            </a:r>
            <a:r>
              <a:rPr spc="-25"/>
              <a:t> </a:t>
            </a:r>
            <a:r>
              <a:t>Vision</a:t>
            </a:r>
            <a:r>
              <a:rPr spc="-70"/>
              <a:t> </a:t>
            </a:r>
            <a:r>
              <a:t>Can</a:t>
            </a:r>
            <a:r>
              <a:rPr spc="-80"/>
              <a:t> </a:t>
            </a:r>
            <a:r>
              <a:t>Save</a:t>
            </a:r>
            <a:r>
              <a:rPr spc="-60"/>
              <a:t> </a:t>
            </a:r>
            <a:r>
              <a:rPr spc="-10"/>
              <a:t>Lives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" y="590550"/>
            <a:ext cx="7343775" cy="413385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013840" y="3200079"/>
            <a:ext cx="140335" cy="151257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>
                <a:latin typeface="Calibri"/>
                <a:cs typeface="Calibri"/>
              </a:rPr>
              <a:t>Slide</a:t>
            </a:r>
            <a:r>
              <a:rPr sz="900" spc="-40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inspiration:</a:t>
            </a:r>
            <a:r>
              <a:rPr sz="900" spc="-50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Justin</a:t>
            </a:r>
            <a:r>
              <a:rPr sz="900" spc="15">
                <a:latin typeface="Calibri"/>
                <a:cs typeface="Calibri"/>
              </a:rPr>
              <a:t> </a:t>
            </a:r>
            <a:r>
              <a:rPr sz="900" spc="-10">
                <a:latin typeface="Calibri"/>
                <a:cs typeface="Calibri"/>
              </a:rPr>
              <a:t>Johnson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46</a:t>
            </a:fld>
            <a:endParaRPr spc="-25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>
              <a:lnSpc>
                <a:spcPts val="1810"/>
              </a:lnSpc>
            </a:pPr>
            <a:r>
              <a:t>April 1,</a:t>
            </a:r>
            <a:r>
              <a:rPr spc="-35"/>
              <a:t> </a:t>
            </a:r>
            <a:r>
              <a:rPr spc="-20"/>
              <a:t>2025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t>CS231n:</a:t>
            </a:r>
            <a:r>
              <a:rPr spc="-5"/>
              <a:t> </a:t>
            </a:r>
            <a:r>
              <a:t>Lecture</a:t>
            </a:r>
            <a:r>
              <a:rPr spc="95"/>
              <a:t> </a:t>
            </a:r>
            <a:r>
              <a:t>1</a:t>
            </a:r>
            <a:r>
              <a:rPr spc="15"/>
              <a:t> </a:t>
            </a:r>
            <a:r>
              <a:rPr spc="-50"/>
              <a:t>-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07657" y="4910517"/>
            <a:ext cx="2085339" cy="1536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Fei-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Fei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Li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9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Ehsan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Adeli</a:t>
            </a: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90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Zane Durante</a:t>
            </a:r>
            <a:endParaRPr sz="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0600" y="1352550"/>
            <a:ext cx="4057650" cy="27051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108060" y="4111307"/>
            <a:ext cx="697230" cy="394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600" u="sng" spc="-105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</a:rPr>
              <a:t> </a:t>
            </a:r>
            <a:r>
              <a:rPr sz="600" u="sng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3"/>
              </a:rPr>
              <a:t>This imag</a:t>
            </a:r>
            <a:r>
              <a:rPr sz="600">
                <a:solidFill>
                  <a:srgbClr val="BEBEBE"/>
                </a:solidFill>
                <a:latin typeface="Calibri"/>
                <a:cs typeface="Calibri"/>
                <a:hlinkClick r:id="rId3"/>
              </a:rPr>
              <a:t>e</a:t>
            </a:r>
            <a:r>
              <a:rPr sz="600" spc="-20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600" spc="-25">
                <a:solidFill>
                  <a:srgbClr val="BEBEBE"/>
                </a:solidFill>
                <a:latin typeface="Calibri"/>
                <a:cs typeface="Calibri"/>
              </a:rPr>
              <a:t>is</a:t>
            </a:r>
            <a:endParaRPr sz="6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sz="600" spc="-10">
                <a:solidFill>
                  <a:srgbClr val="BEBEBE"/>
                </a:solidFill>
                <a:latin typeface="Calibri"/>
                <a:cs typeface="Calibri"/>
              </a:rPr>
              <a:t>copyright-free</a:t>
            </a:r>
            <a:r>
              <a:rPr sz="600" spc="45">
                <a:solidFill>
                  <a:srgbClr val="BEBEBE"/>
                </a:solidFill>
                <a:latin typeface="Calibri"/>
                <a:cs typeface="Calibri"/>
              </a:rPr>
              <a:t> </a:t>
            </a:r>
            <a:r>
              <a:rPr sz="600" u="sng" spc="-95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</a:rPr>
              <a:t> </a:t>
            </a:r>
            <a:r>
              <a:rPr sz="600" u="sng" spc="-1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4"/>
              </a:rPr>
              <a:t>United</a:t>
            </a:r>
            <a:endParaRPr sz="600">
              <a:latin typeface="Calibri"/>
              <a:cs typeface="Calibri"/>
            </a:endParaRPr>
          </a:p>
          <a:p>
            <a:pPr algn="ctr">
              <a:lnSpc>
                <a:spcPts val="700"/>
              </a:lnSpc>
              <a:spcBef>
                <a:spcPts val="30"/>
              </a:spcBef>
            </a:pPr>
            <a:r>
              <a:rPr sz="600" u="sng" spc="-114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</a:rPr>
              <a:t> </a:t>
            </a:r>
            <a:r>
              <a:rPr sz="600" u="sng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4"/>
              </a:rPr>
              <a:t>States</a:t>
            </a:r>
            <a:r>
              <a:rPr sz="600" u="sng" spc="-15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sz="600" u="sng" spc="-1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4"/>
              </a:rPr>
              <a:t>governmen</a:t>
            </a:r>
            <a:r>
              <a:rPr sz="600" spc="-10">
                <a:solidFill>
                  <a:srgbClr val="BEBEBE"/>
                </a:solidFill>
                <a:latin typeface="Calibri"/>
                <a:cs typeface="Calibri"/>
                <a:hlinkClick r:id="rId4"/>
              </a:rPr>
              <a:t>t</a:t>
            </a:r>
            <a:endParaRPr sz="600">
              <a:latin typeface="Calibri"/>
              <a:cs typeface="Calibri"/>
            </a:endParaRPr>
          </a:p>
          <a:p>
            <a:pPr marR="1270" algn="ctr">
              <a:lnSpc>
                <a:spcPts val="700"/>
              </a:lnSpc>
            </a:pPr>
            <a:r>
              <a:rPr sz="600" u="sng" spc="-6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</a:rPr>
              <a:t> </a:t>
            </a:r>
            <a:r>
              <a:rPr sz="600" u="sng" spc="-20">
                <a:solidFill>
                  <a:srgbClr val="BEBEBE"/>
                </a:solidFill>
                <a:uFill>
                  <a:solidFill>
                    <a:srgbClr val="BEBEBE"/>
                  </a:solidFill>
                </a:uFill>
                <a:latin typeface="Calibri"/>
                <a:cs typeface="Calibri"/>
                <a:hlinkClick r:id="rId4"/>
              </a:rPr>
              <a:t>work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85507" y="92646"/>
            <a:ext cx="7376159" cy="529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t>And</a:t>
            </a:r>
            <a:r>
              <a:rPr spc="-35"/>
              <a:t> </a:t>
            </a:r>
            <a:r>
              <a:t>there</a:t>
            </a:r>
            <a:r>
              <a:rPr spc="-10"/>
              <a:t> </a:t>
            </a:r>
            <a:r>
              <a:t>is</a:t>
            </a:r>
            <a:r>
              <a:rPr spc="-30"/>
              <a:t> </a:t>
            </a:r>
            <a:r>
              <a:t>a</a:t>
            </a:r>
            <a:r>
              <a:rPr spc="-10"/>
              <a:t> </a:t>
            </a:r>
            <a:r>
              <a:t>lot</a:t>
            </a:r>
            <a:r>
              <a:rPr spc="-70"/>
              <a:t> </a:t>
            </a:r>
            <a:r>
              <a:t>we</a:t>
            </a:r>
            <a:r>
              <a:rPr spc="-80"/>
              <a:t> </a:t>
            </a:r>
            <a:r>
              <a:t>don’t know</a:t>
            </a:r>
            <a:r>
              <a:rPr spc="-45"/>
              <a:t> </a:t>
            </a:r>
            <a:r>
              <a:t>how</a:t>
            </a:r>
            <a:r>
              <a:rPr spc="25"/>
              <a:t> </a:t>
            </a:r>
            <a:r>
              <a:t>to</a:t>
            </a:r>
            <a:r>
              <a:rPr spc="-30"/>
              <a:t> </a:t>
            </a:r>
            <a:r>
              <a:rPr spc="-25"/>
              <a:t>do</a:t>
            </a:r>
          </a:p>
        </p:txBody>
      </p:sp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7675" y="1352550"/>
            <a:ext cx="4057650" cy="271462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12775" y="4111307"/>
            <a:ext cx="1436370" cy="308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10">
                <a:solidFill>
                  <a:srgbClr val="A6A6A6"/>
                </a:solidFill>
                <a:latin typeface="Calibri"/>
                <a:cs typeface="Calibri"/>
              </a:rPr>
              <a:t>https://fedandfit.com/wp-</a:t>
            </a:r>
            <a:endParaRPr sz="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spc="-10">
                <a:solidFill>
                  <a:srgbClr val="A6A6A6"/>
                </a:solidFill>
                <a:latin typeface="Calibri"/>
                <a:cs typeface="Calibri"/>
              </a:rPr>
              <a:t>conten</a:t>
            </a:r>
            <a:r>
              <a:rPr sz="600" spc="5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600" spc="-10">
                <a:solidFill>
                  <a:srgbClr val="A6A6A6"/>
                </a:solidFill>
                <a:latin typeface="Calibri"/>
                <a:cs typeface="Calibri"/>
              </a:rPr>
              <a:t>t/uploads/2020/06/summer-activities-</a:t>
            </a:r>
            <a:endParaRPr sz="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600" spc="-10">
                <a:solidFill>
                  <a:srgbClr val="A6A6A6"/>
                </a:solidFill>
                <a:latin typeface="Calibri"/>
                <a:cs typeface="Calibri"/>
              </a:rPr>
              <a:t>for-kids_optimized-scaled.jpeg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47</a:t>
            </a:fld>
            <a:endParaRPr spc="-25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>
              <a:lnSpc>
                <a:spcPts val="1810"/>
              </a:lnSpc>
            </a:pPr>
            <a:r>
              <a:t>April 1,</a:t>
            </a:r>
            <a:r>
              <a:rPr spc="-35"/>
              <a:t> </a:t>
            </a:r>
            <a:r>
              <a:rPr spc="-20"/>
              <a:t>2025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t>CS231n:</a:t>
            </a:r>
            <a:r>
              <a:rPr spc="-5"/>
              <a:t> </a:t>
            </a:r>
            <a:r>
              <a:t>Lecture</a:t>
            </a:r>
            <a:r>
              <a:rPr spc="95"/>
              <a:t> </a:t>
            </a:r>
            <a:r>
              <a:t>1</a:t>
            </a:r>
            <a:r>
              <a:rPr spc="15"/>
              <a:t> </a:t>
            </a:r>
            <a:r>
              <a:rPr spc="-50"/>
              <a:t>-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07657" y="4910517"/>
            <a:ext cx="2085339" cy="1536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Fei-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Fei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Li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9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Ehsan</a:t>
            </a:r>
            <a:r>
              <a:rPr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Adeli</a:t>
            </a: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90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>
                <a:solidFill>
                  <a:srgbClr val="FFFFFF"/>
                </a:solidFill>
                <a:latin typeface="Arial MT"/>
                <a:cs typeface="Arial MT"/>
              </a:rPr>
              <a:t>Zane Durante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13840" y="3171150"/>
            <a:ext cx="140335" cy="158178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>
                <a:latin typeface="Calibri"/>
                <a:cs typeface="Calibri"/>
              </a:rPr>
              <a:t>Slide</a:t>
            </a:r>
            <a:r>
              <a:rPr sz="900" spc="-55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inspiration:</a:t>
            </a:r>
            <a:r>
              <a:rPr sz="900" spc="-75">
                <a:latin typeface="Calibri"/>
                <a:cs typeface="Calibri"/>
              </a:rPr>
              <a:t> </a:t>
            </a:r>
            <a:r>
              <a:rPr sz="900">
                <a:latin typeface="Calibri"/>
                <a:cs typeface="Calibri"/>
              </a:rPr>
              <a:t>Andrej</a:t>
            </a:r>
            <a:r>
              <a:rPr sz="900" spc="30">
                <a:latin typeface="Calibri"/>
                <a:cs typeface="Calibri"/>
              </a:rPr>
              <a:t> </a:t>
            </a:r>
            <a:r>
              <a:rPr sz="900" spc="-10">
                <a:latin typeface="Calibri"/>
                <a:cs typeface="Calibri"/>
              </a:rPr>
              <a:t>Karpathy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25"/>
              <a:t>Image</a:t>
            </a:r>
            <a:r>
              <a:rPr sz="2400" spc="-260"/>
              <a:t> </a:t>
            </a:r>
            <a:r>
              <a:rPr sz="2400" spc="-45"/>
              <a:t>Classification:</a:t>
            </a:r>
            <a:r>
              <a:rPr sz="2400" spc="-260"/>
              <a:t> </a:t>
            </a:r>
            <a:r>
              <a:rPr sz="2400" spc="-150"/>
              <a:t>A</a:t>
            </a:r>
            <a:r>
              <a:rPr sz="2400" spc="-215"/>
              <a:t> </a:t>
            </a:r>
            <a:r>
              <a:rPr sz="2400" spc="-45"/>
              <a:t>core</a:t>
            </a:r>
            <a:r>
              <a:rPr sz="2400" spc="-254"/>
              <a:t> </a:t>
            </a:r>
            <a:r>
              <a:rPr sz="2400" spc="-35"/>
              <a:t>task</a:t>
            </a:r>
            <a:r>
              <a:rPr sz="2400" spc="-250"/>
              <a:t> </a:t>
            </a:r>
            <a:r>
              <a:rPr sz="2400"/>
              <a:t>in</a:t>
            </a:r>
            <a:r>
              <a:rPr sz="2400" spc="-225"/>
              <a:t> </a:t>
            </a:r>
            <a:r>
              <a:rPr sz="2400" spc="-40"/>
              <a:t>Computer</a:t>
            </a:r>
            <a:r>
              <a:rPr sz="2400" spc="-275"/>
              <a:t> </a:t>
            </a:r>
            <a:r>
              <a:rPr sz="2400" spc="-10"/>
              <a:t>Vision</a:t>
            </a:r>
            <a:endParaRPr sz="2400"/>
          </a:p>
        </p:txBody>
      </p:sp>
      <p:sp>
        <p:nvSpPr>
          <p:cNvPr id="3" name="object 3"/>
          <p:cNvSpPr/>
          <p:nvPr/>
        </p:nvSpPr>
        <p:spPr>
          <a:xfrm>
            <a:off x="3695700" y="2466975"/>
            <a:ext cx="1356995" cy="76200"/>
          </a:xfrm>
          <a:custGeom>
            <a:avLst/>
            <a:gdLst/>
            <a:ahLst/>
            <a:cxnLst/>
            <a:rect l="l" t="t" r="r" b="b"/>
            <a:pathLst>
              <a:path w="1356995" h="76200">
                <a:moveTo>
                  <a:pt x="1280414" y="0"/>
                </a:moveTo>
                <a:lnTo>
                  <a:pt x="1280414" y="76200"/>
                </a:lnTo>
                <a:lnTo>
                  <a:pt x="1337564" y="47625"/>
                </a:lnTo>
                <a:lnTo>
                  <a:pt x="1293114" y="47625"/>
                </a:lnTo>
                <a:lnTo>
                  <a:pt x="1293114" y="28575"/>
                </a:lnTo>
                <a:lnTo>
                  <a:pt x="1337564" y="28575"/>
                </a:lnTo>
                <a:lnTo>
                  <a:pt x="1280414" y="0"/>
                </a:lnTo>
                <a:close/>
              </a:path>
              <a:path w="1356995" h="76200">
                <a:moveTo>
                  <a:pt x="1280414" y="28575"/>
                </a:moveTo>
                <a:lnTo>
                  <a:pt x="0" y="28575"/>
                </a:lnTo>
                <a:lnTo>
                  <a:pt x="0" y="47625"/>
                </a:lnTo>
                <a:lnTo>
                  <a:pt x="1280414" y="47625"/>
                </a:lnTo>
                <a:lnTo>
                  <a:pt x="1280414" y="28575"/>
                </a:lnTo>
                <a:close/>
              </a:path>
              <a:path w="1356995" h="76200">
                <a:moveTo>
                  <a:pt x="1337564" y="28575"/>
                </a:moveTo>
                <a:lnTo>
                  <a:pt x="1293114" y="28575"/>
                </a:lnTo>
                <a:lnTo>
                  <a:pt x="1293114" y="47625"/>
                </a:lnTo>
                <a:lnTo>
                  <a:pt x="1337564" y="47625"/>
                </a:lnTo>
                <a:lnTo>
                  <a:pt x="1356614" y="38100"/>
                </a:lnTo>
                <a:lnTo>
                  <a:pt x="1337564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780790" y="1161161"/>
            <a:ext cx="3646170" cy="1530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130"/>
              </a:lnSpc>
              <a:spcBef>
                <a:spcPts val="105"/>
              </a:spcBef>
            </a:pPr>
            <a:r>
              <a:rPr sz="1800" spc="-75">
                <a:latin typeface="Tahoma"/>
                <a:cs typeface="Tahoma"/>
              </a:rPr>
              <a:t>(assume</a:t>
            </a:r>
            <a:r>
              <a:rPr sz="1800" spc="-160">
                <a:latin typeface="Tahoma"/>
                <a:cs typeface="Tahoma"/>
              </a:rPr>
              <a:t> </a:t>
            </a:r>
            <a:r>
              <a:rPr sz="1800" spc="-55">
                <a:latin typeface="Tahoma"/>
                <a:cs typeface="Tahoma"/>
              </a:rPr>
              <a:t>given</a:t>
            </a:r>
            <a:r>
              <a:rPr sz="1800" spc="-170">
                <a:latin typeface="Tahoma"/>
                <a:cs typeface="Tahoma"/>
              </a:rPr>
              <a:t> </a:t>
            </a:r>
            <a:r>
              <a:rPr sz="1800" spc="-55">
                <a:latin typeface="Tahoma"/>
                <a:cs typeface="Tahoma"/>
              </a:rPr>
              <a:t>a</a:t>
            </a:r>
            <a:r>
              <a:rPr sz="1800" spc="-170">
                <a:latin typeface="Tahoma"/>
                <a:cs typeface="Tahoma"/>
              </a:rPr>
              <a:t> </a:t>
            </a:r>
            <a:r>
              <a:rPr sz="1800" spc="-40">
                <a:latin typeface="Tahoma"/>
                <a:cs typeface="Tahoma"/>
              </a:rPr>
              <a:t>set</a:t>
            </a:r>
            <a:r>
              <a:rPr sz="1800" spc="-165">
                <a:latin typeface="Tahoma"/>
                <a:cs typeface="Tahoma"/>
              </a:rPr>
              <a:t> </a:t>
            </a:r>
            <a:r>
              <a:rPr sz="1800" spc="-30">
                <a:latin typeface="Tahoma"/>
                <a:cs typeface="Tahoma"/>
              </a:rPr>
              <a:t>of</a:t>
            </a:r>
            <a:r>
              <a:rPr sz="1800" spc="-165">
                <a:latin typeface="Tahoma"/>
                <a:cs typeface="Tahoma"/>
              </a:rPr>
              <a:t> </a:t>
            </a:r>
            <a:r>
              <a:rPr sz="1800" spc="-30">
                <a:latin typeface="Tahoma"/>
                <a:cs typeface="Tahoma"/>
              </a:rPr>
              <a:t>possible</a:t>
            </a:r>
            <a:r>
              <a:rPr sz="1800" spc="-155">
                <a:latin typeface="Tahoma"/>
                <a:cs typeface="Tahoma"/>
              </a:rPr>
              <a:t> </a:t>
            </a:r>
            <a:r>
              <a:rPr sz="1800" spc="-10">
                <a:latin typeface="Tahoma"/>
                <a:cs typeface="Tahoma"/>
              </a:rPr>
              <a:t>labels)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ts val="2130"/>
              </a:lnSpc>
            </a:pPr>
            <a:r>
              <a:rPr sz="1800" spc="-110">
                <a:latin typeface="Tahoma"/>
                <a:cs typeface="Tahoma"/>
              </a:rPr>
              <a:t>{dog,</a:t>
            </a:r>
            <a:r>
              <a:rPr sz="1800" spc="-160">
                <a:latin typeface="Tahoma"/>
                <a:cs typeface="Tahoma"/>
              </a:rPr>
              <a:t> </a:t>
            </a:r>
            <a:r>
              <a:rPr sz="1800" spc="-50">
                <a:latin typeface="Tahoma"/>
                <a:cs typeface="Tahoma"/>
              </a:rPr>
              <a:t>cat,</a:t>
            </a:r>
            <a:r>
              <a:rPr sz="1800" spc="-155">
                <a:latin typeface="Tahoma"/>
                <a:cs typeface="Tahoma"/>
              </a:rPr>
              <a:t> </a:t>
            </a:r>
            <a:r>
              <a:rPr sz="1800" spc="-40">
                <a:latin typeface="Tahoma"/>
                <a:cs typeface="Tahoma"/>
              </a:rPr>
              <a:t>truck,</a:t>
            </a:r>
            <a:r>
              <a:rPr sz="1800" spc="-160">
                <a:latin typeface="Tahoma"/>
                <a:cs typeface="Tahoma"/>
              </a:rPr>
              <a:t> </a:t>
            </a:r>
            <a:r>
              <a:rPr sz="1800" spc="-35">
                <a:latin typeface="Tahoma"/>
                <a:cs typeface="Tahoma"/>
              </a:rPr>
              <a:t>plane,</a:t>
            </a:r>
            <a:r>
              <a:rPr sz="1800" spc="-155">
                <a:latin typeface="Tahoma"/>
                <a:cs typeface="Tahoma"/>
              </a:rPr>
              <a:t> </a:t>
            </a:r>
            <a:r>
              <a:rPr sz="1800" spc="-20">
                <a:latin typeface="Tahoma"/>
                <a:cs typeface="Tahoma"/>
              </a:rPr>
              <a:t>...}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50"/>
              </a:spcBef>
            </a:pPr>
            <a:endParaRPr sz="1800">
              <a:latin typeface="Tahoma"/>
              <a:cs typeface="Tahoma"/>
            </a:endParaRPr>
          </a:p>
          <a:p>
            <a:pPr marL="571500" algn="ctr">
              <a:lnSpc>
                <a:spcPct val="100000"/>
              </a:lnSpc>
              <a:spcBef>
                <a:spcPts val="5"/>
              </a:spcBef>
            </a:pPr>
            <a:r>
              <a:rPr sz="2400" spc="-25">
                <a:latin typeface="Tahoma"/>
                <a:cs typeface="Tahoma"/>
              </a:rPr>
              <a:t>cat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42008" y="3798887"/>
            <a:ext cx="813435" cy="203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700"/>
              </a:lnSpc>
              <a:spcBef>
                <a:spcPts val="100"/>
              </a:spcBef>
            </a:pPr>
            <a:r>
              <a:rPr sz="600" u="sng" spc="-1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2"/>
              </a:rPr>
              <a:t>This</a:t>
            </a:r>
            <a:r>
              <a:rPr sz="600" u="sng" spc="-5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2"/>
              </a:rPr>
              <a:t> </a:t>
            </a:r>
            <a:r>
              <a:rPr sz="600" u="sng" spc="-3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2"/>
              </a:rPr>
              <a:t>image</a:t>
            </a:r>
            <a:r>
              <a:rPr sz="600" spc="-10">
                <a:solidFill>
                  <a:srgbClr val="0096A7"/>
                </a:solidFill>
                <a:latin typeface="Tahoma"/>
                <a:cs typeface="Tahoma"/>
              </a:rPr>
              <a:t> </a:t>
            </a:r>
            <a:r>
              <a:rPr sz="600">
                <a:solidFill>
                  <a:srgbClr val="999999"/>
                </a:solidFill>
                <a:latin typeface="Tahoma"/>
                <a:cs typeface="Tahoma"/>
              </a:rPr>
              <a:t>by</a:t>
            </a:r>
            <a:r>
              <a:rPr sz="600" spc="-95">
                <a:solidFill>
                  <a:srgbClr val="999999"/>
                </a:solidFill>
                <a:latin typeface="Tahoma"/>
                <a:cs typeface="Tahoma"/>
              </a:rPr>
              <a:t> </a:t>
            </a:r>
            <a:r>
              <a:rPr sz="600" u="sng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3"/>
              </a:rPr>
              <a:t>Nikita</a:t>
            </a:r>
            <a:r>
              <a:rPr sz="600" spc="-65">
                <a:solidFill>
                  <a:srgbClr val="0096A7"/>
                </a:solidFill>
                <a:latin typeface="Tahoma"/>
                <a:cs typeface="Tahoma"/>
              </a:rPr>
              <a:t> </a:t>
            </a:r>
            <a:r>
              <a:rPr sz="600" spc="-25">
                <a:solidFill>
                  <a:srgbClr val="999999"/>
                </a:solidFill>
                <a:latin typeface="Tahoma"/>
                <a:cs typeface="Tahoma"/>
              </a:rPr>
              <a:t>is</a:t>
            </a:r>
            <a:endParaRPr sz="600">
              <a:latin typeface="Tahoma"/>
              <a:cs typeface="Tahoma"/>
            </a:endParaRPr>
          </a:p>
          <a:p>
            <a:pPr marL="12700">
              <a:lnSpc>
                <a:spcPts val="700"/>
              </a:lnSpc>
            </a:pPr>
            <a:r>
              <a:rPr sz="600" spc="-10">
                <a:solidFill>
                  <a:srgbClr val="999999"/>
                </a:solidFill>
                <a:latin typeface="Tahoma"/>
                <a:cs typeface="Tahoma"/>
              </a:rPr>
              <a:t>licensed</a:t>
            </a:r>
            <a:r>
              <a:rPr sz="600" spc="30">
                <a:solidFill>
                  <a:srgbClr val="999999"/>
                </a:solidFill>
                <a:latin typeface="Tahoma"/>
                <a:cs typeface="Tahoma"/>
              </a:rPr>
              <a:t> </a:t>
            </a:r>
            <a:r>
              <a:rPr sz="600" spc="-20">
                <a:solidFill>
                  <a:srgbClr val="999999"/>
                </a:solidFill>
                <a:latin typeface="Tahoma"/>
                <a:cs typeface="Tahoma"/>
              </a:rPr>
              <a:t>under</a:t>
            </a:r>
            <a:r>
              <a:rPr sz="600" spc="-95">
                <a:solidFill>
                  <a:srgbClr val="999999"/>
                </a:solidFill>
                <a:latin typeface="Tahoma"/>
                <a:cs typeface="Tahoma"/>
              </a:rPr>
              <a:t> </a:t>
            </a:r>
            <a:r>
              <a:rPr sz="600" u="sng" spc="-16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</a:rPr>
              <a:t> </a:t>
            </a:r>
            <a:r>
              <a:rPr sz="600" u="sng" spc="-35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CC-</a:t>
            </a:r>
            <a:r>
              <a:rPr sz="600" u="sng" spc="-3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BY</a:t>
            </a:r>
            <a:r>
              <a:rPr sz="600" u="sng" spc="-85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 </a:t>
            </a:r>
            <a:r>
              <a:rPr sz="600" u="sng" spc="-25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2.0</a:t>
            </a:r>
            <a:endParaRPr sz="60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19150" y="981075"/>
            <a:ext cx="2019300" cy="2809875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/>
              <a:t>Stanford</a:t>
            </a:r>
            <a:r>
              <a:rPr spc="-195"/>
              <a:t> </a:t>
            </a:r>
            <a:r>
              <a:rPr spc="-85"/>
              <a:t>CS231n</a:t>
            </a:r>
            <a:r>
              <a:rPr spc="-180"/>
              <a:t> </a:t>
            </a:r>
            <a:r>
              <a:rPr spc="-35"/>
              <a:t>10</a:t>
            </a:r>
            <a:r>
              <a:rPr sz="1800" spc="-52" baseline="25462"/>
              <a:t>th</a:t>
            </a:r>
            <a:r>
              <a:rPr sz="1800" spc="44" baseline="25462"/>
              <a:t> </a:t>
            </a:r>
            <a:r>
              <a:rPr sz="1800" spc="-30"/>
              <a:t>Anniversary</a:t>
            </a:r>
            <a:endParaRPr sz="1800"/>
          </a:p>
        </p:txBody>
      </p:sp>
      <p:sp>
        <p:nvSpPr>
          <p:cNvPr id="8" name="object 8"/>
          <p:cNvSpPr txBox="1"/>
          <p:nvPr/>
        </p:nvSpPr>
        <p:spPr>
          <a:xfrm>
            <a:off x="5328920" y="4802992"/>
            <a:ext cx="1026794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35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8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800" spc="-20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89065" y="4802992"/>
            <a:ext cx="279400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z="1800" spc="-70" dirty="0">
                <a:solidFill>
                  <a:srgbClr val="FFFFFF"/>
                </a:solidFill>
                <a:latin typeface="Tahoma"/>
                <a:cs typeface="Tahoma"/>
              </a:rPr>
              <a:t>48</a:t>
            </a:fld>
            <a:endParaRPr sz="1800">
              <a:latin typeface="Tahoma"/>
              <a:cs typeface="Tahom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/>
              <a:t>April</a:t>
            </a:r>
            <a:r>
              <a:rPr spc="-229"/>
              <a:t> </a:t>
            </a:r>
            <a:r>
              <a:rPr spc="-105"/>
              <a:t>3,</a:t>
            </a:r>
            <a:r>
              <a:rPr spc="-170"/>
              <a:t> </a:t>
            </a:r>
            <a:r>
              <a:rPr spc="-75"/>
              <a:t>2025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53438" y="3890530"/>
            <a:ext cx="342900" cy="9525"/>
          </a:xfrm>
          <a:custGeom>
            <a:avLst/>
            <a:gdLst/>
            <a:ahLst/>
            <a:cxnLst/>
            <a:rect l="l" t="t" r="r" b="b"/>
            <a:pathLst>
              <a:path w="342900" h="9525">
                <a:moveTo>
                  <a:pt x="342900" y="0"/>
                </a:moveTo>
                <a:lnTo>
                  <a:pt x="0" y="0"/>
                </a:lnTo>
                <a:lnTo>
                  <a:pt x="0" y="9524"/>
                </a:lnTo>
                <a:lnTo>
                  <a:pt x="342900" y="9524"/>
                </a:lnTo>
                <a:lnTo>
                  <a:pt x="342900" y="0"/>
                </a:lnTo>
                <a:close/>
              </a:path>
            </a:pathLst>
          </a:custGeom>
          <a:solidFill>
            <a:srgbClr val="0096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810639" y="3890530"/>
            <a:ext cx="190500" cy="9525"/>
          </a:xfrm>
          <a:custGeom>
            <a:avLst/>
            <a:gdLst/>
            <a:ahLst/>
            <a:cxnLst/>
            <a:rect l="l" t="t" r="r" b="b"/>
            <a:pathLst>
              <a:path w="190500" h="9525">
                <a:moveTo>
                  <a:pt x="190500" y="0"/>
                </a:moveTo>
                <a:lnTo>
                  <a:pt x="0" y="0"/>
                </a:lnTo>
                <a:lnTo>
                  <a:pt x="0" y="9524"/>
                </a:lnTo>
                <a:lnTo>
                  <a:pt x="190500" y="9524"/>
                </a:lnTo>
                <a:lnTo>
                  <a:pt x="190500" y="0"/>
                </a:lnTo>
                <a:close/>
              </a:path>
            </a:pathLst>
          </a:custGeom>
          <a:solidFill>
            <a:srgbClr val="0096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42008" y="3798887"/>
            <a:ext cx="813435" cy="203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700"/>
              </a:lnSpc>
              <a:spcBef>
                <a:spcPts val="100"/>
              </a:spcBef>
            </a:pPr>
            <a:r>
              <a:rPr sz="600" spc="-10">
                <a:solidFill>
                  <a:srgbClr val="0096A7"/>
                </a:solidFill>
                <a:latin typeface="Tahoma"/>
                <a:cs typeface="Tahoma"/>
                <a:hlinkClick r:id="rId2"/>
              </a:rPr>
              <a:t>This</a:t>
            </a:r>
            <a:r>
              <a:rPr sz="600" spc="-50">
                <a:solidFill>
                  <a:srgbClr val="0096A7"/>
                </a:solidFill>
                <a:latin typeface="Tahoma"/>
                <a:cs typeface="Tahoma"/>
                <a:hlinkClick r:id="rId2"/>
              </a:rPr>
              <a:t> </a:t>
            </a:r>
            <a:r>
              <a:rPr sz="600" spc="-30">
                <a:solidFill>
                  <a:srgbClr val="0096A7"/>
                </a:solidFill>
                <a:latin typeface="Tahoma"/>
                <a:cs typeface="Tahoma"/>
                <a:hlinkClick r:id="rId2"/>
              </a:rPr>
              <a:t>image</a:t>
            </a:r>
            <a:r>
              <a:rPr sz="600" spc="-10">
                <a:solidFill>
                  <a:srgbClr val="0096A7"/>
                </a:solidFill>
                <a:latin typeface="Tahoma"/>
                <a:cs typeface="Tahoma"/>
              </a:rPr>
              <a:t> </a:t>
            </a:r>
            <a:r>
              <a:rPr sz="600">
                <a:solidFill>
                  <a:srgbClr val="999999"/>
                </a:solidFill>
                <a:latin typeface="Tahoma"/>
                <a:cs typeface="Tahoma"/>
              </a:rPr>
              <a:t>by</a:t>
            </a:r>
            <a:r>
              <a:rPr sz="600" spc="-95">
                <a:solidFill>
                  <a:srgbClr val="999999"/>
                </a:solidFill>
                <a:latin typeface="Tahoma"/>
                <a:cs typeface="Tahoma"/>
              </a:rPr>
              <a:t> </a:t>
            </a:r>
            <a:r>
              <a:rPr sz="600">
                <a:solidFill>
                  <a:srgbClr val="0096A7"/>
                </a:solidFill>
                <a:latin typeface="Tahoma"/>
                <a:cs typeface="Tahoma"/>
                <a:hlinkClick r:id="rId3"/>
              </a:rPr>
              <a:t>Nikita</a:t>
            </a:r>
            <a:r>
              <a:rPr sz="600" spc="-65">
                <a:solidFill>
                  <a:srgbClr val="0096A7"/>
                </a:solidFill>
                <a:latin typeface="Tahoma"/>
                <a:cs typeface="Tahoma"/>
              </a:rPr>
              <a:t> </a:t>
            </a:r>
            <a:r>
              <a:rPr sz="600" spc="-25">
                <a:solidFill>
                  <a:srgbClr val="999999"/>
                </a:solidFill>
                <a:latin typeface="Tahoma"/>
                <a:cs typeface="Tahoma"/>
              </a:rPr>
              <a:t>is</a:t>
            </a:r>
            <a:endParaRPr sz="600">
              <a:latin typeface="Tahoma"/>
              <a:cs typeface="Tahoma"/>
            </a:endParaRPr>
          </a:p>
          <a:p>
            <a:pPr marL="12700">
              <a:lnSpc>
                <a:spcPts val="700"/>
              </a:lnSpc>
            </a:pPr>
            <a:r>
              <a:rPr sz="600" spc="-10">
                <a:solidFill>
                  <a:srgbClr val="999999"/>
                </a:solidFill>
                <a:latin typeface="Tahoma"/>
                <a:cs typeface="Tahoma"/>
              </a:rPr>
              <a:t>licensed</a:t>
            </a:r>
            <a:r>
              <a:rPr sz="600" spc="30">
                <a:solidFill>
                  <a:srgbClr val="999999"/>
                </a:solidFill>
                <a:latin typeface="Tahoma"/>
                <a:cs typeface="Tahoma"/>
              </a:rPr>
              <a:t> </a:t>
            </a:r>
            <a:r>
              <a:rPr sz="600" spc="-20">
                <a:solidFill>
                  <a:srgbClr val="999999"/>
                </a:solidFill>
                <a:latin typeface="Tahoma"/>
                <a:cs typeface="Tahoma"/>
              </a:rPr>
              <a:t>under</a:t>
            </a:r>
            <a:r>
              <a:rPr sz="600" spc="-95">
                <a:solidFill>
                  <a:srgbClr val="999999"/>
                </a:solidFill>
                <a:latin typeface="Tahoma"/>
                <a:cs typeface="Tahoma"/>
              </a:rPr>
              <a:t> </a:t>
            </a:r>
            <a:r>
              <a:rPr sz="600" u="sng" spc="-16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</a:rPr>
              <a:t> </a:t>
            </a:r>
            <a:r>
              <a:rPr sz="600" u="sng" spc="-35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CC-</a:t>
            </a:r>
            <a:r>
              <a:rPr sz="600" u="sng" spc="-3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BY</a:t>
            </a:r>
            <a:r>
              <a:rPr sz="600" u="sng" spc="-85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 </a:t>
            </a:r>
            <a:r>
              <a:rPr sz="600" u="sng" spc="-25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2.0</a:t>
            </a:r>
            <a:endParaRPr sz="6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19150" y="981075"/>
            <a:ext cx="2019300" cy="280987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80"/>
              <a:t>The</a:t>
            </a:r>
            <a:r>
              <a:rPr sz="2400" spc="-240"/>
              <a:t> </a:t>
            </a:r>
            <a:r>
              <a:rPr sz="2400" spc="-50"/>
              <a:t>Problem:</a:t>
            </a:r>
            <a:r>
              <a:rPr sz="2400" spc="-245"/>
              <a:t> </a:t>
            </a:r>
            <a:r>
              <a:rPr sz="2400" spc="-40"/>
              <a:t>Semantic</a:t>
            </a:r>
            <a:r>
              <a:rPr sz="2400" spc="-220"/>
              <a:t> </a:t>
            </a:r>
            <a:r>
              <a:rPr sz="2400" spc="-25"/>
              <a:t>Gap</a:t>
            </a:r>
            <a:endParaRPr sz="2400"/>
          </a:p>
        </p:txBody>
      </p:sp>
      <p:sp>
        <p:nvSpPr>
          <p:cNvPr id="7" name="object 7"/>
          <p:cNvSpPr/>
          <p:nvPr/>
        </p:nvSpPr>
        <p:spPr>
          <a:xfrm>
            <a:off x="2000250" y="2190750"/>
            <a:ext cx="400050" cy="390525"/>
          </a:xfrm>
          <a:custGeom>
            <a:avLst/>
            <a:gdLst/>
            <a:ahLst/>
            <a:cxnLst/>
            <a:rect l="l" t="t" r="r" b="b"/>
            <a:pathLst>
              <a:path w="400050" h="390525">
                <a:moveTo>
                  <a:pt x="0" y="390525"/>
                </a:moveTo>
                <a:lnTo>
                  <a:pt x="400050" y="390525"/>
                </a:lnTo>
                <a:lnTo>
                  <a:pt x="400050" y="0"/>
                </a:lnTo>
                <a:lnTo>
                  <a:pt x="0" y="0"/>
                </a:lnTo>
                <a:lnTo>
                  <a:pt x="0" y="390525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2381250" y="371475"/>
            <a:ext cx="5191125" cy="2237740"/>
            <a:chOff x="2381250" y="371475"/>
            <a:chExt cx="5191125" cy="2237740"/>
          </a:xfrm>
        </p:grpSpPr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10150" y="390525"/>
              <a:ext cx="2543175" cy="183832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390775" y="381000"/>
              <a:ext cx="5172075" cy="2218690"/>
            </a:xfrm>
            <a:custGeom>
              <a:avLst/>
              <a:gdLst/>
              <a:ahLst/>
              <a:cxnLst/>
              <a:rect l="l" t="t" r="r" b="b"/>
              <a:pathLst>
                <a:path w="5172075" h="2218690">
                  <a:moveTo>
                    <a:pt x="2609850" y="1866900"/>
                  </a:moveTo>
                  <a:lnTo>
                    <a:pt x="5172075" y="1866900"/>
                  </a:lnTo>
                  <a:lnTo>
                    <a:pt x="5172075" y="0"/>
                  </a:lnTo>
                  <a:lnTo>
                    <a:pt x="2609850" y="0"/>
                  </a:lnTo>
                  <a:lnTo>
                    <a:pt x="2609850" y="1866900"/>
                  </a:lnTo>
                  <a:close/>
                </a:path>
                <a:path w="5172075" h="2218690">
                  <a:moveTo>
                    <a:pt x="0" y="1819529"/>
                  </a:moveTo>
                  <a:lnTo>
                    <a:pt x="2607945" y="0"/>
                  </a:lnTo>
                </a:path>
                <a:path w="5172075" h="2218690">
                  <a:moveTo>
                    <a:pt x="9525" y="2218182"/>
                  </a:moveTo>
                  <a:lnTo>
                    <a:pt x="2604262" y="1876425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308475" y="2349245"/>
            <a:ext cx="3142615" cy="1139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24230">
              <a:lnSpc>
                <a:spcPct val="100000"/>
              </a:lnSpc>
              <a:spcBef>
                <a:spcPts val="105"/>
              </a:spcBef>
            </a:pPr>
            <a:r>
              <a:rPr sz="1800" spc="-80">
                <a:latin typeface="Tahoma"/>
                <a:cs typeface="Tahoma"/>
              </a:rPr>
              <a:t>What</a:t>
            </a:r>
            <a:r>
              <a:rPr sz="1800" spc="-165">
                <a:latin typeface="Tahoma"/>
                <a:cs typeface="Tahoma"/>
              </a:rPr>
              <a:t> </a:t>
            </a:r>
            <a:r>
              <a:rPr sz="1800" spc="-40">
                <a:latin typeface="Tahoma"/>
                <a:cs typeface="Tahoma"/>
              </a:rPr>
              <a:t>the</a:t>
            </a:r>
            <a:r>
              <a:rPr sz="1800" spc="-155">
                <a:latin typeface="Tahoma"/>
                <a:cs typeface="Tahoma"/>
              </a:rPr>
              <a:t> </a:t>
            </a:r>
            <a:r>
              <a:rPr sz="1800" spc="-30">
                <a:latin typeface="Tahoma"/>
                <a:cs typeface="Tahoma"/>
              </a:rPr>
              <a:t>computer</a:t>
            </a:r>
            <a:r>
              <a:rPr sz="1800" spc="-180">
                <a:latin typeface="Tahoma"/>
                <a:cs typeface="Tahoma"/>
              </a:rPr>
              <a:t> </a:t>
            </a:r>
            <a:r>
              <a:rPr sz="1800" spc="-20">
                <a:latin typeface="Tahoma"/>
                <a:cs typeface="Tahoma"/>
              </a:rPr>
              <a:t>sees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85"/>
              </a:spcBef>
            </a:pPr>
            <a:endParaRPr sz="1800">
              <a:latin typeface="Tahoma"/>
              <a:cs typeface="Tahoma"/>
            </a:endParaRPr>
          </a:p>
          <a:p>
            <a:pPr marL="12700" marR="161925">
              <a:lnSpc>
                <a:spcPts val="2100"/>
              </a:lnSpc>
            </a:pPr>
            <a:r>
              <a:rPr sz="1800" spc="-70">
                <a:solidFill>
                  <a:srgbClr val="0000FF"/>
                </a:solidFill>
                <a:latin typeface="Tahoma"/>
                <a:cs typeface="Tahoma"/>
              </a:rPr>
              <a:t>An</a:t>
            </a:r>
            <a:r>
              <a:rPr sz="1800" spc="-19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800" spc="-50">
                <a:solidFill>
                  <a:srgbClr val="0000FF"/>
                </a:solidFill>
                <a:latin typeface="Tahoma"/>
                <a:cs typeface="Tahoma"/>
              </a:rPr>
              <a:t>image</a:t>
            </a:r>
            <a:r>
              <a:rPr sz="1800" spc="-17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800" spc="-10">
                <a:solidFill>
                  <a:srgbClr val="0000FF"/>
                </a:solidFill>
                <a:latin typeface="Tahoma"/>
                <a:cs typeface="Tahoma"/>
              </a:rPr>
              <a:t>is</a:t>
            </a:r>
            <a:r>
              <a:rPr sz="1800" spc="-25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800" spc="-55">
                <a:solidFill>
                  <a:srgbClr val="0000FF"/>
                </a:solidFill>
                <a:latin typeface="Tahoma"/>
                <a:cs typeface="Tahoma"/>
              </a:rPr>
              <a:t>a</a:t>
            </a:r>
            <a:r>
              <a:rPr sz="1800" spc="-185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800" spc="-25">
                <a:solidFill>
                  <a:srgbClr val="0000FF"/>
                </a:solidFill>
                <a:latin typeface="Tahoma"/>
                <a:cs typeface="Tahoma"/>
              </a:rPr>
              <a:t>tensor</a:t>
            </a:r>
            <a:r>
              <a:rPr sz="1800" spc="-195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800" spc="-40">
                <a:solidFill>
                  <a:srgbClr val="0000FF"/>
                </a:solidFill>
                <a:latin typeface="Tahoma"/>
                <a:cs typeface="Tahoma"/>
              </a:rPr>
              <a:t>of</a:t>
            </a:r>
            <a:r>
              <a:rPr sz="1800" spc="-175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800" spc="-30">
                <a:solidFill>
                  <a:srgbClr val="0000FF"/>
                </a:solidFill>
                <a:latin typeface="Tahoma"/>
                <a:cs typeface="Tahoma"/>
              </a:rPr>
              <a:t>integers </a:t>
            </a:r>
            <a:r>
              <a:rPr sz="1800" spc="-50">
                <a:solidFill>
                  <a:srgbClr val="0000FF"/>
                </a:solidFill>
                <a:latin typeface="Tahoma"/>
                <a:cs typeface="Tahoma"/>
              </a:rPr>
              <a:t>between</a:t>
            </a:r>
            <a:r>
              <a:rPr sz="1800" spc="-17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800" spc="-105">
                <a:solidFill>
                  <a:srgbClr val="0000FF"/>
                </a:solidFill>
                <a:latin typeface="Tahoma"/>
                <a:cs typeface="Tahoma"/>
              </a:rPr>
              <a:t>[0,</a:t>
            </a:r>
            <a:r>
              <a:rPr sz="1800" spc="-229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800" spc="-20">
                <a:solidFill>
                  <a:srgbClr val="0000FF"/>
                </a:solidFill>
                <a:latin typeface="Tahoma"/>
                <a:cs typeface="Tahoma"/>
              </a:rPr>
              <a:t>255]: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/>
              <a:t>Stanford</a:t>
            </a:r>
            <a:r>
              <a:rPr spc="-195"/>
              <a:t> </a:t>
            </a:r>
            <a:r>
              <a:rPr spc="-85"/>
              <a:t>CS231n</a:t>
            </a:r>
            <a:r>
              <a:rPr spc="-180"/>
              <a:t> </a:t>
            </a:r>
            <a:r>
              <a:rPr spc="-35"/>
              <a:t>10</a:t>
            </a:r>
            <a:r>
              <a:rPr sz="1800" spc="-52" baseline="25462"/>
              <a:t>th</a:t>
            </a:r>
            <a:r>
              <a:rPr sz="1800" spc="44" baseline="25462"/>
              <a:t> </a:t>
            </a:r>
            <a:r>
              <a:rPr sz="1800" spc="-30"/>
              <a:t>Anniversary</a:t>
            </a:r>
            <a:endParaRPr sz="1800"/>
          </a:p>
        </p:txBody>
      </p:sp>
      <p:sp>
        <p:nvSpPr>
          <p:cNvPr id="14" name="object 14"/>
          <p:cNvSpPr txBox="1"/>
          <p:nvPr/>
        </p:nvSpPr>
        <p:spPr>
          <a:xfrm>
            <a:off x="5328920" y="4802992"/>
            <a:ext cx="1026794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35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8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800" spc="-20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489065" y="4802992"/>
            <a:ext cx="279400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z="1800" spc="-70" dirty="0">
                <a:solidFill>
                  <a:srgbClr val="FFFFFF"/>
                </a:solidFill>
                <a:latin typeface="Tahoma"/>
                <a:cs typeface="Tahoma"/>
              </a:rPr>
              <a:t>49</a:t>
            </a:fld>
            <a:endParaRPr sz="1800">
              <a:latin typeface="Tahoma"/>
              <a:cs typeface="Tahoma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/>
              <a:t>April</a:t>
            </a:r>
            <a:r>
              <a:rPr spc="-229"/>
              <a:t> </a:t>
            </a:r>
            <a:r>
              <a:rPr spc="-105"/>
              <a:t>3,</a:t>
            </a:r>
            <a:r>
              <a:rPr spc="-170"/>
              <a:t> </a:t>
            </a:r>
            <a:r>
              <a:rPr spc="-75"/>
              <a:t>2025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308475" y="3741102"/>
            <a:ext cx="1637030" cy="577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spc="-100">
                <a:solidFill>
                  <a:srgbClr val="0000FF"/>
                </a:solidFill>
                <a:latin typeface="Tahoma"/>
                <a:cs typeface="Tahoma"/>
              </a:rPr>
              <a:t>e.g.</a:t>
            </a:r>
            <a:r>
              <a:rPr sz="1800" spc="-18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800" spc="-105">
                <a:solidFill>
                  <a:srgbClr val="0000FF"/>
                </a:solidFill>
                <a:latin typeface="Tahoma"/>
                <a:cs typeface="Tahoma"/>
              </a:rPr>
              <a:t>800</a:t>
            </a:r>
            <a:r>
              <a:rPr sz="1800" spc="-175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800" spc="-95">
                <a:solidFill>
                  <a:srgbClr val="0000FF"/>
                </a:solidFill>
                <a:latin typeface="Tahoma"/>
                <a:cs typeface="Tahoma"/>
              </a:rPr>
              <a:t>x</a:t>
            </a:r>
            <a:r>
              <a:rPr sz="1800" spc="-229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800" spc="-105">
                <a:solidFill>
                  <a:srgbClr val="0000FF"/>
                </a:solidFill>
                <a:latin typeface="Tahoma"/>
                <a:cs typeface="Tahoma"/>
              </a:rPr>
              <a:t>600</a:t>
            </a:r>
            <a:r>
              <a:rPr sz="1800" spc="-17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800" spc="-95">
                <a:solidFill>
                  <a:srgbClr val="0000FF"/>
                </a:solidFill>
                <a:latin typeface="Tahoma"/>
                <a:cs typeface="Tahoma"/>
              </a:rPr>
              <a:t>x</a:t>
            </a:r>
            <a:r>
              <a:rPr sz="1800" spc="-16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800" spc="-50">
                <a:solidFill>
                  <a:srgbClr val="0000FF"/>
                </a:solidFill>
                <a:latin typeface="Tahoma"/>
                <a:cs typeface="Tahoma"/>
              </a:rPr>
              <a:t>3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800" spc="-140">
                <a:solidFill>
                  <a:srgbClr val="0000FF"/>
                </a:solidFill>
                <a:latin typeface="Tahoma"/>
                <a:cs typeface="Tahoma"/>
              </a:rPr>
              <a:t>(3</a:t>
            </a:r>
            <a:r>
              <a:rPr sz="1800" spc="-15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800" spc="-30">
                <a:solidFill>
                  <a:srgbClr val="0000FF"/>
                </a:solidFill>
                <a:latin typeface="Tahoma"/>
                <a:cs typeface="Tahoma"/>
              </a:rPr>
              <a:t>channels</a:t>
            </a:r>
            <a:r>
              <a:rPr sz="1800" spc="-15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800" spc="-70">
                <a:solidFill>
                  <a:srgbClr val="0000FF"/>
                </a:solidFill>
                <a:latin typeface="Tahoma"/>
                <a:cs typeface="Tahoma"/>
              </a:rPr>
              <a:t>RGB)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933700" y="1066800"/>
            <a:ext cx="3752850" cy="2038350"/>
            <a:chOff x="2933700" y="1066800"/>
            <a:chExt cx="3752850" cy="20383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33700" y="1066800"/>
              <a:ext cx="1466850" cy="203835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781425" y="1181100"/>
              <a:ext cx="1102360" cy="1308735"/>
            </a:xfrm>
            <a:custGeom>
              <a:avLst/>
              <a:gdLst/>
              <a:ahLst/>
              <a:cxnLst/>
              <a:rect l="l" t="t" r="r" b="b"/>
              <a:pathLst>
                <a:path w="1102360" h="1308735">
                  <a:moveTo>
                    <a:pt x="0" y="1162050"/>
                  </a:moveTo>
                  <a:lnTo>
                    <a:pt x="266700" y="1162050"/>
                  </a:lnTo>
                  <a:lnTo>
                    <a:pt x="266700" y="885825"/>
                  </a:lnTo>
                  <a:lnTo>
                    <a:pt x="0" y="885825"/>
                  </a:lnTo>
                  <a:lnTo>
                    <a:pt x="0" y="1162050"/>
                  </a:lnTo>
                  <a:close/>
                </a:path>
                <a:path w="1102360" h="1308735">
                  <a:moveTo>
                    <a:pt x="266700" y="894588"/>
                  </a:moveTo>
                  <a:lnTo>
                    <a:pt x="1101978" y="0"/>
                  </a:lnTo>
                </a:path>
                <a:path w="1102360" h="1308735">
                  <a:moveTo>
                    <a:pt x="266700" y="1171575"/>
                  </a:moveTo>
                  <a:lnTo>
                    <a:pt x="1101978" y="1308481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05375" y="1200150"/>
              <a:ext cx="1762125" cy="128587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895850" y="1190625"/>
              <a:ext cx="1781175" cy="1304925"/>
            </a:xfrm>
            <a:custGeom>
              <a:avLst/>
              <a:gdLst/>
              <a:ahLst/>
              <a:cxnLst/>
              <a:rect l="l" t="t" r="r" b="b"/>
              <a:pathLst>
                <a:path w="1781175" h="1304925">
                  <a:moveTo>
                    <a:pt x="0" y="1304925"/>
                  </a:moveTo>
                  <a:lnTo>
                    <a:pt x="1781175" y="1304925"/>
                  </a:lnTo>
                  <a:lnTo>
                    <a:pt x="1781175" y="0"/>
                  </a:lnTo>
                  <a:lnTo>
                    <a:pt x="0" y="0"/>
                  </a:lnTo>
                  <a:lnTo>
                    <a:pt x="0" y="1304925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70"/>
              <a:t>Challenges:</a:t>
            </a:r>
            <a:r>
              <a:rPr sz="2400" spc="-229"/>
              <a:t> </a:t>
            </a:r>
            <a:r>
              <a:rPr sz="2400" spc="-40"/>
              <a:t>Viewpoint</a:t>
            </a:r>
            <a:r>
              <a:rPr sz="2400" spc="-220"/>
              <a:t> </a:t>
            </a:r>
            <a:r>
              <a:rPr sz="2400" spc="-10"/>
              <a:t>variation</a:t>
            </a:r>
            <a:endParaRPr sz="2400"/>
          </a:p>
        </p:txBody>
      </p:sp>
      <p:sp>
        <p:nvSpPr>
          <p:cNvPr id="8" name="object 8"/>
          <p:cNvSpPr/>
          <p:nvPr/>
        </p:nvSpPr>
        <p:spPr>
          <a:xfrm>
            <a:off x="548563" y="1024231"/>
            <a:ext cx="922655" cy="714375"/>
          </a:xfrm>
          <a:custGeom>
            <a:avLst/>
            <a:gdLst/>
            <a:ahLst/>
            <a:cxnLst/>
            <a:rect l="l" t="t" r="r" b="b"/>
            <a:pathLst>
              <a:path w="922655" h="714375">
                <a:moveTo>
                  <a:pt x="66103" y="212748"/>
                </a:moveTo>
                <a:lnTo>
                  <a:pt x="742645" y="426362"/>
                </a:lnTo>
                <a:lnTo>
                  <a:pt x="676579" y="635658"/>
                </a:lnTo>
                <a:lnTo>
                  <a:pt x="0" y="422171"/>
                </a:lnTo>
                <a:lnTo>
                  <a:pt x="66103" y="212748"/>
                </a:lnTo>
                <a:close/>
              </a:path>
              <a:path w="922655" h="714375">
                <a:moveTo>
                  <a:pt x="841070" y="713763"/>
                </a:moveTo>
                <a:lnTo>
                  <a:pt x="709637" y="531010"/>
                </a:lnTo>
                <a:lnTo>
                  <a:pt x="922096" y="456842"/>
                </a:lnTo>
                <a:lnTo>
                  <a:pt x="841070" y="713763"/>
                </a:lnTo>
                <a:close/>
              </a:path>
              <a:path w="922655" h="714375">
                <a:moveTo>
                  <a:pt x="137972" y="94130"/>
                </a:moveTo>
                <a:lnTo>
                  <a:pt x="157336" y="55632"/>
                </a:lnTo>
                <a:lnTo>
                  <a:pt x="186701" y="26143"/>
                </a:lnTo>
                <a:lnTo>
                  <a:pt x="223285" y="7116"/>
                </a:lnTo>
                <a:lnTo>
                  <a:pt x="264303" y="0"/>
                </a:lnTo>
                <a:lnTo>
                  <a:pt x="306971" y="6246"/>
                </a:lnTo>
                <a:lnTo>
                  <a:pt x="345504" y="25642"/>
                </a:lnTo>
                <a:lnTo>
                  <a:pt x="375006" y="55012"/>
                </a:lnTo>
                <a:lnTo>
                  <a:pt x="394032" y="91587"/>
                </a:lnTo>
                <a:lnTo>
                  <a:pt x="401135" y="132600"/>
                </a:lnTo>
                <a:lnTo>
                  <a:pt x="394868" y="175283"/>
                </a:lnTo>
                <a:lnTo>
                  <a:pt x="375506" y="213830"/>
                </a:lnTo>
                <a:lnTo>
                  <a:pt x="346144" y="243324"/>
                </a:lnTo>
                <a:lnTo>
                  <a:pt x="309564" y="262334"/>
                </a:lnTo>
                <a:lnTo>
                  <a:pt x="268549" y="269425"/>
                </a:lnTo>
                <a:lnTo>
                  <a:pt x="225882" y="263167"/>
                </a:lnTo>
                <a:lnTo>
                  <a:pt x="187348" y="243819"/>
                </a:lnTo>
                <a:lnTo>
                  <a:pt x="157842" y="214456"/>
                </a:lnTo>
                <a:lnTo>
                  <a:pt x="138813" y="177862"/>
                </a:lnTo>
                <a:lnTo>
                  <a:pt x="131707" y="136825"/>
                </a:lnTo>
                <a:lnTo>
                  <a:pt x="137972" y="94130"/>
                </a:lnTo>
                <a:close/>
              </a:path>
              <a:path w="922655" h="714375">
                <a:moveTo>
                  <a:pt x="490016" y="205255"/>
                </a:moveTo>
                <a:lnTo>
                  <a:pt x="509380" y="166757"/>
                </a:lnTo>
                <a:lnTo>
                  <a:pt x="538745" y="137268"/>
                </a:lnTo>
                <a:lnTo>
                  <a:pt x="575329" y="118241"/>
                </a:lnTo>
                <a:lnTo>
                  <a:pt x="616347" y="111125"/>
                </a:lnTo>
                <a:lnTo>
                  <a:pt x="659015" y="117371"/>
                </a:lnTo>
                <a:lnTo>
                  <a:pt x="697544" y="136767"/>
                </a:lnTo>
                <a:lnTo>
                  <a:pt x="727052" y="166137"/>
                </a:lnTo>
                <a:lnTo>
                  <a:pt x="746089" y="202712"/>
                </a:lnTo>
                <a:lnTo>
                  <a:pt x="753209" y="243725"/>
                </a:lnTo>
                <a:lnTo>
                  <a:pt x="746963" y="286408"/>
                </a:lnTo>
                <a:lnTo>
                  <a:pt x="727561" y="324906"/>
                </a:lnTo>
                <a:lnTo>
                  <a:pt x="698182" y="354395"/>
                </a:lnTo>
                <a:lnTo>
                  <a:pt x="661600" y="373422"/>
                </a:lnTo>
                <a:lnTo>
                  <a:pt x="620589" y="380538"/>
                </a:lnTo>
                <a:lnTo>
                  <a:pt x="577926" y="374292"/>
                </a:lnTo>
                <a:lnTo>
                  <a:pt x="539392" y="354944"/>
                </a:lnTo>
                <a:lnTo>
                  <a:pt x="509886" y="325581"/>
                </a:lnTo>
                <a:lnTo>
                  <a:pt x="490857" y="288987"/>
                </a:lnTo>
                <a:lnTo>
                  <a:pt x="483751" y="247950"/>
                </a:lnTo>
                <a:lnTo>
                  <a:pt x="490016" y="205255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119114" y="3041078"/>
            <a:ext cx="2178050" cy="567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130"/>
              </a:lnSpc>
              <a:spcBef>
                <a:spcPts val="100"/>
              </a:spcBef>
            </a:pPr>
            <a:r>
              <a:rPr sz="1800" spc="-10">
                <a:solidFill>
                  <a:srgbClr val="0000FF"/>
                </a:solidFill>
                <a:latin typeface="Tahoma"/>
                <a:cs typeface="Tahoma"/>
              </a:rPr>
              <a:t>All</a:t>
            </a:r>
            <a:r>
              <a:rPr sz="1800" spc="-17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800" spc="-30">
                <a:solidFill>
                  <a:srgbClr val="0000FF"/>
                </a:solidFill>
                <a:latin typeface="Tahoma"/>
                <a:cs typeface="Tahoma"/>
              </a:rPr>
              <a:t>pixels</a:t>
            </a:r>
            <a:r>
              <a:rPr sz="1800" spc="-16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800" spc="-60">
                <a:solidFill>
                  <a:srgbClr val="0000FF"/>
                </a:solidFill>
                <a:latin typeface="Tahoma"/>
                <a:cs typeface="Tahoma"/>
              </a:rPr>
              <a:t>change</a:t>
            </a:r>
            <a:r>
              <a:rPr sz="1800" spc="-155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800" spc="-20">
                <a:solidFill>
                  <a:srgbClr val="0000FF"/>
                </a:solidFill>
                <a:latin typeface="Tahoma"/>
                <a:cs typeface="Tahoma"/>
              </a:rPr>
              <a:t>when</a:t>
            </a:r>
            <a:endParaRPr sz="1800">
              <a:latin typeface="Tahoma"/>
              <a:cs typeface="Tahoma"/>
            </a:endParaRPr>
          </a:p>
          <a:p>
            <a:pPr marL="5715" algn="ctr">
              <a:lnSpc>
                <a:spcPts val="2130"/>
              </a:lnSpc>
            </a:pPr>
            <a:r>
              <a:rPr sz="1800" spc="-35">
                <a:solidFill>
                  <a:srgbClr val="0000FF"/>
                </a:solidFill>
                <a:latin typeface="Tahoma"/>
                <a:cs typeface="Tahoma"/>
              </a:rPr>
              <a:t>the</a:t>
            </a:r>
            <a:r>
              <a:rPr sz="1800" spc="-16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800" spc="-45">
                <a:solidFill>
                  <a:srgbClr val="0000FF"/>
                </a:solidFill>
                <a:latin typeface="Tahoma"/>
                <a:cs typeface="Tahoma"/>
              </a:rPr>
              <a:t>camera</a:t>
            </a:r>
            <a:r>
              <a:rPr sz="1800" spc="-17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800" spc="-10">
                <a:solidFill>
                  <a:srgbClr val="0000FF"/>
                </a:solidFill>
                <a:latin typeface="Tahoma"/>
                <a:cs typeface="Tahoma"/>
              </a:rPr>
              <a:t>moves!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8739" y="4286250"/>
            <a:ext cx="813435" cy="203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700"/>
              </a:lnSpc>
              <a:spcBef>
                <a:spcPts val="100"/>
              </a:spcBef>
            </a:pPr>
            <a:r>
              <a:rPr sz="600" u="sng" spc="-1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This</a:t>
            </a:r>
            <a:r>
              <a:rPr sz="600" u="sng" spc="-35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 </a:t>
            </a:r>
            <a:r>
              <a:rPr sz="600" u="sng" spc="-3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image</a:t>
            </a:r>
            <a:r>
              <a:rPr sz="600">
                <a:solidFill>
                  <a:srgbClr val="0096A7"/>
                </a:solidFill>
                <a:latin typeface="Tahoma"/>
                <a:cs typeface="Tahoma"/>
              </a:rPr>
              <a:t> </a:t>
            </a:r>
            <a:r>
              <a:rPr sz="600">
                <a:latin typeface="Tahoma"/>
                <a:cs typeface="Tahoma"/>
              </a:rPr>
              <a:t>by</a:t>
            </a:r>
            <a:r>
              <a:rPr sz="600" spc="-85">
                <a:latin typeface="Tahoma"/>
                <a:cs typeface="Tahoma"/>
              </a:rPr>
              <a:t> </a:t>
            </a:r>
            <a:r>
              <a:rPr sz="600" u="sng" spc="-1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5"/>
              </a:rPr>
              <a:t>Nikita</a:t>
            </a:r>
            <a:r>
              <a:rPr sz="600" spc="-45">
                <a:solidFill>
                  <a:srgbClr val="0096A7"/>
                </a:solidFill>
                <a:latin typeface="Tahoma"/>
                <a:cs typeface="Tahoma"/>
              </a:rPr>
              <a:t> </a:t>
            </a:r>
            <a:r>
              <a:rPr sz="600" spc="-25">
                <a:latin typeface="Tahoma"/>
                <a:cs typeface="Tahoma"/>
              </a:rPr>
              <a:t>is</a:t>
            </a:r>
            <a:endParaRPr sz="600">
              <a:latin typeface="Tahoma"/>
              <a:cs typeface="Tahoma"/>
            </a:endParaRPr>
          </a:p>
          <a:p>
            <a:pPr marL="12700">
              <a:lnSpc>
                <a:spcPts val="700"/>
              </a:lnSpc>
            </a:pPr>
            <a:r>
              <a:rPr sz="600" spc="-10">
                <a:latin typeface="Tahoma"/>
                <a:cs typeface="Tahoma"/>
              </a:rPr>
              <a:t>licensed</a:t>
            </a:r>
            <a:r>
              <a:rPr sz="600" spc="35">
                <a:latin typeface="Tahoma"/>
                <a:cs typeface="Tahoma"/>
              </a:rPr>
              <a:t> </a:t>
            </a:r>
            <a:r>
              <a:rPr sz="600" spc="-20">
                <a:latin typeface="Tahoma"/>
                <a:cs typeface="Tahoma"/>
              </a:rPr>
              <a:t>under</a:t>
            </a:r>
            <a:r>
              <a:rPr sz="600" spc="-60">
                <a:latin typeface="Tahoma"/>
                <a:cs typeface="Tahoma"/>
              </a:rPr>
              <a:t> </a:t>
            </a:r>
            <a:r>
              <a:rPr sz="600" u="sng" spc="-35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6"/>
              </a:rPr>
              <a:t>CC-</a:t>
            </a:r>
            <a:r>
              <a:rPr sz="600" u="sng" spc="-3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6"/>
              </a:rPr>
              <a:t>BY</a:t>
            </a:r>
            <a:r>
              <a:rPr sz="600" u="sng" spc="-9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6"/>
              </a:rPr>
              <a:t> </a:t>
            </a:r>
            <a:r>
              <a:rPr sz="600" u="sng" spc="-25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6"/>
              </a:rPr>
              <a:t>2.0</a:t>
            </a:r>
            <a:endParaRPr sz="60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825297" y="3047047"/>
            <a:ext cx="941069" cy="831215"/>
            <a:chOff x="1825297" y="3047047"/>
            <a:chExt cx="941069" cy="831215"/>
          </a:xfrm>
        </p:grpSpPr>
        <p:sp>
          <p:nvSpPr>
            <p:cNvPr id="12" name="object 12"/>
            <p:cNvSpPr/>
            <p:nvPr/>
          </p:nvSpPr>
          <p:spPr>
            <a:xfrm>
              <a:off x="1949449" y="3061335"/>
              <a:ext cx="802640" cy="802640"/>
            </a:xfrm>
            <a:custGeom>
              <a:avLst/>
              <a:gdLst/>
              <a:ahLst/>
              <a:cxnLst/>
              <a:rect l="l" t="t" r="r" b="b"/>
              <a:pathLst>
                <a:path w="802639" h="802639">
                  <a:moveTo>
                    <a:pt x="0" y="646810"/>
                  </a:moveTo>
                  <a:lnTo>
                    <a:pt x="501650" y="145160"/>
                  </a:lnTo>
                  <a:lnTo>
                    <a:pt x="656970" y="300354"/>
                  </a:lnTo>
                  <a:lnTo>
                    <a:pt x="155320" y="802131"/>
                  </a:lnTo>
                  <a:lnTo>
                    <a:pt x="0" y="646810"/>
                  </a:lnTo>
                  <a:close/>
                </a:path>
                <a:path w="802639" h="802639">
                  <a:moveTo>
                    <a:pt x="802132" y="190500"/>
                  </a:moveTo>
                  <a:lnTo>
                    <a:pt x="579374" y="222757"/>
                  </a:lnTo>
                  <a:lnTo>
                    <a:pt x="611632" y="0"/>
                  </a:lnTo>
                  <a:lnTo>
                    <a:pt x="802132" y="190500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839584" y="3100313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5" h="527685">
                  <a:moveTo>
                    <a:pt x="37856" y="489341"/>
                  </a:moveTo>
                  <a:lnTo>
                    <a:pt x="12618" y="454386"/>
                  </a:lnTo>
                  <a:lnTo>
                    <a:pt x="0" y="414713"/>
                  </a:lnTo>
                  <a:lnTo>
                    <a:pt x="0" y="373468"/>
                  </a:lnTo>
                  <a:lnTo>
                    <a:pt x="12618" y="333795"/>
                  </a:lnTo>
                  <a:lnTo>
                    <a:pt x="37856" y="298841"/>
                  </a:lnTo>
                  <a:lnTo>
                    <a:pt x="72810" y="273603"/>
                  </a:lnTo>
                  <a:lnTo>
                    <a:pt x="112483" y="260984"/>
                  </a:lnTo>
                  <a:lnTo>
                    <a:pt x="153728" y="260984"/>
                  </a:lnTo>
                  <a:lnTo>
                    <a:pt x="193401" y="273603"/>
                  </a:lnTo>
                  <a:lnTo>
                    <a:pt x="228356" y="298841"/>
                  </a:lnTo>
                  <a:lnTo>
                    <a:pt x="253593" y="333795"/>
                  </a:lnTo>
                  <a:lnTo>
                    <a:pt x="266212" y="373468"/>
                  </a:lnTo>
                  <a:lnTo>
                    <a:pt x="266212" y="414713"/>
                  </a:lnTo>
                  <a:lnTo>
                    <a:pt x="253593" y="454386"/>
                  </a:lnTo>
                  <a:lnTo>
                    <a:pt x="228356" y="489341"/>
                  </a:lnTo>
                  <a:lnTo>
                    <a:pt x="193401" y="514578"/>
                  </a:lnTo>
                  <a:lnTo>
                    <a:pt x="153728" y="527197"/>
                  </a:lnTo>
                  <a:lnTo>
                    <a:pt x="112483" y="527197"/>
                  </a:lnTo>
                  <a:lnTo>
                    <a:pt x="72810" y="514578"/>
                  </a:lnTo>
                  <a:lnTo>
                    <a:pt x="37856" y="489341"/>
                  </a:lnTo>
                  <a:close/>
                </a:path>
                <a:path w="527685" h="527685">
                  <a:moveTo>
                    <a:pt x="298841" y="228356"/>
                  </a:moveTo>
                  <a:lnTo>
                    <a:pt x="273603" y="193352"/>
                  </a:lnTo>
                  <a:lnTo>
                    <a:pt x="260985" y="153674"/>
                  </a:lnTo>
                  <a:lnTo>
                    <a:pt x="260985" y="112446"/>
                  </a:lnTo>
                  <a:lnTo>
                    <a:pt x="273603" y="72798"/>
                  </a:lnTo>
                  <a:lnTo>
                    <a:pt x="298841" y="37856"/>
                  </a:lnTo>
                  <a:lnTo>
                    <a:pt x="333844" y="12618"/>
                  </a:lnTo>
                  <a:lnTo>
                    <a:pt x="373523" y="0"/>
                  </a:lnTo>
                  <a:lnTo>
                    <a:pt x="414750" y="0"/>
                  </a:lnTo>
                  <a:lnTo>
                    <a:pt x="454398" y="12618"/>
                  </a:lnTo>
                  <a:lnTo>
                    <a:pt x="489341" y="37856"/>
                  </a:lnTo>
                  <a:lnTo>
                    <a:pt x="514639" y="72798"/>
                  </a:lnTo>
                  <a:lnTo>
                    <a:pt x="527288" y="112446"/>
                  </a:lnTo>
                  <a:lnTo>
                    <a:pt x="527288" y="153674"/>
                  </a:lnTo>
                  <a:lnTo>
                    <a:pt x="514639" y="193352"/>
                  </a:lnTo>
                  <a:lnTo>
                    <a:pt x="489341" y="228356"/>
                  </a:lnTo>
                  <a:lnTo>
                    <a:pt x="454398" y="253593"/>
                  </a:lnTo>
                  <a:lnTo>
                    <a:pt x="414750" y="266212"/>
                  </a:lnTo>
                  <a:lnTo>
                    <a:pt x="373523" y="266212"/>
                  </a:lnTo>
                  <a:lnTo>
                    <a:pt x="333844" y="253593"/>
                  </a:lnTo>
                  <a:lnTo>
                    <a:pt x="298841" y="228356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4630737" y="3210496"/>
            <a:ext cx="941069" cy="831215"/>
            <a:chOff x="4630737" y="3210496"/>
            <a:chExt cx="941069" cy="831215"/>
          </a:xfrm>
        </p:grpSpPr>
        <p:sp>
          <p:nvSpPr>
            <p:cNvPr id="15" name="object 15"/>
            <p:cNvSpPr/>
            <p:nvPr/>
          </p:nvSpPr>
          <p:spPr>
            <a:xfrm>
              <a:off x="4790186" y="3369944"/>
              <a:ext cx="657225" cy="657225"/>
            </a:xfrm>
            <a:custGeom>
              <a:avLst/>
              <a:gdLst/>
              <a:ahLst/>
              <a:cxnLst/>
              <a:rect l="l" t="t" r="r" b="b"/>
              <a:pathLst>
                <a:path w="657225" h="657225">
                  <a:moveTo>
                    <a:pt x="656971" y="501649"/>
                  </a:moveTo>
                  <a:lnTo>
                    <a:pt x="155193" y="0"/>
                  </a:lnTo>
                  <a:lnTo>
                    <a:pt x="0" y="155193"/>
                  </a:lnTo>
                  <a:lnTo>
                    <a:pt x="501650" y="656907"/>
                  </a:lnTo>
                  <a:lnTo>
                    <a:pt x="656971" y="501649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645025" y="3224783"/>
              <a:ext cx="222885" cy="222885"/>
            </a:xfrm>
            <a:custGeom>
              <a:avLst/>
              <a:gdLst/>
              <a:ahLst/>
              <a:cxnLst/>
              <a:rect l="l" t="t" r="r" b="b"/>
              <a:pathLst>
                <a:path w="222885" h="222885">
                  <a:moveTo>
                    <a:pt x="0" y="190500"/>
                  </a:moveTo>
                  <a:lnTo>
                    <a:pt x="222758" y="222758"/>
                  </a:lnTo>
                  <a:lnTo>
                    <a:pt x="190500" y="0"/>
                  </a:lnTo>
                  <a:lnTo>
                    <a:pt x="0" y="190500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029697" y="3263671"/>
              <a:ext cx="527685" cy="527685"/>
            </a:xfrm>
            <a:custGeom>
              <a:avLst/>
              <a:gdLst/>
              <a:ahLst/>
              <a:cxnLst/>
              <a:rect l="l" t="t" r="r" b="b"/>
              <a:pathLst>
                <a:path w="527685" h="527685">
                  <a:moveTo>
                    <a:pt x="489468" y="489432"/>
                  </a:moveTo>
                  <a:lnTo>
                    <a:pt x="514705" y="454478"/>
                  </a:lnTo>
                  <a:lnTo>
                    <a:pt x="527324" y="414805"/>
                  </a:lnTo>
                  <a:lnTo>
                    <a:pt x="527324" y="373559"/>
                  </a:lnTo>
                  <a:lnTo>
                    <a:pt x="514705" y="333887"/>
                  </a:lnTo>
                  <a:lnTo>
                    <a:pt x="489468" y="298932"/>
                  </a:lnTo>
                  <a:lnTo>
                    <a:pt x="454464" y="273695"/>
                  </a:lnTo>
                  <a:lnTo>
                    <a:pt x="414786" y="261076"/>
                  </a:lnTo>
                  <a:lnTo>
                    <a:pt x="373558" y="261076"/>
                  </a:lnTo>
                  <a:lnTo>
                    <a:pt x="333910" y="273695"/>
                  </a:lnTo>
                  <a:lnTo>
                    <a:pt x="298968" y="298932"/>
                  </a:lnTo>
                  <a:lnTo>
                    <a:pt x="273669" y="333887"/>
                  </a:lnTo>
                  <a:lnTo>
                    <a:pt x="261020" y="373559"/>
                  </a:lnTo>
                  <a:lnTo>
                    <a:pt x="261020" y="414805"/>
                  </a:lnTo>
                  <a:lnTo>
                    <a:pt x="273669" y="454478"/>
                  </a:lnTo>
                  <a:lnTo>
                    <a:pt x="298968" y="489432"/>
                  </a:lnTo>
                  <a:lnTo>
                    <a:pt x="333910" y="514670"/>
                  </a:lnTo>
                  <a:lnTo>
                    <a:pt x="373558" y="527288"/>
                  </a:lnTo>
                  <a:lnTo>
                    <a:pt x="414786" y="527288"/>
                  </a:lnTo>
                  <a:lnTo>
                    <a:pt x="454464" y="514670"/>
                  </a:lnTo>
                  <a:lnTo>
                    <a:pt x="489468" y="489432"/>
                  </a:lnTo>
                  <a:close/>
                </a:path>
                <a:path w="527685" h="527685">
                  <a:moveTo>
                    <a:pt x="228356" y="228320"/>
                  </a:moveTo>
                  <a:lnTo>
                    <a:pt x="253593" y="193379"/>
                  </a:lnTo>
                  <a:lnTo>
                    <a:pt x="266212" y="153738"/>
                  </a:lnTo>
                  <a:lnTo>
                    <a:pt x="266212" y="112530"/>
                  </a:lnTo>
                  <a:lnTo>
                    <a:pt x="253593" y="72888"/>
                  </a:lnTo>
                  <a:lnTo>
                    <a:pt x="228356" y="37947"/>
                  </a:lnTo>
                  <a:lnTo>
                    <a:pt x="193401" y="12649"/>
                  </a:lnTo>
                  <a:lnTo>
                    <a:pt x="153728" y="0"/>
                  </a:lnTo>
                  <a:lnTo>
                    <a:pt x="112483" y="0"/>
                  </a:lnTo>
                  <a:lnTo>
                    <a:pt x="72810" y="12649"/>
                  </a:lnTo>
                  <a:lnTo>
                    <a:pt x="37856" y="37947"/>
                  </a:lnTo>
                  <a:lnTo>
                    <a:pt x="12618" y="72888"/>
                  </a:lnTo>
                  <a:lnTo>
                    <a:pt x="0" y="112530"/>
                  </a:lnTo>
                  <a:lnTo>
                    <a:pt x="0" y="153738"/>
                  </a:lnTo>
                  <a:lnTo>
                    <a:pt x="12618" y="193379"/>
                  </a:lnTo>
                  <a:lnTo>
                    <a:pt x="37856" y="228320"/>
                  </a:lnTo>
                  <a:lnTo>
                    <a:pt x="72810" y="253619"/>
                  </a:lnTo>
                  <a:lnTo>
                    <a:pt x="112483" y="266268"/>
                  </a:lnTo>
                  <a:lnTo>
                    <a:pt x="153728" y="266268"/>
                  </a:lnTo>
                  <a:lnTo>
                    <a:pt x="193401" y="253619"/>
                  </a:lnTo>
                  <a:lnTo>
                    <a:pt x="228356" y="228320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/>
              <a:t>Stanford</a:t>
            </a:r>
            <a:r>
              <a:rPr spc="-195"/>
              <a:t> </a:t>
            </a:r>
            <a:r>
              <a:rPr spc="-85"/>
              <a:t>CS231n</a:t>
            </a:r>
            <a:r>
              <a:rPr spc="-180"/>
              <a:t> </a:t>
            </a:r>
            <a:r>
              <a:rPr spc="-35"/>
              <a:t>10</a:t>
            </a:r>
            <a:r>
              <a:rPr sz="1800" spc="-52" baseline="25462"/>
              <a:t>th</a:t>
            </a:r>
            <a:r>
              <a:rPr sz="1800" spc="44" baseline="25462"/>
              <a:t> </a:t>
            </a:r>
            <a:r>
              <a:rPr sz="1800" spc="-30"/>
              <a:t>Anniversary</a:t>
            </a:r>
            <a:endParaRPr sz="1800"/>
          </a:p>
        </p:txBody>
      </p:sp>
      <p:sp>
        <p:nvSpPr>
          <p:cNvPr id="19" name="object 19"/>
          <p:cNvSpPr txBox="1"/>
          <p:nvPr/>
        </p:nvSpPr>
        <p:spPr>
          <a:xfrm>
            <a:off x="5328920" y="4802992"/>
            <a:ext cx="1026794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35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8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800" spc="-20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489065" y="4802992"/>
            <a:ext cx="279400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z="1800" spc="-70" dirty="0">
                <a:solidFill>
                  <a:srgbClr val="FFFFFF"/>
                </a:solidFill>
                <a:latin typeface="Tahoma"/>
                <a:cs typeface="Tahoma"/>
              </a:rPr>
              <a:t>50</a:t>
            </a:fld>
            <a:endParaRPr sz="1800">
              <a:latin typeface="Tahoma"/>
              <a:cs typeface="Tahoma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/>
              <a:t>April</a:t>
            </a:r>
            <a:r>
              <a:rPr spc="-229"/>
              <a:t> </a:t>
            </a:r>
            <a:r>
              <a:rPr spc="-105"/>
              <a:t>3,</a:t>
            </a:r>
            <a:r>
              <a:rPr spc="-170"/>
              <a:t> </a:t>
            </a:r>
            <a:r>
              <a:rPr spc="-75"/>
              <a:t>2025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842" y="136461"/>
            <a:ext cx="311912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70"/>
              <a:t>Challenges:</a:t>
            </a:r>
            <a:r>
              <a:rPr sz="2400" spc="-235"/>
              <a:t> </a:t>
            </a:r>
            <a:r>
              <a:rPr sz="2400" spc="-10"/>
              <a:t>Illumination</a:t>
            </a:r>
            <a:endParaRPr sz="2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925" y="1390650"/>
            <a:ext cx="2247900" cy="20955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01992" y="3539871"/>
            <a:ext cx="116649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u="sng" spc="-1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3"/>
              </a:rPr>
              <a:t>This</a:t>
            </a:r>
            <a:r>
              <a:rPr sz="600" u="sng" spc="-5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3"/>
              </a:rPr>
              <a:t> </a:t>
            </a:r>
            <a:r>
              <a:rPr sz="600" u="sng" spc="-3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3"/>
              </a:rPr>
              <a:t>image</a:t>
            </a:r>
            <a:r>
              <a:rPr sz="600" spc="-10">
                <a:solidFill>
                  <a:srgbClr val="0096A7"/>
                </a:solidFill>
                <a:latin typeface="Tahoma"/>
                <a:cs typeface="Tahoma"/>
              </a:rPr>
              <a:t> </a:t>
            </a:r>
            <a:r>
              <a:rPr sz="600" spc="-10">
                <a:solidFill>
                  <a:srgbClr val="999999"/>
                </a:solidFill>
                <a:latin typeface="Tahoma"/>
                <a:cs typeface="Tahoma"/>
              </a:rPr>
              <a:t>is</a:t>
            </a:r>
            <a:r>
              <a:rPr sz="600" spc="-45">
                <a:solidFill>
                  <a:srgbClr val="999999"/>
                </a:solidFill>
                <a:latin typeface="Tahoma"/>
                <a:cs typeface="Tahoma"/>
              </a:rPr>
              <a:t> </a:t>
            </a:r>
            <a:r>
              <a:rPr sz="600" u="sng" spc="-35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CC0</a:t>
            </a:r>
            <a:r>
              <a:rPr sz="600" u="sng" spc="-2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 </a:t>
            </a:r>
            <a:r>
              <a:rPr sz="600" u="sng" spc="-4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1.0</a:t>
            </a:r>
            <a:r>
              <a:rPr sz="600" spc="-70">
                <a:solidFill>
                  <a:srgbClr val="0096A7"/>
                </a:solidFill>
                <a:latin typeface="Tahoma"/>
                <a:cs typeface="Tahoma"/>
              </a:rPr>
              <a:t> </a:t>
            </a:r>
            <a:r>
              <a:rPr sz="600" spc="-10">
                <a:solidFill>
                  <a:srgbClr val="999999"/>
                </a:solidFill>
                <a:latin typeface="Tahoma"/>
                <a:cs typeface="Tahoma"/>
              </a:rPr>
              <a:t>public</a:t>
            </a:r>
            <a:r>
              <a:rPr sz="600" spc="10">
                <a:solidFill>
                  <a:srgbClr val="999999"/>
                </a:solidFill>
                <a:latin typeface="Tahoma"/>
                <a:cs typeface="Tahoma"/>
              </a:rPr>
              <a:t> </a:t>
            </a:r>
            <a:r>
              <a:rPr sz="600" spc="-10">
                <a:solidFill>
                  <a:srgbClr val="999999"/>
                </a:solidFill>
                <a:latin typeface="Tahoma"/>
                <a:cs typeface="Tahoma"/>
              </a:rPr>
              <a:t>domain</a:t>
            </a:r>
            <a:endParaRPr sz="6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14600" y="1390650"/>
            <a:ext cx="2095500" cy="20955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982976" y="3539871"/>
            <a:ext cx="116649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u="sng" spc="-1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6"/>
              </a:rPr>
              <a:t>This</a:t>
            </a:r>
            <a:r>
              <a:rPr sz="600" u="sng" spc="-5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6"/>
              </a:rPr>
              <a:t> </a:t>
            </a:r>
            <a:r>
              <a:rPr sz="600" u="sng" spc="-3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6"/>
              </a:rPr>
              <a:t>image</a:t>
            </a:r>
            <a:r>
              <a:rPr sz="600" u="sng" spc="-1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</a:rPr>
              <a:t> </a:t>
            </a:r>
            <a:r>
              <a:rPr sz="600" spc="-10">
                <a:solidFill>
                  <a:srgbClr val="999999"/>
                </a:solidFill>
                <a:latin typeface="Tahoma"/>
                <a:cs typeface="Tahoma"/>
              </a:rPr>
              <a:t>is</a:t>
            </a:r>
            <a:r>
              <a:rPr sz="600" spc="-45">
                <a:solidFill>
                  <a:srgbClr val="999999"/>
                </a:solidFill>
                <a:latin typeface="Tahoma"/>
                <a:cs typeface="Tahoma"/>
              </a:rPr>
              <a:t> </a:t>
            </a:r>
            <a:r>
              <a:rPr sz="600" u="sng" spc="-35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CC0</a:t>
            </a:r>
            <a:r>
              <a:rPr sz="600" u="sng" spc="-2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 </a:t>
            </a:r>
            <a:r>
              <a:rPr sz="600" u="sng" spc="-4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1.0</a:t>
            </a:r>
            <a:r>
              <a:rPr sz="600" spc="-70">
                <a:solidFill>
                  <a:srgbClr val="0096A7"/>
                </a:solidFill>
                <a:latin typeface="Tahoma"/>
                <a:cs typeface="Tahoma"/>
              </a:rPr>
              <a:t> </a:t>
            </a:r>
            <a:r>
              <a:rPr sz="600" spc="-10">
                <a:solidFill>
                  <a:srgbClr val="999999"/>
                </a:solidFill>
                <a:latin typeface="Tahoma"/>
                <a:cs typeface="Tahoma"/>
              </a:rPr>
              <a:t>public</a:t>
            </a:r>
            <a:r>
              <a:rPr sz="600" spc="10">
                <a:solidFill>
                  <a:srgbClr val="999999"/>
                </a:solidFill>
                <a:latin typeface="Tahoma"/>
                <a:cs typeface="Tahoma"/>
              </a:rPr>
              <a:t> </a:t>
            </a:r>
            <a:r>
              <a:rPr sz="600" spc="-10">
                <a:solidFill>
                  <a:srgbClr val="999999"/>
                </a:solidFill>
                <a:latin typeface="Tahoma"/>
                <a:cs typeface="Tahoma"/>
              </a:rPr>
              <a:t>domain</a:t>
            </a:r>
            <a:endParaRPr sz="60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714875" y="1390650"/>
            <a:ext cx="2409825" cy="209550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342254" y="3539871"/>
            <a:ext cx="1165860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u="sng" spc="-1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8"/>
              </a:rPr>
              <a:t>This</a:t>
            </a:r>
            <a:r>
              <a:rPr sz="600" u="sng" spc="-5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8"/>
              </a:rPr>
              <a:t> </a:t>
            </a:r>
            <a:r>
              <a:rPr sz="600" u="sng" spc="-3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8"/>
              </a:rPr>
              <a:t>image</a:t>
            </a:r>
            <a:r>
              <a:rPr sz="600" u="sng" spc="-3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</a:rPr>
              <a:t> </a:t>
            </a:r>
            <a:r>
              <a:rPr sz="600" spc="-10">
                <a:solidFill>
                  <a:srgbClr val="999999"/>
                </a:solidFill>
                <a:latin typeface="Tahoma"/>
                <a:cs typeface="Tahoma"/>
              </a:rPr>
              <a:t>is</a:t>
            </a:r>
            <a:r>
              <a:rPr sz="600" spc="-70">
                <a:solidFill>
                  <a:srgbClr val="999999"/>
                </a:solidFill>
                <a:latin typeface="Tahoma"/>
                <a:cs typeface="Tahoma"/>
              </a:rPr>
              <a:t> </a:t>
            </a:r>
            <a:r>
              <a:rPr sz="600" u="sng" spc="-17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 </a:t>
            </a:r>
            <a:r>
              <a:rPr sz="600" u="sng" spc="-35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CC0</a:t>
            </a:r>
            <a:r>
              <a:rPr sz="600" u="sng" spc="-1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 </a:t>
            </a:r>
            <a:r>
              <a:rPr sz="600" u="sng" spc="-4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1.0</a:t>
            </a:r>
            <a:r>
              <a:rPr sz="600" spc="-80">
                <a:solidFill>
                  <a:srgbClr val="0096A7"/>
                </a:solidFill>
                <a:latin typeface="Tahoma"/>
                <a:cs typeface="Tahoma"/>
              </a:rPr>
              <a:t> </a:t>
            </a:r>
            <a:r>
              <a:rPr sz="600" spc="-10">
                <a:solidFill>
                  <a:srgbClr val="999999"/>
                </a:solidFill>
                <a:latin typeface="Tahoma"/>
                <a:cs typeface="Tahoma"/>
              </a:rPr>
              <a:t>public</a:t>
            </a:r>
            <a:r>
              <a:rPr sz="600" spc="15">
                <a:solidFill>
                  <a:srgbClr val="999999"/>
                </a:solidFill>
                <a:latin typeface="Tahoma"/>
                <a:cs typeface="Tahoma"/>
              </a:rPr>
              <a:t> </a:t>
            </a:r>
            <a:r>
              <a:rPr sz="600" spc="-10">
                <a:solidFill>
                  <a:srgbClr val="999999"/>
                </a:solidFill>
                <a:latin typeface="Tahoma"/>
                <a:cs typeface="Tahoma"/>
              </a:rPr>
              <a:t>domain</a:t>
            </a:r>
            <a:endParaRPr sz="60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277100" y="1409700"/>
            <a:ext cx="1600200" cy="2066925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7498460" y="3539871"/>
            <a:ext cx="1170940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u="sng" spc="-155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</a:rPr>
              <a:t> </a:t>
            </a:r>
            <a:r>
              <a:rPr sz="600" u="sng" spc="-1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10"/>
              </a:rPr>
              <a:t>This</a:t>
            </a:r>
            <a:r>
              <a:rPr sz="600" u="sng" spc="-45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10"/>
              </a:rPr>
              <a:t> </a:t>
            </a:r>
            <a:r>
              <a:rPr sz="600" u="sng" spc="-3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10"/>
              </a:rPr>
              <a:t>image</a:t>
            </a:r>
            <a:r>
              <a:rPr sz="600" spc="-5">
                <a:solidFill>
                  <a:srgbClr val="0096A7"/>
                </a:solidFill>
                <a:latin typeface="Tahoma"/>
                <a:cs typeface="Tahoma"/>
              </a:rPr>
              <a:t> </a:t>
            </a:r>
            <a:r>
              <a:rPr sz="600" spc="-10">
                <a:solidFill>
                  <a:srgbClr val="999999"/>
                </a:solidFill>
                <a:latin typeface="Tahoma"/>
                <a:cs typeface="Tahoma"/>
              </a:rPr>
              <a:t>is</a:t>
            </a:r>
            <a:r>
              <a:rPr sz="600" spc="-95">
                <a:solidFill>
                  <a:srgbClr val="999999"/>
                </a:solidFill>
                <a:latin typeface="Tahoma"/>
                <a:cs typeface="Tahoma"/>
              </a:rPr>
              <a:t> </a:t>
            </a:r>
            <a:r>
              <a:rPr sz="600" u="sng" spc="-15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</a:rPr>
              <a:t> </a:t>
            </a:r>
            <a:r>
              <a:rPr sz="600" u="sng" spc="-35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CC0</a:t>
            </a:r>
            <a:r>
              <a:rPr sz="600" u="sng" spc="-15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 </a:t>
            </a:r>
            <a:r>
              <a:rPr sz="600" u="sng" spc="-4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1.</a:t>
            </a:r>
            <a:r>
              <a:rPr sz="600" spc="-40">
                <a:solidFill>
                  <a:srgbClr val="0096A7"/>
                </a:solidFill>
                <a:latin typeface="Tahoma"/>
                <a:cs typeface="Tahoma"/>
                <a:hlinkClick r:id="rId4"/>
              </a:rPr>
              <a:t>0</a:t>
            </a:r>
            <a:r>
              <a:rPr sz="600" spc="-70">
                <a:solidFill>
                  <a:srgbClr val="0096A7"/>
                </a:solidFill>
                <a:latin typeface="Tahoma"/>
                <a:cs typeface="Tahoma"/>
              </a:rPr>
              <a:t> </a:t>
            </a:r>
            <a:r>
              <a:rPr sz="600" spc="-10">
                <a:solidFill>
                  <a:srgbClr val="999999"/>
                </a:solidFill>
                <a:latin typeface="Tahoma"/>
                <a:cs typeface="Tahoma"/>
              </a:rPr>
              <a:t>public</a:t>
            </a:r>
            <a:r>
              <a:rPr sz="600" spc="10">
                <a:solidFill>
                  <a:srgbClr val="999999"/>
                </a:solidFill>
                <a:latin typeface="Tahoma"/>
                <a:cs typeface="Tahoma"/>
              </a:rPr>
              <a:t> </a:t>
            </a:r>
            <a:r>
              <a:rPr sz="600" spc="-10">
                <a:solidFill>
                  <a:srgbClr val="999999"/>
                </a:solidFill>
                <a:latin typeface="Tahoma"/>
                <a:cs typeface="Tahoma"/>
              </a:rPr>
              <a:t>domain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/>
              <a:t>Stanford</a:t>
            </a:r>
            <a:r>
              <a:rPr spc="-195"/>
              <a:t> </a:t>
            </a:r>
            <a:r>
              <a:rPr spc="-85"/>
              <a:t>CS231n</a:t>
            </a:r>
            <a:r>
              <a:rPr spc="-180"/>
              <a:t> </a:t>
            </a:r>
            <a:r>
              <a:rPr spc="-35"/>
              <a:t>10</a:t>
            </a:r>
            <a:r>
              <a:rPr sz="1800" spc="-52" baseline="25462"/>
              <a:t>th</a:t>
            </a:r>
            <a:r>
              <a:rPr sz="1800" spc="44" baseline="25462"/>
              <a:t> </a:t>
            </a:r>
            <a:r>
              <a:rPr sz="1800" spc="-30"/>
              <a:t>Anniversary</a:t>
            </a:r>
            <a:endParaRPr sz="1800"/>
          </a:p>
        </p:txBody>
      </p:sp>
      <p:sp>
        <p:nvSpPr>
          <p:cNvPr id="12" name="object 12"/>
          <p:cNvSpPr txBox="1"/>
          <p:nvPr/>
        </p:nvSpPr>
        <p:spPr>
          <a:xfrm>
            <a:off x="5328920" y="4802992"/>
            <a:ext cx="1026794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35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8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800" spc="-20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489065" y="4802992"/>
            <a:ext cx="279400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z="1800" spc="-70" dirty="0">
                <a:solidFill>
                  <a:srgbClr val="FFFFFF"/>
                </a:solidFill>
                <a:latin typeface="Tahoma"/>
                <a:cs typeface="Tahoma"/>
              </a:rPr>
              <a:t>51</a:t>
            </a:fld>
            <a:endParaRPr sz="1800">
              <a:latin typeface="Tahoma"/>
              <a:cs typeface="Tahom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/>
              <a:t>April</a:t>
            </a:r>
            <a:r>
              <a:rPr spc="-229"/>
              <a:t> </a:t>
            </a:r>
            <a:r>
              <a:rPr spc="-105"/>
              <a:t>3,</a:t>
            </a:r>
            <a:r>
              <a:rPr spc="-170"/>
              <a:t> </a:t>
            </a:r>
            <a:r>
              <a:rPr spc="-75"/>
              <a:t>2025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9650" y="1190625"/>
            <a:ext cx="3819525" cy="25527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155063" y="3835400"/>
            <a:ext cx="1172210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u="sng" spc="-14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3"/>
              </a:rPr>
              <a:t> </a:t>
            </a:r>
            <a:r>
              <a:rPr sz="600" u="sng" spc="-1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3"/>
              </a:rPr>
              <a:t>This</a:t>
            </a:r>
            <a:r>
              <a:rPr sz="600" u="sng" spc="-5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3"/>
              </a:rPr>
              <a:t> </a:t>
            </a:r>
            <a:r>
              <a:rPr sz="600" u="sng" spc="-3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3"/>
              </a:rPr>
              <a:t>image</a:t>
            </a:r>
            <a:r>
              <a:rPr sz="600" spc="-5">
                <a:solidFill>
                  <a:srgbClr val="0096A7"/>
                </a:solidFill>
                <a:latin typeface="Tahoma"/>
                <a:cs typeface="Tahoma"/>
              </a:rPr>
              <a:t> </a:t>
            </a:r>
            <a:r>
              <a:rPr sz="600" spc="-10">
                <a:solidFill>
                  <a:srgbClr val="999999"/>
                </a:solidFill>
                <a:latin typeface="Tahoma"/>
                <a:cs typeface="Tahoma"/>
              </a:rPr>
              <a:t>is</a:t>
            </a:r>
            <a:r>
              <a:rPr sz="600" spc="-105">
                <a:solidFill>
                  <a:srgbClr val="999999"/>
                </a:solidFill>
                <a:latin typeface="Tahoma"/>
                <a:cs typeface="Tahoma"/>
              </a:rPr>
              <a:t> </a:t>
            </a:r>
            <a:r>
              <a:rPr sz="600" u="sng" spc="-13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 </a:t>
            </a:r>
            <a:r>
              <a:rPr sz="600" u="sng" spc="-35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CC0</a:t>
            </a:r>
            <a:r>
              <a:rPr sz="600" u="sng" spc="-15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 </a:t>
            </a:r>
            <a:r>
              <a:rPr sz="600" u="sng" spc="-4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1.0</a:t>
            </a:r>
            <a:r>
              <a:rPr sz="600" spc="-75">
                <a:solidFill>
                  <a:srgbClr val="0096A7"/>
                </a:solidFill>
                <a:latin typeface="Tahoma"/>
                <a:cs typeface="Tahoma"/>
              </a:rPr>
              <a:t> </a:t>
            </a:r>
            <a:r>
              <a:rPr sz="600" spc="-10">
                <a:solidFill>
                  <a:srgbClr val="999999"/>
                </a:solidFill>
                <a:latin typeface="Tahoma"/>
                <a:cs typeface="Tahoma"/>
              </a:rPr>
              <a:t>public</a:t>
            </a:r>
            <a:r>
              <a:rPr sz="600" spc="10">
                <a:solidFill>
                  <a:srgbClr val="999999"/>
                </a:solidFill>
                <a:latin typeface="Tahoma"/>
                <a:cs typeface="Tahoma"/>
              </a:rPr>
              <a:t> </a:t>
            </a:r>
            <a:r>
              <a:rPr sz="600" spc="-10">
                <a:solidFill>
                  <a:srgbClr val="999999"/>
                </a:solidFill>
                <a:latin typeface="Tahoma"/>
                <a:cs typeface="Tahoma"/>
              </a:rPr>
              <a:t>domain</a:t>
            </a:r>
            <a:endParaRPr sz="6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70"/>
              <a:t>Challenges:</a:t>
            </a:r>
            <a:r>
              <a:rPr sz="2400" spc="-235"/>
              <a:t> </a:t>
            </a:r>
            <a:r>
              <a:rPr sz="2400" spc="-40"/>
              <a:t>Background</a:t>
            </a:r>
            <a:r>
              <a:rPr sz="2400" spc="-210"/>
              <a:t> </a:t>
            </a:r>
            <a:r>
              <a:rPr sz="2400" spc="-10"/>
              <a:t>Clutter</a:t>
            </a:r>
            <a:endParaRPr sz="2400"/>
          </a:p>
        </p:txBody>
      </p:sp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14900" y="1190625"/>
            <a:ext cx="3114675" cy="25527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886830" y="3835400"/>
            <a:ext cx="1176020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u="sng" spc="-10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</a:rPr>
              <a:t> </a:t>
            </a:r>
            <a:r>
              <a:rPr sz="600" u="sng" spc="-1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6"/>
              </a:rPr>
              <a:t>This</a:t>
            </a:r>
            <a:r>
              <a:rPr sz="600" u="sng" spc="-5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6"/>
              </a:rPr>
              <a:t> </a:t>
            </a:r>
            <a:r>
              <a:rPr sz="600" u="sng" spc="-3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6"/>
              </a:rPr>
              <a:t>image</a:t>
            </a:r>
            <a:r>
              <a:rPr sz="600" spc="-10">
                <a:solidFill>
                  <a:srgbClr val="0096A7"/>
                </a:solidFill>
                <a:latin typeface="Tahoma"/>
                <a:cs typeface="Tahoma"/>
              </a:rPr>
              <a:t> </a:t>
            </a:r>
            <a:r>
              <a:rPr sz="600" spc="-10">
                <a:solidFill>
                  <a:srgbClr val="999999"/>
                </a:solidFill>
                <a:latin typeface="Tahoma"/>
                <a:cs typeface="Tahoma"/>
              </a:rPr>
              <a:t>is</a:t>
            </a:r>
            <a:r>
              <a:rPr sz="600" spc="-145">
                <a:solidFill>
                  <a:srgbClr val="999999"/>
                </a:solidFill>
                <a:latin typeface="Tahoma"/>
                <a:cs typeface="Tahoma"/>
              </a:rPr>
              <a:t> </a:t>
            </a:r>
            <a:r>
              <a:rPr sz="600" u="sng" spc="-10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</a:rPr>
              <a:t> </a:t>
            </a:r>
            <a:r>
              <a:rPr sz="600" u="sng" spc="-35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CC0</a:t>
            </a:r>
            <a:r>
              <a:rPr sz="600" u="sng" spc="-2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 </a:t>
            </a:r>
            <a:r>
              <a:rPr sz="600" u="sng" spc="-4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1.0</a:t>
            </a:r>
            <a:r>
              <a:rPr sz="600" spc="-70">
                <a:solidFill>
                  <a:srgbClr val="0096A7"/>
                </a:solidFill>
                <a:latin typeface="Tahoma"/>
                <a:cs typeface="Tahoma"/>
              </a:rPr>
              <a:t> </a:t>
            </a:r>
            <a:r>
              <a:rPr sz="600" spc="-10">
                <a:solidFill>
                  <a:srgbClr val="999999"/>
                </a:solidFill>
                <a:latin typeface="Tahoma"/>
                <a:cs typeface="Tahoma"/>
              </a:rPr>
              <a:t>public</a:t>
            </a:r>
            <a:r>
              <a:rPr sz="600" spc="10">
                <a:solidFill>
                  <a:srgbClr val="999999"/>
                </a:solidFill>
                <a:latin typeface="Tahoma"/>
                <a:cs typeface="Tahoma"/>
              </a:rPr>
              <a:t> </a:t>
            </a:r>
            <a:r>
              <a:rPr sz="600" spc="-10">
                <a:solidFill>
                  <a:srgbClr val="999999"/>
                </a:solidFill>
                <a:latin typeface="Tahoma"/>
                <a:cs typeface="Tahoma"/>
              </a:rPr>
              <a:t>domain</a:t>
            </a:r>
            <a:endParaRPr sz="600">
              <a:latin typeface="Tahoma"/>
              <a:cs typeface="Tahom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/>
              <a:t>Stanford</a:t>
            </a:r>
            <a:r>
              <a:rPr spc="-195"/>
              <a:t> </a:t>
            </a:r>
            <a:r>
              <a:rPr spc="-85"/>
              <a:t>CS231n</a:t>
            </a:r>
            <a:r>
              <a:rPr spc="-180"/>
              <a:t> </a:t>
            </a:r>
            <a:r>
              <a:rPr spc="-35"/>
              <a:t>10</a:t>
            </a:r>
            <a:r>
              <a:rPr sz="1800" spc="-52" baseline="25462"/>
              <a:t>th</a:t>
            </a:r>
            <a:r>
              <a:rPr sz="1800" spc="44" baseline="25462"/>
              <a:t> </a:t>
            </a:r>
            <a:r>
              <a:rPr sz="1800" spc="-30"/>
              <a:t>Anniversary</a:t>
            </a:r>
            <a:endParaRPr sz="1800"/>
          </a:p>
        </p:txBody>
      </p:sp>
      <p:sp>
        <p:nvSpPr>
          <p:cNvPr id="8" name="object 8"/>
          <p:cNvSpPr txBox="1"/>
          <p:nvPr/>
        </p:nvSpPr>
        <p:spPr>
          <a:xfrm>
            <a:off x="5328920" y="4802992"/>
            <a:ext cx="1026794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35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8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800" spc="-20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89065" y="4802992"/>
            <a:ext cx="279400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z="1800" spc="-70" dirty="0">
                <a:solidFill>
                  <a:srgbClr val="FFFFFF"/>
                </a:solidFill>
                <a:latin typeface="Tahoma"/>
                <a:cs typeface="Tahoma"/>
              </a:rPr>
              <a:t>52</a:t>
            </a:fld>
            <a:endParaRPr sz="1800">
              <a:latin typeface="Tahoma"/>
              <a:cs typeface="Tahom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/>
              <a:t>April</a:t>
            </a:r>
            <a:r>
              <a:rPr spc="-229"/>
              <a:t> </a:t>
            </a:r>
            <a:r>
              <a:rPr spc="-105"/>
              <a:t>3,</a:t>
            </a:r>
            <a:r>
              <a:rPr spc="-170"/>
              <a:t> </a:t>
            </a:r>
            <a:r>
              <a:rPr spc="-75"/>
              <a:t>2025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70"/>
              <a:t>Challenges:</a:t>
            </a:r>
            <a:r>
              <a:rPr sz="2400" spc="-235"/>
              <a:t> </a:t>
            </a:r>
            <a:r>
              <a:rPr sz="2400" spc="-10"/>
              <a:t>Occlusion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131900" y="3538283"/>
            <a:ext cx="1175385" cy="117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u="sng" spc="-155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2"/>
              </a:rPr>
              <a:t> </a:t>
            </a:r>
            <a:r>
              <a:rPr sz="600" u="sng" spc="-1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2"/>
              </a:rPr>
              <a:t>This</a:t>
            </a:r>
            <a:r>
              <a:rPr sz="600" u="sng" spc="-5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2"/>
              </a:rPr>
              <a:t> </a:t>
            </a:r>
            <a:r>
              <a:rPr sz="600" u="sng" spc="-3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2"/>
              </a:rPr>
              <a:t>image</a:t>
            </a:r>
            <a:r>
              <a:rPr sz="600" spc="-20">
                <a:solidFill>
                  <a:srgbClr val="0096A7"/>
                </a:solidFill>
                <a:latin typeface="Tahoma"/>
                <a:cs typeface="Tahoma"/>
              </a:rPr>
              <a:t> </a:t>
            </a:r>
            <a:r>
              <a:rPr sz="600">
                <a:solidFill>
                  <a:srgbClr val="999999"/>
                </a:solidFill>
                <a:latin typeface="Tahoma"/>
                <a:cs typeface="Tahoma"/>
              </a:rPr>
              <a:t>is</a:t>
            </a:r>
            <a:r>
              <a:rPr sz="600" spc="-105">
                <a:solidFill>
                  <a:srgbClr val="999999"/>
                </a:solidFill>
                <a:latin typeface="Tahoma"/>
                <a:cs typeface="Tahoma"/>
              </a:rPr>
              <a:t> </a:t>
            </a:r>
            <a:r>
              <a:rPr sz="600" u="sng" spc="-145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3"/>
              </a:rPr>
              <a:t> </a:t>
            </a:r>
            <a:r>
              <a:rPr sz="600" u="sng" spc="-35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3"/>
              </a:rPr>
              <a:t>CC0</a:t>
            </a:r>
            <a:r>
              <a:rPr sz="600" u="sng" spc="-25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3"/>
              </a:rPr>
              <a:t> </a:t>
            </a:r>
            <a:r>
              <a:rPr sz="600" u="sng" spc="-4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3"/>
              </a:rPr>
              <a:t>1.0</a:t>
            </a:r>
            <a:r>
              <a:rPr sz="600" spc="-75">
                <a:solidFill>
                  <a:srgbClr val="0096A7"/>
                </a:solidFill>
                <a:latin typeface="Tahoma"/>
                <a:cs typeface="Tahoma"/>
              </a:rPr>
              <a:t> </a:t>
            </a:r>
            <a:r>
              <a:rPr sz="600">
                <a:solidFill>
                  <a:srgbClr val="999999"/>
                </a:solidFill>
                <a:latin typeface="Tahoma"/>
                <a:cs typeface="Tahoma"/>
              </a:rPr>
              <a:t>public</a:t>
            </a:r>
            <a:r>
              <a:rPr sz="600" spc="10">
                <a:solidFill>
                  <a:srgbClr val="999999"/>
                </a:solidFill>
                <a:latin typeface="Tahoma"/>
                <a:cs typeface="Tahoma"/>
              </a:rPr>
              <a:t> </a:t>
            </a:r>
            <a:r>
              <a:rPr sz="600" spc="-10">
                <a:solidFill>
                  <a:srgbClr val="999999"/>
                </a:solidFill>
                <a:latin typeface="Tahoma"/>
                <a:cs typeface="Tahoma"/>
              </a:rPr>
              <a:t>domain</a:t>
            </a:r>
            <a:endParaRPr sz="6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43192" y="3492753"/>
            <a:ext cx="1077595" cy="212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600" u="sng" spc="-15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</a:rPr>
              <a:t> </a:t>
            </a:r>
            <a:r>
              <a:rPr sz="600" u="sng" spc="-1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</a:rPr>
              <a:t>This</a:t>
            </a:r>
            <a:r>
              <a:rPr sz="600" u="sng" spc="-35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</a:rPr>
              <a:t> </a:t>
            </a:r>
            <a:r>
              <a:rPr sz="600" u="sng" spc="-3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</a:rPr>
              <a:t>image</a:t>
            </a:r>
            <a:r>
              <a:rPr sz="600">
                <a:solidFill>
                  <a:srgbClr val="0096A7"/>
                </a:solidFill>
                <a:latin typeface="Tahoma"/>
                <a:cs typeface="Tahoma"/>
              </a:rPr>
              <a:t> </a:t>
            </a:r>
            <a:r>
              <a:rPr sz="600">
                <a:solidFill>
                  <a:srgbClr val="999999"/>
                </a:solidFill>
                <a:latin typeface="Tahoma"/>
                <a:cs typeface="Tahoma"/>
              </a:rPr>
              <a:t>by</a:t>
            </a:r>
            <a:r>
              <a:rPr sz="600" spc="-125">
                <a:solidFill>
                  <a:srgbClr val="999999"/>
                </a:solidFill>
                <a:latin typeface="Tahoma"/>
                <a:cs typeface="Tahoma"/>
              </a:rPr>
              <a:t> </a:t>
            </a:r>
            <a:r>
              <a:rPr sz="600" u="sng" spc="-16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 </a:t>
            </a:r>
            <a:r>
              <a:rPr sz="600" u="sng" spc="-2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jonsson</a:t>
            </a:r>
            <a:r>
              <a:rPr sz="600" spc="-65">
                <a:solidFill>
                  <a:srgbClr val="0096A7"/>
                </a:solidFill>
                <a:latin typeface="Tahoma"/>
                <a:cs typeface="Tahoma"/>
              </a:rPr>
              <a:t> </a:t>
            </a:r>
            <a:r>
              <a:rPr sz="600" spc="-10">
                <a:solidFill>
                  <a:srgbClr val="999999"/>
                </a:solidFill>
                <a:latin typeface="Tahoma"/>
                <a:cs typeface="Tahoma"/>
              </a:rPr>
              <a:t>is</a:t>
            </a:r>
            <a:r>
              <a:rPr sz="600" spc="-35">
                <a:solidFill>
                  <a:srgbClr val="999999"/>
                </a:solidFill>
                <a:latin typeface="Tahoma"/>
                <a:cs typeface="Tahoma"/>
              </a:rPr>
              <a:t> </a:t>
            </a:r>
            <a:r>
              <a:rPr sz="600" spc="-10">
                <a:solidFill>
                  <a:srgbClr val="999999"/>
                </a:solidFill>
                <a:latin typeface="Tahoma"/>
                <a:cs typeface="Tahoma"/>
              </a:rPr>
              <a:t>licensed</a:t>
            </a:r>
            <a:endParaRPr sz="600">
              <a:latin typeface="Tahoma"/>
              <a:cs typeface="Tahoma"/>
            </a:endParaRPr>
          </a:p>
          <a:p>
            <a:pPr marL="6985" algn="ctr">
              <a:lnSpc>
                <a:spcPct val="100000"/>
              </a:lnSpc>
              <a:spcBef>
                <a:spcPts val="30"/>
              </a:spcBef>
            </a:pPr>
            <a:r>
              <a:rPr sz="600" spc="-20">
                <a:solidFill>
                  <a:srgbClr val="999999"/>
                </a:solidFill>
                <a:latin typeface="Tahoma"/>
                <a:cs typeface="Tahoma"/>
              </a:rPr>
              <a:t>under</a:t>
            </a:r>
            <a:r>
              <a:rPr sz="600" spc="-75">
                <a:solidFill>
                  <a:srgbClr val="999999"/>
                </a:solidFill>
                <a:latin typeface="Tahoma"/>
                <a:cs typeface="Tahoma"/>
              </a:rPr>
              <a:t> </a:t>
            </a:r>
            <a:r>
              <a:rPr sz="600" u="sng" spc="-125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</a:rPr>
              <a:t> </a:t>
            </a:r>
            <a:r>
              <a:rPr sz="600" u="sng" spc="-35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5"/>
              </a:rPr>
              <a:t>CC-</a:t>
            </a:r>
            <a:r>
              <a:rPr sz="600" u="sng" spc="-3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5"/>
              </a:rPr>
              <a:t>BY</a:t>
            </a:r>
            <a:r>
              <a:rPr sz="600" u="sng" spc="-8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5"/>
              </a:rPr>
              <a:t> </a:t>
            </a:r>
            <a:r>
              <a:rPr sz="600" u="sng" spc="-25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5"/>
              </a:rPr>
              <a:t>2.0</a:t>
            </a:r>
            <a:endParaRPr sz="6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00075" y="1352550"/>
            <a:ext cx="2238375" cy="20955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905125" y="1352550"/>
            <a:ext cx="2933700" cy="209550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785615" y="3538283"/>
            <a:ext cx="1174115" cy="117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u="sng" spc="-125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8"/>
              </a:rPr>
              <a:t> </a:t>
            </a:r>
            <a:r>
              <a:rPr sz="600" u="sng" spc="-1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8"/>
              </a:rPr>
              <a:t>This</a:t>
            </a:r>
            <a:r>
              <a:rPr sz="600" u="sng" spc="-55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8"/>
              </a:rPr>
              <a:t> </a:t>
            </a:r>
            <a:r>
              <a:rPr sz="600" u="sng" spc="-3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8"/>
              </a:rPr>
              <a:t>image</a:t>
            </a:r>
            <a:r>
              <a:rPr sz="600" spc="-25">
                <a:solidFill>
                  <a:srgbClr val="0096A7"/>
                </a:solidFill>
                <a:latin typeface="Tahoma"/>
                <a:cs typeface="Tahoma"/>
              </a:rPr>
              <a:t> </a:t>
            </a:r>
            <a:r>
              <a:rPr sz="600">
                <a:solidFill>
                  <a:srgbClr val="999999"/>
                </a:solidFill>
                <a:latin typeface="Tahoma"/>
                <a:cs typeface="Tahoma"/>
              </a:rPr>
              <a:t>is</a:t>
            </a:r>
            <a:r>
              <a:rPr sz="600" spc="-125">
                <a:solidFill>
                  <a:srgbClr val="999999"/>
                </a:solidFill>
                <a:latin typeface="Tahoma"/>
                <a:cs typeface="Tahoma"/>
              </a:rPr>
              <a:t> </a:t>
            </a:r>
            <a:r>
              <a:rPr sz="600" u="sng" spc="-12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3"/>
              </a:rPr>
              <a:t> </a:t>
            </a:r>
            <a:r>
              <a:rPr sz="600" u="sng" spc="-35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3"/>
              </a:rPr>
              <a:t>CC0</a:t>
            </a:r>
            <a:r>
              <a:rPr sz="600" u="sng" spc="-25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3"/>
              </a:rPr>
              <a:t> </a:t>
            </a:r>
            <a:r>
              <a:rPr sz="600" u="sng" spc="-4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3"/>
              </a:rPr>
              <a:t>1.0</a:t>
            </a:r>
            <a:r>
              <a:rPr sz="600" spc="-80">
                <a:solidFill>
                  <a:srgbClr val="0096A7"/>
                </a:solidFill>
                <a:latin typeface="Tahoma"/>
                <a:cs typeface="Tahoma"/>
              </a:rPr>
              <a:t> </a:t>
            </a:r>
            <a:r>
              <a:rPr sz="600">
                <a:solidFill>
                  <a:srgbClr val="999999"/>
                </a:solidFill>
                <a:latin typeface="Tahoma"/>
                <a:cs typeface="Tahoma"/>
              </a:rPr>
              <a:t>public </a:t>
            </a:r>
            <a:r>
              <a:rPr sz="600" spc="-10">
                <a:solidFill>
                  <a:srgbClr val="999999"/>
                </a:solidFill>
                <a:latin typeface="Tahoma"/>
                <a:cs typeface="Tahoma"/>
              </a:rPr>
              <a:t>domain</a:t>
            </a:r>
            <a:endParaRPr sz="60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905500" y="1371600"/>
            <a:ext cx="2752725" cy="2057400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/>
              <a:t>Stanford</a:t>
            </a:r>
            <a:r>
              <a:rPr spc="-195"/>
              <a:t> </a:t>
            </a:r>
            <a:r>
              <a:rPr spc="-85"/>
              <a:t>CS231n</a:t>
            </a:r>
            <a:r>
              <a:rPr spc="-180"/>
              <a:t> </a:t>
            </a:r>
            <a:r>
              <a:rPr spc="-35"/>
              <a:t>10</a:t>
            </a:r>
            <a:r>
              <a:rPr sz="1800" spc="-52" baseline="25462"/>
              <a:t>th</a:t>
            </a:r>
            <a:r>
              <a:rPr sz="1800" spc="44" baseline="25462"/>
              <a:t> </a:t>
            </a:r>
            <a:r>
              <a:rPr sz="1800" spc="-30"/>
              <a:t>Anniversary</a:t>
            </a:r>
            <a:endParaRPr sz="1800"/>
          </a:p>
        </p:txBody>
      </p:sp>
      <p:sp>
        <p:nvSpPr>
          <p:cNvPr id="10" name="object 10"/>
          <p:cNvSpPr txBox="1"/>
          <p:nvPr/>
        </p:nvSpPr>
        <p:spPr>
          <a:xfrm>
            <a:off x="5328920" y="4802992"/>
            <a:ext cx="1026794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35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8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800" spc="-20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89065" y="4802992"/>
            <a:ext cx="279400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z="1800" spc="-70" dirty="0">
                <a:solidFill>
                  <a:srgbClr val="FFFFFF"/>
                </a:solidFill>
                <a:latin typeface="Tahoma"/>
                <a:cs typeface="Tahoma"/>
              </a:rPr>
              <a:t>53</a:t>
            </a:fld>
            <a:endParaRPr sz="1800">
              <a:latin typeface="Tahoma"/>
              <a:cs typeface="Tahom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/>
              <a:t>April</a:t>
            </a:r>
            <a:r>
              <a:rPr spc="-229"/>
              <a:t> </a:t>
            </a:r>
            <a:r>
              <a:rPr spc="-105"/>
              <a:t>3,</a:t>
            </a:r>
            <a:r>
              <a:rPr spc="-170"/>
              <a:t> </a:t>
            </a:r>
            <a:r>
              <a:rPr spc="-75"/>
              <a:t>2025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70"/>
              <a:t>Challenges:</a:t>
            </a:r>
            <a:r>
              <a:rPr sz="2400" spc="-235"/>
              <a:t> </a:t>
            </a:r>
            <a:r>
              <a:rPr sz="2400" spc="-25"/>
              <a:t>Deformation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632688" y="3732783"/>
            <a:ext cx="1166495" cy="212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600" u="sng" spc="-17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2"/>
              </a:rPr>
              <a:t> </a:t>
            </a:r>
            <a:r>
              <a:rPr sz="600" u="sng" spc="-1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2"/>
              </a:rPr>
              <a:t>This</a:t>
            </a:r>
            <a:r>
              <a:rPr sz="600" u="sng" spc="-3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2"/>
              </a:rPr>
              <a:t> image</a:t>
            </a:r>
            <a:r>
              <a:rPr sz="600" spc="5">
                <a:solidFill>
                  <a:srgbClr val="0096A7"/>
                </a:solidFill>
                <a:latin typeface="Tahoma"/>
                <a:cs typeface="Tahoma"/>
              </a:rPr>
              <a:t> </a:t>
            </a:r>
            <a:r>
              <a:rPr sz="600">
                <a:solidFill>
                  <a:srgbClr val="999999"/>
                </a:solidFill>
                <a:latin typeface="Tahoma"/>
                <a:cs typeface="Tahoma"/>
              </a:rPr>
              <a:t>by</a:t>
            </a:r>
            <a:r>
              <a:rPr sz="600" spc="-80">
                <a:solidFill>
                  <a:srgbClr val="999999"/>
                </a:solidFill>
                <a:latin typeface="Tahoma"/>
                <a:cs typeface="Tahoma"/>
              </a:rPr>
              <a:t> </a:t>
            </a:r>
            <a:r>
              <a:rPr sz="600" u="sng" spc="-1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3"/>
              </a:rPr>
              <a:t>Umberto</a:t>
            </a:r>
            <a:r>
              <a:rPr sz="600" u="sng" spc="-35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3"/>
              </a:rPr>
              <a:t> </a:t>
            </a:r>
            <a:r>
              <a:rPr sz="600" u="sng" spc="-25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3"/>
              </a:rPr>
              <a:t>Salvagnin</a:t>
            </a:r>
            <a:r>
              <a:rPr sz="600" spc="-5">
                <a:solidFill>
                  <a:srgbClr val="0096A7"/>
                </a:solidFill>
                <a:latin typeface="Tahoma"/>
                <a:cs typeface="Tahoma"/>
              </a:rPr>
              <a:t> </a:t>
            </a:r>
            <a:r>
              <a:rPr sz="600" spc="-25">
                <a:solidFill>
                  <a:srgbClr val="999999"/>
                </a:solidFill>
                <a:latin typeface="Tahoma"/>
                <a:cs typeface="Tahoma"/>
              </a:rPr>
              <a:t>is</a:t>
            </a:r>
            <a:endParaRPr sz="600">
              <a:latin typeface="Tahoma"/>
              <a:cs typeface="Tahoma"/>
            </a:endParaRPr>
          </a:p>
          <a:p>
            <a:pPr marL="1270" algn="ctr">
              <a:lnSpc>
                <a:spcPct val="100000"/>
              </a:lnSpc>
              <a:spcBef>
                <a:spcPts val="30"/>
              </a:spcBef>
            </a:pPr>
            <a:r>
              <a:rPr sz="600" spc="-10">
                <a:solidFill>
                  <a:srgbClr val="999999"/>
                </a:solidFill>
                <a:latin typeface="Tahoma"/>
                <a:cs typeface="Tahoma"/>
              </a:rPr>
              <a:t>licensed</a:t>
            </a:r>
            <a:r>
              <a:rPr sz="600" spc="50">
                <a:solidFill>
                  <a:srgbClr val="999999"/>
                </a:solidFill>
                <a:latin typeface="Tahoma"/>
                <a:cs typeface="Tahoma"/>
              </a:rPr>
              <a:t> </a:t>
            </a:r>
            <a:r>
              <a:rPr sz="600" spc="-20">
                <a:solidFill>
                  <a:srgbClr val="999999"/>
                </a:solidFill>
                <a:latin typeface="Tahoma"/>
                <a:cs typeface="Tahoma"/>
              </a:rPr>
              <a:t>under</a:t>
            </a:r>
            <a:r>
              <a:rPr sz="600" spc="-90">
                <a:solidFill>
                  <a:srgbClr val="999999"/>
                </a:solidFill>
                <a:latin typeface="Tahoma"/>
                <a:cs typeface="Tahoma"/>
              </a:rPr>
              <a:t> </a:t>
            </a:r>
            <a:r>
              <a:rPr sz="600" u="sng" spc="-35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CC-</a:t>
            </a:r>
            <a:r>
              <a:rPr sz="600" u="sng" spc="-3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BY</a:t>
            </a:r>
            <a:r>
              <a:rPr sz="600" u="sng" spc="-8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 </a:t>
            </a:r>
            <a:r>
              <a:rPr sz="600" u="sng" spc="-25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2.0</a:t>
            </a:r>
            <a:endParaRPr sz="6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368920" y="3708146"/>
            <a:ext cx="1137285" cy="202565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321310" marR="5080" indent="-309245">
              <a:lnSpc>
                <a:spcPts val="670"/>
              </a:lnSpc>
              <a:spcBef>
                <a:spcPts val="165"/>
              </a:spcBef>
            </a:pPr>
            <a:r>
              <a:rPr sz="600" u="sng" spc="-105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5"/>
              </a:rPr>
              <a:t> </a:t>
            </a:r>
            <a:r>
              <a:rPr sz="600" u="sng" spc="-1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5"/>
              </a:rPr>
              <a:t>This</a:t>
            </a:r>
            <a:r>
              <a:rPr sz="600" u="sng" spc="-5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5"/>
              </a:rPr>
              <a:t> </a:t>
            </a:r>
            <a:r>
              <a:rPr sz="600" u="sng" spc="-3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5"/>
              </a:rPr>
              <a:t>image</a:t>
            </a:r>
            <a:r>
              <a:rPr sz="600" spc="-5">
                <a:solidFill>
                  <a:srgbClr val="0096A7"/>
                </a:solidFill>
                <a:latin typeface="Tahoma"/>
                <a:cs typeface="Tahoma"/>
              </a:rPr>
              <a:t> </a:t>
            </a:r>
            <a:r>
              <a:rPr sz="600">
                <a:solidFill>
                  <a:srgbClr val="999999"/>
                </a:solidFill>
                <a:latin typeface="Tahoma"/>
                <a:cs typeface="Tahoma"/>
              </a:rPr>
              <a:t>by</a:t>
            </a:r>
            <a:r>
              <a:rPr sz="600" u="sng" spc="-12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6"/>
              </a:rPr>
              <a:t> </a:t>
            </a:r>
            <a:r>
              <a:rPr sz="600" u="sng" spc="-1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6"/>
              </a:rPr>
              <a:t>Tom</a:t>
            </a:r>
            <a:r>
              <a:rPr sz="600" u="sng" spc="-75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6"/>
              </a:rPr>
              <a:t> </a:t>
            </a:r>
            <a:r>
              <a:rPr sz="600" u="sng" spc="-1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6"/>
              </a:rPr>
              <a:t>Tha</a:t>
            </a:r>
            <a:r>
              <a:rPr sz="600" spc="-10">
                <a:solidFill>
                  <a:srgbClr val="0096A7"/>
                </a:solidFill>
                <a:latin typeface="Tahoma"/>
                <a:cs typeface="Tahoma"/>
                <a:hlinkClick r:id="rId6"/>
              </a:rPr>
              <a:t>i</a:t>
            </a:r>
            <a:r>
              <a:rPr sz="600" spc="-70">
                <a:solidFill>
                  <a:srgbClr val="0096A7"/>
                </a:solidFill>
                <a:latin typeface="Tahoma"/>
                <a:cs typeface="Tahoma"/>
              </a:rPr>
              <a:t> </a:t>
            </a:r>
            <a:r>
              <a:rPr sz="600" spc="-10">
                <a:solidFill>
                  <a:srgbClr val="999999"/>
                </a:solidFill>
                <a:latin typeface="Tahoma"/>
                <a:cs typeface="Tahoma"/>
              </a:rPr>
              <a:t>is</a:t>
            </a:r>
            <a:r>
              <a:rPr sz="600" spc="-45">
                <a:solidFill>
                  <a:srgbClr val="999999"/>
                </a:solidFill>
                <a:latin typeface="Tahoma"/>
                <a:cs typeface="Tahoma"/>
              </a:rPr>
              <a:t> </a:t>
            </a:r>
            <a:r>
              <a:rPr sz="600" spc="-10">
                <a:solidFill>
                  <a:srgbClr val="999999"/>
                </a:solidFill>
                <a:latin typeface="Tahoma"/>
                <a:cs typeface="Tahoma"/>
              </a:rPr>
              <a:t>licensed</a:t>
            </a:r>
            <a:r>
              <a:rPr sz="600" spc="500">
                <a:solidFill>
                  <a:srgbClr val="999999"/>
                </a:solidFill>
                <a:latin typeface="Tahoma"/>
                <a:cs typeface="Tahoma"/>
              </a:rPr>
              <a:t> </a:t>
            </a:r>
            <a:r>
              <a:rPr sz="600" spc="-20">
                <a:solidFill>
                  <a:srgbClr val="999999"/>
                </a:solidFill>
                <a:latin typeface="Tahoma"/>
                <a:cs typeface="Tahoma"/>
              </a:rPr>
              <a:t>under</a:t>
            </a:r>
            <a:r>
              <a:rPr sz="600" spc="-114">
                <a:solidFill>
                  <a:srgbClr val="999999"/>
                </a:solidFill>
                <a:latin typeface="Tahoma"/>
                <a:cs typeface="Tahoma"/>
              </a:rPr>
              <a:t> </a:t>
            </a:r>
            <a:r>
              <a:rPr sz="600" u="sng" spc="-85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 </a:t>
            </a:r>
            <a:r>
              <a:rPr sz="600" u="sng" spc="-35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CC-</a:t>
            </a:r>
            <a:r>
              <a:rPr sz="600" u="sng" spc="-3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BY</a:t>
            </a:r>
            <a:r>
              <a:rPr sz="600" u="sng" spc="-75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 </a:t>
            </a:r>
            <a:r>
              <a:rPr sz="600" u="sng" spc="-25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2.0</a:t>
            </a:r>
            <a:endParaRPr sz="6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06314" y="3722687"/>
            <a:ext cx="850265" cy="203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700"/>
              </a:lnSpc>
              <a:spcBef>
                <a:spcPts val="100"/>
              </a:spcBef>
            </a:pPr>
            <a:r>
              <a:rPr sz="600" u="sng" spc="-15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</a:rPr>
              <a:t> </a:t>
            </a:r>
            <a:r>
              <a:rPr sz="600" u="sng" spc="-1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7"/>
              </a:rPr>
              <a:t>This</a:t>
            </a:r>
            <a:r>
              <a:rPr sz="600" u="sng" spc="-45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7"/>
              </a:rPr>
              <a:t> </a:t>
            </a:r>
            <a:r>
              <a:rPr sz="600" u="sng" spc="-3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7"/>
              </a:rPr>
              <a:t>image</a:t>
            </a:r>
            <a:r>
              <a:rPr sz="600" spc="-20">
                <a:solidFill>
                  <a:srgbClr val="0096A7"/>
                </a:solidFill>
                <a:latin typeface="Tahoma"/>
                <a:cs typeface="Tahoma"/>
              </a:rPr>
              <a:t> </a:t>
            </a:r>
            <a:r>
              <a:rPr sz="600">
                <a:solidFill>
                  <a:srgbClr val="999999"/>
                </a:solidFill>
                <a:latin typeface="Tahoma"/>
                <a:cs typeface="Tahoma"/>
              </a:rPr>
              <a:t>by</a:t>
            </a:r>
            <a:r>
              <a:rPr sz="600" spc="-125">
                <a:solidFill>
                  <a:srgbClr val="999999"/>
                </a:solidFill>
                <a:latin typeface="Tahoma"/>
                <a:cs typeface="Tahoma"/>
              </a:rPr>
              <a:t> </a:t>
            </a:r>
            <a:r>
              <a:rPr sz="600" u="sng" spc="-16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</a:rPr>
              <a:t> </a:t>
            </a:r>
            <a:r>
              <a:rPr sz="600" u="sng" spc="-2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8"/>
              </a:rPr>
              <a:t>sare</a:t>
            </a:r>
            <a:r>
              <a:rPr sz="600" u="sng" spc="-15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8"/>
              </a:rPr>
              <a:t> </a:t>
            </a:r>
            <a:r>
              <a:rPr sz="600" u="sng" spc="-25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8"/>
              </a:rPr>
              <a:t>bea</a:t>
            </a:r>
            <a:r>
              <a:rPr sz="600" spc="-25">
                <a:solidFill>
                  <a:srgbClr val="0096A7"/>
                </a:solidFill>
                <a:latin typeface="Tahoma"/>
                <a:cs typeface="Tahoma"/>
                <a:hlinkClick r:id="rId8"/>
              </a:rPr>
              <a:t>r</a:t>
            </a:r>
            <a:r>
              <a:rPr sz="600" spc="-5">
                <a:solidFill>
                  <a:srgbClr val="0096A7"/>
                </a:solidFill>
                <a:latin typeface="Tahoma"/>
                <a:cs typeface="Tahoma"/>
              </a:rPr>
              <a:t> </a:t>
            </a:r>
            <a:r>
              <a:rPr sz="600" spc="-35">
                <a:solidFill>
                  <a:srgbClr val="999999"/>
                </a:solidFill>
                <a:latin typeface="Tahoma"/>
                <a:cs typeface="Tahoma"/>
              </a:rPr>
              <a:t>is</a:t>
            </a:r>
            <a:endParaRPr sz="600">
              <a:latin typeface="Tahoma"/>
              <a:cs typeface="Tahoma"/>
            </a:endParaRPr>
          </a:p>
          <a:p>
            <a:pPr marL="32384">
              <a:lnSpc>
                <a:spcPts val="700"/>
              </a:lnSpc>
            </a:pPr>
            <a:r>
              <a:rPr sz="600" spc="-10">
                <a:solidFill>
                  <a:srgbClr val="999999"/>
                </a:solidFill>
                <a:latin typeface="Tahoma"/>
                <a:cs typeface="Tahoma"/>
              </a:rPr>
              <a:t>licensed</a:t>
            </a:r>
            <a:r>
              <a:rPr sz="600" spc="30">
                <a:solidFill>
                  <a:srgbClr val="999999"/>
                </a:solidFill>
                <a:latin typeface="Tahoma"/>
                <a:cs typeface="Tahoma"/>
              </a:rPr>
              <a:t> </a:t>
            </a:r>
            <a:r>
              <a:rPr sz="600" spc="-20">
                <a:solidFill>
                  <a:srgbClr val="999999"/>
                </a:solidFill>
                <a:latin typeface="Tahoma"/>
                <a:cs typeface="Tahoma"/>
              </a:rPr>
              <a:t>under</a:t>
            </a:r>
            <a:r>
              <a:rPr sz="600" spc="-85">
                <a:solidFill>
                  <a:srgbClr val="999999"/>
                </a:solidFill>
                <a:latin typeface="Tahoma"/>
                <a:cs typeface="Tahoma"/>
              </a:rPr>
              <a:t> </a:t>
            </a:r>
            <a:r>
              <a:rPr sz="600" u="sng" spc="-17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</a:rPr>
              <a:t> </a:t>
            </a:r>
            <a:r>
              <a:rPr sz="600" u="sng" spc="-35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CC-</a:t>
            </a:r>
            <a:r>
              <a:rPr sz="600" u="sng" spc="-3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BY</a:t>
            </a:r>
            <a:r>
              <a:rPr sz="600" u="sng" spc="-85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 </a:t>
            </a:r>
            <a:r>
              <a:rPr sz="600" u="sng" spc="-25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2.0</a:t>
            </a:r>
            <a:endParaRPr sz="60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5250" y="1304925"/>
            <a:ext cx="2238375" cy="238125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724400" y="1304925"/>
            <a:ext cx="2000250" cy="238125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438400" y="1304925"/>
            <a:ext cx="2181225" cy="238125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948432" y="3748151"/>
            <a:ext cx="1169035" cy="2120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600" u="sng" spc="-14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12"/>
              </a:rPr>
              <a:t> </a:t>
            </a:r>
            <a:r>
              <a:rPr sz="600" u="sng" spc="-1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12"/>
              </a:rPr>
              <a:t>This</a:t>
            </a:r>
            <a:r>
              <a:rPr sz="600" u="sng" spc="-35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12"/>
              </a:rPr>
              <a:t> </a:t>
            </a:r>
            <a:r>
              <a:rPr sz="600" u="sng" spc="-3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12"/>
              </a:rPr>
              <a:t>image</a:t>
            </a:r>
            <a:r>
              <a:rPr sz="600" spc="5">
                <a:solidFill>
                  <a:srgbClr val="0096A7"/>
                </a:solidFill>
                <a:latin typeface="Tahoma"/>
                <a:cs typeface="Tahoma"/>
              </a:rPr>
              <a:t> </a:t>
            </a:r>
            <a:r>
              <a:rPr sz="600">
                <a:solidFill>
                  <a:srgbClr val="999999"/>
                </a:solidFill>
                <a:latin typeface="Tahoma"/>
                <a:cs typeface="Tahoma"/>
              </a:rPr>
              <a:t>by</a:t>
            </a:r>
            <a:r>
              <a:rPr sz="600" spc="-125">
                <a:solidFill>
                  <a:srgbClr val="999999"/>
                </a:solidFill>
                <a:latin typeface="Tahoma"/>
                <a:cs typeface="Tahoma"/>
              </a:rPr>
              <a:t> </a:t>
            </a:r>
            <a:r>
              <a:rPr sz="600" u="sng" spc="-155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3"/>
              </a:rPr>
              <a:t> </a:t>
            </a:r>
            <a:r>
              <a:rPr sz="600" u="sng" spc="-1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3"/>
              </a:rPr>
              <a:t>Umberto</a:t>
            </a:r>
            <a:r>
              <a:rPr sz="600" u="sng" spc="-3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3"/>
              </a:rPr>
              <a:t> </a:t>
            </a:r>
            <a:r>
              <a:rPr sz="600" u="sng" spc="-25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3"/>
              </a:rPr>
              <a:t>Salvagnin</a:t>
            </a:r>
            <a:r>
              <a:rPr sz="600" spc="-10">
                <a:solidFill>
                  <a:srgbClr val="0096A7"/>
                </a:solidFill>
                <a:latin typeface="Tahoma"/>
                <a:cs typeface="Tahoma"/>
              </a:rPr>
              <a:t> </a:t>
            </a:r>
            <a:r>
              <a:rPr sz="600" spc="-25">
                <a:solidFill>
                  <a:srgbClr val="999999"/>
                </a:solidFill>
                <a:latin typeface="Tahoma"/>
                <a:cs typeface="Tahoma"/>
              </a:rPr>
              <a:t>is</a:t>
            </a:r>
            <a:endParaRPr sz="600">
              <a:latin typeface="Tahoma"/>
              <a:cs typeface="Tahoma"/>
            </a:endParaRPr>
          </a:p>
          <a:p>
            <a:pPr marL="4445" algn="ctr">
              <a:lnSpc>
                <a:spcPct val="100000"/>
              </a:lnSpc>
              <a:spcBef>
                <a:spcPts val="30"/>
              </a:spcBef>
            </a:pPr>
            <a:r>
              <a:rPr sz="600" spc="-10">
                <a:solidFill>
                  <a:srgbClr val="999999"/>
                </a:solidFill>
                <a:latin typeface="Tahoma"/>
                <a:cs typeface="Tahoma"/>
              </a:rPr>
              <a:t>licensed</a:t>
            </a:r>
            <a:r>
              <a:rPr sz="600" spc="35">
                <a:solidFill>
                  <a:srgbClr val="999999"/>
                </a:solidFill>
                <a:latin typeface="Tahoma"/>
                <a:cs typeface="Tahoma"/>
              </a:rPr>
              <a:t> </a:t>
            </a:r>
            <a:r>
              <a:rPr sz="600" spc="-20">
                <a:solidFill>
                  <a:srgbClr val="999999"/>
                </a:solidFill>
                <a:latin typeface="Tahoma"/>
                <a:cs typeface="Tahoma"/>
              </a:rPr>
              <a:t>under</a:t>
            </a:r>
            <a:r>
              <a:rPr sz="600" spc="-60">
                <a:solidFill>
                  <a:srgbClr val="999999"/>
                </a:solidFill>
                <a:latin typeface="Tahoma"/>
                <a:cs typeface="Tahoma"/>
              </a:rPr>
              <a:t> </a:t>
            </a:r>
            <a:r>
              <a:rPr sz="600" u="sng" spc="-35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CC-</a:t>
            </a:r>
            <a:r>
              <a:rPr sz="600" u="sng" spc="-3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BY</a:t>
            </a:r>
            <a:r>
              <a:rPr sz="600" u="sng" spc="-8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 </a:t>
            </a:r>
            <a:r>
              <a:rPr sz="600" u="sng" spc="-25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2.0</a:t>
            </a:r>
            <a:endParaRPr sz="600">
              <a:latin typeface="Tahoma"/>
              <a:cs typeface="Taho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6800850" y="1304925"/>
            <a:ext cx="2276475" cy="2381250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/>
              <a:t>Stanford</a:t>
            </a:r>
            <a:r>
              <a:rPr spc="-195"/>
              <a:t> </a:t>
            </a:r>
            <a:r>
              <a:rPr spc="-85"/>
              <a:t>CS231n</a:t>
            </a:r>
            <a:r>
              <a:rPr spc="-180"/>
              <a:t> </a:t>
            </a:r>
            <a:r>
              <a:rPr spc="-35"/>
              <a:t>10</a:t>
            </a:r>
            <a:r>
              <a:rPr sz="1800" spc="-52" baseline="25462"/>
              <a:t>th</a:t>
            </a:r>
            <a:r>
              <a:rPr sz="1800" spc="44" baseline="25462"/>
              <a:t> </a:t>
            </a:r>
            <a:r>
              <a:rPr sz="1800" spc="-30"/>
              <a:t>Anniversary</a:t>
            </a:r>
            <a:endParaRPr sz="1800"/>
          </a:p>
        </p:txBody>
      </p:sp>
      <p:sp>
        <p:nvSpPr>
          <p:cNvPr id="12" name="object 12"/>
          <p:cNvSpPr txBox="1"/>
          <p:nvPr/>
        </p:nvSpPr>
        <p:spPr>
          <a:xfrm>
            <a:off x="5328920" y="4802992"/>
            <a:ext cx="1026794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35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8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800" spc="-20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489065" y="4802992"/>
            <a:ext cx="279400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z="1800" spc="-70" dirty="0">
                <a:solidFill>
                  <a:srgbClr val="FFFFFF"/>
                </a:solidFill>
                <a:latin typeface="Tahoma"/>
                <a:cs typeface="Tahoma"/>
              </a:rPr>
              <a:t>54</a:t>
            </a:fld>
            <a:endParaRPr sz="1800">
              <a:latin typeface="Tahoma"/>
              <a:cs typeface="Tahom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/>
              <a:t>April</a:t>
            </a:r>
            <a:r>
              <a:rPr spc="-229"/>
              <a:t> </a:t>
            </a:r>
            <a:r>
              <a:rPr spc="-105"/>
              <a:t>3,</a:t>
            </a:r>
            <a:r>
              <a:rPr spc="-170"/>
              <a:t> </a:t>
            </a:r>
            <a:r>
              <a:rPr spc="-75"/>
              <a:t>2025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70"/>
              <a:t>Challenges:</a:t>
            </a:r>
            <a:r>
              <a:rPr sz="2400" spc="-235"/>
              <a:t> </a:t>
            </a:r>
            <a:r>
              <a:rPr sz="2400" spc="-60"/>
              <a:t>Intraclass</a:t>
            </a:r>
            <a:r>
              <a:rPr sz="2400" spc="-270"/>
              <a:t> </a:t>
            </a:r>
            <a:r>
              <a:rPr sz="2400" spc="-10"/>
              <a:t>variation</a:t>
            </a:r>
            <a:endParaRPr sz="2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6400" y="933450"/>
            <a:ext cx="5486400" cy="303847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984625" y="4066857"/>
            <a:ext cx="1174750" cy="117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u="sng" spc="-125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3"/>
              </a:rPr>
              <a:t> </a:t>
            </a:r>
            <a:r>
              <a:rPr sz="600" u="sng" spc="-1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3"/>
              </a:rPr>
              <a:t>This</a:t>
            </a:r>
            <a:r>
              <a:rPr sz="600" u="sng" spc="-55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3"/>
              </a:rPr>
              <a:t> </a:t>
            </a:r>
            <a:r>
              <a:rPr sz="600" u="sng" spc="-3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3"/>
              </a:rPr>
              <a:t>image</a:t>
            </a:r>
            <a:r>
              <a:rPr sz="600" spc="-25">
                <a:solidFill>
                  <a:srgbClr val="0096A7"/>
                </a:solidFill>
                <a:latin typeface="Tahoma"/>
                <a:cs typeface="Tahoma"/>
              </a:rPr>
              <a:t> </a:t>
            </a:r>
            <a:r>
              <a:rPr sz="600">
                <a:solidFill>
                  <a:srgbClr val="999999"/>
                </a:solidFill>
                <a:latin typeface="Tahoma"/>
                <a:cs typeface="Tahoma"/>
              </a:rPr>
              <a:t>is</a:t>
            </a:r>
            <a:r>
              <a:rPr sz="600" spc="-130">
                <a:solidFill>
                  <a:srgbClr val="999999"/>
                </a:solidFill>
                <a:latin typeface="Tahoma"/>
                <a:cs typeface="Tahoma"/>
              </a:rPr>
              <a:t> </a:t>
            </a:r>
            <a:r>
              <a:rPr sz="600" u="sng" spc="-12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 </a:t>
            </a:r>
            <a:r>
              <a:rPr sz="600" u="sng" spc="-35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CC0</a:t>
            </a:r>
            <a:r>
              <a:rPr sz="600" u="sng" spc="-25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 </a:t>
            </a:r>
            <a:r>
              <a:rPr sz="600" u="sng" spc="-4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4"/>
              </a:rPr>
              <a:t>1.0</a:t>
            </a:r>
            <a:r>
              <a:rPr sz="600" spc="-75">
                <a:solidFill>
                  <a:srgbClr val="0096A7"/>
                </a:solidFill>
                <a:latin typeface="Tahoma"/>
                <a:cs typeface="Tahoma"/>
              </a:rPr>
              <a:t> </a:t>
            </a:r>
            <a:r>
              <a:rPr sz="600">
                <a:solidFill>
                  <a:srgbClr val="999999"/>
                </a:solidFill>
                <a:latin typeface="Tahoma"/>
                <a:cs typeface="Tahoma"/>
              </a:rPr>
              <a:t>public </a:t>
            </a:r>
            <a:r>
              <a:rPr sz="600" spc="-10">
                <a:solidFill>
                  <a:srgbClr val="999999"/>
                </a:solidFill>
                <a:latin typeface="Tahoma"/>
                <a:cs typeface="Tahoma"/>
              </a:rPr>
              <a:t>domain</a:t>
            </a:r>
            <a:endParaRPr sz="600">
              <a:latin typeface="Tahoma"/>
              <a:cs typeface="Tahom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/>
              <a:t>Stanford</a:t>
            </a:r>
            <a:r>
              <a:rPr spc="-195"/>
              <a:t> </a:t>
            </a:r>
            <a:r>
              <a:rPr spc="-85"/>
              <a:t>CS231n</a:t>
            </a:r>
            <a:r>
              <a:rPr spc="-180"/>
              <a:t> </a:t>
            </a:r>
            <a:r>
              <a:rPr spc="-35"/>
              <a:t>10</a:t>
            </a:r>
            <a:r>
              <a:rPr sz="1800" spc="-52" baseline="25462"/>
              <a:t>th</a:t>
            </a:r>
            <a:r>
              <a:rPr sz="1800" spc="44" baseline="25462"/>
              <a:t> </a:t>
            </a:r>
            <a:r>
              <a:rPr sz="1800" spc="-30"/>
              <a:t>Anniversary</a:t>
            </a:r>
            <a:endParaRPr sz="1800"/>
          </a:p>
        </p:txBody>
      </p:sp>
      <p:sp>
        <p:nvSpPr>
          <p:cNvPr id="6" name="object 6"/>
          <p:cNvSpPr txBox="1"/>
          <p:nvPr/>
        </p:nvSpPr>
        <p:spPr>
          <a:xfrm>
            <a:off x="5328920" y="4802992"/>
            <a:ext cx="1026794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35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8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800" spc="-20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89065" y="4802992"/>
            <a:ext cx="279400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z="1800" spc="-70" dirty="0">
                <a:solidFill>
                  <a:srgbClr val="FFFFFF"/>
                </a:solidFill>
                <a:latin typeface="Tahoma"/>
                <a:cs typeface="Tahoma"/>
              </a:rPr>
              <a:t>55</a:t>
            </a:fld>
            <a:endParaRPr sz="1800">
              <a:latin typeface="Tahoma"/>
              <a:cs typeface="Tahom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/>
              <a:t>April</a:t>
            </a:r>
            <a:r>
              <a:rPr spc="-229"/>
              <a:t> </a:t>
            </a:r>
            <a:r>
              <a:rPr spc="-105"/>
              <a:t>3,</a:t>
            </a:r>
            <a:r>
              <a:rPr spc="-170"/>
              <a:t> </a:t>
            </a:r>
            <a:r>
              <a:rPr spc="-75"/>
              <a:t>2025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70"/>
              <a:t>Challenges:</a:t>
            </a:r>
            <a:r>
              <a:rPr sz="2400" spc="-225"/>
              <a:t> </a:t>
            </a:r>
            <a:r>
              <a:rPr sz="2400" spc="-25"/>
              <a:t>Context</a:t>
            </a:r>
            <a:endParaRPr sz="2400"/>
          </a:p>
        </p:txBody>
      </p:sp>
      <p:sp>
        <p:nvSpPr>
          <p:cNvPr id="5" name="object 5"/>
          <p:cNvSpPr txBox="1"/>
          <p:nvPr/>
        </p:nvSpPr>
        <p:spPr>
          <a:xfrm>
            <a:off x="1337310" y="4276725"/>
            <a:ext cx="6690995" cy="282193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ct val="104400"/>
              </a:lnSpc>
              <a:spcBef>
                <a:spcPts val="50"/>
              </a:spcBef>
            </a:pPr>
            <a:r>
              <a:rPr sz="900" spc="-50" dirty="0">
                <a:latin typeface="Tahoma"/>
                <a:cs typeface="Tahoma"/>
              </a:rPr>
              <a:t>Image</a:t>
            </a:r>
            <a:r>
              <a:rPr sz="900" spc="355" dirty="0">
                <a:latin typeface="Tahoma"/>
                <a:cs typeface="Tahoma"/>
              </a:rPr>
              <a:t> </a:t>
            </a:r>
            <a:r>
              <a:rPr sz="900" spc="-30" dirty="0">
                <a:latin typeface="Tahoma"/>
                <a:cs typeface="Tahoma"/>
              </a:rPr>
              <a:t>source:</a:t>
            </a:r>
            <a:r>
              <a:rPr sz="900" spc="225" dirty="0">
                <a:latin typeface="Tahoma"/>
                <a:cs typeface="Tahoma"/>
              </a:rPr>
              <a:t> </a:t>
            </a:r>
            <a:r>
              <a:rPr sz="900" spc="-25" dirty="0">
                <a:solidFill>
                  <a:srgbClr val="006FC0"/>
                </a:solidFill>
                <a:latin typeface="Tahoma"/>
                <a:cs typeface="Tahoma"/>
              </a:rPr>
              <a:t>https://</a:t>
            </a:r>
            <a:r>
              <a:rPr sz="900" spc="-25" dirty="0">
                <a:solidFill>
                  <a:srgbClr val="006FC0"/>
                </a:solidFill>
                <a:latin typeface="Tahoma"/>
                <a:cs typeface="Tahoma"/>
                <a:hlinkClick r:id="rId2"/>
              </a:rPr>
              <a:t>www.linkedin.com/posts/ralph-</a:t>
            </a:r>
            <a:r>
              <a:rPr sz="900" spc="-30" dirty="0">
                <a:solidFill>
                  <a:srgbClr val="006FC0"/>
                </a:solidFill>
                <a:latin typeface="Tahoma"/>
                <a:cs typeface="Tahoma"/>
                <a:hlinkClick r:id="rId2"/>
              </a:rPr>
              <a:t>aboujaoude-</a:t>
            </a:r>
            <a:r>
              <a:rPr sz="900" spc="-25" dirty="0">
                <a:solidFill>
                  <a:srgbClr val="006FC0"/>
                </a:solidFill>
                <a:latin typeface="Tahoma"/>
                <a:cs typeface="Tahoma"/>
                <a:hlinkClick r:id="rId2"/>
              </a:rPr>
              <a:t>diaz-</a:t>
            </a:r>
            <a:r>
              <a:rPr sz="900" spc="-35" dirty="0">
                <a:solidFill>
                  <a:srgbClr val="006FC0"/>
                </a:solidFill>
                <a:latin typeface="Tahoma"/>
                <a:cs typeface="Tahoma"/>
                <a:hlinkClick r:id="rId2"/>
              </a:rPr>
              <a:t>40838313_technology-</a:t>
            </a:r>
            <a:r>
              <a:rPr sz="900" spc="-10" dirty="0">
                <a:solidFill>
                  <a:srgbClr val="006FC0"/>
                </a:solidFill>
                <a:latin typeface="Tahoma"/>
                <a:cs typeface="Tahoma"/>
                <a:hlinkClick r:id="rId2"/>
              </a:rPr>
              <a:t>artificialintelligence-</a:t>
            </a:r>
            <a:r>
              <a:rPr sz="900" spc="-20" dirty="0">
                <a:solidFill>
                  <a:srgbClr val="006FC0"/>
                </a:solidFill>
                <a:latin typeface="Tahoma"/>
                <a:cs typeface="Tahoma"/>
                <a:hlinkClick r:id="rId2"/>
              </a:rPr>
              <a:t>computervision-</a:t>
            </a:r>
            <a:r>
              <a:rPr sz="900" spc="-10" dirty="0">
                <a:solidFill>
                  <a:srgbClr val="006FC0"/>
                </a:solidFill>
                <a:latin typeface="Tahoma"/>
                <a:cs typeface="Tahoma"/>
                <a:hlinkClick r:id="rId2"/>
              </a:rPr>
              <a:t>activity-</a:t>
            </a:r>
            <a:r>
              <a:rPr sz="900" spc="-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900" spc="-50" dirty="0">
                <a:solidFill>
                  <a:srgbClr val="006FC0"/>
                </a:solidFill>
                <a:latin typeface="Tahoma"/>
                <a:cs typeface="Tahoma"/>
              </a:rPr>
              <a:t>6912446088364875776-</a:t>
            </a:r>
            <a:r>
              <a:rPr sz="900" spc="-45" dirty="0">
                <a:solidFill>
                  <a:srgbClr val="006FC0"/>
                </a:solidFill>
                <a:latin typeface="Tahoma"/>
                <a:cs typeface="Tahoma"/>
              </a:rPr>
              <a:t>h-</a:t>
            </a:r>
            <a:r>
              <a:rPr sz="900" spc="-10" dirty="0">
                <a:solidFill>
                  <a:srgbClr val="006FC0"/>
                </a:solidFill>
                <a:latin typeface="Tahoma"/>
                <a:cs typeface="Tahoma"/>
              </a:rPr>
              <a:t>Iq?utm_source=</a:t>
            </a:r>
            <a:r>
              <a:rPr sz="900" spc="-10" dirty="0" err="1">
                <a:solidFill>
                  <a:srgbClr val="006FC0"/>
                </a:solidFill>
                <a:latin typeface="Tahoma"/>
                <a:cs typeface="Tahoma"/>
              </a:rPr>
              <a:t>linkedin_share&amp;utm_medium</a:t>
            </a:r>
            <a:r>
              <a:rPr sz="900" spc="-10" dirty="0">
                <a:solidFill>
                  <a:srgbClr val="006FC0"/>
                </a:solidFill>
                <a:latin typeface="Tahoma"/>
                <a:cs typeface="Tahoma"/>
              </a:rPr>
              <a:t>=</a:t>
            </a:r>
            <a:r>
              <a:rPr sz="900" spc="-10" dirty="0" err="1">
                <a:solidFill>
                  <a:srgbClr val="006FC0"/>
                </a:solidFill>
                <a:latin typeface="Tahoma"/>
                <a:cs typeface="Tahoma"/>
              </a:rPr>
              <a:t>member_desktop_web</a:t>
            </a:r>
            <a:endParaRPr sz="900" dirty="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/>
              <a:t>Stanford</a:t>
            </a:r>
            <a:r>
              <a:rPr spc="-195"/>
              <a:t> </a:t>
            </a:r>
            <a:r>
              <a:rPr spc="-85"/>
              <a:t>CS231n</a:t>
            </a:r>
            <a:r>
              <a:rPr spc="-180"/>
              <a:t> </a:t>
            </a:r>
            <a:r>
              <a:rPr spc="-35"/>
              <a:t>10</a:t>
            </a:r>
            <a:r>
              <a:rPr sz="1800" spc="-52" baseline="25462"/>
              <a:t>th</a:t>
            </a:r>
            <a:r>
              <a:rPr sz="1800" spc="44" baseline="25462"/>
              <a:t> </a:t>
            </a:r>
            <a:r>
              <a:rPr sz="1800" spc="-30"/>
              <a:t>Anniversary</a:t>
            </a:r>
            <a:endParaRPr sz="1800"/>
          </a:p>
        </p:txBody>
      </p:sp>
      <p:sp>
        <p:nvSpPr>
          <p:cNvPr id="7" name="object 7"/>
          <p:cNvSpPr txBox="1"/>
          <p:nvPr/>
        </p:nvSpPr>
        <p:spPr>
          <a:xfrm>
            <a:off x="5328920" y="4802992"/>
            <a:ext cx="1026794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35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8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800" spc="-20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89065" y="4802992"/>
            <a:ext cx="279400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z="1800" spc="-70" dirty="0">
                <a:solidFill>
                  <a:srgbClr val="FFFFFF"/>
                </a:solidFill>
                <a:latin typeface="Tahoma"/>
                <a:cs typeface="Tahoma"/>
              </a:rPr>
              <a:t>56</a:t>
            </a:fld>
            <a:endParaRPr sz="1800">
              <a:latin typeface="Tahoma"/>
              <a:cs typeface="Tahom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/>
              <a:t>April</a:t>
            </a:r>
            <a:r>
              <a:rPr spc="-229"/>
              <a:t> </a:t>
            </a:r>
            <a:r>
              <a:rPr spc="-105"/>
              <a:t>3,</a:t>
            </a:r>
            <a:r>
              <a:rPr spc="-170"/>
              <a:t> </a:t>
            </a:r>
            <a:r>
              <a:rPr spc="-75"/>
              <a:t>2025</a:t>
            </a:r>
          </a:p>
        </p:txBody>
      </p:sp>
      <p:pic>
        <p:nvPicPr>
          <p:cNvPr id="1026" name="Picture 2" descr="Look at the bengal tiger... no, no, wait... : r/funny">
            <a:extLst>
              <a:ext uri="{FF2B5EF4-FFF2-40B4-BE49-F238E27FC236}">
                <a16:creationId xmlns:a16="http://schemas.microsoft.com/office/drawing/2014/main" id="{4C657A67-6BB4-0166-5ABE-22DD4E54296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915"/>
          <a:stretch>
            <a:fillRect/>
          </a:stretch>
        </p:blipFill>
        <p:spPr bwMode="auto">
          <a:xfrm>
            <a:off x="557150" y="1058399"/>
            <a:ext cx="3777250" cy="2347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BD7F5-8A55-0AA6-F316-513687B21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9B4C2B4A-F857-A254-54DB-87EC8580860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0525" y="1390650"/>
            <a:ext cx="3857625" cy="2095500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7D92918B-7AF8-6F3C-753D-61C7EA0B13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70"/>
              <a:t>Challenges:</a:t>
            </a:r>
            <a:r>
              <a:rPr sz="2400" spc="-225"/>
              <a:t> </a:t>
            </a:r>
            <a:r>
              <a:rPr sz="2400" spc="-25"/>
              <a:t>Context</a:t>
            </a:r>
            <a:endParaRPr sz="240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A4847D65-3558-A42C-9613-944008F92052}"/>
              </a:ext>
            </a:extLst>
          </p:cNvPr>
          <p:cNvSpPr txBox="1"/>
          <p:nvPr/>
        </p:nvSpPr>
        <p:spPr>
          <a:xfrm>
            <a:off x="1337310" y="4276725"/>
            <a:ext cx="6690995" cy="282193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ct val="104400"/>
              </a:lnSpc>
              <a:spcBef>
                <a:spcPts val="50"/>
              </a:spcBef>
            </a:pPr>
            <a:r>
              <a:rPr sz="900" spc="-50" dirty="0">
                <a:latin typeface="Tahoma"/>
                <a:cs typeface="Tahoma"/>
              </a:rPr>
              <a:t>Image</a:t>
            </a:r>
            <a:r>
              <a:rPr sz="900" spc="355" dirty="0">
                <a:latin typeface="Tahoma"/>
                <a:cs typeface="Tahoma"/>
              </a:rPr>
              <a:t> </a:t>
            </a:r>
            <a:r>
              <a:rPr sz="900" spc="-30" dirty="0">
                <a:latin typeface="Tahoma"/>
                <a:cs typeface="Tahoma"/>
              </a:rPr>
              <a:t>source:</a:t>
            </a:r>
            <a:r>
              <a:rPr sz="900" spc="225" dirty="0">
                <a:latin typeface="Tahoma"/>
                <a:cs typeface="Tahoma"/>
              </a:rPr>
              <a:t> </a:t>
            </a:r>
            <a:r>
              <a:rPr sz="900" spc="-25" dirty="0">
                <a:solidFill>
                  <a:srgbClr val="006FC0"/>
                </a:solidFill>
                <a:latin typeface="Tahoma"/>
                <a:cs typeface="Tahoma"/>
              </a:rPr>
              <a:t>https://</a:t>
            </a:r>
            <a:r>
              <a:rPr sz="900" spc="-25" dirty="0">
                <a:solidFill>
                  <a:srgbClr val="006FC0"/>
                </a:solidFill>
                <a:latin typeface="Tahoma"/>
                <a:cs typeface="Tahoma"/>
                <a:hlinkClick r:id="rId3"/>
              </a:rPr>
              <a:t>www.linkedin.com/posts/ralph-</a:t>
            </a:r>
            <a:r>
              <a:rPr sz="900" spc="-30" dirty="0">
                <a:solidFill>
                  <a:srgbClr val="006FC0"/>
                </a:solidFill>
                <a:latin typeface="Tahoma"/>
                <a:cs typeface="Tahoma"/>
                <a:hlinkClick r:id="rId3"/>
              </a:rPr>
              <a:t>aboujaoude-</a:t>
            </a:r>
            <a:r>
              <a:rPr sz="900" spc="-25" dirty="0">
                <a:solidFill>
                  <a:srgbClr val="006FC0"/>
                </a:solidFill>
                <a:latin typeface="Tahoma"/>
                <a:cs typeface="Tahoma"/>
                <a:hlinkClick r:id="rId3"/>
              </a:rPr>
              <a:t>diaz-</a:t>
            </a:r>
            <a:r>
              <a:rPr sz="900" spc="-35" dirty="0">
                <a:solidFill>
                  <a:srgbClr val="006FC0"/>
                </a:solidFill>
                <a:latin typeface="Tahoma"/>
                <a:cs typeface="Tahoma"/>
                <a:hlinkClick r:id="rId3"/>
              </a:rPr>
              <a:t>40838313_technology-</a:t>
            </a:r>
            <a:r>
              <a:rPr sz="900" spc="-10" dirty="0">
                <a:solidFill>
                  <a:srgbClr val="006FC0"/>
                </a:solidFill>
                <a:latin typeface="Tahoma"/>
                <a:cs typeface="Tahoma"/>
                <a:hlinkClick r:id="rId3"/>
              </a:rPr>
              <a:t>artificialintelligence-</a:t>
            </a:r>
            <a:r>
              <a:rPr sz="900" spc="-20" dirty="0">
                <a:solidFill>
                  <a:srgbClr val="006FC0"/>
                </a:solidFill>
                <a:latin typeface="Tahoma"/>
                <a:cs typeface="Tahoma"/>
                <a:hlinkClick r:id="rId3"/>
              </a:rPr>
              <a:t>computervision-</a:t>
            </a:r>
            <a:r>
              <a:rPr sz="900" spc="-10" dirty="0">
                <a:solidFill>
                  <a:srgbClr val="006FC0"/>
                </a:solidFill>
                <a:latin typeface="Tahoma"/>
                <a:cs typeface="Tahoma"/>
                <a:hlinkClick r:id="rId3"/>
              </a:rPr>
              <a:t>activity-</a:t>
            </a:r>
            <a:r>
              <a:rPr sz="900" spc="-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900" spc="-50" dirty="0">
                <a:solidFill>
                  <a:srgbClr val="006FC0"/>
                </a:solidFill>
                <a:latin typeface="Tahoma"/>
                <a:cs typeface="Tahoma"/>
              </a:rPr>
              <a:t>6912446088364875776-</a:t>
            </a:r>
            <a:r>
              <a:rPr sz="900" spc="-45" dirty="0">
                <a:solidFill>
                  <a:srgbClr val="006FC0"/>
                </a:solidFill>
                <a:latin typeface="Tahoma"/>
                <a:cs typeface="Tahoma"/>
              </a:rPr>
              <a:t>h-</a:t>
            </a:r>
            <a:r>
              <a:rPr sz="900" spc="-10" dirty="0">
                <a:solidFill>
                  <a:srgbClr val="006FC0"/>
                </a:solidFill>
                <a:latin typeface="Tahoma"/>
                <a:cs typeface="Tahoma"/>
              </a:rPr>
              <a:t>Iq?utm_source=</a:t>
            </a:r>
            <a:r>
              <a:rPr sz="900" spc="-10" dirty="0" err="1">
                <a:solidFill>
                  <a:srgbClr val="006FC0"/>
                </a:solidFill>
                <a:latin typeface="Tahoma"/>
                <a:cs typeface="Tahoma"/>
              </a:rPr>
              <a:t>linkedin_share&amp;utm_medium</a:t>
            </a:r>
            <a:r>
              <a:rPr sz="900" spc="-10" dirty="0">
                <a:solidFill>
                  <a:srgbClr val="006FC0"/>
                </a:solidFill>
                <a:latin typeface="Tahoma"/>
                <a:cs typeface="Tahoma"/>
              </a:rPr>
              <a:t>=</a:t>
            </a:r>
            <a:r>
              <a:rPr sz="900" spc="-10" dirty="0" err="1">
                <a:solidFill>
                  <a:srgbClr val="006FC0"/>
                </a:solidFill>
                <a:latin typeface="Tahoma"/>
                <a:cs typeface="Tahoma"/>
              </a:rPr>
              <a:t>member_desktop_web</a:t>
            </a:r>
            <a:endParaRPr sz="900" dirty="0">
              <a:latin typeface="Tahoma"/>
              <a:cs typeface="Tahoma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35EAC7AC-24C9-89DD-3EF8-FEFB897F56CF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/>
              <a:t>Stanford</a:t>
            </a:r>
            <a:r>
              <a:rPr spc="-195"/>
              <a:t> </a:t>
            </a:r>
            <a:r>
              <a:rPr spc="-85"/>
              <a:t>CS231n</a:t>
            </a:r>
            <a:r>
              <a:rPr spc="-180"/>
              <a:t> </a:t>
            </a:r>
            <a:r>
              <a:rPr spc="-35"/>
              <a:t>10</a:t>
            </a:r>
            <a:r>
              <a:rPr sz="1800" spc="-52" baseline="25462"/>
              <a:t>th</a:t>
            </a:r>
            <a:r>
              <a:rPr sz="1800" spc="44" baseline="25462"/>
              <a:t> </a:t>
            </a:r>
            <a:r>
              <a:rPr sz="1800" spc="-30"/>
              <a:t>Anniversary</a:t>
            </a:r>
            <a:endParaRPr sz="180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39265407-A86A-7EB2-8D8D-594235B43838}"/>
              </a:ext>
            </a:extLst>
          </p:cNvPr>
          <p:cNvSpPr txBox="1"/>
          <p:nvPr/>
        </p:nvSpPr>
        <p:spPr>
          <a:xfrm>
            <a:off x="5328920" y="4802992"/>
            <a:ext cx="1026794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35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8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800" spc="-20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BDF0E1E7-7039-EC5D-7511-CFCB712359AC}"/>
              </a:ext>
            </a:extLst>
          </p:cNvPr>
          <p:cNvSpPr txBox="1"/>
          <p:nvPr/>
        </p:nvSpPr>
        <p:spPr>
          <a:xfrm>
            <a:off x="6489065" y="4802992"/>
            <a:ext cx="279400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z="1800" spc="-70" dirty="0">
                <a:solidFill>
                  <a:srgbClr val="FFFFFF"/>
                </a:solidFill>
                <a:latin typeface="Tahoma"/>
                <a:cs typeface="Tahoma"/>
              </a:rPr>
              <a:t>57</a:t>
            </a:fld>
            <a:endParaRPr sz="1800">
              <a:latin typeface="Tahoma"/>
              <a:cs typeface="Tahoma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CF1CBCDC-AE2D-94BF-BB96-54C59D17324C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/>
              <a:t>April</a:t>
            </a:r>
            <a:r>
              <a:rPr spc="-229"/>
              <a:t> </a:t>
            </a:r>
            <a:r>
              <a:rPr spc="-105"/>
              <a:t>3,</a:t>
            </a:r>
            <a:r>
              <a:rPr spc="-170"/>
              <a:t> </a:t>
            </a:r>
            <a:r>
              <a:rPr spc="-75"/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353407995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39348-3557-D74F-A1C8-A19EB3E45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06BBC549-1AD4-FBDF-84B2-C8F8A387C4D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0525" y="1390650"/>
            <a:ext cx="3857625" cy="2095500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00EF8C3B-B442-B41F-26C9-7E24686C63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70"/>
              <a:t>Challenges:</a:t>
            </a:r>
            <a:r>
              <a:rPr sz="2400" spc="-225"/>
              <a:t> </a:t>
            </a:r>
            <a:r>
              <a:rPr sz="2400" spc="-25"/>
              <a:t>Context</a:t>
            </a:r>
            <a:endParaRPr sz="240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7A6C0AB6-A54F-8C55-CBB7-3DB9EECE620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05350" y="1466850"/>
            <a:ext cx="4210050" cy="1754632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16714A2A-79EA-FFD0-2855-FE3CBCCAC81D}"/>
              </a:ext>
            </a:extLst>
          </p:cNvPr>
          <p:cNvSpPr txBox="1"/>
          <p:nvPr/>
        </p:nvSpPr>
        <p:spPr>
          <a:xfrm>
            <a:off x="1337310" y="4276725"/>
            <a:ext cx="6690995" cy="30607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ct val="104400"/>
              </a:lnSpc>
              <a:spcBef>
                <a:spcPts val="50"/>
              </a:spcBef>
            </a:pPr>
            <a:r>
              <a:rPr sz="900" spc="-50">
                <a:latin typeface="Tahoma"/>
                <a:cs typeface="Tahoma"/>
              </a:rPr>
              <a:t>Image</a:t>
            </a:r>
            <a:r>
              <a:rPr sz="900" spc="355">
                <a:latin typeface="Tahoma"/>
                <a:cs typeface="Tahoma"/>
              </a:rPr>
              <a:t> </a:t>
            </a:r>
            <a:r>
              <a:rPr sz="900" spc="-30">
                <a:latin typeface="Tahoma"/>
                <a:cs typeface="Tahoma"/>
              </a:rPr>
              <a:t>source:</a:t>
            </a:r>
            <a:r>
              <a:rPr sz="900" spc="225">
                <a:latin typeface="Tahoma"/>
                <a:cs typeface="Tahoma"/>
              </a:rPr>
              <a:t> </a:t>
            </a:r>
            <a:r>
              <a:rPr sz="900" spc="-25">
                <a:solidFill>
                  <a:srgbClr val="006FC0"/>
                </a:solidFill>
                <a:latin typeface="Tahoma"/>
                <a:cs typeface="Tahoma"/>
              </a:rPr>
              <a:t>https://</a:t>
            </a:r>
            <a:r>
              <a:rPr sz="900" spc="-25">
                <a:solidFill>
                  <a:srgbClr val="006FC0"/>
                </a:solidFill>
                <a:latin typeface="Tahoma"/>
                <a:cs typeface="Tahoma"/>
                <a:hlinkClick r:id="rId4"/>
              </a:rPr>
              <a:t>www.linkedin.com/posts/ralph-</a:t>
            </a:r>
            <a:r>
              <a:rPr sz="900" spc="-30">
                <a:solidFill>
                  <a:srgbClr val="006FC0"/>
                </a:solidFill>
                <a:latin typeface="Tahoma"/>
                <a:cs typeface="Tahoma"/>
                <a:hlinkClick r:id="rId4"/>
              </a:rPr>
              <a:t>aboujaoude-</a:t>
            </a:r>
            <a:r>
              <a:rPr sz="900" spc="-25">
                <a:solidFill>
                  <a:srgbClr val="006FC0"/>
                </a:solidFill>
                <a:latin typeface="Tahoma"/>
                <a:cs typeface="Tahoma"/>
                <a:hlinkClick r:id="rId4"/>
              </a:rPr>
              <a:t>diaz-</a:t>
            </a:r>
            <a:r>
              <a:rPr sz="900" spc="-35">
                <a:solidFill>
                  <a:srgbClr val="006FC0"/>
                </a:solidFill>
                <a:latin typeface="Tahoma"/>
                <a:cs typeface="Tahoma"/>
                <a:hlinkClick r:id="rId4"/>
              </a:rPr>
              <a:t>40838313_technology-</a:t>
            </a:r>
            <a:r>
              <a:rPr sz="900" spc="-10">
                <a:solidFill>
                  <a:srgbClr val="006FC0"/>
                </a:solidFill>
                <a:latin typeface="Tahoma"/>
                <a:cs typeface="Tahoma"/>
                <a:hlinkClick r:id="rId4"/>
              </a:rPr>
              <a:t>artificialintelligence-</a:t>
            </a:r>
            <a:r>
              <a:rPr sz="900" spc="-20">
                <a:solidFill>
                  <a:srgbClr val="006FC0"/>
                </a:solidFill>
                <a:latin typeface="Tahoma"/>
                <a:cs typeface="Tahoma"/>
                <a:hlinkClick r:id="rId4"/>
              </a:rPr>
              <a:t>computervision-</a:t>
            </a:r>
            <a:r>
              <a:rPr sz="900" spc="-10">
                <a:solidFill>
                  <a:srgbClr val="006FC0"/>
                </a:solidFill>
                <a:latin typeface="Tahoma"/>
                <a:cs typeface="Tahoma"/>
                <a:hlinkClick r:id="rId4"/>
              </a:rPr>
              <a:t>activity-</a:t>
            </a:r>
            <a:r>
              <a:rPr sz="900" spc="-1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900" spc="-50">
                <a:solidFill>
                  <a:srgbClr val="006FC0"/>
                </a:solidFill>
                <a:latin typeface="Tahoma"/>
                <a:cs typeface="Tahoma"/>
              </a:rPr>
              <a:t>6912446088364875776-</a:t>
            </a:r>
            <a:r>
              <a:rPr sz="900" spc="-45">
                <a:solidFill>
                  <a:srgbClr val="006FC0"/>
                </a:solidFill>
                <a:latin typeface="Tahoma"/>
                <a:cs typeface="Tahoma"/>
              </a:rPr>
              <a:t>h-</a:t>
            </a:r>
            <a:r>
              <a:rPr sz="900" spc="-10">
                <a:solidFill>
                  <a:srgbClr val="006FC0"/>
                </a:solidFill>
                <a:latin typeface="Tahoma"/>
                <a:cs typeface="Tahoma"/>
              </a:rPr>
              <a:t>Iq?utm_source=linkedin_share&amp;utm_medium=member_desktop_web</a:t>
            </a:r>
            <a:endParaRPr sz="900">
              <a:latin typeface="Tahoma"/>
              <a:cs typeface="Tahoma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F32B90E9-3799-2E49-ABED-F239798F476B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/>
              <a:t>Stanford</a:t>
            </a:r>
            <a:r>
              <a:rPr spc="-195"/>
              <a:t> </a:t>
            </a:r>
            <a:r>
              <a:rPr spc="-85"/>
              <a:t>CS231n</a:t>
            </a:r>
            <a:r>
              <a:rPr spc="-180"/>
              <a:t> </a:t>
            </a:r>
            <a:r>
              <a:rPr spc="-35"/>
              <a:t>10</a:t>
            </a:r>
            <a:r>
              <a:rPr sz="1800" spc="-52" baseline="25462"/>
              <a:t>th</a:t>
            </a:r>
            <a:r>
              <a:rPr sz="1800" spc="44" baseline="25462"/>
              <a:t> </a:t>
            </a:r>
            <a:r>
              <a:rPr sz="1800" spc="-30"/>
              <a:t>Anniversary</a:t>
            </a:r>
            <a:endParaRPr sz="180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00B76172-8149-E95D-1E1F-34A32FF3D258}"/>
              </a:ext>
            </a:extLst>
          </p:cNvPr>
          <p:cNvSpPr txBox="1"/>
          <p:nvPr/>
        </p:nvSpPr>
        <p:spPr>
          <a:xfrm>
            <a:off x="5328920" y="4802992"/>
            <a:ext cx="1026794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35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8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800" spc="-20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D521BCC-6474-A764-E2A4-F9AEA5E52BCA}"/>
              </a:ext>
            </a:extLst>
          </p:cNvPr>
          <p:cNvSpPr txBox="1"/>
          <p:nvPr/>
        </p:nvSpPr>
        <p:spPr>
          <a:xfrm>
            <a:off x="6489065" y="4802992"/>
            <a:ext cx="279400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z="1800" spc="-70" dirty="0">
                <a:solidFill>
                  <a:srgbClr val="FFFFFF"/>
                </a:solidFill>
                <a:latin typeface="Tahoma"/>
                <a:cs typeface="Tahoma"/>
              </a:rPr>
              <a:t>58</a:t>
            </a:fld>
            <a:endParaRPr sz="1800">
              <a:latin typeface="Tahoma"/>
              <a:cs typeface="Tahoma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CBB8F8CF-645B-FCC8-4E99-063BBA9DA4B7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/>
              <a:t>April</a:t>
            </a:r>
            <a:r>
              <a:rPr spc="-229"/>
              <a:t> </a:t>
            </a:r>
            <a:r>
              <a:rPr spc="-105"/>
              <a:t>3,</a:t>
            </a:r>
            <a:r>
              <a:rPr spc="-170"/>
              <a:t> </a:t>
            </a:r>
            <a:r>
              <a:rPr spc="-75"/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420523935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801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45"/>
              <a:t>Modern</a:t>
            </a:r>
            <a:r>
              <a:rPr sz="2400" spc="-290"/>
              <a:t> </a:t>
            </a:r>
            <a:r>
              <a:rPr sz="2400" spc="-30"/>
              <a:t>computer</a:t>
            </a:r>
            <a:r>
              <a:rPr sz="2400" spc="-254"/>
              <a:t> </a:t>
            </a:r>
            <a:r>
              <a:rPr sz="2400" spc="-25"/>
              <a:t>vision</a:t>
            </a:r>
            <a:r>
              <a:rPr sz="2400" spc="-285"/>
              <a:t> </a:t>
            </a:r>
            <a:r>
              <a:rPr sz="2400" spc="-10"/>
              <a:t>algorithms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3984625" y="4066857"/>
            <a:ext cx="1174750" cy="117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u="sng" spc="-125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2"/>
              </a:rPr>
              <a:t> </a:t>
            </a:r>
            <a:r>
              <a:rPr sz="600" u="sng" spc="-1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2"/>
              </a:rPr>
              <a:t>This</a:t>
            </a:r>
            <a:r>
              <a:rPr sz="600" u="sng" spc="-55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2"/>
              </a:rPr>
              <a:t> </a:t>
            </a:r>
            <a:r>
              <a:rPr sz="600" u="sng" spc="-3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2"/>
              </a:rPr>
              <a:t>image</a:t>
            </a:r>
            <a:r>
              <a:rPr sz="600" spc="-25">
                <a:solidFill>
                  <a:srgbClr val="0096A7"/>
                </a:solidFill>
                <a:latin typeface="Tahoma"/>
                <a:cs typeface="Tahoma"/>
              </a:rPr>
              <a:t> </a:t>
            </a:r>
            <a:r>
              <a:rPr sz="600">
                <a:solidFill>
                  <a:srgbClr val="999999"/>
                </a:solidFill>
                <a:latin typeface="Tahoma"/>
                <a:cs typeface="Tahoma"/>
              </a:rPr>
              <a:t>is</a:t>
            </a:r>
            <a:r>
              <a:rPr sz="600" spc="-130">
                <a:solidFill>
                  <a:srgbClr val="999999"/>
                </a:solidFill>
                <a:latin typeface="Tahoma"/>
                <a:cs typeface="Tahoma"/>
              </a:rPr>
              <a:t> </a:t>
            </a:r>
            <a:r>
              <a:rPr sz="600" u="sng" spc="-12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3"/>
              </a:rPr>
              <a:t> </a:t>
            </a:r>
            <a:r>
              <a:rPr sz="600" u="sng" spc="-35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3"/>
              </a:rPr>
              <a:t>CC0</a:t>
            </a:r>
            <a:r>
              <a:rPr sz="600" u="sng" spc="-25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3"/>
              </a:rPr>
              <a:t> </a:t>
            </a:r>
            <a:r>
              <a:rPr sz="600" u="sng" spc="-4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Tahoma"/>
                <a:cs typeface="Tahoma"/>
                <a:hlinkClick r:id="rId3"/>
              </a:rPr>
              <a:t>1.0</a:t>
            </a:r>
            <a:r>
              <a:rPr sz="600" spc="-75">
                <a:solidFill>
                  <a:srgbClr val="0096A7"/>
                </a:solidFill>
                <a:latin typeface="Tahoma"/>
                <a:cs typeface="Tahoma"/>
              </a:rPr>
              <a:t> </a:t>
            </a:r>
            <a:r>
              <a:rPr sz="600">
                <a:solidFill>
                  <a:srgbClr val="999999"/>
                </a:solidFill>
                <a:latin typeface="Tahoma"/>
                <a:cs typeface="Tahoma"/>
              </a:rPr>
              <a:t>public </a:t>
            </a:r>
            <a:r>
              <a:rPr sz="600" spc="-10">
                <a:solidFill>
                  <a:srgbClr val="999999"/>
                </a:solidFill>
                <a:latin typeface="Tahoma"/>
                <a:cs typeface="Tahoma"/>
              </a:rPr>
              <a:t>domain</a:t>
            </a:r>
            <a:endParaRPr sz="6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7275" y="1047750"/>
            <a:ext cx="7143750" cy="28575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7640319" y="4874974"/>
            <a:ext cx="1210945" cy="285976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0" dirty="0"/>
              <a:t>Stanford</a:t>
            </a:r>
            <a:r>
              <a:rPr spc="-195" dirty="0"/>
              <a:t> </a:t>
            </a:r>
            <a:endParaRPr sz="1800" dirty="0"/>
          </a:p>
        </p:txBody>
      </p:sp>
      <p:sp>
        <p:nvSpPr>
          <p:cNvPr id="6" name="object 6"/>
          <p:cNvSpPr txBox="1"/>
          <p:nvPr/>
        </p:nvSpPr>
        <p:spPr>
          <a:xfrm>
            <a:off x="5328920" y="4802992"/>
            <a:ext cx="1026794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1800" spc="-35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80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5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800" spc="-20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89065" y="4802992"/>
            <a:ext cx="279400" cy="3136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z="1800" spc="-70" dirty="0">
                <a:solidFill>
                  <a:srgbClr val="FFFFFF"/>
                </a:solidFill>
                <a:latin typeface="Tahoma"/>
                <a:cs typeface="Tahoma"/>
              </a:rPr>
              <a:t>59</a:t>
            </a:fld>
            <a:endParaRPr sz="1800">
              <a:latin typeface="Tahoma"/>
              <a:cs typeface="Tahom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10"/>
              <a:t>April</a:t>
            </a:r>
            <a:r>
              <a:rPr spc="-229"/>
              <a:t> </a:t>
            </a:r>
            <a:r>
              <a:rPr spc="-105"/>
              <a:t>3,</a:t>
            </a:r>
            <a:r>
              <a:rPr spc="-170"/>
              <a:t> </a:t>
            </a:r>
            <a:r>
              <a:rPr spc="-75"/>
              <a:t>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3090</Words>
  <Application>Microsoft Office PowerPoint</Application>
  <PresentationFormat>On-screen Show (16:9)</PresentationFormat>
  <Paragraphs>753</Paragraphs>
  <Slides>59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6" baseType="lpstr">
      <vt:lpstr>Arial</vt:lpstr>
      <vt:lpstr>Arial MT</vt:lpstr>
      <vt:lpstr>Calibri</vt:lpstr>
      <vt:lpstr>Tahoma</vt:lpstr>
      <vt:lpstr>Times New Roman</vt:lpstr>
      <vt:lpstr>Wingdings</vt:lpstr>
      <vt:lpstr>Office Theme</vt:lpstr>
      <vt:lpstr>Introduction to Computer Vision</vt:lpstr>
      <vt:lpstr>Artificial Intelligence</vt:lpstr>
      <vt:lpstr>Artificial Intelligence</vt:lpstr>
      <vt:lpstr>Artificial Intelligence</vt:lpstr>
      <vt:lpstr>This class</vt:lpstr>
      <vt:lpstr>This class</vt:lpstr>
      <vt:lpstr>This class</vt:lpstr>
      <vt:lpstr>This class</vt:lpstr>
      <vt:lpstr>This class</vt:lpstr>
      <vt:lpstr>Today’s agenda</vt:lpstr>
      <vt:lpstr>Evolution’s Big Bang: Cambrian Explosion, 530-540million years, B.C.</vt:lpstr>
      <vt:lpstr>PowerPoint Presentation</vt:lpstr>
      <vt:lpstr>Camera Obscura</vt:lpstr>
      <vt:lpstr>Computer Vision is everywhere!</vt:lpstr>
      <vt:lpstr>Where did we come from?</vt:lpstr>
      <vt:lpstr>Hubel and Wiesel, 1959</vt:lpstr>
      <vt:lpstr>Larry Roberts, 1963</vt:lpstr>
      <vt:lpstr>PowerPoint Presentation</vt:lpstr>
      <vt:lpstr>Recognition via Parts (1970s)</vt:lpstr>
      <vt:lpstr>Recognition via Edge Detection (1980s)</vt:lpstr>
      <vt:lpstr>In the meantime…seminal work in cognitive and neuroscience</vt:lpstr>
      <vt:lpstr>PowerPoint Presentation</vt:lpstr>
      <vt:lpstr>Neural correlates of object &amp; scene recognition</vt:lpstr>
      <vt:lpstr>Visual recognition is a fundamental task for visual intelligence</vt:lpstr>
      <vt:lpstr>Recognition via Grouping (1990s)</vt:lpstr>
      <vt:lpstr>Recognition via Matching (2000s)</vt:lpstr>
      <vt:lpstr>Face Detection</vt:lpstr>
      <vt:lpstr>PASCAL Visual Object Challenge</vt:lpstr>
      <vt:lpstr>PowerPoint Presentation</vt:lpstr>
      <vt:lpstr>PowerPoint Presentation</vt:lpstr>
      <vt:lpstr>AlexNet, 2012</vt:lpstr>
      <vt:lpstr>2012 to Present: Deep Learning is Everywhere Image Classification Image Retrieval</vt:lpstr>
      <vt:lpstr>2012 to Present: Deep Learning is Everywhere</vt:lpstr>
      <vt:lpstr>2012 to Present: Deep Learning is Everywhere</vt:lpstr>
      <vt:lpstr>2012 to Present: Deep Learning is Everywhere Pose Recognition (Toshev and Szegedy, 2014)</vt:lpstr>
      <vt:lpstr>2012 to Present: Deep Learning is Everywhere</vt:lpstr>
      <vt:lpstr>2012 to Present: Deep Learning is Everywhere</vt:lpstr>
      <vt:lpstr>2012 to Present: Deep Learning is Everywhere</vt:lpstr>
      <vt:lpstr>PowerPoint Presentation</vt:lpstr>
      <vt:lpstr>2012 to Present: Deep Learning is Everywhere</vt:lpstr>
      <vt:lpstr>2012 to Present: Deep Learning is Everywhere</vt:lpstr>
      <vt:lpstr>PowerPoint Presentation</vt:lpstr>
      <vt:lpstr>AI’s Explosive Growth &amp; Impact</vt:lpstr>
      <vt:lpstr>Despite the successes, computer vision still has a long way to go</vt:lpstr>
      <vt:lpstr>Computer Vision Can Cause Harm</vt:lpstr>
      <vt:lpstr>Computer Vision Can Save Lives</vt:lpstr>
      <vt:lpstr>And there is a lot we don’t know how to do</vt:lpstr>
      <vt:lpstr>Image Classification: A core task in Computer Vision</vt:lpstr>
      <vt:lpstr>The Problem: Semantic Gap</vt:lpstr>
      <vt:lpstr>Challenges: Viewpoint variation</vt:lpstr>
      <vt:lpstr>Challenges: Illumination</vt:lpstr>
      <vt:lpstr>Challenges: Background Clutter</vt:lpstr>
      <vt:lpstr>Challenges: Occlusion</vt:lpstr>
      <vt:lpstr>Challenges: Deformation</vt:lpstr>
      <vt:lpstr>Challenges: Intraclass variation</vt:lpstr>
      <vt:lpstr>Challenges: Context</vt:lpstr>
      <vt:lpstr>Challenges: Context</vt:lpstr>
      <vt:lpstr>Challenges: Context</vt:lpstr>
      <vt:lpstr>Modern computer vision algorithms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CS231n: Deep Learning for Computer Vision</dc:title>
  <cp:lastModifiedBy>Tanvir Ahmed</cp:lastModifiedBy>
  <cp:revision>1</cp:revision>
  <dcterms:created xsi:type="dcterms:W3CDTF">2026-01-16T13:46:27Z</dcterms:created>
  <dcterms:modified xsi:type="dcterms:W3CDTF">2026-02-10T03:27:40Z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2025-04-04T00:00:00Z</vt:filetime>
  </property>
  <property fmtid="{D5CDD505-2E9C-101B-9397-08002B2CF9AE}" pid="3" name="LastSaved">
    <vt:filetime>2026-01-16T00:00:00Z</vt:filetime>
  </property>
</Properties>
</file>