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320" r:id="rId5"/>
    <p:sldId id="321" r:id="rId6"/>
    <p:sldId id="294" r:id="rId7"/>
    <p:sldId id="323" r:id="rId8"/>
    <p:sldId id="296" r:id="rId9"/>
    <p:sldId id="312" r:id="rId10"/>
    <p:sldId id="322" r:id="rId11"/>
    <p:sldId id="265" r:id="rId12"/>
    <p:sldId id="29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26A860-472F-0913-16F9-7956E9921C0B}" v="4" dt="2026-01-03T14:18:49.994"/>
    <p1510:client id="{B0A93AE9-341B-8041-9370-958034B04506}" v="4" dt="2026-01-03T17:14:30.8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NUL MOHAMMAD ADIB" userId="S::22-49124-3@student.aiub.edu::49e4110f-cd35-4428-8f48-f0777c7a5466" providerId="AD" clId="Web-{D6BC3CAA-9D94-9413-A05B-2FCFD3D140AC}"/>
    <pc:docChg chg="modSld">
      <pc:chgData name="IBNUL MOHAMMAD ADIB" userId="S::22-49124-3@student.aiub.edu::49e4110f-cd35-4428-8f48-f0777c7a5466" providerId="AD" clId="Web-{D6BC3CAA-9D94-9413-A05B-2FCFD3D140AC}" dt="2026-01-01T21:37:55.128" v="3" actId="1076"/>
      <pc:docMkLst>
        <pc:docMk/>
      </pc:docMkLst>
      <pc:sldChg chg="modSp">
        <pc:chgData name="IBNUL MOHAMMAD ADIB" userId="S::22-49124-3@student.aiub.edu::49e4110f-cd35-4428-8f48-f0777c7a5466" providerId="AD" clId="Web-{D6BC3CAA-9D94-9413-A05B-2FCFD3D140AC}" dt="2026-01-01T21:37:55.128" v="3" actId="1076"/>
        <pc:sldMkLst>
          <pc:docMk/>
          <pc:sldMk cId="3435905321" sldId="294"/>
        </pc:sldMkLst>
        <pc:spChg chg="mod">
          <ac:chgData name="IBNUL MOHAMMAD ADIB" userId="S::22-49124-3@student.aiub.edu::49e4110f-cd35-4428-8f48-f0777c7a5466" providerId="AD" clId="Web-{D6BC3CAA-9D94-9413-A05B-2FCFD3D140AC}" dt="2026-01-01T21:37:52.362" v="2" actId="1076"/>
          <ac:spMkLst>
            <pc:docMk/>
            <pc:sldMk cId="3435905321" sldId="294"/>
            <ac:spMk id="5" creationId="{D1777C6B-5C89-5D01-26EA-0F923219456C}"/>
          </ac:spMkLst>
        </pc:spChg>
        <pc:spChg chg="mod">
          <ac:chgData name="IBNUL MOHAMMAD ADIB" userId="S::22-49124-3@student.aiub.edu::49e4110f-cd35-4428-8f48-f0777c7a5466" providerId="AD" clId="Web-{D6BC3CAA-9D94-9413-A05B-2FCFD3D140AC}" dt="2026-01-01T21:37:55.128" v="3" actId="1076"/>
          <ac:spMkLst>
            <pc:docMk/>
            <pc:sldMk cId="3435905321" sldId="294"/>
            <ac:spMk id="7" creationId="{F538F8E2-8E57-54AD-8C9A-4091E93AAA2C}"/>
          </ac:spMkLst>
        </pc:spChg>
      </pc:sldChg>
    </pc:docChg>
  </pc:docChgLst>
  <pc:docChgLst>
    <pc:chgData name="DIP SARKER" userId="529ddbcf-93e4-49e3-be02-5cb969012ce5" providerId="ADAL" clId="{B0A93AE9-341B-8041-9370-958034B04506}"/>
    <pc:docChg chg="undo custSel modSld">
      <pc:chgData name="DIP SARKER" userId="529ddbcf-93e4-49e3-be02-5cb969012ce5" providerId="ADAL" clId="{B0A93AE9-341B-8041-9370-958034B04506}" dt="2026-01-03T17:14:30.859" v="3" actId="1076"/>
      <pc:docMkLst>
        <pc:docMk/>
      </pc:docMkLst>
      <pc:sldChg chg="modSp mod">
        <pc:chgData name="DIP SARKER" userId="529ddbcf-93e4-49e3-be02-5cb969012ce5" providerId="ADAL" clId="{B0A93AE9-341B-8041-9370-958034B04506}" dt="2026-01-03T17:14:30.859" v="3" actId="1076"/>
        <pc:sldMkLst>
          <pc:docMk/>
          <pc:sldMk cId="736075941" sldId="323"/>
        </pc:sldMkLst>
        <pc:spChg chg="mod">
          <ac:chgData name="DIP SARKER" userId="529ddbcf-93e4-49e3-be02-5cb969012ce5" providerId="ADAL" clId="{B0A93AE9-341B-8041-9370-958034B04506}" dt="2026-01-03T17:14:30.859" v="3" actId="1076"/>
          <ac:spMkLst>
            <pc:docMk/>
            <pc:sldMk cId="736075941" sldId="323"/>
            <ac:spMk id="10" creationId="{8378AFF2-87DE-A341-A717-194E305A0C86}"/>
          </ac:spMkLst>
        </pc:spChg>
      </pc:sldChg>
    </pc:docChg>
  </pc:docChgLst>
  <pc:docChgLst>
    <pc:chgData name="DIP SARKER" userId="S::22-49304-3@student.aiub.edu::529ddbcf-93e4-49e3-be02-5cb969012ce5" providerId="AD" clId="Web-{6B26A860-472F-0913-16F9-7956E9921C0B}"/>
    <pc:docChg chg="modSld">
      <pc:chgData name="DIP SARKER" userId="S::22-49304-3@student.aiub.edu::529ddbcf-93e4-49e3-be02-5cb969012ce5" providerId="AD" clId="Web-{6B26A860-472F-0913-16F9-7956E9921C0B}" dt="2026-01-03T14:18:49.994" v="3" actId="1076"/>
      <pc:docMkLst>
        <pc:docMk/>
      </pc:docMkLst>
      <pc:sldChg chg="modSp">
        <pc:chgData name="DIP SARKER" userId="S::22-49304-3@student.aiub.edu::529ddbcf-93e4-49e3-be02-5cb969012ce5" providerId="AD" clId="Web-{6B26A860-472F-0913-16F9-7956E9921C0B}" dt="2026-01-03T14:18:49.994" v="3" actId="1076"/>
        <pc:sldMkLst>
          <pc:docMk/>
          <pc:sldMk cId="3435905321" sldId="294"/>
        </pc:sldMkLst>
        <pc:spChg chg="mod">
          <ac:chgData name="DIP SARKER" userId="S::22-49304-3@student.aiub.edu::529ddbcf-93e4-49e3-be02-5cb969012ce5" providerId="AD" clId="Web-{6B26A860-472F-0913-16F9-7956E9921C0B}" dt="2026-01-03T14:18:39.666" v="1" actId="14100"/>
          <ac:spMkLst>
            <pc:docMk/>
            <pc:sldMk cId="3435905321" sldId="294"/>
            <ac:spMk id="5" creationId="{D1777C6B-5C89-5D01-26EA-0F923219456C}"/>
          </ac:spMkLst>
        </pc:spChg>
        <pc:spChg chg="mod">
          <ac:chgData name="DIP SARKER" userId="S::22-49304-3@student.aiub.edu::529ddbcf-93e4-49e3-be02-5cb969012ce5" providerId="AD" clId="Web-{6B26A860-472F-0913-16F9-7956E9921C0B}" dt="2026-01-03T14:18:49.994" v="3" actId="1076"/>
          <ac:spMkLst>
            <pc:docMk/>
            <pc:sldMk cId="3435905321" sldId="294"/>
            <ac:spMk id="7" creationId="{F538F8E2-8E57-54AD-8C9A-4091E93AAA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Learn/Forms/Form_validation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zod.dev/" TargetMode="External"/><Relationship Id="rId2" Type="http://schemas.openxmlformats.org/officeDocument/2006/relationships/hyperlink" Target="https://react-hook-form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Form Validation and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51681"/>
              </p:ext>
            </p:extLst>
          </p:nvPr>
        </p:nvGraphicFramePr>
        <p:xfrm>
          <a:off x="476205" y="5264727"/>
          <a:ext cx="8335798" cy="7444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00051"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 Form Validation in Next.js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 HTML form validation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Vanilla JS Form Validation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External Libraries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Logical AND (&amp;&amp;)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chemeClr val="tx1"/>
                </a:solidFill>
              </a:rPr>
              <a:t>Redirecting using </a:t>
            </a:r>
            <a:r>
              <a:rPr lang="en-US" err="1">
                <a:solidFill>
                  <a:schemeClr val="tx1"/>
                </a:solidFill>
              </a:rPr>
              <a:t>useRouter</a:t>
            </a:r>
            <a:r>
              <a:rPr lang="en-US">
                <a:solidFill>
                  <a:schemeClr val="tx1"/>
                </a:solidFill>
              </a:rPr>
              <a:t>() Hook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 Form Validation in Next.js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332509" y="2071760"/>
            <a:ext cx="8811491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Form validation is the process of ensuring that user inputs are accurate</a:t>
            </a:r>
            <a:r>
              <a:rPr lang="en-US" sz="2400"/>
              <a:t> and</a:t>
            </a:r>
            <a:r>
              <a:rPr lang="en-US" sz="2400" b="0" i="0">
                <a:effectLst/>
              </a:rPr>
              <a:t> complete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</a:t>
            </a:r>
            <a:r>
              <a:rPr lang="en-US" sz="2400" b="0" i="0">
                <a:effectLst/>
              </a:rPr>
              <a:t>onfirm to the required format before submitting the form.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It helps prevent invalid data from being submitted to the server.</a:t>
            </a:r>
            <a:endParaRPr lang="en-US" sz="240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Next.js supports built-in HTML form validation attributes like "required," "type," and "pattern“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Vanilla JavaScript can be used to implement custom validation logic.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 HTML form validation 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6042D-5368-8C1F-0FFA-9432BF298CB3}"/>
              </a:ext>
            </a:extLst>
          </p:cNvPr>
          <p:cNvSpPr txBox="1"/>
          <p:nvPr/>
        </p:nvSpPr>
        <p:spPr>
          <a:xfrm>
            <a:off x="296650" y="2009529"/>
            <a:ext cx="5369859" cy="48484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()  {</a:t>
            </a: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 submitted successfully!'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Form Validation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sz="1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Password: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minLength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"8"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sz="1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B088724-E5BA-302E-5007-34B442CB4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548" y="2172711"/>
            <a:ext cx="3643746" cy="31706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required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Söhne"/>
              </a:rPr>
              <a:t>: Ensures the field must be filled out before submitting the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type="email"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Söhne"/>
              </a:rPr>
              <a:t>: Validates that the email input follows the correct email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minLength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Söhne Mono"/>
              </a:rPr>
              <a:t>="8"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Söhne"/>
              </a:rPr>
              <a:t>: Specifies that the password must be at least 8 characters long.</a:t>
            </a:r>
          </a:p>
        </p:txBody>
      </p:sp>
    </p:spTree>
    <p:extLst>
      <p:ext uri="{BB962C8B-B14F-4D97-AF65-F5344CB8AC3E}">
        <p14:creationId xmlns:p14="http://schemas.microsoft.com/office/powerpoint/2010/main" val="375144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/>
              <a:t> HTML form validation 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7BC63-60D2-55FD-8646-B491C3DCA0C2}"/>
              </a:ext>
            </a:extLst>
          </p:cNvPr>
          <p:cNvSpPr txBox="1"/>
          <p:nvPr/>
        </p:nvSpPr>
        <p:spPr>
          <a:xfrm>
            <a:off x="332509" y="2071760"/>
            <a:ext cx="8811491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Full guide of HTML built in Validation can be found here;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r>
              <a:rPr lang="en-US" sz="2400">
                <a:hlinkClick r:id="rId2"/>
              </a:rPr>
              <a:t>https://developer.mozilla.org/en-US/docs/Learn/Forms/Form_validation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6087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>
                <a:solidFill>
                  <a:srgbClr val="FFFFFF"/>
                </a:solidFill>
              </a:rPr>
              <a:t>Vanilla JS Form Validation 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77C6B-5C89-5D01-26EA-0F923219456C}"/>
              </a:ext>
            </a:extLst>
          </p:cNvPr>
          <p:cNvSpPr txBox="1"/>
          <p:nvPr/>
        </p:nvSpPr>
        <p:spPr>
          <a:xfrm>
            <a:off x="256307" y="2060149"/>
            <a:ext cx="4585855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"./Layout/layout"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"./Layout/title"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LoginForm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[</a:t>
            </a:r>
            <a:r>
              <a:rPr lang="en-US" sz="900" b="0">
                <a:solidFill>
                  <a:srgbClr val="0070C1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setEmail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] 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useState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''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[</a:t>
            </a:r>
            <a:r>
              <a:rPr lang="en-US" sz="900" b="0">
                <a:solidFill>
                  <a:srgbClr val="0070C1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password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setPassword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] 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useState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''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[</a:t>
            </a:r>
            <a:r>
              <a:rPr lang="en-US" sz="900" b="0">
                <a:solidFill>
                  <a:srgbClr val="0070C1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error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setError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] 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useState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''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b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handleChangeEmail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setEmail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9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handleChangePassword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setPassword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9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9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Perform form validation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9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9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 and password are required'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isValidEmail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'Invalid email address'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setEmail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setPassword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8F8E2-8E57-54AD-8C9A-4091E93AAA2C}"/>
              </a:ext>
            </a:extLst>
          </p:cNvPr>
          <p:cNvSpPr txBox="1"/>
          <p:nvPr/>
        </p:nvSpPr>
        <p:spPr>
          <a:xfrm>
            <a:off x="4568535" y="2060149"/>
            <a:ext cx="4745799" cy="4939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isValidEmail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US" sz="9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emailPattern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/</a:t>
            </a:r>
            <a:r>
              <a:rPr lang="en-US" sz="900" b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^</a:t>
            </a:r>
            <a:r>
              <a:rPr lang="en-US" sz="900" b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\S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</a:t>
            </a:r>
            <a:r>
              <a:rPr lang="en-US" sz="900" b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@\S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</a:t>
            </a:r>
            <a:r>
              <a:rPr lang="en-US" sz="900" b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\.</a:t>
            </a:r>
            <a:r>
              <a:rPr lang="en-US" sz="900" b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\S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+</a:t>
            </a:r>
            <a:r>
              <a:rPr lang="en-US" sz="900" b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</a:t>
            </a:r>
            <a:r>
              <a:rPr lang="en-US" sz="900" b="0">
                <a:solidFill>
                  <a:srgbClr val="811F3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900" b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0070C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emailPattern</a:t>
            </a:r>
            <a:r>
              <a:rPr lang="en-US" sz="900" b="0" err="1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test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900" b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};</a:t>
            </a:r>
          </a:p>
          <a:p>
            <a:b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</a:t>
            </a:r>
            <a:r>
              <a:rPr lang="en-US" sz="900" b="0">
                <a:solidFill>
                  <a:srgbClr val="8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&lt;form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en-US" sz="900" b="0" err="1">
                <a:solidFill>
                  <a:srgbClr val="E5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onSubmit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handleSubmit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}</a:t>
            </a:r>
            <a:r>
              <a:rPr lang="en-US" sz="900" b="0">
                <a:solidFill>
                  <a:srgbClr val="8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&gt;</a:t>
            </a:r>
            <a:endParaRPr lang="en-US" sz="900" b="0">
              <a:solidFill>
                <a:srgbClr val="3B3B3B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9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</a:t>
            </a:r>
            <a:r>
              <a:rPr lang="en-US" sz="900" b="0" err="1">
                <a:solidFill>
                  <a:srgbClr val="E5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onChange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handleChangeEmail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}</a:t>
            </a:r>
            <a:endParaRPr lang="en-US" sz="900" b="0">
              <a:solidFill>
                <a:srgbClr val="3B3B3B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"password"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9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900" b="0" err="1">
                <a:solidFill>
                  <a:srgbClr val="E5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onChange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{</a:t>
            </a:r>
            <a:r>
              <a:rPr lang="en-US" sz="900" b="0" err="1">
                <a:solidFill>
                  <a:srgbClr val="795E26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handleChangePassword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}</a:t>
            </a:r>
            <a:endParaRPr lang="en-US" sz="900" b="0">
              <a:solidFill>
                <a:srgbClr val="3B3B3B"/>
              </a:solidFill>
              <a:effectLst/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        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{</a:t>
            </a:r>
            <a:r>
              <a:rPr lang="en-US" sz="900" b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error</a:t>
            </a:r>
            <a:r>
              <a:rPr lang="en-US" sz="900" b="0">
                <a:solidFill>
                  <a:srgbClr val="0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 &amp;&amp; </a:t>
            </a:r>
            <a:r>
              <a:rPr lang="en-US" sz="900" b="0">
                <a:solidFill>
                  <a:srgbClr val="8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&lt;p&gt;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{</a:t>
            </a:r>
            <a:r>
              <a:rPr lang="en-US" sz="900" b="0">
                <a:solidFill>
                  <a:srgbClr val="0070C1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error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}</a:t>
            </a:r>
            <a:r>
              <a:rPr lang="en-US" sz="900" b="0">
                <a:solidFill>
                  <a:srgbClr val="8000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&lt;/p&gt;</a:t>
            </a:r>
            <a:r>
              <a:rPr lang="en-US" sz="900" b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}</a:t>
            </a:r>
            <a:endParaRPr lang="en-US" sz="900" b="0">
              <a:solidFill>
                <a:srgbClr val="3B3B3B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9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9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Layout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sz="9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);};</a:t>
            </a:r>
          </a:p>
        </p:txBody>
      </p:sp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>
                <a:solidFill>
                  <a:srgbClr val="FFFFFF"/>
                </a:solidFill>
              </a:rPr>
              <a:t>Logical AND (&amp;&amp;)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AC1E1-6C1F-5458-3BA1-446D999F0E9A}"/>
              </a:ext>
            </a:extLst>
          </p:cNvPr>
          <p:cNvSpPr txBox="1"/>
          <p:nvPr/>
        </p:nvSpPr>
        <p:spPr>
          <a:xfrm>
            <a:off x="261256" y="2094050"/>
            <a:ext cx="8539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The </a:t>
            </a:r>
            <a:r>
              <a:rPr lang="en-US" sz="2400" b="1"/>
              <a:t>logical AND (&amp;&amp;) </a:t>
            </a:r>
            <a:r>
              <a:rPr lang="en-US" sz="2400"/>
              <a:t>(logical conjunction) operator for a set of </a:t>
            </a:r>
            <a:r>
              <a:rPr lang="en-US" sz="2400" err="1"/>
              <a:t>boolean</a:t>
            </a:r>
            <a:r>
              <a:rPr lang="en-US" sz="2400"/>
              <a:t> operands will be </a:t>
            </a:r>
            <a:r>
              <a:rPr lang="en-US" sz="2400" b="1"/>
              <a:t>true if and only if all the operands are true</a:t>
            </a:r>
            <a:r>
              <a:rPr lang="en-US" sz="2400"/>
              <a:t>. Otherwise it will be false.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8AFF2-87DE-A341-A717-194E305A0C86}"/>
              </a:ext>
            </a:extLst>
          </p:cNvPr>
          <p:cNvSpPr txBox="1"/>
          <p:nvPr/>
        </p:nvSpPr>
        <p:spPr>
          <a:xfrm>
            <a:off x="2286000" y="3563622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What is the output 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07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External Libraries for Form Validation</a:t>
            </a:r>
            <a:endParaRPr lang="en-US" sz="3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155370"/>
            <a:ext cx="8880762" cy="25031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 i="0">
                <a:effectLst/>
              </a:rPr>
              <a:t>Following are some external libraries for Form validation </a:t>
            </a:r>
          </a:p>
          <a:p>
            <a:r>
              <a:rPr lang="en-US" sz="2400" b="1" i="0">
                <a:effectLst/>
                <a:hlinkClick r:id="rId2"/>
              </a:rPr>
              <a:t>React Hook Form (</a:t>
            </a:r>
            <a:r>
              <a:rPr lang="en-US" sz="2400" b="1" i="0" err="1">
                <a:effectLst/>
                <a:hlinkClick r:id="rId2"/>
              </a:rPr>
              <a:t>useForm</a:t>
            </a:r>
            <a:r>
              <a:rPr lang="en-US" sz="2400" b="1" i="0">
                <a:effectLst/>
                <a:hlinkClick r:id="rId2"/>
              </a:rPr>
              <a:t>)</a:t>
            </a:r>
            <a:endParaRPr lang="en-US" sz="2400" b="1" i="0">
              <a:effectLst/>
            </a:endParaRPr>
          </a:p>
          <a:p>
            <a:r>
              <a:rPr lang="en-US" sz="2400" b="1" i="0">
                <a:effectLst/>
                <a:hlinkClick r:id="rId3"/>
              </a:rPr>
              <a:t>Zod</a:t>
            </a:r>
            <a:endParaRPr lang="en-US" sz="2400" b="1" i="0">
              <a:effectLst/>
            </a:endParaRPr>
          </a:p>
          <a:p>
            <a:r>
              <a:rPr lang="en-US" sz="2400" b="1" i="0" err="1">
                <a:effectLst/>
              </a:rPr>
              <a:t>Formik</a:t>
            </a:r>
            <a:endParaRPr lang="en-US" sz="2400" b="1" i="0">
              <a:effectLst/>
            </a:endParaRPr>
          </a:p>
          <a:p>
            <a:r>
              <a:rPr lang="en-US" sz="2400" b="1" i="0">
                <a:effectLst/>
              </a:rPr>
              <a:t>Yup</a:t>
            </a:r>
          </a:p>
        </p:txBody>
      </p:sp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i="0">
                <a:solidFill>
                  <a:srgbClr val="FFFFFF"/>
                </a:solidFill>
                <a:effectLst/>
                <a:latin typeface="__Inter_4b5723"/>
              </a:rPr>
              <a:t>Redirecting using </a:t>
            </a:r>
            <a:r>
              <a:rPr lang="en-US" sz="3600" b="1" i="0" err="1">
                <a:solidFill>
                  <a:srgbClr val="FFFFFF"/>
                </a:solidFill>
                <a:effectLst/>
                <a:latin typeface="__Inter_4b5723"/>
              </a:rPr>
              <a:t>useRouter</a:t>
            </a:r>
            <a:r>
              <a:rPr lang="en-US" sz="3600" b="1" i="0">
                <a:solidFill>
                  <a:srgbClr val="FFFFFF"/>
                </a:solidFill>
                <a:effectLst/>
                <a:latin typeface="__Inter_4b5723"/>
              </a:rPr>
              <a:t>() Hook </a:t>
            </a:r>
            <a:endParaRPr lang="en-US" sz="3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B9A0B-C959-940B-C4CD-83B0FF545FE6}"/>
              </a:ext>
            </a:extLst>
          </p:cNvPr>
          <p:cNvSpPr txBox="1"/>
          <p:nvPr/>
        </p:nvSpPr>
        <p:spPr>
          <a:xfrm>
            <a:off x="421342" y="2039311"/>
            <a:ext cx="83901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err="1"/>
              <a:t>useRouter</a:t>
            </a:r>
            <a:r>
              <a:rPr lang="en-US" sz="2000"/>
              <a:t> </a:t>
            </a:r>
            <a:r>
              <a:rPr lang="en-US" sz="2000" b="1"/>
              <a:t>hook</a:t>
            </a:r>
            <a:r>
              <a:rPr lang="en-US" sz="2000"/>
              <a:t> from </a:t>
            </a:r>
            <a:r>
              <a:rPr lang="en-US" sz="2000" b="1"/>
              <a:t>next/router </a:t>
            </a:r>
            <a:r>
              <a:rPr lang="en-US" sz="2000"/>
              <a:t>to get access to the router object in functional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>
                <a:solidFill>
                  <a:srgbClr val="333333"/>
                </a:solidFill>
                <a:effectLst/>
              </a:rPr>
              <a:t>push</a:t>
            </a:r>
            <a:r>
              <a:rPr lang="en-US" sz="2000" b="0" i="0">
                <a:solidFill>
                  <a:srgbClr val="333333"/>
                </a:solidFill>
                <a:effectLst/>
              </a:rPr>
              <a:t> method to navigate to another page on the event.</a:t>
            </a: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8A359-BA72-DDC7-100D-9B1222C48C96}"/>
              </a:ext>
            </a:extLst>
          </p:cNvPr>
          <p:cNvSpPr txBox="1"/>
          <p:nvPr/>
        </p:nvSpPr>
        <p:spPr>
          <a:xfrm>
            <a:off x="553318" y="3247900"/>
            <a:ext cx="6436658" cy="28931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'next/router'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MyComponent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'/new-page'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Go to new page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726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i="0">
                <a:solidFill>
                  <a:srgbClr val="FFFFFF"/>
                </a:solidFill>
                <a:effectLst/>
                <a:latin typeface="__Inter_4b5723"/>
              </a:rPr>
              <a:t>Redirecting using </a:t>
            </a:r>
            <a:r>
              <a:rPr lang="en-US" sz="3600" b="1" i="0" err="1">
                <a:solidFill>
                  <a:srgbClr val="FFFFFF"/>
                </a:solidFill>
                <a:effectLst/>
                <a:latin typeface="__Inter_4b5723"/>
              </a:rPr>
              <a:t>useRouter</a:t>
            </a:r>
            <a:r>
              <a:rPr lang="en-US" sz="3600" b="1" i="0">
                <a:solidFill>
                  <a:srgbClr val="FFFFFF"/>
                </a:solidFill>
                <a:effectLst/>
                <a:latin typeface="__Inter_4b5723"/>
              </a:rPr>
              <a:t>() Hook </a:t>
            </a:r>
            <a:endParaRPr lang="en-US" sz="3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B9A0B-C959-940B-C4CD-83B0FF545FE6}"/>
              </a:ext>
            </a:extLst>
          </p:cNvPr>
          <p:cNvSpPr txBox="1"/>
          <p:nvPr/>
        </p:nvSpPr>
        <p:spPr>
          <a:xfrm>
            <a:off x="421342" y="2039311"/>
            <a:ext cx="8390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err="1"/>
              <a:t>router.push</a:t>
            </a:r>
            <a:r>
              <a:rPr lang="en-US" sz="2000" b="1"/>
              <a:t> </a:t>
            </a:r>
            <a:r>
              <a:rPr lang="en-US" sz="2000"/>
              <a:t>method to pass query parameters to the new page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CF5C3-FA9C-0666-6881-B3F31E1CE4EA}"/>
              </a:ext>
            </a:extLst>
          </p:cNvPr>
          <p:cNvSpPr txBox="1"/>
          <p:nvPr/>
        </p:nvSpPr>
        <p:spPr>
          <a:xfrm>
            <a:off x="755072" y="2474896"/>
            <a:ext cx="7633855" cy="418576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'next/router'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MyComponent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useRouter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pathname: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'/new-page'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'Source'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count: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Go to new page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289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>
                <a:hlinkClick r:id="rId3"/>
              </a:rPr>
              <a:t>https://nextjs.org/</a:t>
            </a:r>
            <a:endParaRPr lang="en-US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>
                <a:latin typeface="Times New Roman" panose="02020603050405020304" pitchFamily="18" charset="0"/>
              </a:rPr>
              <a:t>Mozilla Developer Networks, URL: </a:t>
            </a:r>
            <a:r>
              <a:rPr lang="en-US">
                <a:hlinkClick r:id="rId4"/>
              </a:rPr>
              <a:t>https://developer.mozilla.org/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Application>Microsoft Office PowerPoint</Application>
  <PresentationFormat>On-screen Show (4:3)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Spectrum</vt:lpstr>
      <vt:lpstr>Form Validation and Events</vt:lpstr>
      <vt:lpstr>Lecture Outline</vt:lpstr>
      <vt:lpstr> Form Validation in Next.js</vt:lpstr>
      <vt:lpstr> HTML form validation </vt:lpstr>
      <vt:lpstr> HTML form validation </vt:lpstr>
      <vt:lpstr>Vanilla JS Form Validation </vt:lpstr>
      <vt:lpstr>Logical AND (&amp;&amp;)</vt:lpstr>
      <vt:lpstr>External Libraries for Form Validation</vt:lpstr>
      <vt:lpstr>Redirecting using useRouter() Hook </vt:lpstr>
      <vt:lpstr>Redirecting using useRouter() Hook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revision>1</cp:revision>
  <dcterms:created xsi:type="dcterms:W3CDTF">2018-12-10T17:20:29Z</dcterms:created>
  <dcterms:modified xsi:type="dcterms:W3CDTF">2026-01-03T17:15:17Z</dcterms:modified>
</cp:coreProperties>
</file>