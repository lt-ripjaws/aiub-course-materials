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66" r:id="rId3"/>
    <p:sldId id="339" r:id="rId4"/>
    <p:sldId id="320" r:id="rId5"/>
    <p:sldId id="341" r:id="rId6"/>
    <p:sldId id="342" r:id="rId7"/>
    <p:sldId id="343" r:id="rId8"/>
    <p:sldId id="345" r:id="rId9"/>
    <p:sldId id="346" r:id="rId10"/>
    <p:sldId id="349" r:id="rId11"/>
    <p:sldId id="348" r:id="rId12"/>
    <p:sldId id="350" r:id="rId13"/>
    <p:sldId id="351" r:id="rId14"/>
    <p:sldId id="352" r:id="rId15"/>
    <p:sldId id="265" r:id="rId16"/>
    <p:sldId id="29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D4C441-B474-B9FD-3422-4EEE1D10AB86}" v="5" dt="2026-01-05T14:08:1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47" autoAdjust="0"/>
    <p:restoredTop sz="93969" autoAdjust="0"/>
  </p:normalViewPr>
  <p:slideViewPr>
    <p:cSldViewPr snapToGrid="0">
      <p:cViewPr varScale="1">
        <p:scale>
          <a:sx n="78" d="100"/>
          <a:sy n="78" d="100"/>
        </p:scale>
        <p:origin x="9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 SARKER" userId="S::22-49304-3@student.aiub.edu::529ddbcf-93e4-49e3-be02-5cb969012ce5" providerId="AD" clId="Web-{EBD4C441-B474-B9FD-3422-4EEE1D10AB86}"/>
    <pc:docChg chg="modSld">
      <pc:chgData name="DIP SARKER" userId="S::22-49304-3@student.aiub.edu::529ddbcf-93e4-49e3-be02-5cb969012ce5" providerId="AD" clId="Web-{EBD4C441-B474-B9FD-3422-4EEE1D10AB86}" dt="2026-01-05T14:08:04.494" v="1" actId="20577"/>
      <pc:docMkLst>
        <pc:docMk/>
      </pc:docMkLst>
      <pc:sldChg chg="modSp">
        <pc:chgData name="DIP SARKER" userId="S::22-49304-3@student.aiub.edu::529ddbcf-93e4-49e3-be02-5cb969012ce5" providerId="AD" clId="Web-{EBD4C441-B474-B9FD-3422-4EEE1D10AB86}" dt="2026-01-05T14:08:04.494" v="1" actId="20577"/>
        <pc:sldMkLst>
          <pc:docMk/>
          <pc:sldMk cId="1593103759" sldId="351"/>
        </pc:sldMkLst>
        <pc:spChg chg="mod">
          <ac:chgData name="DIP SARKER" userId="S::22-49304-3@student.aiub.edu::529ddbcf-93e4-49e3-be02-5cb969012ce5" providerId="AD" clId="Web-{EBD4C441-B474-B9FD-3422-4EEE1D10AB86}" dt="2026-01-05T14:08:04.494" v="1" actId="20577"/>
          <ac:spMkLst>
            <pc:docMk/>
            <pc:sldMk cId="1593103759" sldId="351"/>
            <ac:spMk id="7" creationId="{61DEC907-ABBC-C95D-5695-D6B07B086E15}"/>
          </ac:spMkLst>
        </pc:spChg>
      </pc:sldChg>
    </pc:docChg>
  </pc:docChgLst>
  <pc:docChgLst>
    <pc:chgData name="MD. TASMIM-AL TAHSIN" userId="S::22-46299-1@student.aiub.edu::703e819f-7f16-4955-9006-b1265528ad9b" providerId="AD" clId="Web-{42387B1D-FAD5-86C7-62B3-4CE5A6A71E77}"/>
    <pc:docChg chg="sldOrd">
      <pc:chgData name="MD. TASMIM-AL TAHSIN" userId="S::22-46299-1@student.aiub.edu::703e819f-7f16-4955-9006-b1265528ad9b" providerId="AD" clId="Web-{42387B1D-FAD5-86C7-62B3-4CE5A6A71E77}" dt="2026-01-02T21:03:36.320" v="2"/>
      <pc:docMkLst>
        <pc:docMk/>
      </pc:docMkLst>
      <pc:sldChg chg="ord">
        <pc:chgData name="MD. TASMIM-AL TAHSIN" userId="S::22-46299-1@student.aiub.edu::703e819f-7f16-4955-9006-b1265528ad9b" providerId="AD" clId="Web-{42387B1D-FAD5-86C7-62B3-4CE5A6A71E77}" dt="2026-01-02T21:03:36.320" v="2"/>
        <pc:sldMkLst>
          <pc:docMk/>
          <pc:sldMk cId="1289598430" sldId="3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</a:rPr>
              <a:t>Handling Authentication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977813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Cross-Origin Resource Sharing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CORS (Cross-Origin Resource Sharing is a </a:t>
            </a:r>
            <a:r>
              <a:rPr lang="en-US" sz="2400" b="1" dirty="0"/>
              <a:t>security</a:t>
            </a:r>
            <a:r>
              <a:rPr lang="en-US" sz="2400" dirty="0"/>
              <a:t> feature implemented by web browsers that controls whether a web page running at one origin (domain) is </a:t>
            </a:r>
            <a:r>
              <a:rPr lang="en-US" sz="2400" b="1" dirty="0"/>
              <a:t>allowed to request resources from a server at a different origin </a:t>
            </a:r>
            <a:r>
              <a:rPr lang="en-US" sz="2400" dirty="0"/>
              <a:t>(domain).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Change bootstrap function in </a:t>
            </a:r>
            <a:r>
              <a:rPr lang="en-US" sz="2400" dirty="0" err="1"/>
              <a:t>nestjs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374AD-3D4F-81C3-735A-CFC3F00E637A}"/>
              </a:ext>
            </a:extLst>
          </p:cNvPr>
          <p:cNvSpPr txBox="1"/>
          <p:nvPr/>
        </p:nvSpPr>
        <p:spPr>
          <a:xfrm>
            <a:off x="783236" y="3835545"/>
            <a:ext cx="75775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enableCors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methods: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'GET,HEAD,PUT,PATCH,POST,DELETE,OPTIONS'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credentials: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Cross-Origin Resource Sharing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1549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Origin</a:t>
            </a:r>
            <a:r>
              <a:rPr lang="en-US" sz="2400" dirty="0"/>
              <a:t>: This specifies the allowed origins for cross-origin requests. The </a:t>
            </a:r>
            <a:r>
              <a:rPr lang="en-US" sz="2400" b="1" dirty="0"/>
              <a:t>true</a:t>
            </a:r>
            <a:r>
              <a:rPr lang="en-US" sz="2400" dirty="0"/>
              <a:t> value here means that any origin is allowed to make requests to the server. </a:t>
            </a:r>
          </a:p>
          <a:p>
            <a:pPr lvl="0"/>
            <a:r>
              <a:rPr lang="en-US" sz="2400" b="1" dirty="0"/>
              <a:t>Methods</a:t>
            </a:r>
            <a:r>
              <a:rPr lang="en-US" sz="2400" dirty="0"/>
              <a:t>: This specifies the HTTP methods that are allowed in the cross-origin requests. In the provided code, it allows the common HTTP methods like GET, HEAD, PUT, PATCH, POST, DELETE, and OPTIONS.</a:t>
            </a:r>
          </a:p>
          <a:p>
            <a:pPr lvl="0"/>
            <a:r>
              <a:rPr lang="en-US" sz="2400" b="1" dirty="0"/>
              <a:t>C</a:t>
            </a:r>
            <a:r>
              <a:rPr lang="en-US" sz="2400" b="1"/>
              <a:t>redentials</a:t>
            </a:r>
            <a:r>
              <a:rPr lang="en-US" sz="2400" dirty="0"/>
              <a:t>: This indicates whether the server should include any cookies, HTTP authentication, or client-side SSL certificates in cross-origin requests. When set to true, it means that the browser's cross-origin request includes credentials (like cookies) in the request.</a:t>
            </a:r>
          </a:p>
        </p:txBody>
      </p:sp>
    </p:spTree>
    <p:extLst>
      <p:ext uri="{BB962C8B-B14F-4D97-AF65-F5344CB8AC3E}">
        <p14:creationId xmlns:p14="http://schemas.microsoft.com/office/powerpoint/2010/main" val="282946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Axios</a:t>
            </a:r>
            <a:r>
              <a:rPr lang="en-US" sz="4400" dirty="0"/>
              <a:t> with Credentials Option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86440" y="1984674"/>
            <a:ext cx="88011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withCredentials</a:t>
            </a:r>
            <a:r>
              <a:rPr lang="en-US" sz="2400" dirty="0"/>
              <a:t> option is used to control whether the browser should send cookies or HTTP authentication along with cross-origin requests.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</a:t>
            </a:r>
            <a:r>
              <a:rPr lang="en-US" sz="2400" dirty="0" err="1"/>
              <a:t>withCredentials</a:t>
            </a:r>
            <a:r>
              <a:rPr lang="en-US" sz="2400" dirty="0"/>
              <a:t> is set to </a:t>
            </a:r>
            <a:r>
              <a:rPr lang="en-US" sz="2400" b="1" dirty="0"/>
              <a:t>false (the default)</a:t>
            </a:r>
            <a:r>
              <a:rPr lang="en-US" sz="2400" dirty="0"/>
              <a:t>, </a:t>
            </a:r>
            <a:r>
              <a:rPr lang="en-US" sz="2400" dirty="0" err="1"/>
              <a:t>Axios</a:t>
            </a:r>
            <a:r>
              <a:rPr lang="en-US" sz="2400" dirty="0"/>
              <a:t> </a:t>
            </a:r>
            <a:r>
              <a:rPr lang="en-US" sz="2400" b="1" dirty="0"/>
              <a:t>will not send cookies</a:t>
            </a:r>
            <a:r>
              <a:rPr lang="en-US" sz="2400" dirty="0"/>
              <a:t> or authentication headers with cross-origin requests.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</a:t>
            </a:r>
            <a:r>
              <a:rPr lang="en-US" sz="2400" dirty="0" err="1"/>
              <a:t>withCredentials</a:t>
            </a:r>
            <a:r>
              <a:rPr lang="en-US" sz="2400" dirty="0"/>
              <a:t> is set to </a:t>
            </a:r>
            <a:r>
              <a:rPr lang="en-US" sz="2400" b="1" dirty="0"/>
              <a:t>true</a:t>
            </a:r>
            <a:r>
              <a:rPr lang="en-US" sz="2400" dirty="0"/>
              <a:t>, </a:t>
            </a:r>
            <a:r>
              <a:rPr lang="en-US" sz="2400" dirty="0" err="1"/>
              <a:t>Axios</a:t>
            </a:r>
            <a:r>
              <a:rPr lang="en-US" sz="2400" dirty="0"/>
              <a:t> will </a:t>
            </a:r>
            <a:r>
              <a:rPr lang="en-US" sz="2400" b="1" dirty="0"/>
              <a:t>include</a:t>
            </a:r>
            <a:r>
              <a:rPr lang="en-US" sz="2400" dirty="0"/>
              <a:t> cookies and authentication headers in cross-origin requests.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C6CAE-8DE0-01F2-AE6C-519D75D4326A}"/>
              </a:ext>
            </a:extLst>
          </p:cNvPr>
          <p:cNvSpPr txBox="1"/>
          <p:nvPr/>
        </p:nvSpPr>
        <p:spPr>
          <a:xfrm>
            <a:off x="81509" y="4572390"/>
            <a:ext cx="9901940" cy="22467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'/admin/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signin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/’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'application/x-www-form-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withCredentials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Storing JWT token in frontend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86440" y="1984674"/>
            <a:ext cx="8801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</a:t>
            </a:r>
            <a:r>
              <a:rPr lang="en-US" sz="2400"/>
              <a:t>are two </a:t>
            </a:r>
            <a:r>
              <a:rPr lang="en-US" sz="2400" dirty="0"/>
              <a:t>popular method to store JWT in Browser or Frontend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HTTPOnly</a:t>
            </a:r>
            <a:r>
              <a:rPr lang="en-US" sz="2400" dirty="0"/>
              <a:t> Cookies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Local Storage</a:t>
            </a:r>
          </a:p>
        </p:txBody>
      </p:sp>
    </p:spTree>
    <p:extLst>
      <p:ext uri="{BB962C8B-B14F-4D97-AF65-F5344CB8AC3E}">
        <p14:creationId xmlns:p14="http://schemas.microsoft.com/office/powerpoint/2010/main" val="203781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err="1"/>
              <a:t>HTTPOnly</a:t>
            </a:r>
            <a:r>
              <a:rPr lang="en-US" sz="4400" dirty="0"/>
              <a:t> Cookies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219456" y="1984674"/>
            <a:ext cx="8768084" cy="41549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HTTPOnly</a:t>
            </a:r>
            <a:r>
              <a:rPr lang="en-US" sz="2400" dirty="0"/>
              <a:t> cookies are small pieces of data that a server sends to the client's browser. These cookies are designed to be secure because they can't be accessed by JavaScript running in the browser.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Söhne"/>
              </a:rPr>
              <a:t>Pros</a:t>
            </a:r>
            <a:r>
              <a:rPr lang="en-US" sz="2400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öhne"/>
              </a:rPr>
              <a:t>Secure: Since </a:t>
            </a:r>
            <a:r>
              <a:rPr lang="en-US" sz="2400" b="0" i="0" dirty="0" err="1">
                <a:effectLst/>
                <a:latin typeface="Söhne"/>
              </a:rPr>
              <a:t>HTTPOnly</a:t>
            </a:r>
            <a:r>
              <a:rPr lang="en-US" sz="2400" b="0" i="0" dirty="0">
                <a:effectLst/>
                <a:latin typeface="Söhne"/>
              </a:rPr>
              <a:t> cookies are not accessible to JavaScript, they are less vulnerable to certain types of attacks, such as cross-site scripting (XSS).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öhne"/>
              </a:rPr>
              <a:t>Automatically sent: The browser automatically includes </a:t>
            </a:r>
            <a:r>
              <a:rPr lang="en-US" sz="2400" b="0" i="0" dirty="0" err="1">
                <a:effectLst/>
                <a:latin typeface="Söhne"/>
              </a:rPr>
              <a:t>HTTPOnly</a:t>
            </a:r>
            <a:r>
              <a:rPr lang="en-US" sz="2400" b="0" i="0" dirty="0">
                <a:effectLst/>
                <a:latin typeface="Söhne"/>
              </a:rPr>
              <a:t> cookies with every request to the server, simplifying the process for handling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231625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Local Storage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86440" y="1984674"/>
            <a:ext cx="8801100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Söhne"/>
              </a:rPr>
              <a:t>Local storage is a feature of web browsers that allows websites to store data on the user's device.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öhne"/>
              </a:rPr>
              <a:t>Pros</a:t>
            </a:r>
            <a:r>
              <a:rPr lang="en-US" sz="2000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Easy to use: Local storage is simple to use and widely supported by modern web browsers.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Persistent: Data stored in local storage remains available even after the user closes the browser and returns to the website later.</a:t>
            </a:r>
          </a:p>
        </p:txBody>
      </p:sp>
    </p:spTree>
    <p:extLst>
      <p:ext uri="{BB962C8B-B14F-4D97-AF65-F5344CB8AC3E}">
        <p14:creationId xmlns:p14="http://schemas.microsoft.com/office/powerpoint/2010/main" val="128959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Avoiding XSS attack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86440" y="1984674"/>
            <a:ext cx="8801100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Söhne"/>
              </a:rPr>
              <a:t>To mitigate XSS attacks against JWT tokens, it's essential to follow security best practices such as:</a:t>
            </a:r>
          </a:p>
          <a:p>
            <a:pPr algn="l"/>
            <a:endParaRPr lang="en-US" sz="2000" b="0" i="0" dirty="0">
              <a:effectLst/>
              <a:latin typeface="Söhne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Sanitizing and validating user input to prevent script injection.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Implementing Content Security Policy (CSP) to restrict the sources of scripts that can be executed.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Using </a:t>
            </a:r>
            <a:r>
              <a:rPr lang="en-US" sz="2000" b="0" i="0" dirty="0" err="1">
                <a:effectLst/>
                <a:latin typeface="Söhne"/>
              </a:rPr>
              <a:t>HTTPOnly</a:t>
            </a:r>
            <a:r>
              <a:rPr lang="en-US" sz="2000" b="0" i="0" dirty="0">
                <a:effectLst/>
                <a:latin typeface="Söhne"/>
              </a:rPr>
              <a:t> cookies instead of local storage for storing sensitive data like JWT tokens.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Escaping output when retrieving and rendering JWT token data to prevent XSS vulnerabilities.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öhne"/>
              </a:rPr>
              <a:t>Regularly auditing and updating the application's codebase to address any potential security vulnerabilities, including XSS flaws.</a:t>
            </a:r>
          </a:p>
        </p:txBody>
      </p:sp>
    </p:spTree>
    <p:extLst>
      <p:ext uri="{BB962C8B-B14F-4D97-AF65-F5344CB8AC3E}">
        <p14:creationId xmlns:p14="http://schemas.microsoft.com/office/powerpoint/2010/main" val="102882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use Local Storage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86440" y="1984674"/>
            <a:ext cx="8801100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Söhne"/>
              </a:rPr>
              <a:t>Setting Items in Local Storage:</a:t>
            </a:r>
          </a:p>
          <a:p>
            <a:pPr algn="l"/>
            <a:endParaRPr lang="en-US" sz="2000" dirty="0">
              <a:latin typeface="Söhne"/>
            </a:endParaRPr>
          </a:p>
          <a:p>
            <a:r>
              <a:rPr lang="en-US" sz="20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20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setItem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'value'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2000" dirty="0">
              <a:latin typeface="Söhne"/>
            </a:endParaRPr>
          </a:p>
          <a:p>
            <a:pPr algn="l"/>
            <a:endParaRPr lang="en-US" sz="2000" dirty="0">
              <a:latin typeface="Söhne"/>
            </a:endParaRPr>
          </a:p>
          <a:p>
            <a:pPr algn="l"/>
            <a:r>
              <a:rPr lang="en-US" sz="2000" b="0" i="0" dirty="0">
                <a:effectLst/>
                <a:latin typeface="Söhne"/>
              </a:rPr>
              <a:t>Getting Items from Local Storage:</a:t>
            </a:r>
          </a:p>
          <a:p>
            <a:pPr algn="l"/>
            <a:endParaRPr lang="en-US" sz="2000" dirty="0">
              <a:latin typeface="Söhne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20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getItem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2000" b="0" i="0" dirty="0">
              <a:effectLst/>
              <a:latin typeface="Söhne"/>
            </a:endParaRPr>
          </a:p>
          <a:p>
            <a:pPr algn="l"/>
            <a:endParaRPr lang="en-US" sz="2000" dirty="0">
              <a:latin typeface="Söhne"/>
            </a:endParaRPr>
          </a:p>
          <a:p>
            <a:pPr algn="l"/>
            <a:r>
              <a:rPr lang="en-US" sz="2000" b="0" i="0" dirty="0">
                <a:effectLst/>
                <a:latin typeface="Söhne"/>
              </a:rPr>
              <a:t>Removing Items from Local Storage:</a:t>
            </a:r>
          </a:p>
          <a:p>
            <a:pPr algn="l"/>
            <a:endParaRPr lang="en-US" sz="2000" dirty="0">
              <a:latin typeface="Söhne"/>
            </a:endParaRPr>
          </a:p>
          <a:p>
            <a:r>
              <a:rPr lang="en-US" sz="20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20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removeItem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'key'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2000" b="0" i="0" dirty="0">
              <a:effectLst/>
              <a:latin typeface="Söhne"/>
            </a:endParaRPr>
          </a:p>
          <a:p>
            <a:pPr algn="l"/>
            <a:endParaRPr lang="en-US" sz="2000" dirty="0">
              <a:latin typeface="Söhne"/>
            </a:endParaRPr>
          </a:p>
          <a:p>
            <a:pPr algn="l"/>
            <a:r>
              <a:rPr lang="en-US" sz="2000" b="0" i="0" dirty="0">
                <a:effectLst/>
                <a:latin typeface="Söhne"/>
              </a:rPr>
              <a:t>Clearing Local Storage:</a:t>
            </a:r>
          </a:p>
          <a:p>
            <a:pPr algn="l"/>
            <a:endParaRPr lang="en-US" sz="2000" dirty="0">
              <a:latin typeface="Söhne"/>
            </a:endParaRPr>
          </a:p>
          <a:p>
            <a:r>
              <a:rPr lang="en-US" sz="20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20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clear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61733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Storing Token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69E87-E6BF-AC71-F59B-8764B30B9E0E}"/>
              </a:ext>
            </a:extLst>
          </p:cNvPr>
          <p:cNvSpPr txBox="1"/>
          <p:nvPr/>
        </p:nvSpPr>
        <p:spPr>
          <a:xfrm>
            <a:off x="126125" y="2025126"/>
            <a:ext cx="8875986" cy="28931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post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'http://localhost:8000/auth/login'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formData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token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token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access_token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setItem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'token'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token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access_token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setItem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'email'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formData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email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router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'/dashboard'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'Error signing in:'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81382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Token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69E87-E6BF-AC71-F59B-8764B30B9E0E}"/>
              </a:ext>
            </a:extLst>
          </p:cNvPr>
          <p:cNvSpPr txBox="1"/>
          <p:nvPr/>
        </p:nvSpPr>
        <p:spPr>
          <a:xfrm>
            <a:off x="269899" y="1895730"/>
            <a:ext cx="8875986" cy="48320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axios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axios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Retrieve token and email from local storage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token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getItem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'token'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email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localStorage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getItem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'email'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Check if token exists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token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Try to fetch user data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'http://localhost:8000/admin/</a:t>
            </a:r>
            <a:r>
              <a:rPr lang="en-US" sz="1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getusers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email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headers: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Authorization: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'Bearer 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token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},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});</a:t>
            </a:r>
          </a:p>
          <a:p>
            <a:b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setUser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'Error fetching user data:'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Redirect to sign-in page if there's an error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router</a:t>
            </a:r>
            <a:r>
              <a:rPr lang="en-US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'/</a:t>
            </a:r>
            <a:r>
              <a:rPr lang="en-US" sz="1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signin</a:t>
            </a:r>
            <a:r>
              <a:rPr lang="en-US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184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489B-7EC3-423A-58A8-B62E92C7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How to </a:t>
            </a:r>
            <a:r>
              <a:rPr lang="en-US"/>
              <a:t>use HTTP ONLLY COOKIE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1BD13-FCAC-9A37-B67E-B74207336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755058"/>
            <a:ext cx="8574087" cy="4371105"/>
          </a:xfrm>
        </p:spPr>
        <p:txBody>
          <a:bodyPr/>
          <a:lstStyle/>
          <a:p>
            <a:r>
              <a:rPr lang="en-US" dirty="0"/>
              <a:t>To securely store JWT tokens using HTTP Only cookies in Next.js, follow these steps:</a:t>
            </a:r>
          </a:p>
          <a:p>
            <a:pPr marL="0" indent="0">
              <a:buNone/>
            </a:pPr>
            <a:r>
              <a:rPr lang="en-US" b="1" dirty="0" err="1"/>
              <a:t>npm</a:t>
            </a:r>
            <a:r>
              <a:rPr lang="en-US" b="1" dirty="0"/>
              <a:t> install next-cookie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5096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C87-7846-2486-A4D4-EBCCE593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Setting the cookie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EC907-ABBC-C95D-5695-D6B07B086E15}"/>
              </a:ext>
            </a:extLst>
          </p:cNvPr>
          <p:cNvSpPr txBox="1"/>
          <p:nvPr/>
        </p:nvSpPr>
        <p:spPr>
          <a:xfrm>
            <a:off x="284163" y="1701458"/>
            <a:ext cx="8574087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'next-cookie'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pageProps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jwtToken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/>
              </a:rPr>
              <a:t> 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/>
              </a:rPr>
              <a:t>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/>
              </a:rPr>
              <a:t>) {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Set the cookie with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HttpOnly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flag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jwtToken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maxAge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Set expiration time (optional)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sameSite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'strict'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httpOnly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pageProps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3103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A925-C8ED-55E4-6ACA-F2E083CC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Access and Use the Token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8673E-ADFD-A8EE-200C-EBAD803EBD81}"/>
              </a:ext>
            </a:extLst>
          </p:cNvPr>
          <p:cNvSpPr txBox="1"/>
          <p:nvPr/>
        </p:nvSpPr>
        <p:spPr>
          <a:xfrm>
            <a:off x="239918" y="2470464"/>
            <a:ext cx="85740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useCookie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'next-cookie'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MyComponent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jwtToken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useCookie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jwtToken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Use the JWT token for authentication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8018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855354" y="1939139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</a:t>
            </a:r>
            <a:r>
              <a:rPr lang="en-US">
                <a:hlinkClick r:id="rId4"/>
              </a:rPr>
              <a:t>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1276</TotalTime>
  <Words>1171</Words>
  <Application>Microsoft Office PowerPoint</Application>
  <PresentationFormat>On-screen Show (4:3)</PresentationFormat>
  <Paragraphs>143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Spectrum</vt:lpstr>
      <vt:lpstr>Handling Authentication</vt:lpstr>
      <vt:lpstr>Cross-Origin Resource Sharing</vt:lpstr>
      <vt:lpstr>Cross-Origin Resource Sharing</vt:lpstr>
      <vt:lpstr>Axios with Credentials Option</vt:lpstr>
      <vt:lpstr>Storing JWT token in frontend </vt:lpstr>
      <vt:lpstr>HTTPOnly Cookies</vt:lpstr>
      <vt:lpstr>Local Storage</vt:lpstr>
      <vt:lpstr>Avoiding XSS attack</vt:lpstr>
      <vt:lpstr>How to use Local Storage </vt:lpstr>
      <vt:lpstr>Storing Token</vt:lpstr>
      <vt:lpstr>Using Token</vt:lpstr>
      <vt:lpstr>How to use HTTP ONLLY COOKIE </vt:lpstr>
      <vt:lpstr>Setting the cookie</vt:lpstr>
      <vt:lpstr>Access and Use the Token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469</cp:revision>
  <dcterms:created xsi:type="dcterms:W3CDTF">2018-12-10T17:20:29Z</dcterms:created>
  <dcterms:modified xsi:type="dcterms:W3CDTF">2026-01-05T14:08:14Z</dcterms:modified>
</cp:coreProperties>
</file>