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6" r:id="rId4"/>
    <p:sldId id="336" r:id="rId5"/>
    <p:sldId id="320" r:id="rId6"/>
    <p:sldId id="321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1" r:id="rId15"/>
    <p:sldId id="332" r:id="rId16"/>
    <p:sldId id="333" r:id="rId17"/>
    <p:sldId id="334" r:id="rId18"/>
    <p:sldId id="335" r:id="rId19"/>
    <p:sldId id="265" r:id="rId20"/>
    <p:sldId id="29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696747-9049-844C-95F4-DA6D878B7667}" v="4" dt="2026-01-03T16:36:41.407"/>
    <p1510:client id="{B41E8060-5624-C1C6-4D4D-E6F885CDC4F5}" v="43" dt="2026-01-03T17:44:51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IN ZAHRA" userId="S::22-46829-1@student.aiub.edu::330754e4-8eaa-4191-8c85-10b5b85abef9" providerId="AD" clId="Web-{B41E8060-5624-C1C6-4D4D-E6F885CDC4F5}"/>
    <pc:docChg chg="modSld">
      <pc:chgData name="FARHIN ZAHRA" userId="S::22-46829-1@student.aiub.edu::330754e4-8eaa-4191-8c85-10b5b85abef9" providerId="AD" clId="Web-{B41E8060-5624-C1C6-4D4D-E6F885CDC4F5}" dt="2026-01-03T17:44:51.933" v="21" actId="1076"/>
      <pc:docMkLst>
        <pc:docMk/>
      </pc:docMkLst>
      <pc:sldChg chg="modSp">
        <pc:chgData name="FARHIN ZAHRA" userId="S::22-46829-1@student.aiub.edu::330754e4-8eaa-4191-8c85-10b5b85abef9" providerId="AD" clId="Web-{B41E8060-5624-C1C6-4D4D-E6F885CDC4F5}" dt="2026-01-03T14:55:39.735" v="18" actId="1076"/>
        <pc:sldMkLst>
          <pc:docMk/>
          <pc:sldMk cId="660878113" sldId="321"/>
        </pc:sldMkLst>
        <pc:spChg chg="mod">
          <ac:chgData name="FARHIN ZAHRA" userId="S::22-46829-1@student.aiub.edu::330754e4-8eaa-4191-8c85-10b5b85abef9" providerId="AD" clId="Web-{B41E8060-5624-C1C6-4D4D-E6F885CDC4F5}" dt="2026-01-03T14:55:39.735" v="18" actId="1076"/>
          <ac:spMkLst>
            <pc:docMk/>
            <pc:sldMk cId="660878113" sldId="321"/>
            <ac:spMk id="7" creationId="{22E42D94-4F82-B07B-1BBE-0C9B5486C0FF}"/>
          </ac:spMkLst>
        </pc:spChg>
      </pc:sldChg>
      <pc:sldChg chg="modSp">
        <pc:chgData name="FARHIN ZAHRA" userId="S::22-46829-1@student.aiub.edu::330754e4-8eaa-4191-8c85-10b5b85abef9" providerId="AD" clId="Web-{B41E8060-5624-C1C6-4D4D-E6F885CDC4F5}" dt="2026-01-03T14:55:54.658" v="19" actId="14100"/>
        <pc:sldMkLst>
          <pc:docMk/>
          <pc:sldMk cId="4260422371" sldId="323"/>
        </pc:sldMkLst>
        <pc:spChg chg="mod">
          <ac:chgData name="FARHIN ZAHRA" userId="S::22-46829-1@student.aiub.edu::330754e4-8eaa-4191-8c85-10b5b85abef9" providerId="AD" clId="Web-{B41E8060-5624-C1C6-4D4D-E6F885CDC4F5}" dt="2026-01-03T14:55:54.658" v="19" actId="14100"/>
          <ac:spMkLst>
            <pc:docMk/>
            <pc:sldMk cId="4260422371" sldId="323"/>
            <ac:spMk id="4" creationId="{0C388908-4415-FF53-730C-BC3F5A997969}"/>
          </ac:spMkLst>
        </pc:spChg>
      </pc:sldChg>
      <pc:sldChg chg="modSp">
        <pc:chgData name="FARHIN ZAHRA" userId="S::22-46829-1@student.aiub.edu::330754e4-8eaa-4191-8c85-10b5b85abef9" providerId="AD" clId="Web-{B41E8060-5624-C1C6-4D4D-E6F885CDC4F5}" dt="2026-01-03T17:44:51.933" v="21" actId="1076"/>
        <pc:sldMkLst>
          <pc:docMk/>
          <pc:sldMk cId="863792523" sldId="326"/>
        </pc:sldMkLst>
        <pc:spChg chg="mod">
          <ac:chgData name="FARHIN ZAHRA" userId="S::22-46829-1@student.aiub.edu::330754e4-8eaa-4191-8c85-10b5b85abef9" providerId="AD" clId="Web-{B41E8060-5624-C1C6-4D4D-E6F885CDC4F5}" dt="2026-01-03T17:44:51.933" v="21" actId="1076"/>
          <ac:spMkLst>
            <pc:docMk/>
            <pc:sldMk cId="863792523" sldId="326"/>
            <ac:spMk id="4" creationId="{0C388908-4415-FF53-730C-BC3F5A997969}"/>
          </ac:spMkLst>
        </pc:spChg>
      </pc:sldChg>
      <pc:sldChg chg="modSp">
        <pc:chgData name="FARHIN ZAHRA" userId="S::22-46829-1@student.aiub.edu::330754e4-8eaa-4191-8c85-10b5b85abef9" providerId="AD" clId="Web-{B41E8060-5624-C1C6-4D4D-E6F885CDC4F5}" dt="2026-01-03T15:11:26.730" v="20" actId="14100"/>
        <pc:sldMkLst>
          <pc:docMk/>
          <pc:sldMk cId="2214394520" sldId="334"/>
        </pc:sldMkLst>
        <pc:spChg chg="mod">
          <ac:chgData name="FARHIN ZAHRA" userId="S::22-46829-1@student.aiub.edu::330754e4-8eaa-4191-8c85-10b5b85abef9" providerId="AD" clId="Web-{B41E8060-5624-C1C6-4D4D-E6F885CDC4F5}" dt="2026-01-03T15:11:26.730" v="20" actId="14100"/>
          <ac:spMkLst>
            <pc:docMk/>
            <pc:sldMk cId="2214394520" sldId="334"/>
            <ac:spMk id="5" creationId="{F7CC5B11-0645-8BCB-3B01-884CC8949104}"/>
          </ac:spMkLst>
        </pc:spChg>
      </pc:sldChg>
      <pc:sldChg chg="modSp">
        <pc:chgData name="FARHIN ZAHRA" userId="S::22-46829-1@student.aiub.edu::330754e4-8eaa-4191-8c85-10b5b85abef9" providerId="AD" clId="Web-{B41E8060-5624-C1C6-4D4D-E6F885CDC4F5}" dt="2026-01-03T10:28:51.650" v="17"/>
        <pc:sldMkLst>
          <pc:docMk/>
          <pc:sldMk cId="2885516249" sldId="336"/>
        </pc:sldMkLst>
        <pc:graphicFrameChg chg="mod modGraphic">
          <ac:chgData name="FARHIN ZAHRA" userId="S::22-46829-1@student.aiub.edu::330754e4-8eaa-4191-8c85-10b5b85abef9" providerId="AD" clId="Web-{B41E8060-5624-C1C6-4D4D-E6F885CDC4F5}" dt="2026-01-03T10:28:51.650" v="17"/>
          <ac:graphicFrameMkLst>
            <pc:docMk/>
            <pc:sldMk cId="2885516249" sldId="336"/>
            <ac:graphicFrameMk id="25" creationId="{0673F739-F9E8-57C5-E941-1D07716552FB}"/>
          </ac:graphicFrameMkLst>
        </pc:graphicFrameChg>
      </pc:sldChg>
    </pc:docChg>
  </pc:docChgLst>
  <pc:docChgLst>
    <pc:chgData name="NAYEEMUL ISLAM NAYEEM" userId="S::23-51350-1@student.aiub.edu::f79b2b32-35f2-4028-ace2-572b768c511b" providerId="AD" clId="Web-{B976D179-7C86-1581-0A24-CB095206FC29}"/>
    <pc:docChg chg="modSld">
      <pc:chgData name="NAYEEMUL ISLAM NAYEEM" userId="S::23-51350-1@student.aiub.edu::f79b2b32-35f2-4028-ace2-572b768c511b" providerId="AD" clId="Web-{B976D179-7C86-1581-0A24-CB095206FC29}" dt="2025-12-19T17:52:11.319" v="2" actId="20577"/>
      <pc:docMkLst>
        <pc:docMk/>
      </pc:docMkLst>
      <pc:sldChg chg="modSp">
        <pc:chgData name="NAYEEMUL ISLAM NAYEEM" userId="S::23-51350-1@student.aiub.edu::f79b2b32-35f2-4028-ace2-572b768c511b" providerId="AD" clId="Web-{B976D179-7C86-1581-0A24-CB095206FC29}" dt="2025-12-19T17:52:11.319" v="2" actId="20577"/>
        <pc:sldMkLst>
          <pc:docMk/>
          <pc:sldMk cId="2214394520" sldId="334"/>
        </pc:sldMkLst>
        <pc:spChg chg="mod">
          <ac:chgData name="NAYEEMUL ISLAM NAYEEM" userId="S::23-51350-1@student.aiub.edu::f79b2b32-35f2-4028-ace2-572b768c511b" providerId="AD" clId="Web-{B976D179-7C86-1581-0A24-CB095206FC29}" dt="2025-12-19T17:52:11.319" v="2" actId="20577"/>
          <ac:spMkLst>
            <pc:docMk/>
            <pc:sldMk cId="2214394520" sldId="334"/>
            <ac:spMk id="5" creationId="{F7CC5B11-0645-8BCB-3B01-884CC8949104}"/>
          </ac:spMkLst>
        </pc:spChg>
      </pc:sldChg>
    </pc:docChg>
  </pc:docChgLst>
  <pc:docChgLst>
    <pc:chgData name="DIP SARKER" userId="529ddbcf-93e4-49e3-be02-5cb969012ce5" providerId="ADAL" clId="{A1696747-9049-844C-95F4-DA6D878B7667}"/>
    <pc:docChg chg="modSld">
      <pc:chgData name="DIP SARKER" userId="529ddbcf-93e4-49e3-be02-5cb969012ce5" providerId="ADAL" clId="{A1696747-9049-844C-95F4-DA6D878B7667}" dt="2026-01-03T16:36:39.530" v="1" actId="20578"/>
      <pc:docMkLst>
        <pc:docMk/>
      </pc:docMkLst>
      <pc:sldChg chg="modSp">
        <pc:chgData name="DIP SARKER" userId="529ddbcf-93e4-49e3-be02-5cb969012ce5" providerId="ADAL" clId="{A1696747-9049-844C-95F4-DA6D878B7667}" dt="2026-01-03T16:36:39.530" v="1" actId="20578"/>
        <pc:sldMkLst>
          <pc:docMk/>
          <pc:sldMk cId="2214394520" sldId="334"/>
        </pc:sldMkLst>
        <pc:spChg chg="mod">
          <ac:chgData name="DIP SARKER" userId="529ddbcf-93e4-49e3-be02-5cb969012ce5" providerId="ADAL" clId="{A1696747-9049-844C-95F4-DA6D878B7667}" dt="2026-01-03T16:36:39.530" v="1" actId="20578"/>
          <ac:spMkLst>
            <pc:docMk/>
            <pc:sldMk cId="2214394520" sldId="334"/>
            <ac:spMk id="5" creationId="{F7CC5B11-0645-8BCB-3B01-884CC89491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21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99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axios-http.com/docs/post_example" TargetMode="External"/><Relationship Id="rId4" Type="http://schemas.openxmlformats.org/officeDocument/2006/relationships/hyperlink" Target="https://developer.mozilla.org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AXIOS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818544"/>
              </p:ext>
            </p:extLst>
          </p:nvPr>
        </p:nvGraphicFramePr>
        <p:xfrm>
          <a:off x="476205" y="5264727"/>
          <a:ext cx="8335798" cy="7444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00051"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What is AXIOS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Installation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err="1">
                <a:solidFill>
                  <a:schemeClr val="tx1"/>
                </a:solidFill>
              </a:rPr>
              <a:t>Axios</a:t>
            </a:r>
            <a:r>
              <a:rPr lang="en-US">
                <a:solidFill>
                  <a:schemeClr val="tx1"/>
                </a:solidFill>
              </a:rPr>
              <a:t> Example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Creating Environment Variable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Extract AXIOs Response 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>
                <a:solidFill>
                  <a:schemeClr val="bg1"/>
                </a:solidFill>
              </a:rPr>
              <a:t>What is AXIOS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4538" y="2006444"/>
            <a:ext cx="8811491" cy="47089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err="1"/>
              <a:t>Axios</a:t>
            </a:r>
            <a:r>
              <a:rPr lang="en-US" sz="2000"/>
              <a:t> is a promise-based </a:t>
            </a:r>
            <a:r>
              <a:rPr lang="en-US" sz="2000" b="1"/>
              <a:t>HTTP Client </a:t>
            </a:r>
            <a:r>
              <a:rPr lang="en-US" sz="2000"/>
              <a:t>for </a:t>
            </a:r>
            <a:r>
              <a:rPr lang="en-US" sz="2000" b="1"/>
              <a:t>node.js </a:t>
            </a:r>
            <a:r>
              <a:rPr lang="en-US" sz="2000"/>
              <a:t>and the browser. It is </a:t>
            </a:r>
            <a:r>
              <a:rPr lang="en-US" sz="2000" b="1"/>
              <a:t>isomorphic</a:t>
            </a:r>
            <a:r>
              <a:rPr lang="en-US" sz="2000"/>
              <a:t> ( it can run in the browser and </a:t>
            </a:r>
            <a:r>
              <a:rPr lang="en-US" sz="2000" err="1"/>
              <a:t>nodejs</a:t>
            </a:r>
            <a:r>
              <a:rPr lang="en-US" sz="2000"/>
              <a:t>). On the server-side it uses the native node.js http module, while on the client (browser) it uses </a:t>
            </a:r>
            <a:r>
              <a:rPr lang="en-US" sz="2000" err="1"/>
              <a:t>XMLHttpRequests</a:t>
            </a:r>
            <a:r>
              <a:rPr lang="en-US" sz="2000"/>
              <a:t>.</a:t>
            </a:r>
          </a:p>
          <a:p>
            <a:r>
              <a:rPr lang="en-US" sz="2000" b="1"/>
              <a:t>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Make </a:t>
            </a:r>
            <a:r>
              <a:rPr lang="en-US" sz="2000" err="1"/>
              <a:t>XMLHttpRequests</a:t>
            </a:r>
            <a:r>
              <a:rPr lang="en-US" sz="2000"/>
              <a:t> from the browser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Make http requests from node.js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Supports the Promise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Automatic request body serialization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JSON (application/</a:t>
            </a:r>
            <a:r>
              <a:rPr lang="en-US" sz="2000" err="1"/>
              <a:t>json</a:t>
            </a:r>
            <a:r>
              <a:rPr lang="en-US" sz="200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Multipart / </a:t>
            </a:r>
            <a:r>
              <a:rPr lang="en-US" sz="2000" err="1"/>
              <a:t>FormData</a:t>
            </a:r>
            <a:r>
              <a:rPr lang="en-US" sz="2000"/>
              <a:t> (multipart/form-data)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URL encoded form (application/x-www-form-</a:t>
            </a:r>
            <a:r>
              <a:rPr lang="en-US" sz="2000" err="1"/>
              <a:t>urlencoded</a:t>
            </a:r>
            <a:r>
              <a:rPr lang="en-US" sz="20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Posting HTML forms as 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Progress capturing for browsers and node.js with extra info (speed rate, remaining time)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Setting bandwidth limits for node.js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F2DAE-C82E-F58A-2204-B8168E8A6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5" name="Content Placeholder 24">
            <a:extLst>
              <a:ext uri="{FF2B5EF4-FFF2-40B4-BE49-F238E27FC236}">
                <a16:creationId xmlns:a16="http://schemas.microsoft.com/office/drawing/2014/main" id="{0673F739-F9E8-57C5-E941-1D07716552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5168321"/>
              </p:ext>
            </p:extLst>
          </p:nvPr>
        </p:nvGraphicFramePr>
        <p:xfrm>
          <a:off x="87696" y="99494"/>
          <a:ext cx="8967019" cy="67585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5234">
                  <a:extLst>
                    <a:ext uri="{9D8B030D-6E8A-4147-A177-3AD203B41FA5}">
                      <a16:colId xmlns:a16="http://schemas.microsoft.com/office/drawing/2014/main" val="3544906195"/>
                    </a:ext>
                  </a:extLst>
                </a:gridCol>
                <a:gridCol w="1996506">
                  <a:extLst>
                    <a:ext uri="{9D8B030D-6E8A-4147-A177-3AD203B41FA5}">
                      <a16:colId xmlns:a16="http://schemas.microsoft.com/office/drawing/2014/main" val="1748385908"/>
                    </a:ext>
                  </a:extLst>
                </a:gridCol>
                <a:gridCol w="2173971">
                  <a:extLst>
                    <a:ext uri="{9D8B030D-6E8A-4147-A177-3AD203B41FA5}">
                      <a16:colId xmlns:a16="http://schemas.microsoft.com/office/drawing/2014/main" val="2018375938"/>
                    </a:ext>
                  </a:extLst>
                </a:gridCol>
                <a:gridCol w="3061308">
                  <a:extLst>
                    <a:ext uri="{9D8B030D-6E8A-4147-A177-3AD203B41FA5}">
                      <a16:colId xmlns:a16="http://schemas.microsoft.com/office/drawing/2014/main" val="1195510180"/>
                    </a:ext>
                  </a:extLst>
                </a:gridCol>
              </a:tblGrid>
              <a:tr h="1813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Feature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Axios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Fetch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AJAX (</a:t>
                      </a:r>
                      <a:r>
                        <a:rPr lang="en-US" sz="1600" b="1" u="none" strike="noStrike" err="1">
                          <a:effectLst/>
                        </a:rPr>
                        <a:t>XMLHttpRequest</a:t>
                      </a:r>
                      <a:r>
                        <a:rPr lang="en-US" sz="1600" b="1" u="none" strike="noStrike">
                          <a:effectLst/>
                        </a:rPr>
                        <a:t>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1079483544"/>
                  </a:ext>
                </a:extLst>
              </a:tr>
              <a:tr h="1813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Year Introduced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2014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2015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1999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1312841684"/>
                  </a:ext>
                </a:extLst>
              </a:tr>
              <a:tr h="7254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Ease of Use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Simplified API with default configurations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Simple but low-level (requires manual configuration for advanced use)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Verbose and outdated API; requires more code to achieve simple tasks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308648875"/>
                  </a:ext>
                </a:extLst>
              </a:tr>
              <a:tr h="5441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Default JSON Handling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Automatically transforms JSON data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Requires .</a:t>
                      </a:r>
                      <a:r>
                        <a:rPr lang="en-US" sz="1600" u="none" strike="noStrike" err="1">
                          <a:effectLst/>
                        </a:rPr>
                        <a:t>json</a:t>
                      </a:r>
                      <a:r>
                        <a:rPr lang="en-US" sz="1600" u="none" strike="noStrike">
                          <a:effectLst/>
                        </a:rPr>
                        <a:t>() method for JSON parsing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 automatic handling, manual parsing needed for JSON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3449916490"/>
                  </a:ext>
                </a:extLst>
              </a:tr>
              <a:tr h="362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Promise-Based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Yes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Yes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 (Callback-based, but can be wrapped in promises)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234386846"/>
                  </a:ext>
                </a:extLst>
              </a:tr>
              <a:tr h="5441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Response Timeout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Native support for request timeout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 native support (requires manual timeout handling)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Timeout via </a:t>
                      </a:r>
                      <a:r>
                        <a:rPr lang="en-US" sz="1600" u="none" strike="noStrike" err="1">
                          <a:effectLst/>
                        </a:rPr>
                        <a:t>setTimeout</a:t>
                      </a:r>
                      <a:r>
                        <a:rPr lang="en-US" sz="1600" u="none" strike="noStrike">
                          <a:effectLst/>
                        </a:rPr>
                        <a:t> function, but not built-in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153098905"/>
                  </a:ext>
                </a:extLst>
              </a:tr>
              <a:tr h="362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Error Handling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Catches HTTP errors automatically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Must manually handle HTTP error statuses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Requires manual error handling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1716373410"/>
                  </a:ext>
                </a:extLst>
              </a:tr>
              <a:tr h="7254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Request/Response Transformation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Allows request and response transformation out of the box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Must manually transform requests/responses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 native support for transformations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1965055555"/>
                  </a:ext>
                </a:extLst>
              </a:tr>
              <a:tr h="7254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Progress Tracking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Supports request/response progress tracking with ease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Not natively supported (requires manual implementation)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Supports progress tracking (e.g., file uploads)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016223895"/>
                  </a:ext>
                </a:extLst>
              </a:tr>
              <a:tr h="3627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Support for Form Data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Easy to handle multipart form data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Easy to handle multipart form data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Can handle but requires more effort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579838855"/>
                  </a:ext>
                </a:extLst>
              </a:tr>
              <a:tr h="5441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>
                          <a:effectLst/>
                        </a:rPr>
                        <a:t>Cross-Site Request Forgery (CSRF)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Automatically handles CSRF tokens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Does not automatically handle CSRF tokens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 automatic handling for CSRF tokens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84" marR="6884" marT="6884" marB="0" anchor="ctr"/>
                </a:tc>
                <a:extLst>
                  <a:ext uri="{0D108BD9-81ED-4DB2-BD59-A6C34878D82A}">
                    <a16:rowId xmlns:a16="http://schemas.microsoft.com/office/drawing/2014/main" val="298704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516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Installation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C9663-C6D3-DDD8-8AAE-CB9A8F2AA91A}"/>
              </a:ext>
            </a:extLst>
          </p:cNvPr>
          <p:cNvSpPr txBox="1"/>
          <p:nvPr/>
        </p:nvSpPr>
        <p:spPr>
          <a:xfrm>
            <a:off x="171450" y="2209524"/>
            <a:ext cx="88011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/>
              <a:t>Use following command inside the frontend project </a:t>
            </a:r>
          </a:p>
          <a:p>
            <a:pPr marL="0" indent="0">
              <a:buNone/>
            </a:pPr>
            <a:r>
              <a:rPr lang="en-US" sz="2400" b="0" i="0" err="1">
                <a:solidFill>
                  <a:srgbClr val="671DDF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US" sz="2400" b="0" i="0">
                <a:solidFill>
                  <a:srgbClr val="33333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i="0">
                <a:solidFill>
                  <a:srgbClr val="671DDF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sz="2400" b="0" i="0">
                <a:solidFill>
                  <a:srgbClr val="33333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i="0" err="1">
                <a:solidFill>
                  <a:srgbClr val="33333C"/>
                </a:solidFill>
                <a:effectLst/>
                <a:latin typeface="Consolas" panose="020B0609020204030204" pitchFamily="49" charset="0"/>
              </a:rPr>
              <a:t>axios</a:t>
            </a:r>
            <a:endParaRPr lang="en-US" sz="2400" b="0" i="0">
              <a:solidFill>
                <a:srgbClr val="33333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>
              <a:solidFill>
                <a:srgbClr val="33333C"/>
              </a:solidFill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2400"/>
              <a:t>Then include </a:t>
            </a:r>
            <a:r>
              <a:rPr lang="en-US" sz="2400" err="1"/>
              <a:t>Axios</a:t>
            </a:r>
            <a:r>
              <a:rPr lang="en-US" sz="2400"/>
              <a:t> in the file where you want to use it</a:t>
            </a:r>
          </a:p>
          <a:p>
            <a:pPr marL="0" indent="0">
              <a:buNone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D73A49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import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axios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D73A49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from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32F62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rgbClr val="032F62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axios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32F62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5144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err="1"/>
              <a:t>Axios</a:t>
            </a:r>
            <a:r>
              <a:rPr lang="en-US" sz="4400"/>
              <a:t> Example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645E5-7B02-0BD8-68D5-2A2A0815E017}"/>
              </a:ext>
            </a:extLst>
          </p:cNvPr>
          <p:cNvSpPr txBox="1"/>
          <p:nvPr/>
        </p:nvSpPr>
        <p:spPr>
          <a:xfrm>
            <a:off x="274382" y="2414638"/>
            <a:ext cx="85757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6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‘http://localhost:3000/</a:t>
            </a:r>
            <a:r>
              <a:rPr lang="en-US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user?ID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=12345'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42D94-4F82-B07B-1BBE-0C9B5486C0FF}"/>
              </a:ext>
            </a:extLst>
          </p:cNvPr>
          <p:cNvSpPr txBox="1"/>
          <p:nvPr/>
        </p:nvSpPr>
        <p:spPr>
          <a:xfrm>
            <a:off x="375023" y="4712487"/>
            <a:ext cx="8575704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getUser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6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http://localhost:3000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/user'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12345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6F46C-B587-9EC7-2748-5DD5ECD9D108}"/>
              </a:ext>
            </a:extLst>
          </p:cNvPr>
          <p:cNvSpPr txBox="1"/>
          <p:nvPr/>
        </p:nvSpPr>
        <p:spPr>
          <a:xfrm>
            <a:off x="375553" y="2104393"/>
            <a:ext cx="4523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Axios</a:t>
            </a:r>
            <a:r>
              <a:rPr lang="en-US"/>
              <a:t> Get Example with parameter in route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23E44-A632-957D-8AB5-3EECDB24C0A0}"/>
              </a:ext>
            </a:extLst>
          </p:cNvPr>
          <p:cNvSpPr txBox="1"/>
          <p:nvPr/>
        </p:nvSpPr>
        <p:spPr>
          <a:xfrm>
            <a:off x="293914" y="4431514"/>
            <a:ext cx="649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Axios</a:t>
            </a:r>
            <a:r>
              <a:rPr lang="en-US"/>
              <a:t> Get Example with parameter as JSON object</a:t>
            </a:r>
          </a:p>
        </p:txBody>
      </p:sp>
    </p:spTree>
    <p:extLst>
      <p:ext uri="{BB962C8B-B14F-4D97-AF65-F5344CB8AC3E}">
        <p14:creationId xmlns:p14="http://schemas.microsoft.com/office/powerpoint/2010/main" val="66087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err="1"/>
              <a:t>Axios</a:t>
            </a:r>
            <a:r>
              <a:rPr lang="en-US" sz="4400"/>
              <a:t> Example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8908-4415-FF53-730C-BC3F5A997969}"/>
              </a:ext>
            </a:extLst>
          </p:cNvPr>
          <p:cNvSpPr txBox="1"/>
          <p:nvPr/>
        </p:nvSpPr>
        <p:spPr>
          <a:xfrm>
            <a:off x="320715" y="2732005"/>
            <a:ext cx="8646338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createUser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'Fred'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'Flintstone'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http://localhost:3000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/user'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6571" y="2172450"/>
            <a:ext cx="7756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Performing a POST request with JSON object</a:t>
            </a:r>
          </a:p>
        </p:txBody>
      </p:sp>
    </p:spTree>
    <p:extLst>
      <p:ext uri="{BB962C8B-B14F-4D97-AF65-F5344CB8AC3E}">
        <p14:creationId xmlns:p14="http://schemas.microsoft.com/office/powerpoint/2010/main" val="4260422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err="1"/>
              <a:t>Axios</a:t>
            </a:r>
            <a:r>
              <a:rPr lang="en-US" sz="4400"/>
              <a:t> Example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8908-4415-FF53-730C-BC3F5A997969}"/>
              </a:ext>
            </a:extLst>
          </p:cNvPr>
          <p:cNvSpPr txBox="1"/>
          <p:nvPr/>
        </p:nvSpPr>
        <p:spPr>
          <a:xfrm>
            <a:off x="277583" y="2732005"/>
            <a:ext cx="8588829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createUser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'Fred'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'Flintstone'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http://localhost:3000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/user'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userData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6571" y="2172450"/>
            <a:ext cx="7756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Post an HTML form as JSON</a:t>
            </a:r>
          </a:p>
        </p:txBody>
      </p:sp>
    </p:spTree>
    <p:extLst>
      <p:ext uri="{BB962C8B-B14F-4D97-AF65-F5344CB8AC3E}">
        <p14:creationId xmlns:p14="http://schemas.microsoft.com/office/powerpoint/2010/main" val="795787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err="1"/>
              <a:t>Axios</a:t>
            </a:r>
            <a:r>
              <a:rPr lang="en-US" sz="4400"/>
              <a:t> Example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8908-4415-FF53-730C-BC3F5A997969}"/>
              </a:ext>
            </a:extLst>
          </p:cNvPr>
          <p:cNvSpPr txBox="1"/>
          <p:nvPr/>
        </p:nvSpPr>
        <p:spPr>
          <a:xfrm>
            <a:off x="293912" y="2438088"/>
            <a:ext cx="8588829" cy="44012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'Fred'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'Flintstone'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'orders'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'photo'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'#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fileInput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>
                <a:solidFill>
                  <a:srgbClr val="A31515"/>
                </a:solidFill>
                <a:latin typeface="Consolas" panose="020B0609020204030204" pitchFamily="49" charset="0"/>
              </a:rPr>
              <a:t>http://localhost:3000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/post'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'multipart/form-data'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6571" y="2058147"/>
            <a:ext cx="7756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Post an HTML form </a:t>
            </a:r>
          </a:p>
        </p:txBody>
      </p:sp>
    </p:spTree>
    <p:extLst>
      <p:ext uri="{BB962C8B-B14F-4D97-AF65-F5344CB8AC3E}">
        <p14:creationId xmlns:p14="http://schemas.microsoft.com/office/powerpoint/2010/main" val="1865586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err="1"/>
              <a:t>Axios</a:t>
            </a:r>
            <a:r>
              <a:rPr lang="en-US" sz="4400"/>
              <a:t> Example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8908-4415-FF53-730C-BC3F5A997969}"/>
              </a:ext>
            </a:extLst>
          </p:cNvPr>
          <p:cNvSpPr txBox="1"/>
          <p:nvPr/>
        </p:nvSpPr>
        <p:spPr>
          <a:xfrm>
            <a:off x="277585" y="2407382"/>
            <a:ext cx="8588829" cy="44012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'John'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'Doe'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>
                <a:solidFill>
                  <a:srgbClr val="A31515"/>
                </a:solidFill>
                <a:latin typeface="Consolas" panose="020B0609020204030204" pitchFamily="49" charset="0"/>
              </a:rPr>
              <a:t> http://localhost:3000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/users/123'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'application/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updatedData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updatedData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3370" y="2021649"/>
            <a:ext cx="7756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PUT Request </a:t>
            </a:r>
          </a:p>
        </p:txBody>
      </p:sp>
    </p:spTree>
    <p:extLst>
      <p:ext uri="{BB962C8B-B14F-4D97-AF65-F5344CB8AC3E}">
        <p14:creationId xmlns:p14="http://schemas.microsoft.com/office/powerpoint/2010/main" val="863792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err="1"/>
              <a:t>Axios</a:t>
            </a:r>
            <a:r>
              <a:rPr lang="en-US" sz="4400"/>
              <a:t> Example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88908-4415-FF53-730C-BC3F5A997969}"/>
              </a:ext>
            </a:extLst>
          </p:cNvPr>
          <p:cNvSpPr txBox="1"/>
          <p:nvPr/>
        </p:nvSpPr>
        <p:spPr>
          <a:xfrm>
            <a:off x="293914" y="2429268"/>
            <a:ext cx="8588829" cy="3416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deleteData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http://localhost:3000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/users/123'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'Data deleted successfully'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323370" y="2021649"/>
            <a:ext cx="77567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DELETE Request </a:t>
            </a:r>
          </a:p>
        </p:txBody>
      </p:sp>
    </p:spTree>
    <p:extLst>
      <p:ext uri="{BB962C8B-B14F-4D97-AF65-F5344CB8AC3E}">
        <p14:creationId xmlns:p14="http://schemas.microsoft.com/office/powerpoint/2010/main" val="1048323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 fontScale="90000"/>
          </a:bodyPr>
          <a:lstStyle/>
          <a:p>
            <a:r>
              <a:rPr lang="en-US" sz="4400"/>
              <a:t>Creating Environment Variable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20F9-56C7-CED2-4724-2399D9297828}"/>
              </a:ext>
            </a:extLst>
          </p:cNvPr>
          <p:cNvSpPr txBox="1"/>
          <p:nvPr/>
        </p:nvSpPr>
        <p:spPr>
          <a:xfrm>
            <a:off x="293914" y="2029158"/>
            <a:ext cx="50637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Create a file name in your project folder and name it </a:t>
            </a:r>
            <a:r>
              <a:rPr lang="en-US" sz="2000" b="1"/>
              <a:t>.env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916C22-B64F-4F53-E446-D29968584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415" y="2290417"/>
            <a:ext cx="1876687" cy="385816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1A2A7E-4BC5-E016-8043-A351C6F306C3}"/>
              </a:ext>
            </a:extLst>
          </p:cNvPr>
          <p:cNvCxnSpPr/>
          <p:nvPr/>
        </p:nvCxnSpPr>
        <p:spPr>
          <a:xfrm>
            <a:off x="4098473" y="3951515"/>
            <a:ext cx="1436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04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 fontScale="90000"/>
          </a:bodyPr>
          <a:lstStyle/>
          <a:p>
            <a:r>
              <a:rPr lang="en-US" sz="4400"/>
              <a:t>Creating Environment Variable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1F44C-DD41-E0A1-7D84-63F39D7636F8}"/>
              </a:ext>
            </a:extLst>
          </p:cNvPr>
          <p:cNvSpPr txBox="1"/>
          <p:nvPr/>
        </p:nvSpPr>
        <p:spPr>
          <a:xfrm>
            <a:off x="421342" y="2563586"/>
            <a:ext cx="8036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 environment variables in this file in the format KEY=VALUE</a:t>
            </a:r>
          </a:p>
          <a:p>
            <a:r>
              <a:rPr lang="en-US"/>
              <a:t>Must use the prefix </a:t>
            </a:r>
            <a:r>
              <a:rPr lang="en-US" b="1"/>
              <a:t>NEXT_PUBLIC_ </a:t>
            </a:r>
            <a:r>
              <a:rPr lang="en-US"/>
              <a:t>before creating a key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9A0E2-07D0-0EE8-A64D-968D2F47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59" y="3697429"/>
            <a:ext cx="6924220" cy="11893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1709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 fontScale="90000"/>
          </a:bodyPr>
          <a:lstStyle/>
          <a:p>
            <a:r>
              <a:rPr lang="en-US" sz="4400"/>
              <a:t>Creating Environment Variable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1F44C-DD41-E0A1-7D84-63F39D7636F8}"/>
              </a:ext>
            </a:extLst>
          </p:cNvPr>
          <p:cNvSpPr txBox="1"/>
          <p:nvPr/>
        </p:nvSpPr>
        <p:spPr>
          <a:xfrm>
            <a:off x="421341" y="2155372"/>
            <a:ext cx="803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 </a:t>
            </a:r>
            <a:r>
              <a:rPr lang="en-US" b="1" err="1"/>
              <a:t>process.env</a:t>
            </a:r>
            <a:r>
              <a:rPr lang="en-US" b="1"/>
              <a:t> </a:t>
            </a:r>
            <a:r>
              <a:rPr lang="en-US"/>
              <a:t>to get the environment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00FA3-227E-D82D-C808-3DCAFF1F6CF9}"/>
              </a:ext>
            </a:extLst>
          </p:cNvPr>
          <p:cNvSpPr txBox="1"/>
          <p:nvPr/>
        </p:nvSpPr>
        <p:spPr>
          <a:xfrm>
            <a:off x="406351" y="2902136"/>
            <a:ext cx="83762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err="1">
                <a:solidFill>
                  <a:srgbClr val="795E26"/>
                </a:solidFill>
                <a:latin typeface="Consolas" panose="020B0609020204030204" pitchFamily="49" charset="0"/>
              </a:rPr>
              <a:t>get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err="1">
                <a:solidFill>
                  <a:srgbClr val="0070C1"/>
                </a:solidFill>
                <a:latin typeface="Consolas" panose="020B0609020204030204" pitchFamily="49" charset="0"/>
              </a:rPr>
              <a:t>NEXT_PUBLIC_API</a:t>
            </a:r>
            <a:r>
              <a:rPr lang="en-US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_ENDPOINT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689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/>
          </a:bodyPr>
          <a:lstStyle/>
          <a:p>
            <a:r>
              <a:rPr lang="en-US" sz="4400"/>
              <a:t>Extract AXIOs Response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F2BABE-EA54-E05E-872C-1079AFE92C5E}"/>
              </a:ext>
            </a:extLst>
          </p:cNvPr>
          <p:cNvSpPr txBox="1"/>
          <p:nvPr/>
        </p:nvSpPr>
        <p:spPr>
          <a:xfrm>
            <a:off x="421341" y="2080644"/>
            <a:ext cx="80437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The </a:t>
            </a:r>
            <a:r>
              <a:rPr lang="en-US" sz="2400" b="1" err="1"/>
              <a:t>Array.isArray</a:t>
            </a:r>
            <a:r>
              <a:rPr lang="en-US" sz="2400" b="1"/>
              <a:t>()</a:t>
            </a:r>
            <a:r>
              <a:rPr lang="en-US" sz="2400"/>
              <a:t> static method determines whether the passed value is an Array.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9D7F3-9BE7-B44B-F17C-1280A1FF650B}"/>
              </a:ext>
            </a:extLst>
          </p:cNvPr>
          <p:cNvSpPr txBox="1"/>
          <p:nvPr/>
        </p:nvSpPr>
        <p:spPr>
          <a:xfrm>
            <a:off x="484907" y="2925635"/>
            <a:ext cx="792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true if value is an Array; otherwise, false.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A03FC4-3D69-0E38-0493-8C4B8057767F}"/>
              </a:ext>
            </a:extLst>
          </p:cNvPr>
          <p:cNvSpPr txBox="1"/>
          <p:nvPr/>
        </p:nvSpPr>
        <p:spPr>
          <a:xfrm>
            <a:off x="2157234" y="366001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isArray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4741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/>
          </a:bodyPr>
          <a:lstStyle/>
          <a:p>
            <a:r>
              <a:rPr lang="en-US" sz="4400"/>
              <a:t>Extract AXIOs Response 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1F968-57DE-01E7-0F91-D44A1FCC1FDB}"/>
              </a:ext>
            </a:extLst>
          </p:cNvPr>
          <p:cNvSpPr txBox="1"/>
          <p:nvPr/>
        </p:nvSpPr>
        <p:spPr>
          <a:xfrm>
            <a:off x="193964" y="1958391"/>
            <a:ext cx="8326581" cy="48320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AllAdmin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setJsonData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}, []);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NEXT_PUBLIC_API_ENDPOINT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"/admin/index"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NEXT_PUBLIC_API_ENDPOINT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"/admin/index"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setJsonData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03177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/>
          </a:bodyPr>
          <a:lstStyle/>
          <a:p>
            <a:r>
              <a:rPr lang="en-US" sz="4400"/>
              <a:t>Extract AXIOs Response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CC5B11-0645-8BCB-3B01-884CC8949104}"/>
              </a:ext>
            </a:extLst>
          </p:cNvPr>
          <p:cNvSpPr txBox="1"/>
          <p:nvPr/>
        </p:nvSpPr>
        <p:spPr>
          <a:xfrm>
            <a:off x="225465" y="2016886"/>
            <a:ext cx="8783624" cy="463731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printArray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b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NEXT_PUBLIC_API_ENDPOINT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'/admin/</a:t>
            </a:r>
            <a:r>
              <a:rPr lang="en-US" sz="11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getimage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filenames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id: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b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);</a:t>
            </a:r>
            <a:b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})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printObject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/>
              </a:rPr>
              <a:t>            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NEXT_PUBLIC_API_ENDPOINT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'/admin/</a:t>
            </a:r>
            <a:r>
              <a:rPr lang="en-US" sz="11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getimage</a:t>
            </a:r>
            <a:r>
              <a:rPr lang="en-US" sz="11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filenames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id: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b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214394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877530" cy="1183852"/>
          </a:xfrm>
        </p:spPr>
        <p:txBody>
          <a:bodyPr>
            <a:normAutofit/>
          </a:bodyPr>
          <a:lstStyle/>
          <a:p>
            <a:r>
              <a:rPr lang="en-US" sz="4400"/>
              <a:t>Extract AXIOs Response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CC5B11-0645-8BCB-3B01-884CC8949104}"/>
              </a:ext>
            </a:extLst>
          </p:cNvPr>
          <p:cNvSpPr txBox="1"/>
          <p:nvPr/>
        </p:nvSpPr>
        <p:spPr>
          <a:xfrm>
            <a:off x="239842" y="2016886"/>
            <a:ext cx="8769247" cy="280076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b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1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isArray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sz="11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printArray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1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printObject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1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1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342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622597" y="1939139"/>
            <a:ext cx="76099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>
                <a:hlinkClick r:id="rId3"/>
              </a:rPr>
              <a:t>https://nextjs.org/</a:t>
            </a:r>
            <a:endParaRPr lang="en-US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>
                <a:latin typeface="Times New Roman" panose="02020603050405020304" pitchFamily="18" charset="0"/>
              </a:rPr>
              <a:t>Mozilla Developer Networks, URL: </a:t>
            </a:r>
            <a:r>
              <a:rPr lang="en-US">
                <a:hlinkClick r:id="rId4"/>
              </a:rPr>
              <a:t>https://developer.mozilla.org/</a:t>
            </a:r>
            <a:endParaRPr lang="en-US"/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>
                <a:latin typeface="Times New Roman" panose="02020603050405020304" pitchFamily="18" charset="0"/>
              </a:rPr>
              <a:t>AXIOS Documentation, URL: </a:t>
            </a:r>
            <a:r>
              <a:rPr lang="en-US">
                <a:hlinkClick r:id="rId5"/>
              </a:rPr>
              <a:t>https://axios-http.com/docs/post_example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Application>Microsoft Office PowerPoint</Application>
  <PresentationFormat>On-screen Show (4:3)</PresentationFormat>
  <Slides>20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Spectrum</vt:lpstr>
      <vt:lpstr>AXIOS</vt:lpstr>
      <vt:lpstr>Lecture Outline</vt:lpstr>
      <vt:lpstr>What is AXIOS</vt:lpstr>
      <vt:lpstr>PowerPoint Presentation</vt:lpstr>
      <vt:lpstr>Installation</vt:lpstr>
      <vt:lpstr>Axios Example</vt:lpstr>
      <vt:lpstr>Axios Example</vt:lpstr>
      <vt:lpstr>Axios Example</vt:lpstr>
      <vt:lpstr>Axios Example</vt:lpstr>
      <vt:lpstr>Axios Example</vt:lpstr>
      <vt:lpstr>Axios Example</vt:lpstr>
      <vt:lpstr>Creating Environment Variable</vt:lpstr>
      <vt:lpstr>Creating Environment Variable</vt:lpstr>
      <vt:lpstr>Creating Environment Variable</vt:lpstr>
      <vt:lpstr>Extract AXIOs Response </vt:lpstr>
      <vt:lpstr>Extract AXIOs Response </vt:lpstr>
      <vt:lpstr>Extract AXIOs Response </vt:lpstr>
      <vt:lpstr>Extract AXIOs Response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revision>2</cp:revision>
  <dcterms:created xsi:type="dcterms:W3CDTF">2018-12-10T17:20:29Z</dcterms:created>
  <dcterms:modified xsi:type="dcterms:W3CDTF">2026-01-03T17:44:52Z</dcterms:modified>
</cp:coreProperties>
</file>