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6" r:id="rId4"/>
    <p:sldId id="294" r:id="rId5"/>
    <p:sldId id="296" r:id="rId6"/>
    <p:sldId id="311" r:id="rId7"/>
    <p:sldId id="312" r:id="rId8"/>
    <p:sldId id="313" r:id="rId9"/>
    <p:sldId id="305" r:id="rId10"/>
    <p:sldId id="302" r:id="rId11"/>
    <p:sldId id="303" r:id="rId12"/>
    <p:sldId id="306" r:id="rId13"/>
    <p:sldId id="307" r:id="rId14"/>
    <p:sldId id="317" r:id="rId15"/>
    <p:sldId id="318" r:id="rId16"/>
    <p:sldId id="308" r:id="rId17"/>
    <p:sldId id="309" r:id="rId18"/>
    <p:sldId id="310" r:id="rId19"/>
    <p:sldId id="265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FDC50-FBC5-5CD6-7124-60412736CD71}" v="3" dt="2026-01-16T01:51:10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UR RAHMAN LABIB" userId="S::22-46654-1@student.aiub.edu::f0b2afeb-5166-4188-bee1-10ca4dd63227" providerId="AD" clId="Web-{EC65821E-65E6-3F71-576F-84AAB77CF896}"/>
    <pc:docChg chg="modSld">
      <pc:chgData name="SAIDUR RAHMAN LABIB" userId="S::22-46654-1@student.aiub.edu::f0b2afeb-5166-4188-bee1-10ca4dd63227" providerId="AD" clId="Web-{EC65821E-65E6-3F71-576F-84AAB77CF896}" dt="2025-12-28T07:09:02.101" v="3" actId="1076"/>
      <pc:docMkLst>
        <pc:docMk/>
      </pc:docMkLst>
      <pc:sldChg chg="modSp">
        <pc:chgData name="SAIDUR RAHMAN LABIB" userId="S::22-46654-1@student.aiub.edu::f0b2afeb-5166-4188-bee1-10ca4dd63227" providerId="AD" clId="Web-{EC65821E-65E6-3F71-576F-84AAB77CF896}" dt="2025-12-28T07:09:02.101" v="3" actId="1076"/>
        <pc:sldMkLst>
          <pc:docMk/>
          <pc:sldMk cId="4283678063" sldId="306"/>
        </pc:sldMkLst>
        <pc:spChg chg="mod">
          <ac:chgData name="SAIDUR RAHMAN LABIB" userId="S::22-46654-1@student.aiub.edu::f0b2afeb-5166-4188-bee1-10ca4dd63227" providerId="AD" clId="Web-{EC65821E-65E6-3F71-576F-84AAB77CF896}" dt="2025-12-28T07:02:38.424" v="0" actId="1076"/>
          <ac:spMkLst>
            <pc:docMk/>
            <pc:sldMk cId="4283678063" sldId="306"/>
            <ac:spMk id="2" creationId="{00000000-0000-0000-0000-000000000000}"/>
          </ac:spMkLst>
        </pc:spChg>
        <pc:picChg chg="mod">
          <ac:chgData name="SAIDUR RAHMAN LABIB" userId="S::22-46654-1@student.aiub.edu::f0b2afeb-5166-4188-bee1-10ca4dd63227" providerId="AD" clId="Web-{EC65821E-65E6-3F71-576F-84AAB77CF896}" dt="2025-12-28T07:09:02.101" v="3" actId="1076"/>
          <ac:picMkLst>
            <pc:docMk/>
            <pc:sldMk cId="4283678063" sldId="306"/>
            <ac:picMk id="3" creationId="{94007AE5-255C-2BE0-81F6-FE308DC58C01}"/>
          </ac:picMkLst>
        </pc:picChg>
      </pc:sldChg>
    </pc:docChg>
  </pc:docChgLst>
  <pc:docChgLst>
    <pc:chgData name="MD. MASUM BILLAH NABIL" userId="0156aca5-f93a-4e30-b6dd-1c3f23d08e19" providerId="ADAL" clId="{D284D48D-897D-443C-8650-53739887B13A}"/>
    <pc:docChg chg="custSel modSld">
      <pc:chgData name="MD. MASUM BILLAH NABIL" userId="0156aca5-f93a-4e30-b6dd-1c3f23d08e19" providerId="ADAL" clId="{D284D48D-897D-443C-8650-53739887B13A}" dt="2025-12-22T08:21:01.828" v="1" actId="1076"/>
      <pc:docMkLst>
        <pc:docMk/>
      </pc:docMkLst>
      <pc:sldChg chg="modSp mod">
        <pc:chgData name="MD. MASUM BILLAH NABIL" userId="0156aca5-f93a-4e30-b6dd-1c3f23d08e19" providerId="ADAL" clId="{D284D48D-897D-443C-8650-53739887B13A}" dt="2025-12-22T08:21:01.828" v="1" actId="1076"/>
        <pc:sldMkLst>
          <pc:docMk/>
          <pc:sldMk cId="2194821606" sldId="313"/>
        </pc:sldMkLst>
        <pc:spChg chg="mod">
          <ac:chgData name="MD. MASUM BILLAH NABIL" userId="0156aca5-f93a-4e30-b6dd-1c3f23d08e19" providerId="ADAL" clId="{D284D48D-897D-443C-8650-53739887B13A}" dt="2025-12-22T08:21:01.828" v="1" actId="1076"/>
          <ac:spMkLst>
            <pc:docMk/>
            <pc:sldMk cId="2194821606" sldId="313"/>
            <ac:spMk id="4" creationId="{BE0B242E-AC25-61BB-F762-4B6DF405247C}"/>
          </ac:spMkLst>
        </pc:spChg>
      </pc:sldChg>
    </pc:docChg>
  </pc:docChgLst>
  <pc:docChgLst>
    <pc:chgData name="FARHIN ZAHRA" userId="S::22-46829-1@student.aiub.edu::330754e4-8eaa-4191-8c85-10b5b85abef9" providerId="AD" clId="Web-{FE285D02-5737-48A4-EE89-9B21D40705DB}"/>
    <pc:docChg chg="modSld">
      <pc:chgData name="FARHIN ZAHRA" userId="S::22-46829-1@student.aiub.edu::330754e4-8eaa-4191-8c85-10b5b85abef9" providerId="AD" clId="Web-{FE285D02-5737-48A4-EE89-9B21D40705DB}" dt="2025-12-27T12:43:39.108" v="5" actId="1076"/>
      <pc:docMkLst>
        <pc:docMk/>
      </pc:docMkLst>
      <pc:sldChg chg="modSp">
        <pc:chgData name="FARHIN ZAHRA" userId="S::22-46829-1@student.aiub.edu::330754e4-8eaa-4191-8c85-10b5b85abef9" providerId="AD" clId="Web-{FE285D02-5737-48A4-EE89-9B21D40705DB}" dt="2025-12-27T12:38:20.176" v="0" actId="14100"/>
        <pc:sldMkLst>
          <pc:docMk/>
          <pc:sldMk cId="3570786941" sldId="303"/>
        </pc:sldMkLst>
        <pc:picChg chg="mod">
          <ac:chgData name="FARHIN ZAHRA" userId="S::22-46829-1@student.aiub.edu::330754e4-8eaa-4191-8c85-10b5b85abef9" providerId="AD" clId="Web-{FE285D02-5737-48A4-EE89-9B21D40705DB}" dt="2025-12-27T12:38:20.176" v="0" actId="14100"/>
          <ac:picMkLst>
            <pc:docMk/>
            <pc:sldMk cId="3570786941" sldId="303"/>
            <ac:picMk id="4" creationId="{3645F057-4D2B-8948-0A36-50775C9B1DB6}"/>
          </ac:picMkLst>
        </pc:picChg>
      </pc:sldChg>
      <pc:sldChg chg="modSp">
        <pc:chgData name="FARHIN ZAHRA" userId="S::22-46829-1@student.aiub.edu::330754e4-8eaa-4191-8c85-10b5b85abef9" providerId="AD" clId="Web-{FE285D02-5737-48A4-EE89-9B21D40705DB}" dt="2025-12-27T12:40:24.244" v="2" actId="14100"/>
        <pc:sldMkLst>
          <pc:docMk/>
          <pc:sldMk cId="4283678063" sldId="306"/>
        </pc:sldMkLst>
        <pc:picChg chg="mod">
          <ac:chgData name="FARHIN ZAHRA" userId="S::22-46829-1@student.aiub.edu::330754e4-8eaa-4191-8c85-10b5b85abef9" providerId="AD" clId="Web-{FE285D02-5737-48A4-EE89-9B21D40705DB}" dt="2025-12-27T12:40:24.244" v="2" actId="14100"/>
          <ac:picMkLst>
            <pc:docMk/>
            <pc:sldMk cId="4283678063" sldId="306"/>
            <ac:picMk id="3" creationId="{94007AE5-255C-2BE0-81F6-FE308DC58C01}"/>
          </ac:picMkLst>
        </pc:picChg>
      </pc:sldChg>
      <pc:sldChg chg="modSp">
        <pc:chgData name="FARHIN ZAHRA" userId="S::22-46829-1@student.aiub.edu::330754e4-8eaa-4191-8c85-10b5b85abef9" providerId="AD" clId="Web-{FE285D02-5737-48A4-EE89-9B21D40705DB}" dt="2025-12-27T12:43:39.108" v="5" actId="1076"/>
        <pc:sldMkLst>
          <pc:docMk/>
          <pc:sldMk cId="1834398022" sldId="308"/>
        </pc:sldMkLst>
        <pc:picChg chg="mod">
          <ac:chgData name="FARHIN ZAHRA" userId="S::22-46829-1@student.aiub.edu::330754e4-8eaa-4191-8c85-10b5b85abef9" providerId="AD" clId="Web-{FE285D02-5737-48A4-EE89-9B21D40705DB}" dt="2025-12-27T12:43:39.108" v="5" actId="1076"/>
          <ac:picMkLst>
            <pc:docMk/>
            <pc:sldMk cId="1834398022" sldId="308"/>
            <ac:picMk id="9" creationId="{8672E986-98EF-0163-0F61-80EE02CA0352}"/>
          </ac:picMkLst>
        </pc:picChg>
      </pc:sldChg>
      <pc:sldChg chg="modSp">
        <pc:chgData name="FARHIN ZAHRA" userId="S::22-46829-1@student.aiub.edu::330754e4-8eaa-4191-8c85-10b5b85abef9" providerId="AD" clId="Web-{FE285D02-5737-48A4-EE89-9B21D40705DB}" dt="2025-12-27T12:42:42.982" v="3" actId="1076"/>
        <pc:sldMkLst>
          <pc:docMk/>
          <pc:sldMk cId="1178271186" sldId="318"/>
        </pc:sldMkLst>
        <pc:picChg chg="mod">
          <ac:chgData name="FARHIN ZAHRA" userId="S::22-46829-1@student.aiub.edu::330754e4-8eaa-4191-8c85-10b5b85abef9" providerId="AD" clId="Web-{FE285D02-5737-48A4-EE89-9B21D40705DB}" dt="2025-12-27T12:42:42.982" v="3" actId="1076"/>
          <ac:picMkLst>
            <pc:docMk/>
            <pc:sldMk cId="1178271186" sldId="318"/>
            <ac:picMk id="3" creationId="{5F4F277B-E229-AA54-E1D2-6AC065DB9E41}"/>
          </ac:picMkLst>
        </pc:picChg>
      </pc:sldChg>
    </pc:docChg>
  </pc:docChgLst>
  <pc:docChgLst>
    <pc:chgData name="FAHAD" userId="S::22-49344-3@student.aiub.edu::51a03299-1981-47c6-93e3-03f655a79b8a" providerId="AD" clId="Web-{6B9FDC50-FBC5-5CD6-7124-60412736CD71}"/>
    <pc:docChg chg="modSld">
      <pc:chgData name="FAHAD" userId="S::22-49344-3@student.aiub.edu::51a03299-1981-47c6-93e3-03f655a79b8a" providerId="AD" clId="Web-{6B9FDC50-FBC5-5CD6-7124-60412736CD71}" dt="2026-01-16T01:51:10.007" v="2" actId="1076"/>
      <pc:docMkLst>
        <pc:docMk/>
      </pc:docMkLst>
      <pc:sldChg chg="modSp">
        <pc:chgData name="FAHAD" userId="S::22-49344-3@student.aiub.edu::51a03299-1981-47c6-93e3-03f655a79b8a" providerId="AD" clId="Web-{6B9FDC50-FBC5-5CD6-7124-60412736CD71}" dt="2026-01-16T01:51:10.007" v="2" actId="1076"/>
        <pc:sldMkLst>
          <pc:docMk/>
          <pc:sldMk cId="2194821606" sldId="313"/>
        </pc:sldMkLst>
        <pc:spChg chg="mod">
          <ac:chgData name="FAHAD" userId="S::22-49344-3@student.aiub.edu::51a03299-1981-47c6-93e3-03f655a79b8a" providerId="AD" clId="Web-{6B9FDC50-FBC5-5CD6-7124-60412736CD71}" dt="2026-01-16T01:51:10.007" v="2" actId="1076"/>
          <ac:spMkLst>
            <pc:docMk/>
            <pc:sldMk cId="2194821606" sldId="313"/>
            <ac:spMk id="4" creationId="{BE0B242E-AC25-61BB-F762-4B6DF40524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extjs.org/learn/foundations/how-nextjs-works/code-splitting" TargetMode="External"/><Relationship Id="rId3" Type="http://schemas.openxmlformats.org/officeDocument/2006/relationships/hyperlink" Target="https://nextjs.org/docs/basic-features/eslint" TargetMode="External"/><Relationship Id="rId7" Type="http://schemas.openxmlformats.org/officeDocument/2006/relationships/hyperlink" Target="https://nextjs.org/learn/foundations/how-nextjs-works/minifying" TargetMode="External"/><Relationship Id="rId2" Type="http://schemas.openxmlformats.org/officeDocument/2006/relationships/hyperlink" Target="https://nextjs.org/docs/basic-features/typescrip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xtjs.org/learn/foundations/how-nextjs-works/bundling" TargetMode="External"/><Relationship Id="rId5" Type="http://schemas.openxmlformats.org/officeDocument/2006/relationships/hyperlink" Target="https://nextjs.org/learn/foundations/how-nextjs-works/compiling" TargetMode="External"/><Relationship Id="rId4" Type="http://schemas.openxmlformats.org/officeDocument/2006/relationships/hyperlink" Target="https://nextjs.org/docs/basic-features/fast-refresh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docs/app/getting-started/layouts-and-pages" TargetMode="External"/><Relationship Id="rId2" Type="http://schemas.openxmlformats.org/officeDocument/2006/relationships/hyperlink" Target="https://nextjs.org/docs/app/getting-started/project-structure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xtjs.org/docs/app/getting-started/linking-and-navigat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Introduction to </a:t>
            </a:r>
            <a:r>
              <a:rPr lang="en-US" sz="2800" err="1"/>
              <a:t>NextJs</a:t>
            </a:r>
            <a:endParaRPr lang="en-US" sz="2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928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What is </a:t>
            </a:r>
            <a:r>
              <a:rPr lang="en-US" err="1">
                <a:solidFill>
                  <a:schemeClr val="tx1"/>
                </a:solidFill>
              </a:rPr>
              <a:t>NextJS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err="1">
                <a:solidFill>
                  <a:schemeClr val="tx1"/>
                </a:solidFill>
              </a:rPr>
              <a:t>NextJS</a:t>
            </a:r>
            <a:r>
              <a:rPr lang="en-US">
                <a:solidFill>
                  <a:schemeClr val="tx1"/>
                </a:solidFill>
              </a:rPr>
              <a:t> Features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File-based Routing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Dynamic Routes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404 file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What is rendering?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Types of Rendering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Client-Side Rendering(CSR)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Pre-rendering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Server-side Rendering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Static Site Generation (SSG)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Static Site Generation (SSG) VS Server-Side Rendering (SSR)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>
                <a:solidFill>
                  <a:schemeClr val="bg1"/>
                </a:solidFill>
              </a:rPr>
              <a:t>What is </a:t>
            </a:r>
            <a:r>
              <a:rPr lang="en-US" sz="4400" err="1">
                <a:solidFill>
                  <a:schemeClr val="bg1"/>
                </a:solidFill>
              </a:rPr>
              <a:t>NextJS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93964" y="2478705"/>
            <a:ext cx="8811491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/>
              <a:t>Next.js is a flexible </a:t>
            </a:r>
            <a:r>
              <a:rPr lang="en-US" sz="2400" b="1"/>
              <a:t>React framework </a:t>
            </a:r>
            <a:r>
              <a:rPr lang="en-US" sz="2400"/>
              <a:t>that gives you building blocks to create fast web applications.</a:t>
            </a:r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Next.js is a </a:t>
            </a:r>
            <a:r>
              <a:rPr lang="en-US" sz="2400" b="1"/>
              <a:t>React framework </a:t>
            </a:r>
            <a:r>
              <a:rPr lang="en-US" sz="2400"/>
              <a:t>designed to facilitate the development of web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Provides building blocks and tools for creating web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Handles tooling and configuration needed for 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Offers additional structure, features, and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</a:t>
            </a:r>
            <a:r>
              <a:rPr lang="en-US" sz="4400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NextJS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AEF80-BD8D-0781-85E9-03738253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451" y="2057495"/>
            <a:ext cx="8633876" cy="451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Building Blocks of a Web Application</a:t>
            </a:r>
            <a:endParaRPr lang="en-US" sz="3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097233"/>
            <a:ext cx="8880762" cy="45668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0" i="0">
                <a:effectLst/>
              </a:rPr>
              <a:t>There are a few things you need to consider when building modern applications.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User Interface</a:t>
            </a:r>
            <a:r>
              <a:rPr lang="en-US" sz="1800" b="0" i="0">
                <a:effectLst/>
              </a:rPr>
              <a:t> - how users will consume and interact with your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Routing</a:t>
            </a:r>
            <a:r>
              <a:rPr lang="en-US" sz="1800" b="0" i="0">
                <a:effectLst/>
              </a:rPr>
              <a:t> - how users navigate between different parts of your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Data Fetching</a:t>
            </a:r>
            <a:r>
              <a:rPr lang="en-US" sz="1800" b="0" i="0">
                <a:effectLst/>
              </a:rPr>
              <a:t> - where your data lives and how to get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Rendering</a:t>
            </a:r>
            <a:r>
              <a:rPr lang="en-US" sz="1800" b="0" i="0">
                <a:effectLst/>
              </a:rPr>
              <a:t> - when and where you render static or dynamic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Integrations</a:t>
            </a:r>
            <a:r>
              <a:rPr lang="en-US" sz="1800" b="0" i="0">
                <a:effectLst/>
              </a:rPr>
              <a:t> - what third-party services you use (CMS, auth, payments, </a:t>
            </a:r>
            <a:r>
              <a:rPr lang="en-US" sz="1800" b="0" i="0" err="1">
                <a:effectLst/>
              </a:rPr>
              <a:t>etc</a:t>
            </a:r>
            <a:r>
              <a:rPr lang="en-US" sz="1800" b="0" i="0">
                <a:effectLst/>
              </a:rPr>
              <a:t>) and how you connect to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Infrastructure</a:t>
            </a:r>
            <a:r>
              <a:rPr lang="en-US" sz="1800" b="0" i="0">
                <a:effectLst/>
              </a:rPr>
              <a:t> - where you deploy, store, and run your application code (Serverless, CDN, Edge, </a:t>
            </a:r>
            <a:r>
              <a:rPr lang="en-US" sz="1800" b="0" i="0" err="1">
                <a:effectLst/>
              </a:rPr>
              <a:t>etc</a:t>
            </a:r>
            <a:r>
              <a:rPr lang="en-US" sz="1800" b="0" i="0">
                <a:effectLst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Performance</a:t>
            </a:r>
            <a:r>
              <a:rPr lang="en-US" sz="1800" b="0" i="0">
                <a:effectLst/>
              </a:rPr>
              <a:t> - how to optimize your application for end-users.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Scalability</a:t>
            </a:r>
            <a:r>
              <a:rPr lang="en-US" sz="1800" b="0" i="0">
                <a:effectLst/>
              </a:rPr>
              <a:t> - how your application adapts as your team, data, and traffic grow.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>
                <a:effectLst/>
              </a:rPr>
              <a:t>Developer Experience</a:t>
            </a:r>
            <a:r>
              <a:rPr lang="en-US" sz="1800" b="0" i="0">
                <a:effectLst/>
              </a:rPr>
              <a:t> - your team’s experience building and maintaining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NextJS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Features</a:t>
            </a:r>
            <a:endParaRPr lang="en-US" sz="3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097233"/>
            <a:ext cx="8880762" cy="45668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</a:rPr>
              <a:t>In the development stage, Next.js optimizes for the developer and their experience building the application. It comes with features that aim to improve the </a:t>
            </a:r>
            <a:r>
              <a:rPr lang="en-US" sz="2400" b="1" i="0">
                <a:solidFill>
                  <a:srgbClr val="000000"/>
                </a:solidFill>
                <a:effectLst/>
              </a:rPr>
              <a:t>Developer Experience</a:t>
            </a:r>
            <a:r>
              <a:rPr lang="en-US" sz="2400" b="0" i="0">
                <a:solidFill>
                  <a:srgbClr val="000000"/>
                </a:solidFill>
                <a:effectLst/>
              </a:rPr>
              <a:t> such the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2"/>
              </a:rPr>
              <a:t>TypeScript</a:t>
            </a:r>
            <a:r>
              <a:rPr lang="en-US" sz="2400" b="0" i="0">
                <a:solidFill>
                  <a:srgbClr val="000000"/>
                </a:solidFill>
                <a:effectLst/>
              </a:rPr>
              <a:t> and </a:t>
            </a:r>
            <a:r>
              <a:rPr lang="en-US" sz="2400" b="0" i="0" u="none" strike="noStrike" err="1">
                <a:solidFill>
                  <a:srgbClr val="0074DE"/>
                </a:solidFill>
                <a:effectLst/>
                <a:hlinkClick r:id="rId3"/>
              </a:rPr>
              <a:t>ESLint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3"/>
              </a:rPr>
              <a:t> integration</a:t>
            </a:r>
            <a:r>
              <a:rPr lang="en-US" sz="2400" b="0" i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4"/>
              </a:rPr>
              <a:t>Fast Refresh</a:t>
            </a:r>
            <a:r>
              <a:rPr lang="en-US" sz="2400" b="0" i="0">
                <a:solidFill>
                  <a:srgbClr val="000000"/>
                </a:solidFill>
                <a:effectLst/>
              </a:rPr>
              <a:t>, and more.</a:t>
            </a:r>
          </a:p>
          <a:p>
            <a:pPr algn="l"/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</a:rPr>
              <a:t>Since each environment has different considerations and goals, there is a lot that needs to be done to move an application from development to production. For instance, the application code needs to be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5"/>
              </a:rPr>
              <a:t>compiled</a:t>
            </a:r>
            <a:r>
              <a:rPr lang="en-US" sz="2400" b="0" i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6"/>
              </a:rPr>
              <a:t>bundled</a:t>
            </a:r>
            <a:r>
              <a:rPr lang="en-US" sz="2400" b="0" i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7"/>
              </a:rPr>
              <a:t>minified</a:t>
            </a:r>
            <a:r>
              <a:rPr lang="en-US" sz="2400" b="0" i="0">
                <a:solidFill>
                  <a:srgbClr val="000000"/>
                </a:solidFill>
                <a:effectLst/>
              </a:rPr>
              <a:t>, and </a:t>
            </a:r>
            <a:r>
              <a:rPr lang="en-US" sz="2400" b="0" i="0" u="none" strike="noStrike">
                <a:solidFill>
                  <a:srgbClr val="0074DE"/>
                </a:solidFill>
                <a:effectLst/>
                <a:hlinkClick r:id="rId8"/>
              </a:rPr>
              <a:t>code split</a:t>
            </a:r>
            <a:r>
              <a:rPr lang="en-US" sz="2400" b="0" i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7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NextJS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Features</a:t>
            </a:r>
            <a:endParaRPr lang="en-US" sz="3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131619" y="2109019"/>
            <a:ext cx="8880762" cy="219795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numCol="2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Folder based routing and Dynamic routing</a:t>
            </a:r>
          </a:p>
          <a:p>
            <a:r>
              <a:rPr lang="en-US"/>
              <a:t>Pre-rendering </a:t>
            </a:r>
          </a:p>
          <a:p>
            <a:pPr lvl="1"/>
            <a:r>
              <a:rPr lang="en-US"/>
              <a:t>Sever-side rendering </a:t>
            </a:r>
          </a:p>
          <a:p>
            <a:pPr lvl="1"/>
            <a:r>
              <a:rPr lang="en-US"/>
              <a:t>Static generation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Folder-based Routing</a:t>
            </a:r>
            <a:endParaRPr lang="en-US" sz="3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71" y="2715944"/>
            <a:ext cx="9181426" cy="330210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numCol="1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Follow following documents for Quiz and Project;</a:t>
            </a:r>
            <a:br>
              <a:rPr lang="en-US" b="1"/>
            </a:br>
            <a:br>
              <a:rPr lang="en-US" b="1"/>
            </a:br>
            <a:r>
              <a:rPr lang="en-US" b="1">
                <a:hlinkClick r:id="rId2"/>
              </a:rPr>
              <a:t>https://nextjs.org/docs/app/getting-started/project-structure</a:t>
            </a:r>
            <a:endParaRPr lang="en-US" b="1"/>
          </a:p>
          <a:p>
            <a:pPr marL="0" indent="0">
              <a:buNone/>
            </a:pPr>
            <a:r>
              <a:rPr lang="en-US" b="1">
                <a:hlinkClick r:id="rId3"/>
              </a:rPr>
              <a:t>https://nextjs.org/docs/app/getting-started/layouts-and-pages</a:t>
            </a:r>
            <a:endParaRPr lang="en-US" b="1"/>
          </a:p>
          <a:p>
            <a:pPr marL="0" indent="0">
              <a:buNone/>
            </a:pPr>
            <a:r>
              <a:rPr lang="en-US" b="1">
                <a:hlinkClick r:id="rId4"/>
              </a:rPr>
              <a:t>https://nextjs.org/docs/app/getting-started/linking-and-navigating</a:t>
            </a: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19482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Segoe UI" panose="020B0502040204020203" pitchFamily="34" charset="0"/>
              </a:rPr>
              <a:t>What is rendering?</a:t>
            </a:r>
            <a:endParaRPr lang="en-US" sz="3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DA6D5-0A10-3EB8-801B-C45A3434C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4147"/>
            <a:ext cx="9144000" cy="37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9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7518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/>
              <a:t>Types of Rendering </a:t>
            </a:r>
            <a:endParaRPr lang="en-US" sz="3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175BF-BCB7-076B-5BFB-153CB796B049}"/>
              </a:ext>
            </a:extLst>
          </p:cNvPr>
          <p:cNvSpPr txBox="1"/>
          <p:nvPr/>
        </p:nvSpPr>
        <p:spPr>
          <a:xfrm>
            <a:off x="273570" y="2329943"/>
            <a:ext cx="8596859" cy="28305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/>
              <a:t>Pre-rendering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/>
              <a:t>Static Site Generation (SSG)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rgbClr val="000000"/>
                </a:solidFill>
                <a:effectLst/>
                <a:latin typeface="ui-sans-serif"/>
              </a:rPr>
              <a:t>Server Side Rendering (SSR)</a:t>
            </a:r>
          </a:p>
          <a:p>
            <a:r>
              <a:rPr lang="en-US" sz="2400" b="1">
                <a:solidFill>
                  <a:srgbClr val="000000"/>
                </a:solidFill>
                <a:latin typeface="ui-sans-serif"/>
              </a:rPr>
              <a:t>No Pre-rendering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ui-sans-serif"/>
              </a:rPr>
              <a:t>Client-Side Rendering(CSR)</a:t>
            </a:r>
          </a:p>
          <a:p>
            <a:pPr lvl="1"/>
            <a:endParaRPr lang="en-US" sz="2400">
              <a:solidFill>
                <a:srgbClr val="000000"/>
              </a:solidFill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Client-Side Rendering(CSR)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645F057-4D2B-8948-0A36-50775C9B1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4" y="2183174"/>
            <a:ext cx="8535497" cy="423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956" y="16569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Client-Side Rendering(CSR)</a:t>
            </a:r>
            <a:endParaRPr lang="en-US" sz="3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07AE5-255C-2BE0-81F6-FE308DC5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896" y="2092924"/>
            <a:ext cx="5349863" cy="45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Pre-rendering</a:t>
            </a:r>
            <a:endParaRPr lang="en-US" sz="3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D1108-2EA7-64B6-CA6C-6DE60C1756C9}"/>
              </a:ext>
            </a:extLst>
          </p:cNvPr>
          <p:cNvSpPr txBox="1"/>
          <p:nvPr/>
        </p:nvSpPr>
        <p:spPr>
          <a:xfrm>
            <a:off x="273570" y="2045133"/>
            <a:ext cx="859685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By default, Next.js pre-renders every page.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Next.js </a:t>
            </a:r>
            <a:r>
              <a:rPr lang="en-US" sz="2800" b="0" i="1">
                <a:solidFill>
                  <a:srgbClr val="000000"/>
                </a:solidFill>
                <a:effectLst/>
                <a:latin typeface="__Inter_4b5723"/>
              </a:rPr>
              <a:t>generates HTML for each page in advance</a:t>
            </a: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, instead of having it all done by client-side JavaScript.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Pre-rendering can result in better performance and </a:t>
            </a:r>
            <a:r>
              <a:rPr lang="en-US" sz="2800" b="0" i="0" u="none" strike="noStrike">
                <a:effectLst/>
                <a:latin typeface="__Inter_4b5723"/>
              </a:rPr>
              <a:t>SEO</a:t>
            </a: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Each generated HTML is associated with minimal JavaScript code necessary for that page.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When a page is loaded by the browser, its JavaScript code runs and makes the page fully interactive. (This process is called </a:t>
            </a:r>
            <a:r>
              <a:rPr lang="en-US" sz="2800" b="1" i="0">
                <a:solidFill>
                  <a:srgbClr val="000000"/>
                </a:solidFill>
                <a:effectLst/>
                <a:latin typeface="__Inter_4b5723"/>
              </a:rPr>
              <a:t>hydration</a:t>
            </a:r>
            <a:r>
              <a:rPr lang="en-US" sz="2800" b="0" i="0">
                <a:solidFill>
                  <a:srgbClr val="000000"/>
                </a:solidFill>
                <a:effectLst/>
                <a:latin typeface="__Inter_4b5723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08388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Pre-rendering</a:t>
            </a:r>
            <a:endParaRPr lang="en-US" sz="380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48E946F-865B-7FC7-86F0-868E4433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7" y="2097209"/>
            <a:ext cx="7610042" cy="45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22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Pre-rendering</a:t>
            </a:r>
            <a:endParaRPr lang="en-US" sz="3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F277B-E229-AA54-E1D2-6AC065DB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338" y="1847098"/>
            <a:ext cx="3733315" cy="45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7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Server-side Rendering </a:t>
            </a:r>
            <a:endParaRPr lang="en-US" sz="3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23D6E-8BE3-A3C6-1F4F-DB9F09E55BA4}"/>
              </a:ext>
            </a:extLst>
          </p:cNvPr>
          <p:cNvSpPr txBox="1"/>
          <p:nvPr/>
        </p:nvSpPr>
        <p:spPr>
          <a:xfrm>
            <a:off x="249382" y="2025224"/>
            <a:ext cx="8589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Server-side Rendering </a:t>
            </a:r>
            <a:r>
              <a:rPr lang="en-US"/>
              <a:t>is the pre-rendering method </a:t>
            </a:r>
            <a:r>
              <a:rPr lang="en-US" b="1"/>
              <a:t>that generates the HTML on each request.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8672E986-98EF-0163-0F61-80EE02CA0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28" r="1474" b="4010"/>
          <a:stretch/>
        </p:blipFill>
        <p:spPr bwMode="auto">
          <a:xfrm>
            <a:off x="1233297" y="2344947"/>
            <a:ext cx="6666812" cy="413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39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Static Site Generation (SSG)</a:t>
            </a:r>
            <a:endParaRPr lang="en-US" sz="3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645CE-7C13-B3A7-871A-5260455D55DA}"/>
              </a:ext>
            </a:extLst>
          </p:cNvPr>
          <p:cNvSpPr txBox="1"/>
          <p:nvPr/>
        </p:nvSpPr>
        <p:spPr>
          <a:xfrm>
            <a:off x="277091" y="2066837"/>
            <a:ext cx="8603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Static Generation is the pre-rendering method that generates the HTML at </a:t>
            </a:r>
            <a:r>
              <a:rPr lang="en-US" sz="2400" b="1"/>
              <a:t>build time</a:t>
            </a:r>
            <a:r>
              <a:rPr lang="en-US" sz="24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pre-rendered HTML is then reused on each request.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C240C86-B57E-5252-8BB9-33661E8F6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57"/>
          <a:stretch/>
        </p:blipFill>
        <p:spPr bwMode="auto">
          <a:xfrm>
            <a:off x="1447122" y="3267166"/>
            <a:ext cx="5438587" cy="35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44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Static Site Generation (SSG) VS Server-Side Rendering (SSR)</a:t>
            </a:r>
            <a:endParaRPr lang="en-US" sz="38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F528B3F-CAD9-D21A-973F-E622AC468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064319"/>
            <a:ext cx="8603674" cy="440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23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>
                <a:hlinkClick r:id="rId3"/>
              </a:rPr>
              <a:t>https://nextjs.org/</a:t>
            </a:r>
            <a:endParaRPr lang="en-US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>
                <a:latin typeface="Times New Roman" panose="02020603050405020304" pitchFamily="18" charset="0"/>
              </a:rPr>
              <a:t>Mozilla Developer Networks, URL: </a:t>
            </a:r>
            <a:r>
              <a:rPr lang="en-US">
                <a:hlinkClick r:id="rId4"/>
              </a:rPr>
              <a:t>https://developer.mozilla.org/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Application>Microsoft Office PowerPoint</Application>
  <PresentationFormat>On-screen Show (4:3)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Spectrum</vt:lpstr>
      <vt:lpstr>Introduction to NextJs</vt:lpstr>
      <vt:lpstr>Lecture Outline</vt:lpstr>
      <vt:lpstr>What is NextJS</vt:lpstr>
      <vt:lpstr>What is NextJS</vt:lpstr>
      <vt:lpstr>Building Blocks of a Web Application</vt:lpstr>
      <vt:lpstr>NextJS Features</vt:lpstr>
      <vt:lpstr>NextJS Features</vt:lpstr>
      <vt:lpstr>Folder-based Routing</vt:lpstr>
      <vt:lpstr>What is rendering?</vt:lpstr>
      <vt:lpstr>Types of Rendering </vt:lpstr>
      <vt:lpstr>Client-Side Rendering(CSR)</vt:lpstr>
      <vt:lpstr>Client-Side Rendering(CSR)</vt:lpstr>
      <vt:lpstr>Pre-rendering</vt:lpstr>
      <vt:lpstr>Pre-rendering</vt:lpstr>
      <vt:lpstr>Pre-rendering</vt:lpstr>
      <vt:lpstr>Server-side Rendering </vt:lpstr>
      <vt:lpstr>Static Site Generation (SSG)</vt:lpstr>
      <vt:lpstr>Static Site Generation (SSG) VS Server-Side Rendering (SSR)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revision>4</cp:revision>
  <dcterms:created xsi:type="dcterms:W3CDTF">2018-12-10T17:20:29Z</dcterms:created>
  <dcterms:modified xsi:type="dcterms:W3CDTF">2026-01-16T01:51:14Z</dcterms:modified>
</cp:coreProperties>
</file>