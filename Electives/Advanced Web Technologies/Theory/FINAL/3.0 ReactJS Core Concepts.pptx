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6" r:id="rId2"/>
    <p:sldId id="257" r:id="rId3"/>
    <p:sldId id="266" r:id="rId4"/>
    <p:sldId id="294" r:id="rId5"/>
    <p:sldId id="296" r:id="rId6"/>
    <p:sldId id="297" r:id="rId7"/>
    <p:sldId id="299" r:id="rId8"/>
    <p:sldId id="300" r:id="rId9"/>
    <p:sldId id="305" r:id="rId10"/>
    <p:sldId id="302" r:id="rId11"/>
    <p:sldId id="303" r:id="rId12"/>
    <p:sldId id="306" r:id="rId13"/>
    <p:sldId id="307" r:id="rId14"/>
    <p:sldId id="308" r:id="rId15"/>
    <p:sldId id="309" r:id="rId16"/>
    <p:sldId id="310" r:id="rId17"/>
    <p:sldId id="265" r:id="rId18"/>
    <p:sldId id="292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33"/>
    <a:srgbClr val="003E1C"/>
    <a:srgbClr val="CE0285"/>
    <a:srgbClr val="0074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520C94-E762-C8F4-0D34-B41C99C04F50}" v="6" dt="2025-12-27T10:16:20.1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214" autoAdjust="0"/>
    <p:restoredTop sz="94217" autoAdjust="0"/>
  </p:normalViewPr>
  <p:slideViewPr>
    <p:cSldViewPr snapToGrid="0">
      <p:cViewPr varScale="1">
        <p:scale>
          <a:sx n="78" d="100"/>
          <a:sy n="78" d="100"/>
        </p:scale>
        <p:origin x="822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RHIN ZAHRA" userId="S::22-46829-1@student.aiub.edu::330754e4-8eaa-4191-8c85-10b5b85abef9" providerId="AD" clId="Web-{4A520C94-E762-C8F4-0D34-B41C99C04F50}"/>
    <pc:docChg chg="modSld">
      <pc:chgData name="FARHIN ZAHRA" userId="S::22-46829-1@student.aiub.edu::330754e4-8eaa-4191-8c85-10b5b85abef9" providerId="AD" clId="Web-{4A520C94-E762-C8F4-0D34-B41C99C04F50}" dt="2025-12-27T10:16:20.148" v="2" actId="20577"/>
      <pc:docMkLst>
        <pc:docMk/>
      </pc:docMkLst>
      <pc:sldChg chg="modSp">
        <pc:chgData name="FARHIN ZAHRA" userId="S::22-46829-1@student.aiub.edu::330754e4-8eaa-4191-8c85-10b5b85abef9" providerId="AD" clId="Web-{4A520C94-E762-C8F4-0D34-B41C99C04F50}" dt="2025-12-27T10:16:20.148" v="2" actId="20577"/>
        <pc:sldMkLst>
          <pc:docMk/>
          <pc:sldMk cId="3779582865" sldId="297"/>
        </pc:sldMkLst>
        <pc:spChg chg="mod">
          <ac:chgData name="FARHIN ZAHRA" userId="S::22-46829-1@student.aiub.edu::330754e4-8eaa-4191-8c85-10b5b85abef9" providerId="AD" clId="Web-{4A520C94-E762-C8F4-0D34-B41C99C04F50}" dt="2025-12-27T10:16:20.148" v="2" actId="20577"/>
          <ac:spMkLst>
            <pc:docMk/>
            <pc:sldMk cId="3779582865" sldId="297"/>
            <ac:spMk id="4" creationId="{283A5F23-A735-33A7-90ED-20F192A04DA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7F9039-4697-4EAE-8680-C01B2CCD6013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B9819E-3E90-40F4-B43D-98EBE83AF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658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B9819E-3E90-40F4-B43D-98EBE83AF2F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6706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B9819E-3E90-40F4-B43D-98EBE83AF2F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815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Cambria" panose="02040503050406030204" pitchFamily="18" charset="0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01708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Cambria" panose="02040503050406030204" pitchFamily="18" charset="0"/>
                <a:sym typeface="Wingdings"/>
              </a:rPr>
              <a:t></a:t>
            </a:r>
            <a:endParaRPr sz="360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Cambria" panose="02040503050406030204" pitchFamily="18" charset="0"/>
                <a:sym typeface="Wingdings"/>
              </a:rPr>
              <a:t></a:t>
            </a:r>
            <a:endParaRPr sz="360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Cambria" panose="02040503050406030204" pitchFamily="18" charset="0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Cambria" panose="02040503050406030204" pitchFamily="18" charset="0"/>
                <a:sym typeface="Wingdings"/>
              </a:rPr>
              <a:t></a:t>
            </a:r>
            <a:endParaRPr sz="360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fld id="{4251665B-C24A-4702-B522-6A4334602E03}" type="datetimeFigureOut">
              <a:rPr lang="en-US" smtClean="0"/>
              <a:pPr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Cambria" panose="02040503050406030204" pitchFamily="18" charset="0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Cambria" panose="02040503050406030204" pitchFamily="18" charset="0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Cambria" panose="02040503050406030204" pitchFamily="18" charset="0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Cambria" panose="02040503050406030204" pitchFamily="18" charset="0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Cambria" panose="02040503050406030204" pitchFamily="18" charset="0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react/showreact.asp?filename=demo2_react_events_handler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nextjs.org/" TargetMode="External"/><Relationship Id="rId2" Type="http://schemas.openxmlformats.org/officeDocument/2006/relationships/hyperlink" Target="http://www.w3schools.com/" TargetMode="Externa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developer.mozilla.org/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6205" y="444291"/>
            <a:ext cx="7808976" cy="1088136"/>
          </a:xfrm>
        </p:spPr>
        <p:txBody>
          <a:bodyPr>
            <a:normAutofit/>
          </a:bodyPr>
          <a:lstStyle/>
          <a:p>
            <a:pPr algn="l"/>
            <a:r>
              <a:rPr lang="en-US" sz="2800" dirty="0"/>
              <a:t>React Core Concepts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>
                <a:latin typeface="+mn-lt"/>
              </a:rPr>
              <a:t>Course Code: CSC 4182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7727887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859134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23889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2143917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</a:rPr>
                        <a:t>Lecture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mbria" panose="02040503050406030204" pitchFamily="18" charset="0"/>
                        </a:rPr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</a:rPr>
                        <a:t>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mbria" panose="02040503050406030204" pitchFamily="18" charset="0"/>
                        </a:rPr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>
                          <a:latin typeface="Cambria" panose="02040503050406030204" pitchFamily="18" charset="0"/>
                        </a:rPr>
                        <a:t>Sazzad Hossain; sazzad@aiub.edu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2850062" y="1532427"/>
            <a:ext cx="5435119" cy="48463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Course Title: Advanced Programming In Web Technologies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React Core Concepts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Functional components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Props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State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Hooks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JSX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React Events</a:t>
            </a: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>
                <a:solidFill>
                  <a:srgbClr val="FFFFFF"/>
                </a:solidFill>
              </a:rPr>
              <a:t>React Core Concepts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1064303" y="2478705"/>
            <a:ext cx="7808976" cy="230832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2400" dirty="0"/>
              <a:t>Following are the core ReactJS component That uses in </a:t>
            </a:r>
            <a:r>
              <a:rPr lang="en-US" sz="2400" dirty="0" err="1"/>
              <a:t>NextJS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Functional Components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State and Props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React Hooks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JSX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>
                <a:solidFill>
                  <a:srgbClr val="FFFFFF"/>
                </a:solidFill>
              </a:rPr>
              <a:t>Functional components 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EBF80F-4F58-1E07-DD6A-F41DA90AD1D8}"/>
              </a:ext>
            </a:extLst>
          </p:cNvPr>
          <p:cNvSpPr txBox="1"/>
          <p:nvPr/>
        </p:nvSpPr>
        <p:spPr>
          <a:xfrm>
            <a:off x="187377" y="1963472"/>
            <a:ext cx="867181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defTabSz="576072">
              <a:spcBef>
                <a:spcPts val="630"/>
              </a:spcBef>
              <a:buNone/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Functional components are the simplest type of React components. They are JavaScript functions that </a:t>
            </a:r>
            <a:r>
              <a:rPr lang="en-US" sz="24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JSX, describing what should be </a:t>
            </a:r>
            <a:r>
              <a:rPr lang="en-US" sz="24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rendered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on the screen. They do not have state or lifecycle methods, making them lightweight and easy to understand.</a:t>
            </a:r>
            <a:endParaRPr lang="en-US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6E7D7C-72F1-B89E-F885-AAD0A956D675}"/>
              </a:ext>
            </a:extLst>
          </p:cNvPr>
          <p:cNvSpPr txBox="1"/>
          <p:nvPr/>
        </p:nvSpPr>
        <p:spPr>
          <a:xfrm>
            <a:off x="1067570" y="3959463"/>
            <a:ext cx="5633308" cy="1985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76072">
              <a:spcAft>
                <a:spcPts val="600"/>
              </a:spcAft>
            </a:pPr>
            <a:r>
              <a:rPr lang="en-US" kern="1200" dirty="0">
                <a:solidFill>
                  <a:srgbClr val="AF00DB"/>
                </a:solidFill>
                <a:latin typeface="Consolas" panose="020B0609020204030204" pitchFamily="49" charset="0"/>
                <a:ea typeface="+mn-ea"/>
                <a:cs typeface="+mn-cs"/>
              </a:rPr>
              <a:t>import</a:t>
            </a:r>
            <a:r>
              <a:rPr lang="en-US" kern="1200" dirty="0">
                <a:solidFill>
                  <a:srgbClr val="3B3B3B"/>
                </a:solidFill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rgbClr val="001080"/>
                </a:solidFill>
                <a:latin typeface="Consolas" panose="020B0609020204030204" pitchFamily="49" charset="0"/>
                <a:ea typeface="+mn-ea"/>
                <a:cs typeface="+mn-cs"/>
              </a:rPr>
              <a:t>React</a:t>
            </a:r>
            <a:r>
              <a:rPr lang="en-US" kern="1200" dirty="0">
                <a:solidFill>
                  <a:srgbClr val="3B3B3B"/>
                </a:solidFill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rgbClr val="AF00DB"/>
                </a:solidFill>
                <a:latin typeface="Consolas" panose="020B0609020204030204" pitchFamily="49" charset="0"/>
                <a:ea typeface="+mn-ea"/>
                <a:cs typeface="+mn-cs"/>
              </a:rPr>
              <a:t>from</a:t>
            </a:r>
            <a:r>
              <a:rPr lang="en-US" kern="1200" dirty="0">
                <a:solidFill>
                  <a:srgbClr val="3B3B3B"/>
                </a:solidFill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rgbClr val="A31515"/>
                </a:solidFill>
                <a:latin typeface="Consolas" panose="020B0609020204030204" pitchFamily="49" charset="0"/>
                <a:ea typeface="+mn-ea"/>
                <a:cs typeface="+mn-cs"/>
              </a:rPr>
              <a:t>'react'</a:t>
            </a:r>
            <a:r>
              <a:rPr lang="en-US" kern="1200" dirty="0">
                <a:solidFill>
                  <a:srgbClr val="3B3B3B"/>
                </a:solidFill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defTabSz="576072">
              <a:spcAft>
                <a:spcPts val="600"/>
              </a:spcAft>
            </a:pPr>
            <a:br>
              <a:rPr lang="en-US" kern="1200" dirty="0">
                <a:solidFill>
                  <a:srgbClr val="3B3B3B"/>
                </a:solidFill>
                <a:latin typeface="Consolas" panose="020B0609020204030204" pitchFamily="49" charset="0"/>
                <a:ea typeface="+mn-ea"/>
                <a:cs typeface="+mn-cs"/>
              </a:rPr>
            </a:br>
            <a:r>
              <a:rPr lang="en-US" kern="1200" dirty="0">
                <a:solidFill>
                  <a:srgbClr val="0000FF"/>
                </a:solidFill>
                <a:latin typeface="Consolas" panose="020B0609020204030204" pitchFamily="49" charset="0"/>
                <a:ea typeface="+mn-ea"/>
                <a:cs typeface="+mn-cs"/>
              </a:rPr>
              <a:t>const</a:t>
            </a:r>
            <a:r>
              <a:rPr lang="en-US" kern="1200" dirty="0">
                <a:solidFill>
                  <a:srgbClr val="3B3B3B"/>
                </a:solidFill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lang="en-US" b="1" kern="1200" dirty="0" err="1">
                <a:solidFill>
                  <a:srgbClr val="795E26"/>
                </a:solidFill>
                <a:latin typeface="Consolas" panose="020B0609020204030204" pitchFamily="49" charset="0"/>
                <a:ea typeface="+mn-ea"/>
                <a:cs typeface="+mn-cs"/>
              </a:rPr>
              <a:t>FunctionalComponent</a:t>
            </a:r>
            <a:r>
              <a:rPr lang="en-US" kern="1200" dirty="0">
                <a:solidFill>
                  <a:srgbClr val="3B3B3B"/>
                </a:solidFill>
                <a:latin typeface="Consolas" panose="020B0609020204030204" pitchFamily="49" charset="0"/>
                <a:ea typeface="+mn-ea"/>
                <a:cs typeface="+mn-cs"/>
              </a:rPr>
              <a:t> () {</a:t>
            </a:r>
          </a:p>
          <a:p>
            <a:pPr defTabSz="576072">
              <a:spcAft>
                <a:spcPts val="600"/>
              </a:spcAft>
            </a:pPr>
            <a:r>
              <a:rPr lang="en-US" kern="1200" dirty="0">
                <a:solidFill>
                  <a:srgbClr val="3B3B3B"/>
                </a:solidFill>
                <a:latin typeface="Consolas" panose="020B0609020204030204" pitchFamily="49" charset="0"/>
                <a:ea typeface="+mn-ea"/>
                <a:cs typeface="+mn-cs"/>
              </a:rPr>
              <a:t>  </a:t>
            </a:r>
            <a:r>
              <a:rPr lang="en-US" kern="1200" dirty="0">
                <a:solidFill>
                  <a:srgbClr val="AF00DB"/>
                </a:solidFill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lang="en-US" kern="1200" dirty="0">
                <a:solidFill>
                  <a:srgbClr val="3B3B3B"/>
                </a:solidFill>
                <a:latin typeface="Consolas" panose="020B0609020204030204" pitchFamily="49" charset="0"/>
                <a:ea typeface="+mn-ea"/>
                <a:cs typeface="+mn-cs"/>
              </a:rPr>
              <a:t> &lt;</a:t>
            </a:r>
            <a:r>
              <a:rPr lang="en-US" kern="1200" dirty="0">
                <a:solidFill>
                  <a:srgbClr val="267F99"/>
                </a:solidFill>
                <a:latin typeface="Consolas" panose="020B0609020204030204" pitchFamily="49" charset="0"/>
                <a:ea typeface="+mn-ea"/>
                <a:cs typeface="+mn-cs"/>
              </a:rPr>
              <a:t>h1</a:t>
            </a:r>
            <a:r>
              <a:rPr lang="en-US" kern="1200" dirty="0">
                <a:solidFill>
                  <a:srgbClr val="3B3B3B"/>
                </a:solidFill>
                <a:latin typeface="Consolas" panose="020B0609020204030204" pitchFamily="49" charset="0"/>
                <a:ea typeface="+mn-ea"/>
                <a:cs typeface="+mn-cs"/>
              </a:rPr>
              <a:t>&gt;</a:t>
            </a:r>
            <a:r>
              <a:rPr lang="en-US" kern="1200" dirty="0">
                <a:solidFill>
                  <a:srgbClr val="001080"/>
                </a:solidFill>
                <a:latin typeface="Consolas" panose="020B0609020204030204" pitchFamily="49" charset="0"/>
                <a:ea typeface="+mn-ea"/>
                <a:cs typeface="+mn-cs"/>
              </a:rPr>
              <a:t>Hello</a:t>
            </a:r>
            <a:r>
              <a:rPr lang="en-US" kern="1200" dirty="0">
                <a:solidFill>
                  <a:srgbClr val="3B3B3B"/>
                </a:solidFill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lang="en-US" kern="1200" dirty="0">
                <a:solidFill>
                  <a:srgbClr val="0070C1"/>
                </a:solidFill>
                <a:latin typeface="Consolas" panose="020B0609020204030204" pitchFamily="49" charset="0"/>
                <a:ea typeface="+mn-ea"/>
                <a:cs typeface="+mn-cs"/>
              </a:rPr>
              <a:t>I</a:t>
            </a:r>
            <a:r>
              <a:rPr lang="en-US" kern="1200" dirty="0">
                <a:solidFill>
                  <a:srgbClr val="3B3B3B"/>
                </a:solidFill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rgbClr val="001080"/>
                </a:solidFill>
                <a:latin typeface="Consolas" panose="020B0609020204030204" pitchFamily="49" charset="0"/>
                <a:ea typeface="+mn-ea"/>
                <a:cs typeface="+mn-cs"/>
              </a:rPr>
              <a:t>am</a:t>
            </a:r>
            <a:r>
              <a:rPr lang="en-US" kern="1200" dirty="0">
                <a:solidFill>
                  <a:srgbClr val="3B3B3B"/>
                </a:solidFill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rgbClr val="001080"/>
                </a:solidFill>
                <a:latin typeface="Consolas" panose="020B0609020204030204" pitchFamily="49" charset="0"/>
                <a:ea typeface="+mn-ea"/>
                <a:cs typeface="+mn-cs"/>
              </a:rPr>
              <a:t>a</a:t>
            </a:r>
            <a:r>
              <a:rPr lang="en-US" kern="1200" dirty="0">
                <a:solidFill>
                  <a:srgbClr val="3B3B3B"/>
                </a:solidFill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rgbClr val="001080"/>
                </a:solidFill>
                <a:latin typeface="Consolas" panose="020B0609020204030204" pitchFamily="49" charset="0"/>
                <a:ea typeface="+mn-ea"/>
                <a:cs typeface="+mn-cs"/>
              </a:rPr>
              <a:t>functional</a:t>
            </a:r>
            <a:r>
              <a:rPr lang="en-US" kern="1200" dirty="0">
                <a:solidFill>
                  <a:srgbClr val="3B3B3B"/>
                </a:solidFill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rgbClr val="001080"/>
                </a:solidFill>
                <a:latin typeface="Consolas" panose="020B0609020204030204" pitchFamily="49" charset="0"/>
                <a:ea typeface="+mn-ea"/>
                <a:cs typeface="+mn-cs"/>
              </a:rPr>
              <a:t>component</a:t>
            </a:r>
            <a:r>
              <a:rPr lang="en-US" kern="1200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+mn-cs"/>
              </a:rPr>
              <a:t>!&lt;/</a:t>
            </a:r>
            <a:r>
              <a:rPr lang="en-US" kern="1200" dirty="0">
                <a:solidFill>
                  <a:srgbClr val="001080"/>
                </a:solidFill>
                <a:latin typeface="Consolas" panose="020B0609020204030204" pitchFamily="49" charset="0"/>
                <a:ea typeface="+mn-ea"/>
                <a:cs typeface="+mn-cs"/>
              </a:rPr>
              <a:t>h1</a:t>
            </a:r>
            <a:r>
              <a:rPr lang="en-US" kern="1200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+mn-cs"/>
              </a:rPr>
              <a:t>&gt;</a:t>
            </a:r>
            <a:r>
              <a:rPr lang="en-US" kern="1200" dirty="0">
                <a:solidFill>
                  <a:srgbClr val="3B3B3B"/>
                </a:solidFill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defTabSz="576072">
              <a:spcAft>
                <a:spcPts val="600"/>
              </a:spcAft>
            </a:pPr>
            <a:r>
              <a:rPr lang="en-US" kern="1200" dirty="0">
                <a:solidFill>
                  <a:srgbClr val="3B3B3B"/>
                </a:solidFill>
                <a:latin typeface="Consolas" panose="020B0609020204030204" pitchFamily="49" charset="0"/>
                <a:ea typeface="+mn-ea"/>
                <a:cs typeface="+mn-cs"/>
              </a:rPr>
              <a:t>};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5905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Props</a:t>
            </a:r>
            <a:endParaRPr lang="en-US" sz="38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0B242E-AC25-61BB-F762-4B6DF405247C}"/>
              </a:ext>
            </a:extLst>
          </p:cNvPr>
          <p:cNvSpPr txBox="1">
            <a:spLocks/>
          </p:cNvSpPr>
          <p:nvPr/>
        </p:nvSpPr>
        <p:spPr>
          <a:xfrm>
            <a:off x="421341" y="2194215"/>
            <a:ext cx="8227984" cy="3532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Props</a:t>
            </a:r>
            <a:r>
              <a:rPr lang="en-US" sz="2400" dirty="0"/>
              <a:t> (short for "properties") are a mechanism for </a:t>
            </a:r>
            <a:r>
              <a:rPr lang="en-US" sz="2400" b="1" dirty="0"/>
              <a:t>passing data</a:t>
            </a:r>
            <a:r>
              <a:rPr lang="en-US" sz="2400" dirty="0"/>
              <a:t> from a </a:t>
            </a:r>
            <a:r>
              <a:rPr lang="en-US" sz="2400" b="1" dirty="0"/>
              <a:t>parent</a:t>
            </a:r>
            <a:r>
              <a:rPr lang="en-US" sz="2400" dirty="0"/>
              <a:t> component to a </a:t>
            </a:r>
            <a:r>
              <a:rPr lang="en-US" sz="2400" b="1" dirty="0"/>
              <a:t>child</a:t>
            </a:r>
            <a:r>
              <a:rPr lang="en-US" sz="2400" dirty="0"/>
              <a:t> component. They allow you to customize and configure child components based on values provided by the parent component. Props are read-only and cannot be modified by the child component.</a:t>
            </a:r>
          </a:p>
        </p:txBody>
      </p:sp>
    </p:spTree>
    <p:extLst>
      <p:ext uri="{BB962C8B-B14F-4D97-AF65-F5344CB8AC3E}">
        <p14:creationId xmlns:p14="http://schemas.microsoft.com/office/powerpoint/2010/main" val="1792047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Props</a:t>
            </a:r>
            <a:endParaRPr lang="en-US" sz="3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3A5F23-A735-33A7-90ED-20F192A04DA4}"/>
              </a:ext>
            </a:extLst>
          </p:cNvPr>
          <p:cNvSpPr txBox="1"/>
          <p:nvPr/>
        </p:nvSpPr>
        <p:spPr>
          <a:xfrm>
            <a:off x="256769" y="2544850"/>
            <a:ext cx="4315231" cy="34163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//ParentComponent.js</a:t>
            </a:r>
            <a:b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'react'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ChildComponent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'./</a:t>
            </a:r>
            <a:r>
              <a:rPr lang="en-US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ChildComponent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ParentComponent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()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Define props data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'John Doe'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200" b="0" dirty="0"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3B3B3B"/>
                </a:solidFill>
                <a:effectLst/>
                <a:latin typeface="Consolas"/>
              </a:rPr>
              <a:t> 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/>
              </a:rPr>
              <a:t>return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/>
              </a:rPr>
              <a:t> (</a:t>
            </a:r>
          </a:p>
          <a:p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&lt;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{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Pass props to the </a:t>
            </a:r>
            <a:r>
              <a:rPr lang="en-US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ChildComponent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*/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ChildComponent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ParentComponent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AA6FB6-5324-CC12-EE18-7499B8287B11}"/>
              </a:ext>
            </a:extLst>
          </p:cNvPr>
          <p:cNvSpPr txBox="1"/>
          <p:nvPr/>
        </p:nvSpPr>
        <p:spPr>
          <a:xfrm>
            <a:off x="4693861" y="2534340"/>
            <a:ext cx="4315230" cy="34163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//ChildComponent.js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'react'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ChildComponent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200" dirty="0">
                <a:solidFill>
                  <a:srgbClr val="001080"/>
                </a:solidFill>
                <a:latin typeface="Consolas" panose="020B0609020204030204" pitchFamily="49" charset="0"/>
              </a:rPr>
              <a:t>props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Access props data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>
                <a:solidFill>
                  <a:srgbClr val="3B3B3B"/>
                </a:solidFill>
                <a:latin typeface="Consolas" panose="020B0609020204030204" pitchFamily="49" charset="0"/>
              </a:rPr>
              <a:t>{ </a:t>
            </a:r>
            <a:r>
              <a:rPr lang="en-US" sz="1200">
                <a:solidFill>
                  <a:srgbClr val="0070C1"/>
                </a:solidFill>
                <a:latin typeface="Consolas" panose="020B0609020204030204" pitchFamily="49" charset="0"/>
              </a:rPr>
              <a:t>name</a:t>
            </a:r>
            <a:r>
              <a:rPr lang="en-US" sz="120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en-US" sz="1200">
                <a:solidFill>
                  <a:srgbClr val="0070C1"/>
                </a:solidFill>
                <a:latin typeface="Consolas" panose="020B0609020204030204" pitchFamily="49" charset="0"/>
              </a:rPr>
              <a:t>age</a:t>
            </a:r>
            <a:r>
              <a:rPr lang="en-US" sz="1200">
                <a:solidFill>
                  <a:srgbClr val="3B3B3B"/>
                </a:solidFill>
                <a:latin typeface="Consolas" panose="020B0609020204030204" pitchFamily="49" charset="0"/>
              </a:rPr>
              <a:t> } 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2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props.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name,props.age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&lt;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&lt;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{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!&lt;/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&lt;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You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are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years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old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ChildComponent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9582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State</a:t>
            </a:r>
            <a:endParaRPr lang="en-US" sz="3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09B8D5-9FE3-259A-5524-C1C8691FFF3C}"/>
              </a:ext>
            </a:extLst>
          </p:cNvPr>
          <p:cNvSpPr txBox="1"/>
          <p:nvPr/>
        </p:nvSpPr>
        <p:spPr>
          <a:xfrm>
            <a:off x="496292" y="2058338"/>
            <a:ext cx="824458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2400" dirty="0"/>
              <a:t>State is a built-in feature that allows </a:t>
            </a:r>
            <a:r>
              <a:rPr lang="en-US" sz="2400" b="1" dirty="0"/>
              <a:t>you to manage and store data </a:t>
            </a:r>
            <a:r>
              <a:rPr lang="en-US" sz="2400" dirty="0"/>
              <a:t>within a component. It represents the </a:t>
            </a:r>
            <a:r>
              <a:rPr lang="en-US" sz="2400" b="1" dirty="0"/>
              <a:t>mutable data that can change over time </a:t>
            </a:r>
            <a:r>
              <a:rPr lang="en-US" sz="2400" dirty="0"/>
              <a:t>and affects how the component </a:t>
            </a:r>
            <a:r>
              <a:rPr lang="en-US" sz="2400" b="1" dirty="0"/>
              <a:t>renders</a:t>
            </a:r>
            <a:r>
              <a:rPr lang="en-US" sz="2400" dirty="0"/>
              <a:t> and </a:t>
            </a:r>
            <a:r>
              <a:rPr lang="en-US" sz="2400" b="1" dirty="0"/>
              <a:t>behaves</a:t>
            </a:r>
            <a:r>
              <a:rPr lang="en-US" sz="2400" dirty="0"/>
              <a:t>. When state data is updated, React automatically re-renders the component to reflect the changes.</a:t>
            </a:r>
          </a:p>
          <a:p>
            <a:pPr marL="0" indent="0">
              <a:buNone/>
            </a:pPr>
            <a:r>
              <a:rPr lang="en-US" sz="2400" dirty="0"/>
              <a:t>State is a </a:t>
            </a:r>
            <a:r>
              <a:rPr lang="en-US" sz="2400" b="1" dirty="0"/>
              <a:t>fundamental concept </a:t>
            </a:r>
            <a:r>
              <a:rPr lang="en-US" sz="2400" dirty="0"/>
              <a:t>in React that enables dynamic and interactive user interfaces. It allows components to </a:t>
            </a:r>
            <a:r>
              <a:rPr lang="en-US" sz="2400" b="1" dirty="0"/>
              <a:t>maintain their own local data and respond to user interactions,</a:t>
            </a:r>
            <a:r>
              <a:rPr lang="en-US" sz="2400" dirty="0"/>
              <a:t> making React applications more interactive and responsive.</a:t>
            </a:r>
          </a:p>
        </p:txBody>
      </p:sp>
    </p:spTree>
    <p:extLst>
      <p:ext uri="{BB962C8B-B14F-4D97-AF65-F5344CB8AC3E}">
        <p14:creationId xmlns:p14="http://schemas.microsoft.com/office/powerpoint/2010/main" val="2277853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  <a:latin typeface="Segoe UI" panose="020B0502040204020203" pitchFamily="34" charset="0"/>
              </a:rPr>
              <a:t>H</a:t>
            </a:r>
            <a:r>
              <a:rPr lang="en-US" sz="4000" b="0" i="0" dirty="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ooks</a:t>
            </a:r>
            <a:endParaRPr lang="en-US" sz="38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0CE7119-A0FD-C414-C11D-02694677A48F}"/>
              </a:ext>
            </a:extLst>
          </p:cNvPr>
          <p:cNvSpPr txBox="1">
            <a:spLocks/>
          </p:cNvSpPr>
          <p:nvPr/>
        </p:nvSpPr>
        <p:spPr>
          <a:xfrm>
            <a:off x="194873" y="921134"/>
            <a:ext cx="8949127" cy="55856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React hooks are functions introduced in React 16.8 that allow functional components to have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state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and use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lifecycle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methods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without the need for writing class components.</a:t>
            </a:r>
          </a:p>
          <a:p>
            <a:pPr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Hooks provide a more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straightforward and reusable way to manage state and perform side effects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functional components.</a:t>
            </a:r>
          </a:p>
        </p:txBody>
      </p:sp>
    </p:spTree>
    <p:extLst>
      <p:ext uri="{BB962C8B-B14F-4D97-AF65-F5344CB8AC3E}">
        <p14:creationId xmlns:p14="http://schemas.microsoft.com/office/powerpoint/2010/main" val="13436233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  <a:latin typeface="Segoe UI" panose="020B0502040204020203" pitchFamily="34" charset="0"/>
              </a:rPr>
              <a:t>H</a:t>
            </a:r>
            <a:r>
              <a:rPr lang="en-US" sz="4000" b="0" i="0" dirty="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ooks</a:t>
            </a:r>
            <a:endParaRPr lang="en-US" sz="3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877037-06F5-C0DE-357B-D7FB1513418F}"/>
              </a:ext>
            </a:extLst>
          </p:cNvPr>
          <p:cNvSpPr txBox="1"/>
          <p:nvPr/>
        </p:nvSpPr>
        <p:spPr>
          <a:xfrm>
            <a:off x="288223" y="1964353"/>
            <a:ext cx="8585954" cy="486287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{ </a:t>
            </a:r>
            <a:r>
              <a:rPr lang="en-US" sz="1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useEffect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US" sz="1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'react'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CounterComponent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()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10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US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hook to manage state</a:t>
            </a: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3B3B3B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  </a:t>
            </a:r>
            <a:r>
              <a:rPr lang="en-US" sz="1000" b="0" dirty="0">
                <a:solidFill>
                  <a:srgbClr val="0000F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const</a:t>
            </a:r>
            <a:r>
              <a:rPr lang="en-US" sz="1000" b="0" dirty="0">
                <a:solidFill>
                  <a:srgbClr val="3B3B3B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[</a:t>
            </a:r>
            <a:r>
              <a:rPr lang="en-US" sz="1000" b="0" dirty="0">
                <a:solidFill>
                  <a:srgbClr val="0070C1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count</a:t>
            </a:r>
            <a:r>
              <a:rPr lang="en-US" sz="1000" b="0" dirty="0">
                <a:solidFill>
                  <a:srgbClr val="3B3B3B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, </a:t>
            </a:r>
            <a:r>
              <a:rPr lang="en-US" sz="1000" b="0" dirty="0" err="1">
                <a:solidFill>
                  <a:srgbClr val="795E26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setCount</a:t>
            </a:r>
            <a:r>
              <a:rPr lang="en-US" sz="1000" b="0" dirty="0">
                <a:solidFill>
                  <a:srgbClr val="3B3B3B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] </a:t>
            </a:r>
            <a:r>
              <a:rPr lang="en-US" sz="1000" b="0" dirty="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3B3B3B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795E26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useState</a:t>
            </a:r>
            <a:r>
              <a:rPr lang="en-US" sz="1000" b="0" dirty="0">
                <a:solidFill>
                  <a:srgbClr val="3B3B3B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098658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0</a:t>
            </a:r>
            <a:r>
              <a:rPr lang="en-US" sz="1000" b="0" dirty="0">
                <a:solidFill>
                  <a:srgbClr val="3B3B3B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);</a:t>
            </a:r>
          </a:p>
          <a:p>
            <a:b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10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useEffect</a:t>
            </a:r>
            <a:r>
              <a:rPr lang="en-US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hook to perform side effects</a:t>
            </a: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3B3B3B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  </a:t>
            </a:r>
            <a:r>
              <a:rPr lang="en-US" sz="1000" b="0" dirty="0" err="1">
                <a:solidFill>
                  <a:srgbClr val="795E26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useEffect</a:t>
            </a:r>
            <a:r>
              <a:rPr lang="en-US" sz="1000" b="0" dirty="0">
                <a:solidFill>
                  <a:srgbClr val="3B3B3B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(() </a:t>
            </a:r>
            <a:r>
              <a:rPr lang="en-US" sz="1000" b="0" dirty="0">
                <a:solidFill>
                  <a:srgbClr val="0000F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=&gt;</a:t>
            </a:r>
            <a:r>
              <a:rPr lang="en-US" sz="1000" b="0" dirty="0">
                <a:solidFill>
                  <a:srgbClr val="3B3B3B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{</a:t>
            </a:r>
          </a:p>
          <a:p>
            <a:r>
              <a:rPr lang="en-US" sz="1000" b="0" dirty="0">
                <a:solidFill>
                  <a:srgbClr val="3B3B3B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    </a:t>
            </a:r>
            <a:r>
              <a:rPr lang="en-US" sz="1000" b="0" dirty="0" err="1">
                <a:solidFill>
                  <a:srgbClr val="00108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document</a:t>
            </a:r>
            <a:r>
              <a:rPr lang="en-US" sz="1000" b="0" dirty="0" err="1">
                <a:solidFill>
                  <a:srgbClr val="3B3B3B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00108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title</a:t>
            </a:r>
            <a:r>
              <a:rPr lang="en-US" sz="1000" b="0" dirty="0">
                <a:solidFill>
                  <a:srgbClr val="3B3B3B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3B3B3B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A31515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`Count: </a:t>
            </a:r>
            <a:r>
              <a:rPr lang="en-US" sz="1000" b="0" dirty="0">
                <a:solidFill>
                  <a:srgbClr val="0000F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${</a:t>
            </a:r>
            <a:r>
              <a:rPr lang="en-US" sz="1000" b="0" dirty="0">
                <a:solidFill>
                  <a:srgbClr val="0070C1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count</a:t>
            </a:r>
            <a:r>
              <a:rPr lang="en-US" sz="1000" b="0" dirty="0">
                <a:solidFill>
                  <a:srgbClr val="0000F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}</a:t>
            </a:r>
            <a:r>
              <a:rPr lang="en-US" sz="1000" b="0" dirty="0">
                <a:solidFill>
                  <a:srgbClr val="A31515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`</a:t>
            </a:r>
            <a:r>
              <a:rPr lang="en-US" sz="1000" b="0" dirty="0">
                <a:solidFill>
                  <a:srgbClr val="3B3B3B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sz="1000" b="0" dirty="0">
                <a:solidFill>
                  <a:srgbClr val="3B3B3B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  }, [</a:t>
            </a:r>
            <a:r>
              <a:rPr lang="en-US" sz="1000" b="0" dirty="0">
                <a:solidFill>
                  <a:srgbClr val="0070C1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count</a:t>
            </a:r>
            <a:r>
              <a:rPr lang="en-US" sz="1000" b="0" dirty="0">
                <a:solidFill>
                  <a:srgbClr val="3B3B3B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]);</a:t>
            </a:r>
          </a:p>
          <a:p>
            <a:b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Function to handle the increment button click</a:t>
            </a: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handleIncrement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()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setCount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};</a:t>
            </a:r>
          </a:p>
          <a:p>
            <a:b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Function to handle the decrement button click</a:t>
            </a: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handleDecrement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()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setCount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};</a:t>
            </a:r>
          </a:p>
          <a:p>
            <a:b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&lt;h1&gt;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Counter: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0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&lt;/h1&gt;</a:t>
            </a: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handleIncrement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Increment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handleDecrement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Decrement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80945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389044"/>
            <a:ext cx="7808976" cy="1088136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  <a:latin typeface="Segoe UI" panose="020B0502040204020203" pitchFamily="34" charset="0"/>
              </a:rPr>
              <a:t>H</a:t>
            </a:r>
            <a:r>
              <a:rPr lang="en-US" sz="4000" b="0" i="0" dirty="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ooks</a:t>
            </a:r>
            <a:endParaRPr lang="en-US" sz="3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A175BF-BCB7-076B-5BFB-153CB796B049}"/>
              </a:ext>
            </a:extLst>
          </p:cNvPr>
          <p:cNvSpPr txBox="1"/>
          <p:nvPr/>
        </p:nvSpPr>
        <p:spPr>
          <a:xfrm>
            <a:off x="273570" y="2329943"/>
            <a:ext cx="8596859" cy="433759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useState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The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useState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hook allows us to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 state to functional components.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We declare a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state variable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called count and its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updater function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setCount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by calling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useState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(0) with an initial value of 0. We can now manage the state of count using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setCount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useEffect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The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useEffect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hook enables us to perform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side effects in functional components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In this example, we use it to update the document title with the current count value. The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useEffect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hook takes a function as its first argument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and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second argument is an array of dependencies that specify when the effect should run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In this case, we pass [count] as the dependency array, so the effect will only run when the count state changes.</a:t>
            </a:r>
          </a:p>
        </p:txBody>
      </p:sp>
    </p:spTree>
    <p:extLst>
      <p:ext uri="{BB962C8B-B14F-4D97-AF65-F5344CB8AC3E}">
        <p14:creationId xmlns:p14="http://schemas.microsoft.com/office/powerpoint/2010/main" val="38530874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0" i="0" dirty="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JSX</a:t>
            </a:r>
            <a:endParaRPr lang="en-US" sz="3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D9574F-0A59-318E-D759-A512E3097C7C}"/>
              </a:ext>
            </a:extLst>
          </p:cNvPr>
          <p:cNvSpPr txBox="1"/>
          <p:nvPr/>
        </p:nvSpPr>
        <p:spPr>
          <a:xfrm>
            <a:off x="273570" y="2045133"/>
            <a:ext cx="8596859" cy="142192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JSX (JavaScript XML) 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 a syntax extension for JavaScript used with React to describe the structure of UI components. It allows developers to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write HTML-like code within JavaScript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making it easier to create and visualize the component's UI.</a:t>
            </a:r>
          </a:p>
        </p:txBody>
      </p:sp>
    </p:spTree>
    <p:extLst>
      <p:ext uri="{BB962C8B-B14F-4D97-AF65-F5344CB8AC3E}">
        <p14:creationId xmlns:p14="http://schemas.microsoft.com/office/powerpoint/2010/main" val="35707869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0" i="0" dirty="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JSX</a:t>
            </a:r>
            <a:endParaRPr lang="en-US" sz="3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657ED3-6B20-CAC4-E240-BE590EF790BB}"/>
              </a:ext>
            </a:extLst>
          </p:cNvPr>
          <p:cNvSpPr txBox="1"/>
          <p:nvPr/>
        </p:nvSpPr>
        <p:spPr>
          <a:xfrm>
            <a:off x="273570" y="2006769"/>
            <a:ext cx="8596859" cy="452431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'react'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GreetingComponent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'John Doe'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showGreeting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showGreeting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? (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&lt;h1&gt;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Hello,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&lt;/h1&gt;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) : (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 greeting available.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)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42836780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React Events</a:t>
            </a:r>
            <a:endParaRPr lang="en-US" sz="3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AD1108-2EA7-64B6-CA6C-6DE60C1756C9}"/>
              </a:ext>
            </a:extLst>
          </p:cNvPr>
          <p:cNvSpPr txBox="1"/>
          <p:nvPr/>
        </p:nvSpPr>
        <p:spPr>
          <a:xfrm>
            <a:off x="273570" y="2045133"/>
            <a:ext cx="8596859" cy="121776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Just like HTML DOM events, React can perform actions based on user events.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React has the same events as HTML: click, change, mouseover etc.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455B859-8FE4-8FBB-5F28-35B1616C43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727" y="3318100"/>
            <a:ext cx="8596859" cy="173124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85800"/>
            <a:r>
              <a:rPr lang="en-US" altLang="en-US" dirty="0">
                <a:solidFill>
                  <a:srgbClr val="000000"/>
                </a:solidFill>
                <a:latin typeface="Verdana" panose="020B0604030504040204" pitchFamily="34" charset="0"/>
              </a:rPr>
              <a:t>React events are written in </a:t>
            </a:r>
            <a:r>
              <a:rPr lang="en-US" altLang="en-US" b="1" dirty="0">
                <a:solidFill>
                  <a:srgbClr val="000000"/>
                </a:solidFill>
                <a:latin typeface="Verdana" panose="020B0604030504040204" pitchFamily="34" charset="0"/>
              </a:rPr>
              <a:t>camelCase</a:t>
            </a:r>
            <a:r>
              <a:rPr lang="en-US" altLang="en-US" dirty="0">
                <a:solidFill>
                  <a:srgbClr val="000000"/>
                </a:solidFill>
                <a:latin typeface="Verdana" panose="020B0604030504040204" pitchFamily="34" charset="0"/>
              </a:rPr>
              <a:t> syntax:</a:t>
            </a:r>
            <a:endParaRPr lang="en-US" altLang="en-US" dirty="0"/>
          </a:p>
          <a:p>
            <a:pPr defTabSz="685800"/>
            <a:r>
              <a:rPr lang="en-US" altLang="en-US" dirty="0" err="1">
                <a:solidFill>
                  <a:srgbClr val="DC143C"/>
                </a:solidFill>
                <a:latin typeface="Consolas" panose="020B0609020204030204" pitchFamily="49" charset="0"/>
              </a:rPr>
              <a:t>onClick</a:t>
            </a:r>
            <a:r>
              <a:rPr lang="en-US" altLang="en-US" dirty="0">
                <a:solidFill>
                  <a:srgbClr val="000000"/>
                </a:solidFill>
                <a:latin typeface="Verdana" panose="020B0604030504040204" pitchFamily="34" charset="0"/>
              </a:rPr>
              <a:t> instead of </a:t>
            </a:r>
            <a:r>
              <a:rPr lang="en-US" altLang="en-US" dirty="0">
                <a:solidFill>
                  <a:srgbClr val="DC143C"/>
                </a:solidFill>
                <a:latin typeface="Consolas" panose="020B0609020204030204" pitchFamily="49" charset="0"/>
              </a:rPr>
              <a:t>onclick</a:t>
            </a:r>
            <a:r>
              <a:rPr lang="en-US" altLang="en-US" dirty="0">
                <a:solidFill>
                  <a:srgbClr val="000000"/>
                </a:solidFill>
                <a:latin typeface="Verdana" panose="020B0604030504040204" pitchFamily="34" charset="0"/>
              </a:rPr>
              <a:t>.</a:t>
            </a:r>
            <a:endParaRPr lang="en-US" altLang="en-US" dirty="0"/>
          </a:p>
          <a:p>
            <a:pPr defTabSz="685800"/>
            <a:r>
              <a:rPr lang="en-US" altLang="en-US" dirty="0">
                <a:solidFill>
                  <a:srgbClr val="000000"/>
                </a:solidFill>
                <a:latin typeface="Verdana" panose="020B0604030504040204" pitchFamily="34" charset="0"/>
              </a:rPr>
              <a:t>React event handlers are written inside curly braces:</a:t>
            </a:r>
            <a:endParaRPr lang="en-US" altLang="en-US" dirty="0"/>
          </a:p>
          <a:p>
            <a:pPr defTabSz="685800"/>
            <a:r>
              <a:rPr lang="en-US" altLang="en-US" dirty="0" err="1">
                <a:solidFill>
                  <a:srgbClr val="DC143C"/>
                </a:solidFill>
                <a:latin typeface="Consolas" panose="020B0609020204030204" pitchFamily="49" charset="0"/>
              </a:rPr>
              <a:t>onClick</a:t>
            </a:r>
            <a:r>
              <a:rPr lang="en-US" altLang="en-US" dirty="0">
                <a:solidFill>
                  <a:srgbClr val="DC143C"/>
                </a:solidFill>
                <a:latin typeface="Consolas" panose="020B0609020204030204" pitchFamily="49" charset="0"/>
              </a:rPr>
              <a:t>={shoot}</a:t>
            </a:r>
            <a:r>
              <a:rPr lang="en-US" altLang="en-US" dirty="0">
                <a:solidFill>
                  <a:srgbClr val="000000"/>
                </a:solidFill>
                <a:latin typeface="Verdana" panose="020B0604030504040204" pitchFamily="34" charset="0"/>
              </a:rPr>
              <a:t>  instead of </a:t>
            </a:r>
            <a:r>
              <a:rPr lang="en-US" altLang="en-US" dirty="0" err="1">
                <a:solidFill>
                  <a:srgbClr val="DC143C"/>
                </a:solidFill>
                <a:latin typeface="Consolas" panose="020B0609020204030204" pitchFamily="49" charset="0"/>
              </a:rPr>
              <a:t>onClick</a:t>
            </a:r>
            <a:r>
              <a:rPr lang="en-US" altLang="en-US" dirty="0">
                <a:solidFill>
                  <a:srgbClr val="DC143C"/>
                </a:solidFill>
                <a:latin typeface="Consolas" panose="020B0609020204030204" pitchFamily="49" charset="0"/>
              </a:rPr>
              <a:t>="shoot()"</a:t>
            </a:r>
            <a:r>
              <a:rPr lang="en-US" altLang="en-US" dirty="0">
                <a:solidFill>
                  <a:srgbClr val="000000"/>
                </a:solidFill>
                <a:latin typeface="Verdana" panose="020B0604030504040204" pitchFamily="34" charset="0"/>
              </a:rPr>
              <a:t>.</a:t>
            </a:r>
          </a:p>
          <a:p>
            <a:pPr marL="0" indent="0">
              <a:buFont typeface="Wingdings" pitchFamily="2" charset="2"/>
              <a:buNone/>
            </a:pPr>
            <a:r>
              <a:rPr lang="en-US" sz="1800" dirty="0"/>
              <a:t>There are many events supported by React. Below are some popular events;</a:t>
            </a:r>
          </a:p>
          <a:p>
            <a:pPr defTabSz="685800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838826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React Events</a:t>
            </a:r>
            <a:endParaRPr lang="en-US" sz="3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E01BC5-6EDA-35BA-0F23-0C31B4136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5527" y="2221775"/>
            <a:ext cx="6062427" cy="26770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015DF3-662F-81A4-55D2-02F89F9144BF}"/>
              </a:ext>
            </a:extLst>
          </p:cNvPr>
          <p:cNvSpPr txBox="1"/>
          <p:nvPr/>
        </p:nvSpPr>
        <p:spPr>
          <a:xfrm>
            <a:off x="989617" y="5029482"/>
            <a:ext cx="815438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>
                <a:hlinkClick r:id="rId3"/>
              </a:rPr>
              <a:t>https://www.w3schools.com/react/showreact.asp?filename=demo2_react_events_handler</a:t>
            </a:r>
            <a:endParaRPr lang="en-US" sz="1500" dirty="0"/>
          </a:p>
          <a:p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8343980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React Events</a:t>
            </a:r>
            <a:endParaRPr lang="en-US" sz="3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CF90BD-8887-3219-88AD-C3B67198E434}"/>
              </a:ext>
            </a:extLst>
          </p:cNvPr>
          <p:cNvSpPr txBox="1"/>
          <p:nvPr/>
        </p:nvSpPr>
        <p:spPr>
          <a:xfrm>
            <a:off x="619795" y="2437368"/>
            <a:ext cx="4572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Keyboard Events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Focus Events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Form Events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Generic Events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Mouse Events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Pointer Events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Selection Events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Touch Events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UI Events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Wheel Events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Media Events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Image Events</a:t>
            </a:r>
          </a:p>
        </p:txBody>
      </p:sp>
    </p:spTree>
    <p:extLst>
      <p:ext uri="{BB962C8B-B14F-4D97-AF65-F5344CB8AC3E}">
        <p14:creationId xmlns:p14="http://schemas.microsoft.com/office/powerpoint/2010/main" val="15794419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React Events</a:t>
            </a:r>
            <a:endParaRPr lang="en-US" sz="3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EBBC14-BC86-CA17-2DFB-797D93CE69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00" y="2162343"/>
            <a:ext cx="5156389" cy="253331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7379158-EF92-A081-4B37-2EA2C902BC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342" y="4899664"/>
            <a:ext cx="4065318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>
            <a:lvl1pPr mar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indent="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indent="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indent="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indent="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indent="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indent="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indent="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defTabSz="425196">
              <a:spcAft>
                <a:spcPts val="450"/>
              </a:spcAft>
            </a:pPr>
            <a:r>
              <a:rPr lang="en-US" altLang="en-US" sz="2400" b="1">
                <a:solidFill>
                  <a:srgbClr val="1A1A1A"/>
                </a:solidFill>
                <a:latin typeface="+mn-lt"/>
              </a:rPr>
              <a:t>e</a:t>
            </a:r>
            <a:r>
              <a:rPr lang="en-US" altLang="en-US" sz="2400">
                <a:solidFill>
                  <a:srgbClr val="000000"/>
                </a:solidFill>
                <a:latin typeface="+mn-lt"/>
              </a:rPr>
              <a:t> is a synthetic event.</a:t>
            </a:r>
            <a:r>
              <a:rPr lang="en-US" altLang="en-US" sz="2400">
                <a:latin typeface="+mn-lt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3A1156-4BEF-E172-55CC-559283410FA8}"/>
              </a:ext>
            </a:extLst>
          </p:cNvPr>
          <p:cNvSpPr txBox="1"/>
          <p:nvPr/>
        </p:nvSpPr>
        <p:spPr>
          <a:xfrm>
            <a:off x="418890" y="5266208"/>
            <a:ext cx="8482815" cy="73866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defTabSz="425196" eaLnBrk="0" fontAlgn="base" hangingPunct="0">
              <a:spcBef>
                <a:spcPct val="0"/>
              </a:spcBef>
              <a:spcAft>
                <a:spcPts val="450"/>
              </a:spcAft>
            </a:pPr>
            <a:r>
              <a:rPr lang="en-US" sz="2100" dirty="0">
                <a:solidFill>
                  <a:srgbClr val="1A1A1A"/>
                </a:solidFill>
              </a:rPr>
              <a:t>The </a:t>
            </a:r>
            <a:r>
              <a:rPr lang="en-US" sz="2100" b="1" dirty="0" err="1">
                <a:solidFill>
                  <a:srgbClr val="1A1A1A"/>
                </a:solidFill>
              </a:rPr>
              <a:t>preventDefault</a:t>
            </a:r>
            <a:r>
              <a:rPr lang="en-US" sz="2100" b="1" dirty="0">
                <a:solidFill>
                  <a:srgbClr val="1A1A1A"/>
                </a:solidFill>
              </a:rPr>
              <a:t>() </a:t>
            </a:r>
            <a:r>
              <a:rPr lang="en-US" sz="2100" dirty="0">
                <a:solidFill>
                  <a:srgbClr val="1A1A1A"/>
                </a:solidFill>
              </a:rPr>
              <a:t>method cancels the event if it is cancelable, meaning that the default action that belongs to the event will not occur.</a:t>
            </a:r>
          </a:p>
        </p:txBody>
      </p:sp>
    </p:spTree>
    <p:extLst>
      <p:ext uri="{BB962C8B-B14F-4D97-AF65-F5344CB8AC3E}">
        <p14:creationId xmlns:p14="http://schemas.microsoft.com/office/powerpoint/2010/main" val="17552365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>
                <a:solidFill>
                  <a:schemeClr val="tx1"/>
                </a:solidFill>
                <a:latin typeface="Cambria" panose="02040503050406030204" pitchFamily="18" charset="0"/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496123" y="1579910"/>
            <a:ext cx="714439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W3Schools Online Web Tutorials, URL: </a:t>
            </a:r>
            <a:r>
              <a:rPr lang="en-US" sz="1800" b="1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hlinkClick r:id="rId2"/>
              </a:rPr>
              <a:t>http://www.w3schools.com</a:t>
            </a:r>
            <a:endParaRPr lang="en-US" sz="1800" dirty="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 marL="34290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Next.js, URL: </a:t>
            </a:r>
            <a:r>
              <a:rPr lang="en-US" dirty="0">
                <a:hlinkClick r:id="rId3"/>
              </a:rPr>
              <a:t>https://nextjs.org/</a:t>
            </a:r>
            <a:endParaRPr lang="en-US" dirty="0">
              <a:latin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b="1" dirty="0">
                <a:latin typeface="Times New Roman" panose="02020603050405020304" pitchFamily="18" charset="0"/>
              </a:rPr>
              <a:t>Mozilla Developer Networks, URL: </a:t>
            </a:r>
            <a:r>
              <a:rPr lang="en-US" dirty="0">
                <a:hlinkClick r:id="rId4"/>
              </a:rPr>
              <a:t>https://developer.mozilla.org/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3062145" y="3429000"/>
            <a:ext cx="26418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>
                <a:latin typeface="Cambria" panose="02040503050406030204" pitchFamily="18" charset="0"/>
                <a:ea typeface="Cambria" panose="02040503050406030204" pitchFamily="18" charset="0"/>
              </a:rPr>
              <a:t>Thank You!</a:t>
            </a:r>
            <a:endParaRPr lang="x-none" sz="40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87291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735</TotalTime>
  <Words>1147</Words>
  <Application>Microsoft Office PowerPoint</Application>
  <PresentationFormat>On-screen Show (4:3)</PresentationFormat>
  <Paragraphs>148</Paragraphs>
  <Slides>18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Spectrum</vt:lpstr>
      <vt:lpstr>React Core Concepts</vt:lpstr>
      <vt:lpstr>Lecture Outline</vt:lpstr>
      <vt:lpstr>React Core Concepts</vt:lpstr>
      <vt:lpstr>Functional components </vt:lpstr>
      <vt:lpstr>Props</vt:lpstr>
      <vt:lpstr>Props</vt:lpstr>
      <vt:lpstr>State</vt:lpstr>
      <vt:lpstr>Hooks</vt:lpstr>
      <vt:lpstr>Hooks</vt:lpstr>
      <vt:lpstr>Hooks</vt:lpstr>
      <vt:lpstr>JSX</vt:lpstr>
      <vt:lpstr>JSX</vt:lpstr>
      <vt:lpstr>React Events</vt:lpstr>
      <vt:lpstr>React Events</vt:lpstr>
      <vt:lpstr>React Events</vt:lpstr>
      <vt:lpstr>React Events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3NP_Materials</dc:title>
  <dc:creator>Sazzad Hossain</dc:creator>
  <cp:lastModifiedBy>Sazzad Hossain</cp:lastModifiedBy>
  <cp:revision>198</cp:revision>
  <dcterms:created xsi:type="dcterms:W3CDTF">2018-12-10T17:20:29Z</dcterms:created>
  <dcterms:modified xsi:type="dcterms:W3CDTF">2025-12-27T10:16:24Z</dcterms:modified>
</cp:coreProperties>
</file>