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1"/>
  </p:notesMasterIdLst>
  <p:sldIdLst>
    <p:sldId id="256" r:id="rId2"/>
    <p:sldId id="312" r:id="rId3"/>
    <p:sldId id="257" r:id="rId4"/>
    <p:sldId id="258" r:id="rId5"/>
    <p:sldId id="313" r:id="rId6"/>
    <p:sldId id="315" r:id="rId7"/>
    <p:sldId id="262" r:id="rId8"/>
    <p:sldId id="314" r:id="rId9"/>
    <p:sldId id="316" r:id="rId10"/>
    <p:sldId id="317" r:id="rId11"/>
    <p:sldId id="318" r:id="rId12"/>
    <p:sldId id="260" r:id="rId13"/>
    <p:sldId id="261" r:id="rId14"/>
    <p:sldId id="319" r:id="rId15"/>
    <p:sldId id="320" r:id="rId16"/>
    <p:sldId id="324" r:id="rId17"/>
    <p:sldId id="321" r:id="rId18"/>
    <p:sldId id="334" r:id="rId19"/>
    <p:sldId id="276" r:id="rId20"/>
    <p:sldId id="325" r:id="rId21"/>
    <p:sldId id="330" r:id="rId22"/>
    <p:sldId id="326" r:id="rId23"/>
    <p:sldId id="327" r:id="rId24"/>
    <p:sldId id="328" r:id="rId25"/>
    <p:sldId id="329" r:id="rId26"/>
    <p:sldId id="333" r:id="rId27"/>
    <p:sldId id="278" r:id="rId28"/>
    <p:sldId id="331" r:id="rId29"/>
    <p:sldId id="332" r:id="rId3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Heebo" pitchFamily="2" charset="-79"/>
      <p:regular r:id="rId36"/>
      <p:bold r:id="rId37"/>
    </p:embeddedFont>
    <p:embeddedFont>
      <p:font typeface="Nunito Light" pitchFamily="2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483640-7749-42C7-8867-7B5C8EE8E816}">
  <a:tblStyle styleId="{23483640-7749-42C7-8867-7B5C8EE8E8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51C1EB-4A02-4D1A-831B-4CA442E6BB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96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56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774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2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49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985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5372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56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662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732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402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415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5885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727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13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657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27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7486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6" name="Google Shape;4646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7" name="Google Shape;4647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6" name="Google Shape;4646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7" name="Google Shape;4647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0813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6" name="Google Shape;4646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7" name="Google Shape;4647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51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14600"/>
            <a:ext cx="4528800" cy="27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7530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223475" y="641550"/>
            <a:ext cx="3207300" cy="386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0"/>
            <a:ext cx="9144002" cy="539500"/>
            <a:chOff x="0" y="0"/>
            <a:chExt cx="9144002" cy="539500"/>
          </a:xfrm>
        </p:grpSpPr>
        <p:sp>
          <p:nvSpPr>
            <p:cNvPr id="13" name="Google Shape;13;p2"/>
            <p:cNvSpPr/>
            <p:nvPr/>
          </p:nvSpPr>
          <p:spPr>
            <a:xfrm>
              <a:off x="0" y="0"/>
              <a:ext cx="9144002" cy="533016"/>
            </a:xfrm>
            <a:custGeom>
              <a:avLst/>
              <a:gdLst/>
              <a:ahLst/>
              <a:cxnLst/>
              <a:rect l="l" t="t" r="r" b="b"/>
              <a:pathLst>
                <a:path w="2024" h="361" extrusionOk="0">
                  <a:moveTo>
                    <a:pt x="0" y="0"/>
                  </a:moveTo>
                  <a:cubicBezTo>
                    <a:pt x="0" y="346"/>
                    <a:pt x="0" y="346"/>
                    <a:pt x="0" y="346"/>
                  </a:cubicBezTo>
                  <a:cubicBezTo>
                    <a:pt x="6" y="347"/>
                    <a:pt x="13" y="347"/>
                    <a:pt x="20" y="348"/>
                  </a:cubicBezTo>
                  <a:cubicBezTo>
                    <a:pt x="100" y="357"/>
                    <a:pt x="184" y="357"/>
                    <a:pt x="265" y="352"/>
                  </a:cubicBezTo>
                  <a:cubicBezTo>
                    <a:pt x="450" y="341"/>
                    <a:pt x="623" y="310"/>
                    <a:pt x="798" y="284"/>
                  </a:cubicBezTo>
                  <a:cubicBezTo>
                    <a:pt x="882" y="272"/>
                    <a:pt x="967" y="260"/>
                    <a:pt x="1054" y="253"/>
                  </a:cubicBezTo>
                  <a:cubicBezTo>
                    <a:pt x="1154" y="245"/>
                    <a:pt x="1250" y="248"/>
                    <a:pt x="1346" y="260"/>
                  </a:cubicBezTo>
                  <a:cubicBezTo>
                    <a:pt x="1462" y="276"/>
                    <a:pt x="1567" y="301"/>
                    <a:pt x="1678" y="321"/>
                  </a:cubicBezTo>
                  <a:cubicBezTo>
                    <a:pt x="1788" y="340"/>
                    <a:pt x="1904" y="355"/>
                    <a:pt x="2024" y="361"/>
                  </a:cubicBezTo>
                  <a:cubicBezTo>
                    <a:pt x="2024" y="0"/>
                    <a:pt x="2024" y="0"/>
                    <a:pt x="20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226852"/>
              <a:ext cx="9144002" cy="312648"/>
            </a:xfrm>
            <a:custGeom>
              <a:avLst/>
              <a:gdLst/>
              <a:ahLst/>
              <a:cxnLst/>
              <a:rect l="l" t="t" r="r" b="b"/>
              <a:pathLst>
                <a:path w="2024" h="212" extrusionOk="0">
                  <a:moveTo>
                    <a:pt x="2003" y="110"/>
                  </a:moveTo>
                  <a:cubicBezTo>
                    <a:pt x="1924" y="119"/>
                    <a:pt x="1839" y="119"/>
                    <a:pt x="1758" y="114"/>
                  </a:cubicBezTo>
                  <a:cubicBezTo>
                    <a:pt x="1574" y="102"/>
                    <a:pt x="1400" y="68"/>
                    <a:pt x="1226" y="41"/>
                  </a:cubicBezTo>
                  <a:cubicBezTo>
                    <a:pt x="1142" y="28"/>
                    <a:pt x="1057" y="16"/>
                    <a:pt x="969" y="9"/>
                  </a:cubicBezTo>
                  <a:cubicBezTo>
                    <a:pt x="870" y="0"/>
                    <a:pt x="774" y="3"/>
                    <a:pt x="677" y="16"/>
                  </a:cubicBezTo>
                  <a:cubicBezTo>
                    <a:pt x="562" y="32"/>
                    <a:pt x="457" y="59"/>
                    <a:pt x="346" y="80"/>
                  </a:cubicBezTo>
                  <a:cubicBezTo>
                    <a:pt x="235" y="101"/>
                    <a:pt x="120" y="117"/>
                    <a:pt x="0" y="123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6" y="198"/>
                    <a:pt x="13" y="198"/>
                    <a:pt x="20" y="199"/>
                  </a:cubicBezTo>
                  <a:cubicBezTo>
                    <a:pt x="100" y="208"/>
                    <a:pt x="184" y="208"/>
                    <a:pt x="265" y="203"/>
                  </a:cubicBezTo>
                  <a:cubicBezTo>
                    <a:pt x="450" y="192"/>
                    <a:pt x="623" y="161"/>
                    <a:pt x="798" y="135"/>
                  </a:cubicBezTo>
                  <a:cubicBezTo>
                    <a:pt x="882" y="123"/>
                    <a:pt x="967" y="111"/>
                    <a:pt x="1054" y="104"/>
                  </a:cubicBezTo>
                  <a:cubicBezTo>
                    <a:pt x="1154" y="96"/>
                    <a:pt x="1250" y="99"/>
                    <a:pt x="1346" y="111"/>
                  </a:cubicBezTo>
                  <a:cubicBezTo>
                    <a:pt x="1462" y="127"/>
                    <a:pt x="1567" y="152"/>
                    <a:pt x="1678" y="172"/>
                  </a:cubicBezTo>
                  <a:cubicBezTo>
                    <a:pt x="1788" y="191"/>
                    <a:pt x="1904" y="206"/>
                    <a:pt x="2024" y="212"/>
                  </a:cubicBezTo>
                  <a:cubicBezTo>
                    <a:pt x="2024" y="107"/>
                    <a:pt x="2024" y="107"/>
                    <a:pt x="2024" y="107"/>
                  </a:cubicBezTo>
                  <a:cubicBezTo>
                    <a:pt x="2017" y="108"/>
                    <a:pt x="2010" y="109"/>
                    <a:pt x="2003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0" y="4417950"/>
            <a:ext cx="9144801" cy="725550"/>
            <a:chOff x="0" y="4417950"/>
            <a:chExt cx="9144801" cy="72555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4374851" y="373549"/>
              <a:ext cx="395100" cy="9144801"/>
            </a:xfrm>
            <a:custGeom>
              <a:avLst/>
              <a:gdLst/>
              <a:ahLst/>
              <a:cxnLst/>
              <a:rect l="l" t="t" r="r" b="b"/>
              <a:pathLst>
                <a:path w="169" h="2452" extrusionOk="0">
                  <a:moveTo>
                    <a:pt x="144" y="2452"/>
                  </a:moveTo>
                  <a:cubicBezTo>
                    <a:pt x="148" y="2412"/>
                    <a:pt x="150" y="2368"/>
                    <a:pt x="151" y="2323"/>
                  </a:cubicBezTo>
                  <a:cubicBezTo>
                    <a:pt x="154" y="2181"/>
                    <a:pt x="145" y="2057"/>
                    <a:pt x="132" y="1932"/>
                  </a:cubicBezTo>
                  <a:cubicBezTo>
                    <a:pt x="120" y="1814"/>
                    <a:pt x="104" y="1698"/>
                    <a:pt x="97" y="1570"/>
                  </a:cubicBezTo>
                  <a:cubicBezTo>
                    <a:pt x="90" y="1435"/>
                    <a:pt x="91" y="1291"/>
                    <a:pt x="98" y="1156"/>
                  </a:cubicBezTo>
                  <a:cubicBezTo>
                    <a:pt x="105" y="1017"/>
                    <a:pt x="118" y="886"/>
                    <a:pt x="132" y="760"/>
                  </a:cubicBezTo>
                  <a:cubicBezTo>
                    <a:pt x="146" y="630"/>
                    <a:pt x="162" y="497"/>
                    <a:pt x="166" y="348"/>
                  </a:cubicBezTo>
                  <a:cubicBezTo>
                    <a:pt x="169" y="225"/>
                    <a:pt x="162" y="112"/>
                    <a:pt x="1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52"/>
                    <a:pt x="0" y="2452"/>
                    <a:pt x="0" y="2452"/>
                  </a:cubicBezTo>
                  <a:lnTo>
                    <a:pt x="144" y="24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4610475"/>
              <a:ext cx="2794449" cy="533023"/>
            </a:xfrm>
            <a:custGeom>
              <a:avLst/>
              <a:gdLst/>
              <a:ahLst/>
              <a:cxnLst/>
              <a:rect l="l" t="t" r="r" b="b"/>
              <a:pathLst>
                <a:path w="1719" h="746" extrusionOk="0">
                  <a:moveTo>
                    <a:pt x="277" y="158"/>
                  </a:moveTo>
                  <a:cubicBezTo>
                    <a:pt x="348" y="214"/>
                    <a:pt x="421" y="275"/>
                    <a:pt x="500" y="291"/>
                  </a:cubicBezTo>
                  <a:cubicBezTo>
                    <a:pt x="611" y="312"/>
                    <a:pt x="719" y="260"/>
                    <a:pt x="824" y="204"/>
                  </a:cubicBezTo>
                  <a:cubicBezTo>
                    <a:pt x="930" y="147"/>
                    <a:pt x="1038" y="91"/>
                    <a:pt x="1151" y="98"/>
                  </a:cubicBezTo>
                  <a:cubicBezTo>
                    <a:pt x="1248" y="104"/>
                    <a:pt x="1340" y="156"/>
                    <a:pt x="1422" y="242"/>
                  </a:cubicBezTo>
                  <a:cubicBezTo>
                    <a:pt x="1543" y="370"/>
                    <a:pt x="1635" y="555"/>
                    <a:pt x="1719" y="746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3" y="10"/>
                    <a:pt x="194" y="94"/>
                    <a:pt x="27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452375" y="4417950"/>
              <a:ext cx="3691626" cy="725550"/>
            </a:xfrm>
            <a:custGeom>
              <a:avLst/>
              <a:gdLst/>
              <a:ahLst/>
              <a:cxnLst/>
              <a:rect l="l" t="t" r="r" b="b"/>
              <a:pathLst>
                <a:path w="1009" h="313" extrusionOk="0">
                  <a:moveTo>
                    <a:pt x="764" y="113"/>
                  </a:moveTo>
                  <a:cubicBezTo>
                    <a:pt x="710" y="139"/>
                    <a:pt x="652" y="160"/>
                    <a:pt x="590" y="167"/>
                  </a:cubicBezTo>
                  <a:cubicBezTo>
                    <a:pt x="513" y="177"/>
                    <a:pt x="437" y="165"/>
                    <a:pt x="360" y="160"/>
                  </a:cubicBezTo>
                  <a:cubicBezTo>
                    <a:pt x="282" y="154"/>
                    <a:pt x="202" y="157"/>
                    <a:pt x="133" y="192"/>
                  </a:cubicBezTo>
                  <a:cubicBezTo>
                    <a:pt x="79" y="219"/>
                    <a:pt x="39" y="261"/>
                    <a:pt x="5" y="307"/>
                  </a:cubicBezTo>
                  <a:cubicBezTo>
                    <a:pt x="3" y="309"/>
                    <a:pt x="2" y="311"/>
                    <a:pt x="0" y="313"/>
                  </a:cubicBezTo>
                  <a:cubicBezTo>
                    <a:pt x="1009" y="313"/>
                    <a:pt x="1009" y="313"/>
                    <a:pt x="1009" y="313"/>
                  </a:cubicBezTo>
                  <a:cubicBezTo>
                    <a:pt x="1009" y="0"/>
                    <a:pt x="1009" y="0"/>
                    <a:pt x="1009" y="0"/>
                  </a:cubicBezTo>
                  <a:cubicBezTo>
                    <a:pt x="923" y="26"/>
                    <a:pt x="845" y="74"/>
                    <a:pt x="764" y="1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953875" y="2131025"/>
            <a:ext cx="29046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4953875" y="828688"/>
            <a:ext cx="900900" cy="1128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4953875" y="3674000"/>
            <a:ext cx="29046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1245325" y="641550"/>
            <a:ext cx="3207300" cy="386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oogle Shape;24;p3"/>
          <p:cNvGrpSpPr/>
          <p:nvPr/>
        </p:nvGrpSpPr>
        <p:grpSpPr>
          <a:xfrm>
            <a:off x="-3024" y="-4535"/>
            <a:ext cx="747099" cy="5155199"/>
            <a:chOff x="-3024" y="-4535"/>
            <a:chExt cx="747099" cy="5155199"/>
          </a:xfrm>
        </p:grpSpPr>
        <p:sp>
          <p:nvSpPr>
            <p:cNvPr id="25" name="Google Shape;25;p3"/>
            <p:cNvSpPr/>
            <p:nvPr/>
          </p:nvSpPr>
          <p:spPr>
            <a:xfrm rot="10800000">
              <a:off x="-3024" y="-4523"/>
              <a:ext cx="747099" cy="5148023"/>
            </a:xfrm>
            <a:custGeom>
              <a:avLst/>
              <a:gdLst/>
              <a:ahLst/>
              <a:cxnLst/>
              <a:rect l="l" t="t" r="r" b="b"/>
              <a:pathLst>
                <a:path w="851" h="2452" extrusionOk="0">
                  <a:moveTo>
                    <a:pt x="0" y="0"/>
                  </a:moveTo>
                  <a:cubicBezTo>
                    <a:pt x="8" y="46"/>
                    <a:pt x="17" y="90"/>
                    <a:pt x="25" y="130"/>
                  </a:cubicBezTo>
                  <a:cubicBezTo>
                    <a:pt x="51" y="264"/>
                    <a:pt x="81" y="397"/>
                    <a:pt x="101" y="537"/>
                  </a:cubicBezTo>
                  <a:cubicBezTo>
                    <a:pt x="111" y="610"/>
                    <a:pt x="113" y="673"/>
                    <a:pt x="108" y="749"/>
                  </a:cubicBezTo>
                  <a:cubicBezTo>
                    <a:pt x="103" y="843"/>
                    <a:pt x="93" y="939"/>
                    <a:pt x="100" y="1033"/>
                  </a:cubicBezTo>
                  <a:cubicBezTo>
                    <a:pt x="111" y="1203"/>
                    <a:pt x="185" y="1317"/>
                    <a:pt x="221" y="1463"/>
                  </a:cubicBezTo>
                  <a:cubicBezTo>
                    <a:pt x="267" y="1653"/>
                    <a:pt x="240" y="1862"/>
                    <a:pt x="194" y="2037"/>
                  </a:cubicBezTo>
                  <a:cubicBezTo>
                    <a:pt x="170" y="2130"/>
                    <a:pt x="141" y="2219"/>
                    <a:pt x="118" y="2314"/>
                  </a:cubicBezTo>
                  <a:cubicBezTo>
                    <a:pt x="108" y="2359"/>
                    <a:pt x="99" y="2405"/>
                    <a:pt x="92" y="2452"/>
                  </a:cubicBezTo>
                  <a:cubicBezTo>
                    <a:pt x="851" y="2452"/>
                    <a:pt x="851" y="2452"/>
                    <a:pt x="851" y="2452"/>
                  </a:cubicBezTo>
                  <a:cubicBezTo>
                    <a:pt x="851" y="0"/>
                    <a:pt x="851" y="0"/>
                    <a:pt x="8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rot="5400000">
              <a:off x="-2311100" y="2306565"/>
              <a:ext cx="5155199" cy="533000"/>
            </a:xfrm>
            <a:custGeom>
              <a:avLst/>
              <a:gdLst/>
              <a:ahLst/>
              <a:cxnLst/>
              <a:rect l="l" t="t" r="r" b="b"/>
              <a:pathLst>
                <a:path w="1719" h="746" extrusionOk="0">
                  <a:moveTo>
                    <a:pt x="277" y="158"/>
                  </a:moveTo>
                  <a:cubicBezTo>
                    <a:pt x="348" y="214"/>
                    <a:pt x="421" y="275"/>
                    <a:pt x="500" y="291"/>
                  </a:cubicBezTo>
                  <a:cubicBezTo>
                    <a:pt x="611" y="312"/>
                    <a:pt x="719" y="260"/>
                    <a:pt x="824" y="204"/>
                  </a:cubicBezTo>
                  <a:cubicBezTo>
                    <a:pt x="930" y="147"/>
                    <a:pt x="1038" y="91"/>
                    <a:pt x="1151" y="98"/>
                  </a:cubicBezTo>
                  <a:cubicBezTo>
                    <a:pt x="1248" y="104"/>
                    <a:pt x="1340" y="156"/>
                    <a:pt x="1422" y="242"/>
                  </a:cubicBezTo>
                  <a:cubicBezTo>
                    <a:pt x="1543" y="370"/>
                    <a:pt x="1635" y="555"/>
                    <a:pt x="1719" y="746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3" y="10"/>
                    <a:pt x="194" y="94"/>
                    <a:pt x="27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0" name="Google Shape;30;p4"/>
          <p:cNvGrpSpPr/>
          <p:nvPr/>
        </p:nvGrpSpPr>
        <p:grpSpPr>
          <a:xfrm>
            <a:off x="7917025" y="-10804"/>
            <a:ext cx="1226975" cy="1770805"/>
            <a:chOff x="7917025" y="-10804"/>
            <a:chExt cx="1226975" cy="1770805"/>
          </a:xfrm>
        </p:grpSpPr>
        <p:sp>
          <p:nvSpPr>
            <p:cNvPr id="31" name="Google Shape;31;p4"/>
            <p:cNvSpPr/>
            <p:nvPr/>
          </p:nvSpPr>
          <p:spPr>
            <a:xfrm rot="-5400000" flipH="1">
              <a:off x="8009387" y="625388"/>
              <a:ext cx="1767175" cy="502050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10800000">
              <a:off x="7917025" y="-10804"/>
              <a:ext cx="1226975" cy="263550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4"/>
          <p:cNvGrpSpPr/>
          <p:nvPr/>
        </p:nvGrpSpPr>
        <p:grpSpPr>
          <a:xfrm>
            <a:off x="-181800" y="-7190"/>
            <a:ext cx="736150" cy="5150699"/>
            <a:chOff x="-181800" y="-7190"/>
            <a:chExt cx="736150" cy="5150699"/>
          </a:xfrm>
        </p:grpSpPr>
        <p:sp>
          <p:nvSpPr>
            <p:cNvPr id="34" name="Google Shape;34;p4"/>
            <p:cNvSpPr/>
            <p:nvPr/>
          </p:nvSpPr>
          <p:spPr>
            <a:xfrm rot="-5400000">
              <a:off x="-2396249" y="2207276"/>
              <a:ext cx="5150674" cy="721775"/>
            </a:xfrm>
            <a:custGeom>
              <a:avLst/>
              <a:gdLst/>
              <a:ahLst/>
              <a:cxnLst/>
              <a:rect l="l" t="t" r="r" b="b"/>
              <a:pathLst>
                <a:path w="1255" h="442" extrusionOk="0">
                  <a:moveTo>
                    <a:pt x="193" y="435"/>
                  </a:moveTo>
                  <a:cubicBezTo>
                    <a:pt x="372" y="416"/>
                    <a:pt x="534" y="342"/>
                    <a:pt x="705" y="297"/>
                  </a:cubicBezTo>
                  <a:cubicBezTo>
                    <a:pt x="882" y="251"/>
                    <a:pt x="1072" y="250"/>
                    <a:pt x="1255" y="267"/>
                  </a:cubicBezTo>
                  <a:cubicBezTo>
                    <a:pt x="1255" y="0"/>
                    <a:pt x="1255" y="0"/>
                    <a:pt x="12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3" y="437"/>
                    <a:pt x="127" y="442"/>
                    <a:pt x="193" y="4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rot="-5400000">
              <a:off x="-2271250" y="2317909"/>
              <a:ext cx="5150699" cy="500500"/>
            </a:xfrm>
            <a:custGeom>
              <a:avLst/>
              <a:gdLst/>
              <a:ahLst/>
              <a:cxnLst/>
              <a:rect l="l" t="t" r="r" b="b"/>
              <a:pathLst>
                <a:path w="1266" h="306" extrusionOk="0">
                  <a:moveTo>
                    <a:pt x="191" y="299"/>
                  </a:moveTo>
                  <a:cubicBezTo>
                    <a:pt x="370" y="280"/>
                    <a:pt x="532" y="206"/>
                    <a:pt x="703" y="161"/>
                  </a:cubicBezTo>
                  <a:cubicBezTo>
                    <a:pt x="884" y="114"/>
                    <a:pt x="1079" y="114"/>
                    <a:pt x="1265" y="132"/>
                  </a:cubicBezTo>
                  <a:cubicBezTo>
                    <a:pt x="1266" y="85"/>
                    <a:pt x="1266" y="85"/>
                    <a:pt x="1266" y="85"/>
                  </a:cubicBezTo>
                  <a:cubicBezTo>
                    <a:pt x="1048" y="105"/>
                    <a:pt x="860" y="117"/>
                    <a:pt x="640" y="106"/>
                  </a:cubicBezTo>
                  <a:cubicBezTo>
                    <a:pt x="522" y="100"/>
                    <a:pt x="402" y="89"/>
                    <a:pt x="288" y="68"/>
                  </a:cubicBezTo>
                  <a:cubicBezTo>
                    <a:pt x="190" y="49"/>
                    <a:pt x="95" y="24"/>
                    <a:pt x="0" y="0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62" y="301"/>
                    <a:pt x="125" y="306"/>
                    <a:pt x="191" y="2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720000" y="1576450"/>
            <a:ext cx="42948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>
            <a:spLocks noGrp="1"/>
          </p:cNvSpPr>
          <p:nvPr>
            <p:ph type="pic" idx="2"/>
          </p:nvPr>
        </p:nvSpPr>
        <p:spPr>
          <a:xfrm>
            <a:off x="5223475" y="641550"/>
            <a:ext cx="3207300" cy="386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oogle Shape;56;p7"/>
          <p:cNvGrpSpPr/>
          <p:nvPr/>
        </p:nvGrpSpPr>
        <p:grpSpPr>
          <a:xfrm>
            <a:off x="0" y="0"/>
            <a:ext cx="539500" cy="5143500"/>
            <a:chOff x="0" y="0"/>
            <a:chExt cx="539500" cy="5143500"/>
          </a:xfrm>
        </p:grpSpPr>
        <p:sp>
          <p:nvSpPr>
            <p:cNvPr id="57" name="Google Shape;57;p7"/>
            <p:cNvSpPr/>
            <p:nvPr/>
          </p:nvSpPr>
          <p:spPr>
            <a:xfrm rot="-5400000">
              <a:off x="-2305242" y="2305242"/>
              <a:ext cx="5143500" cy="533016"/>
            </a:xfrm>
            <a:custGeom>
              <a:avLst/>
              <a:gdLst/>
              <a:ahLst/>
              <a:cxnLst/>
              <a:rect l="l" t="t" r="r" b="b"/>
              <a:pathLst>
                <a:path w="2024" h="361" extrusionOk="0">
                  <a:moveTo>
                    <a:pt x="0" y="0"/>
                  </a:moveTo>
                  <a:cubicBezTo>
                    <a:pt x="0" y="346"/>
                    <a:pt x="0" y="346"/>
                    <a:pt x="0" y="346"/>
                  </a:cubicBezTo>
                  <a:cubicBezTo>
                    <a:pt x="6" y="347"/>
                    <a:pt x="13" y="347"/>
                    <a:pt x="20" y="348"/>
                  </a:cubicBezTo>
                  <a:cubicBezTo>
                    <a:pt x="100" y="357"/>
                    <a:pt x="184" y="357"/>
                    <a:pt x="265" y="352"/>
                  </a:cubicBezTo>
                  <a:cubicBezTo>
                    <a:pt x="450" y="341"/>
                    <a:pt x="623" y="310"/>
                    <a:pt x="798" y="284"/>
                  </a:cubicBezTo>
                  <a:cubicBezTo>
                    <a:pt x="882" y="272"/>
                    <a:pt x="967" y="260"/>
                    <a:pt x="1054" y="253"/>
                  </a:cubicBezTo>
                  <a:cubicBezTo>
                    <a:pt x="1154" y="245"/>
                    <a:pt x="1250" y="248"/>
                    <a:pt x="1346" y="260"/>
                  </a:cubicBezTo>
                  <a:cubicBezTo>
                    <a:pt x="1462" y="276"/>
                    <a:pt x="1567" y="301"/>
                    <a:pt x="1678" y="321"/>
                  </a:cubicBezTo>
                  <a:cubicBezTo>
                    <a:pt x="1788" y="340"/>
                    <a:pt x="1904" y="355"/>
                    <a:pt x="2024" y="361"/>
                  </a:cubicBezTo>
                  <a:cubicBezTo>
                    <a:pt x="2024" y="0"/>
                    <a:pt x="2024" y="0"/>
                    <a:pt x="20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 rot="-5400000">
              <a:off x="-2188574" y="2415426"/>
              <a:ext cx="5143500" cy="312648"/>
            </a:xfrm>
            <a:custGeom>
              <a:avLst/>
              <a:gdLst/>
              <a:ahLst/>
              <a:cxnLst/>
              <a:rect l="l" t="t" r="r" b="b"/>
              <a:pathLst>
                <a:path w="2024" h="212" extrusionOk="0">
                  <a:moveTo>
                    <a:pt x="2003" y="110"/>
                  </a:moveTo>
                  <a:cubicBezTo>
                    <a:pt x="1924" y="119"/>
                    <a:pt x="1839" y="119"/>
                    <a:pt x="1758" y="114"/>
                  </a:cubicBezTo>
                  <a:cubicBezTo>
                    <a:pt x="1574" y="102"/>
                    <a:pt x="1400" y="68"/>
                    <a:pt x="1226" y="41"/>
                  </a:cubicBezTo>
                  <a:cubicBezTo>
                    <a:pt x="1142" y="28"/>
                    <a:pt x="1057" y="16"/>
                    <a:pt x="969" y="9"/>
                  </a:cubicBezTo>
                  <a:cubicBezTo>
                    <a:pt x="870" y="0"/>
                    <a:pt x="774" y="3"/>
                    <a:pt x="677" y="16"/>
                  </a:cubicBezTo>
                  <a:cubicBezTo>
                    <a:pt x="562" y="32"/>
                    <a:pt x="457" y="59"/>
                    <a:pt x="346" y="80"/>
                  </a:cubicBezTo>
                  <a:cubicBezTo>
                    <a:pt x="235" y="101"/>
                    <a:pt x="120" y="117"/>
                    <a:pt x="0" y="123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6" y="198"/>
                    <a:pt x="13" y="198"/>
                    <a:pt x="20" y="199"/>
                  </a:cubicBezTo>
                  <a:cubicBezTo>
                    <a:pt x="100" y="208"/>
                    <a:pt x="184" y="208"/>
                    <a:pt x="265" y="203"/>
                  </a:cubicBezTo>
                  <a:cubicBezTo>
                    <a:pt x="450" y="192"/>
                    <a:pt x="623" y="161"/>
                    <a:pt x="798" y="135"/>
                  </a:cubicBezTo>
                  <a:cubicBezTo>
                    <a:pt x="882" y="123"/>
                    <a:pt x="967" y="111"/>
                    <a:pt x="1054" y="104"/>
                  </a:cubicBezTo>
                  <a:cubicBezTo>
                    <a:pt x="1154" y="96"/>
                    <a:pt x="1250" y="99"/>
                    <a:pt x="1346" y="111"/>
                  </a:cubicBezTo>
                  <a:cubicBezTo>
                    <a:pt x="1462" y="127"/>
                    <a:pt x="1567" y="152"/>
                    <a:pt x="1678" y="172"/>
                  </a:cubicBezTo>
                  <a:cubicBezTo>
                    <a:pt x="1788" y="191"/>
                    <a:pt x="1904" y="206"/>
                    <a:pt x="2024" y="212"/>
                  </a:cubicBezTo>
                  <a:cubicBezTo>
                    <a:pt x="2024" y="107"/>
                    <a:pt x="2024" y="107"/>
                    <a:pt x="2024" y="107"/>
                  </a:cubicBezTo>
                  <a:cubicBezTo>
                    <a:pt x="2017" y="108"/>
                    <a:pt x="2010" y="109"/>
                    <a:pt x="2003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7"/>
          <p:cNvSpPr/>
          <p:nvPr/>
        </p:nvSpPr>
        <p:spPr>
          <a:xfrm>
            <a:off x="5452375" y="4417950"/>
            <a:ext cx="3691626" cy="725550"/>
          </a:xfrm>
          <a:custGeom>
            <a:avLst/>
            <a:gdLst/>
            <a:ahLst/>
            <a:cxnLst/>
            <a:rect l="l" t="t" r="r" b="b"/>
            <a:pathLst>
              <a:path w="1009" h="313" extrusionOk="0">
                <a:moveTo>
                  <a:pt x="764" y="113"/>
                </a:moveTo>
                <a:cubicBezTo>
                  <a:pt x="710" y="139"/>
                  <a:pt x="652" y="160"/>
                  <a:pt x="590" y="167"/>
                </a:cubicBezTo>
                <a:cubicBezTo>
                  <a:pt x="513" y="177"/>
                  <a:pt x="437" y="165"/>
                  <a:pt x="360" y="160"/>
                </a:cubicBezTo>
                <a:cubicBezTo>
                  <a:pt x="282" y="154"/>
                  <a:pt x="202" y="157"/>
                  <a:pt x="133" y="192"/>
                </a:cubicBezTo>
                <a:cubicBezTo>
                  <a:pt x="79" y="219"/>
                  <a:pt x="39" y="261"/>
                  <a:pt x="5" y="307"/>
                </a:cubicBezTo>
                <a:cubicBezTo>
                  <a:pt x="3" y="309"/>
                  <a:pt x="2" y="311"/>
                  <a:pt x="0" y="313"/>
                </a:cubicBezTo>
                <a:cubicBezTo>
                  <a:pt x="1009" y="313"/>
                  <a:pt x="1009" y="313"/>
                  <a:pt x="1009" y="313"/>
                </a:cubicBezTo>
                <a:cubicBezTo>
                  <a:pt x="1009" y="0"/>
                  <a:pt x="1009" y="0"/>
                  <a:pt x="1009" y="0"/>
                </a:cubicBezTo>
                <a:cubicBezTo>
                  <a:pt x="923" y="26"/>
                  <a:pt x="845" y="74"/>
                  <a:pt x="764" y="11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1736175" y="1960975"/>
            <a:ext cx="26880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2"/>
          </p:nvPr>
        </p:nvSpPr>
        <p:spPr>
          <a:xfrm>
            <a:off x="5606921" y="1960975"/>
            <a:ext cx="26880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3"/>
          </p:nvPr>
        </p:nvSpPr>
        <p:spPr>
          <a:xfrm>
            <a:off x="1736175" y="3428763"/>
            <a:ext cx="26880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4"/>
          </p:nvPr>
        </p:nvSpPr>
        <p:spPr>
          <a:xfrm>
            <a:off x="5606921" y="3428763"/>
            <a:ext cx="26880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5" hasCustomPrompt="1"/>
          </p:nvPr>
        </p:nvSpPr>
        <p:spPr>
          <a:xfrm>
            <a:off x="849075" y="1615240"/>
            <a:ext cx="734700" cy="97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6" hasCustomPrompt="1"/>
          </p:nvPr>
        </p:nvSpPr>
        <p:spPr>
          <a:xfrm>
            <a:off x="849074" y="3083135"/>
            <a:ext cx="734700" cy="97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7" hasCustomPrompt="1"/>
          </p:nvPr>
        </p:nvSpPr>
        <p:spPr>
          <a:xfrm>
            <a:off x="4719825" y="1615240"/>
            <a:ext cx="734700" cy="97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8" hasCustomPrompt="1"/>
          </p:nvPr>
        </p:nvSpPr>
        <p:spPr>
          <a:xfrm>
            <a:off x="4719825" y="3083125"/>
            <a:ext cx="734700" cy="97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9"/>
          </p:nvPr>
        </p:nvSpPr>
        <p:spPr>
          <a:xfrm>
            <a:off x="1736175" y="1615250"/>
            <a:ext cx="26880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3"/>
          </p:nvPr>
        </p:nvSpPr>
        <p:spPr>
          <a:xfrm>
            <a:off x="5606926" y="1615250"/>
            <a:ext cx="26880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4"/>
          </p:nvPr>
        </p:nvSpPr>
        <p:spPr>
          <a:xfrm>
            <a:off x="1736175" y="3083088"/>
            <a:ext cx="26880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5"/>
          </p:nvPr>
        </p:nvSpPr>
        <p:spPr>
          <a:xfrm>
            <a:off x="5606926" y="3083088"/>
            <a:ext cx="26880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g Shoulders Text"/>
              <a:buNone/>
              <a:defRPr sz="2400" b="1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grpSp>
        <p:nvGrpSpPr>
          <p:cNvPr id="105" name="Google Shape;105;p13"/>
          <p:cNvGrpSpPr/>
          <p:nvPr/>
        </p:nvGrpSpPr>
        <p:grpSpPr>
          <a:xfrm>
            <a:off x="8365876" y="-176"/>
            <a:ext cx="806859" cy="5143673"/>
            <a:chOff x="8365876" y="-176"/>
            <a:chExt cx="806859" cy="5143673"/>
          </a:xfrm>
        </p:grpSpPr>
        <p:sp>
          <p:nvSpPr>
            <p:cNvPr id="106" name="Google Shape;106;p13"/>
            <p:cNvSpPr/>
            <p:nvPr/>
          </p:nvSpPr>
          <p:spPr>
            <a:xfrm rot="5400000">
              <a:off x="6202091" y="2172854"/>
              <a:ext cx="5143498" cy="797789"/>
            </a:xfrm>
            <a:custGeom>
              <a:avLst/>
              <a:gdLst/>
              <a:ahLst/>
              <a:cxnLst/>
              <a:rect l="l" t="t" r="r" b="b"/>
              <a:pathLst>
                <a:path w="2058" h="395" extrusionOk="0">
                  <a:moveTo>
                    <a:pt x="322" y="389"/>
                  </a:moveTo>
                  <a:cubicBezTo>
                    <a:pt x="613" y="370"/>
                    <a:pt x="877" y="299"/>
                    <a:pt x="1156" y="256"/>
                  </a:cubicBezTo>
                  <a:cubicBezTo>
                    <a:pt x="1446" y="211"/>
                    <a:pt x="1759" y="211"/>
                    <a:pt x="2058" y="227"/>
                  </a:cubicBezTo>
                  <a:cubicBezTo>
                    <a:pt x="2058" y="0"/>
                    <a:pt x="2058" y="0"/>
                    <a:pt x="205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104" y="390"/>
                    <a:pt x="211" y="395"/>
                    <a:pt x="322" y="3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 rot="5400000">
              <a:off x="6995334" y="1370366"/>
              <a:ext cx="3274830" cy="533746"/>
            </a:xfrm>
            <a:custGeom>
              <a:avLst/>
              <a:gdLst/>
              <a:ahLst/>
              <a:cxnLst/>
              <a:rect l="l" t="t" r="r" b="b"/>
              <a:pathLst>
                <a:path w="1310" h="265" extrusionOk="0">
                  <a:moveTo>
                    <a:pt x="331" y="258"/>
                  </a:moveTo>
                  <a:cubicBezTo>
                    <a:pt x="620" y="239"/>
                    <a:pt x="883" y="168"/>
                    <a:pt x="1160" y="125"/>
                  </a:cubicBezTo>
                  <a:cubicBezTo>
                    <a:pt x="1209" y="117"/>
                    <a:pt x="1259" y="111"/>
                    <a:pt x="1310" y="106"/>
                  </a:cubicBezTo>
                  <a:cubicBezTo>
                    <a:pt x="1223" y="106"/>
                    <a:pt x="1137" y="104"/>
                    <a:pt x="1050" y="102"/>
                  </a:cubicBezTo>
                  <a:cubicBezTo>
                    <a:pt x="856" y="96"/>
                    <a:pt x="660" y="86"/>
                    <a:pt x="472" y="65"/>
                  </a:cubicBezTo>
                  <a:cubicBezTo>
                    <a:pt x="312" y="47"/>
                    <a:pt x="156" y="23"/>
                    <a:pt x="0" y="0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07" y="258"/>
                    <a:pt x="217" y="265"/>
                    <a:pt x="331" y="2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3"/>
          <p:cNvSpPr/>
          <p:nvPr/>
        </p:nvSpPr>
        <p:spPr>
          <a:xfrm rot="5400000">
            <a:off x="-696925" y="3831177"/>
            <a:ext cx="2009250" cy="615400"/>
          </a:xfrm>
          <a:custGeom>
            <a:avLst/>
            <a:gdLst/>
            <a:ahLst/>
            <a:cxnLst/>
            <a:rect l="l" t="t" r="r" b="b"/>
            <a:pathLst>
              <a:path w="817" h="250" extrusionOk="0">
                <a:moveTo>
                  <a:pt x="619" y="90"/>
                </a:moveTo>
                <a:cubicBezTo>
                  <a:pt x="575" y="110"/>
                  <a:pt x="528" y="127"/>
                  <a:pt x="478" y="133"/>
                </a:cubicBezTo>
                <a:cubicBezTo>
                  <a:pt x="416" y="141"/>
                  <a:pt x="354" y="132"/>
                  <a:pt x="291" y="127"/>
                </a:cubicBezTo>
                <a:cubicBezTo>
                  <a:pt x="228" y="123"/>
                  <a:pt x="164" y="125"/>
                  <a:pt x="107" y="153"/>
                </a:cubicBezTo>
                <a:cubicBezTo>
                  <a:pt x="64" y="175"/>
                  <a:pt x="31" y="209"/>
                  <a:pt x="4" y="245"/>
                </a:cubicBezTo>
                <a:cubicBezTo>
                  <a:pt x="2" y="247"/>
                  <a:pt x="1" y="248"/>
                  <a:pt x="0" y="250"/>
                </a:cubicBezTo>
                <a:cubicBezTo>
                  <a:pt x="817" y="250"/>
                  <a:pt x="817" y="250"/>
                  <a:pt x="817" y="250"/>
                </a:cubicBezTo>
                <a:cubicBezTo>
                  <a:pt x="817" y="0"/>
                  <a:pt x="817" y="0"/>
                  <a:pt x="817" y="0"/>
                </a:cubicBezTo>
                <a:cubicBezTo>
                  <a:pt x="747" y="20"/>
                  <a:pt x="684" y="59"/>
                  <a:pt x="619" y="9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720000" y="1920900"/>
            <a:ext cx="345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720000" y="2417400"/>
            <a:ext cx="34548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8567275" y="-5849"/>
            <a:ext cx="576725" cy="5155199"/>
            <a:chOff x="8567275" y="-5849"/>
            <a:chExt cx="576725" cy="5155199"/>
          </a:xfrm>
        </p:grpSpPr>
        <p:sp>
          <p:nvSpPr>
            <p:cNvPr id="144" name="Google Shape;144;p18"/>
            <p:cNvSpPr/>
            <p:nvPr/>
          </p:nvSpPr>
          <p:spPr>
            <a:xfrm rot="10800000" flipH="1">
              <a:off x="8567275" y="-5836"/>
              <a:ext cx="576725" cy="5148023"/>
            </a:xfrm>
            <a:custGeom>
              <a:avLst/>
              <a:gdLst/>
              <a:ahLst/>
              <a:cxnLst/>
              <a:rect l="l" t="t" r="r" b="b"/>
              <a:pathLst>
                <a:path w="851" h="2452" extrusionOk="0">
                  <a:moveTo>
                    <a:pt x="0" y="0"/>
                  </a:moveTo>
                  <a:cubicBezTo>
                    <a:pt x="8" y="46"/>
                    <a:pt x="17" y="90"/>
                    <a:pt x="25" y="130"/>
                  </a:cubicBezTo>
                  <a:cubicBezTo>
                    <a:pt x="51" y="264"/>
                    <a:pt x="81" y="397"/>
                    <a:pt x="101" y="537"/>
                  </a:cubicBezTo>
                  <a:cubicBezTo>
                    <a:pt x="111" y="610"/>
                    <a:pt x="113" y="673"/>
                    <a:pt x="108" y="749"/>
                  </a:cubicBezTo>
                  <a:cubicBezTo>
                    <a:pt x="103" y="843"/>
                    <a:pt x="93" y="939"/>
                    <a:pt x="100" y="1033"/>
                  </a:cubicBezTo>
                  <a:cubicBezTo>
                    <a:pt x="111" y="1203"/>
                    <a:pt x="185" y="1317"/>
                    <a:pt x="221" y="1463"/>
                  </a:cubicBezTo>
                  <a:cubicBezTo>
                    <a:pt x="267" y="1653"/>
                    <a:pt x="240" y="1862"/>
                    <a:pt x="194" y="2037"/>
                  </a:cubicBezTo>
                  <a:cubicBezTo>
                    <a:pt x="170" y="2130"/>
                    <a:pt x="141" y="2219"/>
                    <a:pt x="118" y="2314"/>
                  </a:cubicBezTo>
                  <a:cubicBezTo>
                    <a:pt x="108" y="2359"/>
                    <a:pt x="99" y="2405"/>
                    <a:pt x="92" y="2452"/>
                  </a:cubicBezTo>
                  <a:cubicBezTo>
                    <a:pt x="851" y="2452"/>
                    <a:pt x="851" y="2452"/>
                    <a:pt x="851" y="2452"/>
                  </a:cubicBezTo>
                  <a:cubicBezTo>
                    <a:pt x="851" y="0"/>
                    <a:pt x="851" y="0"/>
                    <a:pt x="8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rot="-5400000" flipH="1">
              <a:off x="6358341" y="2366025"/>
              <a:ext cx="5155199" cy="411451"/>
            </a:xfrm>
            <a:custGeom>
              <a:avLst/>
              <a:gdLst/>
              <a:ahLst/>
              <a:cxnLst/>
              <a:rect l="l" t="t" r="r" b="b"/>
              <a:pathLst>
                <a:path w="1719" h="746" extrusionOk="0">
                  <a:moveTo>
                    <a:pt x="277" y="158"/>
                  </a:moveTo>
                  <a:cubicBezTo>
                    <a:pt x="348" y="214"/>
                    <a:pt x="421" y="275"/>
                    <a:pt x="500" y="291"/>
                  </a:cubicBezTo>
                  <a:cubicBezTo>
                    <a:pt x="611" y="312"/>
                    <a:pt x="719" y="260"/>
                    <a:pt x="824" y="204"/>
                  </a:cubicBezTo>
                  <a:cubicBezTo>
                    <a:pt x="930" y="147"/>
                    <a:pt x="1038" y="91"/>
                    <a:pt x="1151" y="98"/>
                  </a:cubicBezTo>
                  <a:cubicBezTo>
                    <a:pt x="1248" y="104"/>
                    <a:pt x="1340" y="156"/>
                    <a:pt x="1422" y="242"/>
                  </a:cubicBezTo>
                  <a:cubicBezTo>
                    <a:pt x="1543" y="370"/>
                    <a:pt x="1635" y="555"/>
                    <a:pt x="1719" y="746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3" y="10"/>
                    <a:pt x="194" y="94"/>
                    <a:pt x="27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0" y="1"/>
            <a:ext cx="721775" cy="5143500"/>
            <a:chOff x="0" y="1"/>
            <a:chExt cx="721775" cy="5143500"/>
          </a:xfrm>
        </p:grpSpPr>
        <p:sp>
          <p:nvSpPr>
            <p:cNvPr id="147" name="Google Shape;147;p18"/>
            <p:cNvSpPr/>
            <p:nvPr/>
          </p:nvSpPr>
          <p:spPr>
            <a:xfrm rot="5400000">
              <a:off x="-1424231" y="2997494"/>
              <a:ext cx="3570257" cy="721755"/>
            </a:xfrm>
            <a:custGeom>
              <a:avLst/>
              <a:gdLst/>
              <a:ahLst/>
              <a:cxnLst/>
              <a:rect l="l" t="t" r="r" b="b"/>
              <a:pathLst>
                <a:path w="817" h="250" extrusionOk="0">
                  <a:moveTo>
                    <a:pt x="619" y="90"/>
                  </a:moveTo>
                  <a:cubicBezTo>
                    <a:pt x="575" y="110"/>
                    <a:pt x="528" y="127"/>
                    <a:pt x="478" y="133"/>
                  </a:cubicBezTo>
                  <a:cubicBezTo>
                    <a:pt x="416" y="141"/>
                    <a:pt x="354" y="132"/>
                    <a:pt x="291" y="127"/>
                  </a:cubicBezTo>
                  <a:cubicBezTo>
                    <a:pt x="228" y="123"/>
                    <a:pt x="164" y="125"/>
                    <a:pt x="107" y="153"/>
                  </a:cubicBezTo>
                  <a:cubicBezTo>
                    <a:pt x="64" y="175"/>
                    <a:pt x="31" y="209"/>
                    <a:pt x="4" y="245"/>
                  </a:cubicBezTo>
                  <a:cubicBezTo>
                    <a:pt x="2" y="247"/>
                    <a:pt x="1" y="248"/>
                    <a:pt x="0" y="250"/>
                  </a:cubicBezTo>
                  <a:cubicBezTo>
                    <a:pt x="817" y="250"/>
                    <a:pt x="817" y="250"/>
                    <a:pt x="817" y="250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747" y="20"/>
                    <a:pt x="684" y="59"/>
                    <a:pt x="619" y="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 rot="5400000">
              <a:off x="-1368051" y="1368052"/>
              <a:ext cx="3275761" cy="539659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1"/>
          </p:nvPr>
        </p:nvSpPr>
        <p:spPr>
          <a:xfrm>
            <a:off x="4985194" y="14063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2"/>
          </p:nvPr>
        </p:nvSpPr>
        <p:spPr>
          <a:xfrm>
            <a:off x="1211006" y="14063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3" name="Google Shape;163;p20"/>
          <p:cNvGrpSpPr/>
          <p:nvPr/>
        </p:nvGrpSpPr>
        <p:grpSpPr>
          <a:xfrm>
            <a:off x="-57151" y="4670134"/>
            <a:ext cx="9258302" cy="499926"/>
            <a:chOff x="0" y="4670125"/>
            <a:chExt cx="9144002" cy="499926"/>
          </a:xfrm>
        </p:grpSpPr>
        <p:sp>
          <p:nvSpPr>
            <p:cNvPr id="164" name="Google Shape;164;p20"/>
            <p:cNvSpPr/>
            <p:nvPr/>
          </p:nvSpPr>
          <p:spPr>
            <a:xfrm>
              <a:off x="0" y="4670125"/>
              <a:ext cx="9144002" cy="499926"/>
            </a:xfrm>
            <a:custGeom>
              <a:avLst/>
              <a:gdLst/>
              <a:ahLst/>
              <a:cxnLst/>
              <a:rect l="l" t="t" r="r" b="b"/>
              <a:pathLst>
                <a:path w="1751" h="1372" extrusionOk="0">
                  <a:moveTo>
                    <a:pt x="1593" y="6"/>
                  </a:moveTo>
                  <a:cubicBezTo>
                    <a:pt x="1430" y="0"/>
                    <a:pt x="1269" y="19"/>
                    <a:pt x="1110" y="42"/>
                  </a:cubicBezTo>
                  <a:cubicBezTo>
                    <a:pt x="850" y="79"/>
                    <a:pt x="590" y="126"/>
                    <a:pt x="321" y="110"/>
                  </a:cubicBezTo>
                  <a:cubicBezTo>
                    <a:pt x="209" y="104"/>
                    <a:pt x="102" y="87"/>
                    <a:pt x="0" y="60"/>
                  </a:cubicBezTo>
                  <a:cubicBezTo>
                    <a:pt x="0" y="1372"/>
                    <a:pt x="0" y="1372"/>
                    <a:pt x="0" y="1372"/>
                  </a:cubicBezTo>
                  <a:cubicBezTo>
                    <a:pt x="1751" y="1372"/>
                    <a:pt x="1751" y="1372"/>
                    <a:pt x="1751" y="1372"/>
                  </a:cubicBezTo>
                  <a:cubicBezTo>
                    <a:pt x="1751" y="21"/>
                    <a:pt x="1751" y="21"/>
                    <a:pt x="1751" y="21"/>
                  </a:cubicBezTo>
                  <a:cubicBezTo>
                    <a:pt x="1699" y="14"/>
                    <a:pt x="1647" y="8"/>
                    <a:pt x="1593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0" y="4834600"/>
              <a:ext cx="9144002" cy="335451"/>
            </a:xfrm>
            <a:custGeom>
              <a:avLst/>
              <a:gdLst/>
              <a:ahLst/>
              <a:cxnLst/>
              <a:rect l="l" t="t" r="r" b="b"/>
              <a:pathLst>
                <a:path w="1751" h="1274" extrusionOk="0">
                  <a:moveTo>
                    <a:pt x="1736" y="163"/>
                  </a:moveTo>
                  <a:cubicBezTo>
                    <a:pt x="1628" y="119"/>
                    <a:pt x="1519" y="76"/>
                    <a:pt x="1403" y="46"/>
                  </a:cubicBezTo>
                  <a:cubicBezTo>
                    <a:pt x="1272" y="12"/>
                    <a:pt x="1134" y="0"/>
                    <a:pt x="997" y="10"/>
                  </a:cubicBezTo>
                  <a:cubicBezTo>
                    <a:pt x="739" y="28"/>
                    <a:pt x="514" y="130"/>
                    <a:pt x="277" y="209"/>
                  </a:cubicBezTo>
                  <a:cubicBezTo>
                    <a:pt x="188" y="238"/>
                    <a:pt x="94" y="263"/>
                    <a:pt x="0" y="273"/>
                  </a:cubicBezTo>
                  <a:cubicBezTo>
                    <a:pt x="0" y="1274"/>
                    <a:pt x="0" y="1274"/>
                    <a:pt x="0" y="1274"/>
                  </a:cubicBezTo>
                  <a:cubicBezTo>
                    <a:pt x="1751" y="1274"/>
                    <a:pt x="1751" y="1274"/>
                    <a:pt x="1751" y="1274"/>
                  </a:cubicBezTo>
                  <a:cubicBezTo>
                    <a:pt x="1751" y="169"/>
                    <a:pt x="1751" y="169"/>
                    <a:pt x="1751" y="169"/>
                  </a:cubicBezTo>
                  <a:cubicBezTo>
                    <a:pt x="1746" y="167"/>
                    <a:pt x="1741" y="165"/>
                    <a:pt x="1736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0"/>
          <p:cNvSpPr/>
          <p:nvPr/>
        </p:nvSpPr>
        <p:spPr>
          <a:xfrm rot="10800000">
            <a:off x="7376837" y="-12"/>
            <a:ext cx="1767175" cy="502050"/>
          </a:xfrm>
          <a:custGeom>
            <a:avLst/>
            <a:gdLst/>
            <a:ahLst/>
            <a:cxnLst/>
            <a:rect l="l" t="t" r="r" b="b"/>
            <a:pathLst>
              <a:path w="1219" h="596" extrusionOk="0">
                <a:moveTo>
                  <a:pt x="196" y="126"/>
                </a:moveTo>
                <a:cubicBezTo>
                  <a:pt x="247" y="170"/>
                  <a:pt x="299" y="219"/>
                  <a:pt x="355" y="231"/>
                </a:cubicBezTo>
                <a:cubicBezTo>
                  <a:pt x="434" y="249"/>
                  <a:pt x="510" y="207"/>
                  <a:pt x="584" y="162"/>
                </a:cubicBezTo>
                <a:cubicBezTo>
                  <a:pt x="660" y="116"/>
                  <a:pt x="736" y="72"/>
                  <a:pt x="817" y="78"/>
                </a:cubicBezTo>
                <a:cubicBezTo>
                  <a:pt x="885" y="82"/>
                  <a:pt x="951" y="124"/>
                  <a:pt x="1008" y="193"/>
                </a:cubicBezTo>
                <a:cubicBezTo>
                  <a:pt x="1094" y="295"/>
                  <a:pt x="1160" y="442"/>
                  <a:pt x="1219" y="596"/>
                </a:cubicBezTo>
                <a:cubicBezTo>
                  <a:pt x="0" y="596"/>
                  <a:pt x="0" y="596"/>
                  <a:pt x="0" y="596"/>
                </a:cubicBezTo>
                <a:cubicBezTo>
                  <a:pt x="0" y="0"/>
                  <a:pt x="0" y="0"/>
                  <a:pt x="0" y="0"/>
                </a:cubicBezTo>
                <a:cubicBezTo>
                  <a:pt x="67" y="7"/>
                  <a:pt x="138" y="74"/>
                  <a:pt x="196" y="12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-4" y="4641475"/>
            <a:ext cx="5919299" cy="502026"/>
          </a:xfrm>
          <a:custGeom>
            <a:avLst/>
            <a:gdLst/>
            <a:ahLst/>
            <a:cxnLst/>
            <a:rect l="l" t="t" r="r" b="b"/>
            <a:pathLst>
              <a:path w="1219" h="596" extrusionOk="0">
                <a:moveTo>
                  <a:pt x="196" y="126"/>
                </a:moveTo>
                <a:cubicBezTo>
                  <a:pt x="247" y="170"/>
                  <a:pt x="299" y="219"/>
                  <a:pt x="355" y="231"/>
                </a:cubicBezTo>
                <a:cubicBezTo>
                  <a:pt x="434" y="249"/>
                  <a:pt x="510" y="207"/>
                  <a:pt x="584" y="162"/>
                </a:cubicBezTo>
                <a:cubicBezTo>
                  <a:pt x="660" y="116"/>
                  <a:pt x="736" y="72"/>
                  <a:pt x="817" y="78"/>
                </a:cubicBezTo>
                <a:cubicBezTo>
                  <a:pt x="885" y="82"/>
                  <a:pt x="951" y="124"/>
                  <a:pt x="1008" y="193"/>
                </a:cubicBezTo>
                <a:cubicBezTo>
                  <a:pt x="1094" y="295"/>
                  <a:pt x="1160" y="442"/>
                  <a:pt x="1219" y="596"/>
                </a:cubicBezTo>
                <a:cubicBezTo>
                  <a:pt x="0" y="596"/>
                  <a:pt x="0" y="596"/>
                  <a:pt x="0" y="596"/>
                </a:cubicBezTo>
                <a:cubicBezTo>
                  <a:pt x="0" y="0"/>
                  <a:pt x="0" y="0"/>
                  <a:pt x="0" y="0"/>
                </a:cubicBezTo>
                <a:cubicBezTo>
                  <a:pt x="67" y="7"/>
                  <a:pt x="138" y="74"/>
                  <a:pt x="196" y="12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26"/>
          <p:cNvGrpSpPr/>
          <p:nvPr/>
        </p:nvGrpSpPr>
        <p:grpSpPr>
          <a:xfrm>
            <a:off x="2" y="0"/>
            <a:ext cx="9143998" cy="525900"/>
            <a:chOff x="2" y="0"/>
            <a:chExt cx="9143998" cy="525900"/>
          </a:xfrm>
        </p:grpSpPr>
        <p:sp>
          <p:nvSpPr>
            <p:cNvPr id="232" name="Google Shape;232;p26"/>
            <p:cNvSpPr/>
            <p:nvPr/>
          </p:nvSpPr>
          <p:spPr>
            <a:xfrm flipH="1">
              <a:off x="2" y="0"/>
              <a:ext cx="9143998" cy="523075"/>
            </a:xfrm>
            <a:custGeom>
              <a:avLst/>
              <a:gdLst/>
              <a:ahLst/>
              <a:cxnLst/>
              <a:rect l="l" t="t" r="r" b="b"/>
              <a:pathLst>
                <a:path w="2058" h="395" extrusionOk="0">
                  <a:moveTo>
                    <a:pt x="322" y="389"/>
                  </a:moveTo>
                  <a:cubicBezTo>
                    <a:pt x="613" y="370"/>
                    <a:pt x="877" y="299"/>
                    <a:pt x="1156" y="256"/>
                  </a:cubicBezTo>
                  <a:cubicBezTo>
                    <a:pt x="1446" y="211"/>
                    <a:pt x="1759" y="211"/>
                    <a:pt x="2058" y="227"/>
                  </a:cubicBezTo>
                  <a:cubicBezTo>
                    <a:pt x="2058" y="0"/>
                    <a:pt x="2058" y="0"/>
                    <a:pt x="205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104" y="390"/>
                    <a:pt x="211" y="395"/>
                    <a:pt x="322" y="3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 flipH="1">
              <a:off x="3344152" y="175940"/>
              <a:ext cx="5799848" cy="349960"/>
            </a:xfrm>
            <a:custGeom>
              <a:avLst/>
              <a:gdLst/>
              <a:ahLst/>
              <a:cxnLst/>
              <a:rect l="l" t="t" r="r" b="b"/>
              <a:pathLst>
                <a:path w="1310" h="265" extrusionOk="0">
                  <a:moveTo>
                    <a:pt x="331" y="258"/>
                  </a:moveTo>
                  <a:cubicBezTo>
                    <a:pt x="620" y="239"/>
                    <a:pt x="883" y="168"/>
                    <a:pt x="1160" y="125"/>
                  </a:cubicBezTo>
                  <a:cubicBezTo>
                    <a:pt x="1209" y="117"/>
                    <a:pt x="1259" y="111"/>
                    <a:pt x="1310" y="106"/>
                  </a:cubicBezTo>
                  <a:cubicBezTo>
                    <a:pt x="1223" y="106"/>
                    <a:pt x="1137" y="104"/>
                    <a:pt x="1050" y="102"/>
                  </a:cubicBezTo>
                  <a:cubicBezTo>
                    <a:pt x="856" y="96"/>
                    <a:pt x="660" y="86"/>
                    <a:pt x="472" y="65"/>
                  </a:cubicBezTo>
                  <a:cubicBezTo>
                    <a:pt x="312" y="47"/>
                    <a:pt x="156" y="23"/>
                    <a:pt x="0" y="0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07" y="258"/>
                    <a:pt x="217" y="265"/>
                    <a:pt x="331" y="2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3"/>
          <p:cNvGrpSpPr/>
          <p:nvPr/>
        </p:nvGrpSpPr>
        <p:grpSpPr>
          <a:xfrm flipH="1">
            <a:off x="-181800" y="4747970"/>
            <a:ext cx="9325800" cy="395666"/>
            <a:chOff x="-181800" y="4540075"/>
            <a:chExt cx="9325800" cy="603425"/>
          </a:xfrm>
        </p:grpSpPr>
        <p:sp>
          <p:nvSpPr>
            <p:cNvPr id="275" name="Google Shape;275;p33"/>
            <p:cNvSpPr/>
            <p:nvPr/>
          </p:nvSpPr>
          <p:spPr>
            <a:xfrm flipH="1">
              <a:off x="-181800" y="4540075"/>
              <a:ext cx="6473318" cy="603408"/>
            </a:xfrm>
            <a:custGeom>
              <a:avLst/>
              <a:gdLst/>
              <a:ahLst/>
              <a:cxnLst/>
              <a:rect l="l" t="t" r="r" b="b"/>
              <a:pathLst>
                <a:path w="817" h="250" extrusionOk="0">
                  <a:moveTo>
                    <a:pt x="619" y="90"/>
                  </a:moveTo>
                  <a:cubicBezTo>
                    <a:pt x="575" y="110"/>
                    <a:pt x="528" y="127"/>
                    <a:pt x="478" y="133"/>
                  </a:cubicBezTo>
                  <a:cubicBezTo>
                    <a:pt x="416" y="141"/>
                    <a:pt x="354" y="132"/>
                    <a:pt x="291" y="127"/>
                  </a:cubicBezTo>
                  <a:cubicBezTo>
                    <a:pt x="228" y="123"/>
                    <a:pt x="164" y="125"/>
                    <a:pt x="107" y="153"/>
                  </a:cubicBezTo>
                  <a:cubicBezTo>
                    <a:pt x="64" y="175"/>
                    <a:pt x="31" y="209"/>
                    <a:pt x="4" y="245"/>
                  </a:cubicBezTo>
                  <a:cubicBezTo>
                    <a:pt x="2" y="247"/>
                    <a:pt x="1" y="248"/>
                    <a:pt x="0" y="250"/>
                  </a:cubicBezTo>
                  <a:cubicBezTo>
                    <a:pt x="817" y="250"/>
                    <a:pt x="817" y="250"/>
                    <a:pt x="817" y="250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747" y="20"/>
                    <a:pt x="684" y="59"/>
                    <a:pt x="619" y="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33"/>
            <p:cNvSpPr/>
            <p:nvPr/>
          </p:nvSpPr>
          <p:spPr>
            <a:xfrm flipH="1">
              <a:off x="3204641" y="4692330"/>
              <a:ext cx="5939358" cy="451171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33"/>
          <p:cNvSpPr/>
          <p:nvPr/>
        </p:nvSpPr>
        <p:spPr>
          <a:xfrm rot="10800000">
            <a:off x="0" y="0"/>
            <a:ext cx="3799350" cy="553150"/>
          </a:xfrm>
          <a:custGeom>
            <a:avLst/>
            <a:gdLst/>
            <a:ahLst/>
            <a:cxnLst/>
            <a:rect l="l" t="t" r="r" b="b"/>
            <a:pathLst>
              <a:path w="817" h="250" extrusionOk="0">
                <a:moveTo>
                  <a:pt x="619" y="90"/>
                </a:moveTo>
                <a:cubicBezTo>
                  <a:pt x="575" y="110"/>
                  <a:pt x="528" y="127"/>
                  <a:pt x="478" y="133"/>
                </a:cubicBezTo>
                <a:cubicBezTo>
                  <a:pt x="416" y="141"/>
                  <a:pt x="354" y="132"/>
                  <a:pt x="291" y="127"/>
                </a:cubicBezTo>
                <a:cubicBezTo>
                  <a:pt x="228" y="123"/>
                  <a:pt x="164" y="125"/>
                  <a:pt x="107" y="153"/>
                </a:cubicBezTo>
                <a:cubicBezTo>
                  <a:pt x="64" y="175"/>
                  <a:pt x="31" y="209"/>
                  <a:pt x="4" y="245"/>
                </a:cubicBezTo>
                <a:cubicBezTo>
                  <a:pt x="2" y="247"/>
                  <a:pt x="1" y="248"/>
                  <a:pt x="0" y="250"/>
                </a:cubicBezTo>
                <a:cubicBezTo>
                  <a:pt x="817" y="250"/>
                  <a:pt x="817" y="250"/>
                  <a:pt x="817" y="250"/>
                </a:cubicBezTo>
                <a:cubicBezTo>
                  <a:pt x="817" y="0"/>
                  <a:pt x="817" y="0"/>
                  <a:pt x="817" y="0"/>
                </a:cubicBezTo>
                <a:cubicBezTo>
                  <a:pt x="747" y="20"/>
                  <a:pt x="684" y="59"/>
                  <a:pt x="619" y="9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/>
          <p:nvPr/>
        </p:nvSpPr>
        <p:spPr>
          <a:xfrm rot="5400000" flipH="1">
            <a:off x="-1612773" y="3042688"/>
            <a:ext cx="3713949" cy="502026"/>
          </a:xfrm>
          <a:custGeom>
            <a:avLst/>
            <a:gdLst/>
            <a:ahLst/>
            <a:cxnLst/>
            <a:rect l="l" t="t" r="r" b="b"/>
            <a:pathLst>
              <a:path w="1219" h="596" extrusionOk="0">
                <a:moveTo>
                  <a:pt x="196" y="126"/>
                </a:moveTo>
                <a:cubicBezTo>
                  <a:pt x="247" y="170"/>
                  <a:pt x="299" y="219"/>
                  <a:pt x="355" y="231"/>
                </a:cubicBezTo>
                <a:cubicBezTo>
                  <a:pt x="434" y="249"/>
                  <a:pt x="510" y="207"/>
                  <a:pt x="584" y="162"/>
                </a:cubicBezTo>
                <a:cubicBezTo>
                  <a:pt x="660" y="116"/>
                  <a:pt x="736" y="72"/>
                  <a:pt x="817" y="78"/>
                </a:cubicBezTo>
                <a:cubicBezTo>
                  <a:pt x="885" y="82"/>
                  <a:pt x="951" y="124"/>
                  <a:pt x="1008" y="193"/>
                </a:cubicBezTo>
                <a:cubicBezTo>
                  <a:pt x="1094" y="295"/>
                  <a:pt x="1160" y="442"/>
                  <a:pt x="1219" y="596"/>
                </a:cubicBezTo>
                <a:cubicBezTo>
                  <a:pt x="0" y="596"/>
                  <a:pt x="0" y="596"/>
                  <a:pt x="0" y="596"/>
                </a:cubicBezTo>
                <a:cubicBezTo>
                  <a:pt x="0" y="0"/>
                  <a:pt x="0" y="0"/>
                  <a:pt x="0" y="0"/>
                </a:cubicBezTo>
                <a:cubicBezTo>
                  <a:pt x="67" y="7"/>
                  <a:pt x="138" y="74"/>
                  <a:pt x="196" y="12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34"/>
          <p:cNvGrpSpPr/>
          <p:nvPr/>
        </p:nvGrpSpPr>
        <p:grpSpPr>
          <a:xfrm rot="10800000" flipH="1">
            <a:off x="6322826" y="-34111"/>
            <a:ext cx="2821174" cy="2406525"/>
            <a:chOff x="6322826" y="2744150"/>
            <a:chExt cx="2821174" cy="2406525"/>
          </a:xfrm>
        </p:grpSpPr>
        <p:sp>
          <p:nvSpPr>
            <p:cNvPr id="281" name="Google Shape;281;p34"/>
            <p:cNvSpPr/>
            <p:nvPr/>
          </p:nvSpPr>
          <p:spPr>
            <a:xfrm rot="-5400000">
              <a:off x="7655781" y="3662456"/>
              <a:ext cx="2406525" cy="569912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 flipH="1">
              <a:off x="6322826" y="4568200"/>
              <a:ext cx="2821174" cy="572699"/>
            </a:xfrm>
            <a:custGeom>
              <a:avLst/>
              <a:gdLst/>
              <a:ahLst/>
              <a:cxnLst/>
              <a:rect l="l" t="t" r="r" b="b"/>
              <a:pathLst>
                <a:path w="1219" h="596" extrusionOk="0">
                  <a:moveTo>
                    <a:pt x="196" y="126"/>
                  </a:moveTo>
                  <a:cubicBezTo>
                    <a:pt x="247" y="170"/>
                    <a:pt x="299" y="219"/>
                    <a:pt x="355" y="231"/>
                  </a:cubicBezTo>
                  <a:cubicBezTo>
                    <a:pt x="434" y="249"/>
                    <a:pt x="510" y="207"/>
                    <a:pt x="584" y="162"/>
                  </a:cubicBezTo>
                  <a:cubicBezTo>
                    <a:pt x="660" y="116"/>
                    <a:pt x="736" y="72"/>
                    <a:pt x="817" y="78"/>
                  </a:cubicBezTo>
                  <a:cubicBezTo>
                    <a:pt x="885" y="82"/>
                    <a:pt x="951" y="124"/>
                    <a:pt x="1008" y="193"/>
                  </a:cubicBezTo>
                  <a:cubicBezTo>
                    <a:pt x="1094" y="295"/>
                    <a:pt x="1160" y="442"/>
                    <a:pt x="1219" y="596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7"/>
                    <a:pt x="138" y="74"/>
                    <a:pt x="196" y="1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59" r:id="rId6"/>
    <p:sldLayoutId id="2147483664" r:id="rId7"/>
    <p:sldLayoutId id="2147483666" r:id="rId8"/>
    <p:sldLayoutId id="2147483672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ctrTitle"/>
          </p:nvPr>
        </p:nvSpPr>
        <p:spPr>
          <a:xfrm>
            <a:off x="275118" y="1830936"/>
            <a:ext cx="6065392" cy="24618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Smart IoT-Based Real-Time Water Quality Monitoring System for Aquaculture Using SMOTE-Enhanced Random Forest Models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95" name="Google Shape;295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713" r="26713"/>
          <a:stretch/>
        </p:blipFill>
        <p:spPr>
          <a:xfrm>
            <a:off x="6340510" y="1266134"/>
            <a:ext cx="2240990" cy="2733440"/>
          </a:xfrm>
          <a:prstGeom prst="round2DiagRect">
            <a:avLst>
              <a:gd name="adj1" fmla="val 16667"/>
              <a:gd name="adj2" fmla="val 0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B6904-08F4-40CB-A21C-1E0F3A79B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14" y="277694"/>
            <a:ext cx="915727" cy="908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CF12A5-F428-4660-BE70-7EE9C1128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07607"/>
              </p:ext>
            </p:extLst>
          </p:nvPr>
        </p:nvGraphicFramePr>
        <p:xfrm>
          <a:off x="353568" y="261258"/>
          <a:ext cx="8448791" cy="5024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7017">
                  <a:extLst>
                    <a:ext uri="{9D8B030D-6E8A-4147-A177-3AD203B41FA5}">
                      <a16:colId xmlns:a16="http://schemas.microsoft.com/office/drawing/2014/main" val="3779552987"/>
                    </a:ext>
                  </a:extLst>
                </a:gridCol>
                <a:gridCol w="1497017">
                  <a:extLst>
                    <a:ext uri="{9D8B030D-6E8A-4147-A177-3AD203B41FA5}">
                      <a16:colId xmlns:a16="http://schemas.microsoft.com/office/drawing/2014/main" val="2030903817"/>
                    </a:ext>
                  </a:extLst>
                </a:gridCol>
                <a:gridCol w="1497017">
                  <a:extLst>
                    <a:ext uri="{9D8B030D-6E8A-4147-A177-3AD203B41FA5}">
                      <a16:colId xmlns:a16="http://schemas.microsoft.com/office/drawing/2014/main" val="1872060130"/>
                    </a:ext>
                  </a:extLst>
                </a:gridCol>
                <a:gridCol w="3957740">
                  <a:extLst>
                    <a:ext uri="{9D8B030D-6E8A-4147-A177-3AD203B41FA5}">
                      <a16:colId xmlns:a16="http://schemas.microsoft.com/office/drawing/2014/main" val="3948658697"/>
                    </a:ext>
                  </a:extLst>
                </a:gridCol>
              </a:tblGrid>
              <a:tr h="5024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Course Code: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EEE 4103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Course Name: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Microprocessor and Embedded Systems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extLst>
                  <a:ext uri="{0D108BD9-81ED-4DB2-BD59-A6C34878D82A}">
                    <a16:rowId xmlns:a16="http://schemas.microsoft.com/office/drawing/2014/main" val="2290741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F6B161-1489-4166-933A-12E7F1E97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06210"/>
              </p:ext>
            </p:extLst>
          </p:nvPr>
        </p:nvGraphicFramePr>
        <p:xfrm>
          <a:off x="347605" y="910590"/>
          <a:ext cx="8448790" cy="3516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97">
                  <a:extLst>
                    <a:ext uri="{9D8B030D-6E8A-4147-A177-3AD203B41FA5}">
                      <a16:colId xmlns:a16="http://schemas.microsoft.com/office/drawing/2014/main" val="2913403265"/>
                    </a:ext>
                  </a:extLst>
                </a:gridCol>
                <a:gridCol w="1761624">
                  <a:extLst>
                    <a:ext uri="{9D8B030D-6E8A-4147-A177-3AD203B41FA5}">
                      <a16:colId xmlns:a16="http://schemas.microsoft.com/office/drawing/2014/main" val="241213375"/>
                    </a:ext>
                  </a:extLst>
                </a:gridCol>
                <a:gridCol w="3416491">
                  <a:extLst>
                    <a:ext uri="{9D8B030D-6E8A-4147-A177-3AD203B41FA5}">
                      <a16:colId xmlns:a16="http://schemas.microsoft.com/office/drawing/2014/main" val="1138891670"/>
                    </a:ext>
                  </a:extLst>
                </a:gridCol>
                <a:gridCol w="1275289">
                  <a:extLst>
                    <a:ext uri="{9D8B030D-6E8A-4147-A177-3AD203B41FA5}">
                      <a16:colId xmlns:a16="http://schemas.microsoft.com/office/drawing/2014/main" val="1055295908"/>
                    </a:ext>
                  </a:extLst>
                </a:gridCol>
                <a:gridCol w="1275289">
                  <a:extLst>
                    <a:ext uri="{9D8B030D-6E8A-4147-A177-3AD203B41FA5}">
                      <a16:colId xmlns:a16="http://schemas.microsoft.com/office/drawing/2014/main" val="4294604628"/>
                    </a:ext>
                  </a:extLst>
                </a:gridCol>
              </a:tblGrid>
              <a:tr h="224315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SL #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Students ID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Students Name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bg1"/>
                          </a:solidFill>
                        </a:rPr>
                        <a:t>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bg1"/>
                          </a:solidFill>
                        </a:rPr>
                        <a:t>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69810"/>
                  </a:ext>
                </a:extLst>
              </a:tr>
              <a:tr h="471965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22-48056-2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Chinmoy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Guha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807588"/>
                  </a:ext>
                </a:extLst>
              </a:tr>
              <a:tr h="392717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22-47975-2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Mohammad Ansar Uddin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70253"/>
                  </a:ext>
                </a:extLst>
              </a:tr>
              <a:tr h="387453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23-54266-3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Mashkur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Ibtesham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Wazed</a:t>
                      </a:r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  <a:p>
                      <a:pPr algn="ctr"/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224331"/>
                  </a:ext>
                </a:extLst>
              </a:tr>
              <a:tr h="387453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23-50834-1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Nafiur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Rahman Siam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  <a:p>
                      <a:pPr algn="ctr"/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590490"/>
                  </a:ext>
                </a:extLst>
              </a:tr>
              <a:tr h="387453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>
                          <a:solidFill>
                            <a:schemeClr val="tx1"/>
                          </a:solidFill>
                        </a:rPr>
                        <a:t>23-54270-3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Arfanul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Hoque Nehal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  <a:p>
                      <a:pPr algn="ctr"/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570957"/>
                  </a:ext>
                </a:extLst>
              </a:tr>
              <a:tr h="387453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22-48067-2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Suvra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Chakraborty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  <a:p>
                      <a:pPr algn="ctr"/>
                      <a:endParaRPr 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185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73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 panose="02040503050406030204" pitchFamily="18" charset="0"/>
                <a:ea typeface="Cambria" panose="02040503050406030204" pitchFamily="18" charset="0"/>
              </a:rPr>
              <a:t>Contents of this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Presentation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D192E-F328-45B0-A0DE-D65CCB37FD06}"/>
              </a:ext>
            </a:extLst>
          </p:cNvPr>
          <p:cNvSpPr/>
          <p:nvPr/>
        </p:nvSpPr>
        <p:spPr>
          <a:xfrm>
            <a:off x="720000" y="1366736"/>
            <a:ext cx="8790432" cy="305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Aims and Objectives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Introduction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Survey Report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Literature Review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Research/Working Method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Methodology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Results, Outcomes, and Discussions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Conclusions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Future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Aims and Objectives of the work.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C1F2ECD-3C3D-41F9-BF66-E4D1E3EF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40" y="723738"/>
            <a:ext cx="7704000" cy="34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1600" b="1" dirty="0"/>
              <a:t>Primary Aim:</a:t>
            </a:r>
          </a:p>
          <a:p>
            <a:r>
              <a:rPr lang="en-US" sz="1600" dirty="0"/>
              <a:t>	To design and implement a </a:t>
            </a:r>
            <a:r>
              <a:rPr lang="en-US" sz="1600" b="1" dirty="0"/>
              <a:t>low-cost, IoT-enabled water quality monitoring and prediction system for aquaculture farms</a:t>
            </a:r>
            <a:r>
              <a:rPr lang="en-US" sz="1600" dirty="0"/>
              <a:t>, integrating </a:t>
            </a:r>
            <a:r>
              <a:rPr lang="en-US" sz="1600" b="1" dirty="0"/>
              <a:t>real-time sensor data acquisition with machine learning–based water quality classification</a:t>
            </a:r>
            <a:r>
              <a:rPr lang="en-US" sz="1600" dirty="0"/>
              <a:t>, in order to support timely decision-making and reduce fish mortality.</a:t>
            </a:r>
          </a:p>
          <a:p>
            <a:endParaRPr lang="en-US" sz="1600" dirty="0"/>
          </a:p>
          <a:p>
            <a:r>
              <a:rPr lang="en-US" sz="1600" b="1" dirty="0"/>
              <a:t>Objectives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Design an </a:t>
            </a:r>
            <a:r>
              <a:rPr lang="en-US" sz="1600" b="1" dirty="0"/>
              <a:t>IoT sensing system</a:t>
            </a:r>
            <a:r>
              <a:rPr lang="en-US" sz="1600" dirty="0"/>
              <a:t> to measure pH, temperature, turbidity, and conductivity in real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Stream sensor data to the </a:t>
            </a:r>
            <a:r>
              <a:rPr lang="en-US" sz="1600" b="1" dirty="0" err="1"/>
              <a:t>ThingSpeak</a:t>
            </a:r>
            <a:r>
              <a:rPr lang="en-US" sz="1600" b="1" dirty="0"/>
              <a:t> cloud platform</a:t>
            </a:r>
            <a:r>
              <a:rPr lang="en-US" sz="1600" dirty="0"/>
              <a:t> for monitoring and storage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 a </a:t>
            </a:r>
            <a:r>
              <a:rPr lang="en-US" sz="1600" b="1" dirty="0"/>
              <a:t>Random Forest–based machine learning model</a:t>
            </a:r>
            <a:r>
              <a:rPr lang="en-US" sz="1600" dirty="0"/>
              <a:t> to classify water quality as </a:t>
            </a:r>
            <a:r>
              <a:rPr lang="en-US" sz="1600" i="1" dirty="0"/>
              <a:t>Excellent, Good, or Poor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Evaluate model performance using </a:t>
            </a:r>
            <a:r>
              <a:rPr lang="en-US" sz="1600" b="1" dirty="0"/>
              <a:t>accuracy, F1-score, recall, and confusion matrix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real-time prediction and automated control</a:t>
            </a:r>
            <a:r>
              <a:rPr lang="en-US" sz="1600" dirty="0"/>
              <a:t> (aerators/pumps) using relay-based actuation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C1F2ECD-3C3D-41F9-BF66-E4D1E3EF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40" y="723738"/>
            <a:ext cx="8558112" cy="441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b="1" dirty="0"/>
              <a:t>Background: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/>
              <a:t>Aquaculture is a major food source in Bangladesh</a:t>
            </a:r>
            <a:br>
              <a:rPr lang="en-US" altLang="en-US" sz="2400" dirty="0"/>
            </a:br>
            <a:r>
              <a:rPr lang="en-US" altLang="en-US" sz="2400" dirty="0">
                <a:solidFill>
                  <a:srgbClr val="00B050"/>
                </a:solidFill>
              </a:rPr>
              <a:t>Contributes significantly to protein supply and rural economy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/>
              <a:t>Water quality directly affects fish health and yield</a:t>
            </a:r>
            <a:br>
              <a:rPr lang="en-US" altLang="en-US" sz="2400" dirty="0"/>
            </a:br>
            <a:r>
              <a:rPr lang="en-US" altLang="en-US" sz="2400" dirty="0">
                <a:solidFill>
                  <a:srgbClr val="00B050"/>
                </a:solidFill>
              </a:rPr>
              <a:t>Small changes in pH, temperature, or turbidity can cause stress or death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/>
              <a:t>Most small farms rely on manual observation</a:t>
            </a:r>
            <a:br>
              <a:rPr lang="en-US" altLang="en-US" sz="2400" dirty="0"/>
            </a:br>
            <a:r>
              <a:rPr lang="en-US" altLang="en-US" sz="2400" dirty="0">
                <a:solidFill>
                  <a:srgbClr val="00B050"/>
                </a:solidFill>
              </a:rPr>
              <a:t>Visual checks are inaccurate and often too late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/>
              <a:t>Poor monitoring leads to high economic losses</a:t>
            </a:r>
            <a:br>
              <a:rPr lang="en-US" altLang="en-US" sz="2400" dirty="0"/>
            </a:br>
            <a:r>
              <a:rPr lang="en-US" altLang="en-US" sz="2400" dirty="0">
                <a:solidFill>
                  <a:srgbClr val="00B050"/>
                </a:solidFill>
              </a:rPr>
              <a:t>Sudden water quality failure causes mass fish mortality</a:t>
            </a:r>
          </a:p>
          <a:p>
            <a:endParaRPr lang="en-US" sz="1800" b="1" dirty="0"/>
          </a:p>
          <a:p>
            <a:r>
              <a:rPr lang="en-US" sz="1800" dirty="0"/>
              <a:t>	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095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C1F2ECD-3C3D-41F9-BF66-E4D1E3EF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40" y="723738"/>
            <a:ext cx="8521536" cy="379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000" b="1" dirty="0"/>
              <a:t>Motivation: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Need for real-time and continuous monitoring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B050"/>
                </a:solidFill>
              </a:rPr>
              <a:t>Instant detection is critical in aquaculture environments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IoT enables low-cost remote sensing and cloud monitoring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B050"/>
                </a:solidFill>
              </a:rPr>
              <a:t>Sensors + </a:t>
            </a:r>
            <a:r>
              <a:rPr lang="en-US" altLang="en-US" sz="2000" dirty="0" err="1">
                <a:solidFill>
                  <a:srgbClr val="00B050"/>
                </a:solidFill>
              </a:rPr>
              <a:t>WiFi</a:t>
            </a:r>
            <a:r>
              <a:rPr lang="en-US" altLang="en-US" sz="2000" dirty="0">
                <a:solidFill>
                  <a:srgbClr val="00B050"/>
                </a:solidFill>
              </a:rPr>
              <a:t> allow 24/7 data access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Raw sensor data is hard to interpret for farmers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B050"/>
                </a:solidFill>
              </a:rPr>
              <a:t>Numerical values do not clearly indicate water condition</a:t>
            </a: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Machine learning enables intelligent decision support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B050"/>
                </a:solidFill>
              </a:rPr>
              <a:t>Automatic classification of water quality as </a:t>
            </a:r>
            <a:r>
              <a:rPr lang="en-US" altLang="en-US" sz="2000" i="1" dirty="0">
                <a:solidFill>
                  <a:srgbClr val="00B050"/>
                </a:solidFill>
              </a:rPr>
              <a:t>Excellent, Good, or Poor</a:t>
            </a:r>
            <a:endParaRPr lang="en-US" altLang="en-US" sz="2000" dirty="0">
              <a:solidFill>
                <a:srgbClr val="00B050"/>
              </a:solidFill>
            </a:endParaRPr>
          </a:p>
          <a:p>
            <a:pPr marL="400050" lvl="1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Goal: Reduce fish mortality and farmer workload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B050"/>
                </a:solidFill>
              </a:rPr>
              <a:t>Early prediction + automation improves farm sustainability</a:t>
            </a:r>
          </a:p>
          <a:p>
            <a:endParaRPr lang="en-US" sz="1600" b="1" dirty="0"/>
          </a:p>
          <a:p>
            <a:r>
              <a:rPr lang="en-US" sz="16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Survey Report: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F9FAA-98C1-14AA-2642-4C7070C6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50" y="1125001"/>
            <a:ext cx="4315382" cy="2803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FC75C-8612-A409-5E96-0B7AEC658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932" y="971170"/>
            <a:ext cx="4185255" cy="2165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C1F2ECD-3C3D-41F9-BF66-E4D1E3EF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40" y="870042"/>
            <a:ext cx="8558112" cy="441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Low-cost IoT sensor systems are widely used for aquaculture water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/>
              <a:t>Jais</a:t>
            </a:r>
            <a:r>
              <a:rPr lang="en-US" sz="2400" i="1" dirty="0"/>
              <a:t> et al. (2024) showed that affordable pH and water-level sensors suffer from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Software-based filtering (moving average) improved accuracy with R² &gt; 0.93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/>
              <a:t>Shete</a:t>
            </a:r>
            <a:r>
              <a:rPr lang="en-US" sz="2400" i="1" dirty="0"/>
              <a:t> et al. (2024) implemented an ESP32-based IoT system for pH, turbidity, and 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Their system enabled real-time cloud monitoring but required stable internet connectivity</a:t>
            </a:r>
          </a:p>
          <a:p>
            <a:endParaRPr lang="en-US" sz="1800" b="1" dirty="0"/>
          </a:p>
          <a:p>
            <a:r>
              <a:rPr lang="en-US" sz="1800" dirty="0"/>
              <a:t>	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2017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C1F2ECD-3C3D-41F9-BF66-E4D1E3EF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40" y="870042"/>
            <a:ext cx="8216736" cy="389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i="1" dirty="0" err="1"/>
              <a:t>Olanubi</a:t>
            </a:r>
            <a:r>
              <a:rPr lang="en-US" altLang="en-US" sz="1800" i="1" dirty="0"/>
              <a:t> et al. (2024) integrated automation using fuzzy logic and actuators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i="1" dirty="0"/>
              <a:t>Automated aeration and water control reduced fish mortality by </a:t>
            </a:r>
            <a:r>
              <a:rPr lang="en-US" altLang="en-US" sz="1800" b="1" i="1" dirty="0"/>
              <a:t>96.5%</a:t>
            </a:r>
            <a:endParaRPr lang="en-US" altLang="en-US" sz="1800" i="1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i="1" dirty="0" err="1"/>
              <a:t>Abdikadir</a:t>
            </a:r>
            <a:r>
              <a:rPr lang="en-US" altLang="en-US" sz="1800" i="1" dirty="0"/>
              <a:t> et al. (2024) used </a:t>
            </a:r>
            <a:r>
              <a:rPr lang="en-US" altLang="en-US" sz="1800" i="1" dirty="0" err="1"/>
              <a:t>NodeMCU</a:t>
            </a:r>
            <a:r>
              <a:rPr lang="en-US" altLang="en-US" sz="1800" i="1" dirty="0"/>
              <a:t> with mobile alerts for remote monitoring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i="1" dirty="0" err="1"/>
              <a:t>Duangwongsa</a:t>
            </a:r>
            <a:r>
              <a:rPr lang="en-US" altLang="en-US" sz="1800" i="1" dirty="0"/>
              <a:t> et al. (2021) showed instant notifications improve response time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/>
              <a:t>Identified Gaps in Existing Systems:</a:t>
            </a:r>
            <a:br>
              <a:rPr lang="en-US" altLang="en-US" sz="1800" i="1" dirty="0"/>
            </a:br>
            <a:r>
              <a:rPr lang="en-US" altLang="en-US" sz="1800" dirty="0"/>
              <a:t>– Limited use of machine learning for water quality classification</a:t>
            </a:r>
            <a:br>
              <a:rPr lang="en-US" altLang="en-US" sz="1800" dirty="0"/>
            </a:br>
            <a:r>
              <a:rPr lang="en-US" altLang="en-US" sz="1800" dirty="0"/>
              <a:t>– Monitoring-focused designs with little or no prediction capability</a:t>
            </a:r>
            <a:br>
              <a:rPr lang="en-US" altLang="en-US" sz="1800" dirty="0"/>
            </a:br>
            <a:r>
              <a:rPr lang="en-US" altLang="en-US" sz="1800" dirty="0"/>
              <a:t>– Interfaces not optimized for small-scale farmers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/>
              <a:t>Motivation for This Work:</a:t>
            </a:r>
            <a:br>
              <a:rPr lang="en-US" altLang="en-US" sz="1800" i="1" dirty="0"/>
            </a:br>
            <a:r>
              <a:rPr lang="en-US" altLang="en-US" sz="1800" i="1" dirty="0"/>
              <a:t>– </a:t>
            </a:r>
            <a:r>
              <a:rPr lang="en-US" altLang="en-US" sz="1800" dirty="0"/>
              <a:t>Develop a low-cost IoT system with integrated machine learning</a:t>
            </a:r>
            <a:br>
              <a:rPr lang="en-US" altLang="en-US" sz="1800" dirty="0"/>
            </a:br>
            <a:r>
              <a:rPr lang="en-US" altLang="en-US" sz="1800" dirty="0"/>
              <a:t>– Enable real-time prediction and automated control</a:t>
            </a:r>
            <a:br>
              <a:rPr lang="en-US" altLang="en-US" sz="1800" dirty="0"/>
            </a:br>
            <a:r>
              <a:rPr lang="en-US" altLang="en-US" sz="1800" dirty="0"/>
              <a:t>– Ensure suitability for rural aquaculture in Bangladesh</a:t>
            </a:r>
          </a:p>
        </p:txBody>
      </p:sp>
    </p:spTree>
    <p:extLst>
      <p:ext uri="{BB962C8B-B14F-4D97-AF65-F5344CB8AC3E}">
        <p14:creationId xmlns:p14="http://schemas.microsoft.com/office/powerpoint/2010/main" val="404906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Working Method: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57651-738F-4A79-93B0-7EF97868C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96" y="1099656"/>
            <a:ext cx="7192608" cy="40438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35E7A-536C-4468-B7C8-CE94C1413A99}"/>
              </a:ext>
            </a:extLst>
          </p:cNvPr>
          <p:cNvSpPr txBox="1"/>
          <p:nvPr/>
        </p:nvSpPr>
        <p:spPr>
          <a:xfrm>
            <a:off x="451104" y="757808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Block Diagram:</a:t>
            </a:r>
          </a:p>
        </p:txBody>
      </p:sp>
    </p:spTree>
    <p:extLst>
      <p:ext uri="{BB962C8B-B14F-4D97-AF65-F5344CB8AC3E}">
        <p14:creationId xmlns:p14="http://schemas.microsoft.com/office/powerpoint/2010/main" val="73343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>
            <a:spLocks noGrp="1"/>
          </p:cNvSpPr>
          <p:nvPr>
            <p:ph type="title"/>
          </p:nvPr>
        </p:nvSpPr>
        <p:spPr>
          <a:xfrm>
            <a:off x="354240" y="1510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Working Method: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C57734-298B-4328-8335-9EAD27066ADA}"/>
              </a:ext>
            </a:extLst>
          </p:cNvPr>
          <p:cNvSpPr/>
          <p:nvPr/>
        </p:nvSpPr>
        <p:spPr>
          <a:xfrm>
            <a:off x="354240" y="918810"/>
            <a:ext cx="81557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Sensor Data Acquisition</a:t>
            </a:r>
            <a:br>
              <a:rPr lang="en-US" sz="1600" dirty="0"/>
            </a:br>
            <a:r>
              <a:rPr lang="en-US" sz="1600" dirty="0"/>
              <a:t>pH, temperature, and turbidity sensors generate analog signals read by the Arduino Uno. Data is sampled at fixed intervals and averaged to reduce sensor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Local Pre-Processing</a:t>
            </a:r>
            <a:br>
              <a:rPr lang="en-US" sz="1600" dirty="0"/>
            </a:br>
            <a:r>
              <a:rPr lang="en-US" sz="1600" dirty="0"/>
              <a:t>Raw sensor values are filtered and calibrated on the microcontroller to improve reliability before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Wireless Data Transmission</a:t>
            </a:r>
            <a:br>
              <a:rPr lang="en-US" sz="1600" dirty="0"/>
            </a:br>
            <a:r>
              <a:rPr lang="en-US" sz="1600" dirty="0"/>
              <a:t>Processed sensor data is sent via </a:t>
            </a:r>
            <a:r>
              <a:rPr lang="en-US" sz="1600" dirty="0" err="1"/>
              <a:t>WiFi</a:t>
            </a:r>
            <a:r>
              <a:rPr lang="en-US" sz="1600" dirty="0"/>
              <a:t> to the </a:t>
            </a:r>
            <a:r>
              <a:rPr lang="en-US" sz="1600" dirty="0" err="1"/>
              <a:t>ThingSpeak</a:t>
            </a:r>
            <a:r>
              <a:rPr lang="en-US" sz="1600" dirty="0"/>
              <a:t> cloud platform for real-time logging and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Machine Learning–Based Prediction</a:t>
            </a:r>
            <a:br>
              <a:rPr lang="en-US" sz="1600" dirty="0"/>
            </a:br>
            <a:r>
              <a:rPr lang="en-US" sz="1600" dirty="0"/>
              <a:t>Cloud-stored data is fed into a trained Random Forest model that classifies water quality as </a:t>
            </a:r>
            <a:r>
              <a:rPr lang="en-US" sz="1600" b="1" dirty="0"/>
              <a:t>Excellent, Good, or Poor</a:t>
            </a:r>
            <a:r>
              <a:rPr lang="en-US" sz="1600" dirty="0"/>
              <a:t> using engineered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User Feedback and Control</a:t>
            </a:r>
            <a:br>
              <a:rPr lang="en-US" sz="1600" dirty="0"/>
            </a:br>
            <a:r>
              <a:rPr lang="en-US" sz="1600" dirty="0"/>
              <a:t>Farmers can monitor water conditions through dashboards </a:t>
            </a:r>
          </a:p>
        </p:txBody>
      </p:sp>
    </p:spTree>
    <p:extLst>
      <p:ext uri="{BB962C8B-B14F-4D97-AF65-F5344CB8AC3E}">
        <p14:creationId xmlns:p14="http://schemas.microsoft.com/office/powerpoint/2010/main" val="177803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>
            <a:spLocks noGrp="1"/>
          </p:cNvSpPr>
          <p:nvPr>
            <p:ph type="title"/>
          </p:nvPr>
        </p:nvSpPr>
        <p:spPr>
          <a:xfrm>
            <a:off x="4866189" y="1939191"/>
            <a:ext cx="4197129" cy="6325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35" name="Google Shape;335;p4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9891" b="9883"/>
          <a:stretch/>
        </p:blipFill>
        <p:spPr>
          <a:xfrm>
            <a:off x="1245325" y="641550"/>
            <a:ext cx="3207300" cy="3860400"/>
          </a:xfrm>
          <a:prstGeom prst="round2DiagRect">
            <a:avLst>
              <a:gd name="adj1" fmla="val 16667"/>
              <a:gd name="adj2" fmla="val 0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65760" y="423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Development: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06A92AC-AA6E-4539-B91B-27811860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232922"/>
            <a:ext cx="87782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Selection of key water quality parameters: pH, temperature, and turbidity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of an embedded system using Arduino Uno and calibrated analog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 of noise reduction through sampling and averaging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of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 for real-time data transmission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65760" y="423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Development: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63AD67-FD80-2AD0-EF3B-7C25A9973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8" y="1118736"/>
            <a:ext cx="6880989" cy="32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86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65760" y="423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IoT Data Flow: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91D6C1-4196-468E-ADD7-6F2F14C28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194731"/>
            <a:ext cx="83284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acquisition of sensor data at fixed time intervals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 of processed data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visualization and cloud data 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Can see the data in LCD as well as see ML prediction in website.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875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65760" y="423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Proteus Simulation: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2F31B-E307-A3D9-7A61-DB82F209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93029"/>
            <a:ext cx="2933163" cy="2542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A02761-5518-B1D9-3B31-A97E795C3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493029"/>
            <a:ext cx="3078955" cy="2542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BD16D-134C-3CAC-1AD8-9B76458E5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327" y="1493029"/>
            <a:ext cx="3026410" cy="254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5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224566" y="4099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680E8-ADD6-4B67-8D2D-0FA67AD34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66" y="1120241"/>
            <a:ext cx="89194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 and cleaning of historical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data (https://data.mendeley.com/datasets/y78ty2g293/1)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from pH, temperature, and turbidity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balancing using SMOTE to handle class imbalance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of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ultiple models with k-fold cross-validation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 using accuracy, precision, F1-score, recall, and 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of best trained model for real-time water quality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6122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224566" y="4099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E3394-106F-4698-8B1C-49B4708C1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66" y="1203974"/>
            <a:ext cx="4124885" cy="2946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B4EC3C-2474-4590-BC64-B822E3A1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03974"/>
            <a:ext cx="4124885" cy="269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3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953367" y="236244"/>
            <a:ext cx="4827360" cy="13879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6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Google Shape;349;p44">
            <a:extLst>
              <a:ext uri="{FF2B5EF4-FFF2-40B4-BE49-F238E27FC236}">
                <a16:creationId xmlns:a16="http://schemas.microsoft.com/office/drawing/2014/main" id="{2674D887-737F-4535-86D2-62CCDB5C21A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6652" r="26652"/>
          <a:stretch/>
        </p:blipFill>
        <p:spPr>
          <a:xfrm>
            <a:off x="4737424" y="641550"/>
            <a:ext cx="3207300" cy="3860400"/>
          </a:xfrm>
          <a:prstGeom prst="round2DiagRect">
            <a:avLst>
              <a:gd name="adj1" fmla="val 16667"/>
              <a:gd name="adj2" fmla="val 0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696289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6165E-99CB-4822-BA88-21CC3F1AF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1" y="1651754"/>
            <a:ext cx="7863841" cy="183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696289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4D33E-00B1-4206-B0B7-E681B6EA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19" y="1528600"/>
            <a:ext cx="4476940" cy="323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4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696289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0CA9AF-7D49-4E38-8F86-655ECE7D8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1" y="1528600"/>
            <a:ext cx="6669024" cy="347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61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743711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Website: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0C36F-5F7D-4049-8290-0BA328E45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80" y="1434648"/>
            <a:ext cx="7287039" cy="35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30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743711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Website PREDICTION: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A21E1-08D4-4D44-BD7F-C8BF785F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28600"/>
            <a:ext cx="7132320" cy="348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6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743711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ThinkSpeak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Application: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FD08CA-9B43-44F1-BFD3-BD4C85D4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71" y="1436891"/>
            <a:ext cx="7627440" cy="35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09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>
            <a:spLocks noGrp="1"/>
          </p:cNvSpPr>
          <p:nvPr>
            <p:ph type="title"/>
          </p:nvPr>
        </p:nvSpPr>
        <p:spPr>
          <a:xfrm>
            <a:off x="743711" y="243840"/>
            <a:ext cx="4390839" cy="819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340;p43">
            <a:extLst>
              <a:ext uri="{FF2B5EF4-FFF2-40B4-BE49-F238E27FC236}">
                <a16:creationId xmlns:a16="http://schemas.microsoft.com/office/drawing/2014/main" id="{2184B5EC-6FD2-44E5-ADF7-A1B52D11A230}"/>
              </a:ext>
            </a:extLst>
          </p:cNvPr>
          <p:cNvSpPr txBox="1">
            <a:spLocks/>
          </p:cNvSpPr>
          <p:nvPr/>
        </p:nvSpPr>
        <p:spPr>
          <a:xfrm>
            <a:off x="720000" y="9559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-US" sz="2800">
                <a:latin typeface="Cambria" panose="02040503050406030204" pitchFamily="18" charset="0"/>
                <a:ea typeface="Cambria" panose="02040503050406030204" pitchFamily="18" charset="0"/>
              </a:rPr>
              <a:t>Hardware: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D8068-AF9C-FA6A-9B9B-88160F210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4" y="1528600"/>
            <a:ext cx="6702194" cy="333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0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Conclusions: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F59AB-1594-4B50-86FD-C229017655B6}"/>
              </a:ext>
            </a:extLst>
          </p:cNvPr>
          <p:cNvSpPr/>
          <p:nvPr/>
        </p:nvSpPr>
        <p:spPr>
          <a:xfrm>
            <a:off x="463923" y="1279261"/>
            <a:ext cx="705970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integrates real-time data acquisition via sensors measuring pH, temperature, and turbidity, combined with cloud-based monitoring using </a:t>
            </a:r>
            <a:r>
              <a:rPr lang="en-US" dirty="0" err="1"/>
              <a:t>ThingSpeak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Random Forest machine learning model, enhanced using SMOTE to address class imbalance, was developed to classify water quality as Excellent, Good, or Poor.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performance was evaluated using accuracy, F1-score, recall, and confusion matrix, showing reliable prediction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supports real-time automation, reducing manual labor and enabling timely intervention based on machine learning predictions.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Future Scopes: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244933-D28C-49B8-A25B-2B8CF8F0D7EC}"/>
              </a:ext>
            </a:extLst>
          </p:cNvPr>
          <p:cNvSpPr/>
          <p:nvPr/>
        </p:nvSpPr>
        <p:spPr>
          <a:xfrm>
            <a:off x="524434" y="1017725"/>
            <a:ext cx="827666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the original slide mentions "Future Works" without detailed bullet points, based on the project scope and current limitations, the future directions likely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of more parameters: Add sensors for dissolved oxygen (DO), ammonia, or nitrate for a more comprehensive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 interface: Develop farmer-friendly mobile applications for alerts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Offline functionality: Introduce edge computing or local processing for use in areas with unreliable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Broader ML model adaptation: Use deep learning or other ensemble methods for enhanced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Scalability testing: Deploy in various farm environments to evaluate robustness and adaptability.</a:t>
            </a:r>
          </a:p>
        </p:txBody>
      </p:sp>
    </p:spTree>
    <p:extLst>
      <p:ext uri="{BB962C8B-B14F-4D97-AF65-F5344CB8AC3E}">
        <p14:creationId xmlns:p14="http://schemas.microsoft.com/office/powerpoint/2010/main" val="2375582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60"/>
          <p:cNvSpPr txBox="1">
            <a:spLocks noGrp="1"/>
          </p:cNvSpPr>
          <p:nvPr>
            <p:ph type="title"/>
          </p:nvPr>
        </p:nvSpPr>
        <p:spPr>
          <a:xfrm>
            <a:off x="152392" y="849638"/>
            <a:ext cx="7869943" cy="3444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Thanks for listening our presentation</a:t>
            </a:r>
            <a:endParaRPr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04860"/>
      </p:ext>
    </p:extLst>
  </p:cSld>
  <p:clrMapOvr>
    <a:masterClrMapping/>
  </p:clrMapOvr>
</p:sld>
</file>

<file path=ppt/theme/theme1.xml><?xml version="1.0" encoding="utf-8"?>
<a:theme xmlns:a="http://schemas.openxmlformats.org/drawingml/2006/main" name="Sustainable Estuary Management by Slidesgo">
  <a:themeElements>
    <a:clrScheme name="Simple Light">
      <a:dk1>
        <a:srgbClr val="05351F"/>
      </a:dk1>
      <a:lt1>
        <a:srgbClr val="FFFFFF"/>
      </a:lt1>
      <a:dk2>
        <a:srgbClr val="859163"/>
      </a:dk2>
      <a:lt2>
        <a:srgbClr val="83A0BE"/>
      </a:lt2>
      <a:accent1>
        <a:srgbClr val="A3BAD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35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1153</Words>
  <Application>Microsoft Office PowerPoint</Application>
  <PresentationFormat>On-screen Show (16:9)</PresentationFormat>
  <Paragraphs>159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Calibri</vt:lpstr>
      <vt:lpstr>Arial</vt:lpstr>
      <vt:lpstr>Big Shoulders Text</vt:lpstr>
      <vt:lpstr>Heebo</vt:lpstr>
      <vt:lpstr>Nunito Light</vt:lpstr>
      <vt:lpstr>Cambria</vt:lpstr>
      <vt:lpstr>Times New Roman</vt:lpstr>
      <vt:lpstr>Sustainable Estuary Management by Slidesgo</vt:lpstr>
      <vt:lpstr>A Smart IoT-Based Real-Time Water Quality Monitoring System for Aquaculture Using SMOTE-Enhanced Random Forest Models</vt:lpstr>
      <vt:lpstr>PowerPoint Presentation</vt:lpstr>
      <vt:lpstr>Contents of this Presentation</vt:lpstr>
      <vt:lpstr>Aims and Objectives of the work.</vt:lpstr>
      <vt:lpstr>Introduction:</vt:lpstr>
      <vt:lpstr>Introduction:</vt:lpstr>
      <vt:lpstr>Survey Report:</vt:lpstr>
      <vt:lpstr>Literature Review:</vt:lpstr>
      <vt:lpstr>Literature Review:</vt:lpstr>
      <vt:lpstr>Working Method:</vt:lpstr>
      <vt:lpstr>Working Method:</vt:lpstr>
      <vt:lpstr>Methodology</vt:lpstr>
      <vt:lpstr>System Development:</vt:lpstr>
      <vt:lpstr>System Development:</vt:lpstr>
      <vt:lpstr>IoT Data Flow:</vt:lpstr>
      <vt:lpstr>Proteus Simulation:</vt:lpstr>
      <vt:lpstr>Machine Learning Model:</vt:lpstr>
      <vt:lpstr>Machine Learning Model: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Conclusions:</vt:lpstr>
      <vt:lpstr>Future Scopes:</vt:lpstr>
      <vt:lpstr>Thanks for listening our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IoT-based Real-Time Water Quality Monitoring System for Aquaculture Farms using Random Forest and StratifieldKfold</dc:title>
  <cp:lastModifiedBy>abdul wazed</cp:lastModifiedBy>
  <cp:revision>35</cp:revision>
  <dcterms:modified xsi:type="dcterms:W3CDTF">2026-01-08T00:29:06Z</dcterms:modified>
</cp:coreProperties>
</file>