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1"/>
  </p:notesMasterIdLst>
  <p:handoutMasterIdLst>
    <p:handoutMasterId r:id="rId42"/>
  </p:handoutMasterIdLst>
  <p:sldIdLst>
    <p:sldId id="266" r:id="rId5"/>
    <p:sldId id="296" r:id="rId6"/>
    <p:sldId id="297" r:id="rId7"/>
    <p:sldId id="298" r:id="rId8"/>
    <p:sldId id="299" r:id="rId9"/>
    <p:sldId id="302" r:id="rId10"/>
    <p:sldId id="303" r:id="rId11"/>
    <p:sldId id="300" r:id="rId12"/>
    <p:sldId id="295" r:id="rId13"/>
    <p:sldId id="301" r:id="rId14"/>
    <p:sldId id="304" r:id="rId15"/>
    <p:sldId id="305" r:id="rId16"/>
    <p:sldId id="306" r:id="rId17"/>
    <p:sldId id="321" r:id="rId18"/>
    <p:sldId id="307" r:id="rId19"/>
    <p:sldId id="322" r:id="rId20"/>
    <p:sldId id="308" r:id="rId21"/>
    <p:sldId id="309" r:id="rId22"/>
    <p:sldId id="310" r:id="rId23"/>
    <p:sldId id="311" r:id="rId24"/>
    <p:sldId id="312" r:id="rId25"/>
    <p:sldId id="313" r:id="rId26"/>
    <p:sldId id="323" r:id="rId27"/>
    <p:sldId id="315" r:id="rId28"/>
    <p:sldId id="328" r:id="rId29"/>
    <p:sldId id="324" r:id="rId30"/>
    <p:sldId id="325" r:id="rId31"/>
    <p:sldId id="327" r:id="rId32"/>
    <p:sldId id="330" r:id="rId33"/>
    <p:sldId id="331" r:id="rId34"/>
    <p:sldId id="326" r:id="rId35"/>
    <p:sldId id="319" r:id="rId36"/>
    <p:sldId id="332" r:id="rId37"/>
    <p:sldId id="333" r:id="rId38"/>
    <p:sldId id="334" r:id="rId39"/>
    <p:sldId id="335" r:id="rId40"/>
  </p:sldIdLst>
  <p:sldSz cx="164592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54" d="100"/>
          <a:sy n="54" d="100"/>
        </p:scale>
        <p:origin x="408" y="2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959C53-1F47-4EC3-BD04-DCF7D9853FE2}" type="datetimeFigureOut">
              <a:rPr lang="en-US" smtClean="0"/>
              <a:t>7/18/2024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966561-935E-43F2-AA27-F6429D640CD0}" type="slidenum">
              <a:rPr lang="en-US" smtClean="0"/>
              <a:t>‹#›</a:t>
            </a:fld>
            <a:endParaRPr lang="en-US"/>
          </a:p>
        </p:txBody>
      </p:sp>
    </p:spTree>
    <p:extLst>
      <p:ext uri="{BB962C8B-B14F-4D97-AF65-F5344CB8AC3E}">
        <p14:creationId xmlns:p14="http://schemas.microsoft.com/office/powerpoint/2010/main" val="28583798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3753D4-FC42-4AF9-9F67-FF67B8A220EF}" type="datetimeFigureOut">
              <a:rPr lang="en-US" smtClean="0"/>
              <a:t>7/18/2024</a:t>
            </a:fld>
            <a:endParaRPr lang="en-US"/>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CD5281-AB0E-4AE5-96D1-620E2E6C6426}" type="slidenum">
              <a:rPr lang="en-US" smtClean="0"/>
              <a:t>‹#›</a:t>
            </a:fld>
            <a:endParaRPr lang="en-US"/>
          </a:p>
        </p:txBody>
      </p:sp>
    </p:spTree>
    <p:extLst>
      <p:ext uri="{BB962C8B-B14F-4D97-AF65-F5344CB8AC3E}">
        <p14:creationId xmlns:p14="http://schemas.microsoft.com/office/powerpoint/2010/main" val="3235946233"/>
      </p:ext>
    </p:extLst>
  </p:cSld>
  <p:clrMap bg1="lt1" tx1="dk1" bg2="lt2" tx2="dk2" accent1="accent1" accent2="accent2" accent3="accent3" accent4="accent4" accent5="accent5" accent6="accent6" hlink="hlink" folHlink="folHlink"/>
  <p:hf hdr="0" ftr="0" dt="0"/>
  <p:notesStyle>
    <a:lvl1pPr marL="0" algn="l" defTabSz="1185062" rtl="0" eaLnBrk="1" latinLnBrk="0" hangingPunct="1">
      <a:defRPr sz="1555" kern="1200">
        <a:solidFill>
          <a:schemeClr val="tx1"/>
        </a:solidFill>
        <a:latin typeface="+mn-lt"/>
        <a:ea typeface="+mn-ea"/>
        <a:cs typeface="+mn-cs"/>
      </a:defRPr>
    </a:lvl1pPr>
    <a:lvl2pPr marL="592531" algn="l" defTabSz="1185062" rtl="0" eaLnBrk="1" latinLnBrk="0" hangingPunct="1">
      <a:defRPr sz="1555" kern="1200">
        <a:solidFill>
          <a:schemeClr val="tx1"/>
        </a:solidFill>
        <a:latin typeface="+mn-lt"/>
        <a:ea typeface="+mn-ea"/>
        <a:cs typeface="+mn-cs"/>
      </a:defRPr>
    </a:lvl2pPr>
    <a:lvl3pPr marL="1185062" algn="l" defTabSz="1185062" rtl="0" eaLnBrk="1" latinLnBrk="0" hangingPunct="1">
      <a:defRPr sz="1555" kern="1200">
        <a:solidFill>
          <a:schemeClr val="tx1"/>
        </a:solidFill>
        <a:latin typeface="+mn-lt"/>
        <a:ea typeface="+mn-ea"/>
        <a:cs typeface="+mn-cs"/>
      </a:defRPr>
    </a:lvl3pPr>
    <a:lvl4pPr marL="1777594" algn="l" defTabSz="1185062" rtl="0" eaLnBrk="1" latinLnBrk="0" hangingPunct="1">
      <a:defRPr sz="1555" kern="1200">
        <a:solidFill>
          <a:schemeClr val="tx1"/>
        </a:solidFill>
        <a:latin typeface="+mn-lt"/>
        <a:ea typeface="+mn-ea"/>
        <a:cs typeface="+mn-cs"/>
      </a:defRPr>
    </a:lvl4pPr>
    <a:lvl5pPr marL="2370125" algn="l" defTabSz="1185062" rtl="0" eaLnBrk="1" latinLnBrk="0" hangingPunct="1">
      <a:defRPr sz="1555" kern="1200">
        <a:solidFill>
          <a:schemeClr val="tx1"/>
        </a:solidFill>
        <a:latin typeface="+mn-lt"/>
        <a:ea typeface="+mn-ea"/>
        <a:cs typeface="+mn-cs"/>
      </a:defRPr>
    </a:lvl5pPr>
    <a:lvl6pPr marL="2962656" algn="l" defTabSz="1185062" rtl="0" eaLnBrk="1" latinLnBrk="0" hangingPunct="1">
      <a:defRPr sz="1555" kern="1200">
        <a:solidFill>
          <a:schemeClr val="tx1"/>
        </a:solidFill>
        <a:latin typeface="+mn-lt"/>
        <a:ea typeface="+mn-ea"/>
        <a:cs typeface="+mn-cs"/>
      </a:defRPr>
    </a:lvl6pPr>
    <a:lvl7pPr marL="3555187" algn="l" defTabSz="1185062" rtl="0" eaLnBrk="1" latinLnBrk="0" hangingPunct="1">
      <a:defRPr sz="1555" kern="1200">
        <a:solidFill>
          <a:schemeClr val="tx1"/>
        </a:solidFill>
        <a:latin typeface="+mn-lt"/>
        <a:ea typeface="+mn-ea"/>
        <a:cs typeface="+mn-cs"/>
      </a:defRPr>
    </a:lvl7pPr>
    <a:lvl8pPr marL="4147718" algn="l" defTabSz="1185062" rtl="0" eaLnBrk="1" latinLnBrk="0" hangingPunct="1">
      <a:defRPr sz="1555" kern="1200">
        <a:solidFill>
          <a:schemeClr val="tx1"/>
        </a:solidFill>
        <a:latin typeface="+mn-lt"/>
        <a:ea typeface="+mn-ea"/>
        <a:cs typeface="+mn-cs"/>
      </a:defRPr>
    </a:lvl8pPr>
    <a:lvl9pPr marL="4740250" algn="l" defTabSz="1185062" rtl="0" eaLnBrk="1" latinLnBrk="0" hangingPunct="1">
      <a:defRPr sz="155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1143000"/>
            <a:ext cx="61722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2</a:t>
            </a:fld>
            <a:endParaRPr lang="en-US"/>
          </a:p>
        </p:txBody>
      </p:sp>
    </p:spTree>
    <p:extLst>
      <p:ext uri="{BB962C8B-B14F-4D97-AF65-F5344CB8AC3E}">
        <p14:creationId xmlns:p14="http://schemas.microsoft.com/office/powerpoint/2010/main" val="2370512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1143000"/>
            <a:ext cx="61722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5</a:t>
            </a:fld>
            <a:endParaRPr lang="en-US"/>
          </a:p>
        </p:txBody>
      </p:sp>
    </p:spTree>
    <p:extLst>
      <p:ext uri="{BB962C8B-B14F-4D97-AF65-F5344CB8AC3E}">
        <p14:creationId xmlns:p14="http://schemas.microsoft.com/office/powerpoint/2010/main" val="1356645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1143000"/>
            <a:ext cx="61722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6</a:t>
            </a:fld>
            <a:endParaRPr lang="en-US"/>
          </a:p>
        </p:txBody>
      </p:sp>
    </p:spTree>
    <p:extLst>
      <p:ext uri="{BB962C8B-B14F-4D97-AF65-F5344CB8AC3E}">
        <p14:creationId xmlns:p14="http://schemas.microsoft.com/office/powerpoint/2010/main" val="6207785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12</a:t>
            </a:fld>
            <a:endParaRPr lang="en-US"/>
          </a:p>
        </p:txBody>
      </p:sp>
    </p:spTree>
    <p:extLst>
      <p:ext uri="{BB962C8B-B14F-4D97-AF65-F5344CB8AC3E}">
        <p14:creationId xmlns:p14="http://schemas.microsoft.com/office/powerpoint/2010/main" val="3354728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1143000"/>
            <a:ext cx="61722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15</a:t>
            </a:fld>
            <a:endParaRPr lang="en-US"/>
          </a:p>
        </p:txBody>
      </p:sp>
    </p:spTree>
    <p:extLst>
      <p:ext uri="{BB962C8B-B14F-4D97-AF65-F5344CB8AC3E}">
        <p14:creationId xmlns:p14="http://schemas.microsoft.com/office/powerpoint/2010/main" val="2974837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1143000"/>
            <a:ext cx="61722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17</a:t>
            </a:fld>
            <a:endParaRPr lang="en-US"/>
          </a:p>
        </p:txBody>
      </p:sp>
    </p:spTree>
    <p:extLst>
      <p:ext uri="{BB962C8B-B14F-4D97-AF65-F5344CB8AC3E}">
        <p14:creationId xmlns:p14="http://schemas.microsoft.com/office/powerpoint/2010/main" val="28835020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1143000"/>
            <a:ext cx="61722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19</a:t>
            </a:fld>
            <a:endParaRPr lang="en-US"/>
          </a:p>
        </p:txBody>
      </p:sp>
    </p:spTree>
    <p:extLst>
      <p:ext uri="{BB962C8B-B14F-4D97-AF65-F5344CB8AC3E}">
        <p14:creationId xmlns:p14="http://schemas.microsoft.com/office/powerpoint/2010/main" val="41287269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346836"/>
            <a:ext cx="123444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2057400" y="4322446"/>
            <a:ext cx="123444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a:xfrm>
            <a:off x="10521" y="7950630"/>
            <a:ext cx="3703320" cy="278969"/>
          </a:xfrm>
        </p:spPr>
        <p:txBody>
          <a:bodyPr/>
          <a:lstStyle>
            <a:lvl1pPr>
              <a:defRPr>
                <a:solidFill>
                  <a:srgbClr val="0070C0"/>
                </a:solidFill>
              </a:defRPr>
            </a:lvl1pPr>
          </a:lstStyle>
          <a:p>
            <a:fld id="{3E40FB52-8DE6-491B-9267-1232DAC81161}" type="datetime3">
              <a:rPr lang="en-US" smtClean="0"/>
              <a:t>18 July 2024</a:t>
            </a:fld>
            <a:endParaRPr lang="en-US" dirty="0"/>
          </a:p>
        </p:txBody>
      </p:sp>
      <p:sp>
        <p:nvSpPr>
          <p:cNvPr id="5" name="Footer Placeholder 4"/>
          <p:cNvSpPr>
            <a:spLocks noGrp="1"/>
          </p:cNvSpPr>
          <p:nvPr>
            <p:ph type="ftr" sz="quarter" idx="11"/>
          </p:nvPr>
        </p:nvSpPr>
        <p:spPr>
          <a:xfrm>
            <a:off x="5452110" y="7950630"/>
            <a:ext cx="5554980" cy="267212"/>
          </a:xfrm>
        </p:spPr>
        <p:txBody>
          <a:bodyPr/>
          <a:lstStyle>
            <a:lvl1pPr>
              <a:defRPr sz="1600">
                <a:solidFill>
                  <a:srgbClr val="0070C0"/>
                </a:solidFill>
              </a:defRPr>
            </a:lvl1pPr>
          </a:lstStyle>
          <a:p>
            <a:r>
              <a:rPr lang="en-US" dirty="0"/>
              <a:t>Course Teacher: Dr. Md. Rukonuzzaman</a:t>
            </a:r>
          </a:p>
        </p:txBody>
      </p:sp>
      <p:sp>
        <p:nvSpPr>
          <p:cNvPr id="6" name="Slide Number Placeholder 5"/>
          <p:cNvSpPr>
            <a:spLocks noGrp="1"/>
          </p:cNvSpPr>
          <p:nvPr>
            <p:ph type="sldNum" sz="quarter" idx="12"/>
          </p:nvPr>
        </p:nvSpPr>
        <p:spPr>
          <a:xfrm>
            <a:off x="14401799" y="7950630"/>
            <a:ext cx="2031381" cy="278970"/>
          </a:xfrm>
        </p:spPr>
        <p:txBody>
          <a:bodyPr/>
          <a:lstStyle>
            <a:lvl1pPr>
              <a:defRPr>
                <a:solidFill>
                  <a:srgbClr val="0070C0"/>
                </a:solidFill>
              </a:defRPr>
            </a:lvl1pPr>
          </a:lstStyle>
          <a:p>
            <a:fld id="{48F63A3B-78C7-47BE-AE5E-E10140E04643}"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1" y="11981"/>
            <a:ext cx="1696973" cy="1600252"/>
          </a:xfrm>
          <a:prstGeom prst="rect">
            <a:avLst/>
          </a:prstGeom>
        </p:spPr>
      </p:pic>
      <p:sp>
        <p:nvSpPr>
          <p:cNvPr id="8" name="TextBox 7"/>
          <p:cNvSpPr txBox="1"/>
          <p:nvPr userDrawn="1"/>
        </p:nvSpPr>
        <p:spPr>
          <a:xfrm>
            <a:off x="2355742" y="405040"/>
            <a:ext cx="13331330" cy="941796"/>
          </a:xfrm>
          <a:prstGeom prst="rect">
            <a:avLst/>
          </a:prstGeom>
          <a:noFill/>
        </p:spPr>
        <p:txBody>
          <a:bodyPr wrap="square" rtlCol="0">
            <a:spAutoFit/>
          </a:bodyPr>
          <a:lstStyle/>
          <a:p>
            <a:pPr algn="l"/>
            <a:r>
              <a:rPr lang="en-US" sz="3600" b="1" dirty="0">
                <a:solidFill>
                  <a:schemeClr val="accent1">
                    <a:lumMod val="75000"/>
                  </a:schemeClr>
                </a:solidFill>
              </a:rPr>
              <a:t>AMERICAN INTERNATIONAL UNIVERSITY – BANGLADESH (AIUB)</a:t>
            </a:r>
          </a:p>
          <a:p>
            <a:pPr algn="l"/>
            <a:r>
              <a:rPr lang="en-US" sz="1920" dirty="0">
                <a:solidFill>
                  <a:srgbClr val="0070C0"/>
                </a:solidFill>
              </a:rPr>
              <a:t>Where leaders are created</a:t>
            </a:r>
          </a:p>
        </p:txBody>
      </p:sp>
      <p:sp>
        <p:nvSpPr>
          <p:cNvPr id="9" name="TextBox 8"/>
          <p:cNvSpPr txBox="1"/>
          <p:nvPr userDrawn="1"/>
        </p:nvSpPr>
        <p:spPr>
          <a:xfrm>
            <a:off x="11301557" y="7813972"/>
            <a:ext cx="2905681" cy="400110"/>
          </a:xfrm>
          <a:prstGeom prst="rect">
            <a:avLst/>
          </a:prstGeom>
          <a:noFill/>
        </p:spPr>
        <p:txBody>
          <a:bodyPr wrap="square" rtlCol="0">
            <a:spAutoFit/>
          </a:bodyPr>
          <a:lstStyle/>
          <a:p>
            <a:pPr algn="r"/>
            <a:r>
              <a:rPr lang="en-US" sz="2000" b="1" dirty="0">
                <a:solidFill>
                  <a:schemeClr val="accent1">
                    <a:lumMod val="75000"/>
                  </a:schemeClr>
                </a:solidFill>
              </a:rPr>
              <a:t>Department of EEE</a:t>
            </a:r>
          </a:p>
        </p:txBody>
      </p:sp>
    </p:spTree>
    <p:extLst>
      <p:ext uri="{BB962C8B-B14F-4D97-AF65-F5344CB8AC3E}">
        <p14:creationId xmlns:p14="http://schemas.microsoft.com/office/powerpoint/2010/main" val="4049715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6274" y="7919634"/>
            <a:ext cx="2788920" cy="309966"/>
          </a:xfrm>
        </p:spPr>
        <p:txBody>
          <a:bodyPr/>
          <a:lstStyle>
            <a:lvl1pPr>
              <a:defRPr sz="1400">
                <a:solidFill>
                  <a:srgbClr val="0070C0"/>
                </a:solidFill>
              </a:defRPr>
            </a:lvl1pPr>
          </a:lstStyle>
          <a:p>
            <a:fld id="{71929196-59B1-4AA0-8693-4A4DFD55DA06}" type="datetime3">
              <a:rPr lang="en-US" smtClean="0"/>
              <a:t>18 July 2024</a:t>
            </a:fld>
            <a:endParaRPr lang="en-US"/>
          </a:p>
        </p:txBody>
      </p:sp>
      <p:sp>
        <p:nvSpPr>
          <p:cNvPr id="5" name="Footer Placeholder 4"/>
          <p:cNvSpPr>
            <a:spLocks noGrp="1"/>
          </p:cNvSpPr>
          <p:nvPr>
            <p:ph type="ftr" sz="quarter" idx="11"/>
          </p:nvPr>
        </p:nvSpPr>
        <p:spPr>
          <a:xfrm>
            <a:off x="5452110" y="7919634"/>
            <a:ext cx="6636568" cy="325464"/>
          </a:xfrm>
        </p:spPr>
        <p:txBody>
          <a:bodyPr/>
          <a:lstStyle>
            <a:lvl1pPr>
              <a:defRPr sz="1600">
                <a:solidFill>
                  <a:srgbClr val="0070C0"/>
                </a:solidFill>
              </a:defRPr>
            </a:lvl1pPr>
          </a:lstStyle>
          <a:p>
            <a:r>
              <a:rPr lang="en-US" dirty="0"/>
              <a:t>Course Teacher: Dr. Md. Rukonuzzaman</a:t>
            </a:r>
          </a:p>
        </p:txBody>
      </p:sp>
      <p:sp>
        <p:nvSpPr>
          <p:cNvPr id="6" name="Slide Number Placeholder 5"/>
          <p:cNvSpPr>
            <a:spLocks noGrp="1"/>
          </p:cNvSpPr>
          <p:nvPr>
            <p:ph type="sldNum" sz="quarter" idx="12"/>
          </p:nvPr>
        </p:nvSpPr>
        <p:spPr>
          <a:xfrm>
            <a:off x="15141845" y="7919634"/>
            <a:ext cx="1317356" cy="290270"/>
          </a:xfrm>
        </p:spPr>
        <p:txBody>
          <a:bodyPr/>
          <a:lstStyle>
            <a:lvl1pPr>
              <a:defRPr>
                <a:solidFill>
                  <a:srgbClr val="0070C0"/>
                </a:solidFill>
              </a:defRPr>
            </a:lvl1pPr>
          </a:lstStyle>
          <a:p>
            <a:fld id="{48F63A3B-78C7-47BE-AE5E-E10140E04643}" type="slidenum">
              <a:rPr lang="en-US" smtClean="0"/>
              <a:pPr/>
              <a:t>‹#›</a:t>
            </a:fld>
            <a:endParaRPr lang="en-US" dirty="0"/>
          </a:p>
        </p:txBody>
      </p:sp>
      <p:pic>
        <p:nvPicPr>
          <p:cNvPr id="7" name="Picture 6"/>
          <p:cNvPicPr>
            <a:picLocks noChangeAspect="1"/>
          </p:cNvPicPr>
          <p:nvPr userDrawn="1"/>
        </p:nvPicPr>
        <p:blipFill>
          <a:blip r:embed="rId2"/>
          <a:stretch>
            <a:fillRect/>
          </a:stretch>
        </p:blipFill>
        <p:spPr>
          <a:xfrm>
            <a:off x="0" y="18938"/>
            <a:ext cx="1689315" cy="645504"/>
          </a:xfrm>
          <a:prstGeom prst="rect">
            <a:avLst/>
          </a:prstGeom>
        </p:spPr>
      </p:pic>
      <p:sp>
        <p:nvSpPr>
          <p:cNvPr id="8" name="Rectangle 7"/>
          <p:cNvSpPr/>
          <p:nvPr userDrawn="1"/>
        </p:nvSpPr>
        <p:spPr>
          <a:xfrm>
            <a:off x="11794210" y="-16858"/>
            <a:ext cx="4682591" cy="4638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000" b="1" dirty="0">
                <a:solidFill>
                  <a:srgbClr val="FFFF00"/>
                </a:solidFill>
              </a:rPr>
              <a:t>Microprocessor and Embedded Systems</a:t>
            </a:r>
          </a:p>
        </p:txBody>
      </p:sp>
      <p:sp>
        <p:nvSpPr>
          <p:cNvPr id="9" name="TextBox 8"/>
          <p:cNvSpPr txBox="1"/>
          <p:nvPr userDrawn="1"/>
        </p:nvSpPr>
        <p:spPr>
          <a:xfrm>
            <a:off x="12241563" y="7635430"/>
            <a:ext cx="607859" cy="523220"/>
          </a:xfrm>
          <a:prstGeom prst="rect">
            <a:avLst/>
          </a:prstGeom>
          <a:noFill/>
        </p:spPr>
        <p:txBody>
          <a:bodyPr wrap="none" rtlCol="0">
            <a:spAutoFit/>
          </a:bodyPr>
          <a:lstStyle/>
          <a:p>
            <a:fld id="{4B2552B2-E763-405A-8E5A-B8DDC8F7B503}" type="slidenum">
              <a:rPr lang="en-US" sz="2800" smtClean="0">
                <a:solidFill>
                  <a:schemeClr val="bg1"/>
                </a:solidFill>
              </a:rPr>
              <a:t>‹#›</a:t>
            </a:fld>
            <a:endParaRPr lang="en-US" sz="2800" dirty="0">
              <a:solidFill>
                <a:schemeClr val="bg1"/>
              </a:solidFill>
            </a:endParaRPr>
          </a:p>
        </p:txBody>
      </p:sp>
    </p:spTree>
    <p:extLst>
      <p:ext uri="{BB962C8B-B14F-4D97-AF65-F5344CB8AC3E}">
        <p14:creationId xmlns:p14="http://schemas.microsoft.com/office/powerpoint/2010/main" val="4323048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438150"/>
            <a:ext cx="1419606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31570" y="2190750"/>
            <a:ext cx="14196060" cy="52216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1570" y="7627621"/>
            <a:ext cx="370332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14DDBB74-B379-4CB6-B655-467BD2E335B3}" type="datetime3">
              <a:rPr lang="en-US" smtClean="0"/>
              <a:t>18 July 2024</a:t>
            </a:fld>
            <a:endParaRPr lang="en-US"/>
          </a:p>
        </p:txBody>
      </p:sp>
      <p:sp>
        <p:nvSpPr>
          <p:cNvPr id="5" name="Footer Placeholder 4"/>
          <p:cNvSpPr>
            <a:spLocks noGrp="1"/>
          </p:cNvSpPr>
          <p:nvPr>
            <p:ph type="ftr" sz="quarter" idx="3"/>
          </p:nvPr>
        </p:nvSpPr>
        <p:spPr>
          <a:xfrm>
            <a:off x="5452110" y="7627621"/>
            <a:ext cx="555498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r>
              <a:rPr lang="en-US" dirty="0"/>
              <a:t>Course Teacher: Dr. Md. Rukonuzzaman</a:t>
            </a:r>
          </a:p>
        </p:txBody>
      </p:sp>
      <p:sp>
        <p:nvSpPr>
          <p:cNvPr id="6" name="Slide Number Placeholder 5"/>
          <p:cNvSpPr>
            <a:spLocks noGrp="1"/>
          </p:cNvSpPr>
          <p:nvPr>
            <p:ph type="sldNum" sz="quarter" idx="4"/>
          </p:nvPr>
        </p:nvSpPr>
        <p:spPr>
          <a:xfrm>
            <a:off x="11624310" y="7627621"/>
            <a:ext cx="370332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C9C7C91F-6875-4C79-9E49-C73FDE57945E}" type="slidenum">
              <a:rPr lang="en-US" smtClean="0"/>
              <a:t>‹#›</a:t>
            </a:fld>
            <a:endParaRPr lang="en-US"/>
          </a:p>
        </p:txBody>
      </p:sp>
    </p:spTree>
    <p:extLst>
      <p:ext uri="{BB962C8B-B14F-4D97-AF65-F5344CB8AC3E}">
        <p14:creationId xmlns:p14="http://schemas.microsoft.com/office/powerpoint/2010/main" val="2637165226"/>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image" Target="../media/image8.png"/><Relationship Id="rId7" Type="http://schemas.openxmlformats.org/officeDocument/2006/relationships/image" Target="../media/image11.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oleObject" Target="../embeddings/oleObject1.bin"/><Relationship Id="rId4" Type="http://schemas.openxmlformats.org/officeDocument/2006/relationships/image" Target="../media/image9.emf"/><Relationship Id="rId9"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emf"/><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emf"/></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0.png"/><Relationship Id="rId1" Type="http://schemas.openxmlformats.org/officeDocument/2006/relationships/slideLayout" Target="../slideLayouts/slideLayout2.xml"/><Relationship Id="rId4" Type="http://schemas.microsoft.com/office/2007/relationships/hdphoto" Target="../media/hdphoto2.wdp"/></Relationships>
</file>

<file path=ppt/slides/_rels/slide32.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F83542-990E-4AD7-9205-9BAC0D2B3160}"/>
              </a:ext>
            </a:extLst>
          </p:cNvPr>
          <p:cNvSpPr>
            <a:spLocks noGrp="1"/>
          </p:cNvSpPr>
          <p:nvPr>
            <p:ph type="ctrTitle"/>
          </p:nvPr>
        </p:nvSpPr>
        <p:spPr>
          <a:xfrm>
            <a:off x="1211408" y="2369237"/>
            <a:ext cx="14036383" cy="3180102"/>
          </a:xfrm>
        </p:spPr>
        <p:txBody>
          <a:bodyPr>
            <a:noAutofit/>
          </a:bodyPr>
          <a:lstStyle/>
          <a:p>
            <a:r>
              <a:rPr lang="en-US" sz="4800" b="1" dirty="0">
                <a:solidFill>
                  <a:srgbClr val="0000FF"/>
                </a:solidFill>
              </a:rPr>
              <a:t>Lecture # 3 (Final)</a:t>
            </a:r>
            <a:br>
              <a:rPr lang="en-US" sz="4800" b="1" dirty="0">
                <a:solidFill>
                  <a:srgbClr val="0000FF"/>
                </a:solidFill>
              </a:rPr>
            </a:br>
            <a:br>
              <a:rPr lang="en-US" sz="4800" b="1" dirty="0">
                <a:solidFill>
                  <a:srgbClr val="0000FF"/>
                </a:solidFill>
              </a:rPr>
            </a:br>
            <a:r>
              <a:rPr lang="en-US" sz="4800" b="1" dirty="0">
                <a:solidFill>
                  <a:srgbClr val="0000FF"/>
                </a:solidFill>
              </a:rPr>
              <a:t>Processor Logic Design (1</a:t>
            </a:r>
            <a:r>
              <a:rPr lang="en-US" sz="4800" b="1" baseline="30000" dirty="0">
                <a:solidFill>
                  <a:srgbClr val="0000FF"/>
                </a:solidFill>
              </a:rPr>
              <a:t>st</a:t>
            </a:r>
            <a:r>
              <a:rPr lang="en-US" sz="4800" b="1" dirty="0">
                <a:solidFill>
                  <a:srgbClr val="0000FF"/>
                </a:solidFill>
              </a:rPr>
              <a:t> Part)</a:t>
            </a:r>
            <a:br>
              <a:rPr lang="en-US" sz="4800" b="1" dirty="0">
                <a:solidFill>
                  <a:srgbClr val="0000FF"/>
                </a:solidFill>
              </a:rPr>
            </a:br>
            <a:r>
              <a:rPr lang="en-US" sz="4000" b="1" dirty="0">
                <a:solidFill>
                  <a:srgbClr val="0000FF"/>
                </a:solidFill>
              </a:rPr>
              <a:t>ALU Design</a:t>
            </a:r>
            <a:endParaRPr lang="en-US" sz="4800" b="1" dirty="0">
              <a:solidFill>
                <a:srgbClr val="0000FF"/>
              </a:solidFill>
            </a:endParaRPr>
          </a:p>
        </p:txBody>
      </p:sp>
    </p:spTree>
    <p:extLst>
      <p:ext uri="{BB962C8B-B14F-4D97-AF65-F5344CB8AC3E}">
        <p14:creationId xmlns:p14="http://schemas.microsoft.com/office/powerpoint/2010/main" val="2201969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EE75C-4A40-4D0B-95AE-2EA858DF65CC}"/>
              </a:ext>
            </a:extLst>
          </p:cNvPr>
          <p:cNvSpPr>
            <a:spLocks noGrp="1"/>
          </p:cNvSpPr>
          <p:nvPr>
            <p:ph type="title"/>
          </p:nvPr>
        </p:nvSpPr>
        <p:spPr>
          <a:xfrm>
            <a:off x="1737359" y="68252"/>
            <a:ext cx="7672648" cy="864773"/>
          </a:xfrm>
        </p:spPr>
        <p:txBody>
          <a:bodyPr>
            <a:normAutofit/>
          </a:bodyPr>
          <a:lstStyle/>
          <a:p>
            <a:r>
              <a:rPr lang="en-US" sz="5400" b="1" dirty="0">
                <a:solidFill>
                  <a:srgbClr val="0070C0"/>
                </a:solidFill>
              </a:rPr>
              <a:t>Bus Organization</a:t>
            </a:r>
          </a:p>
        </p:txBody>
      </p:sp>
      <p:sp>
        <p:nvSpPr>
          <p:cNvPr id="3" name="Date Placeholder 2"/>
          <p:cNvSpPr>
            <a:spLocks noGrp="1"/>
          </p:cNvSpPr>
          <p:nvPr>
            <p:ph type="dt" sz="half" idx="10"/>
          </p:nvPr>
        </p:nvSpPr>
        <p:spPr/>
        <p:txBody>
          <a:bodyPr/>
          <a:lstStyle/>
          <a:p>
            <a:fld id="{B807526D-012A-4D91-8417-DD262E2850B4}" type="datetime3">
              <a:rPr lang="en-US" smtClean="0"/>
              <a:t>18 July 2024</a:t>
            </a:fld>
            <a:endParaRPr lang="en-US"/>
          </a:p>
        </p:txBody>
      </p:sp>
      <p:sp>
        <p:nvSpPr>
          <p:cNvPr id="4" name="Footer Placeholder 3"/>
          <p:cNvSpPr>
            <a:spLocks noGrp="1"/>
          </p:cNvSpPr>
          <p:nvPr>
            <p:ph type="ftr" sz="quarter" idx="11"/>
          </p:nvPr>
        </p:nvSpPr>
        <p:spPr/>
        <p:txBody>
          <a:bodyPr/>
          <a:lstStyle/>
          <a:p>
            <a:r>
              <a:rPr lang="en-US" dirty="0"/>
              <a:t>Course Teacher: Dr. Md. Rukonuzzaman</a:t>
            </a:r>
          </a:p>
        </p:txBody>
      </p:sp>
      <p:sp>
        <p:nvSpPr>
          <p:cNvPr id="8" name="Slide Number Placeholder 7"/>
          <p:cNvSpPr>
            <a:spLocks noGrp="1"/>
          </p:cNvSpPr>
          <p:nvPr>
            <p:ph type="sldNum" sz="quarter" idx="12"/>
          </p:nvPr>
        </p:nvSpPr>
        <p:spPr/>
        <p:txBody>
          <a:bodyPr/>
          <a:lstStyle/>
          <a:p>
            <a:fld id="{48F63A3B-78C7-47BE-AE5E-E10140E04643}" type="slidenum">
              <a:rPr lang="en-US" smtClean="0"/>
              <a:t>2</a:t>
            </a:fld>
            <a:endParaRPr lang="en-US" dirty="0"/>
          </a:p>
        </p:txBody>
      </p:sp>
      <p:pic>
        <p:nvPicPr>
          <p:cNvPr id="11" name="Picture 10"/>
          <p:cNvPicPr>
            <a:picLocks noChangeAspect="1"/>
          </p:cNvPicPr>
          <p:nvPr/>
        </p:nvPicPr>
        <p:blipFill rotWithShape="1">
          <a:blip r:embed="rId3">
            <a:duotone>
              <a:schemeClr val="accent5">
                <a:shade val="45000"/>
                <a:satMod val="135000"/>
              </a:schemeClr>
              <a:prstClr val="white"/>
            </a:duotone>
            <a:extLst>
              <a:ext uri="{BEBA8EAE-BF5A-486C-A8C5-ECC9F3942E4B}">
                <a14:imgProps xmlns:a14="http://schemas.microsoft.com/office/drawing/2010/main">
                  <a14:imgLayer r:embed="rId4">
                    <a14:imgEffect>
                      <a14:artisticPhotocopy/>
                    </a14:imgEffect>
                  </a14:imgLayer>
                </a14:imgProps>
              </a:ext>
            </a:extLst>
          </a:blip>
          <a:srcRect l="2056" t="1873" r="4597" b="3956"/>
          <a:stretch/>
        </p:blipFill>
        <p:spPr>
          <a:xfrm>
            <a:off x="9247169" y="605642"/>
            <a:ext cx="6341627" cy="7077690"/>
          </a:xfrm>
          <a:prstGeom prst="rect">
            <a:avLst/>
          </a:prstGeom>
        </p:spPr>
      </p:pic>
      <p:sp>
        <p:nvSpPr>
          <p:cNvPr id="12" name="Rectangle 11">
            <a:extLst>
              <a:ext uri="{FF2B5EF4-FFF2-40B4-BE49-F238E27FC236}">
                <a16:creationId xmlns:a16="http://schemas.microsoft.com/office/drawing/2014/main" id="{9EDE8E88-5674-4DE2-BB4D-EECFCD2D2348}"/>
              </a:ext>
            </a:extLst>
          </p:cNvPr>
          <p:cNvSpPr/>
          <p:nvPr/>
        </p:nvSpPr>
        <p:spPr>
          <a:xfrm>
            <a:off x="8688778" y="7574534"/>
            <a:ext cx="7781895" cy="369313"/>
          </a:xfrm>
          <a:prstGeom prst="rect">
            <a:avLst/>
          </a:prstGeom>
        </p:spPr>
        <p:txBody>
          <a:bodyPr wrap="square">
            <a:spAutoFit/>
          </a:bodyPr>
          <a:lstStyle/>
          <a:p>
            <a:pPr algn="ctr"/>
            <a:r>
              <a:rPr lang="en-US" b="1" dirty="0"/>
              <a:t>Fig. 9.1 Processor registers and ALU connected through Common Buses</a:t>
            </a:r>
          </a:p>
        </p:txBody>
      </p:sp>
      <p:sp>
        <p:nvSpPr>
          <p:cNvPr id="15" name="Content Placeholder 4">
            <a:extLst>
              <a:ext uri="{FF2B5EF4-FFF2-40B4-BE49-F238E27FC236}">
                <a16:creationId xmlns:a16="http://schemas.microsoft.com/office/drawing/2014/main" id="{ED18861A-715B-4313-BDF7-A97D9A71DF19}"/>
              </a:ext>
            </a:extLst>
          </p:cNvPr>
          <p:cNvSpPr txBox="1">
            <a:spLocks/>
          </p:cNvSpPr>
          <p:nvPr/>
        </p:nvSpPr>
        <p:spPr>
          <a:xfrm>
            <a:off x="498764" y="1273310"/>
            <a:ext cx="8712926" cy="6125293"/>
          </a:xfrm>
          <a:prstGeom prst="rect">
            <a:avLst/>
          </a:prstGeom>
        </p:spPr>
        <p:txBody>
          <a:bodyPr vert="horz" lIns="91440" tIns="45720" rIns="91440" bIns="45720" rtlCol="0">
            <a:no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457200" indent="-457200">
              <a:lnSpc>
                <a:spcPct val="120000"/>
              </a:lnSpc>
              <a:spcBef>
                <a:spcPts val="300"/>
              </a:spcBef>
              <a:spcAft>
                <a:spcPts val="300"/>
              </a:spcAft>
              <a:buClr>
                <a:srgbClr val="00B050"/>
              </a:buClr>
              <a:buFont typeface="Wingdings" panose="05000000000000000000" pitchFamily="2" charset="2"/>
              <a:buChar char="v"/>
            </a:pPr>
            <a:r>
              <a:rPr lang="en-US" sz="2200" dirty="0"/>
              <a:t>A bus organization has 4 registers, each register is connected to 2 multiplexers to form 2 buses A and B. </a:t>
            </a:r>
          </a:p>
          <a:p>
            <a:pPr marL="457200" indent="-457200">
              <a:lnSpc>
                <a:spcPct val="120000"/>
              </a:lnSpc>
              <a:spcBef>
                <a:spcPts val="300"/>
              </a:spcBef>
              <a:spcAft>
                <a:spcPts val="300"/>
              </a:spcAft>
              <a:buClr>
                <a:srgbClr val="00B050"/>
              </a:buClr>
              <a:buFont typeface="Wingdings" panose="05000000000000000000" pitchFamily="2" charset="2"/>
              <a:buChar char="v"/>
            </a:pPr>
            <a:r>
              <a:rPr lang="en-US" sz="2200" dirty="0"/>
              <a:t>To perform the </a:t>
            </a:r>
            <a:r>
              <a:rPr lang="en-US" sz="2200" b="1" dirty="0">
                <a:solidFill>
                  <a:srgbClr val="FF0000"/>
                </a:solidFill>
              </a:rPr>
              <a:t>micro-operation</a:t>
            </a:r>
            <a:r>
              <a:rPr lang="en-US" sz="2200" dirty="0"/>
              <a:t>:</a:t>
            </a:r>
          </a:p>
          <a:p>
            <a:pPr marL="457200" lvl="1" indent="-457200">
              <a:lnSpc>
                <a:spcPct val="120000"/>
              </a:lnSpc>
              <a:spcBef>
                <a:spcPts val="300"/>
              </a:spcBef>
              <a:spcAft>
                <a:spcPts val="300"/>
              </a:spcAft>
              <a:buClr>
                <a:srgbClr val="00B050"/>
              </a:buClr>
              <a:buNone/>
            </a:pPr>
            <a:r>
              <a:rPr lang="en-US" sz="2200" dirty="0"/>
              <a:t>	R1 = R2 + R3</a:t>
            </a:r>
          </a:p>
          <a:p>
            <a:pPr marL="457200" indent="-457200">
              <a:lnSpc>
                <a:spcPct val="120000"/>
              </a:lnSpc>
              <a:spcBef>
                <a:spcPts val="300"/>
              </a:spcBef>
              <a:spcAft>
                <a:spcPts val="300"/>
              </a:spcAft>
              <a:buClr>
                <a:srgbClr val="00B050"/>
              </a:buClr>
              <a:buFont typeface="Wingdings" panose="05000000000000000000" pitchFamily="2" charset="2"/>
              <a:buChar char="v"/>
            </a:pPr>
            <a:r>
              <a:rPr lang="en-US" sz="2200" dirty="0"/>
              <a:t>The control unit must provide binary selection variables to the following selector inputs –</a:t>
            </a:r>
          </a:p>
          <a:p>
            <a:pPr marL="548640" indent="-548640">
              <a:lnSpc>
                <a:spcPct val="120000"/>
              </a:lnSpc>
              <a:spcBef>
                <a:spcPts val="300"/>
              </a:spcBef>
              <a:spcAft>
                <a:spcPts val="300"/>
              </a:spcAft>
              <a:buFont typeface="+mj-lt"/>
              <a:buAutoNum type="arabicPeriod"/>
            </a:pPr>
            <a:r>
              <a:rPr lang="en-US" sz="2200" dirty="0">
                <a:solidFill>
                  <a:srgbClr val="7030A0"/>
                </a:solidFill>
              </a:rPr>
              <a:t>MUX A Selector: </a:t>
            </a:r>
            <a:r>
              <a:rPr lang="en-US" sz="2200" dirty="0"/>
              <a:t>to place contents of R2 onto bus A</a:t>
            </a:r>
          </a:p>
          <a:p>
            <a:pPr marL="548640" indent="-548640">
              <a:lnSpc>
                <a:spcPct val="120000"/>
              </a:lnSpc>
              <a:spcBef>
                <a:spcPts val="300"/>
              </a:spcBef>
              <a:spcAft>
                <a:spcPts val="300"/>
              </a:spcAft>
              <a:buFont typeface="+mj-lt"/>
              <a:buAutoNum type="arabicPeriod"/>
            </a:pPr>
            <a:r>
              <a:rPr lang="en-US" sz="2200" dirty="0">
                <a:solidFill>
                  <a:srgbClr val="7030A0"/>
                </a:solidFill>
              </a:rPr>
              <a:t>MUX B Selector: </a:t>
            </a:r>
            <a:r>
              <a:rPr lang="en-US" sz="2200" dirty="0"/>
              <a:t>to place contents of R3 onto bus B</a:t>
            </a:r>
          </a:p>
          <a:p>
            <a:pPr marL="548640" indent="-548640">
              <a:lnSpc>
                <a:spcPct val="120000"/>
              </a:lnSpc>
              <a:spcBef>
                <a:spcPts val="300"/>
              </a:spcBef>
              <a:spcAft>
                <a:spcPts val="300"/>
              </a:spcAft>
              <a:buFont typeface="+mj-lt"/>
              <a:buAutoNum type="arabicPeriod"/>
            </a:pPr>
            <a:r>
              <a:rPr lang="en-US" sz="2200" dirty="0">
                <a:solidFill>
                  <a:srgbClr val="7030A0"/>
                </a:solidFill>
              </a:rPr>
              <a:t>ALU Function Selector: </a:t>
            </a:r>
            <a:r>
              <a:rPr lang="en-US" sz="2200" dirty="0"/>
              <a:t>to provide the arithmetic operation A + B</a:t>
            </a:r>
          </a:p>
          <a:p>
            <a:pPr marL="548640" indent="-548640">
              <a:lnSpc>
                <a:spcPct val="120000"/>
              </a:lnSpc>
              <a:spcBef>
                <a:spcPts val="300"/>
              </a:spcBef>
              <a:spcAft>
                <a:spcPts val="300"/>
              </a:spcAft>
              <a:buFont typeface="+mj-lt"/>
              <a:buAutoNum type="arabicPeriod"/>
            </a:pPr>
            <a:r>
              <a:rPr lang="en-US" sz="2200" dirty="0">
                <a:solidFill>
                  <a:srgbClr val="7030A0"/>
                </a:solidFill>
              </a:rPr>
              <a:t>Shift Selector: </a:t>
            </a:r>
            <a:r>
              <a:rPr lang="en-US" sz="2200" dirty="0"/>
              <a:t>for direct transfer from the output of the ALU onto output bus S (no shift)</a:t>
            </a:r>
          </a:p>
          <a:p>
            <a:pPr marL="548640" indent="-548640">
              <a:lnSpc>
                <a:spcPct val="120000"/>
              </a:lnSpc>
              <a:spcBef>
                <a:spcPts val="300"/>
              </a:spcBef>
              <a:spcAft>
                <a:spcPts val="300"/>
              </a:spcAft>
              <a:buFont typeface="+mj-lt"/>
              <a:buAutoNum type="arabicPeriod"/>
            </a:pPr>
            <a:r>
              <a:rPr lang="en-US" sz="2200" dirty="0">
                <a:solidFill>
                  <a:srgbClr val="7030A0"/>
                </a:solidFill>
              </a:rPr>
              <a:t>Decoder Destination Selector: </a:t>
            </a:r>
            <a:r>
              <a:rPr lang="en-US" sz="2200" dirty="0"/>
              <a:t>to transfer the contents of bus S into R1</a:t>
            </a:r>
          </a:p>
        </p:txBody>
      </p:sp>
      <p:cxnSp>
        <p:nvCxnSpPr>
          <p:cNvPr id="6" name="Straight Connector 5">
            <a:extLst>
              <a:ext uri="{FF2B5EF4-FFF2-40B4-BE49-F238E27FC236}">
                <a16:creationId xmlns:a16="http://schemas.microsoft.com/office/drawing/2014/main" id="{42B26CEB-6C32-20AF-8597-128EF9778D34}"/>
              </a:ext>
            </a:extLst>
          </p:cNvPr>
          <p:cNvCxnSpPr/>
          <p:nvPr/>
        </p:nvCxnSpPr>
        <p:spPr>
          <a:xfrm>
            <a:off x="11608085" y="4772694"/>
            <a:ext cx="809897" cy="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BFD95C6E-48B4-7336-699D-653894E0699D}"/>
              </a:ext>
            </a:extLst>
          </p:cNvPr>
          <p:cNvCxnSpPr/>
          <p:nvPr/>
        </p:nvCxnSpPr>
        <p:spPr>
          <a:xfrm>
            <a:off x="14785581" y="4759631"/>
            <a:ext cx="809897"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9" name="Straight Connector 8">
            <a:extLst>
              <a:ext uri="{FF2B5EF4-FFF2-40B4-BE49-F238E27FC236}">
                <a16:creationId xmlns:a16="http://schemas.microsoft.com/office/drawing/2014/main" id="{0C42D2AC-62A1-2091-C241-68C32E8B5848}"/>
              </a:ext>
            </a:extLst>
          </p:cNvPr>
          <p:cNvCxnSpPr/>
          <p:nvPr/>
        </p:nvCxnSpPr>
        <p:spPr>
          <a:xfrm>
            <a:off x="14990626" y="6175564"/>
            <a:ext cx="809897"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95BD89C5-4FF7-AB9B-FDFE-A32D84CF5C65}"/>
              </a:ext>
            </a:extLst>
          </p:cNvPr>
          <p:cNvCxnSpPr/>
          <p:nvPr/>
        </p:nvCxnSpPr>
        <p:spPr>
          <a:xfrm>
            <a:off x="14799827" y="6993775"/>
            <a:ext cx="809897" cy="0"/>
          </a:xfrm>
          <a:prstGeom prst="line">
            <a:avLst/>
          </a:prstGeom>
          <a:ln w="28575">
            <a:solidFill>
              <a:srgbClr val="00B0F0"/>
            </a:solidFill>
          </a:ln>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37BCBB0F-8B32-CD49-3147-06F5A2235DB8}"/>
              </a:ext>
            </a:extLst>
          </p:cNvPr>
          <p:cNvCxnSpPr/>
          <p:nvPr/>
        </p:nvCxnSpPr>
        <p:spPr>
          <a:xfrm>
            <a:off x="9998356" y="5594862"/>
            <a:ext cx="809897" cy="0"/>
          </a:xfrm>
          <a:prstGeom prst="line">
            <a:avLst/>
          </a:prstGeom>
          <a:ln w="28575">
            <a:solidFill>
              <a:srgbClr val="00B05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21829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5">
                                            <p:txEl>
                                              <p:pRg st="4" end="4"/>
                                            </p:txEl>
                                          </p:spTgt>
                                        </p:tgtEl>
                                        <p:attrNameLst>
                                          <p:attrName>style.color</p:attrName>
                                        </p:attrNameLst>
                                      </p:cBhvr>
                                      <p:to>
                                        <a:schemeClr val="accent2"/>
                                      </p:to>
                                    </p:animClr>
                                    <p:animClr clrSpc="rgb" dir="cw">
                                      <p:cBhvr>
                                        <p:cTn id="7" dur="500" fill="hold"/>
                                        <p:tgtEl>
                                          <p:spTgt spid="15">
                                            <p:txEl>
                                              <p:pRg st="4" end="4"/>
                                            </p:txEl>
                                          </p:spTgt>
                                        </p:tgtEl>
                                        <p:attrNameLst>
                                          <p:attrName>fillcolor</p:attrName>
                                        </p:attrNameLst>
                                      </p:cBhvr>
                                      <p:to>
                                        <a:schemeClr val="accent2"/>
                                      </p:to>
                                    </p:animClr>
                                    <p:set>
                                      <p:cBhvr>
                                        <p:cTn id="8" dur="500" fill="hold"/>
                                        <p:tgtEl>
                                          <p:spTgt spid="15">
                                            <p:txEl>
                                              <p:pRg st="4" end="4"/>
                                            </p:txEl>
                                          </p:spTgt>
                                        </p:tgtEl>
                                        <p:attrNameLst>
                                          <p:attrName>fill.type</p:attrName>
                                        </p:attrNameLst>
                                      </p:cBhvr>
                                      <p:to>
                                        <p:strVal val="solid"/>
                                      </p:to>
                                    </p:set>
                                    <p:set>
                                      <p:cBhvr>
                                        <p:cTn id="9" dur="500" fill="hold"/>
                                        <p:tgtEl>
                                          <p:spTgt spid="15">
                                            <p:txEl>
                                              <p:pRg st="4" end="4"/>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9" presetClass="emph" presetSubtype="0" fill="hold" nodeType="clickEffect">
                                  <p:stCondLst>
                                    <p:cond delay="0"/>
                                  </p:stCondLst>
                                  <p:childTnLst>
                                    <p:animClr clrSpc="rgb" dir="cw">
                                      <p:cBhvr override="childStyle">
                                        <p:cTn id="19" dur="500" fill="hold"/>
                                        <p:tgtEl>
                                          <p:spTgt spid="15">
                                            <p:txEl>
                                              <p:pRg st="5" end="5"/>
                                            </p:txEl>
                                          </p:spTgt>
                                        </p:tgtEl>
                                        <p:attrNameLst>
                                          <p:attrName>style.color</p:attrName>
                                        </p:attrNameLst>
                                      </p:cBhvr>
                                      <p:to>
                                        <a:srgbClr val="C00000"/>
                                      </p:to>
                                    </p:animClr>
                                    <p:animClr clrSpc="rgb" dir="cw">
                                      <p:cBhvr>
                                        <p:cTn id="20" dur="500" fill="hold"/>
                                        <p:tgtEl>
                                          <p:spTgt spid="15">
                                            <p:txEl>
                                              <p:pRg st="5" end="5"/>
                                            </p:txEl>
                                          </p:spTgt>
                                        </p:tgtEl>
                                        <p:attrNameLst>
                                          <p:attrName>fillcolor</p:attrName>
                                        </p:attrNameLst>
                                      </p:cBhvr>
                                      <p:to>
                                        <a:srgbClr val="C00000"/>
                                      </p:to>
                                    </p:animClr>
                                    <p:set>
                                      <p:cBhvr>
                                        <p:cTn id="21" dur="500" fill="hold"/>
                                        <p:tgtEl>
                                          <p:spTgt spid="15">
                                            <p:txEl>
                                              <p:pRg st="5" end="5"/>
                                            </p:txEl>
                                          </p:spTgt>
                                        </p:tgtEl>
                                        <p:attrNameLst>
                                          <p:attrName>fill.type</p:attrName>
                                        </p:attrNameLst>
                                      </p:cBhvr>
                                      <p:to>
                                        <p:strVal val="solid"/>
                                      </p:to>
                                    </p:set>
                                    <p:set>
                                      <p:cBhvr>
                                        <p:cTn id="22" dur="500" fill="hold"/>
                                        <p:tgtEl>
                                          <p:spTgt spid="15">
                                            <p:txEl>
                                              <p:pRg st="5" end="5"/>
                                            </p:txEl>
                                          </p:spTgt>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9" presetClass="emph" presetSubtype="0" fill="hold" nodeType="clickEffect">
                                  <p:stCondLst>
                                    <p:cond delay="0"/>
                                  </p:stCondLst>
                                  <p:childTnLst>
                                    <p:animClr clrSpc="rgb" dir="cw">
                                      <p:cBhvr override="childStyle">
                                        <p:cTn id="32" dur="500" fill="hold"/>
                                        <p:tgtEl>
                                          <p:spTgt spid="15">
                                            <p:txEl>
                                              <p:pRg st="6" end="6"/>
                                            </p:txEl>
                                          </p:spTgt>
                                        </p:tgtEl>
                                        <p:attrNameLst>
                                          <p:attrName>style.color</p:attrName>
                                        </p:attrNameLst>
                                      </p:cBhvr>
                                      <p:to>
                                        <a:srgbClr val="FF0000"/>
                                      </p:to>
                                    </p:animClr>
                                    <p:animClr clrSpc="rgb" dir="cw">
                                      <p:cBhvr>
                                        <p:cTn id="33" dur="500" fill="hold"/>
                                        <p:tgtEl>
                                          <p:spTgt spid="15">
                                            <p:txEl>
                                              <p:pRg st="6" end="6"/>
                                            </p:txEl>
                                          </p:spTgt>
                                        </p:tgtEl>
                                        <p:attrNameLst>
                                          <p:attrName>fillcolor</p:attrName>
                                        </p:attrNameLst>
                                      </p:cBhvr>
                                      <p:to>
                                        <a:srgbClr val="FF0000"/>
                                      </p:to>
                                    </p:animClr>
                                    <p:set>
                                      <p:cBhvr>
                                        <p:cTn id="34" dur="500" fill="hold"/>
                                        <p:tgtEl>
                                          <p:spTgt spid="15">
                                            <p:txEl>
                                              <p:pRg st="6" end="6"/>
                                            </p:txEl>
                                          </p:spTgt>
                                        </p:tgtEl>
                                        <p:attrNameLst>
                                          <p:attrName>fill.type</p:attrName>
                                        </p:attrNameLst>
                                      </p:cBhvr>
                                      <p:to>
                                        <p:strVal val="solid"/>
                                      </p:to>
                                    </p:set>
                                    <p:set>
                                      <p:cBhvr>
                                        <p:cTn id="35" dur="500" fill="hold"/>
                                        <p:tgtEl>
                                          <p:spTgt spid="15">
                                            <p:txEl>
                                              <p:pRg st="6" end="6"/>
                                            </p:txEl>
                                          </p:spTgt>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ppt_x"/>
                                          </p:val>
                                        </p:tav>
                                        <p:tav tm="100000">
                                          <p:val>
                                            <p:strVal val="#ppt_x"/>
                                          </p:val>
                                        </p:tav>
                                      </p:tavLst>
                                    </p:anim>
                                    <p:anim calcmode="lin" valueType="num">
                                      <p:cBhvr additive="base">
                                        <p:cTn id="4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9" presetClass="emph" presetSubtype="0" fill="hold" nodeType="clickEffect">
                                  <p:stCondLst>
                                    <p:cond delay="0"/>
                                  </p:stCondLst>
                                  <p:childTnLst>
                                    <p:animClr clrSpc="rgb" dir="cw">
                                      <p:cBhvr override="childStyle">
                                        <p:cTn id="45" dur="500" fill="hold"/>
                                        <p:tgtEl>
                                          <p:spTgt spid="15">
                                            <p:txEl>
                                              <p:pRg st="7" end="7"/>
                                            </p:txEl>
                                          </p:spTgt>
                                        </p:tgtEl>
                                        <p:attrNameLst>
                                          <p:attrName>style.color</p:attrName>
                                        </p:attrNameLst>
                                      </p:cBhvr>
                                      <p:to>
                                        <a:srgbClr val="00B0F0"/>
                                      </p:to>
                                    </p:animClr>
                                    <p:animClr clrSpc="rgb" dir="cw">
                                      <p:cBhvr>
                                        <p:cTn id="46" dur="500" fill="hold"/>
                                        <p:tgtEl>
                                          <p:spTgt spid="15">
                                            <p:txEl>
                                              <p:pRg st="7" end="7"/>
                                            </p:txEl>
                                          </p:spTgt>
                                        </p:tgtEl>
                                        <p:attrNameLst>
                                          <p:attrName>fillcolor</p:attrName>
                                        </p:attrNameLst>
                                      </p:cBhvr>
                                      <p:to>
                                        <a:srgbClr val="00B0F0"/>
                                      </p:to>
                                    </p:animClr>
                                    <p:set>
                                      <p:cBhvr>
                                        <p:cTn id="47" dur="500" fill="hold"/>
                                        <p:tgtEl>
                                          <p:spTgt spid="15">
                                            <p:txEl>
                                              <p:pRg st="7" end="7"/>
                                            </p:txEl>
                                          </p:spTgt>
                                        </p:tgtEl>
                                        <p:attrNameLst>
                                          <p:attrName>fill.type</p:attrName>
                                        </p:attrNameLst>
                                      </p:cBhvr>
                                      <p:to>
                                        <p:strVal val="solid"/>
                                      </p:to>
                                    </p:set>
                                    <p:set>
                                      <p:cBhvr>
                                        <p:cTn id="48" dur="500" fill="hold"/>
                                        <p:tgtEl>
                                          <p:spTgt spid="15">
                                            <p:txEl>
                                              <p:pRg st="7" end="7"/>
                                            </p:txEl>
                                          </p:spTgt>
                                        </p:tgtEl>
                                        <p:attrNameLst>
                                          <p:attrName>fill.on</p:attrName>
                                        </p:attrNameLst>
                                      </p:cBhvr>
                                      <p:to>
                                        <p:strVal val="true"/>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ppt_x"/>
                                          </p:val>
                                        </p:tav>
                                        <p:tav tm="100000">
                                          <p:val>
                                            <p:strVal val="#ppt_x"/>
                                          </p:val>
                                        </p:tav>
                                      </p:tavLst>
                                    </p:anim>
                                    <p:anim calcmode="lin" valueType="num">
                                      <p:cBhvr additive="base">
                                        <p:cTn id="5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9" presetClass="emph" presetSubtype="0" fill="hold" nodeType="clickEffect">
                                  <p:stCondLst>
                                    <p:cond delay="0"/>
                                  </p:stCondLst>
                                  <p:childTnLst>
                                    <p:animClr clrSpc="rgb" dir="cw">
                                      <p:cBhvr override="childStyle">
                                        <p:cTn id="58" dur="500" fill="hold"/>
                                        <p:tgtEl>
                                          <p:spTgt spid="15">
                                            <p:txEl>
                                              <p:pRg st="8" end="8"/>
                                            </p:txEl>
                                          </p:spTgt>
                                        </p:tgtEl>
                                        <p:attrNameLst>
                                          <p:attrName>style.color</p:attrName>
                                        </p:attrNameLst>
                                      </p:cBhvr>
                                      <p:to>
                                        <a:srgbClr val="00B050"/>
                                      </p:to>
                                    </p:animClr>
                                    <p:animClr clrSpc="rgb" dir="cw">
                                      <p:cBhvr>
                                        <p:cTn id="59" dur="500" fill="hold"/>
                                        <p:tgtEl>
                                          <p:spTgt spid="15">
                                            <p:txEl>
                                              <p:pRg st="8" end="8"/>
                                            </p:txEl>
                                          </p:spTgt>
                                        </p:tgtEl>
                                        <p:attrNameLst>
                                          <p:attrName>fillcolor</p:attrName>
                                        </p:attrNameLst>
                                      </p:cBhvr>
                                      <p:to>
                                        <a:srgbClr val="00B050"/>
                                      </p:to>
                                    </p:animClr>
                                    <p:set>
                                      <p:cBhvr>
                                        <p:cTn id="60" dur="500" fill="hold"/>
                                        <p:tgtEl>
                                          <p:spTgt spid="15">
                                            <p:txEl>
                                              <p:pRg st="8" end="8"/>
                                            </p:txEl>
                                          </p:spTgt>
                                        </p:tgtEl>
                                        <p:attrNameLst>
                                          <p:attrName>fill.type</p:attrName>
                                        </p:attrNameLst>
                                      </p:cBhvr>
                                      <p:to>
                                        <p:strVal val="solid"/>
                                      </p:to>
                                    </p:set>
                                    <p:set>
                                      <p:cBhvr>
                                        <p:cTn id="61" dur="500" fill="hold"/>
                                        <p:tgtEl>
                                          <p:spTgt spid="15">
                                            <p:txEl>
                                              <p:pRg st="8" end="8"/>
                                            </p:txEl>
                                          </p:spTgt>
                                        </p:tgtEl>
                                        <p:attrNameLst>
                                          <p:attrName>fill.on</p:attrName>
                                        </p:attrNameLst>
                                      </p:cBhvr>
                                      <p:to>
                                        <p:strVal val="true"/>
                                      </p:to>
                                    </p:se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 calcmode="lin" valueType="num">
                                      <p:cBhvr additive="base">
                                        <p:cTn id="66" dur="500" fill="hold"/>
                                        <p:tgtEl>
                                          <p:spTgt spid="13"/>
                                        </p:tgtEl>
                                        <p:attrNameLst>
                                          <p:attrName>ppt_x</p:attrName>
                                        </p:attrNameLst>
                                      </p:cBhvr>
                                      <p:tavLst>
                                        <p:tav tm="0">
                                          <p:val>
                                            <p:strVal val="#ppt_x"/>
                                          </p:val>
                                        </p:tav>
                                        <p:tav tm="100000">
                                          <p:val>
                                            <p:strVal val="#ppt_x"/>
                                          </p:val>
                                        </p:tav>
                                      </p:tavLst>
                                    </p:anim>
                                    <p:anim calcmode="lin" valueType="num">
                                      <p:cBhvr additive="base">
                                        <p:cTn id="6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7ED9-2181-4F4E-BDED-E5939040B1BF}"/>
              </a:ext>
            </a:extLst>
          </p:cNvPr>
          <p:cNvSpPr>
            <a:spLocks noGrp="1"/>
          </p:cNvSpPr>
          <p:nvPr>
            <p:ph type="title"/>
          </p:nvPr>
        </p:nvSpPr>
        <p:spPr>
          <a:xfrm>
            <a:off x="1471353" y="510639"/>
            <a:ext cx="13990319" cy="653143"/>
          </a:xfrm>
        </p:spPr>
        <p:txBody>
          <a:bodyPr>
            <a:normAutofit/>
          </a:bodyPr>
          <a:lstStyle/>
          <a:p>
            <a:pPr algn="ctr"/>
            <a:r>
              <a:rPr lang="en-US" sz="4000" b="1" dirty="0">
                <a:solidFill>
                  <a:srgbClr val="0000FF"/>
                </a:solidFill>
              </a:rPr>
              <a:t>Bus Organization</a:t>
            </a:r>
          </a:p>
        </p:txBody>
      </p:sp>
      <p:sp>
        <p:nvSpPr>
          <p:cNvPr id="3" name="Content Placeholder 2">
            <a:extLst>
              <a:ext uri="{FF2B5EF4-FFF2-40B4-BE49-F238E27FC236}">
                <a16:creationId xmlns:a16="http://schemas.microsoft.com/office/drawing/2014/main" id="{A4236090-461D-4706-8F15-02D07CC8664D}"/>
              </a:ext>
            </a:extLst>
          </p:cNvPr>
          <p:cNvSpPr>
            <a:spLocks noGrp="1"/>
          </p:cNvSpPr>
          <p:nvPr>
            <p:ph idx="1"/>
          </p:nvPr>
        </p:nvSpPr>
        <p:spPr>
          <a:xfrm>
            <a:off x="1471353" y="1788505"/>
            <a:ext cx="12802787" cy="3678976"/>
          </a:xfrm>
        </p:spPr>
        <p:txBody>
          <a:bodyPr>
            <a:noAutofit/>
          </a:bodyPr>
          <a:lstStyle/>
          <a:p>
            <a:pPr marL="457200" indent="-457200">
              <a:lnSpc>
                <a:spcPct val="120000"/>
              </a:lnSpc>
              <a:spcBef>
                <a:spcPts val="600"/>
              </a:spcBef>
              <a:spcAft>
                <a:spcPts val="600"/>
              </a:spcAft>
              <a:buClr>
                <a:srgbClr val="00B050"/>
              </a:buClr>
              <a:buFont typeface="Wingdings" panose="05000000000000000000" pitchFamily="2" charset="2"/>
              <a:buChar char="v"/>
            </a:pPr>
            <a:r>
              <a:rPr lang="en-US" sz="2400" b="1" dirty="0"/>
              <a:t>The </a:t>
            </a:r>
            <a:r>
              <a:rPr lang="en-US" sz="2400" b="1" dirty="0">
                <a:solidFill>
                  <a:srgbClr val="FF0000"/>
                </a:solidFill>
              </a:rPr>
              <a:t>five control selection variables must be generated</a:t>
            </a:r>
            <a:r>
              <a:rPr lang="en-US" sz="2400" b="1" dirty="0"/>
              <a:t> simultaneously and must be available during one common clock pulse interval.</a:t>
            </a:r>
          </a:p>
          <a:p>
            <a:pPr marL="457200" indent="-457200">
              <a:lnSpc>
                <a:spcPct val="120000"/>
              </a:lnSpc>
              <a:spcBef>
                <a:spcPts val="600"/>
              </a:spcBef>
              <a:spcAft>
                <a:spcPts val="600"/>
              </a:spcAft>
              <a:buClr>
                <a:srgbClr val="00B050"/>
              </a:buClr>
              <a:buFont typeface="Wingdings" panose="05000000000000000000" pitchFamily="2" charset="2"/>
              <a:buChar char="v"/>
            </a:pPr>
            <a:r>
              <a:rPr lang="en-US" sz="2400" b="1" dirty="0"/>
              <a:t>The binary information from two source registers propagates through the </a:t>
            </a:r>
            <a:r>
              <a:rPr lang="en-US" sz="2400" b="1" dirty="0">
                <a:solidFill>
                  <a:srgbClr val="FF0000"/>
                </a:solidFill>
              </a:rPr>
              <a:t>combinational gates in the multiplexers, the ALU</a:t>
            </a:r>
            <a:r>
              <a:rPr lang="en-US" sz="2400" b="1" dirty="0"/>
              <a:t>, and the shifter, to the output bus and into the inputs of the destination register all during one clock pulse interval.</a:t>
            </a:r>
          </a:p>
          <a:p>
            <a:pPr marL="457200" indent="-457200">
              <a:lnSpc>
                <a:spcPct val="120000"/>
              </a:lnSpc>
              <a:spcBef>
                <a:spcPts val="600"/>
              </a:spcBef>
              <a:spcAft>
                <a:spcPts val="600"/>
              </a:spcAft>
              <a:buClr>
                <a:srgbClr val="00B050"/>
              </a:buClr>
              <a:buFont typeface="Wingdings" panose="05000000000000000000" pitchFamily="2" charset="2"/>
              <a:buChar char="v"/>
            </a:pPr>
            <a:r>
              <a:rPr lang="en-US" sz="2400" b="1" dirty="0"/>
              <a:t>Then, when the next </a:t>
            </a:r>
            <a:r>
              <a:rPr lang="en-US" sz="2400" b="1" dirty="0">
                <a:solidFill>
                  <a:srgbClr val="FF0000"/>
                </a:solidFill>
              </a:rPr>
              <a:t>clock pulse arrives</a:t>
            </a:r>
            <a:r>
              <a:rPr lang="en-US" sz="2400" b="1" dirty="0"/>
              <a:t>, the binary information on the output bus is transferred to R1.</a:t>
            </a:r>
          </a:p>
        </p:txBody>
      </p:sp>
      <p:sp>
        <p:nvSpPr>
          <p:cNvPr id="4" name="Date Placeholder 3"/>
          <p:cNvSpPr>
            <a:spLocks noGrp="1"/>
          </p:cNvSpPr>
          <p:nvPr>
            <p:ph type="dt" sz="half" idx="10"/>
          </p:nvPr>
        </p:nvSpPr>
        <p:spPr/>
        <p:txBody>
          <a:bodyPr/>
          <a:lstStyle/>
          <a:p>
            <a:fld id="{448397E2-DE77-45CE-BCEB-7DAC3EF854EB}" type="datetime3">
              <a:rPr lang="en-US" smtClean="0"/>
              <a:t>18 July 2024</a:t>
            </a:fld>
            <a:endParaRPr lang="en-US"/>
          </a:p>
        </p:txBody>
      </p:sp>
      <p:sp>
        <p:nvSpPr>
          <p:cNvPr id="5" name="Footer Placeholder 4"/>
          <p:cNvSpPr>
            <a:spLocks noGrp="1"/>
          </p:cNvSpPr>
          <p:nvPr>
            <p:ph type="ftr" sz="quarter" idx="11"/>
          </p:nvPr>
        </p:nvSpPr>
        <p:spPr/>
        <p:txBody>
          <a:bodyPr/>
          <a:lstStyle/>
          <a:p>
            <a:r>
              <a:rPr lang="en-US" dirty="0"/>
              <a:t>Course Teacher: Dr. Md. Rukonuzzaman</a:t>
            </a:r>
          </a:p>
        </p:txBody>
      </p:sp>
      <p:sp>
        <p:nvSpPr>
          <p:cNvPr id="6" name="Slide Number Placeholder 5"/>
          <p:cNvSpPr>
            <a:spLocks noGrp="1"/>
          </p:cNvSpPr>
          <p:nvPr>
            <p:ph type="sldNum" sz="quarter" idx="12"/>
          </p:nvPr>
        </p:nvSpPr>
        <p:spPr/>
        <p:txBody>
          <a:bodyPr/>
          <a:lstStyle/>
          <a:p>
            <a:fld id="{48F63A3B-78C7-47BE-AE5E-E10140E04643}" type="slidenum">
              <a:rPr lang="en-US" smtClean="0"/>
              <a:t>3</a:t>
            </a:fld>
            <a:endParaRPr lang="en-US" dirty="0"/>
          </a:p>
        </p:txBody>
      </p:sp>
    </p:spTree>
    <p:extLst>
      <p:ext uri="{BB962C8B-B14F-4D97-AF65-F5344CB8AC3E}">
        <p14:creationId xmlns:p14="http://schemas.microsoft.com/office/powerpoint/2010/main" val="4285523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77C1E-5E27-4695-AA5E-4698264470C1}"/>
              </a:ext>
            </a:extLst>
          </p:cNvPr>
          <p:cNvSpPr>
            <a:spLocks noGrp="1"/>
          </p:cNvSpPr>
          <p:nvPr>
            <p:ph type="title"/>
          </p:nvPr>
        </p:nvSpPr>
        <p:spPr>
          <a:xfrm>
            <a:off x="1448789" y="519076"/>
            <a:ext cx="14072259" cy="1192176"/>
          </a:xfrm>
        </p:spPr>
        <p:txBody>
          <a:bodyPr>
            <a:normAutofit/>
          </a:bodyPr>
          <a:lstStyle/>
          <a:p>
            <a:pPr algn="ctr">
              <a:lnSpc>
                <a:spcPct val="85000"/>
              </a:lnSpc>
            </a:pPr>
            <a:r>
              <a:rPr lang="en-US" sz="4000" b="1" dirty="0">
                <a:solidFill>
                  <a:srgbClr val="0000FF"/>
                </a:solidFill>
              </a:rPr>
              <a:t>Scratchpad Memory</a:t>
            </a:r>
            <a:endParaRPr lang="en-US" sz="4000" dirty="0">
              <a:solidFill>
                <a:srgbClr val="0000FF"/>
              </a:solidFill>
            </a:endParaRPr>
          </a:p>
        </p:txBody>
      </p:sp>
      <p:sp>
        <p:nvSpPr>
          <p:cNvPr id="3" name="Content Placeholder 2">
            <a:extLst>
              <a:ext uri="{FF2B5EF4-FFF2-40B4-BE49-F238E27FC236}">
                <a16:creationId xmlns:a16="http://schemas.microsoft.com/office/drawing/2014/main" id="{3AE11DCE-3FBD-4233-9860-10F63DD4113E}"/>
              </a:ext>
            </a:extLst>
          </p:cNvPr>
          <p:cNvSpPr>
            <a:spLocks noGrp="1"/>
          </p:cNvSpPr>
          <p:nvPr>
            <p:ph idx="1"/>
          </p:nvPr>
        </p:nvSpPr>
        <p:spPr>
          <a:xfrm>
            <a:off x="1448790" y="1983179"/>
            <a:ext cx="13693055" cy="5664528"/>
          </a:xfrm>
        </p:spPr>
        <p:txBody>
          <a:bodyPr>
            <a:noAutofit/>
          </a:bodyPr>
          <a:lstStyle/>
          <a:p>
            <a:pPr>
              <a:lnSpc>
                <a:spcPct val="120000"/>
              </a:lnSpc>
              <a:spcBef>
                <a:spcPts val="600"/>
              </a:spcBef>
              <a:spcAft>
                <a:spcPts val="600"/>
              </a:spcAft>
            </a:pPr>
            <a:r>
              <a:rPr lang="en-US" sz="2400" b="1" dirty="0"/>
              <a:t>The registers in a processor unit can be enclosed within a small memory unit. When included in a processor unit, a small memory is sometimes called a </a:t>
            </a:r>
            <a:r>
              <a:rPr lang="en-US" sz="2400" b="1" dirty="0">
                <a:solidFill>
                  <a:srgbClr val="FF0000"/>
                </a:solidFill>
              </a:rPr>
              <a:t>scratchpad memory</a:t>
            </a:r>
            <a:r>
              <a:rPr lang="en-US" sz="2400" b="1" dirty="0"/>
              <a:t>.</a:t>
            </a:r>
          </a:p>
          <a:p>
            <a:pPr>
              <a:lnSpc>
                <a:spcPct val="120000"/>
              </a:lnSpc>
              <a:spcBef>
                <a:spcPts val="600"/>
              </a:spcBef>
              <a:spcAft>
                <a:spcPts val="600"/>
              </a:spcAft>
            </a:pPr>
            <a:r>
              <a:rPr lang="en-US" sz="2400" b="1" dirty="0"/>
              <a:t>The use of a small memory is a cheaper alternative to connecting processor registers through a bus system. The difference between the two systems is the manner in which information is selected for transfer into the ALU.</a:t>
            </a:r>
          </a:p>
          <a:p>
            <a:pPr>
              <a:lnSpc>
                <a:spcPct val="120000"/>
              </a:lnSpc>
              <a:spcBef>
                <a:spcPts val="600"/>
              </a:spcBef>
              <a:spcAft>
                <a:spcPts val="600"/>
              </a:spcAft>
            </a:pPr>
            <a:r>
              <a:rPr lang="en-US" sz="2400" b="1" dirty="0"/>
              <a:t>In the bus system, the information transfer is selected by the multiplexers that form the buses.</a:t>
            </a:r>
          </a:p>
          <a:p>
            <a:pPr>
              <a:lnSpc>
                <a:spcPct val="120000"/>
              </a:lnSpc>
              <a:spcBef>
                <a:spcPts val="600"/>
              </a:spcBef>
              <a:spcAft>
                <a:spcPts val="600"/>
              </a:spcAft>
            </a:pPr>
            <a:r>
              <a:rPr lang="en-US" sz="2400" b="1" dirty="0"/>
              <a:t>On the other hand, a single register in </a:t>
            </a:r>
            <a:r>
              <a:rPr lang="en-US" sz="2400" b="1" dirty="0">
                <a:solidFill>
                  <a:srgbClr val="FF0000"/>
                </a:solidFill>
              </a:rPr>
              <a:t>a group of registers organized as a small memory </a:t>
            </a:r>
            <a:r>
              <a:rPr lang="en-US" sz="2400" b="1" dirty="0"/>
              <a:t>must be </a:t>
            </a:r>
            <a:r>
              <a:rPr lang="en-US" sz="2400" b="1" dirty="0">
                <a:solidFill>
                  <a:srgbClr val="FF0000"/>
                </a:solidFill>
              </a:rPr>
              <a:t>selected</a:t>
            </a:r>
            <a:r>
              <a:rPr lang="en-US" sz="2400" b="1" dirty="0"/>
              <a:t> by means of an </a:t>
            </a:r>
            <a:r>
              <a:rPr lang="en-US" sz="2400" b="1" dirty="0">
                <a:solidFill>
                  <a:srgbClr val="FF0000"/>
                </a:solidFill>
              </a:rPr>
              <a:t>address</a:t>
            </a:r>
            <a:r>
              <a:rPr lang="en-US" sz="2400" b="1" dirty="0"/>
              <a:t> to the memory unit.</a:t>
            </a:r>
          </a:p>
        </p:txBody>
      </p:sp>
      <p:sp>
        <p:nvSpPr>
          <p:cNvPr id="4" name="Date Placeholder 3"/>
          <p:cNvSpPr>
            <a:spLocks noGrp="1"/>
          </p:cNvSpPr>
          <p:nvPr>
            <p:ph type="dt" sz="half" idx="10"/>
          </p:nvPr>
        </p:nvSpPr>
        <p:spPr/>
        <p:txBody>
          <a:bodyPr/>
          <a:lstStyle/>
          <a:p>
            <a:fld id="{9886441F-BD48-4147-8D91-DD273D7EC4A5}" type="datetime3">
              <a:rPr lang="en-US" smtClean="0"/>
              <a:t>18 July 2024</a:t>
            </a:fld>
            <a:endParaRPr lang="en-US"/>
          </a:p>
        </p:txBody>
      </p:sp>
      <p:sp>
        <p:nvSpPr>
          <p:cNvPr id="5" name="Footer Placeholder 4"/>
          <p:cNvSpPr>
            <a:spLocks noGrp="1"/>
          </p:cNvSpPr>
          <p:nvPr>
            <p:ph type="ftr" sz="quarter" idx="11"/>
          </p:nvPr>
        </p:nvSpPr>
        <p:spPr/>
        <p:txBody>
          <a:bodyPr/>
          <a:lstStyle/>
          <a:p>
            <a:r>
              <a:rPr lang="en-US" dirty="0"/>
              <a:t>Course Teacher: Dr. Md. Rukonuzzaman</a:t>
            </a:r>
          </a:p>
        </p:txBody>
      </p:sp>
      <p:sp>
        <p:nvSpPr>
          <p:cNvPr id="6" name="Slide Number Placeholder 5"/>
          <p:cNvSpPr>
            <a:spLocks noGrp="1"/>
          </p:cNvSpPr>
          <p:nvPr>
            <p:ph type="sldNum" sz="quarter" idx="12"/>
          </p:nvPr>
        </p:nvSpPr>
        <p:spPr/>
        <p:txBody>
          <a:bodyPr/>
          <a:lstStyle/>
          <a:p>
            <a:fld id="{48F63A3B-78C7-47BE-AE5E-E10140E04643}" type="slidenum">
              <a:rPr lang="en-US" smtClean="0"/>
              <a:t>4</a:t>
            </a:fld>
            <a:endParaRPr lang="en-US" dirty="0"/>
          </a:p>
        </p:txBody>
      </p:sp>
    </p:spTree>
    <p:extLst>
      <p:ext uri="{BB962C8B-B14F-4D97-AF65-F5344CB8AC3E}">
        <p14:creationId xmlns:p14="http://schemas.microsoft.com/office/powerpoint/2010/main" val="3671047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3067D-1670-470D-BFAB-C9DFC17A20D5}"/>
              </a:ext>
            </a:extLst>
          </p:cNvPr>
          <p:cNvSpPr>
            <a:spLocks noGrp="1"/>
          </p:cNvSpPr>
          <p:nvPr>
            <p:ph type="title"/>
          </p:nvPr>
        </p:nvSpPr>
        <p:spPr>
          <a:xfrm>
            <a:off x="1072342" y="107759"/>
            <a:ext cx="14329954" cy="1338655"/>
          </a:xfrm>
        </p:spPr>
        <p:txBody>
          <a:bodyPr>
            <a:normAutofit/>
          </a:bodyPr>
          <a:lstStyle/>
          <a:p>
            <a:pPr algn="ctr"/>
            <a:r>
              <a:rPr lang="en-US" sz="4000" b="1" dirty="0">
                <a:solidFill>
                  <a:srgbClr val="0000FF"/>
                </a:solidFill>
              </a:rPr>
              <a:t>Scratchpad Memory</a:t>
            </a:r>
            <a:endParaRPr lang="en-US" sz="4000" dirty="0">
              <a:solidFill>
                <a:srgbClr val="0000FF"/>
              </a:solidFill>
            </a:endParaRPr>
          </a:p>
        </p:txBody>
      </p:sp>
      <p:sp>
        <p:nvSpPr>
          <p:cNvPr id="3" name="Content Placeholder 2">
            <a:extLst>
              <a:ext uri="{FF2B5EF4-FFF2-40B4-BE49-F238E27FC236}">
                <a16:creationId xmlns:a16="http://schemas.microsoft.com/office/drawing/2014/main" id="{0F1A97F8-1EA5-49E4-8938-DF72E0B3B2B1}"/>
              </a:ext>
            </a:extLst>
          </p:cNvPr>
          <p:cNvSpPr>
            <a:spLocks noGrp="1"/>
          </p:cNvSpPr>
          <p:nvPr>
            <p:ph idx="1"/>
          </p:nvPr>
        </p:nvSpPr>
        <p:spPr>
          <a:xfrm>
            <a:off x="836024" y="1264845"/>
            <a:ext cx="8502734" cy="6118332"/>
          </a:xfrm>
        </p:spPr>
        <p:txBody>
          <a:bodyPr>
            <a:noAutofit/>
          </a:bodyPr>
          <a:lstStyle/>
          <a:p>
            <a:pPr marL="457200" indent="-457200">
              <a:lnSpc>
                <a:spcPct val="120000"/>
              </a:lnSpc>
              <a:spcBef>
                <a:spcPts val="600"/>
              </a:spcBef>
              <a:spcAft>
                <a:spcPts val="600"/>
              </a:spcAft>
              <a:buClr>
                <a:srgbClr val="0000FF"/>
              </a:buClr>
              <a:buFont typeface="Wingdings" panose="05000000000000000000" pitchFamily="2" charset="2"/>
              <a:buChar char="v"/>
            </a:pPr>
            <a:r>
              <a:rPr lang="en-US" sz="2400" dirty="0"/>
              <a:t>To perform the operation R1 = R2 + R3, the control must provide binary selection variables to perform the following </a:t>
            </a:r>
            <a:r>
              <a:rPr lang="en-US" sz="2400" dirty="0">
                <a:solidFill>
                  <a:srgbClr val="FF0000"/>
                </a:solidFill>
              </a:rPr>
              <a:t>sequence of three microoperations</a:t>
            </a:r>
            <a:r>
              <a:rPr lang="en-US" sz="2400" dirty="0"/>
              <a:t>:</a:t>
            </a:r>
          </a:p>
          <a:p>
            <a:pPr marL="548640" lvl="2" indent="0">
              <a:lnSpc>
                <a:spcPct val="120000"/>
              </a:lnSpc>
              <a:spcAft>
                <a:spcPts val="600"/>
              </a:spcAft>
              <a:buClr>
                <a:srgbClr val="0000FF"/>
              </a:buClr>
              <a:buNone/>
            </a:pPr>
            <a:r>
              <a:rPr lang="en-US" dirty="0"/>
              <a:t>T1: A  </a:t>
            </a:r>
            <a:r>
              <a:rPr lang="en-US" dirty="0">
                <a:sym typeface="Wingdings" panose="05000000000000000000" pitchFamily="2" charset="2"/>
              </a:rPr>
              <a:t> M[010]	 Read R2 into register A</a:t>
            </a:r>
          </a:p>
          <a:p>
            <a:pPr marL="548640" lvl="2" indent="0">
              <a:lnSpc>
                <a:spcPct val="120000"/>
              </a:lnSpc>
              <a:spcAft>
                <a:spcPts val="600"/>
              </a:spcAft>
              <a:buClr>
                <a:srgbClr val="0000FF"/>
              </a:buClr>
              <a:buNone/>
            </a:pPr>
            <a:r>
              <a:rPr lang="en-US" dirty="0">
                <a:sym typeface="Wingdings" panose="05000000000000000000" pitchFamily="2" charset="2"/>
              </a:rPr>
              <a:t>T2: B   M[011]  	 Read R3 into register B</a:t>
            </a:r>
          </a:p>
          <a:p>
            <a:pPr marL="548640" lvl="2" indent="0">
              <a:lnSpc>
                <a:spcPct val="120000"/>
              </a:lnSpc>
              <a:spcAft>
                <a:spcPts val="600"/>
              </a:spcAft>
              <a:buClr>
                <a:srgbClr val="0000FF"/>
              </a:buClr>
              <a:buNone/>
            </a:pPr>
            <a:r>
              <a:rPr lang="en-US" dirty="0">
                <a:sym typeface="Wingdings" panose="05000000000000000000" pitchFamily="2" charset="2"/>
              </a:rPr>
              <a:t>T3: M [001]  A+B	 Perform the operation in ALU     				 and transfer the result to R1</a:t>
            </a:r>
          </a:p>
          <a:p>
            <a:pPr marL="457200" indent="-457200">
              <a:lnSpc>
                <a:spcPct val="120000"/>
              </a:lnSpc>
              <a:spcBef>
                <a:spcPts val="600"/>
              </a:spcBef>
              <a:spcAft>
                <a:spcPts val="600"/>
              </a:spcAft>
              <a:buClr>
                <a:srgbClr val="0000FF"/>
              </a:buClr>
              <a:buFont typeface="Wingdings" panose="05000000000000000000" pitchFamily="2" charset="2"/>
              <a:buChar char="v"/>
            </a:pPr>
            <a:r>
              <a:rPr lang="en-US" sz="2400" dirty="0"/>
              <a:t>The reason for a sequence of 3 microoperations, instead of just 1 as in a bus-organized processor, is due to the limitation of the memory unit having only one set of address terminals but two source registers are to be accessed. So, multiple memory addresses can’t be accessed simultaneously.</a:t>
            </a:r>
          </a:p>
        </p:txBody>
      </p:sp>
      <p:pic>
        <p:nvPicPr>
          <p:cNvPr id="8" name="Picture 7">
            <a:extLst>
              <a:ext uri="{FF2B5EF4-FFF2-40B4-BE49-F238E27FC236}">
                <a16:creationId xmlns:a16="http://schemas.microsoft.com/office/drawing/2014/main" id="{0D334108-3DFD-46F3-AE2B-74F15C602E53}"/>
              </a:ext>
            </a:extLst>
          </p:cNvPr>
          <p:cNvPicPr>
            <a:picLocks noChangeAspect="1"/>
          </p:cNvPicPr>
          <p:nvPr/>
        </p:nvPicPr>
        <p:blipFill rotWithShape="1">
          <a:blip r:embed="rId3"/>
          <a:srcRect l="2082"/>
          <a:stretch/>
        </p:blipFill>
        <p:spPr>
          <a:xfrm>
            <a:off x="10110056" y="710039"/>
            <a:ext cx="5285712" cy="6846031"/>
          </a:xfrm>
          <a:prstGeom prst="rect">
            <a:avLst/>
          </a:prstGeom>
        </p:spPr>
      </p:pic>
      <p:sp>
        <p:nvSpPr>
          <p:cNvPr id="9" name="TextBox 8">
            <a:extLst>
              <a:ext uri="{FF2B5EF4-FFF2-40B4-BE49-F238E27FC236}">
                <a16:creationId xmlns:a16="http://schemas.microsoft.com/office/drawing/2014/main" id="{CC204947-D623-4E76-B591-BEC744349455}"/>
              </a:ext>
            </a:extLst>
          </p:cNvPr>
          <p:cNvSpPr txBox="1"/>
          <p:nvPr/>
        </p:nvSpPr>
        <p:spPr>
          <a:xfrm>
            <a:off x="10785170" y="7639279"/>
            <a:ext cx="5285712" cy="276999"/>
          </a:xfrm>
          <a:prstGeom prst="rect">
            <a:avLst/>
          </a:prstGeom>
          <a:noFill/>
        </p:spPr>
        <p:txBody>
          <a:bodyPr wrap="square" lIns="0" tIns="0" rIns="0" bIns="0" rtlCol="0">
            <a:spAutoFit/>
          </a:bodyPr>
          <a:lstStyle/>
          <a:p>
            <a:pPr algn="ctr"/>
            <a:r>
              <a:rPr lang="en-US" b="1" dirty="0"/>
              <a:t>Fig. 9.2 Processor unit employing a scratchpad memory</a:t>
            </a:r>
          </a:p>
        </p:txBody>
      </p:sp>
      <p:sp>
        <p:nvSpPr>
          <p:cNvPr id="4" name="Date Placeholder 3"/>
          <p:cNvSpPr>
            <a:spLocks noGrp="1"/>
          </p:cNvSpPr>
          <p:nvPr>
            <p:ph type="dt" sz="half" idx="10"/>
          </p:nvPr>
        </p:nvSpPr>
        <p:spPr/>
        <p:txBody>
          <a:bodyPr/>
          <a:lstStyle/>
          <a:p>
            <a:fld id="{7CF26F60-B56E-47F7-84A6-C1649B35866B}" type="datetime3">
              <a:rPr lang="en-US" smtClean="0"/>
              <a:t>18 July 2024</a:t>
            </a:fld>
            <a:endParaRPr lang="en-US"/>
          </a:p>
        </p:txBody>
      </p:sp>
      <p:sp>
        <p:nvSpPr>
          <p:cNvPr id="5" name="Footer Placeholder 4"/>
          <p:cNvSpPr>
            <a:spLocks noGrp="1"/>
          </p:cNvSpPr>
          <p:nvPr>
            <p:ph type="ftr" sz="quarter" idx="11"/>
          </p:nvPr>
        </p:nvSpPr>
        <p:spPr/>
        <p:txBody>
          <a:bodyPr/>
          <a:lstStyle/>
          <a:p>
            <a:r>
              <a:rPr lang="en-US" dirty="0"/>
              <a:t>Course Teacher: Dr. Md. Rukonuzzaman</a:t>
            </a:r>
          </a:p>
        </p:txBody>
      </p:sp>
      <p:sp>
        <p:nvSpPr>
          <p:cNvPr id="6" name="Slide Number Placeholder 5"/>
          <p:cNvSpPr>
            <a:spLocks noGrp="1"/>
          </p:cNvSpPr>
          <p:nvPr>
            <p:ph type="sldNum" sz="quarter" idx="12"/>
          </p:nvPr>
        </p:nvSpPr>
        <p:spPr/>
        <p:txBody>
          <a:bodyPr/>
          <a:lstStyle/>
          <a:p>
            <a:fld id="{48F63A3B-78C7-47BE-AE5E-E10140E04643}" type="slidenum">
              <a:rPr lang="en-US" smtClean="0"/>
              <a:t>5</a:t>
            </a:fld>
            <a:endParaRPr lang="en-US" dirty="0"/>
          </a:p>
        </p:txBody>
      </p:sp>
      <p:cxnSp>
        <p:nvCxnSpPr>
          <p:cNvPr id="10" name="Straight Arrow Connector 9">
            <a:extLst>
              <a:ext uri="{FF2B5EF4-FFF2-40B4-BE49-F238E27FC236}">
                <a16:creationId xmlns:a16="http://schemas.microsoft.com/office/drawing/2014/main" id="{2F01A315-E865-0A63-0518-664D9596A024}"/>
              </a:ext>
            </a:extLst>
          </p:cNvPr>
          <p:cNvCxnSpPr>
            <a:cxnSpLocks/>
          </p:cNvCxnSpPr>
          <p:nvPr/>
        </p:nvCxnSpPr>
        <p:spPr>
          <a:xfrm flipH="1">
            <a:off x="11954890" y="3111331"/>
            <a:ext cx="522514" cy="1606731"/>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DEA89669-6A37-0E79-A10D-F9959AA1FD89}"/>
              </a:ext>
            </a:extLst>
          </p:cNvPr>
          <p:cNvCxnSpPr>
            <a:cxnSpLocks/>
          </p:cNvCxnSpPr>
          <p:nvPr/>
        </p:nvCxnSpPr>
        <p:spPr>
          <a:xfrm>
            <a:off x="12819412" y="3111331"/>
            <a:ext cx="462354" cy="1606731"/>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6" name="Rectangle 15">
            <a:extLst>
              <a:ext uri="{FF2B5EF4-FFF2-40B4-BE49-F238E27FC236}">
                <a16:creationId xmlns:a16="http://schemas.microsoft.com/office/drawing/2014/main" id="{5EF2FC9B-16F5-0DF3-E14D-FFB31676144B}"/>
              </a:ext>
            </a:extLst>
          </p:cNvPr>
          <p:cNvSpPr/>
          <p:nvPr/>
        </p:nvSpPr>
        <p:spPr>
          <a:xfrm>
            <a:off x="12203084" y="5554085"/>
            <a:ext cx="979715" cy="40494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5679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1" end="1"/>
                                            </p:txEl>
                                          </p:spTgt>
                                        </p:tgtEl>
                                        <p:attrNameLst>
                                          <p:attrName>style.color</p:attrName>
                                        </p:attrNameLst>
                                      </p:cBhvr>
                                      <p:to>
                                        <a:schemeClr val="accent2"/>
                                      </p:to>
                                    </p:animClr>
                                    <p:animClr clrSpc="rgb" dir="cw">
                                      <p:cBhvr>
                                        <p:cTn id="7" dur="500" fill="hold"/>
                                        <p:tgtEl>
                                          <p:spTgt spid="3">
                                            <p:txEl>
                                              <p:pRg st="1" end="1"/>
                                            </p:txEl>
                                          </p:spTgt>
                                        </p:tgtEl>
                                        <p:attrNameLst>
                                          <p:attrName>fillcolor</p:attrName>
                                        </p:attrNameLst>
                                      </p:cBhvr>
                                      <p:to>
                                        <a:schemeClr val="accent2"/>
                                      </p:to>
                                    </p:animClr>
                                    <p:set>
                                      <p:cBhvr>
                                        <p:cTn id="8" dur="500" fill="hold"/>
                                        <p:tgtEl>
                                          <p:spTgt spid="3">
                                            <p:txEl>
                                              <p:pRg st="1" end="1"/>
                                            </p:txEl>
                                          </p:spTgt>
                                        </p:tgtEl>
                                        <p:attrNameLst>
                                          <p:attrName>fill.type</p:attrName>
                                        </p:attrNameLst>
                                      </p:cBhvr>
                                      <p:to>
                                        <p:strVal val="solid"/>
                                      </p:to>
                                    </p:set>
                                    <p:set>
                                      <p:cBhvr>
                                        <p:cTn id="9" dur="500" fill="hold"/>
                                        <p:tgtEl>
                                          <p:spTgt spid="3">
                                            <p:txEl>
                                              <p:pRg st="1" end="1"/>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arn(inVertical)">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19" presetClass="emph" presetSubtype="0" fill="hold" nodeType="clickEffect">
                                  <p:stCondLst>
                                    <p:cond delay="0"/>
                                  </p:stCondLst>
                                  <p:childTnLst>
                                    <p:animClr clrSpc="rgb" dir="cw">
                                      <p:cBhvr override="childStyle">
                                        <p:cTn id="18" dur="500" fill="hold"/>
                                        <p:tgtEl>
                                          <p:spTgt spid="3">
                                            <p:txEl>
                                              <p:pRg st="2" end="2"/>
                                            </p:txEl>
                                          </p:spTgt>
                                        </p:tgtEl>
                                        <p:attrNameLst>
                                          <p:attrName>style.color</p:attrName>
                                        </p:attrNameLst>
                                      </p:cBhvr>
                                      <p:to>
                                        <a:srgbClr val="FF0000"/>
                                      </p:to>
                                    </p:animClr>
                                    <p:animClr clrSpc="rgb" dir="cw">
                                      <p:cBhvr>
                                        <p:cTn id="19" dur="500" fill="hold"/>
                                        <p:tgtEl>
                                          <p:spTgt spid="3">
                                            <p:txEl>
                                              <p:pRg st="2" end="2"/>
                                            </p:txEl>
                                          </p:spTgt>
                                        </p:tgtEl>
                                        <p:attrNameLst>
                                          <p:attrName>fillcolor</p:attrName>
                                        </p:attrNameLst>
                                      </p:cBhvr>
                                      <p:to>
                                        <a:srgbClr val="FF0000"/>
                                      </p:to>
                                    </p:animClr>
                                    <p:set>
                                      <p:cBhvr>
                                        <p:cTn id="20" dur="500" fill="hold"/>
                                        <p:tgtEl>
                                          <p:spTgt spid="3">
                                            <p:txEl>
                                              <p:pRg st="2" end="2"/>
                                            </p:txEl>
                                          </p:spTgt>
                                        </p:tgtEl>
                                        <p:attrNameLst>
                                          <p:attrName>fill.type</p:attrName>
                                        </p:attrNameLst>
                                      </p:cBhvr>
                                      <p:to>
                                        <p:strVal val="solid"/>
                                      </p:to>
                                    </p:set>
                                    <p:set>
                                      <p:cBhvr>
                                        <p:cTn id="21" dur="500" fill="hold"/>
                                        <p:tgtEl>
                                          <p:spTgt spid="3">
                                            <p:txEl>
                                              <p:pRg st="2" end="2"/>
                                            </p:txEl>
                                          </p:spTgt>
                                        </p:tgtEl>
                                        <p:attrNameLst>
                                          <p:attrName>fill.on</p:attrName>
                                        </p:attrNameLst>
                                      </p:cBhvr>
                                      <p:to>
                                        <p:strVal val="true"/>
                                      </p:to>
                                    </p:se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arn(inVertical)">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9" presetClass="emph" presetSubtype="0" fill="hold" nodeType="clickEffect">
                                  <p:stCondLst>
                                    <p:cond delay="0"/>
                                  </p:stCondLst>
                                  <p:childTnLst>
                                    <p:animClr clrSpc="rgb" dir="cw">
                                      <p:cBhvr override="childStyle">
                                        <p:cTn id="30" dur="500" fill="hold"/>
                                        <p:tgtEl>
                                          <p:spTgt spid="3">
                                            <p:txEl>
                                              <p:pRg st="3" end="3"/>
                                            </p:txEl>
                                          </p:spTgt>
                                        </p:tgtEl>
                                        <p:attrNameLst>
                                          <p:attrName>style.color</p:attrName>
                                        </p:attrNameLst>
                                      </p:cBhvr>
                                      <p:to>
                                        <a:srgbClr val="00B050"/>
                                      </p:to>
                                    </p:animClr>
                                    <p:animClr clrSpc="rgb" dir="cw">
                                      <p:cBhvr>
                                        <p:cTn id="31" dur="500" fill="hold"/>
                                        <p:tgtEl>
                                          <p:spTgt spid="3">
                                            <p:txEl>
                                              <p:pRg st="3" end="3"/>
                                            </p:txEl>
                                          </p:spTgt>
                                        </p:tgtEl>
                                        <p:attrNameLst>
                                          <p:attrName>fillcolor</p:attrName>
                                        </p:attrNameLst>
                                      </p:cBhvr>
                                      <p:to>
                                        <a:srgbClr val="00B050"/>
                                      </p:to>
                                    </p:animClr>
                                    <p:set>
                                      <p:cBhvr>
                                        <p:cTn id="32" dur="500" fill="hold"/>
                                        <p:tgtEl>
                                          <p:spTgt spid="3">
                                            <p:txEl>
                                              <p:pRg st="3" end="3"/>
                                            </p:txEl>
                                          </p:spTgt>
                                        </p:tgtEl>
                                        <p:attrNameLst>
                                          <p:attrName>fill.type</p:attrName>
                                        </p:attrNameLst>
                                      </p:cBhvr>
                                      <p:to>
                                        <p:strVal val="solid"/>
                                      </p:to>
                                    </p:set>
                                    <p:set>
                                      <p:cBhvr>
                                        <p:cTn id="33" dur="500" fill="hold"/>
                                        <p:tgtEl>
                                          <p:spTgt spid="3">
                                            <p:txEl>
                                              <p:pRg st="3" end="3"/>
                                            </p:txEl>
                                          </p:spTgt>
                                        </p:tgtEl>
                                        <p:attrNameLst>
                                          <p:attrName>fill.on</p:attrName>
                                        </p:attrNameLst>
                                      </p:cBhvr>
                                      <p:to>
                                        <p:strVal val="true"/>
                                      </p:to>
                                    </p:se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heel(1)">
                                      <p:cBhvr>
                                        <p:cTn id="38"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6219A-1849-46BD-B3D0-1A24BC887E31}"/>
              </a:ext>
            </a:extLst>
          </p:cNvPr>
          <p:cNvSpPr>
            <a:spLocks noGrp="1"/>
          </p:cNvSpPr>
          <p:nvPr>
            <p:ph type="title"/>
          </p:nvPr>
        </p:nvSpPr>
        <p:spPr>
          <a:xfrm>
            <a:off x="1064029" y="463137"/>
            <a:ext cx="14445145" cy="859955"/>
          </a:xfrm>
        </p:spPr>
        <p:txBody>
          <a:bodyPr>
            <a:normAutofit/>
          </a:bodyPr>
          <a:lstStyle/>
          <a:p>
            <a:pPr algn="ctr"/>
            <a:r>
              <a:rPr lang="en-US" sz="4000" b="1" dirty="0">
                <a:solidFill>
                  <a:srgbClr val="0000FF"/>
                </a:solidFill>
              </a:rPr>
              <a:t>Processor Unit with 2-Port Memory</a:t>
            </a:r>
          </a:p>
        </p:txBody>
      </p:sp>
      <p:sp>
        <p:nvSpPr>
          <p:cNvPr id="3" name="Content Placeholder 2">
            <a:extLst>
              <a:ext uri="{FF2B5EF4-FFF2-40B4-BE49-F238E27FC236}">
                <a16:creationId xmlns:a16="http://schemas.microsoft.com/office/drawing/2014/main" id="{B495A474-F936-45CA-AA76-EDB38BAD7554}"/>
              </a:ext>
            </a:extLst>
          </p:cNvPr>
          <p:cNvSpPr>
            <a:spLocks noGrp="1"/>
          </p:cNvSpPr>
          <p:nvPr>
            <p:ph idx="1"/>
          </p:nvPr>
        </p:nvSpPr>
        <p:spPr>
          <a:xfrm>
            <a:off x="731520" y="2624461"/>
            <a:ext cx="7070568" cy="2980677"/>
          </a:xfrm>
        </p:spPr>
        <p:txBody>
          <a:bodyPr>
            <a:normAutofit/>
          </a:bodyPr>
          <a:lstStyle/>
          <a:p>
            <a:pPr marL="457200" indent="-457200">
              <a:lnSpc>
                <a:spcPct val="120000"/>
              </a:lnSpc>
              <a:spcBef>
                <a:spcPts val="600"/>
              </a:spcBef>
              <a:spcAft>
                <a:spcPts val="600"/>
              </a:spcAft>
              <a:buClr>
                <a:srgbClr val="00B050"/>
              </a:buClr>
              <a:buFont typeface="Wingdings" panose="05000000000000000000" pitchFamily="2" charset="2"/>
              <a:buChar char="v"/>
            </a:pPr>
            <a:r>
              <a:rPr lang="en-US" sz="2400" dirty="0"/>
              <a:t>Some processors employ a </a:t>
            </a:r>
            <a:r>
              <a:rPr lang="en-US" sz="2400" dirty="0">
                <a:solidFill>
                  <a:srgbClr val="FF0000"/>
                </a:solidFill>
              </a:rPr>
              <a:t>2-port memory to overcome the delay </a:t>
            </a:r>
            <a:r>
              <a:rPr lang="en-US" sz="2400" dirty="0"/>
              <a:t>caused when reading two source registers.</a:t>
            </a:r>
          </a:p>
          <a:p>
            <a:pPr marL="457200" indent="-457200">
              <a:lnSpc>
                <a:spcPct val="120000"/>
              </a:lnSpc>
              <a:spcBef>
                <a:spcPts val="600"/>
              </a:spcBef>
              <a:spcAft>
                <a:spcPts val="600"/>
              </a:spcAft>
              <a:buClr>
                <a:srgbClr val="00B050"/>
              </a:buClr>
              <a:buFont typeface="Wingdings" panose="05000000000000000000" pitchFamily="2" charset="2"/>
              <a:buChar char="v"/>
            </a:pPr>
            <a:r>
              <a:rPr lang="en-US" sz="2400" dirty="0"/>
              <a:t>If the destination register is the same as one of the source registers, then the entire micro-operations can be done within </a:t>
            </a:r>
            <a:r>
              <a:rPr lang="en-US" sz="2400" dirty="0">
                <a:solidFill>
                  <a:srgbClr val="FF0000"/>
                </a:solidFill>
              </a:rPr>
              <a:t>one clock pulse period</a:t>
            </a:r>
            <a:r>
              <a:rPr lang="en-US" sz="2400" dirty="0"/>
              <a:t>.</a:t>
            </a:r>
          </a:p>
        </p:txBody>
      </p:sp>
      <p:pic>
        <p:nvPicPr>
          <p:cNvPr id="5" name="Picture 4">
            <a:extLst>
              <a:ext uri="{FF2B5EF4-FFF2-40B4-BE49-F238E27FC236}">
                <a16:creationId xmlns:a16="http://schemas.microsoft.com/office/drawing/2014/main" id="{3C442431-051A-4507-9A20-6FEE089A6D31}"/>
              </a:ext>
            </a:extLst>
          </p:cNvPr>
          <p:cNvPicPr>
            <a:picLocks noChangeAspect="1"/>
          </p:cNvPicPr>
          <p:nvPr/>
        </p:nvPicPr>
        <p:blipFill rotWithShape="1">
          <a:blip r:embed="rId3"/>
          <a:srcRect l="2340"/>
          <a:stretch/>
        </p:blipFill>
        <p:spPr>
          <a:xfrm>
            <a:off x="8245540" y="1262967"/>
            <a:ext cx="6636568" cy="6044052"/>
          </a:xfrm>
          <a:prstGeom prst="rect">
            <a:avLst/>
          </a:prstGeom>
        </p:spPr>
      </p:pic>
      <p:sp>
        <p:nvSpPr>
          <p:cNvPr id="6" name="TextBox 5">
            <a:extLst>
              <a:ext uri="{FF2B5EF4-FFF2-40B4-BE49-F238E27FC236}">
                <a16:creationId xmlns:a16="http://schemas.microsoft.com/office/drawing/2014/main" id="{271182CE-DE32-4256-8FF7-C1C40EDDAE7C}"/>
              </a:ext>
            </a:extLst>
          </p:cNvPr>
          <p:cNvSpPr txBox="1"/>
          <p:nvPr/>
        </p:nvSpPr>
        <p:spPr>
          <a:xfrm>
            <a:off x="8564615" y="7403534"/>
            <a:ext cx="6409115" cy="400110"/>
          </a:xfrm>
          <a:prstGeom prst="rect">
            <a:avLst/>
          </a:prstGeom>
          <a:noFill/>
        </p:spPr>
        <p:txBody>
          <a:bodyPr wrap="square" rtlCol="0">
            <a:spAutoFit/>
          </a:bodyPr>
          <a:lstStyle/>
          <a:p>
            <a:pPr algn="ctr"/>
            <a:r>
              <a:rPr lang="en-US" sz="2000" b="1" dirty="0"/>
              <a:t>Fig. 9.3 Processor unit with a 2-port memory</a:t>
            </a:r>
          </a:p>
        </p:txBody>
      </p:sp>
      <p:sp>
        <p:nvSpPr>
          <p:cNvPr id="4" name="Date Placeholder 3"/>
          <p:cNvSpPr>
            <a:spLocks noGrp="1"/>
          </p:cNvSpPr>
          <p:nvPr>
            <p:ph type="dt" sz="half" idx="10"/>
          </p:nvPr>
        </p:nvSpPr>
        <p:spPr/>
        <p:txBody>
          <a:bodyPr/>
          <a:lstStyle/>
          <a:p>
            <a:fld id="{2B6FB33D-44AC-4342-91E3-88971D2E3D43}" type="datetime3">
              <a:rPr lang="en-US" smtClean="0"/>
              <a:t>18 July 2024</a:t>
            </a:fld>
            <a:endParaRPr lang="en-US"/>
          </a:p>
        </p:txBody>
      </p:sp>
      <p:sp>
        <p:nvSpPr>
          <p:cNvPr id="7" name="Footer Placeholder 6"/>
          <p:cNvSpPr>
            <a:spLocks noGrp="1"/>
          </p:cNvSpPr>
          <p:nvPr>
            <p:ph type="ftr" sz="quarter" idx="11"/>
          </p:nvPr>
        </p:nvSpPr>
        <p:spPr/>
        <p:txBody>
          <a:bodyPr/>
          <a:lstStyle/>
          <a:p>
            <a:r>
              <a:rPr lang="en-US" dirty="0"/>
              <a:t>Course Teacher: Dr. Md. Rukonuzzaman</a:t>
            </a:r>
          </a:p>
        </p:txBody>
      </p:sp>
      <p:sp>
        <p:nvSpPr>
          <p:cNvPr id="8" name="Slide Number Placeholder 7"/>
          <p:cNvSpPr>
            <a:spLocks noGrp="1"/>
          </p:cNvSpPr>
          <p:nvPr>
            <p:ph type="sldNum" sz="quarter" idx="12"/>
          </p:nvPr>
        </p:nvSpPr>
        <p:spPr/>
        <p:txBody>
          <a:bodyPr/>
          <a:lstStyle/>
          <a:p>
            <a:fld id="{48F63A3B-78C7-47BE-AE5E-E10140E04643}" type="slidenum">
              <a:rPr lang="en-US" smtClean="0"/>
              <a:t>6</a:t>
            </a:fld>
            <a:endParaRPr lang="en-US" dirty="0"/>
          </a:p>
        </p:txBody>
      </p:sp>
    </p:spTree>
    <p:extLst>
      <p:ext uri="{BB962C8B-B14F-4D97-AF65-F5344CB8AC3E}">
        <p14:creationId xmlns:p14="http://schemas.microsoft.com/office/powerpoint/2010/main" val="2569524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4BF74-E184-483D-83B4-0BC781E5056A}"/>
              </a:ext>
            </a:extLst>
          </p:cNvPr>
          <p:cNvSpPr>
            <a:spLocks noGrp="1"/>
          </p:cNvSpPr>
          <p:nvPr>
            <p:ph type="title"/>
          </p:nvPr>
        </p:nvSpPr>
        <p:spPr>
          <a:xfrm>
            <a:off x="1155469" y="321772"/>
            <a:ext cx="12618720" cy="1124643"/>
          </a:xfrm>
        </p:spPr>
        <p:txBody>
          <a:bodyPr>
            <a:normAutofit/>
          </a:bodyPr>
          <a:lstStyle/>
          <a:p>
            <a:pPr algn="ctr"/>
            <a:r>
              <a:rPr lang="en-US" sz="4000" b="1" dirty="0">
                <a:solidFill>
                  <a:srgbClr val="0000FF"/>
                </a:solidFill>
              </a:rPr>
              <a:t>Processor Unit with 2-Port Memory</a:t>
            </a:r>
          </a:p>
        </p:txBody>
      </p:sp>
      <p:sp>
        <p:nvSpPr>
          <p:cNvPr id="3" name="Content Placeholder 2">
            <a:extLst>
              <a:ext uri="{FF2B5EF4-FFF2-40B4-BE49-F238E27FC236}">
                <a16:creationId xmlns:a16="http://schemas.microsoft.com/office/drawing/2014/main" id="{5E60D5E6-8840-44F7-895A-3408DF39EAAB}"/>
              </a:ext>
            </a:extLst>
          </p:cNvPr>
          <p:cNvSpPr>
            <a:spLocks noGrp="1"/>
          </p:cNvSpPr>
          <p:nvPr>
            <p:ph idx="1"/>
          </p:nvPr>
        </p:nvSpPr>
        <p:spPr>
          <a:xfrm>
            <a:off x="1068779" y="1662544"/>
            <a:ext cx="7540832" cy="5519647"/>
          </a:xfrm>
        </p:spPr>
        <p:txBody>
          <a:bodyPr>
            <a:noAutofit/>
          </a:bodyPr>
          <a:lstStyle/>
          <a:p>
            <a:pPr marL="457200" indent="-457200" algn="just">
              <a:lnSpc>
                <a:spcPct val="120000"/>
              </a:lnSpc>
              <a:spcBef>
                <a:spcPts val="600"/>
              </a:spcBef>
              <a:spcAft>
                <a:spcPts val="600"/>
              </a:spcAft>
              <a:buClr>
                <a:srgbClr val="00B050"/>
              </a:buClr>
              <a:buFont typeface="Wingdings" panose="05000000000000000000" pitchFamily="2" charset="2"/>
              <a:buChar char="v"/>
            </a:pPr>
            <a:r>
              <a:rPr lang="en-US" sz="2400" dirty="0">
                <a:solidFill>
                  <a:srgbClr val="FF0000"/>
                </a:solidFill>
              </a:rPr>
              <a:t>When CP = 1</a:t>
            </a:r>
            <a:r>
              <a:rPr lang="en-US" sz="2400" dirty="0"/>
              <a:t>, </a:t>
            </a:r>
            <a:r>
              <a:rPr lang="en-US" sz="2400" b="1" dirty="0">
                <a:solidFill>
                  <a:srgbClr val="7030A0"/>
                </a:solidFill>
              </a:rPr>
              <a:t>A and B latches </a:t>
            </a:r>
            <a:r>
              <a:rPr lang="en-US" sz="2400" dirty="0">
                <a:solidFill>
                  <a:srgbClr val="7030A0"/>
                </a:solidFill>
              </a:rPr>
              <a:t>are open </a:t>
            </a:r>
            <a:r>
              <a:rPr lang="en-US" sz="2400" dirty="0"/>
              <a:t>and accept information coming from memory. The WE is also in a HIGH state and disables write operation and enables read operation. Thus, when CP = 1, words selected by A and B addresses are read from memory and placed in A and B registers.</a:t>
            </a:r>
          </a:p>
          <a:p>
            <a:pPr marL="457200" indent="-457200" algn="just">
              <a:lnSpc>
                <a:spcPct val="120000"/>
              </a:lnSpc>
              <a:spcBef>
                <a:spcPts val="600"/>
              </a:spcBef>
              <a:spcAft>
                <a:spcPts val="600"/>
              </a:spcAft>
              <a:buClr>
                <a:srgbClr val="00B050"/>
              </a:buClr>
              <a:buFont typeface="Wingdings" panose="05000000000000000000" pitchFamily="2" charset="2"/>
              <a:buChar char="v"/>
            </a:pPr>
            <a:r>
              <a:rPr lang="en-US" sz="2400" dirty="0">
                <a:solidFill>
                  <a:srgbClr val="FF0000"/>
                </a:solidFill>
              </a:rPr>
              <a:t>When CP = 0</a:t>
            </a:r>
            <a:r>
              <a:rPr lang="en-US" sz="2400" dirty="0"/>
              <a:t>, </a:t>
            </a:r>
            <a:r>
              <a:rPr lang="en-US" sz="2400" dirty="0">
                <a:solidFill>
                  <a:srgbClr val="7030A0"/>
                </a:solidFill>
              </a:rPr>
              <a:t>the latches are closed and retain the last data entered</a:t>
            </a:r>
            <a:r>
              <a:rPr lang="en-US" sz="2400" dirty="0"/>
              <a:t>. ALU operation is performed and if a write is enabled since CP = 0, and also ME input is enabled, the result of the micro-operation is written into memory word defined by B address.</a:t>
            </a:r>
          </a:p>
        </p:txBody>
      </p:sp>
      <p:pic>
        <p:nvPicPr>
          <p:cNvPr id="4" name="Picture 3">
            <a:extLst>
              <a:ext uri="{FF2B5EF4-FFF2-40B4-BE49-F238E27FC236}">
                <a16:creationId xmlns:a16="http://schemas.microsoft.com/office/drawing/2014/main" id="{67068CD3-EFAD-41F4-9EED-AA32414BF1E1}"/>
              </a:ext>
            </a:extLst>
          </p:cNvPr>
          <p:cNvPicPr>
            <a:picLocks noChangeAspect="1"/>
          </p:cNvPicPr>
          <p:nvPr/>
        </p:nvPicPr>
        <p:blipFill rotWithShape="1">
          <a:blip r:embed="rId2"/>
          <a:srcRect l="1997"/>
          <a:stretch/>
        </p:blipFill>
        <p:spPr>
          <a:xfrm>
            <a:off x="9305504" y="1296611"/>
            <a:ext cx="6367547" cy="5778705"/>
          </a:xfrm>
          <a:prstGeom prst="rect">
            <a:avLst/>
          </a:prstGeom>
        </p:spPr>
      </p:pic>
      <p:sp>
        <p:nvSpPr>
          <p:cNvPr id="5" name="Date Placeholder 4"/>
          <p:cNvSpPr>
            <a:spLocks noGrp="1"/>
          </p:cNvSpPr>
          <p:nvPr>
            <p:ph type="dt" sz="half" idx="10"/>
          </p:nvPr>
        </p:nvSpPr>
        <p:spPr/>
        <p:txBody>
          <a:bodyPr/>
          <a:lstStyle/>
          <a:p>
            <a:fld id="{5AC76B70-8FFD-48C3-8423-9418BC2D3E43}" type="datetime3">
              <a:rPr lang="en-US" smtClean="0"/>
              <a:t>18 July 2024</a:t>
            </a:fld>
            <a:endParaRPr lang="en-US"/>
          </a:p>
        </p:txBody>
      </p:sp>
      <p:sp>
        <p:nvSpPr>
          <p:cNvPr id="6" name="Footer Placeholder 5"/>
          <p:cNvSpPr>
            <a:spLocks noGrp="1"/>
          </p:cNvSpPr>
          <p:nvPr>
            <p:ph type="ftr" sz="quarter" idx="11"/>
          </p:nvPr>
        </p:nvSpPr>
        <p:spPr/>
        <p:txBody>
          <a:bodyPr/>
          <a:lstStyle/>
          <a:p>
            <a:r>
              <a:rPr lang="en-US" dirty="0"/>
              <a:t>Course Teacher: Dr. Md. Rukonuzzaman</a:t>
            </a:r>
          </a:p>
        </p:txBody>
      </p:sp>
      <p:sp>
        <p:nvSpPr>
          <p:cNvPr id="7" name="Slide Number Placeholder 6"/>
          <p:cNvSpPr>
            <a:spLocks noGrp="1"/>
          </p:cNvSpPr>
          <p:nvPr>
            <p:ph type="sldNum" sz="quarter" idx="12"/>
          </p:nvPr>
        </p:nvSpPr>
        <p:spPr/>
        <p:txBody>
          <a:bodyPr/>
          <a:lstStyle/>
          <a:p>
            <a:fld id="{48F63A3B-78C7-47BE-AE5E-E10140E04643}" type="slidenum">
              <a:rPr lang="en-US" smtClean="0"/>
              <a:t>7</a:t>
            </a:fld>
            <a:endParaRPr lang="en-US" dirty="0"/>
          </a:p>
        </p:txBody>
      </p:sp>
      <p:sp>
        <p:nvSpPr>
          <p:cNvPr id="8" name="TextBox 7">
            <a:extLst>
              <a:ext uri="{FF2B5EF4-FFF2-40B4-BE49-F238E27FC236}">
                <a16:creationId xmlns:a16="http://schemas.microsoft.com/office/drawing/2014/main" id="{271182CE-DE32-4256-8FF7-C1C40EDDAE7C}"/>
              </a:ext>
            </a:extLst>
          </p:cNvPr>
          <p:cNvSpPr txBox="1"/>
          <p:nvPr/>
        </p:nvSpPr>
        <p:spPr>
          <a:xfrm>
            <a:off x="8951747" y="7269911"/>
            <a:ext cx="7044315" cy="400110"/>
          </a:xfrm>
          <a:prstGeom prst="rect">
            <a:avLst/>
          </a:prstGeom>
          <a:noFill/>
        </p:spPr>
        <p:txBody>
          <a:bodyPr wrap="square" rtlCol="0">
            <a:spAutoFit/>
          </a:bodyPr>
          <a:lstStyle/>
          <a:p>
            <a:pPr algn="ctr"/>
            <a:r>
              <a:rPr lang="en-US" sz="2000" b="1" dirty="0"/>
              <a:t>Fig. 9.3 Processor unit with a 2-port memory</a:t>
            </a:r>
          </a:p>
        </p:txBody>
      </p:sp>
      <p:sp>
        <p:nvSpPr>
          <p:cNvPr id="9" name="TextBox 8">
            <a:extLst>
              <a:ext uri="{FF2B5EF4-FFF2-40B4-BE49-F238E27FC236}">
                <a16:creationId xmlns:a16="http://schemas.microsoft.com/office/drawing/2014/main" id="{D0350527-D8D5-A50C-F71D-ED2B9EF9B329}"/>
              </a:ext>
            </a:extLst>
          </p:cNvPr>
          <p:cNvSpPr txBox="1"/>
          <p:nvPr/>
        </p:nvSpPr>
        <p:spPr>
          <a:xfrm>
            <a:off x="9617827" y="5013763"/>
            <a:ext cx="767145" cy="584775"/>
          </a:xfrm>
          <a:prstGeom prst="rect">
            <a:avLst/>
          </a:prstGeom>
          <a:noFill/>
        </p:spPr>
        <p:txBody>
          <a:bodyPr wrap="square" rtlCol="0">
            <a:spAutoFit/>
          </a:bodyPr>
          <a:lstStyle/>
          <a:p>
            <a:r>
              <a:rPr lang="en-US" sz="3200" dirty="0">
                <a:solidFill>
                  <a:schemeClr val="accent2"/>
                </a:solidFill>
              </a:rPr>
              <a:t>=1</a:t>
            </a:r>
          </a:p>
        </p:txBody>
      </p:sp>
      <p:sp>
        <p:nvSpPr>
          <p:cNvPr id="10" name="TextBox 9">
            <a:extLst>
              <a:ext uri="{FF2B5EF4-FFF2-40B4-BE49-F238E27FC236}">
                <a16:creationId xmlns:a16="http://schemas.microsoft.com/office/drawing/2014/main" id="{C31A0BEE-8949-9F24-ABBA-CA2583536E50}"/>
              </a:ext>
            </a:extLst>
          </p:cNvPr>
          <p:cNvSpPr txBox="1"/>
          <p:nvPr/>
        </p:nvSpPr>
        <p:spPr>
          <a:xfrm>
            <a:off x="14380236" y="2684220"/>
            <a:ext cx="767145" cy="584775"/>
          </a:xfrm>
          <a:prstGeom prst="rect">
            <a:avLst/>
          </a:prstGeom>
          <a:noFill/>
        </p:spPr>
        <p:txBody>
          <a:bodyPr wrap="square" rtlCol="0">
            <a:spAutoFit/>
          </a:bodyPr>
          <a:lstStyle/>
          <a:p>
            <a:r>
              <a:rPr lang="en-US" sz="3200" dirty="0">
                <a:solidFill>
                  <a:schemeClr val="accent2"/>
                </a:solidFill>
              </a:rPr>
              <a:t>1</a:t>
            </a:r>
          </a:p>
        </p:txBody>
      </p:sp>
      <p:sp>
        <p:nvSpPr>
          <p:cNvPr id="11" name="Rectangle 10">
            <a:extLst>
              <a:ext uri="{FF2B5EF4-FFF2-40B4-BE49-F238E27FC236}">
                <a16:creationId xmlns:a16="http://schemas.microsoft.com/office/drawing/2014/main" id="{668ECCCC-EB61-99A1-DCF8-93975C2B1895}"/>
              </a:ext>
            </a:extLst>
          </p:cNvPr>
          <p:cNvSpPr/>
          <p:nvPr/>
        </p:nvSpPr>
        <p:spPr>
          <a:xfrm>
            <a:off x="11834950" y="5902039"/>
            <a:ext cx="1972492" cy="561703"/>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C0EF1A2D-FF33-AF06-92EA-1B0CD5A09621}"/>
              </a:ext>
            </a:extLst>
          </p:cNvPr>
          <p:cNvCxnSpPr>
            <a:cxnSpLocks/>
          </p:cNvCxnSpPr>
          <p:nvPr/>
        </p:nvCxnSpPr>
        <p:spPr>
          <a:xfrm flipH="1">
            <a:off x="12056236" y="2976607"/>
            <a:ext cx="522514" cy="1904772"/>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45969CD5-9A68-DF71-C0A7-6B59095259F5}"/>
              </a:ext>
            </a:extLst>
          </p:cNvPr>
          <p:cNvCxnSpPr>
            <a:cxnSpLocks/>
          </p:cNvCxnSpPr>
          <p:nvPr/>
        </p:nvCxnSpPr>
        <p:spPr>
          <a:xfrm>
            <a:off x="13121047" y="2976607"/>
            <a:ext cx="462354" cy="1904772"/>
          </a:xfrm>
          <a:prstGeom prst="straightConnector1">
            <a:avLst/>
          </a:prstGeom>
          <a:ln w="28575">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08918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0" end="0"/>
                                            </p:txEl>
                                          </p:spTgt>
                                        </p:tgtEl>
                                        <p:attrNameLst>
                                          <p:attrName>style.color</p:attrName>
                                        </p:attrNameLst>
                                      </p:cBhvr>
                                      <p:to>
                                        <a:schemeClr val="accent2"/>
                                      </p:to>
                                    </p:animClr>
                                    <p:animClr clrSpc="rgb" dir="cw">
                                      <p:cBhvr>
                                        <p:cTn id="7" dur="500" fill="hold"/>
                                        <p:tgtEl>
                                          <p:spTgt spid="3">
                                            <p:txEl>
                                              <p:pRg st="0" end="0"/>
                                            </p:txEl>
                                          </p:spTgt>
                                        </p:tgtEl>
                                        <p:attrNameLst>
                                          <p:attrName>fillcolor</p:attrName>
                                        </p:attrNameLst>
                                      </p:cBhvr>
                                      <p:to>
                                        <a:schemeClr val="accent2"/>
                                      </p:to>
                                    </p:animClr>
                                    <p:set>
                                      <p:cBhvr>
                                        <p:cTn id="8" dur="500" fill="hold"/>
                                        <p:tgtEl>
                                          <p:spTgt spid="3">
                                            <p:txEl>
                                              <p:pRg st="0" end="0"/>
                                            </p:txEl>
                                          </p:spTgt>
                                        </p:tgtEl>
                                        <p:attrNameLst>
                                          <p:attrName>fill.type</p:attrName>
                                        </p:attrNameLst>
                                      </p:cBhvr>
                                      <p:to>
                                        <p:strVal val="solid"/>
                                      </p:to>
                                    </p:set>
                                    <p:set>
                                      <p:cBhvr>
                                        <p:cTn id="9" dur="500" fill="hold"/>
                                        <p:tgtEl>
                                          <p:spTgt spid="3">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arn(inVertical)">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arn(inVertical)">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21" presetClass="entr" presetSubtype="1"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heel(1)">
                                      <p:cBhvr>
                                        <p:cTn id="34" dur="20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animEffect transition="in" filter="wipe(down)">
                                      <p:cBhvr>
                                        <p:cTn id="39"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EA15C-127B-4F34-B0D4-8A8BCE169222}"/>
              </a:ext>
            </a:extLst>
          </p:cNvPr>
          <p:cNvSpPr>
            <a:spLocks noGrp="1"/>
          </p:cNvSpPr>
          <p:nvPr>
            <p:ph type="title"/>
          </p:nvPr>
        </p:nvSpPr>
        <p:spPr>
          <a:xfrm>
            <a:off x="1141811" y="304213"/>
            <a:ext cx="14441586" cy="1145497"/>
          </a:xfrm>
        </p:spPr>
        <p:txBody>
          <a:bodyPr>
            <a:normAutofit/>
          </a:bodyPr>
          <a:lstStyle/>
          <a:p>
            <a:pPr algn="ctr"/>
            <a:r>
              <a:rPr lang="en-US" sz="4000" b="1" dirty="0">
                <a:solidFill>
                  <a:srgbClr val="0000FF"/>
                </a:solidFill>
              </a:rPr>
              <a:t>Arithmetic Logic Unit (ALU)</a:t>
            </a:r>
            <a:endParaRPr lang="en-US" sz="4000" dirty="0">
              <a:solidFill>
                <a:srgbClr val="0000FF"/>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0C60271-2C7D-4F17-A28F-B0F9D1A939E8}"/>
                  </a:ext>
                </a:extLst>
              </p:cNvPr>
              <p:cNvSpPr>
                <a:spLocks noGrp="1"/>
              </p:cNvSpPr>
              <p:nvPr>
                <p:ph idx="1"/>
              </p:nvPr>
            </p:nvSpPr>
            <p:spPr>
              <a:xfrm>
                <a:off x="1141811" y="1773724"/>
                <a:ext cx="7849591" cy="4682151"/>
              </a:xfrm>
            </p:spPr>
            <p:txBody>
              <a:bodyPr>
                <a:noAutofit/>
              </a:bodyPr>
              <a:lstStyle/>
              <a:p>
                <a:pPr indent="-457200">
                  <a:lnSpc>
                    <a:spcPct val="125000"/>
                  </a:lnSpc>
                  <a:spcBef>
                    <a:spcPts val="600"/>
                  </a:spcBef>
                  <a:spcAft>
                    <a:spcPts val="600"/>
                  </a:spcAft>
                  <a:buClr>
                    <a:srgbClr val="00B050"/>
                  </a:buClr>
                  <a:buFont typeface="Wingdings" panose="05000000000000000000" pitchFamily="2" charset="2"/>
                  <a:buChar char="v"/>
                </a:pPr>
                <a:r>
                  <a:rPr lang="en-US" sz="2400" b="1" dirty="0">
                    <a:solidFill>
                      <a:schemeClr val="tx1"/>
                    </a:solidFill>
                  </a:rPr>
                  <a:t>An Arithmetic Logic Unit (ALU) is a multi-operation, combinational logic digital functional circuit. </a:t>
                </a:r>
              </a:p>
              <a:p>
                <a:pPr indent="-457200">
                  <a:lnSpc>
                    <a:spcPct val="125000"/>
                  </a:lnSpc>
                  <a:spcBef>
                    <a:spcPts val="600"/>
                  </a:spcBef>
                  <a:spcAft>
                    <a:spcPts val="600"/>
                  </a:spcAft>
                  <a:buClr>
                    <a:srgbClr val="00B050"/>
                  </a:buClr>
                  <a:buFont typeface="Wingdings" panose="05000000000000000000" pitchFamily="2" charset="2"/>
                  <a:buChar char="v"/>
                </a:pPr>
                <a:r>
                  <a:rPr lang="en-US" sz="2400" b="1" dirty="0">
                    <a:solidFill>
                      <a:schemeClr val="tx1"/>
                    </a:solidFill>
                  </a:rPr>
                  <a:t>The ALU can perform a set of basic arithmetic and logic operations.</a:t>
                </a:r>
              </a:p>
              <a:p>
                <a:pPr indent="-457200">
                  <a:lnSpc>
                    <a:spcPct val="125000"/>
                  </a:lnSpc>
                  <a:spcBef>
                    <a:spcPts val="600"/>
                  </a:spcBef>
                  <a:spcAft>
                    <a:spcPts val="600"/>
                  </a:spcAft>
                  <a:buClr>
                    <a:srgbClr val="00B050"/>
                  </a:buClr>
                  <a:buFont typeface="Wingdings" panose="05000000000000000000" pitchFamily="2" charset="2"/>
                  <a:buChar char="v"/>
                </a:pPr>
                <a:r>
                  <a:rPr lang="en-US" sz="2400" b="1" dirty="0">
                    <a:solidFill>
                      <a:schemeClr val="tx1"/>
                    </a:solidFill>
                  </a:rPr>
                  <a:t>The ALU has several selection lines to select a particular operation in the unit.</a:t>
                </a:r>
              </a:p>
              <a:p>
                <a:pPr indent="-457200">
                  <a:lnSpc>
                    <a:spcPct val="125000"/>
                  </a:lnSpc>
                  <a:spcBef>
                    <a:spcPts val="600"/>
                  </a:spcBef>
                  <a:spcAft>
                    <a:spcPts val="600"/>
                  </a:spcAft>
                  <a:buClr>
                    <a:srgbClr val="00B050"/>
                  </a:buClr>
                  <a:buFont typeface="Wingdings" panose="05000000000000000000" pitchFamily="2" charset="2"/>
                  <a:buChar char="v"/>
                </a:pPr>
                <a:r>
                  <a:rPr lang="en-US" sz="2400" b="1" dirty="0">
                    <a:solidFill>
                      <a:schemeClr val="tx1"/>
                    </a:solidFill>
                  </a:rPr>
                  <a:t>The selection lines are decoded within the ALU so that </a:t>
                </a:r>
                <a:r>
                  <a:rPr lang="en-US" sz="2400" b="1" i="1" dirty="0">
                    <a:solidFill>
                      <a:schemeClr val="tx1"/>
                    </a:solidFill>
                  </a:rPr>
                  <a:t>k</a:t>
                </a:r>
                <a:r>
                  <a:rPr lang="en-US" sz="2400" b="1" dirty="0">
                    <a:solidFill>
                      <a:schemeClr val="tx1"/>
                    </a:solidFill>
                  </a:rPr>
                  <a:t> selection variables can specify up to </a:t>
                </a:r>
                <a14:m>
                  <m:oMath xmlns:m="http://schemas.openxmlformats.org/officeDocument/2006/math">
                    <m:sSup>
                      <m:sSupPr>
                        <m:ctrlPr>
                          <a:rPr lang="en-US" sz="2400" b="1" i="1">
                            <a:solidFill>
                              <a:schemeClr val="tx1"/>
                            </a:solidFill>
                            <a:latin typeface="Cambria Math" panose="02040503050406030204" pitchFamily="18" charset="0"/>
                          </a:rPr>
                        </m:ctrlPr>
                      </m:sSupPr>
                      <m:e>
                        <m:r>
                          <a:rPr lang="en-US" sz="2400" b="1" i="1" smtClean="0">
                            <a:solidFill>
                              <a:schemeClr val="tx1"/>
                            </a:solidFill>
                            <a:latin typeface="Cambria Math" panose="02040503050406030204" pitchFamily="18" charset="0"/>
                          </a:rPr>
                          <m:t>𝟐</m:t>
                        </m:r>
                      </m:e>
                      <m:sup>
                        <m:r>
                          <a:rPr lang="en-US" sz="2400" b="1" i="1" smtClean="0">
                            <a:solidFill>
                              <a:schemeClr val="tx1"/>
                            </a:solidFill>
                            <a:latin typeface="Cambria Math" panose="02040503050406030204" pitchFamily="18" charset="0"/>
                          </a:rPr>
                          <m:t>𝒌</m:t>
                        </m:r>
                      </m:sup>
                    </m:sSup>
                    <m:r>
                      <a:rPr lang="en-US" sz="2400" b="1" i="1" smtClean="0">
                        <a:solidFill>
                          <a:schemeClr val="tx1"/>
                        </a:solidFill>
                        <a:latin typeface="Cambria Math" panose="02040503050406030204" pitchFamily="18" charset="0"/>
                      </a:rPr>
                      <m:t> </m:t>
                    </m:r>
                  </m:oMath>
                </a14:m>
                <a:r>
                  <a:rPr lang="en-US" sz="2400" b="1" dirty="0">
                    <a:solidFill>
                      <a:schemeClr val="tx1"/>
                    </a:solidFill>
                  </a:rPr>
                  <a:t>distinct operations.</a:t>
                </a:r>
              </a:p>
            </p:txBody>
          </p:sp>
        </mc:Choice>
        <mc:Fallback>
          <p:sp>
            <p:nvSpPr>
              <p:cNvPr id="3" name="Content Placeholder 2">
                <a:extLst>
                  <a:ext uri="{FF2B5EF4-FFF2-40B4-BE49-F238E27FC236}">
                    <a16:creationId xmlns:a16="http://schemas.microsoft.com/office/drawing/2014/main" id="{40C60271-2C7D-4F17-A28F-B0F9D1A939E8}"/>
                  </a:ext>
                </a:extLst>
              </p:cNvPr>
              <p:cNvSpPr>
                <a:spLocks noGrp="1" noRot="1" noChangeAspect="1" noMove="1" noResize="1" noEditPoints="1" noAdjustHandles="1" noChangeArrowheads="1" noChangeShapeType="1" noTextEdit="1"/>
              </p:cNvSpPr>
              <p:nvPr>
                <p:ph idx="1"/>
              </p:nvPr>
            </p:nvSpPr>
            <p:spPr>
              <a:xfrm>
                <a:off x="1141811" y="1773724"/>
                <a:ext cx="7849591" cy="4682151"/>
              </a:xfrm>
              <a:blipFill>
                <a:blip r:embed="rId2"/>
                <a:stretch>
                  <a:fillRect l="-1009" b="-221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6AE5FF9-7E86-45BE-A580-0C69061F0AB2}"/>
              </a:ext>
            </a:extLst>
          </p:cNvPr>
          <p:cNvPicPr>
            <a:picLocks noChangeAspect="1"/>
          </p:cNvPicPr>
          <p:nvPr/>
        </p:nvPicPr>
        <p:blipFill rotWithShape="1">
          <a:blip r:embed="rId3"/>
          <a:srcRect l="819" t="2712" r="1127" b="3519"/>
          <a:stretch/>
        </p:blipFill>
        <p:spPr>
          <a:xfrm>
            <a:off x="9538858" y="2173079"/>
            <a:ext cx="6044539" cy="3245590"/>
          </a:xfrm>
          <a:prstGeom prst="rect">
            <a:avLst/>
          </a:prstGeom>
        </p:spPr>
      </p:pic>
      <p:sp>
        <p:nvSpPr>
          <p:cNvPr id="6" name="Date Placeholder 5"/>
          <p:cNvSpPr>
            <a:spLocks noGrp="1"/>
          </p:cNvSpPr>
          <p:nvPr>
            <p:ph type="dt" sz="half" idx="10"/>
          </p:nvPr>
        </p:nvSpPr>
        <p:spPr/>
        <p:txBody>
          <a:bodyPr/>
          <a:lstStyle/>
          <a:p>
            <a:fld id="{134D2A81-DA21-4E1A-B610-AD3AB12CBFF0}" type="datetime3">
              <a:rPr lang="en-US" smtClean="0"/>
              <a:t>18 July 2024</a:t>
            </a:fld>
            <a:endParaRPr lang="en-US"/>
          </a:p>
        </p:txBody>
      </p:sp>
      <p:sp>
        <p:nvSpPr>
          <p:cNvPr id="7" name="Footer Placeholder 6"/>
          <p:cNvSpPr>
            <a:spLocks noGrp="1"/>
          </p:cNvSpPr>
          <p:nvPr>
            <p:ph type="ftr" sz="quarter" idx="11"/>
          </p:nvPr>
        </p:nvSpPr>
        <p:spPr/>
        <p:txBody>
          <a:bodyPr/>
          <a:lstStyle/>
          <a:p>
            <a:r>
              <a:rPr lang="en-US" dirty="0"/>
              <a:t>Course Teacher: Dr. Md. Rukonuzzaman</a:t>
            </a:r>
          </a:p>
        </p:txBody>
      </p:sp>
      <p:sp>
        <p:nvSpPr>
          <p:cNvPr id="8" name="Slide Number Placeholder 7"/>
          <p:cNvSpPr>
            <a:spLocks noGrp="1"/>
          </p:cNvSpPr>
          <p:nvPr>
            <p:ph type="sldNum" sz="quarter" idx="12"/>
          </p:nvPr>
        </p:nvSpPr>
        <p:spPr/>
        <p:txBody>
          <a:bodyPr/>
          <a:lstStyle/>
          <a:p>
            <a:fld id="{48F63A3B-78C7-47BE-AE5E-E10140E04643}" type="slidenum">
              <a:rPr lang="en-US" smtClean="0"/>
              <a:t>8</a:t>
            </a:fld>
            <a:endParaRPr lang="en-US" dirty="0"/>
          </a:p>
        </p:txBody>
      </p:sp>
    </p:spTree>
    <p:extLst>
      <p:ext uri="{BB962C8B-B14F-4D97-AF65-F5344CB8AC3E}">
        <p14:creationId xmlns:p14="http://schemas.microsoft.com/office/powerpoint/2010/main" val="2970154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9BC1F-1CCF-45E5-AC27-929C685E6F0A}"/>
              </a:ext>
            </a:extLst>
          </p:cNvPr>
          <p:cNvSpPr>
            <a:spLocks noGrp="1"/>
          </p:cNvSpPr>
          <p:nvPr>
            <p:ph type="title"/>
          </p:nvPr>
        </p:nvSpPr>
        <p:spPr>
          <a:xfrm>
            <a:off x="1734984" y="394318"/>
            <a:ext cx="13797939" cy="958388"/>
          </a:xfrm>
        </p:spPr>
        <p:txBody>
          <a:bodyPr>
            <a:normAutofit/>
          </a:bodyPr>
          <a:lstStyle/>
          <a:p>
            <a:pPr algn="ctr"/>
            <a:r>
              <a:rPr lang="en-US" sz="4000" b="1" dirty="0">
                <a:solidFill>
                  <a:srgbClr val="0000FF"/>
                </a:solidFill>
              </a:rPr>
              <a:t>Introduction</a:t>
            </a:r>
            <a:endParaRPr lang="en-US" sz="6000" b="1" dirty="0">
              <a:solidFill>
                <a:srgbClr val="0000FF"/>
              </a:solidFill>
            </a:endParaRPr>
          </a:p>
        </p:txBody>
      </p:sp>
      <p:sp>
        <p:nvSpPr>
          <p:cNvPr id="3" name="Content Placeholder 2">
            <a:extLst>
              <a:ext uri="{FF2B5EF4-FFF2-40B4-BE49-F238E27FC236}">
                <a16:creationId xmlns:a16="http://schemas.microsoft.com/office/drawing/2014/main" id="{2FDD3AE2-3D8A-4CFB-A39E-441124DD9809}"/>
              </a:ext>
            </a:extLst>
          </p:cNvPr>
          <p:cNvSpPr>
            <a:spLocks noGrp="1"/>
          </p:cNvSpPr>
          <p:nvPr>
            <p:ph idx="1"/>
          </p:nvPr>
        </p:nvSpPr>
        <p:spPr>
          <a:xfrm>
            <a:off x="2018804" y="1352706"/>
            <a:ext cx="12457217" cy="4656208"/>
          </a:xfrm>
        </p:spPr>
        <p:txBody>
          <a:bodyPr>
            <a:noAutofit/>
          </a:bodyPr>
          <a:lstStyle/>
          <a:p>
            <a:pPr algn="just">
              <a:lnSpc>
                <a:spcPct val="125000"/>
              </a:lnSpc>
            </a:pPr>
            <a:r>
              <a:rPr lang="en-US" sz="2400" b="1" dirty="0"/>
              <a:t>A processor unit is that part of a digital system that implements the operations in the system. </a:t>
            </a:r>
          </a:p>
          <a:p>
            <a:pPr algn="just">
              <a:lnSpc>
                <a:spcPct val="125000"/>
              </a:lnSpc>
            </a:pPr>
            <a:r>
              <a:rPr lang="en-US" sz="2400" b="1" dirty="0"/>
              <a:t>It comprises a number of registers and the digital functions that implement arithmetic, logic, shift, and transfer micro-operations. </a:t>
            </a:r>
          </a:p>
          <a:p>
            <a:pPr algn="just">
              <a:lnSpc>
                <a:spcPct val="125000"/>
              </a:lnSpc>
            </a:pPr>
            <a:r>
              <a:rPr lang="en-US" sz="2400" b="1" dirty="0"/>
              <a:t>The processor unit, when combined with a control unit that supervises the sequence of micro-operations, is called a central processing unit (CPU). </a:t>
            </a:r>
          </a:p>
          <a:p>
            <a:pPr algn="just">
              <a:lnSpc>
                <a:spcPct val="125000"/>
              </a:lnSpc>
            </a:pPr>
            <a:r>
              <a:rPr lang="en-US" sz="2400" b="1" dirty="0"/>
              <a:t>Central Processing Unit (CPU) consists of Memory (Register Banks), Arithmetic Logic Unit (ALU) and Control Unit (CU).</a:t>
            </a:r>
          </a:p>
          <a:p>
            <a:pPr algn="just">
              <a:lnSpc>
                <a:spcPct val="125000"/>
              </a:lnSpc>
            </a:pPr>
            <a:r>
              <a:rPr lang="en-US" sz="2400" b="1" dirty="0"/>
              <a:t>There are </a:t>
            </a:r>
            <a:r>
              <a:rPr lang="en-US" sz="2400" b="1" dirty="0">
                <a:solidFill>
                  <a:srgbClr val="7030A0"/>
                </a:solidFill>
              </a:rPr>
              <a:t>three organizations </a:t>
            </a:r>
            <a:r>
              <a:rPr lang="en-US" sz="2400" b="1" dirty="0"/>
              <a:t>for organizing a general-purpose processor unit:</a:t>
            </a:r>
          </a:p>
          <a:p>
            <a:pPr lvl="1" algn="just">
              <a:lnSpc>
                <a:spcPct val="125000"/>
              </a:lnSpc>
              <a:buFont typeface="Wingdings" panose="05000000000000000000" pitchFamily="2" charset="2"/>
              <a:buChar char="§"/>
            </a:pPr>
            <a:r>
              <a:rPr lang="en-US" sz="2400" b="1" dirty="0"/>
              <a:t>Bus organization</a:t>
            </a:r>
          </a:p>
          <a:p>
            <a:pPr lvl="1" algn="just">
              <a:lnSpc>
                <a:spcPct val="125000"/>
              </a:lnSpc>
              <a:buFont typeface="Wingdings" panose="05000000000000000000" pitchFamily="2" charset="2"/>
              <a:buChar char="§"/>
            </a:pPr>
            <a:r>
              <a:rPr lang="en-US" sz="2400" b="1" dirty="0"/>
              <a:t>Scratchpad memory</a:t>
            </a:r>
          </a:p>
          <a:p>
            <a:pPr lvl="1" algn="just">
              <a:lnSpc>
                <a:spcPct val="125000"/>
              </a:lnSpc>
              <a:buFont typeface="Wingdings" panose="05000000000000000000" pitchFamily="2" charset="2"/>
              <a:buChar char="§"/>
            </a:pPr>
            <a:r>
              <a:rPr lang="en-US" sz="2400" b="1" dirty="0"/>
              <a:t>Two-port memory</a:t>
            </a:r>
          </a:p>
          <a:p>
            <a:pPr algn="just">
              <a:lnSpc>
                <a:spcPct val="125000"/>
              </a:lnSpc>
            </a:pPr>
            <a:endParaRPr lang="en-US" sz="2400" b="1" dirty="0"/>
          </a:p>
        </p:txBody>
      </p:sp>
      <p:sp>
        <p:nvSpPr>
          <p:cNvPr id="4" name="Date Placeholder 3"/>
          <p:cNvSpPr>
            <a:spLocks noGrp="1"/>
          </p:cNvSpPr>
          <p:nvPr>
            <p:ph type="dt" sz="half" idx="10"/>
          </p:nvPr>
        </p:nvSpPr>
        <p:spPr/>
        <p:txBody>
          <a:bodyPr/>
          <a:lstStyle/>
          <a:p>
            <a:fld id="{9148BD5F-7E9B-486C-BC2E-BE341ED4C716}" type="datetime3">
              <a:rPr lang="en-US" smtClean="0"/>
              <a:t>18 July 2024</a:t>
            </a:fld>
            <a:endParaRPr lang="en-US"/>
          </a:p>
        </p:txBody>
      </p:sp>
      <p:sp>
        <p:nvSpPr>
          <p:cNvPr id="5" name="Footer Placeholder 4"/>
          <p:cNvSpPr>
            <a:spLocks noGrp="1"/>
          </p:cNvSpPr>
          <p:nvPr>
            <p:ph type="ftr" sz="quarter" idx="11"/>
          </p:nvPr>
        </p:nvSpPr>
        <p:spPr/>
        <p:txBody>
          <a:bodyPr/>
          <a:lstStyle/>
          <a:p>
            <a:r>
              <a:rPr lang="en-US" dirty="0"/>
              <a:t>Course Teacher: Dr. Md. Rukonuzzaman</a:t>
            </a:r>
          </a:p>
        </p:txBody>
      </p:sp>
      <p:sp>
        <p:nvSpPr>
          <p:cNvPr id="6" name="Slide Number Placeholder 5"/>
          <p:cNvSpPr>
            <a:spLocks noGrp="1"/>
          </p:cNvSpPr>
          <p:nvPr>
            <p:ph type="sldNum" sz="quarter" idx="12"/>
          </p:nvPr>
        </p:nvSpPr>
        <p:spPr/>
        <p:txBody>
          <a:bodyPr/>
          <a:lstStyle/>
          <a:p>
            <a:fld id="{48F63A3B-78C7-47BE-AE5E-E10140E04643}" type="slidenum">
              <a:rPr lang="en-US" smtClean="0"/>
              <a:t>9</a:t>
            </a:fld>
            <a:endParaRPr lang="en-US" dirty="0"/>
          </a:p>
        </p:txBody>
      </p:sp>
    </p:spTree>
    <p:extLst>
      <p:ext uri="{BB962C8B-B14F-4D97-AF65-F5344CB8AC3E}">
        <p14:creationId xmlns:p14="http://schemas.microsoft.com/office/powerpoint/2010/main" val="2976904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63EA15C-127B-4F34-B0D4-8A8BCE169222}"/>
              </a:ext>
            </a:extLst>
          </p:cNvPr>
          <p:cNvSpPr>
            <a:spLocks noGrp="1"/>
          </p:cNvSpPr>
          <p:nvPr>
            <p:ph type="title"/>
          </p:nvPr>
        </p:nvSpPr>
        <p:spPr>
          <a:xfrm>
            <a:off x="1494315" y="377078"/>
            <a:ext cx="13894131" cy="1145497"/>
          </a:xfrm>
        </p:spPr>
        <p:txBody>
          <a:bodyPr>
            <a:normAutofit/>
          </a:bodyPr>
          <a:lstStyle/>
          <a:p>
            <a:pPr algn="ctr"/>
            <a:r>
              <a:rPr lang="en-US" sz="4000" b="1" dirty="0">
                <a:solidFill>
                  <a:srgbClr val="0000FF"/>
                </a:solidFill>
              </a:rPr>
              <a:t>Arithmetic Logic Unit (ALU)</a:t>
            </a:r>
            <a:endParaRPr lang="en-US" sz="4000" dirty="0">
              <a:solidFill>
                <a:srgbClr val="0000FF"/>
              </a:solidFill>
            </a:endParaRPr>
          </a:p>
        </p:txBody>
      </p:sp>
      <p:sp>
        <p:nvSpPr>
          <p:cNvPr id="3" name="Content Placeholder 2">
            <a:extLst>
              <a:ext uri="{FF2B5EF4-FFF2-40B4-BE49-F238E27FC236}">
                <a16:creationId xmlns:a16="http://schemas.microsoft.com/office/drawing/2014/main" id="{EC9D763F-92A4-4A96-BB78-1D0D733BE60F}"/>
              </a:ext>
            </a:extLst>
          </p:cNvPr>
          <p:cNvSpPr>
            <a:spLocks noGrp="1"/>
          </p:cNvSpPr>
          <p:nvPr>
            <p:ph idx="1"/>
          </p:nvPr>
        </p:nvSpPr>
        <p:spPr>
          <a:xfrm>
            <a:off x="849759" y="1845758"/>
            <a:ext cx="7758004" cy="2009597"/>
          </a:xfrm>
        </p:spPr>
        <p:txBody>
          <a:bodyPr>
            <a:noAutofit/>
          </a:bodyPr>
          <a:lstStyle/>
          <a:p>
            <a:pPr marL="617220" indent="-617220">
              <a:lnSpc>
                <a:spcPct val="120000"/>
              </a:lnSpc>
              <a:spcBef>
                <a:spcPts val="600"/>
              </a:spcBef>
              <a:spcAft>
                <a:spcPts val="600"/>
              </a:spcAft>
              <a:buFont typeface="+mj-lt"/>
              <a:buAutoNum type="arabicPeriod"/>
            </a:pPr>
            <a:r>
              <a:rPr lang="en-US" sz="2400" b="1" dirty="0"/>
              <a:t>The mode select </a:t>
            </a:r>
            <a:r>
              <a:rPr lang="en-US" sz="2400" b="1" dirty="0">
                <a:solidFill>
                  <a:srgbClr val="FF0000"/>
                </a:solidFill>
              </a:rPr>
              <a:t>s2 distinguishes between arithmetic and logic operations</a:t>
            </a:r>
            <a:r>
              <a:rPr lang="en-US" sz="2400" b="1" dirty="0"/>
              <a:t>.</a:t>
            </a:r>
          </a:p>
          <a:p>
            <a:pPr marL="617220" indent="-617220">
              <a:lnSpc>
                <a:spcPct val="120000"/>
              </a:lnSpc>
              <a:spcBef>
                <a:spcPts val="600"/>
              </a:spcBef>
              <a:spcAft>
                <a:spcPts val="600"/>
              </a:spcAft>
              <a:buFont typeface="+mj-lt"/>
              <a:buAutoNum type="arabicPeriod"/>
            </a:pPr>
            <a:r>
              <a:rPr lang="en-US" sz="2400" b="1" dirty="0"/>
              <a:t>The </a:t>
            </a:r>
            <a:r>
              <a:rPr lang="en-US" sz="2400" b="1" dirty="0">
                <a:solidFill>
                  <a:srgbClr val="00B050"/>
                </a:solidFill>
              </a:rPr>
              <a:t>two function-select inputs s1 and s0 specify the arithmetic and logic operation </a:t>
            </a:r>
            <a:r>
              <a:rPr lang="en-US" sz="2400" b="1" dirty="0"/>
              <a:t>to be generated.</a:t>
            </a:r>
          </a:p>
          <a:p>
            <a:pPr marL="617220" indent="-617220">
              <a:lnSpc>
                <a:spcPct val="120000"/>
              </a:lnSpc>
              <a:spcBef>
                <a:spcPts val="600"/>
              </a:spcBef>
              <a:spcAft>
                <a:spcPts val="600"/>
              </a:spcAft>
              <a:buFont typeface="+mj-lt"/>
              <a:buAutoNum type="arabicPeriod"/>
            </a:pPr>
            <a:r>
              <a:rPr lang="en-US" sz="2400" b="1" dirty="0"/>
              <a:t>The input and output carry (</a:t>
            </a:r>
            <a:r>
              <a:rPr lang="en-US" sz="2400" b="1" dirty="0" err="1"/>
              <a:t>C</a:t>
            </a:r>
            <a:r>
              <a:rPr lang="en-US" sz="2400" b="1" baseline="-25000" dirty="0" err="1"/>
              <a:t>in</a:t>
            </a:r>
            <a:r>
              <a:rPr lang="en-US" sz="2400" b="1" dirty="0"/>
              <a:t> and </a:t>
            </a:r>
            <a:r>
              <a:rPr lang="en-US" sz="2400" b="1" dirty="0" err="1"/>
              <a:t>C</a:t>
            </a:r>
            <a:r>
              <a:rPr lang="en-US" sz="2400" b="1" baseline="-25000" dirty="0" err="1"/>
              <a:t>out</a:t>
            </a:r>
            <a:r>
              <a:rPr lang="en-US" sz="2400" b="1" dirty="0"/>
              <a:t>) have meanings only during arithmetic operations.</a:t>
            </a:r>
          </a:p>
        </p:txBody>
      </p:sp>
      <p:pic>
        <p:nvPicPr>
          <p:cNvPr id="4" name="Picture 3">
            <a:extLst>
              <a:ext uri="{FF2B5EF4-FFF2-40B4-BE49-F238E27FC236}">
                <a16:creationId xmlns:a16="http://schemas.microsoft.com/office/drawing/2014/main" id="{40F657B8-BA00-45BA-8133-C5AAEACACA9B}"/>
              </a:ext>
            </a:extLst>
          </p:cNvPr>
          <p:cNvPicPr>
            <a:picLocks noChangeAspect="1"/>
          </p:cNvPicPr>
          <p:nvPr/>
        </p:nvPicPr>
        <p:blipFill>
          <a:blip r:embed="rId2"/>
          <a:stretch>
            <a:fillRect/>
          </a:stretch>
        </p:blipFill>
        <p:spPr>
          <a:xfrm>
            <a:off x="8700390" y="2707095"/>
            <a:ext cx="7014228" cy="3967566"/>
          </a:xfrm>
          <a:prstGeom prst="rect">
            <a:avLst/>
          </a:prstGeom>
        </p:spPr>
      </p:pic>
      <p:sp>
        <p:nvSpPr>
          <p:cNvPr id="7" name="Rectangle 6"/>
          <p:cNvSpPr/>
          <p:nvPr/>
        </p:nvSpPr>
        <p:spPr>
          <a:xfrm>
            <a:off x="849759" y="4959200"/>
            <a:ext cx="7664849" cy="2278765"/>
          </a:xfrm>
          <a:prstGeom prst="rect">
            <a:avLst/>
          </a:prstGeom>
        </p:spPr>
        <p:txBody>
          <a:bodyPr wrap="square">
            <a:spAutoFit/>
          </a:bodyPr>
          <a:lstStyle/>
          <a:p>
            <a:pPr marL="617220" indent="-617220">
              <a:lnSpc>
                <a:spcPct val="120000"/>
              </a:lnSpc>
              <a:buFont typeface="+mj-lt"/>
              <a:buAutoNum type="arabicPeriod" startAt="4"/>
            </a:pPr>
            <a:r>
              <a:rPr lang="en-US" sz="2400" b="1" dirty="0"/>
              <a:t>The input carry </a:t>
            </a:r>
            <a:r>
              <a:rPr lang="en-US" sz="2400" b="1" dirty="0" err="1">
                <a:solidFill>
                  <a:srgbClr val="0070C0"/>
                </a:solidFill>
              </a:rPr>
              <a:t>C</a:t>
            </a:r>
            <a:r>
              <a:rPr lang="en-US" sz="2400" b="1" baseline="-25000" dirty="0" err="1">
                <a:solidFill>
                  <a:srgbClr val="0070C0"/>
                </a:solidFill>
              </a:rPr>
              <a:t>in</a:t>
            </a:r>
            <a:r>
              <a:rPr lang="en-US" sz="2400" b="1" dirty="0">
                <a:solidFill>
                  <a:srgbClr val="0070C0"/>
                </a:solidFill>
              </a:rPr>
              <a:t> in the least significant position</a:t>
            </a:r>
            <a:r>
              <a:rPr lang="en-US" sz="2400" b="1" dirty="0"/>
              <a:t> of an ALU is quite often used as the fourth selection variable that can double the number of arithmetic operations. Thus, a total of </a:t>
            </a:r>
            <a:r>
              <a:rPr lang="en-US" sz="2400" b="1" dirty="0">
                <a:solidFill>
                  <a:srgbClr val="FF0000"/>
                </a:solidFill>
              </a:rPr>
              <a:t>8 arithmetic operations </a:t>
            </a:r>
            <a:r>
              <a:rPr lang="en-US" sz="2400" b="1" dirty="0"/>
              <a:t>and </a:t>
            </a:r>
            <a:r>
              <a:rPr lang="en-US" sz="2400" b="1" dirty="0">
                <a:solidFill>
                  <a:srgbClr val="FF0000"/>
                </a:solidFill>
              </a:rPr>
              <a:t>4 logical operations </a:t>
            </a:r>
            <a:r>
              <a:rPr lang="en-US" sz="2400" b="1" dirty="0"/>
              <a:t>can be performed.</a:t>
            </a:r>
          </a:p>
        </p:txBody>
      </p:sp>
      <p:sp>
        <p:nvSpPr>
          <p:cNvPr id="2" name="Date Placeholder 1"/>
          <p:cNvSpPr>
            <a:spLocks noGrp="1"/>
          </p:cNvSpPr>
          <p:nvPr>
            <p:ph type="dt" sz="half" idx="10"/>
          </p:nvPr>
        </p:nvSpPr>
        <p:spPr/>
        <p:txBody>
          <a:bodyPr/>
          <a:lstStyle/>
          <a:p>
            <a:fld id="{EF13C1D0-9426-47D7-871F-95F10E233808}" type="datetime3">
              <a:rPr lang="en-US" smtClean="0"/>
              <a:t>18 July 2024</a:t>
            </a:fld>
            <a:endParaRPr lang="en-US"/>
          </a:p>
        </p:txBody>
      </p:sp>
      <p:sp>
        <p:nvSpPr>
          <p:cNvPr id="5" name="Footer Placeholder 4"/>
          <p:cNvSpPr>
            <a:spLocks noGrp="1"/>
          </p:cNvSpPr>
          <p:nvPr>
            <p:ph type="ftr" sz="quarter" idx="11"/>
          </p:nvPr>
        </p:nvSpPr>
        <p:spPr/>
        <p:txBody>
          <a:bodyPr/>
          <a:lstStyle/>
          <a:p>
            <a:r>
              <a:rPr lang="en-US" dirty="0"/>
              <a:t>Course Teacher: Dr. Md. Rukonuzzaman</a:t>
            </a:r>
          </a:p>
        </p:txBody>
      </p:sp>
      <p:sp>
        <p:nvSpPr>
          <p:cNvPr id="8" name="Slide Number Placeholder 7"/>
          <p:cNvSpPr>
            <a:spLocks noGrp="1"/>
          </p:cNvSpPr>
          <p:nvPr>
            <p:ph type="sldNum" sz="quarter" idx="12"/>
          </p:nvPr>
        </p:nvSpPr>
        <p:spPr/>
        <p:txBody>
          <a:bodyPr/>
          <a:lstStyle/>
          <a:p>
            <a:fld id="{48F63A3B-78C7-47BE-AE5E-E10140E04643}" type="slidenum">
              <a:rPr lang="en-US" smtClean="0"/>
              <a:t>10</a:t>
            </a:fld>
            <a:endParaRPr lang="en-US" dirty="0"/>
          </a:p>
        </p:txBody>
      </p:sp>
      <p:cxnSp>
        <p:nvCxnSpPr>
          <p:cNvPr id="9" name="Straight Connector 8">
            <a:extLst>
              <a:ext uri="{FF2B5EF4-FFF2-40B4-BE49-F238E27FC236}">
                <a16:creationId xmlns:a16="http://schemas.microsoft.com/office/drawing/2014/main" id="{1F9AB955-A2DF-B1D2-7F85-D62993864193}"/>
              </a:ext>
            </a:extLst>
          </p:cNvPr>
          <p:cNvCxnSpPr>
            <a:cxnSpLocks/>
          </p:cNvCxnSpPr>
          <p:nvPr/>
        </p:nvCxnSpPr>
        <p:spPr>
          <a:xfrm>
            <a:off x="13990339" y="4289367"/>
            <a:ext cx="1542989"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sp>
        <p:nvSpPr>
          <p:cNvPr id="11" name="Right Brace 10">
            <a:extLst>
              <a:ext uri="{FF2B5EF4-FFF2-40B4-BE49-F238E27FC236}">
                <a16:creationId xmlns:a16="http://schemas.microsoft.com/office/drawing/2014/main" id="{65AC4CCA-C338-0E6A-5375-ED064A53F48F}"/>
              </a:ext>
            </a:extLst>
          </p:cNvPr>
          <p:cNvSpPr/>
          <p:nvPr/>
        </p:nvSpPr>
        <p:spPr>
          <a:xfrm>
            <a:off x="15461281" y="4455159"/>
            <a:ext cx="352697" cy="613934"/>
          </a:xfrm>
          <a:prstGeom prst="rightBrace">
            <a:avLst>
              <a:gd name="adj1" fmla="val 11809"/>
              <a:gd name="adj2" fmla="val 47619"/>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D8506421-2859-DAF3-E1A6-5AB677E381E5}"/>
              </a:ext>
            </a:extLst>
          </p:cNvPr>
          <p:cNvCxnSpPr>
            <a:cxnSpLocks/>
          </p:cNvCxnSpPr>
          <p:nvPr/>
        </p:nvCxnSpPr>
        <p:spPr>
          <a:xfrm>
            <a:off x="14039227" y="5333604"/>
            <a:ext cx="1542989" cy="0"/>
          </a:xfrm>
          <a:prstGeom prst="line">
            <a:avLst/>
          </a:prstGeom>
          <a:ln w="28575">
            <a:solidFill>
              <a:srgbClr val="0070C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227035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wipe(down)">
                                      <p:cBhvr>
                                        <p:cTn id="24" dur="5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circle(in)">
                                      <p:cBhvr>
                                        <p:cTn id="29" dur="20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anim calcmode="lin" valueType="num">
                                      <p:cBhvr additive="base">
                                        <p:cTn id="3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nodeType="clickEffect">
                                  <p:stCondLst>
                                    <p:cond delay="0"/>
                                  </p:stCondLst>
                                  <p:childTnLst>
                                    <p:set>
                                      <p:cBhvr>
                                        <p:cTn id="39" dur="1" fill="hold">
                                          <p:stCondLst>
                                            <p:cond delay="0"/>
                                          </p:stCondLst>
                                        </p:cTn>
                                        <p:tgtEl>
                                          <p:spTgt spid="7">
                                            <p:txEl>
                                              <p:pRg st="0" end="0"/>
                                            </p:txEl>
                                          </p:spTgt>
                                        </p:tgtEl>
                                        <p:attrNameLst>
                                          <p:attrName>style.visibility</p:attrName>
                                        </p:attrNameLst>
                                      </p:cBhvr>
                                      <p:to>
                                        <p:strVal val="visible"/>
                                      </p:to>
                                    </p:set>
                                    <p:animEffect transition="in" filter="circle(in)">
                                      <p:cBhvr>
                                        <p:cTn id="40" dur="2000"/>
                                        <p:tgtEl>
                                          <p:spTgt spid="7">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8C7E6-4D7B-42EE-B75B-C06775F36F96}"/>
              </a:ext>
            </a:extLst>
          </p:cNvPr>
          <p:cNvSpPr>
            <a:spLocks noGrp="1"/>
          </p:cNvSpPr>
          <p:nvPr>
            <p:ph type="title"/>
          </p:nvPr>
        </p:nvSpPr>
        <p:spPr>
          <a:xfrm>
            <a:off x="1496291" y="438150"/>
            <a:ext cx="14036634" cy="808759"/>
          </a:xfrm>
        </p:spPr>
        <p:txBody>
          <a:bodyPr>
            <a:normAutofit/>
          </a:bodyPr>
          <a:lstStyle/>
          <a:p>
            <a:pPr algn="ctr"/>
            <a:r>
              <a:rPr lang="en-US" sz="4000" b="1" dirty="0">
                <a:solidFill>
                  <a:srgbClr val="0000FF"/>
                </a:solidFill>
              </a:rPr>
              <a:t>Design of Arithmetic Circuit</a:t>
            </a:r>
          </a:p>
        </p:txBody>
      </p:sp>
      <p:sp>
        <p:nvSpPr>
          <p:cNvPr id="3" name="Content Placeholder 2">
            <a:extLst>
              <a:ext uri="{FF2B5EF4-FFF2-40B4-BE49-F238E27FC236}">
                <a16:creationId xmlns:a16="http://schemas.microsoft.com/office/drawing/2014/main" id="{11168800-135F-4FF7-9E9E-457F889BDF77}"/>
              </a:ext>
            </a:extLst>
          </p:cNvPr>
          <p:cNvSpPr>
            <a:spLocks noGrp="1"/>
          </p:cNvSpPr>
          <p:nvPr>
            <p:ph idx="1"/>
          </p:nvPr>
        </p:nvSpPr>
        <p:spPr>
          <a:xfrm>
            <a:off x="1496291" y="2481943"/>
            <a:ext cx="11542815" cy="2945080"/>
          </a:xfrm>
        </p:spPr>
        <p:txBody>
          <a:bodyPr>
            <a:noAutofit/>
          </a:bodyPr>
          <a:lstStyle/>
          <a:p>
            <a:pPr marL="457200" indent="-457200">
              <a:lnSpc>
                <a:spcPct val="150000"/>
              </a:lnSpc>
              <a:spcBef>
                <a:spcPts val="600"/>
              </a:spcBef>
              <a:spcAft>
                <a:spcPts val="600"/>
              </a:spcAft>
              <a:buClr>
                <a:srgbClr val="00B050"/>
              </a:buClr>
              <a:buFont typeface="Wingdings" panose="05000000000000000000" pitchFamily="2" charset="2"/>
              <a:buChar char="v"/>
            </a:pPr>
            <a:r>
              <a:rPr lang="en-US" sz="2400" b="1" dirty="0"/>
              <a:t>The basic component of the arithmetic section of an ALU is the parallel adder. </a:t>
            </a:r>
          </a:p>
          <a:p>
            <a:pPr marL="457200" indent="-457200">
              <a:lnSpc>
                <a:spcPct val="150000"/>
              </a:lnSpc>
              <a:spcBef>
                <a:spcPts val="600"/>
              </a:spcBef>
              <a:spcAft>
                <a:spcPts val="600"/>
              </a:spcAft>
              <a:buClr>
                <a:srgbClr val="00B050"/>
              </a:buClr>
              <a:buFont typeface="Wingdings" panose="05000000000000000000" pitchFamily="2" charset="2"/>
              <a:buChar char="v"/>
            </a:pPr>
            <a:r>
              <a:rPr lang="en-US" sz="2400" b="1" dirty="0"/>
              <a:t>A parallel adder is constructed with several full adder circuits cascaded. </a:t>
            </a:r>
          </a:p>
          <a:p>
            <a:pPr marL="457200" indent="-457200">
              <a:lnSpc>
                <a:spcPct val="150000"/>
              </a:lnSpc>
              <a:spcBef>
                <a:spcPts val="600"/>
              </a:spcBef>
              <a:spcAft>
                <a:spcPts val="600"/>
              </a:spcAft>
              <a:buClr>
                <a:srgbClr val="00B050"/>
              </a:buClr>
              <a:buFont typeface="Wingdings" panose="05000000000000000000" pitchFamily="2" charset="2"/>
              <a:buChar char="v"/>
            </a:pPr>
            <a:r>
              <a:rPr lang="en-US" sz="2400" b="1" dirty="0"/>
              <a:t>By controlling the data inputs to the parallel adder, it is possible to obtain different types of arithmetic operations.</a:t>
            </a:r>
          </a:p>
        </p:txBody>
      </p:sp>
      <p:sp>
        <p:nvSpPr>
          <p:cNvPr id="4" name="Date Placeholder 3"/>
          <p:cNvSpPr>
            <a:spLocks noGrp="1"/>
          </p:cNvSpPr>
          <p:nvPr>
            <p:ph type="dt" sz="half" idx="10"/>
          </p:nvPr>
        </p:nvSpPr>
        <p:spPr/>
        <p:txBody>
          <a:bodyPr/>
          <a:lstStyle/>
          <a:p>
            <a:fld id="{12A8C51F-53C2-4494-9C3B-AD1D277D5C1C}" type="datetime3">
              <a:rPr lang="en-US" smtClean="0"/>
              <a:t>18 July 2024</a:t>
            </a:fld>
            <a:endParaRPr lang="en-US"/>
          </a:p>
        </p:txBody>
      </p:sp>
      <p:sp>
        <p:nvSpPr>
          <p:cNvPr id="5" name="Footer Placeholder 4"/>
          <p:cNvSpPr>
            <a:spLocks noGrp="1"/>
          </p:cNvSpPr>
          <p:nvPr>
            <p:ph type="ftr" sz="quarter" idx="11"/>
          </p:nvPr>
        </p:nvSpPr>
        <p:spPr/>
        <p:txBody>
          <a:bodyPr/>
          <a:lstStyle/>
          <a:p>
            <a:r>
              <a:rPr lang="en-US" dirty="0"/>
              <a:t>Course Teacher: Dr. Md. Rukonuzzaman</a:t>
            </a:r>
          </a:p>
        </p:txBody>
      </p:sp>
      <p:sp>
        <p:nvSpPr>
          <p:cNvPr id="6" name="Slide Number Placeholder 5"/>
          <p:cNvSpPr>
            <a:spLocks noGrp="1"/>
          </p:cNvSpPr>
          <p:nvPr>
            <p:ph type="sldNum" sz="quarter" idx="12"/>
          </p:nvPr>
        </p:nvSpPr>
        <p:spPr/>
        <p:txBody>
          <a:bodyPr/>
          <a:lstStyle/>
          <a:p>
            <a:fld id="{48F63A3B-78C7-47BE-AE5E-E10140E04643}" type="slidenum">
              <a:rPr lang="en-US" smtClean="0"/>
              <a:t>11</a:t>
            </a:fld>
            <a:endParaRPr lang="en-US" dirty="0"/>
          </a:p>
        </p:txBody>
      </p:sp>
    </p:spTree>
    <p:extLst>
      <p:ext uri="{BB962C8B-B14F-4D97-AF65-F5344CB8AC3E}">
        <p14:creationId xmlns:p14="http://schemas.microsoft.com/office/powerpoint/2010/main" val="237738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C9F54-A445-4971-A2C8-89CEBBEE08E1}"/>
              </a:ext>
            </a:extLst>
          </p:cNvPr>
          <p:cNvSpPr>
            <a:spLocks noGrp="1"/>
          </p:cNvSpPr>
          <p:nvPr>
            <p:ph type="title"/>
          </p:nvPr>
        </p:nvSpPr>
        <p:spPr>
          <a:xfrm>
            <a:off x="199505" y="266007"/>
            <a:ext cx="16093440" cy="1163782"/>
          </a:xfrm>
        </p:spPr>
        <p:txBody>
          <a:bodyPr>
            <a:normAutofit/>
          </a:bodyPr>
          <a:lstStyle/>
          <a:p>
            <a:r>
              <a:rPr lang="en-US" sz="4400" b="1" dirty="0">
                <a:solidFill>
                  <a:srgbClr val="0070C0"/>
                </a:solidFill>
              </a:rPr>
              <a:t>Operations obtained by controlling one set of inputs to a parallel adder</a:t>
            </a:r>
          </a:p>
        </p:txBody>
      </p:sp>
      <mc:AlternateContent xmlns:mc="http://schemas.openxmlformats.org/markup-compatibility/2006">
        <mc:Choice xmlns:a14="http://schemas.microsoft.com/office/drawing/2010/main" Requires="a14">
          <p:sp>
            <p:nvSpPr>
              <p:cNvPr id="11" name="Content Placeholder 10">
                <a:extLst>
                  <a:ext uri="{FF2B5EF4-FFF2-40B4-BE49-F238E27FC236}">
                    <a16:creationId xmlns:a16="http://schemas.microsoft.com/office/drawing/2014/main" id="{74A1B1F2-0DE6-4818-8C37-506946643062}"/>
                  </a:ext>
                </a:extLst>
              </p:cNvPr>
              <p:cNvSpPr>
                <a:spLocks noGrp="1"/>
              </p:cNvSpPr>
              <p:nvPr>
                <p:ph idx="1"/>
              </p:nvPr>
            </p:nvSpPr>
            <p:spPr>
              <a:xfrm>
                <a:off x="1842999" y="2444171"/>
                <a:ext cx="1898687" cy="630021"/>
              </a:xfrm>
            </p:spPr>
            <p:txBody>
              <a:bodyPr>
                <a:normAutofit/>
              </a:bodyPr>
              <a:lstStyle/>
              <a:p>
                <a:pPr marL="0" indent="0">
                  <a:buNone/>
                </a:pPr>
                <a14:m>
                  <m:oMath xmlns:m="http://schemas.openxmlformats.org/officeDocument/2006/math">
                    <m:sSub>
                      <m:sSubPr>
                        <m:ctrlPr>
                          <a:rPr lang="en-US" sz="2400" b="1" i="1" smtClean="0">
                            <a:solidFill>
                              <a:srgbClr val="0000FF"/>
                            </a:solidFill>
                            <a:latin typeface="Cambria Math" panose="02040503050406030204" pitchFamily="18" charset="0"/>
                          </a:rPr>
                        </m:ctrlPr>
                      </m:sSubPr>
                      <m:e>
                        <m:r>
                          <a:rPr lang="en-US" sz="2400" b="1" i="1" smtClean="0">
                            <a:solidFill>
                              <a:srgbClr val="0000FF"/>
                            </a:solidFill>
                            <a:latin typeface="Cambria Math" panose="02040503050406030204" pitchFamily="18" charset="0"/>
                          </a:rPr>
                          <m:t>𝑺</m:t>
                        </m:r>
                      </m:e>
                      <m:sub>
                        <m:r>
                          <a:rPr lang="en-US" sz="2400" b="1" i="1" smtClean="0">
                            <a:solidFill>
                              <a:srgbClr val="0000FF"/>
                            </a:solidFill>
                            <a:latin typeface="Cambria Math" panose="02040503050406030204" pitchFamily="18" charset="0"/>
                          </a:rPr>
                          <m:t>𝟏</m:t>
                        </m:r>
                      </m:sub>
                    </m:sSub>
                    <m:sSub>
                      <m:sSubPr>
                        <m:ctrlPr>
                          <a:rPr lang="en-US" sz="2400" b="1" i="1">
                            <a:solidFill>
                              <a:srgbClr val="0000FF"/>
                            </a:solidFill>
                            <a:latin typeface="Cambria Math" panose="02040503050406030204" pitchFamily="18" charset="0"/>
                          </a:rPr>
                        </m:ctrlPr>
                      </m:sSubPr>
                      <m:e>
                        <m:r>
                          <a:rPr lang="en-US" sz="2400" b="1" i="1">
                            <a:solidFill>
                              <a:srgbClr val="0000FF"/>
                            </a:solidFill>
                            <a:latin typeface="Cambria Math" panose="02040503050406030204" pitchFamily="18" charset="0"/>
                          </a:rPr>
                          <m:t>𝑺</m:t>
                        </m:r>
                      </m:e>
                      <m:sub>
                        <m:r>
                          <a:rPr lang="en-US" sz="2400" b="1" i="1" smtClean="0">
                            <a:solidFill>
                              <a:srgbClr val="0000FF"/>
                            </a:solidFill>
                            <a:latin typeface="Cambria Math" panose="02040503050406030204" pitchFamily="18" charset="0"/>
                          </a:rPr>
                          <m:t>𝟎</m:t>
                        </m:r>
                      </m:sub>
                    </m:sSub>
                  </m:oMath>
                </a14:m>
                <a:r>
                  <a:rPr lang="en-US" sz="2400" b="1" dirty="0">
                    <a:solidFill>
                      <a:srgbClr val="0000FF"/>
                    </a:solidFill>
                  </a:rPr>
                  <a:t> = 01</a:t>
                </a:r>
              </a:p>
            </p:txBody>
          </p:sp>
        </mc:Choice>
        <mc:Fallback>
          <p:sp>
            <p:nvSpPr>
              <p:cNvPr id="11" name="Content Placeholder 10">
                <a:extLst>
                  <a:ext uri="{FF2B5EF4-FFF2-40B4-BE49-F238E27FC236}">
                    <a16:creationId xmlns:a16="http://schemas.microsoft.com/office/drawing/2014/main" id="{74A1B1F2-0DE6-4818-8C37-506946643062}"/>
                  </a:ext>
                </a:extLst>
              </p:cNvPr>
              <p:cNvSpPr>
                <a:spLocks noGrp="1" noRot="1" noChangeAspect="1" noMove="1" noResize="1" noEditPoints="1" noAdjustHandles="1" noChangeArrowheads="1" noChangeShapeType="1" noTextEdit="1"/>
              </p:cNvSpPr>
              <p:nvPr>
                <p:ph idx="1"/>
              </p:nvPr>
            </p:nvSpPr>
            <p:spPr>
              <a:xfrm>
                <a:off x="1842999" y="2444171"/>
                <a:ext cx="1898687" cy="630021"/>
              </a:xfrm>
              <a:blipFill>
                <a:blip r:embed="rId3"/>
                <a:stretch>
                  <a:fillRect l="-641" t="-13592"/>
                </a:stretch>
              </a:blipFill>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FD583BB8-F283-4CFA-A836-C49BE7C82C15}"/>
              </a:ext>
            </a:extLst>
          </p:cNvPr>
          <p:cNvCxnSpPr/>
          <p:nvPr/>
        </p:nvCxnSpPr>
        <p:spPr>
          <a:xfrm>
            <a:off x="6164462" y="6397986"/>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13D515D-2135-4892-BD7A-BF1D8595A2A1}"/>
              </a:ext>
            </a:extLst>
          </p:cNvPr>
          <p:cNvSpPr txBox="1"/>
          <p:nvPr/>
        </p:nvSpPr>
        <p:spPr>
          <a:xfrm>
            <a:off x="7715152" y="7301583"/>
            <a:ext cx="1689812" cy="461665"/>
          </a:xfrm>
          <a:prstGeom prst="rect">
            <a:avLst/>
          </a:prstGeom>
          <a:noFill/>
        </p:spPr>
        <p:txBody>
          <a:bodyPr wrap="square" rtlCol="0">
            <a:spAutoFit/>
          </a:bodyPr>
          <a:lstStyle/>
          <a:p>
            <a:r>
              <a:rPr lang="en-US" sz="2400" b="1" dirty="0">
                <a:solidFill>
                  <a:srgbClr val="FF0000"/>
                </a:solidFill>
              </a:rPr>
              <a:t>Fig. 9.6</a:t>
            </a:r>
          </a:p>
        </p:txBody>
      </p:sp>
      <p:sp>
        <p:nvSpPr>
          <p:cNvPr id="4" name="Date Placeholder 3"/>
          <p:cNvSpPr>
            <a:spLocks noGrp="1"/>
          </p:cNvSpPr>
          <p:nvPr>
            <p:ph type="dt" sz="half" idx="10"/>
          </p:nvPr>
        </p:nvSpPr>
        <p:spPr/>
        <p:txBody>
          <a:bodyPr/>
          <a:lstStyle/>
          <a:p>
            <a:fld id="{174A3934-A274-41E5-877A-3F71459D3AF1}" type="datetime3">
              <a:rPr lang="en-US" smtClean="0"/>
              <a:t>18 July 2024</a:t>
            </a:fld>
            <a:endParaRPr lang="en-US"/>
          </a:p>
        </p:txBody>
      </p:sp>
      <p:sp>
        <p:nvSpPr>
          <p:cNvPr id="5" name="Footer Placeholder 4"/>
          <p:cNvSpPr>
            <a:spLocks noGrp="1"/>
          </p:cNvSpPr>
          <p:nvPr>
            <p:ph type="ftr" sz="quarter" idx="11"/>
          </p:nvPr>
        </p:nvSpPr>
        <p:spPr/>
        <p:txBody>
          <a:bodyPr/>
          <a:lstStyle/>
          <a:p>
            <a:r>
              <a:rPr lang="en-US" dirty="0"/>
              <a:t>Course Teacher: Dr. Md. Rukonuzzaman</a:t>
            </a:r>
          </a:p>
        </p:txBody>
      </p:sp>
      <p:sp>
        <p:nvSpPr>
          <p:cNvPr id="6" name="Slide Number Placeholder 5"/>
          <p:cNvSpPr>
            <a:spLocks noGrp="1"/>
          </p:cNvSpPr>
          <p:nvPr>
            <p:ph type="sldNum" sz="quarter" idx="12"/>
          </p:nvPr>
        </p:nvSpPr>
        <p:spPr/>
        <p:txBody>
          <a:bodyPr/>
          <a:lstStyle/>
          <a:p>
            <a:fld id="{48F63A3B-78C7-47BE-AE5E-E10140E04643}" type="slidenum">
              <a:rPr lang="en-US" smtClean="0"/>
              <a:t>12</a:t>
            </a:fld>
            <a:endParaRPr lang="en-US" dirty="0"/>
          </a:p>
        </p:txBody>
      </p:sp>
      <p:pic>
        <p:nvPicPr>
          <p:cNvPr id="7" name="Picture 6"/>
          <p:cNvPicPr>
            <a:picLocks/>
          </p:cNvPicPr>
          <p:nvPr/>
        </p:nvPicPr>
        <p:blipFill>
          <a:blip r:embed="rId4"/>
          <a:stretch>
            <a:fillRect/>
          </a:stretch>
        </p:blipFill>
        <p:spPr>
          <a:xfrm>
            <a:off x="4057552" y="1566179"/>
            <a:ext cx="3657600" cy="2286000"/>
          </a:xfrm>
          <a:prstGeom prst="rect">
            <a:avLst/>
          </a:prstGeom>
        </p:spPr>
      </p:pic>
      <p:sp>
        <p:nvSpPr>
          <p:cNvPr id="8" name="TextBox 7"/>
          <p:cNvSpPr txBox="1"/>
          <p:nvPr/>
        </p:nvSpPr>
        <p:spPr>
          <a:xfrm>
            <a:off x="3650707" y="4005483"/>
            <a:ext cx="4471288" cy="400110"/>
          </a:xfrm>
          <a:prstGeom prst="rect">
            <a:avLst/>
          </a:prstGeom>
          <a:noFill/>
        </p:spPr>
        <p:txBody>
          <a:bodyPr wrap="square" rtlCol="0">
            <a:spAutoFit/>
          </a:bodyPr>
          <a:lstStyle/>
          <a:p>
            <a:pPr algn="ctr"/>
            <a:r>
              <a:rPr lang="en-US" sz="2000" b="1" dirty="0"/>
              <a:t>(a) Addition without input carry</a:t>
            </a:r>
          </a:p>
        </p:txBody>
      </p:sp>
      <p:graphicFrame>
        <p:nvGraphicFramePr>
          <p:cNvPr id="9" name="Object 8"/>
          <p:cNvGraphicFramePr>
            <a:graphicFrameLocks/>
          </p:cNvGraphicFramePr>
          <p:nvPr>
            <p:extLst>
              <p:ext uri="{D42A27DB-BD31-4B8C-83A1-F6EECF244321}">
                <p14:modId xmlns:p14="http://schemas.microsoft.com/office/powerpoint/2010/main" val="2754355622"/>
              </p:ext>
            </p:extLst>
          </p:nvPr>
        </p:nvGraphicFramePr>
        <p:xfrm>
          <a:off x="9719954" y="1501381"/>
          <a:ext cx="3657600" cy="2286000"/>
        </p:xfrm>
        <a:graphic>
          <a:graphicData uri="http://schemas.openxmlformats.org/presentationml/2006/ole">
            <mc:AlternateContent xmlns:mc="http://schemas.openxmlformats.org/markup-compatibility/2006">
              <mc:Choice xmlns:v="urn:schemas-microsoft-com:vml" Requires="v">
                <p:oleObj name="Visio" r:id="rId5" imgW="3270943" imgH="1957382" progId="Visio.Drawing.6">
                  <p:embed/>
                </p:oleObj>
              </mc:Choice>
              <mc:Fallback>
                <p:oleObj name="Visio" r:id="rId5" imgW="3270943" imgH="1957382" progId="Visio.Drawing.6">
                  <p:embed/>
                  <p:pic>
                    <p:nvPicPr>
                      <p:cNvPr id="0" name=""/>
                      <p:cNvPicPr/>
                      <p:nvPr/>
                    </p:nvPicPr>
                    <p:blipFill>
                      <a:blip r:embed="rId6"/>
                      <a:stretch>
                        <a:fillRect/>
                      </a:stretch>
                    </p:blipFill>
                    <p:spPr>
                      <a:xfrm>
                        <a:off x="9719954" y="1501381"/>
                        <a:ext cx="3657600" cy="2286000"/>
                      </a:xfrm>
                      <a:prstGeom prst="rect">
                        <a:avLst/>
                      </a:prstGeom>
                    </p:spPr>
                  </p:pic>
                </p:oleObj>
              </mc:Fallback>
            </mc:AlternateContent>
          </a:graphicData>
        </a:graphic>
      </p:graphicFrame>
      <p:sp>
        <p:nvSpPr>
          <p:cNvPr id="17" name="TextBox 16"/>
          <p:cNvSpPr txBox="1"/>
          <p:nvPr/>
        </p:nvSpPr>
        <p:spPr>
          <a:xfrm>
            <a:off x="9540829" y="3893964"/>
            <a:ext cx="4471288" cy="400110"/>
          </a:xfrm>
          <a:prstGeom prst="rect">
            <a:avLst/>
          </a:prstGeom>
          <a:noFill/>
        </p:spPr>
        <p:txBody>
          <a:bodyPr wrap="square" rtlCol="0">
            <a:spAutoFit/>
          </a:bodyPr>
          <a:lstStyle/>
          <a:p>
            <a:pPr algn="ctr"/>
            <a:r>
              <a:rPr lang="en-US" sz="2000" b="1" dirty="0"/>
              <a:t>(b) Addition with input carry</a:t>
            </a:r>
          </a:p>
        </p:txBody>
      </p:sp>
      <p:pic>
        <p:nvPicPr>
          <p:cNvPr id="12" name="Picture 11"/>
          <p:cNvPicPr>
            <a:picLocks/>
          </p:cNvPicPr>
          <p:nvPr/>
        </p:nvPicPr>
        <p:blipFill>
          <a:blip r:embed="rId7"/>
          <a:stretch>
            <a:fillRect/>
          </a:stretch>
        </p:blipFill>
        <p:spPr>
          <a:xfrm>
            <a:off x="4148530" y="4477346"/>
            <a:ext cx="3657600" cy="2286000"/>
          </a:xfrm>
          <a:prstGeom prst="rect">
            <a:avLst/>
          </a:prstGeom>
        </p:spPr>
      </p:pic>
      <p:sp>
        <p:nvSpPr>
          <p:cNvPr id="19" name="TextBox 18"/>
          <p:cNvSpPr txBox="1"/>
          <p:nvPr/>
        </p:nvSpPr>
        <p:spPr>
          <a:xfrm>
            <a:off x="3243847" y="6981287"/>
            <a:ext cx="5285009" cy="400110"/>
          </a:xfrm>
          <a:prstGeom prst="rect">
            <a:avLst/>
          </a:prstGeom>
          <a:noFill/>
        </p:spPr>
        <p:txBody>
          <a:bodyPr wrap="square" rtlCol="0">
            <a:spAutoFit/>
          </a:bodyPr>
          <a:lstStyle/>
          <a:p>
            <a:pPr algn="ctr"/>
            <a:r>
              <a:rPr lang="en-US" sz="2000" b="1" dirty="0"/>
              <a:t>(c) Addition with 1’s complement of B</a:t>
            </a:r>
          </a:p>
        </p:txBody>
      </p:sp>
      <p:pic>
        <p:nvPicPr>
          <p:cNvPr id="20" name="Picture 19"/>
          <p:cNvPicPr>
            <a:picLocks/>
          </p:cNvPicPr>
          <p:nvPr/>
        </p:nvPicPr>
        <p:blipFill>
          <a:blip r:embed="rId8"/>
          <a:stretch>
            <a:fillRect/>
          </a:stretch>
        </p:blipFill>
        <p:spPr>
          <a:xfrm>
            <a:off x="9540829" y="4457161"/>
            <a:ext cx="3657600" cy="2286000"/>
          </a:xfrm>
          <a:prstGeom prst="rect">
            <a:avLst/>
          </a:prstGeom>
        </p:spPr>
      </p:pic>
      <p:sp>
        <p:nvSpPr>
          <p:cNvPr id="21" name="TextBox 20"/>
          <p:cNvSpPr txBox="1"/>
          <p:nvPr/>
        </p:nvSpPr>
        <p:spPr>
          <a:xfrm>
            <a:off x="9254169" y="6906248"/>
            <a:ext cx="4230920" cy="400110"/>
          </a:xfrm>
          <a:prstGeom prst="rect">
            <a:avLst/>
          </a:prstGeom>
          <a:noFill/>
        </p:spPr>
        <p:txBody>
          <a:bodyPr wrap="square" rtlCol="0">
            <a:spAutoFit/>
          </a:bodyPr>
          <a:lstStyle/>
          <a:p>
            <a:pPr algn="ctr"/>
            <a:r>
              <a:rPr lang="en-US" sz="2000" b="1" dirty="0"/>
              <a:t>(d) Subtraction</a:t>
            </a:r>
          </a:p>
        </p:txBody>
      </p:sp>
      <mc:AlternateContent xmlns:mc="http://schemas.openxmlformats.org/markup-compatibility/2006">
        <mc:Choice xmlns:a14="http://schemas.microsoft.com/office/drawing/2010/main" Requires="a14">
          <p:sp>
            <p:nvSpPr>
              <p:cNvPr id="10" name="Content Placeholder 10">
                <a:extLst>
                  <a:ext uri="{FF2B5EF4-FFF2-40B4-BE49-F238E27FC236}">
                    <a16:creationId xmlns:a16="http://schemas.microsoft.com/office/drawing/2014/main" id="{C8EE8ACD-F471-CB1D-A331-28CAB1F82EC5}"/>
                  </a:ext>
                </a:extLst>
              </p:cNvPr>
              <p:cNvSpPr txBox="1">
                <a:spLocks/>
              </p:cNvSpPr>
              <p:nvPr/>
            </p:nvSpPr>
            <p:spPr>
              <a:xfrm>
                <a:off x="1997818" y="5417967"/>
                <a:ext cx="1898687" cy="630021"/>
              </a:xfrm>
              <a:prstGeom prst="rect">
                <a:avLst/>
              </a:prstGeom>
            </p:spPr>
            <p:txBody>
              <a:bodyPr vert="horz" lIns="91440" tIns="45720" rIns="91440" bIns="45720" rtlCol="0">
                <a:norm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sSub>
                      <m:sSubPr>
                        <m:ctrlPr>
                          <a:rPr lang="en-US" sz="2400" b="1" i="1" smtClean="0">
                            <a:solidFill>
                              <a:srgbClr val="0000FF"/>
                            </a:solidFill>
                            <a:latin typeface="Cambria Math" panose="02040503050406030204" pitchFamily="18" charset="0"/>
                          </a:rPr>
                        </m:ctrlPr>
                      </m:sSubPr>
                      <m:e>
                        <m:r>
                          <a:rPr lang="en-US" sz="2400" b="1" i="1">
                            <a:solidFill>
                              <a:srgbClr val="0000FF"/>
                            </a:solidFill>
                            <a:latin typeface="Cambria Math" panose="02040503050406030204" pitchFamily="18" charset="0"/>
                          </a:rPr>
                          <m:t>𝑺</m:t>
                        </m:r>
                      </m:e>
                      <m:sub>
                        <m:r>
                          <a:rPr lang="en-US" sz="2400" b="1" i="1">
                            <a:solidFill>
                              <a:srgbClr val="0000FF"/>
                            </a:solidFill>
                            <a:latin typeface="Cambria Math" panose="02040503050406030204" pitchFamily="18" charset="0"/>
                          </a:rPr>
                          <m:t>𝟏</m:t>
                        </m:r>
                      </m:sub>
                    </m:sSub>
                    <m:sSub>
                      <m:sSubPr>
                        <m:ctrlPr>
                          <a:rPr lang="en-US" sz="2400" b="1" i="1">
                            <a:solidFill>
                              <a:srgbClr val="0000FF"/>
                            </a:solidFill>
                            <a:latin typeface="Cambria Math" panose="02040503050406030204" pitchFamily="18" charset="0"/>
                          </a:rPr>
                        </m:ctrlPr>
                      </m:sSubPr>
                      <m:e>
                        <m:r>
                          <a:rPr lang="en-US" sz="2400" b="1" i="1">
                            <a:solidFill>
                              <a:srgbClr val="0000FF"/>
                            </a:solidFill>
                            <a:latin typeface="Cambria Math" panose="02040503050406030204" pitchFamily="18" charset="0"/>
                          </a:rPr>
                          <m:t>𝑺</m:t>
                        </m:r>
                      </m:e>
                      <m:sub>
                        <m:r>
                          <a:rPr lang="en-US" sz="2400" b="1" i="1">
                            <a:solidFill>
                              <a:srgbClr val="0000FF"/>
                            </a:solidFill>
                            <a:latin typeface="Cambria Math" panose="02040503050406030204" pitchFamily="18" charset="0"/>
                          </a:rPr>
                          <m:t>𝟎</m:t>
                        </m:r>
                      </m:sub>
                    </m:sSub>
                  </m:oMath>
                </a14:m>
                <a:r>
                  <a:rPr lang="en-US" sz="2400" b="1" dirty="0">
                    <a:solidFill>
                      <a:srgbClr val="0000FF"/>
                    </a:solidFill>
                  </a:rPr>
                  <a:t> = 10</a:t>
                </a:r>
              </a:p>
              <a:p>
                <a:pPr marL="0" indent="0">
                  <a:buFont typeface="Arial" panose="020B0604020202020204" pitchFamily="34" charset="0"/>
                  <a:buNone/>
                </a:pPr>
                <a:endParaRPr lang="en-US" sz="2400" b="1" dirty="0">
                  <a:solidFill>
                    <a:srgbClr val="0000FF"/>
                  </a:solidFill>
                </a:endParaRPr>
              </a:p>
            </p:txBody>
          </p:sp>
        </mc:Choice>
        <mc:Fallback>
          <p:sp>
            <p:nvSpPr>
              <p:cNvPr id="10" name="Content Placeholder 10">
                <a:extLst>
                  <a:ext uri="{FF2B5EF4-FFF2-40B4-BE49-F238E27FC236}">
                    <a16:creationId xmlns:a16="http://schemas.microsoft.com/office/drawing/2014/main" id="{C8EE8ACD-F471-CB1D-A331-28CAB1F82EC5}"/>
                  </a:ext>
                </a:extLst>
              </p:cNvPr>
              <p:cNvSpPr txBox="1">
                <a:spLocks noRot="1" noChangeAspect="1" noMove="1" noResize="1" noEditPoints="1" noAdjustHandles="1" noChangeArrowheads="1" noChangeShapeType="1" noTextEdit="1"/>
              </p:cNvSpPr>
              <p:nvPr/>
            </p:nvSpPr>
            <p:spPr>
              <a:xfrm>
                <a:off x="1997818" y="5417967"/>
                <a:ext cx="1898687" cy="630021"/>
              </a:xfrm>
              <a:prstGeom prst="rect">
                <a:avLst/>
              </a:prstGeom>
              <a:blipFill>
                <a:blip r:embed="rId9"/>
                <a:stretch>
                  <a:fillRect l="-965" t="-13592"/>
                </a:stretch>
              </a:blipFill>
            </p:spPr>
            <p:txBody>
              <a:bodyPr/>
              <a:lstStyle/>
              <a:p>
                <a:r>
                  <a:rPr lang="en-US">
                    <a:noFill/>
                  </a:rPr>
                  <a:t> </a:t>
                </a:r>
              </a:p>
            </p:txBody>
          </p:sp>
        </mc:Fallback>
      </mc:AlternateContent>
    </p:spTree>
    <p:extLst>
      <p:ext uri="{BB962C8B-B14F-4D97-AF65-F5344CB8AC3E}">
        <p14:creationId xmlns:p14="http://schemas.microsoft.com/office/powerpoint/2010/main" val="106371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 calcmode="lin" valueType="num">
                                      <p:cBhvr additive="base">
                                        <p:cTn id="45" dur="500" fill="hold"/>
                                        <p:tgtEl>
                                          <p:spTgt spid="19"/>
                                        </p:tgtEl>
                                        <p:attrNameLst>
                                          <p:attrName>ppt_x</p:attrName>
                                        </p:attrNameLst>
                                      </p:cBhvr>
                                      <p:tavLst>
                                        <p:tav tm="0">
                                          <p:val>
                                            <p:strVal val="#ppt_x"/>
                                          </p:val>
                                        </p:tav>
                                        <p:tav tm="100000">
                                          <p:val>
                                            <p:strVal val="#ppt_x"/>
                                          </p:val>
                                        </p:tav>
                                      </p:tavLst>
                                    </p:anim>
                                    <p:anim calcmode="lin" valueType="num">
                                      <p:cBhvr additive="base">
                                        <p:cTn id="4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anim calcmode="lin" valueType="num">
                                      <p:cBhvr additive="base">
                                        <p:cTn id="57" dur="500" fill="hold"/>
                                        <p:tgtEl>
                                          <p:spTgt spid="21"/>
                                        </p:tgtEl>
                                        <p:attrNameLst>
                                          <p:attrName>ppt_x</p:attrName>
                                        </p:attrNameLst>
                                      </p:cBhvr>
                                      <p:tavLst>
                                        <p:tav tm="0">
                                          <p:val>
                                            <p:strVal val="#ppt_x"/>
                                          </p:val>
                                        </p:tav>
                                        <p:tav tm="100000">
                                          <p:val>
                                            <p:strVal val="#ppt_x"/>
                                          </p:val>
                                        </p:tav>
                                      </p:tavLst>
                                    </p:anim>
                                    <p:anim calcmode="lin" valueType="num">
                                      <p:cBhvr additive="base">
                                        <p:cTn id="5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3" grpId="0"/>
      <p:bldP spid="8" grpId="0"/>
      <p:bldP spid="17" grpId="0"/>
      <p:bldP spid="19" grpId="0"/>
      <p:bldP spid="21"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Content Placeholder 10">
                <a:extLst>
                  <a:ext uri="{FF2B5EF4-FFF2-40B4-BE49-F238E27FC236}">
                    <a16:creationId xmlns:a16="http://schemas.microsoft.com/office/drawing/2014/main" id="{0BB4022A-0FCF-4E80-AAC7-A32632CD8E22}"/>
                  </a:ext>
                </a:extLst>
              </p:cNvPr>
              <p:cNvSpPr>
                <a:spLocks noGrp="1"/>
              </p:cNvSpPr>
              <p:nvPr>
                <p:ph idx="1"/>
              </p:nvPr>
            </p:nvSpPr>
            <p:spPr>
              <a:xfrm>
                <a:off x="2145264" y="2442986"/>
                <a:ext cx="1914613" cy="615956"/>
              </a:xfrm>
            </p:spPr>
            <p:txBody>
              <a:bodyPr>
                <a:normAutofit/>
              </a:bodyPr>
              <a:lstStyle/>
              <a:p>
                <a:pPr marL="0" indent="0" algn="ctr">
                  <a:buNone/>
                </a:pPr>
                <a14:m>
                  <m:oMath xmlns:m="http://schemas.openxmlformats.org/officeDocument/2006/math">
                    <m:sSub>
                      <m:sSubPr>
                        <m:ctrlPr>
                          <a:rPr lang="en-US" sz="2400" b="1" i="1" smtClean="0">
                            <a:solidFill>
                              <a:srgbClr val="0000FF"/>
                            </a:solidFill>
                            <a:latin typeface="Cambria Math" panose="02040503050406030204" pitchFamily="18" charset="0"/>
                          </a:rPr>
                        </m:ctrlPr>
                      </m:sSubPr>
                      <m:e>
                        <m:r>
                          <a:rPr lang="en-US" sz="2400" b="1" i="1" smtClean="0">
                            <a:solidFill>
                              <a:srgbClr val="0000FF"/>
                            </a:solidFill>
                            <a:latin typeface="Cambria Math" panose="02040503050406030204" pitchFamily="18" charset="0"/>
                          </a:rPr>
                          <m:t>𝑺</m:t>
                        </m:r>
                      </m:e>
                      <m:sub>
                        <m:r>
                          <a:rPr lang="en-US" sz="2400" b="1" i="1" smtClean="0">
                            <a:solidFill>
                              <a:srgbClr val="0000FF"/>
                            </a:solidFill>
                            <a:latin typeface="Cambria Math" panose="02040503050406030204" pitchFamily="18" charset="0"/>
                          </a:rPr>
                          <m:t>𝟏</m:t>
                        </m:r>
                      </m:sub>
                    </m:sSub>
                    <m:sSub>
                      <m:sSubPr>
                        <m:ctrlPr>
                          <a:rPr lang="en-US" sz="2400" b="1" i="1">
                            <a:solidFill>
                              <a:srgbClr val="0000FF"/>
                            </a:solidFill>
                            <a:latin typeface="Cambria Math" panose="02040503050406030204" pitchFamily="18" charset="0"/>
                          </a:rPr>
                        </m:ctrlPr>
                      </m:sSubPr>
                      <m:e>
                        <m:r>
                          <a:rPr lang="en-US" sz="2400" b="1" i="1">
                            <a:solidFill>
                              <a:srgbClr val="0000FF"/>
                            </a:solidFill>
                            <a:latin typeface="Cambria Math" panose="02040503050406030204" pitchFamily="18" charset="0"/>
                          </a:rPr>
                          <m:t>𝑺</m:t>
                        </m:r>
                      </m:e>
                      <m:sub>
                        <m:r>
                          <a:rPr lang="en-US" sz="2400" b="1" i="1" smtClean="0">
                            <a:solidFill>
                              <a:srgbClr val="0000FF"/>
                            </a:solidFill>
                            <a:latin typeface="Cambria Math" panose="02040503050406030204" pitchFamily="18" charset="0"/>
                          </a:rPr>
                          <m:t>𝟎</m:t>
                        </m:r>
                      </m:sub>
                    </m:sSub>
                  </m:oMath>
                </a14:m>
                <a:r>
                  <a:rPr lang="en-US" sz="2400" b="1" dirty="0">
                    <a:solidFill>
                      <a:srgbClr val="0000FF"/>
                    </a:solidFill>
                  </a:rPr>
                  <a:t> = 00</a:t>
                </a:r>
              </a:p>
            </p:txBody>
          </p:sp>
        </mc:Choice>
        <mc:Fallback>
          <p:sp>
            <p:nvSpPr>
              <p:cNvPr id="4" name="Content Placeholder 10">
                <a:extLst>
                  <a:ext uri="{FF2B5EF4-FFF2-40B4-BE49-F238E27FC236}">
                    <a16:creationId xmlns:a16="http://schemas.microsoft.com/office/drawing/2014/main" id="{0BB4022A-0FCF-4E80-AAC7-A32632CD8E22}"/>
                  </a:ext>
                </a:extLst>
              </p:cNvPr>
              <p:cNvSpPr>
                <a:spLocks noGrp="1" noRot="1" noChangeAspect="1" noMove="1" noResize="1" noEditPoints="1" noAdjustHandles="1" noChangeArrowheads="1" noChangeShapeType="1" noTextEdit="1"/>
              </p:cNvSpPr>
              <p:nvPr>
                <p:ph idx="1"/>
              </p:nvPr>
            </p:nvSpPr>
            <p:spPr>
              <a:xfrm>
                <a:off x="2145264" y="2442986"/>
                <a:ext cx="1914613" cy="615956"/>
              </a:xfrm>
              <a:blipFill>
                <a:blip r:embed="rId2"/>
                <a:stretch>
                  <a:fillRect t="-13861"/>
                </a:stretch>
              </a:blipFill>
            </p:spPr>
            <p:txBody>
              <a:bodyPr/>
              <a:lstStyle/>
              <a:p>
                <a:r>
                  <a:rPr lang="en-US">
                    <a:noFill/>
                  </a:rPr>
                  <a:t> </a:t>
                </a:r>
              </a:p>
            </p:txBody>
          </p:sp>
        </mc:Fallback>
      </mc:AlternateContent>
      <p:sp>
        <p:nvSpPr>
          <p:cNvPr id="3" name="Date Placeholder 2"/>
          <p:cNvSpPr>
            <a:spLocks noGrp="1"/>
          </p:cNvSpPr>
          <p:nvPr>
            <p:ph type="dt" sz="half" idx="10"/>
          </p:nvPr>
        </p:nvSpPr>
        <p:spPr/>
        <p:txBody>
          <a:bodyPr/>
          <a:lstStyle/>
          <a:p>
            <a:fld id="{FF38B80B-900E-42A5-B398-D314F184A731}" type="datetime3">
              <a:rPr lang="en-US" smtClean="0"/>
              <a:t>18 July 2024</a:t>
            </a:fld>
            <a:endParaRPr lang="en-US"/>
          </a:p>
        </p:txBody>
      </p:sp>
      <p:sp>
        <p:nvSpPr>
          <p:cNvPr id="9" name="Footer Placeholder 8"/>
          <p:cNvSpPr>
            <a:spLocks noGrp="1"/>
          </p:cNvSpPr>
          <p:nvPr>
            <p:ph type="ftr" sz="quarter" idx="11"/>
          </p:nvPr>
        </p:nvSpPr>
        <p:spPr/>
        <p:txBody>
          <a:bodyPr/>
          <a:lstStyle/>
          <a:p>
            <a:r>
              <a:rPr lang="en-US" dirty="0"/>
              <a:t>Course Teacher: Dr. Md. Rukonuzzaman</a:t>
            </a:r>
          </a:p>
        </p:txBody>
      </p:sp>
      <p:sp>
        <p:nvSpPr>
          <p:cNvPr id="10" name="Slide Number Placeholder 9"/>
          <p:cNvSpPr>
            <a:spLocks noGrp="1"/>
          </p:cNvSpPr>
          <p:nvPr>
            <p:ph type="sldNum" sz="quarter" idx="12"/>
          </p:nvPr>
        </p:nvSpPr>
        <p:spPr/>
        <p:txBody>
          <a:bodyPr/>
          <a:lstStyle/>
          <a:p>
            <a:fld id="{48F63A3B-78C7-47BE-AE5E-E10140E04643}" type="slidenum">
              <a:rPr lang="en-US" smtClean="0"/>
              <a:t>13</a:t>
            </a:fld>
            <a:endParaRPr lang="en-US" dirty="0"/>
          </a:p>
        </p:txBody>
      </p:sp>
      <p:sp>
        <p:nvSpPr>
          <p:cNvPr id="12" name="Title 1">
            <a:extLst>
              <a:ext uri="{FF2B5EF4-FFF2-40B4-BE49-F238E27FC236}">
                <a16:creationId xmlns:a16="http://schemas.microsoft.com/office/drawing/2014/main" id="{97CC9F54-A445-4971-A2C8-89CEBBEE08E1}"/>
              </a:ext>
            </a:extLst>
          </p:cNvPr>
          <p:cNvSpPr>
            <a:spLocks noGrp="1"/>
          </p:cNvSpPr>
          <p:nvPr>
            <p:ph type="title"/>
          </p:nvPr>
        </p:nvSpPr>
        <p:spPr>
          <a:xfrm>
            <a:off x="199505" y="266007"/>
            <a:ext cx="16093440" cy="1163782"/>
          </a:xfrm>
        </p:spPr>
        <p:txBody>
          <a:bodyPr>
            <a:normAutofit/>
          </a:bodyPr>
          <a:lstStyle/>
          <a:p>
            <a:r>
              <a:rPr lang="en-US" sz="4400" b="1" dirty="0">
                <a:solidFill>
                  <a:srgbClr val="0070C0"/>
                </a:solidFill>
              </a:rPr>
              <a:t>Operations obtained by controlling one set of inputs to a parallel adder</a:t>
            </a:r>
          </a:p>
        </p:txBody>
      </p:sp>
      <p:sp>
        <p:nvSpPr>
          <p:cNvPr id="13" name="TextBox 12">
            <a:extLst>
              <a:ext uri="{FF2B5EF4-FFF2-40B4-BE49-F238E27FC236}">
                <a16:creationId xmlns:a16="http://schemas.microsoft.com/office/drawing/2014/main" id="{913D515D-2135-4892-BD7A-BF1D8595A2A1}"/>
              </a:ext>
            </a:extLst>
          </p:cNvPr>
          <p:cNvSpPr txBox="1"/>
          <p:nvPr/>
        </p:nvSpPr>
        <p:spPr>
          <a:xfrm>
            <a:off x="8396838" y="7361047"/>
            <a:ext cx="1689812" cy="461665"/>
          </a:xfrm>
          <a:prstGeom prst="rect">
            <a:avLst/>
          </a:prstGeom>
          <a:noFill/>
        </p:spPr>
        <p:txBody>
          <a:bodyPr wrap="square" rtlCol="0">
            <a:spAutoFit/>
          </a:bodyPr>
          <a:lstStyle/>
          <a:p>
            <a:r>
              <a:rPr lang="en-US" sz="2400" b="1" dirty="0">
                <a:solidFill>
                  <a:srgbClr val="FF0000"/>
                </a:solidFill>
              </a:rPr>
              <a:t>Fig. 9.6</a:t>
            </a:r>
          </a:p>
        </p:txBody>
      </p:sp>
      <p:pic>
        <p:nvPicPr>
          <p:cNvPr id="14" name="Picture 13"/>
          <p:cNvPicPr>
            <a:picLocks/>
          </p:cNvPicPr>
          <p:nvPr/>
        </p:nvPicPr>
        <p:blipFill>
          <a:blip r:embed="rId3"/>
          <a:stretch>
            <a:fillRect/>
          </a:stretch>
        </p:blipFill>
        <p:spPr>
          <a:xfrm>
            <a:off x="4486623" y="1607964"/>
            <a:ext cx="3657600" cy="2286000"/>
          </a:xfrm>
          <a:prstGeom prst="rect">
            <a:avLst/>
          </a:prstGeom>
        </p:spPr>
      </p:pic>
      <p:sp>
        <p:nvSpPr>
          <p:cNvPr id="16" name="TextBox 15"/>
          <p:cNvSpPr txBox="1"/>
          <p:nvPr/>
        </p:nvSpPr>
        <p:spPr>
          <a:xfrm>
            <a:off x="4079779" y="4074546"/>
            <a:ext cx="4471288" cy="400110"/>
          </a:xfrm>
          <a:prstGeom prst="rect">
            <a:avLst/>
          </a:prstGeom>
          <a:noFill/>
        </p:spPr>
        <p:txBody>
          <a:bodyPr wrap="square" rtlCol="0">
            <a:spAutoFit/>
          </a:bodyPr>
          <a:lstStyle/>
          <a:p>
            <a:pPr algn="ctr"/>
            <a:r>
              <a:rPr lang="en-US" sz="2000" b="1" dirty="0"/>
              <a:t>(e) Transfer of </a:t>
            </a:r>
            <a:r>
              <a:rPr lang="en-US" sz="2000" b="1" i="1" dirty="0"/>
              <a:t>A</a:t>
            </a:r>
          </a:p>
        </p:txBody>
      </p:sp>
      <p:sp>
        <p:nvSpPr>
          <p:cNvPr id="17" name="TextBox 16"/>
          <p:cNvSpPr txBox="1"/>
          <p:nvPr/>
        </p:nvSpPr>
        <p:spPr>
          <a:xfrm>
            <a:off x="9623956" y="4060640"/>
            <a:ext cx="4471288" cy="400110"/>
          </a:xfrm>
          <a:prstGeom prst="rect">
            <a:avLst/>
          </a:prstGeom>
          <a:noFill/>
        </p:spPr>
        <p:txBody>
          <a:bodyPr wrap="square" rtlCol="0">
            <a:spAutoFit/>
          </a:bodyPr>
          <a:lstStyle/>
          <a:p>
            <a:pPr algn="ctr"/>
            <a:r>
              <a:rPr lang="en-US" sz="2000" b="1" dirty="0"/>
              <a:t>(f) Increment of </a:t>
            </a:r>
            <a:r>
              <a:rPr lang="en-US" sz="2000" b="1" i="1" dirty="0"/>
              <a:t>A</a:t>
            </a:r>
          </a:p>
        </p:txBody>
      </p:sp>
      <p:pic>
        <p:nvPicPr>
          <p:cNvPr id="19" name="Picture 18"/>
          <p:cNvPicPr>
            <a:picLocks/>
          </p:cNvPicPr>
          <p:nvPr/>
        </p:nvPicPr>
        <p:blipFill>
          <a:blip r:embed="rId4"/>
          <a:stretch>
            <a:fillRect/>
          </a:stretch>
        </p:blipFill>
        <p:spPr>
          <a:xfrm>
            <a:off x="9947673" y="1588266"/>
            <a:ext cx="3657600" cy="2286000"/>
          </a:xfrm>
          <a:prstGeom prst="rect">
            <a:avLst/>
          </a:prstGeom>
        </p:spPr>
      </p:pic>
      <p:pic>
        <p:nvPicPr>
          <p:cNvPr id="20" name="Picture 19"/>
          <p:cNvPicPr>
            <a:picLocks/>
          </p:cNvPicPr>
          <p:nvPr/>
        </p:nvPicPr>
        <p:blipFill>
          <a:blip r:embed="rId5"/>
          <a:stretch>
            <a:fillRect/>
          </a:stretch>
        </p:blipFill>
        <p:spPr>
          <a:xfrm>
            <a:off x="4333803" y="4662068"/>
            <a:ext cx="4572000" cy="2286000"/>
          </a:xfrm>
          <a:prstGeom prst="rect">
            <a:avLst/>
          </a:prstGeom>
        </p:spPr>
      </p:pic>
      <p:sp>
        <p:nvSpPr>
          <p:cNvPr id="21" name="TextBox 20"/>
          <p:cNvSpPr txBox="1"/>
          <p:nvPr/>
        </p:nvSpPr>
        <p:spPr>
          <a:xfrm>
            <a:off x="4299106" y="7160992"/>
            <a:ext cx="4471288" cy="400110"/>
          </a:xfrm>
          <a:prstGeom prst="rect">
            <a:avLst/>
          </a:prstGeom>
          <a:noFill/>
        </p:spPr>
        <p:txBody>
          <a:bodyPr wrap="square" rtlCol="0">
            <a:spAutoFit/>
          </a:bodyPr>
          <a:lstStyle/>
          <a:p>
            <a:pPr algn="ctr"/>
            <a:r>
              <a:rPr lang="en-US" sz="2000" b="1" dirty="0"/>
              <a:t>(g) Decrement of </a:t>
            </a:r>
            <a:r>
              <a:rPr lang="en-US" sz="2000" b="1" i="1" dirty="0"/>
              <a:t>A</a:t>
            </a:r>
          </a:p>
        </p:txBody>
      </p:sp>
      <p:pic>
        <p:nvPicPr>
          <p:cNvPr id="22" name="Picture 21"/>
          <p:cNvPicPr>
            <a:picLocks/>
          </p:cNvPicPr>
          <p:nvPr/>
        </p:nvPicPr>
        <p:blipFill>
          <a:blip r:embed="rId6"/>
          <a:stretch>
            <a:fillRect/>
          </a:stretch>
        </p:blipFill>
        <p:spPr>
          <a:xfrm>
            <a:off x="10119938" y="4647125"/>
            <a:ext cx="3657600" cy="2286000"/>
          </a:xfrm>
          <a:prstGeom prst="rect">
            <a:avLst/>
          </a:prstGeom>
        </p:spPr>
      </p:pic>
      <p:sp>
        <p:nvSpPr>
          <p:cNvPr id="23" name="TextBox 22"/>
          <p:cNvSpPr txBox="1"/>
          <p:nvPr/>
        </p:nvSpPr>
        <p:spPr>
          <a:xfrm>
            <a:off x="9713094" y="7099716"/>
            <a:ext cx="4471288" cy="400110"/>
          </a:xfrm>
          <a:prstGeom prst="rect">
            <a:avLst/>
          </a:prstGeom>
          <a:noFill/>
        </p:spPr>
        <p:txBody>
          <a:bodyPr wrap="square" rtlCol="0">
            <a:spAutoFit/>
          </a:bodyPr>
          <a:lstStyle/>
          <a:p>
            <a:pPr algn="ctr"/>
            <a:r>
              <a:rPr lang="en-US" sz="2000" b="1" dirty="0"/>
              <a:t>(h) Transfer of </a:t>
            </a:r>
            <a:r>
              <a:rPr lang="en-US" sz="2000" b="1" i="1" dirty="0"/>
              <a:t>A</a:t>
            </a:r>
          </a:p>
        </p:txBody>
      </p:sp>
      <mc:AlternateContent xmlns:mc="http://schemas.openxmlformats.org/markup-compatibility/2006">
        <mc:Choice xmlns:a14="http://schemas.microsoft.com/office/drawing/2010/main" Requires="a14">
          <p:sp>
            <p:nvSpPr>
              <p:cNvPr id="2" name="Content Placeholder 10">
                <a:extLst>
                  <a:ext uri="{FF2B5EF4-FFF2-40B4-BE49-F238E27FC236}">
                    <a16:creationId xmlns:a16="http://schemas.microsoft.com/office/drawing/2014/main" id="{C779A100-E22E-99C8-371F-C0250BDCE924}"/>
                  </a:ext>
                </a:extLst>
              </p:cNvPr>
              <p:cNvSpPr txBox="1">
                <a:spLocks/>
              </p:cNvSpPr>
              <p:nvPr/>
            </p:nvSpPr>
            <p:spPr>
              <a:xfrm>
                <a:off x="2384493" y="5497090"/>
                <a:ext cx="1914613" cy="615956"/>
              </a:xfrm>
              <a:prstGeom prst="rect">
                <a:avLst/>
              </a:prstGeom>
            </p:spPr>
            <p:txBody>
              <a:bodyPr vert="horz" lIns="91440" tIns="45720" rIns="91440" bIns="45720" rtlCol="0">
                <a:norm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sSub>
                      <m:sSubPr>
                        <m:ctrlPr>
                          <a:rPr lang="en-US" sz="2400" b="1" i="1" smtClean="0">
                            <a:solidFill>
                              <a:srgbClr val="0000FF"/>
                            </a:solidFill>
                            <a:latin typeface="Cambria Math" panose="02040503050406030204" pitchFamily="18" charset="0"/>
                          </a:rPr>
                        </m:ctrlPr>
                      </m:sSubPr>
                      <m:e>
                        <m:r>
                          <a:rPr lang="en-US" sz="2400" b="1" i="1">
                            <a:solidFill>
                              <a:srgbClr val="0000FF"/>
                            </a:solidFill>
                            <a:latin typeface="Cambria Math" panose="02040503050406030204" pitchFamily="18" charset="0"/>
                          </a:rPr>
                          <m:t>𝑺</m:t>
                        </m:r>
                      </m:e>
                      <m:sub>
                        <m:r>
                          <a:rPr lang="en-US" sz="2400" b="1" i="1">
                            <a:solidFill>
                              <a:srgbClr val="0000FF"/>
                            </a:solidFill>
                            <a:latin typeface="Cambria Math" panose="02040503050406030204" pitchFamily="18" charset="0"/>
                          </a:rPr>
                          <m:t>𝟏</m:t>
                        </m:r>
                      </m:sub>
                    </m:sSub>
                    <m:sSub>
                      <m:sSubPr>
                        <m:ctrlPr>
                          <a:rPr lang="en-US" sz="2400" b="1" i="1">
                            <a:solidFill>
                              <a:srgbClr val="0000FF"/>
                            </a:solidFill>
                            <a:latin typeface="Cambria Math" panose="02040503050406030204" pitchFamily="18" charset="0"/>
                          </a:rPr>
                        </m:ctrlPr>
                      </m:sSubPr>
                      <m:e>
                        <m:r>
                          <a:rPr lang="en-US" sz="2400" b="1" i="1">
                            <a:solidFill>
                              <a:srgbClr val="0000FF"/>
                            </a:solidFill>
                            <a:latin typeface="Cambria Math" panose="02040503050406030204" pitchFamily="18" charset="0"/>
                          </a:rPr>
                          <m:t>𝑺</m:t>
                        </m:r>
                      </m:e>
                      <m:sub>
                        <m:r>
                          <a:rPr lang="en-US" sz="2400" b="1" i="1">
                            <a:solidFill>
                              <a:srgbClr val="0000FF"/>
                            </a:solidFill>
                            <a:latin typeface="Cambria Math" panose="02040503050406030204" pitchFamily="18" charset="0"/>
                          </a:rPr>
                          <m:t>𝟎</m:t>
                        </m:r>
                      </m:sub>
                    </m:sSub>
                  </m:oMath>
                </a14:m>
                <a:r>
                  <a:rPr lang="en-US" sz="2400" b="1" dirty="0">
                    <a:solidFill>
                      <a:srgbClr val="0000FF"/>
                    </a:solidFill>
                  </a:rPr>
                  <a:t> = 11</a:t>
                </a:r>
              </a:p>
              <a:p>
                <a:pPr marL="0" indent="0">
                  <a:buFont typeface="Arial" panose="020B0604020202020204" pitchFamily="34" charset="0"/>
                  <a:buNone/>
                </a:pPr>
                <a:endParaRPr lang="en-US" sz="2400" b="1" dirty="0">
                  <a:solidFill>
                    <a:srgbClr val="0000FF"/>
                  </a:solidFill>
                </a:endParaRPr>
              </a:p>
            </p:txBody>
          </p:sp>
        </mc:Choice>
        <mc:Fallback>
          <p:sp>
            <p:nvSpPr>
              <p:cNvPr id="2" name="Content Placeholder 10">
                <a:extLst>
                  <a:ext uri="{FF2B5EF4-FFF2-40B4-BE49-F238E27FC236}">
                    <a16:creationId xmlns:a16="http://schemas.microsoft.com/office/drawing/2014/main" id="{C779A100-E22E-99C8-371F-C0250BDCE924}"/>
                  </a:ext>
                </a:extLst>
              </p:cNvPr>
              <p:cNvSpPr txBox="1">
                <a:spLocks noRot="1" noChangeAspect="1" noMove="1" noResize="1" noEditPoints="1" noAdjustHandles="1" noChangeArrowheads="1" noChangeShapeType="1" noTextEdit="1"/>
              </p:cNvSpPr>
              <p:nvPr/>
            </p:nvSpPr>
            <p:spPr>
              <a:xfrm>
                <a:off x="2384493" y="5497090"/>
                <a:ext cx="1914613" cy="615956"/>
              </a:xfrm>
              <a:prstGeom prst="rect">
                <a:avLst/>
              </a:prstGeom>
              <a:blipFill>
                <a:blip r:embed="rId7"/>
                <a:stretch>
                  <a:fillRect l="-637" t="-13861"/>
                </a:stretch>
              </a:blipFill>
            </p:spPr>
            <p:txBody>
              <a:bodyPr/>
              <a:lstStyle/>
              <a:p>
                <a:r>
                  <a:rPr lang="en-US">
                    <a:noFill/>
                  </a:rPr>
                  <a:t> </a:t>
                </a:r>
              </a:p>
            </p:txBody>
          </p:sp>
        </mc:Fallback>
      </mc:AlternateContent>
    </p:spTree>
    <p:extLst>
      <p:ext uri="{BB962C8B-B14F-4D97-AF65-F5344CB8AC3E}">
        <p14:creationId xmlns:p14="http://schemas.microsoft.com/office/powerpoint/2010/main" val="2268137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ppt_x"/>
                                          </p:val>
                                        </p:tav>
                                        <p:tav tm="100000">
                                          <p:val>
                                            <p:strVal val="#ppt_x"/>
                                          </p:val>
                                        </p:tav>
                                      </p:tavLst>
                                    </p:anim>
                                    <p:anim calcmode="lin" valueType="num">
                                      <p:cBhvr additive="base">
                                        <p:cTn id="4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 calcmode="lin" valueType="num">
                                      <p:cBhvr additive="base">
                                        <p:cTn id="45" dur="500" fill="hold"/>
                                        <p:tgtEl>
                                          <p:spTgt spid="21"/>
                                        </p:tgtEl>
                                        <p:attrNameLst>
                                          <p:attrName>ppt_x</p:attrName>
                                        </p:attrNameLst>
                                      </p:cBhvr>
                                      <p:tavLst>
                                        <p:tav tm="0">
                                          <p:val>
                                            <p:strVal val="#ppt_x"/>
                                          </p:val>
                                        </p:tav>
                                        <p:tav tm="100000">
                                          <p:val>
                                            <p:strVal val="#ppt_x"/>
                                          </p:val>
                                        </p:tav>
                                      </p:tavLst>
                                    </p:anim>
                                    <p:anim calcmode="lin" valueType="num">
                                      <p:cBhvr additive="base">
                                        <p:cTn id="4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anim calcmode="lin" valueType="num">
                                      <p:cBhvr additive="base">
                                        <p:cTn id="51" dur="500" fill="hold"/>
                                        <p:tgtEl>
                                          <p:spTgt spid="22"/>
                                        </p:tgtEl>
                                        <p:attrNameLst>
                                          <p:attrName>ppt_x</p:attrName>
                                        </p:attrNameLst>
                                      </p:cBhvr>
                                      <p:tavLst>
                                        <p:tav tm="0">
                                          <p:val>
                                            <p:strVal val="#ppt_x"/>
                                          </p:val>
                                        </p:tav>
                                        <p:tav tm="100000">
                                          <p:val>
                                            <p:strVal val="#ppt_x"/>
                                          </p:val>
                                        </p:tav>
                                      </p:tavLst>
                                    </p:anim>
                                    <p:anim calcmode="lin" valueType="num">
                                      <p:cBhvr additive="base">
                                        <p:cTn id="5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additive="base">
                                        <p:cTn id="57" dur="500" fill="hold"/>
                                        <p:tgtEl>
                                          <p:spTgt spid="23"/>
                                        </p:tgtEl>
                                        <p:attrNameLst>
                                          <p:attrName>ppt_x</p:attrName>
                                        </p:attrNameLst>
                                      </p:cBhvr>
                                      <p:tavLst>
                                        <p:tav tm="0">
                                          <p:val>
                                            <p:strVal val="#ppt_x"/>
                                          </p:val>
                                        </p:tav>
                                        <p:tav tm="100000">
                                          <p:val>
                                            <p:strVal val="#ppt_x"/>
                                          </p:val>
                                        </p:tav>
                                      </p:tavLst>
                                    </p:anim>
                                    <p:anim calcmode="lin" valueType="num">
                                      <p:cBhvr additive="base">
                                        <p:cTn id="5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13" grpId="0"/>
      <p:bldP spid="16" grpId="0"/>
      <p:bldP spid="17" grpId="0"/>
      <p:bldP spid="21" grpId="0"/>
      <p:bldP spid="23"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E7DCA8-51F2-43B9-8CF6-9EB3A1227742}" type="datetime3">
              <a:rPr lang="en-US" smtClean="0"/>
              <a:t>18 July 2024</a:t>
            </a:fld>
            <a:endParaRPr lang="en-US"/>
          </a:p>
        </p:txBody>
      </p:sp>
      <p:sp>
        <p:nvSpPr>
          <p:cNvPr id="3" name="Footer Placeholder 2"/>
          <p:cNvSpPr>
            <a:spLocks noGrp="1"/>
          </p:cNvSpPr>
          <p:nvPr>
            <p:ph type="ftr" sz="quarter" idx="11"/>
          </p:nvPr>
        </p:nvSpPr>
        <p:spPr/>
        <p:txBody>
          <a:bodyPr/>
          <a:lstStyle/>
          <a:p>
            <a:r>
              <a:rPr lang="en-US" dirty="0"/>
              <a:t>Course Teacher: Dr. Md. Rukonuzzaman</a:t>
            </a:r>
          </a:p>
        </p:txBody>
      </p:sp>
      <p:sp>
        <p:nvSpPr>
          <p:cNvPr id="5" name="Slide Number Placeholder 4"/>
          <p:cNvSpPr>
            <a:spLocks noGrp="1"/>
          </p:cNvSpPr>
          <p:nvPr>
            <p:ph type="sldNum" sz="quarter" idx="12"/>
          </p:nvPr>
        </p:nvSpPr>
        <p:spPr/>
        <p:txBody>
          <a:bodyPr/>
          <a:lstStyle/>
          <a:p>
            <a:fld id="{48F63A3B-78C7-47BE-AE5E-E10140E04643}" type="slidenum">
              <a:rPr lang="en-US" smtClean="0"/>
              <a:t>14</a:t>
            </a:fld>
            <a:endParaRPr lang="en-US" dirty="0"/>
          </a:p>
        </p:txBody>
      </p:sp>
      <p:sp>
        <p:nvSpPr>
          <p:cNvPr id="6" name="TextBox 5"/>
          <p:cNvSpPr txBox="1"/>
          <p:nvPr/>
        </p:nvSpPr>
        <p:spPr>
          <a:xfrm>
            <a:off x="1021279" y="1698170"/>
            <a:ext cx="14523522" cy="5262979"/>
          </a:xfrm>
          <a:prstGeom prst="rect">
            <a:avLst/>
          </a:prstGeom>
          <a:noFill/>
        </p:spPr>
        <p:txBody>
          <a:bodyPr wrap="square" rtlCol="0">
            <a:spAutoFit/>
          </a:bodyPr>
          <a:lstStyle/>
          <a:p>
            <a:r>
              <a:rPr lang="en-US" sz="2400" dirty="0"/>
              <a:t>The condition illustrated in Fig. 9.6 (g) inserts all 1s into the B terminals. This produces the </a:t>
            </a:r>
            <a:r>
              <a:rPr lang="en-US" sz="2400" dirty="0">
                <a:solidFill>
                  <a:srgbClr val="FF0000"/>
                </a:solidFill>
              </a:rPr>
              <a:t>decrement operation, F = A – 1</a:t>
            </a:r>
            <a:r>
              <a:rPr lang="en-US" sz="2400" dirty="0"/>
              <a:t>. To show that this condition is indeed a decrement operation, consider a parallel adder with </a:t>
            </a:r>
            <a:r>
              <a:rPr lang="en-US" sz="2400" i="1" dirty="0"/>
              <a:t>n</a:t>
            </a:r>
            <a:r>
              <a:rPr lang="en-US" sz="2400" dirty="0"/>
              <a:t> full-adder circuits. When the </a:t>
            </a:r>
            <a:r>
              <a:rPr lang="en-US" sz="2400" b="1" dirty="0">
                <a:solidFill>
                  <a:srgbClr val="7030A0"/>
                </a:solidFill>
              </a:rPr>
              <a:t>output carry </a:t>
            </a:r>
            <a:r>
              <a:rPr lang="en-US" sz="2400" dirty="0"/>
              <a:t>is 1, it </a:t>
            </a:r>
            <a:r>
              <a:rPr lang="en-US" sz="2400" b="1" dirty="0">
                <a:solidFill>
                  <a:srgbClr val="7030A0"/>
                </a:solidFill>
              </a:rPr>
              <a:t>represents the number 2</a:t>
            </a:r>
            <a:r>
              <a:rPr lang="en-US" sz="2400" b="1" baseline="30000" dirty="0">
                <a:solidFill>
                  <a:srgbClr val="7030A0"/>
                </a:solidFill>
              </a:rPr>
              <a:t>n</a:t>
            </a:r>
            <a:r>
              <a:rPr lang="en-US" sz="2400" b="1" dirty="0">
                <a:solidFill>
                  <a:srgbClr val="7030A0"/>
                </a:solidFill>
              </a:rPr>
              <a:t> </a:t>
            </a:r>
            <a:r>
              <a:rPr lang="en-US" sz="2400" dirty="0"/>
              <a:t>because 2</a:t>
            </a:r>
            <a:r>
              <a:rPr lang="en-US" sz="2400" baseline="30000" dirty="0"/>
              <a:t>n</a:t>
            </a:r>
            <a:r>
              <a:rPr lang="en-US" sz="2400" dirty="0"/>
              <a:t> in binary consists of a 1 followed by </a:t>
            </a:r>
            <a:r>
              <a:rPr lang="en-US" sz="2400" i="1" dirty="0"/>
              <a:t>n</a:t>
            </a:r>
            <a:r>
              <a:rPr lang="en-US" sz="2400" dirty="0"/>
              <a:t> 0s. Subtracting 1 from 2</a:t>
            </a:r>
            <a:r>
              <a:rPr lang="en-US" sz="2400" baseline="30000" dirty="0"/>
              <a:t>n</a:t>
            </a:r>
            <a:r>
              <a:rPr lang="en-US" sz="2400" dirty="0"/>
              <a:t>, we obtain 2</a:t>
            </a:r>
            <a:r>
              <a:rPr lang="en-US" sz="2400" baseline="30000" dirty="0"/>
              <a:t>n</a:t>
            </a:r>
            <a:r>
              <a:rPr lang="en-US" sz="2400" dirty="0"/>
              <a:t> – 1, which in binary is a number of </a:t>
            </a:r>
            <a:r>
              <a:rPr lang="en-US" sz="2400" i="1" dirty="0"/>
              <a:t>n</a:t>
            </a:r>
            <a:r>
              <a:rPr lang="en-US" sz="2400" dirty="0"/>
              <a:t> 1s. Adding 2</a:t>
            </a:r>
            <a:r>
              <a:rPr lang="en-US" sz="2400" baseline="30000" dirty="0"/>
              <a:t>n</a:t>
            </a:r>
            <a:r>
              <a:rPr lang="en-US" sz="2400" dirty="0"/>
              <a:t> – 1 to A, we obtain </a:t>
            </a:r>
            <a:r>
              <a:rPr lang="en-US" sz="2400" dirty="0">
                <a:solidFill>
                  <a:srgbClr val="FF0000"/>
                </a:solidFill>
              </a:rPr>
              <a:t>F</a:t>
            </a:r>
            <a:r>
              <a:rPr lang="en-US" sz="2400" dirty="0"/>
              <a:t> = </a:t>
            </a:r>
            <a:r>
              <a:rPr lang="en-US" sz="2400" dirty="0">
                <a:solidFill>
                  <a:srgbClr val="FF0000"/>
                </a:solidFill>
              </a:rPr>
              <a:t>A +</a:t>
            </a:r>
            <a:r>
              <a:rPr lang="en-US" sz="2400" dirty="0"/>
              <a:t> </a:t>
            </a:r>
            <a:r>
              <a:rPr lang="en-US" sz="2400" b="1" dirty="0">
                <a:solidFill>
                  <a:srgbClr val="7030A0"/>
                </a:solidFill>
              </a:rPr>
              <a:t>2</a:t>
            </a:r>
            <a:r>
              <a:rPr lang="en-US" sz="2400" b="1" baseline="30000" dirty="0">
                <a:solidFill>
                  <a:srgbClr val="7030A0"/>
                </a:solidFill>
              </a:rPr>
              <a:t>n</a:t>
            </a:r>
            <a:r>
              <a:rPr lang="en-US" sz="2400" dirty="0"/>
              <a:t> </a:t>
            </a:r>
            <a:r>
              <a:rPr lang="en-US" sz="2400" dirty="0">
                <a:solidFill>
                  <a:srgbClr val="FF0000"/>
                </a:solidFill>
              </a:rPr>
              <a:t>– 1</a:t>
            </a:r>
            <a:r>
              <a:rPr lang="en-US" sz="2400" dirty="0"/>
              <a:t> = </a:t>
            </a:r>
            <a:r>
              <a:rPr lang="en-US" sz="2400" b="1" dirty="0">
                <a:solidFill>
                  <a:srgbClr val="7030A0"/>
                </a:solidFill>
              </a:rPr>
              <a:t>2</a:t>
            </a:r>
            <a:r>
              <a:rPr lang="en-US" sz="2400" b="1" baseline="30000" dirty="0">
                <a:solidFill>
                  <a:srgbClr val="7030A0"/>
                </a:solidFill>
              </a:rPr>
              <a:t>n</a:t>
            </a:r>
            <a:r>
              <a:rPr lang="en-US" sz="2400" dirty="0"/>
              <a:t> + </a:t>
            </a:r>
            <a:r>
              <a:rPr lang="en-US" sz="2400" dirty="0">
                <a:solidFill>
                  <a:srgbClr val="FF0000"/>
                </a:solidFill>
              </a:rPr>
              <a:t>A – 1</a:t>
            </a:r>
            <a:r>
              <a:rPr lang="en-US" sz="2400" dirty="0"/>
              <a:t>. If the output carry </a:t>
            </a:r>
            <a:r>
              <a:rPr lang="en-US" sz="2400" b="1" dirty="0">
                <a:solidFill>
                  <a:srgbClr val="7030A0"/>
                </a:solidFill>
              </a:rPr>
              <a:t>2</a:t>
            </a:r>
            <a:r>
              <a:rPr lang="en-US" sz="2400" b="1" baseline="30000" dirty="0">
                <a:solidFill>
                  <a:srgbClr val="7030A0"/>
                </a:solidFill>
              </a:rPr>
              <a:t>n</a:t>
            </a:r>
            <a:r>
              <a:rPr lang="en-US" sz="2400" dirty="0"/>
              <a:t> is removed then we obtain the </a:t>
            </a:r>
            <a:r>
              <a:rPr lang="en-US" sz="2400" dirty="0">
                <a:solidFill>
                  <a:srgbClr val="FF0000"/>
                </a:solidFill>
              </a:rPr>
              <a:t>decrement operation, F = A – 1</a:t>
            </a:r>
            <a:r>
              <a:rPr lang="en-US" sz="2400" dirty="0"/>
              <a:t>.</a:t>
            </a:r>
          </a:p>
          <a:p>
            <a:r>
              <a:rPr lang="en-US" sz="2400" dirty="0"/>
              <a:t>To demonstrate with a numerical example, let us consider, n = 8 and A = 9. Then</a:t>
            </a:r>
          </a:p>
          <a:p>
            <a:endParaRPr lang="en-US" sz="2400" dirty="0"/>
          </a:p>
          <a:p>
            <a:pPr algn="ctr"/>
            <a:r>
              <a:rPr lang="en-US" sz="2400" dirty="0"/>
              <a:t>A = 0000 1001 = 9</a:t>
            </a:r>
          </a:p>
          <a:p>
            <a:pPr algn="ctr"/>
            <a:r>
              <a:rPr lang="en-US" sz="2400" b="1" dirty="0">
                <a:solidFill>
                  <a:srgbClr val="7030A0"/>
                </a:solidFill>
              </a:rPr>
              <a:t>2</a:t>
            </a:r>
            <a:r>
              <a:rPr lang="en-US" sz="2400" b="1" baseline="30000" dirty="0">
                <a:solidFill>
                  <a:srgbClr val="7030A0"/>
                </a:solidFill>
              </a:rPr>
              <a:t>8</a:t>
            </a:r>
            <a:r>
              <a:rPr lang="en-US" sz="2400" dirty="0"/>
              <a:t> = 1 0000 0000 = </a:t>
            </a:r>
            <a:r>
              <a:rPr lang="en-US" sz="2400" b="1" dirty="0">
                <a:solidFill>
                  <a:srgbClr val="7030A0"/>
                </a:solidFill>
              </a:rPr>
              <a:t>256</a:t>
            </a:r>
          </a:p>
          <a:p>
            <a:pPr algn="ctr"/>
            <a:r>
              <a:rPr lang="en-US" sz="2400" b="1" dirty="0">
                <a:solidFill>
                  <a:srgbClr val="7030A0"/>
                </a:solidFill>
              </a:rPr>
              <a:t>2</a:t>
            </a:r>
            <a:r>
              <a:rPr lang="en-US" sz="2400" b="1" baseline="30000" dirty="0">
                <a:solidFill>
                  <a:srgbClr val="7030A0"/>
                </a:solidFill>
              </a:rPr>
              <a:t>8</a:t>
            </a:r>
            <a:r>
              <a:rPr lang="en-US" sz="2400" dirty="0"/>
              <a:t> – 1 = 1111 1111 = 255</a:t>
            </a:r>
          </a:p>
          <a:p>
            <a:pPr algn="ctr"/>
            <a:r>
              <a:rPr lang="en-US" sz="2400" dirty="0"/>
              <a:t>A + </a:t>
            </a:r>
            <a:r>
              <a:rPr lang="en-US" sz="2400" b="1" dirty="0">
                <a:solidFill>
                  <a:srgbClr val="7030A0"/>
                </a:solidFill>
              </a:rPr>
              <a:t>2</a:t>
            </a:r>
            <a:r>
              <a:rPr lang="en-US" sz="2400" b="1" baseline="30000" dirty="0">
                <a:solidFill>
                  <a:srgbClr val="7030A0"/>
                </a:solidFill>
              </a:rPr>
              <a:t>8</a:t>
            </a:r>
            <a:r>
              <a:rPr lang="en-US" sz="2400" dirty="0"/>
              <a:t> – 1 = 1 0000 1000 = </a:t>
            </a:r>
            <a:r>
              <a:rPr lang="en-US" sz="2400" b="1" dirty="0">
                <a:solidFill>
                  <a:srgbClr val="7030A0"/>
                </a:solidFill>
              </a:rPr>
              <a:t>256</a:t>
            </a:r>
            <a:r>
              <a:rPr lang="en-US" sz="2400" dirty="0"/>
              <a:t> + 8</a:t>
            </a:r>
          </a:p>
          <a:p>
            <a:pPr algn="ctr"/>
            <a:endParaRPr lang="en-US" sz="2400" dirty="0"/>
          </a:p>
          <a:p>
            <a:r>
              <a:rPr lang="en-US" sz="2400" dirty="0"/>
              <a:t>Removing the output carry </a:t>
            </a:r>
            <a:r>
              <a:rPr lang="en-US" sz="2400" b="1" dirty="0">
                <a:solidFill>
                  <a:srgbClr val="7030A0"/>
                </a:solidFill>
              </a:rPr>
              <a:t>2</a:t>
            </a:r>
            <a:r>
              <a:rPr lang="en-US" sz="2400" b="1" baseline="30000" dirty="0">
                <a:solidFill>
                  <a:srgbClr val="7030A0"/>
                </a:solidFill>
              </a:rPr>
              <a:t>n</a:t>
            </a:r>
            <a:r>
              <a:rPr lang="en-US" sz="2400" b="1" dirty="0">
                <a:solidFill>
                  <a:srgbClr val="7030A0"/>
                </a:solidFill>
              </a:rPr>
              <a:t> = 256</a:t>
            </a:r>
            <a:r>
              <a:rPr lang="en-US" sz="2400" dirty="0"/>
              <a:t>, we obtain 8 (i.e., 9 – 1). Thus, we have decremented A by 1 (from 9 to 8) by adding to it a binary number with all 1s. </a:t>
            </a:r>
          </a:p>
        </p:txBody>
      </p:sp>
    </p:spTree>
    <p:extLst>
      <p:ext uri="{BB962C8B-B14F-4D97-AF65-F5344CB8AC3E}">
        <p14:creationId xmlns:p14="http://schemas.microsoft.com/office/powerpoint/2010/main" val="3135791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9C7E-5E0F-4610-80C8-7D666BCA8545}"/>
              </a:ext>
            </a:extLst>
          </p:cNvPr>
          <p:cNvSpPr>
            <a:spLocks noGrp="1"/>
          </p:cNvSpPr>
          <p:nvPr>
            <p:ph type="title"/>
          </p:nvPr>
        </p:nvSpPr>
        <p:spPr>
          <a:xfrm>
            <a:off x="1428220" y="603563"/>
            <a:ext cx="13713625" cy="914430"/>
          </a:xfrm>
        </p:spPr>
        <p:txBody>
          <a:bodyPr>
            <a:normAutofit/>
          </a:bodyPr>
          <a:lstStyle/>
          <a:p>
            <a:pPr algn="ctr"/>
            <a:r>
              <a:rPr lang="en-US" sz="4000" b="1" dirty="0">
                <a:solidFill>
                  <a:srgbClr val="0000FF"/>
                </a:solidFill>
              </a:rPr>
              <a:t>Function Table for Arithmetic Circuit</a:t>
            </a:r>
          </a:p>
        </p:txBody>
      </p:sp>
      <p:sp>
        <p:nvSpPr>
          <p:cNvPr id="3" name="Date Placeholder 2"/>
          <p:cNvSpPr>
            <a:spLocks noGrp="1"/>
          </p:cNvSpPr>
          <p:nvPr>
            <p:ph type="dt" sz="half" idx="10"/>
          </p:nvPr>
        </p:nvSpPr>
        <p:spPr/>
        <p:txBody>
          <a:bodyPr/>
          <a:lstStyle/>
          <a:p>
            <a:fld id="{916838AA-B2AF-4BBE-8BB2-AC94B765B086}" type="datetime3">
              <a:rPr lang="en-US" smtClean="0"/>
              <a:t>18 July 2024</a:t>
            </a:fld>
            <a:endParaRPr lang="en-US"/>
          </a:p>
        </p:txBody>
      </p:sp>
      <p:sp>
        <p:nvSpPr>
          <p:cNvPr id="4" name="Footer Placeholder 3"/>
          <p:cNvSpPr>
            <a:spLocks noGrp="1"/>
          </p:cNvSpPr>
          <p:nvPr>
            <p:ph type="ftr" sz="quarter" idx="11"/>
          </p:nvPr>
        </p:nvSpPr>
        <p:spPr/>
        <p:txBody>
          <a:bodyPr/>
          <a:lstStyle/>
          <a:p>
            <a:r>
              <a:rPr lang="en-US" dirty="0"/>
              <a:t>Course Teacher: Dr. Md. Rukonuzzaman</a:t>
            </a:r>
          </a:p>
        </p:txBody>
      </p:sp>
      <p:sp>
        <p:nvSpPr>
          <p:cNvPr id="5" name="Slide Number Placeholder 4"/>
          <p:cNvSpPr>
            <a:spLocks noGrp="1"/>
          </p:cNvSpPr>
          <p:nvPr>
            <p:ph type="sldNum" sz="quarter" idx="12"/>
          </p:nvPr>
        </p:nvSpPr>
        <p:spPr/>
        <p:txBody>
          <a:bodyPr/>
          <a:lstStyle/>
          <a:p>
            <a:fld id="{48F63A3B-78C7-47BE-AE5E-E10140E04643}" type="slidenum">
              <a:rPr lang="en-US" smtClean="0"/>
              <a:t>15</a:t>
            </a:fld>
            <a:endParaRPr lang="en-US" dirty="0"/>
          </a:p>
        </p:txBody>
      </p:sp>
      <p:sp>
        <p:nvSpPr>
          <p:cNvPr id="8" name="Content Placeholder 7"/>
          <p:cNvSpPr txBox="1">
            <a:spLocks noGrp="1"/>
          </p:cNvSpPr>
          <p:nvPr>
            <p:ph idx="1"/>
          </p:nvPr>
        </p:nvSpPr>
        <p:spPr>
          <a:xfrm>
            <a:off x="2505694" y="1886778"/>
            <a:ext cx="11147264" cy="424732"/>
          </a:xfrm>
          <a:prstGeom prst="rect">
            <a:avLst/>
          </a:prstGeom>
          <a:noFill/>
        </p:spPr>
        <p:txBody>
          <a:bodyPr wrap="square" rtlCol="0">
            <a:spAutoFit/>
          </a:bodyPr>
          <a:lstStyle/>
          <a:p>
            <a:pPr marL="0" indent="0" algn="ctr">
              <a:buNone/>
            </a:pPr>
            <a:r>
              <a:rPr lang="en-US" sz="2400" b="1" dirty="0"/>
              <a:t>Table 9.1 Function Table for the arithmetic circuit of Fig. 9.8</a:t>
            </a:r>
          </a:p>
        </p:txBody>
      </p:sp>
      <p:pic>
        <p:nvPicPr>
          <p:cNvPr id="9" name="Picture 8"/>
          <p:cNvPicPr>
            <a:picLocks noChangeAspect="1"/>
          </p:cNvPicPr>
          <p:nvPr/>
        </p:nvPicPr>
        <p:blipFill rotWithShape="1">
          <a:blip r:embed="rId3">
            <a:duotone>
              <a:schemeClr val="accent5">
                <a:shade val="45000"/>
                <a:satMod val="135000"/>
              </a:schemeClr>
              <a:prstClr val="white"/>
            </a:duotone>
          </a:blip>
          <a:srcRect l="3819" t="17386" r="5277" b="6831"/>
          <a:stretch/>
        </p:blipFill>
        <p:spPr>
          <a:xfrm>
            <a:off x="2505694" y="2590905"/>
            <a:ext cx="11147264" cy="4769939"/>
          </a:xfrm>
          <a:prstGeom prst="rect">
            <a:avLst/>
          </a:prstGeom>
          <a:ln>
            <a:solidFill>
              <a:srgbClr val="00B0F0"/>
            </a:solidFill>
          </a:ln>
        </p:spPr>
      </p:pic>
    </p:spTree>
    <p:extLst>
      <p:ext uri="{BB962C8B-B14F-4D97-AF65-F5344CB8AC3E}">
        <p14:creationId xmlns:p14="http://schemas.microsoft.com/office/powerpoint/2010/main" val="133694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BF3BC8-4190-4AD3-A962-056AD2E1F547}" type="datetime3">
              <a:rPr lang="en-US" smtClean="0"/>
              <a:t>18 July 2024</a:t>
            </a:fld>
            <a:endParaRPr lang="en-US"/>
          </a:p>
        </p:txBody>
      </p:sp>
      <p:sp>
        <p:nvSpPr>
          <p:cNvPr id="3" name="Footer Placeholder 2"/>
          <p:cNvSpPr>
            <a:spLocks noGrp="1"/>
          </p:cNvSpPr>
          <p:nvPr>
            <p:ph type="ftr" sz="quarter" idx="11"/>
          </p:nvPr>
        </p:nvSpPr>
        <p:spPr/>
        <p:txBody>
          <a:bodyPr/>
          <a:lstStyle/>
          <a:p>
            <a:r>
              <a:rPr lang="en-US" dirty="0"/>
              <a:t>Course Teacher: Dr. Md. Rukonuzzaman</a:t>
            </a:r>
          </a:p>
        </p:txBody>
      </p:sp>
      <p:sp>
        <p:nvSpPr>
          <p:cNvPr id="5" name="Slide Number Placeholder 4"/>
          <p:cNvSpPr>
            <a:spLocks noGrp="1"/>
          </p:cNvSpPr>
          <p:nvPr>
            <p:ph type="sldNum" sz="quarter" idx="12"/>
          </p:nvPr>
        </p:nvSpPr>
        <p:spPr/>
        <p:txBody>
          <a:bodyPr/>
          <a:lstStyle/>
          <a:p>
            <a:fld id="{48F63A3B-78C7-47BE-AE5E-E10140E04643}" type="slidenum">
              <a:rPr lang="en-US" smtClean="0"/>
              <a:t>16</a:t>
            </a:fld>
            <a:endParaRPr lang="en-US" dirty="0"/>
          </a:p>
        </p:txBody>
      </p:sp>
      <p:sp>
        <p:nvSpPr>
          <p:cNvPr id="6" name="TextBox 5"/>
          <p:cNvSpPr txBox="1"/>
          <p:nvPr/>
        </p:nvSpPr>
        <p:spPr>
          <a:xfrm>
            <a:off x="1330036" y="1483310"/>
            <a:ext cx="14096010" cy="5170646"/>
          </a:xfrm>
          <a:prstGeom prst="rect">
            <a:avLst/>
          </a:prstGeom>
          <a:noFill/>
        </p:spPr>
        <p:txBody>
          <a:bodyPr wrap="square" rtlCol="0">
            <a:spAutoFit/>
          </a:bodyPr>
          <a:lstStyle/>
          <a:p>
            <a:pPr>
              <a:spcBef>
                <a:spcPts val="600"/>
              </a:spcBef>
              <a:spcAft>
                <a:spcPts val="600"/>
              </a:spcAft>
            </a:pPr>
            <a:r>
              <a:rPr lang="en-US" sz="2000" b="1" dirty="0"/>
              <a:t>The circuit that controls input </a:t>
            </a:r>
            <a:r>
              <a:rPr lang="en-US" sz="2000" b="1" i="1" dirty="0"/>
              <a:t>B</a:t>
            </a:r>
            <a:r>
              <a:rPr lang="en-US" sz="2000" b="1" dirty="0"/>
              <a:t> to provide the functions illustrated in Fig. 9.6 is called a </a:t>
            </a:r>
            <a:r>
              <a:rPr lang="en-US" sz="2000" b="1" dirty="0">
                <a:solidFill>
                  <a:srgbClr val="FF0000"/>
                </a:solidFill>
              </a:rPr>
              <a:t>true/complement, one/zero element</a:t>
            </a:r>
            <a:r>
              <a:rPr lang="en-US" sz="2000" b="1" dirty="0"/>
              <a:t>. The circuit is illustrated in Fig. 9.7.</a:t>
            </a:r>
          </a:p>
          <a:p>
            <a:pPr>
              <a:spcBef>
                <a:spcPts val="600"/>
              </a:spcBef>
              <a:spcAft>
                <a:spcPts val="600"/>
              </a:spcAft>
            </a:pPr>
            <a:r>
              <a:rPr lang="en-US" sz="2000" b="1" dirty="0"/>
              <a:t>Two selection </a:t>
            </a:r>
            <a:r>
              <a:rPr lang="en-US" sz="2200" b="1" dirty="0"/>
              <a:t>lines</a:t>
            </a:r>
            <a:r>
              <a:rPr lang="en-US" sz="2000" b="1" dirty="0"/>
              <a:t> </a:t>
            </a:r>
            <a:r>
              <a:rPr lang="en-US" sz="2000" b="1" i="1" dirty="0"/>
              <a:t>s</a:t>
            </a:r>
            <a:r>
              <a:rPr lang="en-US" sz="2000" b="1" baseline="-25000" dirty="0"/>
              <a:t>1</a:t>
            </a:r>
            <a:r>
              <a:rPr lang="en-US" sz="2000" b="1" dirty="0"/>
              <a:t> and </a:t>
            </a:r>
            <a:r>
              <a:rPr lang="en-US" sz="2000" b="1" i="1" dirty="0"/>
              <a:t>s</a:t>
            </a:r>
            <a:r>
              <a:rPr lang="en-US" sz="2000" b="1" baseline="-25000" dirty="0"/>
              <a:t>0</a:t>
            </a:r>
            <a:r>
              <a:rPr lang="en-US" sz="2000" b="1" dirty="0"/>
              <a:t> control the input of each </a:t>
            </a:r>
            <a:r>
              <a:rPr lang="en-US" sz="2000" b="1" i="1" dirty="0"/>
              <a:t>B</a:t>
            </a:r>
            <a:r>
              <a:rPr lang="en-US" sz="2000" b="1" dirty="0"/>
              <a:t> terminal. The diagram shows one typical input designated by Bi and an output designated by </a:t>
            </a:r>
            <a:r>
              <a:rPr lang="en-US" sz="2000" b="1" i="1" dirty="0"/>
              <a:t>Y</a:t>
            </a:r>
            <a:r>
              <a:rPr lang="en-US" sz="2000" b="1" i="1" baseline="-25000" dirty="0"/>
              <a:t>i</a:t>
            </a:r>
            <a:r>
              <a:rPr lang="en-US" sz="2000" b="1" dirty="0"/>
              <a:t>.</a:t>
            </a:r>
          </a:p>
          <a:p>
            <a:pPr>
              <a:spcBef>
                <a:spcPts val="600"/>
              </a:spcBef>
              <a:spcAft>
                <a:spcPts val="600"/>
              </a:spcAft>
            </a:pPr>
            <a:r>
              <a:rPr lang="en-US" sz="2000" b="1" dirty="0"/>
              <a:t>In a typical application, there are n such circuits for </a:t>
            </a:r>
            <a:r>
              <a:rPr lang="en-US" sz="2000" b="1" i="1" dirty="0" err="1"/>
              <a:t>i</a:t>
            </a:r>
            <a:r>
              <a:rPr lang="en-US" sz="2000" b="1" dirty="0"/>
              <a:t> = 1, 2, 3, ……, </a:t>
            </a:r>
            <a:r>
              <a:rPr lang="en-US" sz="2000" b="1" i="1" dirty="0"/>
              <a:t>n</a:t>
            </a:r>
            <a:r>
              <a:rPr lang="en-US" sz="2000" b="1" dirty="0"/>
              <a:t>.</a:t>
            </a:r>
          </a:p>
          <a:p>
            <a:pPr>
              <a:spcBef>
                <a:spcPts val="600"/>
              </a:spcBef>
              <a:spcAft>
                <a:spcPts val="600"/>
              </a:spcAft>
            </a:pPr>
            <a:r>
              <a:rPr lang="en-US" sz="2000" b="1" dirty="0"/>
              <a:t>As shown in the Table of Fig. 9.7, when both </a:t>
            </a:r>
            <a:r>
              <a:rPr lang="en-US" sz="2000" b="1" i="1" dirty="0"/>
              <a:t>s</a:t>
            </a:r>
            <a:r>
              <a:rPr lang="en-US" sz="2000" b="1" baseline="-25000" dirty="0"/>
              <a:t>1</a:t>
            </a:r>
            <a:r>
              <a:rPr lang="en-US" sz="2000" b="1" dirty="0"/>
              <a:t> and </a:t>
            </a:r>
            <a:r>
              <a:rPr lang="en-US" sz="2000" b="1" i="1" dirty="0"/>
              <a:t>s</a:t>
            </a:r>
            <a:r>
              <a:rPr lang="en-US" sz="2000" b="1" baseline="-25000" dirty="0"/>
              <a:t>0</a:t>
            </a:r>
            <a:r>
              <a:rPr lang="en-US" sz="2000" b="1" dirty="0"/>
              <a:t> are equal to zero, the output </a:t>
            </a:r>
            <a:r>
              <a:rPr lang="en-US" sz="2000" b="1" i="1" dirty="0"/>
              <a:t>Y</a:t>
            </a:r>
            <a:r>
              <a:rPr lang="en-US" sz="2000" b="1" i="1" baseline="-25000" dirty="0"/>
              <a:t>i</a:t>
            </a:r>
            <a:r>
              <a:rPr lang="en-US" sz="2000" b="1" dirty="0"/>
              <a:t> is equal to 0 regardless of the value of </a:t>
            </a:r>
            <a:r>
              <a:rPr lang="en-US" sz="2000" b="1" i="1" dirty="0"/>
              <a:t>B</a:t>
            </a:r>
            <a:r>
              <a:rPr lang="en-US" sz="2000" b="1" i="1" baseline="-25000" dirty="0"/>
              <a:t>i</a:t>
            </a:r>
            <a:r>
              <a:rPr lang="en-US" sz="2000" b="1" dirty="0"/>
              <a:t>.</a:t>
            </a:r>
          </a:p>
          <a:p>
            <a:pPr>
              <a:spcBef>
                <a:spcPts val="600"/>
              </a:spcBef>
              <a:spcAft>
                <a:spcPts val="600"/>
              </a:spcAft>
            </a:pPr>
            <a:r>
              <a:rPr lang="en-US" sz="2000" b="1" dirty="0"/>
              <a:t>When </a:t>
            </a:r>
            <a:r>
              <a:rPr lang="en-US" sz="2000" b="1" i="1" dirty="0"/>
              <a:t>s</a:t>
            </a:r>
            <a:r>
              <a:rPr lang="en-US" sz="2000" b="1" baseline="-25000" dirty="0"/>
              <a:t>1</a:t>
            </a:r>
            <a:r>
              <a:rPr lang="en-US" sz="2000" b="1" dirty="0"/>
              <a:t> = 0 and </a:t>
            </a:r>
            <a:r>
              <a:rPr lang="en-US" sz="2000" b="1" i="1" dirty="0"/>
              <a:t>s</a:t>
            </a:r>
            <a:r>
              <a:rPr lang="en-US" sz="2000" b="1" baseline="-25000" dirty="0"/>
              <a:t>0</a:t>
            </a:r>
            <a:r>
              <a:rPr lang="en-US" sz="2000" b="1" dirty="0"/>
              <a:t> = 1, the top AND gate generates the value of </a:t>
            </a:r>
            <a:r>
              <a:rPr lang="en-US" sz="2000" b="1" i="1" dirty="0"/>
              <a:t>B</a:t>
            </a:r>
            <a:r>
              <a:rPr lang="en-US" sz="2000" b="1" i="1" baseline="-25000" dirty="0"/>
              <a:t>i</a:t>
            </a:r>
            <a:r>
              <a:rPr lang="en-US" sz="2000" b="1" dirty="0"/>
              <a:t> while the bottom AND gate output is 0; thus, the output </a:t>
            </a:r>
            <a:r>
              <a:rPr lang="en-US" sz="2000" b="1" i="1" dirty="0"/>
              <a:t>Y</a:t>
            </a:r>
            <a:r>
              <a:rPr lang="en-US" sz="2000" b="1" i="1" baseline="-25000" dirty="0"/>
              <a:t>i</a:t>
            </a:r>
            <a:r>
              <a:rPr lang="en-US" sz="2000" b="1" dirty="0"/>
              <a:t> is equal to </a:t>
            </a:r>
            <a:r>
              <a:rPr lang="en-US" sz="2000" b="1" i="1" dirty="0"/>
              <a:t>B</a:t>
            </a:r>
            <a:r>
              <a:rPr lang="en-US" sz="2000" b="1" i="1" baseline="-25000" dirty="0"/>
              <a:t>i</a:t>
            </a:r>
            <a:r>
              <a:rPr lang="en-US" sz="2000" b="1" dirty="0"/>
              <a:t>.</a:t>
            </a:r>
          </a:p>
          <a:p>
            <a:pPr>
              <a:spcBef>
                <a:spcPts val="600"/>
              </a:spcBef>
              <a:spcAft>
                <a:spcPts val="600"/>
              </a:spcAft>
            </a:pPr>
            <a:r>
              <a:rPr lang="en-US" sz="2000" b="1" dirty="0"/>
              <a:t>With </a:t>
            </a:r>
            <a:r>
              <a:rPr lang="en-US" sz="2000" b="1" i="1" dirty="0"/>
              <a:t>s</a:t>
            </a:r>
            <a:r>
              <a:rPr lang="en-US" sz="2000" b="1" baseline="-25000" dirty="0"/>
              <a:t>1</a:t>
            </a:r>
            <a:r>
              <a:rPr lang="en-US" sz="2000" b="1" dirty="0"/>
              <a:t> = 1 and </a:t>
            </a:r>
            <a:r>
              <a:rPr lang="en-US" sz="2000" b="1" i="1" dirty="0"/>
              <a:t>s</a:t>
            </a:r>
            <a:r>
              <a:rPr lang="en-US" sz="2000" b="1" baseline="-25000" dirty="0"/>
              <a:t>0</a:t>
            </a:r>
            <a:r>
              <a:rPr lang="en-US" sz="2000" b="1" dirty="0"/>
              <a:t> = 0, the bottom AND gate generates the complemented value of </a:t>
            </a:r>
            <a:r>
              <a:rPr lang="en-US" sz="2000" b="1" i="1" dirty="0"/>
              <a:t>B</a:t>
            </a:r>
            <a:r>
              <a:rPr lang="en-US" sz="2000" b="1" i="1" baseline="-25000" dirty="0"/>
              <a:t>i</a:t>
            </a:r>
            <a:r>
              <a:rPr lang="en-US" sz="2000" b="1" dirty="0"/>
              <a:t> while the top AND gate output is 0; thus, the output </a:t>
            </a:r>
            <a:r>
              <a:rPr lang="en-US" sz="2000" b="1" i="1" dirty="0"/>
              <a:t>Y</a:t>
            </a:r>
            <a:r>
              <a:rPr lang="en-US" sz="2000" b="1" i="1" baseline="-25000" dirty="0"/>
              <a:t>i</a:t>
            </a:r>
            <a:r>
              <a:rPr lang="en-US" sz="2000" b="1" dirty="0"/>
              <a:t> is equal to </a:t>
            </a:r>
            <a:r>
              <a:rPr lang="en-US" sz="2000" b="1" i="1" dirty="0" err="1"/>
              <a:t>B’</a:t>
            </a:r>
            <a:r>
              <a:rPr lang="en-US" sz="2000" b="1" i="1" baseline="-25000" dirty="0" err="1"/>
              <a:t>i</a:t>
            </a:r>
            <a:r>
              <a:rPr lang="en-US" sz="2000" b="1" dirty="0"/>
              <a:t>.</a:t>
            </a:r>
          </a:p>
          <a:p>
            <a:pPr>
              <a:spcBef>
                <a:spcPts val="600"/>
              </a:spcBef>
              <a:spcAft>
                <a:spcPts val="600"/>
              </a:spcAft>
            </a:pPr>
            <a:r>
              <a:rPr lang="en-US" sz="2000" b="1" dirty="0"/>
              <a:t>Finally, when both </a:t>
            </a:r>
            <a:r>
              <a:rPr lang="en-US" sz="2000" b="1" i="1" dirty="0"/>
              <a:t>s</a:t>
            </a:r>
            <a:r>
              <a:rPr lang="en-US" sz="2000" b="1" baseline="-25000" dirty="0"/>
              <a:t>1</a:t>
            </a:r>
            <a:r>
              <a:rPr lang="en-US" sz="2000" b="1" dirty="0"/>
              <a:t> = 1 and </a:t>
            </a:r>
            <a:r>
              <a:rPr lang="en-US" sz="2000" b="1" i="1" dirty="0"/>
              <a:t>s</a:t>
            </a:r>
            <a:r>
              <a:rPr lang="en-US" sz="2000" b="1" baseline="-25000" dirty="0"/>
              <a:t>0</a:t>
            </a:r>
            <a:r>
              <a:rPr lang="en-US" sz="2000" b="1" dirty="0"/>
              <a:t> = 1, both the top and bottom AND gates generate the normal and complemented value of </a:t>
            </a:r>
            <a:r>
              <a:rPr lang="en-US" sz="2000" b="1" i="1" dirty="0"/>
              <a:t>B</a:t>
            </a:r>
            <a:r>
              <a:rPr lang="en-US" sz="2000" b="1" i="1" baseline="-25000" dirty="0"/>
              <a:t>i </a:t>
            </a:r>
            <a:r>
              <a:rPr lang="en-US" sz="2000" b="1" dirty="0"/>
              <a:t>respectively; thus, the output </a:t>
            </a:r>
            <a:r>
              <a:rPr lang="en-US" sz="2000" b="1" i="1" dirty="0"/>
              <a:t>Y</a:t>
            </a:r>
            <a:r>
              <a:rPr lang="en-US" sz="2000" b="1" i="1" baseline="-25000" dirty="0"/>
              <a:t>i</a:t>
            </a:r>
            <a:r>
              <a:rPr lang="en-US" sz="2000" b="1" dirty="0"/>
              <a:t> is equal to </a:t>
            </a:r>
            <a:r>
              <a:rPr lang="en-US" sz="2000" b="1" i="1" dirty="0"/>
              <a:t>B</a:t>
            </a:r>
            <a:r>
              <a:rPr lang="en-US" sz="2000" b="1" i="1" baseline="-25000" dirty="0"/>
              <a:t>i  </a:t>
            </a:r>
            <a:r>
              <a:rPr lang="en-US" sz="2000" b="1" dirty="0"/>
              <a:t>+ </a:t>
            </a:r>
            <a:r>
              <a:rPr lang="en-US" sz="2000" b="1" i="1" dirty="0"/>
              <a:t>B</a:t>
            </a:r>
            <a:r>
              <a:rPr lang="en-US" sz="2000" b="1" i="1" baseline="-25000" dirty="0"/>
              <a:t>i</a:t>
            </a:r>
            <a:r>
              <a:rPr lang="en-US" sz="2000" b="1" i="1" dirty="0"/>
              <a:t>’</a:t>
            </a:r>
            <a:r>
              <a:rPr lang="en-US" sz="2000" b="1" dirty="0"/>
              <a:t>, which is equal to 1.</a:t>
            </a:r>
          </a:p>
          <a:p>
            <a:pPr>
              <a:spcBef>
                <a:spcPts val="600"/>
              </a:spcBef>
              <a:spcAft>
                <a:spcPts val="600"/>
              </a:spcAft>
            </a:pPr>
            <a:r>
              <a:rPr lang="en-US" sz="2000" b="1" dirty="0"/>
              <a:t>These are illustrated in the Table of Fig. 9.7</a:t>
            </a:r>
          </a:p>
        </p:txBody>
      </p:sp>
      <p:sp>
        <p:nvSpPr>
          <p:cNvPr id="7" name="Title 1">
            <a:extLst>
              <a:ext uri="{FF2B5EF4-FFF2-40B4-BE49-F238E27FC236}">
                <a16:creationId xmlns:a16="http://schemas.microsoft.com/office/drawing/2014/main" id="{3AF19C7E-5E0F-4610-80C8-7D666BCA8545}"/>
              </a:ext>
            </a:extLst>
          </p:cNvPr>
          <p:cNvSpPr>
            <a:spLocks noGrp="1"/>
          </p:cNvSpPr>
          <p:nvPr>
            <p:ph type="title"/>
          </p:nvPr>
        </p:nvSpPr>
        <p:spPr>
          <a:xfrm>
            <a:off x="1138843" y="253420"/>
            <a:ext cx="14287203" cy="1076617"/>
          </a:xfrm>
        </p:spPr>
        <p:txBody>
          <a:bodyPr>
            <a:normAutofit/>
          </a:bodyPr>
          <a:lstStyle/>
          <a:p>
            <a:pPr algn="ctr"/>
            <a:r>
              <a:rPr lang="en-US" sz="4000" b="1" dirty="0">
                <a:solidFill>
                  <a:srgbClr val="0000FF"/>
                </a:solidFill>
              </a:rPr>
              <a:t>Functions of Arithmetic Circuit</a:t>
            </a:r>
          </a:p>
        </p:txBody>
      </p:sp>
    </p:spTree>
    <p:extLst>
      <p:ext uri="{BB962C8B-B14F-4D97-AF65-F5344CB8AC3E}">
        <p14:creationId xmlns:p14="http://schemas.microsoft.com/office/powerpoint/2010/main" val="3267508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5552A-1107-45BD-913D-719EF1B8ADA2}"/>
              </a:ext>
            </a:extLst>
          </p:cNvPr>
          <p:cNvSpPr>
            <a:spLocks noGrp="1"/>
          </p:cNvSpPr>
          <p:nvPr>
            <p:ph type="title"/>
          </p:nvPr>
        </p:nvSpPr>
        <p:spPr>
          <a:xfrm>
            <a:off x="1591294" y="204667"/>
            <a:ext cx="13917880" cy="966453"/>
          </a:xfrm>
        </p:spPr>
        <p:txBody>
          <a:bodyPr>
            <a:normAutofit/>
          </a:bodyPr>
          <a:lstStyle/>
          <a:p>
            <a:pPr algn="ctr"/>
            <a:r>
              <a:rPr lang="en-US" sz="4000" b="1" dirty="0">
                <a:solidFill>
                  <a:srgbClr val="0000FF"/>
                </a:solidFill>
              </a:rPr>
              <a:t>True/Complement, One/Zero Circuit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168FAC1-A2F1-43DA-8D09-EF1053B750E7}"/>
                  </a:ext>
                </a:extLst>
              </p:cNvPr>
              <p:cNvSpPr>
                <a:spLocks noGrp="1"/>
              </p:cNvSpPr>
              <p:nvPr>
                <p:ph idx="1"/>
              </p:nvPr>
            </p:nvSpPr>
            <p:spPr>
              <a:xfrm>
                <a:off x="1591294" y="1315834"/>
                <a:ext cx="13680374" cy="6459085"/>
              </a:xfrm>
            </p:spPr>
            <p:txBody>
              <a:bodyPr>
                <a:noAutofit/>
              </a:bodyPr>
              <a:lstStyle/>
              <a:p>
                <a:pPr>
                  <a:spcBef>
                    <a:spcPts val="720"/>
                  </a:spcBef>
                </a:pPr>
                <a:r>
                  <a:rPr lang="en-US" sz="2400" b="1" dirty="0"/>
                  <a:t>The values of the Y inputs to the full-adder circuits are a function of selection variables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𝑺</m:t>
                        </m:r>
                      </m:e>
                      <m:sub>
                        <m:r>
                          <a:rPr lang="en-US" sz="2400" b="1" i="1">
                            <a:latin typeface="Cambria Math" panose="02040503050406030204" pitchFamily="18" charset="0"/>
                          </a:rPr>
                          <m:t>𝟏</m:t>
                        </m:r>
                      </m:sub>
                    </m:sSub>
                  </m:oMath>
                </a14:m>
                <a:r>
                  <a:rPr lang="en-US" sz="2400" b="1" dirty="0"/>
                  <a:t>and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𝑺</m:t>
                        </m:r>
                      </m:e>
                      <m:sub>
                        <m:r>
                          <a:rPr lang="en-US" sz="2400" b="1" i="1">
                            <a:latin typeface="Cambria Math" panose="02040503050406030204" pitchFamily="18" charset="0"/>
                          </a:rPr>
                          <m:t>𝟎</m:t>
                        </m:r>
                      </m:sub>
                    </m:sSub>
                    <m:r>
                      <a:rPr lang="en-US" sz="2400" b="1" i="1">
                        <a:latin typeface="Cambria Math" panose="02040503050406030204" pitchFamily="18" charset="0"/>
                      </a:rPr>
                      <m:t> </m:t>
                    </m:r>
                  </m:oMath>
                </a14:m>
                <a:r>
                  <a:rPr lang="en-US" sz="2400" b="1" dirty="0"/>
                  <a:t>.</a:t>
                </a:r>
              </a:p>
              <a:p>
                <a:pPr>
                  <a:spcBef>
                    <a:spcPts val="720"/>
                  </a:spcBef>
                </a:pPr>
                <a:endParaRPr lang="en-US" sz="2400" b="1" dirty="0"/>
              </a:p>
              <a:p>
                <a:pPr>
                  <a:spcBef>
                    <a:spcPts val="720"/>
                  </a:spcBef>
                </a:pPr>
                <a:endParaRPr lang="en-US" sz="4000" dirty="0"/>
              </a:p>
              <a:p>
                <a:pPr>
                  <a:spcBef>
                    <a:spcPts val="720"/>
                  </a:spcBef>
                </a:pPr>
                <a:endParaRPr lang="en-US" sz="4000" dirty="0"/>
              </a:p>
              <a:p>
                <a:pPr>
                  <a:spcBef>
                    <a:spcPts val="720"/>
                  </a:spcBef>
                </a:pPr>
                <a:endParaRPr lang="en-US" sz="4000" dirty="0"/>
              </a:p>
              <a:p>
                <a:pPr marL="0" indent="0">
                  <a:spcBef>
                    <a:spcPts val="0"/>
                  </a:spcBef>
                  <a:buNone/>
                </a:pPr>
                <a:r>
                  <a:rPr lang="en-US" sz="4000" dirty="0"/>
                  <a:t>           </a:t>
                </a:r>
              </a:p>
              <a:p>
                <a:pPr marL="0" indent="0" algn="ctr">
                  <a:spcBef>
                    <a:spcPts val="0"/>
                  </a:spcBef>
                  <a:buNone/>
                </a:pPr>
                <a:endParaRPr lang="en-US" sz="2800" dirty="0">
                  <a:solidFill>
                    <a:srgbClr val="FF0000"/>
                  </a:solidFill>
                </a:endParaRPr>
              </a:p>
              <a:p>
                <a:pPr marL="0" indent="0">
                  <a:spcBef>
                    <a:spcPts val="0"/>
                  </a:spcBef>
                  <a:buNone/>
                </a:pPr>
                <a:r>
                  <a:rPr lang="en-US" sz="2800" dirty="0">
                    <a:solidFill>
                      <a:srgbClr val="FF0000"/>
                    </a:solidFill>
                  </a:rPr>
                  <a:t>                </a:t>
                </a:r>
                <a:r>
                  <a:rPr lang="en-US" sz="3600" dirty="0">
                    <a:solidFill>
                      <a:srgbClr val="FF0000"/>
                    </a:solidFill>
                  </a:rPr>
                  <a:t> </a:t>
                </a:r>
                <a:r>
                  <a:rPr lang="en-US" sz="2400" b="1" dirty="0">
                    <a:solidFill>
                      <a:srgbClr val="FF0000"/>
                    </a:solidFill>
                  </a:rPr>
                  <a:t>Fig. 9.7 </a:t>
                </a:r>
                <a:r>
                  <a:rPr lang="en-US" sz="2400" b="1" dirty="0"/>
                  <a:t>True/complement, one/zero element</a:t>
                </a:r>
              </a:p>
              <a:p>
                <a:pPr marL="0" indent="0">
                  <a:spcBef>
                    <a:spcPts val="0"/>
                  </a:spcBef>
                  <a:buNone/>
                </a:pPr>
                <a:endParaRPr lang="en-US" sz="2400" b="1" dirty="0">
                  <a:solidFill>
                    <a:srgbClr val="FF0000"/>
                  </a:solidFill>
                </a:endParaRPr>
              </a:p>
              <a:p>
                <a:pPr>
                  <a:spcBef>
                    <a:spcPts val="720"/>
                  </a:spcBef>
                </a:pPr>
                <a:r>
                  <a:rPr lang="en-US" sz="2800" b="1" dirty="0">
                    <a:latin typeface="Calibri" panose="020F0502020204030204" pitchFamily="34" charset="0"/>
                  </a:rPr>
                  <a:t>The arithmetic circuit needs a </a:t>
                </a:r>
                <a:r>
                  <a:rPr lang="en-US" sz="2800" b="1" dirty="0">
                    <a:solidFill>
                      <a:srgbClr val="FF0000"/>
                    </a:solidFill>
                    <a:latin typeface="Calibri" panose="020F0502020204030204" pitchFamily="34" charset="0"/>
                  </a:rPr>
                  <a:t>combinational circuit </a:t>
                </a:r>
                <a:r>
                  <a:rPr lang="en-US" sz="2800" b="1" dirty="0">
                    <a:latin typeface="Calibri" panose="020F0502020204030204" pitchFamily="34" charset="0"/>
                  </a:rPr>
                  <a:t>in </a:t>
                </a:r>
                <a:r>
                  <a:rPr lang="en-US" sz="2800" b="1" dirty="0">
                    <a:solidFill>
                      <a:srgbClr val="FF0000"/>
                    </a:solidFill>
                    <a:latin typeface="Calibri" panose="020F0502020204030204" pitchFamily="34" charset="0"/>
                  </a:rPr>
                  <a:t>each stage </a:t>
                </a:r>
                <a:r>
                  <a:rPr lang="en-US" sz="2800" b="1" dirty="0">
                    <a:latin typeface="Calibri" panose="020F0502020204030204" pitchFamily="34" charset="0"/>
                  </a:rPr>
                  <a:t>specified by </a:t>
                </a:r>
              </a:p>
              <a:p>
                <a:pPr marL="0" indent="0">
                  <a:spcBef>
                    <a:spcPts val="720"/>
                  </a:spcBef>
                  <a:buNone/>
                </a:pPr>
                <a:r>
                  <a:rPr lang="en-US" sz="2800" b="1" dirty="0">
                    <a:latin typeface="Calibri" panose="020F0502020204030204" pitchFamily="34" charset="0"/>
                  </a:rPr>
                  <a:t>   Boolean functions –</a:t>
                </a:r>
              </a:p>
              <a:p>
                <a:pPr marL="0" indent="0">
                  <a:spcBef>
                    <a:spcPts val="720"/>
                  </a:spcBef>
                  <a:buNone/>
                </a:pPr>
                <a:r>
                  <a:rPr lang="en-US" sz="2800" i="1" dirty="0">
                    <a:latin typeface="Calibri" panose="020F0502020204030204" pitchFamily="34" charset="0"/>
                  </a:rPr>
                  <a:t>	X</a:t>
                </a:r>
                <a:r>
                  <a:rPr lang="en-US" sz="1400" i="1" dirty="0">
                    <a:latin typeface="Calibri" panose="020F0502020204030204" pitchFamily="34" charset="0"/>
                  </a:rPr>
                  <a:t>i </a:t>
                </a:r>
                <a:r>
                  <a:rPr lang="en-US" sz="2800" i="1" dirty="0">
                    <a:latin typeface="Calibri" panose="020F0502020204030204" pitchFamily="34" charset="0"/>
                  </a:rPr>
                  <a:t>= A</a:t>
                </a:r>
                <a:r>
                  <a:rPr lang="en-US" sz="1400" i="1" dirty="0">
                    <a:latin typeface="Calibri" panose="020F0502020204030204" pitchFamily="34" charset="0"/>
                  </a:rPr>
                  <a:t>i</a:t>
                </a:r>
              </a:p>
              <a:p>
                <a:pPr marL="0" indent="0">
                  <a:spcBef>
                    <a:spcPts val="720"/>
                  </a:spcBef>
                  <a:buNone/>
                </a:pPr>
                <a:r>
                  <a:rPr lang="pt-BR" sz="2800" i="1" dirty="0">
                    <a:latin typeface="Calibri" panose="020F0502020204030204" pitchFamily="34" charset="0"/>
                  </a:rPr>
                  <a:t>	Y</a:t>
                </a:r>
                <a:r>
                  <a:rPr lang="pt-BR" sz="1400" i="1" dirty="0">
                    <a:latin typeface="Calibri" panose="020F0502020204030204" pitchFamily="34" charset="0"/>
                  </a:rPr>
                  <a:t>i </a:t>
                </a:r>
                <a:r>
                  <a:rPr lang="pt-BR" sz="2800" i="1" dirty="0">
                    <a:latin typeface="Calibri" panose="020F0502020204030204" pitchFamily="34" charset="0"/>
                  </a:rPr>
                  <a:t>= B</a:t>
                </a:r>
                <a:r>
                  <a:rPr lang="pt-BR" sz="1400" i="1" dirty="0">
                    <a:latin typeface="Calibri" panose="020F0502020204030204" pitchFamily="34" charset="0"/>
                  </a:rPr>
                  <a:t>i</a:t>
                </a:r>
                <a:r>
                  <a:rPr lang="pt-BR" sz="2800" i="1" dirty="0">
                    <a:latin typeface="Calibri" panose="020F0502020204030204" pitchFamily="34" charset="0"/>
                  </a:rPr>
                  <a:t>s</a:t>
                </a:r>
                <a:r>
                  <a:rPr lang="pt-BR" sz="1400" i="1" dirty="0">
                    <a:latin typeface="Calibri" panose="020F0502020204030204" pitchFamily="34" charset="0"/>
                  </a:rPr>
                  <a:t>0 </a:t>
                </a:r>
                <a:r>
                  <a:rPr lang="pt-BR" sz="2800" i="1" dirty="0">
                    <a:latin typeface="Calibri" panose="020F0502020204030204" pitchFamily="34" charset="0"/>
                  </a:rPr>
                  <a:t>+ B</a:t>
                </a:r>
                <a:r>
                  <a:rPr lang="pt-BR" sz="1400" i="1" dirty="0">
                    <a:latin typeface="Calibri" panose="020F0502020204030204" pitchFamily="34" charset="0"/>
                  </a:rPr>
                  <a:t>i</a:t>
                </a:r>
                <a:r>
                  <a:rPr lang="pt-BR" sz="2800" i="1" dirty="0">
                    <a:latin typeface="Calibri" panose="020F0502020204030204" pitchFamily="34" charset="0"/>
                  </a:rPr>
                  <a:t>’s</a:t>
                </a:r>
                <a:r>
                  <a:rPr lang="pt-BR" sz="1400" i="1" dirty="0">
                    <a:latin typeface="Calibri" panose="020F0502020204030204" pitchFamily="34" charset="0"/>
                  </a:rPr>
                  <a:t>1 </a:t>
                </a:r>
                <a:r>
                  <a:rPr lang="pt-BR" sz="2800" i="1" dirty="0">
                    <a:latin typeface="Calibri" panose="020F0502020204030204" pitchFamily="34" charset="0"/>
                  </a:rPr>
                  <a:t>, i= 1,2,3,...,n</a:t>
                </a:r>
                <a:endParaRPr lang="en-US" sz="4000" dirty="0"/>
              </a:p>
            </p:txBody>
          </p:sp>
        </mc:Choice>
        <mc:Fallback>
          <p:sp>
            <p:nvSpPr>
              <p:cNvPr id="3" name="Content Placeholder 2">
                <a:extLst>
                  <a:ext uri="{FF2B5EF4-FFF2-40B4-BE49-F238E27FC236}">
                    <a16:creationId xmlns:a16="http://schemas.microsoft.com/office/drawing/2014/main" id="{4168FAC1-A2F1-43DA-8D09-EF1053B750E7}"/>
                  </a:ext>
                </a:extLst>
              </p:cNvPr>
              <p:cNvSpPr>
                <a:spLocks noGrp="1" noRot="1" noChangeAspect="1" noMove="1" noResize="1" noEditPoints="1" noAdjustHandles="1" noChangeArrowheads="1" noChangeShapeType="1" noTextEdit="1"/>
              </p:cNvSpPr>
              <p:nvPr>
                <p:ph idx="1"/>
              </p:nvPr>
            </p:nvSpPr>
            <p:spPr>
              <a:xfrm>
                <a:off x="1591294" y="1315834"/>
                <a:ext cx="13680374" cy="6459085"/>
              </a:xfrm>
              <a:blipFill>
                <a:blip r:embed="rId3"/>
                <a:stretch>
                  <a:fillRect l="-802" t="-1322" b="-179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4F06319-7D26-4146-8688-873B60166D60}"/>
              </a:ext>
            </a:extLst>
          </p:cNvPr>
          <p:cNvPicPr>
            <a:picLocks noChangeAspect="1"/>
          </p:cNvPicPr>
          <p:nvPr/>
        </p:nvPicPr>
        <p:blipFill rotWithShape="1">
          <a:blip r:embed="rId4">
            <a:duotone>
              <a:prstClr val="black"/>
              <a:schemeClr val="accent5">
                <a:tint val="45000"/>
                <a:satMod val="400000"/>
              </a:schemeClr>
            </a:duotone>
          </a:blip>
          <a:srcRect r="21318"/>
          <a:stretch/>
        </p:blipFill>
        <p:spPr>
          <a:xfrm rot="21289217">
            <a:off x="2342052" y="2215415"/>
            <a:ext cx="7583758" cy="2768622"/>
          </a:xfrm>
          <a:prstGeom prst="rect">
            <a:avLst/>
          </a:prstGeom>
          <a:scene3d>
            <a:camera prst="orthographicFront">
              <a:rot lat="0" lon="0" rev="21299999"/>
            </a:camera>
            <a:lightRig rig="threePt" dir="t"/>
          </a:scene3d>
        </p:spPr>
      </p:pic>
      <p:sp>
        <p:nvSpPr>
          <p:cNvPr id="5" name="Date Placeholder 4"/>
          <p:cNvSpPr>
            <a:spLocks noGrp="1"/>
          </p:cNvSpPr>
          <p:nvPr>
            <p:ph type="dt" sz="half" idx="10"/>
          </p:nvPr>
        </p:nvSpPr>
        <p:spPr/>
        <p:txBody>
          <a:bodyPr/>
          <a:lstStyle/>
          <a:p>
            <a:fld id="{76A5621E-AF2A-4E0D-8A79-868C068001B2}" type="datetime3">
              <a:rPr lang="en-US" smtClean="0"/>
              <a:t>18 July 2024</a:t>
            </a:fld>
            <a:endParaRPr lang="en-US"/>
          </a:p>
        </p:txBody>
      </p:sp>
      <p:sp>
        <p:nvSpPr>
          <p:cNvPr id="6" name="Footer Placeholder 5"/>
          <p:cNvSpPr>
            <a:spLocks noGrp="1"/>
          </p:cNvSpPr>
          <p:nvPr>
            <p:ph type="ftr" sz="quarter" idx="11"/>
          </p:nvPr>
        </p:nvSpPr>
        <p:spPr/>
        <p:txBody>
          <a:bodyPr/>
          <a:lstStyle/>
          <a:p>
            <a:r>
              <a:rPr lang="en-US" dirty="0"/>
              <a:t>Course Teacher: Dr. Md. Rukonuzzaman</a:t>
            </a:r>
          </a:p>
        </p:txBody>
      </p:sp>
      <p:sp>
        <p:nvSpPr>
          <p:cNvPr id="7" name="Slide Number Placeholder 6"/>
          <p:cNvSpPr>
            <a:spLocks noGrp="1"/>
          </p:cNvSpPr>
          <p:nvPr>
            <p:ph type="sldNum" sz="quarter" idx="12"/>
          </p:nvPr>
        </p:nvSpPr>
        <p:spPr/>
        <p:txBody>
          <a:bodyPr/>
          <a:lstStyle/>
          <a:p>
            <a:fld id="{48F63A3B-78C7-47BE-AE5E-E10140E04643}" type="slidenum">
              <a:rPr lang="en-US" smtClean="0"/>
              <a:t>17</a:t>
            </a:fld>
            <a:endParaRPr lang="en-US" dirty="0"/>
          </a:p>
        </p:txBody>
      </p:sp>
      <mc:AlternateContent xmlns:mc="http://schemas.openxmlformats.org/markup-compatibility/2006">
        <mc:Choice xmlns:a14="http://schemas.microsoft.com/office/drawing/2010/main" Requires="a14">
          <p:graphicFrame>
            <p:nvGraphicFramePr>
              <p:cNvPr id="8" name="Table 7"/>
              <p:cNvGraphicFramePr>
                <a:graphicFrameLocks noGrp="1"/>
              </p:cNvGraphicFramePr>
              <p:nvPr>
                <p:extLst>
                  <p:ext uri="{D42A27DB-BD31-4B8C-83A1-F6EECF244321}">
                    <p14:modId xmlns:p14="http://schemas.microsoft.com/office/powerpoint/2010/main" val="574716878"/>
                  </p:ext>
                </p:extLst>
              </p:nvPr>
            </p:nvGraphicFramePr>
            <p:xfrm>
              <a:off x="11243105" y="2733917"/>
              <a:ext cx="2983534" cy="2286000"/>
            </p:xfrm>
            <a:graphic>
              <a:graphicData uri="http://schemas.openxmlformats.org/drawingml/2006/table">
                <a:tbl>
                  <a:tblPr firstRow="1" bandRow="1">
                    <a:tableStyleId>{5C22544A-7EE6-4342-B048-85BDC9FD1C3A}</a:tableStyleId>
                  </a:tblPr>
                  <a:tblGrid>
                    <a:gridCol w="867620">
                      <a:extLst>
                        <a:ext uri="{9D8B030D-6E8A-4147-A177-3AD203B41FA5}">
                          <a16:colId xmlns:a16="http://schemas.microsoft.com/office/drawing/2014/main" val="3409970662"/>
                        </a:ext>
                      </a:extLst>
                    </a:gridCol>
                    <a:gridCol w="973776">
                      <a:extLst>
                        <a:ext uri="{9D8B030D-6E8A-4147-A177-3AD203B41FA5}">
                          <a16:colId xmlns:a16="http://schemas.microsoft.com/office/drawing/2014/main" val="3760788146"/>
                        </a:ext>
                      </a:extLst>
                    </a:gridCol>
                    <a:gridCol w="1142138">
                      <a:extLst>
                        <a:ext uri="{9D8B030D-6E8A-4147-A177-3AD203B41FA5}">
                          <a16:colId xmlns:a16="http://schemas.microsoft.com/office/drawing/2014/main" val="1897586980"/>
                        </a:ext>
                      </a:extLst>
                    </a:gridCol>
                  </a:tblGrid>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1" i="1" smtClean="0">
                                        <a:latin typeface="Cambria Math" panose="02040503050406030204" pitchFamily="18" charset="0"/>
                                      </a:rPr>
                                      <m:t>𝒔</m:t>
                                    </m:r>
                                  </m:e>
                                  <m:sub>
                                    <m:r>
                                      <a:rPr lang="en-US" sz="2400" b="1" i="1" smtClean="0">
                                        <a:latin typeface="Cambria Math" panose="02040503050406030204" pitchFamily="18" charset="0"/>
                                      </a:rPr>
                                      <m:t>𝟏</m:t>
                                    </m:r>
                                  </m:sub>
                                </m:sSub>
                              </m:oMath>
                            </m:oMathPara>
                          </a14:m>
                          <a:endParaRPr 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1" i="1" smtClean="0">
                                        <a:latin typeface="Cambria Math" panose="02040503050406030204" pitchFamily="18" charset="0"/>
                                      </a:rPr>
                                      <m:t>𝒔</m:t>
                                    </m:r>
                                  </m:e>
                                  <m:sub>
                                    <m:r>
                                      <a:rPr lang="en-US" sz="2400" b="1" i="1" smtClean="0">
                                        <a:latin typeface="Cambria Math" panose="02040503050406030204" pitchFamily="18" charset="0"/>
                                      </a:rPr>
                                      <m:t>𝟎</m:t>
                                    </m:r>
                                  </m:sub>
                                </m:sSub>
                              </m:oMath>
                            </m:oMathPara>
                          </a14:m>
                          <a:endParaRPr lang="en-US"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1" i="1" smtClean="0">
                                        <a:latin typeface="Cambria Math" panose="02040503050406030204" pitchFamily="18" charset="0"/>
                                      </a:rPr>
                                      <m:t>𝒀</m:t>
                                    </m:r>
                                  </m:e>
                                  <m:sub>
                                    <m:r>
                                      <a:rPr lang="en-US" sz="2400" b="1" i="1" smtClean="0">
                                        <a:latin typeface="Cambria Math" panose="02040503050406030204" pitchFamily="18" charset="0"/>
                                      </a:rPr>
                                      <m:t>𝒊</m:t>
                                    </m:r>
                                  </m:sub>
                                </m:sSub>
                              </m:oMath>
                            </m:oMathPara>
                          </a14:m>
                          <a:endParaRPr lang="en-US" sz="2400" dirty="0"/>
                        </a:p>
                      </a:txBody>
                      <a:tcPr/>
                    </a:tc>
                    <a:extLst>
                      <a:ext uri="{0D108BD9-81ED-4DB2-BD59-A6C34878D82A}">
                        <a16:rowId xmlns:a16="http://schemas.microsoft.com/office/drawing/2014/main" val="571516951"/>
                      </a:ext>
                    </a:extLst>
                  </a:tr>
                  <a:tr h="370840">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extLst>
                      <a:ext uri="{0D108BD9-81ED-4DB2-BD59-A6C34878D82A}">
                        <a16:rowId xmlns:a16="http://schemas.microsoft.com/office/drawing/2014/main" val="4086985688"/>
                      </a:ext>
                    </a:extLst>
                  </a:tr>
                  <a:tr h="370840">
                    <a:tc>
                      <a:txBody>
                        <a:bodyPr/>
                        <a:lstStyle/>
                        <a:p>
                          <a:pPr algn="ctr"/>
                          <a:r>
                            <a:rPr lang="en-US" sz="2400" dirty="0"/>
                            <a:t>0</a:t>
                          </a:r>
                        </a:p>
                      </a:txBody>
                      <a:tcPr/>
                    </a:tc>
                    <a:tc>
                      <a:txBody>
                        <a:bodyPr/>
                        <a:lstStyle/>
                        <a:p>
                          <a:pPr algn="ctr"/>
                          <a:r>
                            <a:rPr lang="en-US" sz="2400" dirty="0"/>
                            <a:t>1</a:t>
                          </a:r>
                        </a:p>
                      </a:txBody>
                      <a:tcPr/>
                    </a:tc>
                    <a:tc>
                      <a:txBody>
                        <a:bodyPr/>
                        <a:lstStyle/>
                        <a:p>
                          <a:pPr algn="ctr"/>
                          <a:r>
                            <a:rPr lang="en-US" sz="2400" i="1" dirty="0"/>
                            <a:t>B</a:t>
                          </a:r>
                          <a:r>
                            <a:rPr lang="en-US" sz="2400" i="1" baseline="-25000" dirty="0"/>
                            <a:t>i</a:t>
                          </a:r>
                          <a:endParaRPr lang="en-US" sz="2400" dirty="0"/>
                        </a:p>
                      </a:txBody>
                      <a:tcPr/>
                    </a:tc>
                    <a:extLst>
                      <a:ext uri="{0D108BD9-81ED-4DB2-BD59-A6C34878D82A}">
                        <a16:rowId xmlns:a16="http://schemas.microsoft.com/office/drawing/2014/main" val="3578981720"/>
                      </a:ext>
                    </a:extLst>
                  </a:tr>
                  <a:tr h="370840">
                    <a:tc>
                      <a:txBody>
                        <a:bodyPr/>
                        <a:lstStyle/>
                        <a:p>
                          <a:pPr algn="ctr"/>
                          <a:r>
                            <a:rPr lang="en-US" sz="2400" dirty="0"/>
                            <a:t>1</a:t>
                          </a:r>
                        </a:p>
                      </a:txBody>
                      <a:tcPr/>
                    </a:tc>
                    <a:tc>
                      <a:txBody>
                        <a:bodyPr/>
                        <a:lstStyle/>
                        <a:p>
                          <a:pPr algn="ctr"/>
                          <a:r>
                            <a:rPr lang="en-US" sz="2400" dirty="0"/>
                            <a:t>0</a:t>
                          </a:r>
                        </a:p>
                      </a:txBody>
                      <a:tcPr/>
                    </a:tc>
                    <a:tc>
                      <a:txBody>
                        <a:bodyPr/>
                        <a:lstStyle/>
                        <a:p>
                          <a:pPr algn="ctr"/>
                          <a:r>
                            <a:rPr lang="en-US" sz="2400" i="1" dirty="0"/>
                            <a:t>B</a:t>
                          </a:r>
                          <a:r>
                            <a:rPr lang="en-US" sz="2400" i="1" baseline="-25000" dirty="0"/>
                            <a:t>i</a:t>
                          </a:r>
                          <a:r>
                            <a:rPr lang="en-US" sz="2400" i="1" dirty="0"/>
                            <a:t>’</a:t>
                          </a:r>
                          <a:endParaRPr lang="en-US" sz="2400" dirty="0"/>
                        </a:p>
                      </a:txBody>
                      <a:tcPr/>
                    </a:tc>
                    <a:extLst>
                      <a:ext uri="{0D108BD9-81ED-4DB2-BD59-A6C34878D82A}">
                        <a16:rowId xmlns:a16="http://schemas.microsoft.com/office/drawing/2014/main" val="179007299"/>
                      </a:ext>
                    </a:extLst>
                  </a:tr>
                  <a:tr h="370840">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dirty="0"/>
                            <a:t>1</a:t>
                          </a:r>
                        </a:p>
                      </a:txBody>
                      <a:tcPr/>
                    </a:tc>
                    <a:extLst>
                      <a:ext uri="{0D108BD9-81ED-4DB2-BD59-A6C34878D82A}">
                        <a16:rowId xmlns:a16="http://schemas.microsoft.com/office/drawing/2014/main" val="1521917815"/>
                      </a:ext>
                    </a:extLst>
                  </a:tr>
                </a:tbl>
              </a:graphicData>
            </a:graphic>
          </p:graphicFrame>
        </mc:Choice>
        <mc:Fallback>
          <p:graphicFrame>
            <p:nvGraphicFramePr>
              <p:cNvPr id="8" name="Table 7"/>
              <p:cNvGraphicFramePr>
                <a:graphicFrameLocks noGrp="1"/>
              </p:cNvGraphicFramePr>
              <p:nvPr>
                <p:extLst>
                  <p:ext uri="{D42A27DB-BD31-4B8C-83A1-F6EECF244321}">
                    <p14:modId xmlns:p14="http://schemas.microsoft.com/office/powerpoint/2010/main" val="574716878"/>
                  </p:ext>
                </p:extLst>
              </p:nvPr>
            </p:nvGraphicFramePr>
            <p:xfrm>
              <a:off x="11243105" y="2733917"/>
              <a:ext cx="2983534" cy="2286000"/>
            </p:xfrm>
            <a:graphic>
              <a:graphicData uri="http://schemas.openxmlformats.org/drawingml/2006/table">
                <a:tbl>
                  <a:tblPr firstRow="1" bandRow="1">
                    <a:tableStyleId>{5C22544A-7EE6-4342-B048-85BDC9FD1C3A}</a:tableStyleId>
                  </a:tblPr>
                  <a:tblGrid>
                    <a:gridCol w="867620">
                      <a:extLst>
                        <a:ext uri="{9D8B030D-6E8A-4147-A177-3AD203B41FA5}">
                          <a16:colId xmlns:a16="http://schemas.microsoft.com/office/drawing/2014/main" val="3409970662"/>
                        </a:ext>
                      </a:extLst>
                    </a:gridCol>
                    <a:gridCol w="973776">
                      <a:extLst>
                        <a:ext uri="{9D8B030D-6E8A-4147-A177-3AD203B41FA5}">
                          <a16:colId xmlns:a16="http://schemas.microsoft.com/office/drawing/2014/main" val="3760788146"/>
                        </a:ext>
                      </a:extLst>
                    </a:gridCol>
                    <a:gridCol w="1142138">
                      <a:extLst>
                        <a:ext uri="{9D8B030D-6E8A-4147-A177-3AD203B41FA5}">
                          <a16:colId xmlns:a16="http://schemas.microsoft.com/office/drawing/2014/main" val="1897586980"/>
                        </a:ext>
                      </a:extLst>
                    </a:gridCol>
                  </a:tblGrid>
                  <a:tr h="457200">
                    <a:tc>
                      <a:txBody>
                        <a:bodyPr/>
                        <a:lstStyle/>
                        <a:p>
                          <a:endParaRPr lang="en-US"/>
                        </a:p>
                      </a:txBody>
                      <a:tcPr>
                        <a:blipFill>
                          <a:blip r:embed="rId5"/>
                          <a:stretch>
                            <a:fillRect l="-704" t="-1333" r="-247887" b="-430667"/>
                          </a:stretch>
                        </a:blipFill>
                      </a:tcPr>
                    </a:tc>
                    <a:tc>
                      <a:txBody>
                        <a:bodyPr/>
                        <a:lstStyle/>
                        <a:p>
                          <a:endParaRPr lang="en-US"/>
                        </a:p>
                      </a:txBody>
                      <a:tcPr>
                        <a:blipFill>
                          <a:blip r:embed="rId5"/>
                          <a:stretch>
                            <a:fillRect l="-89375" t="-1333" r="-120000" b="-430667"/>
                          </a:stretch>
                        </a:blipFill>
                      </a:tcPr>
                    </a:tc>
                    <a:tc>
                      <a:txBody>
                        <a:bodyPr/>
                        <a:lstStyle/>
                        <a:p>
                          <a:endParaRPr lang="en-US"/>
                        </a:p>
                      </a:txBody>
                      <a:tcPr>
                        <a:blipFill>
                          <a:blip r:embed="rId5"/>
                          <a:stretch>
                            <a:fillRect l="-161170" t="-1333" r="-2128" b="-430667"/>
                          </a:stretch>
                        </a:blipFill>
                      </a:tcPr>
                    </a:tc>
                    <a:extLst>
                      <a:ext uri="{0D108BD9-81ED-4DB2-BD59-A6C34878D82A}">
                        <a16:rowId xmlns:a16="http://schemas.microsoft.com/office/drawing/2014/main" val="571516951"/>
                      </a:ext>
                    </a:extLst>
                  </a:tr>
                  <a:tr h="457200">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extLst>
                      <a:ext uri="{0D108BD9-81ED-4DB2-BD59-A6C34878D82A}">
                        <a16:rowId xmlns:a16="http://schemas.microsoft.com/office/drawing/2014/main" val="4086985688"/>
                      </a:ext>
                    </a:extLst>
                  </a:tr>
                  <a:tr h="457200">
                    <a:tc>
                      <a:txBody>
                        <a:bodyPr/>
                        <a:lstStyle/>
                        <a:p>
                          <a:pPr algn="ctr"/>
                          <a:r>
                            <a:rPr lang="en-US" sz="2400" dirty="0"/>
                            <a:t>0</a:t>
                          </a:r>
                        </a:p>
                      </a:txBody>
                      <a:tcPr/>
                    </a:tc>
                    <a:tc>
                      <a:txBody>
                        <a:bodyPr/>
                        <a:lstStyle/>
                        <a:p>
                          <a:pPr algn="ctr"/>
                          <a:r>
                            <a:rPr lang="en-US" sz="2400" dirty="0"/>
                            <a:t>1</a:t>
                          </a:r>
                        </a:p>
                      </a:txBody>
                      <a:tcPr/>
                    </a:tc>
                    <a:tc>
                      <a:txBody>
                        <a:bodyPr/>
                        <a:lstStyle/>
                        <a:p>
                          <a:pPr algn="ctr"/>
                          <a:r>
                            <a:rPr lang="en-US" sz="2400" i="1" dirty="0"/>
                            <a:t>B</a:t>
                          </a:r>
                          <a:r>
                            <a:rPr lang="en-US" sz="2400" i="1" baseline="-25000" dirty="0"/>
                            <a:t>i</a:t>
                          </a:r>
                          <a:endParaRPr lang="en-US" sz="2400" dirty="0"/>
                        </a:p>
                      </a:txBody>
                      <a:tcPr/>
                    </a:tc>
                    <a:extLst>
                      <a:ext uri="{0D108BD9-81ED-4DB2-BD59-A6C34878D82A}">
                        <a16:rowId xmlns:a16="http://schemas.microsoft.com/office/drawing/2014/main" val="3578981720"/>
                      </a:ext>
                    </a:extLst>
                  </a:tr>
                  <a:tr h="457200">
                    <a:tc>
                      <a:txBody>
                        <a:bodyPr/>
                        <a:lstStyle/>
                        <a:p>
                          <a:pPr algn="ctr"/>
                          <a:r>
                            <a:rPr lang="en-US" sz="2400" dirty="0"/>
                            <a:t>1</a:t>
                          </a:r>
                        </a:p>
                      </a:txBody>
                      <a:tcPr/>
                    </a:tc>
                    <a:tc>
                      <a:txBody>
                        <a:bodyPr/>
                        <a:lstStyle/>
                        <a:p>
                          <a:pPr algn="ctr"/>
                          <a:r>
                            <a:rPr lang="en-US" sz="2400" dirty="0"/>
                            <a:t>0</a:t>
                          </a:r>
                        </a:p>
                      </a:txBody>
                      <a:tcPr/>
                    </a:tc>
                    <a:tc>
                      <a:txBody>
                        <a:bodyPr/>
                        <a:lstStyle/>
                        <a:p>
                          <a:pPr algn="ctr"/>
                          <a:r>
                            <a:rPr lang="en-US" sz="2400" i="1" dirty="0"/>
                            <a:t>B</a:t>
                          </a:r>
                          <a:r>
                            <a:rPr lang="en-US" sz="2400" i="1" baseline="-25000" dirty="0"/>
                            <a:t>i</a:t>
                          </a:r>
                          <a:r>
                            <a:rPr lang="en-US" sz="2400" i="1" dirty="0"/>
                            <a:t>’</a:t>
                          </a:r>
                          <a:endParaRPr lang="en-US" sz="2400" dirty="0"/>
                        </a:p>
                      </a:txBody>
                      <a:tcPr/>
                    </a:tc>
                    <a:extLst>
                      <a:ext uri="{0D108BD9-81ED-4DB2-BD59-A6C34878D82A}">
                        <a16:rowId xmlns:a16="http://schemas.microsoft.com/office/drawing/2014/main" val="179007299"/>
                      </a:ext>
                    </a:extLst>
                  </a:tr>
                  <a:tr h="457200">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dirty="0"/>
                            <a:t>1</a:t>
                          </a:r>
                        </a:p>
                      </a:txBody>
                      <a:tcPr/>
                    </a:tc>
                    <a:extLst>
                      <a:ext uri="{0D108BD9-81ED-4DB2-BD59-A6C34878D82A}">
                        <a16:rowId xmlns:a16="http://schemas.microsoft.com/office/drawing/2014/main" val="1521917815"/>
                      </a:ext>
                    </a:extLst>
                  </a:tr>
                </a:tbl>
              </a:graphicData>
            </a:graphic>
          </p:graphicFrame>
        </mc:Fallback>
      </mc:AlternateContent>
    </p:spTree>
    <p:extLst>
      <p:ext uri="{BB962C8B-B14F-4D97-AF65-F5344CB8AC3E}">
        <p14:creationId xmlns:p14="http://schemas.microsoft.com/office/powerpoint/2010/main" val="521526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7C6AC700-A66E-4091-8EBB-D67B8590539C}" type="datetime3">
              <a:rPr lang="en-US" smtClean="0"/>
              <a:t>18 July 2024</a:t>
            </a:fld>
            <a:endParaRPr lang="en-US"/>
          </a:p>
        </p:txBody>
      </p:sp>
      <p:sp>
        <p:nvSpPr>
          <p:cNvPr id="6" name="Footer Placeholder 5"/>
          <p:cNvSpPr>
            <a:spLocks noGrp="1"/>
          </p:cNvSpPr>
          <p:nvPr>
            <p:ph type="ftr" sz="quarter" idx="11"/>
          </p:nvPr>
        </p:nvSpPr>
        <p:spPr/>
        <p:txBody>
          <a:bodyPr/>
          <a:lstStyle/>
          <a:p>
            <a:r>
              <a:rPr lang="en-US" dirty="0"/>
              <a:t>Course Teacher: Dr. Md. Rukonuzzaman</a:t>
            </a:r>
          </a:p>
        </p:txBody>
      </p:sp>
      <p:sp>
        <p:nvSpPr>
          <p:cNvPr id="7" name="Slide Number Placeholder 6"/>
          <p:cNvSpPr>
            <a:spLocks noGrp="1"/>
          </p:cNvSpPr>
          <p:nvPr>
            <p:ph type="sldNum" sz="quarter" idx="12"/>
          </p:nvPr>
        </p:nvSpPr>
        <p:spPr/>
        <p:txBody>
          <a:bodyPr/>
          <a:lstStyle/>
          <a:p>
            <a:fld id="{48F63A3B-78C7-47BE-AE5E-E10140E04643}" type="slidenum">
              <a:rPr lang="en-US" smtClean="0"/>
              <a:t>18</a:t>
            </a:fld>
            <a:endParaRPr lang="en-US" dirty="0"/>
          </a:p>
        </p:txBody>
      </p:sp>
      <p:pic>
        <p:nvPicPr>
          <p:cNvPr id="9" name="Picture 8"/>
          <p:cNvPicPr>
            <a:picLocks noChangeAspect="1"/>
          </p:cNvPicPr>
          <p:nvPr/>
        </p:nvPicPr>
        <p:blipFill rotWithShape="1">
          <a:blip r:embed="rId2">
            <a:duotone>
              <a:schemeClr val="accent5">
                <a:shade val="45000"/>
                <a:satMod val="135000"/>
              </a:schemeClr>
              <a:prstClr val="white"/>
            </a:duotone>
          </a:blip>
          <a:srcRect l="2898" t="3228" r="3686" b="4103"/>
          <a:stretch/>
        </p:blipFill>
        <p:spPr>
          <a:xfrm>
            <a:off x="8429108" y="571184"/>
            <a:ext cx="7789025" cy="7410006"/>
          </a:xfrm>
          <a:prstGeom prst="rect">
            <a:avLst/>
          </a:prstGeom>
        </p:spPr>
      </p:pic>
      <p:sp>
        <p:nvSpPr>
          <p:cNvPr id="2" name="Title 1">
            <a:extLst>
              <a:ext uri="{FF2B5EF4-FFF2-40B4-BE49-F238E27FC236}">
                <a16:creationId xmlns:a16="http://schemas.microsoft.com/office/drawing/2014/main" id="{66DB13EE-9066-4270-BF91-8769F7E74896}"/>
              </a:ext>
            </a:extLst>
          </p:cNvPr>
          <p:cNvSpPr>
            <a:spLocks noGrp="1"/>
          </p:cNvSpPr>
          <p:nvPr>
            <p:ph type="title"/>
          </p:nvPr>
        </p:nvSpPr>
        <p:spPr>
          <a:xfrm>
            <a:off x="1587737" y="33250"/>
            <a:ext cx="11114112" cy="658278"/>
          </a:xfrm>
        </p:spPr>
        <p:txBody>
          <a:bodyPr>
            <a:noAutofit/>
          </a:bodyPr>
          <a:lstStyle/>
          <a:p>
            <a:r>
              <a:rPr lang="en-US" sz="4800" b="1" dirty="0">
                <a:solidFill>
                  <a:srgbClr val="0070C0"/>
                </a:solidFill>
              </a:rPr>
              <a:t>Logic Diagram of an Arithmetic Circuit</a:t>
            </a:r>
          </a:p>
        </p:txBody>
      </p:sp>
      <p:sp>
        <p:nvSpPr>
          <p:cNvPr id="3" name="TextBox 2">
            <a:extLst>
              <a:ext uri="{FF2B5EF4-FFF2-40B4-BE49-F238E27FC236}">
                <a16:creationId xmlns:a16="http://schemas.microsoft.com/office/drawing/2014/main" id="{439EF05C-417F-4D00-BDBC-DC92E2A9570D}"/>
              </a:ext>
            </a:extLst>
          </p:cNvPr>
          <p:cNvSpPr txBox="1"/>
          <p:nvPr/>
        </p:nvSpPr>
        <p:spPr>
          <a:xfrm>
            <a:off x="1221971" y="7457969"/>
            <a:ext cx="7955280" cy="523220"/>
          </a:xfrm>
          <a:prstGeom prst="rect">
            <a:avLst/>
          </a:prstGeom>
          <a:noFill/>
        </p:spPr>
        <p:txBody>
          <a:bodyPr wrap="square" rtlCol="0">
            <a:spAutoFit/>
          </a:bodyPr>
          <a:lstStyle/>
          <a:p>
            <a:pPr algn="r"/>
            <a:r>
              <a:rPr lang="en-US" sz="2800" dirty="0">
                <a:solidFill>
                  <a:srgbClr val="FF0000"/>
                </a:solidFill>
              </a:rPr>
              <a:t>Figure 9-8 Logic Diagram of a 4-bit Arithmetic Circuit</a:t>
            </a:r>
          </a:p>
        </p:txBody>
      </p:sp>
    </p:spTree>
    <p:extLst>
      <p:ext uri="{BB962C8B-B14F-4D97-AF65-F5344CB8AC3E}">
        <p14:creationId xmlns:p14="http://schemas.microsoft.com/office/powerpoint/2010/main" val="515863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7733C-1430-4D98-9FC4-79295086B9FA}"/>
              </a:ext>
            </a:extLst>
          </p:cNvPr>
          <p:cNvSpPr>
            <a:spLocks noGrp="1"/>
          </p:cNvSpPr>
          <p:nvPr>
            <p:ph type="title"/>
          </p:nvPr>
        </p:nvSpPr>
        <p:spPr>
          <a:xfrm>
            <a:off x="1712427" y="81266"/>
            <a:ext cx="13772996" cy="816509"/>
          </a:xfrm>
        </p:spPr>
        <p:txBody>
          <a:bodyPr>
            <a:normAutofit/>
          </a:bodyPr>
          <a:lstStyle/>
          <a:p>
            <a:pPr algn="ctr"/>
            <a:r>
              <a:rPr lang="en-US" sz="4000" b="1" dirty="0">
                <a:solidFill>
                  <a:srgbClr val="0000FF"/>
                </a:solidFill>
              </a:rPr>
              <a:t>Exercise (Homework) </a:t>
            </a:r>
          </a:p>
        </p:txBody>
      </p:sp>
      <p:sp>
        <p:nvSpPr>
          <p:cNvPr id="3" name="Content Placeholder 2">
            <a:extLst>
              <a:ext uri="{FF2B5EF4-FFF2-40B4-BE49-F238E27FC236}">
                <a16:creationId xmlns:a16="http://schemas.microsoft.com/office/drawing/2014/main" id="{E502A2CD-7036-4437-8288-42C71ACE8587}"/>
              </a:ext>
            </a:extLst>
          </p:cNvPr>
          <p:cNvSpPr>
            <a:spLocks noGrp="1"/>
          </p:cNvSpPr>
          <p:nvPr>
            <p:ph idx="1"/>
          </p:nvPr>
        </p:nvSpPr>
        <p:spPr>
          <a:xfrm>
            <a:off x="448890" y="1173863"/>
            <a:ext cx="9668888" cy="1110359"/>
          </a:xfrm>
        </p:spPr>
        <p:txBody>
          <a:bodyPr>
            <a:noAutofit/>
          </a:bodyPr>
          <a:lstStyle/>
          <a:p>
            <a:pPr marL="0" indent="0">
              <a:buNone/>
            </a:pPr>
            <a:r>
              <a:rPr lang="en-US" sz="2400" b="1" dirty="0"/>
              <a:t>Design an adder/subtractor circuit with one selection variable s and two inputs A and B: when s = 0 the circuit performs A+B. When </a:t>
            </a:r>
            <a:r>
              <a:rPr lang="en-US" sz="2400" b="1" i="1" dirty="0"/>
              <a:t>s</a:t>
            </a:r>
            <a:r>
              <a:rPr lang="en-US" sz="2400" b="1" dirty="0"/>
              <a:t> = 1 the circuit performs A-B by taking the 2’s complement of B.</a:t>
            </a:r>
          </a:p>
        </p:txBody>
      </p:sp>
      <p:sp>
        <p:nvSpPr>
          <p:cNvPr id="7" name="Rectangle 6">
            <a:extLst>
              <a:ext uri="{FF2B5EF4-FFF2-40B4-BE49-F238E27FC236}">
                <a16:creationId xmlns:a16="http://schemas.microsoft.com/office/drawing/2014/main" id="{29A02650-25A7-4234-966A-DBFC17E0A2F1}"/>
              </a:ext>
            </a:extLst>
          </p:cNvPr>
          <p:cNvSpPr/>
          <p:nvPr/>
        </p:nvSpPr>
        <p:spPr>
          <a:xfrm>
            <a:off x="530386" y="2940475"/>
            <a:ext cx="1868430" cy="1200329"/>
          </a:xfrm>
          <a:prstGeom prst="rect">
            <a:avLst/>
          </a:prstGeom>
        </p:spPr>
        <p:txBody>
          <a:bodyPr wrap="square">
            <a:spAutoFit/>
          </a:bodyPr>
          <a:lstStyle/>
          <a:p>
            <a:r>
              <a:rPr lang="en-US" sz="2400" i="1" dirty="0">
                <a:solidFill>
                  <a:srgbClr val="FF0000"/>
                </a:solidFill>
                <a:latin typeface="Calibri" panose="020F0502020204030204" pitchFamily="34" charset="0"/>
              </a:rPr>
              <a:t>X</a:t>
            </a:r>
            <a:r>
              <a:rPr lang="en-US" sz="2400" i="1" baseline="-25000" dirty="0">
                <a:solidFill>
                  <a:srgbClr val="FF0000"/>
                </a:solidFill>
                <a:latin typeface="Calibri" panose="020F0502020204030204" pitchFamily="34" charset="0"/>
              </a:rPr>
              <a:t>i</a:t>
            </a:r>
            <a:r>
              <a:rPr lang="en-US" sz="2400" i="1" dirty="0">
                <a:solidFill>
                  <a:srgbClr val="FF0000"/>
                </a:solidFill>
                <a:latin typeface="Calibri" panose="020F0502020204030204" pitchFamily="34" charset="0"/>
              </a:rPr>
              <a:t> </a:t>
            </a:r>
            <a:r>
              <a:rPr lang="en-US" sz="2400" dirty="0">
                <a:solidFill>
                  <a:srgbClr val="FF0000"/>
                </a:solidFill>
                <a:latin typeface="Calibri" panose="020F0502020204030204" pitchFamily="34" charset="0"/>
              </a:rPr>
              <a:t>=</a:t>
            </a:r>
            <a:r>
              <a:rPr lang="en-US" sz="2400" i="1" dirty="0">
                <a:solidFill>
                  <a:srgbClr val="FF0000"/>
                </a:solidFill>
                <a:latin typeface="Calibri" panose="020F0502020204030204" pitchFamily="34" charset="0"/>
              </a:rPr>
              <a:t> A</a:t>
            </a:r>
            <a:r>
              <a:rPr lang="en-US" sz="2400" i="1" baseline="-25000" dirty="0">
                <a:solidFill>
                  <a:srgbClr val="FF0000"/>
                </a:solidFill>
                <a:latin typeface="Calibri" panose="020F0502020204030204" pitchFamily="34" charset="0"/>
              </a:rPr>
              <a:t>i</a:t>
            </a:r>
          </a:p>
          <a:p>
            <a:r>
              <a:rPr lang="en-US" sz="2400" i="1" dirty="0">
                <a:solidFill>
                  <a:srgbClr val="FF0000"/>
                </a:solidFill>
                <a:latin typeface="Calibri" panose="020F0502020204030204" pitchFamily="34" charset="0"/>
              </a:rPr>
              <a:t>Y</a:t>
            </a:r>
            <a:r>
              <a:rPr lang="en-US" sz="2400" i="1" baseline="-25000" dirty="0">
                <a:solidFill>
                  <a:srgbClr val="FF0000"/>
                </a:solidFill>
                <a:latin typeface="Calibri" panose="020F0502020204030204" pitchFamily="34" charset="0"/>
              </a:rPr>
              <a:t>i</a:t>
            </a:r>
            <a:r>
              <a:rPr lang="en-US" sz="2400" i="1" dirty="0">
                <a:solidFill>
                  <a:srgbClr val="FF0000"/>
                </a:solidFill>
                <a:latin typeface="Calibri" panose="020F0502020204030204" pitchFamily="34" charset="0"/>
              </a:rPr>
              <a:t> </a:t>
            </a:r>
            <a:r>
              <a:rPr lang="en-US" sz="2400" dirty="0">
                <a:solidFill>
                  <a:srgbClr val="FF0000"/>
                </a:solidFill>
                <a:latin typeface="Calibri" panose="020F0502020204030204" pitchFamily="34" charset="0"/>
              </a:rPr>
              <a:t>=</a:t>
            </a:r>
            <a:r>
              <a:rPr lang="en-US" sz="2400" i="1" dirty="0">
                <a:solidFill>
                  <a:srgbClr val="FF0000"/>
                </a:solidFill>
                <a:latin typeface="Calibri" panose="020F0502020204030204" pitchFamily="34" charset="0"/>
              </a:rPr>
              <a:t> B</a:t>
            </a:r>
            <a:r>
              <a:rPr lang="en-US" sz="2400" i="1" baseline="-25000" dirty="0">
                <a:solidFill>
                  <a:srgbClr val="FF0000"/>
                </a:solidFill>
                <a:latin typeface="Calibri" panose="020F0502020204030204" pitchFamily="34" charset="0"/>
              </a:rPr>
              <a:t>i</a:t>
            </a:r>
            <a:r>
              <a:rPr lang="en-US" sz="2400" i="1" dirty="0">
                <a:solidFill>
                  <a:srgbClr val="FF0000"/>
                </a:solidFill>
                <a:latin typeface="Calibri" panose="020F0502020204030204" pitchFamily="34" charset="0"/>
              </a:rPr>
              <a:t> </a:t>
            </a:r>
            <a:r>
              <a:rPr lang="en-US" sz="2400" dirty="0">
                <a:solidFill>
                  <a:srgbClr val="FF0000"/>
                </a:solidFill>
                <a:latin typeface="Calibri" panose="020F0502020204030204" pitchFamily="34" charset="0"/>
              </a:rPr>
              <a:t>XOR</a:t>
            </a:r>
            <a:r>
              <a:rPr lang="en-US" sz="2400" i="1" dirty="0">
                <a:solidFill>
                  <a:srgbClr val="FF0000"/>
                </a:solidFill>
                <a:latin typeface="Calibri" panose="020F0502020204030204" pitchFamily="34" charset="0"/>
              </a:rPr>
              <a:t> s</a:t>
            </a:r>
          </a:p>
          <a:p>
            <a:r>
              <a:rPr lang="en-US" sz="2400" i="1" dirty="0" err="1">
                <a:solidFill>
                  <a:srgbClr val="FF0000"/>
                </a:solidFill>
                <a:latin typeface="Calibri" panose="020F0502020204030204" pitchFamily="34" charset="0"/>
              </a:rPr>
              <a:t>C</a:t>
            </a:r>
            <a:r>
              <a:rPr lang="en-US" sz="2400" i="1" baseline="-25000" dirty="0" err="1">
                <a:solidFill>
                  <a:srgbClr val="FF0000"/>
                </a:solidFill>
                <a:latin typeface="Calibri" panose="020F0502020204030204" pitchFamily="34" charset="0"/>
              </a:rPr>
              <a:t>in</a:t>
            </a:r>
            <a:r>
              <a:rPr lang="en-US" sz="2400" i="1" dirty="0">
                <a:solidFill>
                  <a:srgbClr val="FF0000"/>
                </a:solidFill>
                <a:latin typeface="Calibri" panose="020F0502020204030204" pitchFamily="34" charset="0"/>
              </a:rPr>
              <a:t> </a:t>
            </a:r>
            <a:r>
              <a:rPr lang="en-US" sz="2400" dirty="0">
                <a:solidFill>
                  <a:srgbClr val="FF0000"/>
                </a:solidFill>
                <a:latin typeface="Calibri" panose="020F0502020204030204" pitchFamily="34" charset="0"/>
              </a:rPr>
              <a:t>=</a:t>
            </a:r>
            <a:r>
              <a:rPr lang="en-US" sz="2400" i="1" dirty="0">
                <a:solidFill>
                  <a:srgbClr val="FF0000"/>
                </a:solidFill>
                <a:latin typeface="Calibri" panose="020F0502020204030204" pitchFamily="34" charset="0"/>
              </a:rPr>
              <a:t> s</a:t>
            </a:r>
            <a:endParaRPr lang="en-US" sz="2400" i="1" dirty="0">
              <a:solidFill>
                <a:srgbClr val="FF0000"/>
              </a:solidFill>
            </a:endParaRPr>
          </a:p>
        </p:txBody>
      </p:sp>
      <p:pic>
        <p:nvPicPr>
          <p:cNvPr id="1026" name="Picture 2" descr="Xor Gate Circuit Diagram, Xor, Wiring Diagram and Circuit ...">
            <a:extLst>
              <a:ext uri="{FF2B5EF4-FFF2-40B4-BE49-F238E27FC236}">
                <a16:creationId xmlns:a16="http://schemas.microsoft.com/office/drawing/2014/main" id="{7A0B34D0-E853-4D7A-B5EB-B66FA5568F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991" b="20404"/>
          <a:stretch/>
        </p:blipFill>
        <p:spPr bwMode="auto">
          <a:xfrm>
            <a:off x="2971740" y="2909638"/>
            <a:ext cx="3042457" cy="180227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7D5F0B38-80D1-4494-9C37-0BCE30F2D62F}"/>
              </a:ext>
            </a:extLst>
          </p:cNvPr>
          <p:cNvGraphicFramePr>
            <a:graphicFrameLocks noGrp="1"/>
          </p:cNvGraphicFramePr>
          <p:nvPr>
            <p:extLst>
              <p:ext uri="{D42A27DB-BD31-4B8C-83A1-F6EECF244321}">
                <p14:modId xmlns:p14="http://schemas.microsoft.com/office/powerpoint/2010/main" val="1634634339"/>
              </p:ext>
            </p:extLst>
          </p:nvPr>
        </p:nvGraphicFramePr>
        <p:xfrm>
          <a:off x="530386" y="5324344"/>
          <a:ext cx="5584046" cy="1442359"/>
        </p:xfrm>
        <a:graphic>
          <a:graphicData uri="http://schemas.openxmlformats.org/drawingml/2006/table">
            <a:tbl>
              <a:tblPr firstRow="1" bandRow="1">
                <a:tableStyleId>{5C22544A-7EE6-4342-B048-85BDC9FD1C3A}</a:tableStyleId>
              </a:tblPr>
              <a:tblGrid>
                <a:gridCol w="867426">
                  <a:extLst>
                    <a:ext uri="{9D8B030D-6E8A-4147-A177-3AD203B41FA5}">
                      <a16:colId xmlns:a16="http://schemas.microsoft.com/office/drawing/2014/main" val="4250414180"/>
                    </a:ext>
                  </a:extLst>
                </a:gridCol>
                <a:gridCol w="1228851">
                  <a:extLst>
                    <a:ext uri="{9D8B030D-6E8A-4147-A177-3AD203B41FA5}">
                      <a16:colId xmlns:a16="http://schemas.microsoft.com/office/drawing/2014/main" val="2187140167"/>
                    </a:ext>
                  </a:extLst>
                </a:gridCol>
                <a:gridCol w="1373422">
                  <a:extLst>
                    <a:ext uri="{9D8B030D-6E8A-4147-A177-3AD203B41FA5}">
                      <a16:colId xmlns:a16="http://schemas.microsoft.com/office/drawing/2014/main" val="607253720"/>
                    </a:ext>
                  </a:extLst>
                </a:gridCol>
                <a:gridCol w="849352">
                  <a:extLst>
                    <a:ext uri="{9D8B030D-6E8A-4147-A177-3AD203B41FA5}">
                      <a16:colId xmlns:a16="http://schemas.microsoft.com/office/drawing/2014/main" val="161454346"/>
                    </a:ext>
                  </a:extLst>
                </a:gridCol>
                <a:gridCol w="1264995">
                  <a:extLst>
                    <a:ext uri="{9D8B030D-6E8A-4147-A177-3AD203B41FA5}">
                      <a16:colId xmlns:a16="http://schemas.microsoft.com/office/drawing/2014/main" val="1519213856"/>
                    </a:ext>
                  </a:extLst>
                </a:gridCol>
              </a:tblGrid>
              <a:tr h="456232">
                <a:tc>
                  <a:txBody>
                    <a:bodyPr/>
                    <a:lstStyle/>
                    <a:p>
                      <a:pPr algn="ctr"/>
                      <a:r>
                        <a:rPr lang="en-US" sz="2400" i="1" dirty="0"/>
                        <a:t>s</a:t>
                      </a:r>
                    </a:p>
                  </a:txBody>
                  <a:tcPr marL="109728" marR="109728" marT="54864" marB="54864"/>
                </a:tc>
                <a:tc>
                  <a:txBody>
                    <a:bodyPr/>
                    <a:lstStyle/>
                    <a:p>
                      <a:pPr algn="ctr"/>
                      <a:r>
                        <a:rPr lang="en-US" sz="2400" i="1" dirty="0"/>
                        <a:t>F</a:t>
                      </a:r>
                    </a:p>
                  </a:txBody>
                  <a:tcPr marL="109728" marR="109728" marT="54864" marB="54864"/>
                </a:tc>
                <a:tc>
                  <a:txBody>
                    <a:bodyPr/>
                    <a:lstStyle/>
                    <a:p>
                      <a:pPr algn="ctr"/>
                      <a:r>
                        <a:rPr lang="en-US" sz="2400" i="1" dirty="0"/>
                        <a:t>X</a:t>
                      </a:r>
                    </a:p>
                  </a:txBody>
                  <a:tcPr marL="109728" marR="109728" marT="54864" marB="54864"/>
                </a:tc>
                <a:tc>
                  <a:txBody>
                    <a:bodyPr/>
                    <a:lstStyle/>
                    <a:p>
                      <a:pPr algn="ctr"/>
                      <a:r>
                        <a:rPr lang="en-US" sz="2400" i="1" dirty="0"/>
                        <a:t>Y</a:t>
                      </a:r>
                    </a:p>
                  </a:txBody>
                  <a:tcPr marL="109728" marR="109728" marT="54864" marB="54864"/>
                </a:tc>
                <a:tc>
                  <a:txBody>
                    <a:bodyPr/>
                    <a:lstStyle/>
                    <a:p>
                      <a:pPr algn="ctr"/>
                      <a:r>
                        <a:rPr lang="en-US" sz="2400" i="1" dirty="0" err="1"/>
                        <a:t>C</a:t>
                      </a:r>
                      <a:r>
                        <a:rPr lang="en-US" sz="2400" i="1" baseline="-25000" dirty="0" err="1"/>
                        <a:t>in</a:t>
                      </a:r>
                      <a:endParaRPr lang="en-US" sz="2400" i="1" dirty="0"/>
                    </a:p>
                  </a:txBody>
                  <a:tcPr marL="109728" marR="109728" marT="54864" marB="54864"/>
                </a:tc>
                <a:extLst>
                  <a:ext uri="{0D108BD9-81ED-4DB2-BD59-A6C34878D82A}">
                    <a16:rowId xmlns:a16="http://schemas.microsoft.com/office/drawing/2014/main" val="251040091"/>
                  </a:ext>
                </a:extLst>
              </a:tr>
              <a:tr h="491383">
                <a:tc>
                  <a:txBody>
                    <a:bodyPr/>
                    <a:lstStyle/>
                    <a:p>
                      <a:pPr algn="ctr"/>
                      <a:r>
                        <a:rPr lang="en-US" sz="2400" dirty="0"/>
                        <a:t>0</a:t>
                      </a:r>
                    </a:p>
                  </a:txBody>
                  <a:tcPr marL="109728" marR="109728" marT="54864" marB="54864"/>
                </a:tc>
                <a:tc>
                  <a:txBody>
                    <a:bodyPr/>
                    <a:lstStyle/>
                    <a:p>
                      <a:pPr algn="ctr"/>
                      <a:r>
                        <a:rPr lang="en-US" sz="2400" i="1" dirty="0"/>
                        <a:t>A+B</a:t>
                      </a:r>
                    </a:p>
                  </a:txBody>
                  <a:tcPr marL="109728" marR="109728" marT="54864" marB="54864"/>
                </a:tc>
                <a:tc>
                  <a:txBody>
                    <a:bodyPr/>
                    <a:lstStyle/>
                    <a:p>
                      <a:pPr algn="ctr"/>
                      <a:r>
                        <a:rPr lang="en-US" sz="2400" i="1" dirty="0"/>
                        <a:t>A</a:t>
                      </a:r>
                    </a:p>
                  </a:txBody>
                  <a:tcPr marL="109728" marR="109728" marT="54864" marB="54864"/>
                </a:tc>
                <a:tc>
                  <a:txBody>
                    <a:bodyPr/>
                    <a:lstStyle/>
                    <a:p>
                      <a:pPr algn="ctr"/>
                      <a:r>
                        <a:rPr lang="en-US" sz="2400" i="1" dirty="0"/>
                        <a:t>B</a:t>
                      </a:r>
                    </a:p>
                  </a:txBody>
                  <a:tcPr marL="109728" marR="109728" marT="54864" marB="54864"/>
                </a:tc>
                <a:tc>
                  <a:txBody>
                    <a:bodyPr/>
                    <a:lstStyle/>
                    <a:p>
                      <a:pPr algn="ctr"/>
                      <a:r>
                        <a:rPr lang="en-US" sz="2400" dirty="0"/>
                        <a:t>0</a:t>
                      </a:r>
                    </a:p>
                  </a:txBody>
                  <a:tcPr marL="109728" marR="109728" marT="54864" marB="54864"/>
                </a:tc>
                <a:extLst>
                  <a:ext uri="{0D108BD9-81ED-4DB2-BD59-A6C34878D82A}">
                    <a16:rowId xmlns:a16="http://schemas.microsoft.com/office/drawing/2014/main" val="3056920560"/>
                  </a:ext>
                </a:extLst>
              </a:tr>
              <a:tr h="439387">
                <a:tc>
                  <a:txBody>
                    <a:bodyPr/>
                    <a:lstStyle/>
                    <a:p>
                      <a:pPr algn="ctr"/>
                      <a:r>
                        <a:rPr lang="en-US" sz="2400" dirty="0"/>
                        <a:t>1</a:t>
                      </a:r>
                    </a:p>
                  </a:txBody>
                  <a:tcPr marL="109728" marR="109728" marT="54864" marB="54864"/>
                </a:tc>
                <a:tc>
                  <a:txBody>
                    <a:bodyPr/>
                    <a:lstStyle/>
                    <a:p>
                      <a:pPr algn="ctr"/>
                      <a:r>
                        <a:rPr lang="en-US" sz="2400" i="1" dirty="0"/>
                        <a:t>A-B</a:t>
                      </a:r>
                    </a:p>
                  </a:txBody>
                  <a:tcPr marL="109728" marR="109728" marT="54864" marB="54864"/>
                </a:tc>
                <a:tc>
                  <a:txBody>
                    <a:bodyPr/>
                    <a:lstStyle/>
                    <a:p>
                      <a:pPr algn="ctr"/>
                      <a:r>
                        <a:rPr lang="en-US" sz="2400" i="1" dirty="0"/>
                        <a:t>A</a:t>
                      </a:r>
                    </a:p>
                  </a:txBody>
                  <a:tcPr marL="109728" marR="109728" marT="54864" marB="54864"/>
                </a:tc>
                <a:tc>
                  <a:txBody>
                    <a:bodyPr/>
                    <a:lstStyle/>
                    <a:p>
                      <a:pPr algn="ctr"/>
                      <a:r>
                        <a:rPr lang="en-US" sz="2400" i="1" dirty="0"/>
                        <a:t>B’</a:t>
                      </a:r>
                    </a:p>
                  </a:txBody>
                  <a:tcPr marL="109728" marR="109728" marT="54864" marB="54864"/>
                </a:tc>
                <a:tc>
                  <a:txBody>
                    <a:bodyPr/>
                    <a:lstStyle/>
                    <a:p>
                      <a:pPr algn="ctr"/>
                      <a:r>
                        <a:rPr lang="en-US" sz="2400" dirty="0"/>
                        <a:t>1</a:t>
                      </a:r>
                    </a:p>
                  </a:txBody>
                  <a:tcPr marL="109728" marR="109728" marT="54864" marB="54864"/>
                </a:tc>
                <a:extLst>
                  <a:ext uri="{0D108BD9-81ED-4DB2-BD59-A6C34878D82A}">
                    <a16:rowId xmlns:a16="http://schemas.microsoft.com/office/drawing/2014/main" val="343649899"/>
                  </a:ext>
                </a:extLst>
              </a:tr>
            </a:tbl>
          </a:graphicData>
        </a:graphic>
      </p:graphicFrame>
      <p:sp>
        <p:nvSpPr>
          <p:cNvPr id="6" name="Date Placeholder 5"/>
          <p:cNvSpPr>
            <a:spLocks noGrp="1"/>
          </p:cNvSpPr>
          <p:nvPr>
            <p:ph type="dt" sz="half" idx="10"/>
          </p:nvPr>
        </p:nvSpPr>
        <p:spPr/>
        <p:txBody>
          <a:bodyPr/>
          <a:lstStyle/>
          <a:p>
            <a:fld id="{14580BD6-EF6B-4196-8093-B6685F19677F}" type="datetime3">
              <a:rPr lang="en-US" smtClean="0"/>
              <a:t>18 July 2024</a:t>
            </a:fld>
            <a:endParaRPr lang="en-US"/>
          </a:p>
        </p:txBody>
      </p:sp>
      <p:sp>
        <p:nvSpPr>
          <p:cNvPr id="8" name="Footer Placeholder 7"/>
          <p:cNvSpPr>
            <a:spLocks noGrp="1"/>
          </p:cNvSpPr>
          <p:nvPr>
            <p:ph type="ftr" sz="quarter" idx="11"/>
          </p:nvPr>
        </p:nvSpPr>
        <p:spPr/>
        <p:txBody>
          <a:bodyPr/>
          <a:lstStyle/>
          <a:p>
            <a:r>
              <a:rPr lang="en-US" dirty="0"/>
              <a:t>Course Teacher: Dr. Md. Rukonuzzaman</a:t>
            </a:r>
          </a:p>
        </p:txBody>
      </p:sp>
      <p:sp>
        <p:nvSpPr>
          <p:cNvPr id="9" name="Slide Number Placeholder 8"/>
          <p:cNvSpPr>
            <a:spLocks noGrp="1"/>
          </p:cNvSpPr>
          <p:nvPr>
            <p:ph type="sldNum" sz="quarter" idx="12"/>
          </p:nvPr>
        </p:nvSpPr>
        <p:spPr/>
        <p:txBody>
          <a:bodyPr/>
          <a:lstStyle/>
          <a:p>
            <a:fld id="{48F63A3B-78C7-47BE-AE5E-E10140E04643}" type="slidenum">
              <a:rPr lang="en-US" smtClean="0"/>
              <a:t>19</a:t>
            </a:fld>
            <a:endParaRPr lang="en-US" dirty="0"/>
          </a:p>
        </p:txBody>
      </p:sp>
      <p:pic>
        <p:nvPicPr>
          <p:cNvPr id="11" name="Picture 10"/>
          <p:cNvPicPr>
            <a:picLocks noChangeAspect="1"/>
          </p:cNvPicPr>
          <p:nvPr/>
        </p:nvPicPr>
        <p:blipFill rotWithShape="1">
          <a:blip r:embed="rId4">
            <a:duotone>
              <a:schemeClr val="accent5">
                <a:shade val="45000"/>
                <a:satMod val="135000"/>
              </a:schemeClr>
              <a:prstClr val="white"/>
            </a:duotone>
          </a:blip>
          <a:srcRect l="5757" t="2380" r="3672" b="2338"/>
          <a:stretch/>
        </p:blipFill>
        <p:spPr>
          <a:xfrm>
            <a:off x="6666657" y="2284222"/>
            <a:ext cx="3738647" cy="5087419"/>
          </a:xfrm>
          <a:prstGeom prst="rect">
            <a:avLst/>
          </a:prstGeom>
        </p:spPr>
      </p:pic>
      <p:pic>
        <p:nvPicPr>
          <p:cNvPr id="12" name="Picture 11"/>
          <p:cNvPicPr>
            <a:picLocks noChangeAspect="1"/>
          </p:cNvPicPr>
          <p:nvPr/>
        </p:nvPicPr>
        <p:blipFill rotWithShape="1">
          <a:blip r:embed="rId5"/>
          <a:srcRect l="8777" t="1442" r="6848" b="2598"/>
          <a:stretch/>
        </p:blipFill>
        <p:spPr>
          <a:xfrm>
            <a:off x="10770237" y="783772"/>
            <a:ext cx="5186685" cy="7029310"/>
          </a:xfrm>
          <a:prstGeom prst="rect">
            <a:avLst/>
          </a:prstGeom>
        </p:spPr>
      </p:pic>
      <p:sp>
        <p:nvSpPr>
          <p:cNvPr id="10" name="TextBox 9"/>
          <p:cNvSpPr txBox="1"/>
          <p:nvPr/>
        </p:nvSpPr>
        <p:spPr>
          <a:xfrm>
            <a:off x="2868290" y="2542575"/>
            <a:ext cx="3249358" cy="400110"/>
          </a:xfrm>
          <a:prstGeom prst="rect">
            <a:avLst/>
          </a:prstGeom>
          <a:noFill/>
        </p:spPr>
        <p:txBody>
          <a:bodyPr wrap="square" rtlCol="0">
            <a:spAutoFit/>
          </a:bodyPr>
          <a:lstStyle/>
          <a:p>
            <a:pPr algn="ctr"/>
            <a:r>
              <a:rPr lang="en-US" sz="2000" b="1" dirty="0">
                <a:solidFill>
                  <a:srgbClr val="7030A0"/>
                </a:solidFill>
              </a:rPr>
              <a:t>Truth Table of XOR gate</a:t>
            </a:r>
          </a:p>
        </p:txBody>
      </p:sp>
    </p:spTree>
    <p:extLst>
      <p:ext uri="{BB962C8B-B14F-4D97-AF65-F5344CB8AC3E}">
        <p14:creationId xmlns:p14="http://schemas.microsoft.com/office/powerpoint/2010/main" val="2270574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duotone>
              <a:schemeClr val="accent2">
                <a:shade val="45000"/>
                <a:satMod val="135000"/>
              </a:schemeClr>
              <a:prstClr val="white"/>
            </a:duotone>
          </a:blip>
          <a:srcRect l="4665" t="3035" r="4206" b="12295"/>
          <a:stretch/>
        </p:blipFill>
        <p:spPr>
          <a:xfrm>
            <a:off x="8229600" y="2085659"/>
            <a:ext cx="7471521" cy="4065760"/>
          </a:xfrm>
          <a:prstGeom prst="rect">
            <a:avLst/>
          </a:prstGeom>
        </p:spPr>
      </p:pic>
      <p:sp>
        <p:nvSpPr>
          <p:cNvPr id="2" name="Title 1">
            <a:extLst>
              <a:ext uri="{FF2B5EF4-FFF2-40B4-BE49-F238E27FC236}">
                <a16:creationId xmlns:a16="http://schemas.microsoft.com/office/drawing/2014/main" id="{D0A01D9A-3785-4AD7-BCCD-9B7AE0C5B906}"/>
              </a:ext>
            </a:extLst>
          </p:cNvPr>
          <p:cNvSpPr>
            <a:spLocks noGrp="1"/>
          </p:cNvSpPr>
          <p:nvPr>
            <p:ph type="title"/>
          </p:nvPr>
        </p:nvSpPr>
        <p:spPr>
          <a:xfrm>
            <a:off x="1541362" y="487612"/>
            <a:ext cx="13967812" cy="948265"/>
          </a:xfrm>
        </p:spPr>
        <p:txBody>
          <a:bodyPr>
            <a:normAutofit/>
          </a:bodyPr>
          <a:lstStyle/>
          <a:p>
            <a:pPr algn="ctr"/>
            <a:r>
              <a:rPr lang="en-US" sz="4000" b="1" dirty="0">
                <a:solidFill>
                  <a:srgbClr val="0000FF"/>
                </a:solidFill>
              </a:rPr>
              <a:t>Design of a Logic Circuit</a:t>
            </a:r>
            <a:endParaRPr lang="en-US" sz="4000" dirty="0">
              <a:solidFill>
                <a:srgbClr val="0000FF"/>
              </a:solidFill>
            </a:endParaRPr>
          </a:p>
        </p:txBody>
      </p:sp>
      <p:sp>
        <p:nvSpPr>
          <p:cNvPr id="5" name="Rectangle 4"/>
          <p:cNvSpPr/>
          <p:nvPr/>
        </p:nvSpPr>
        <p:spPr>
          <a:xfrm>
            <a:off x="646015" y="2327565"/>
            <a:ext cx="7033205" cy="4213141"/>
          </a:xfrm>
          <a:prstGeom prst="rect">
            <a:avLst/>
          </a:prstGeom>
        </p:spPr>
        <p:txBody>
          <a:bodyPr wrap="square">
            <a:spAutoFit/>
          </a:bodyPr>
          <a:lstStyle/>
          <a:p>
            <a:pPr marL="457200" indent="-457200">
              <a:lnSpc>
                <a:spcPct val="125000"/>
              </a:lnSpc>
              <a:buClr>
                <a:srgbClr val="00B050"/>
              </a:buClr>
              <a:buFont typeface="Wingdings" panose="05000000000000000000" pitchFamily="2" charset="2"/>
              <a:buChar char="v"/>
            </a:pPr>
            <a:r>
              <a:rPr lang="en-US" sz="2400" b="1" dirty="0"/>
              <a:t>The logic microoperations manipulate the bits of the operands separately and treat each bit as a binary variable.</a:t>
            </a:r>
          </a:p>
          <a:p>
            <a:pPr marL="457200" indent="-457200">
              <a:lnSpc>
                <a:spcPct val="125000"/>
              </a:lnSpc>
              <a:buClr>
                <a:srgbClr val="00B050"/>
              </a:buClr>
              <a:buFont typeface="Wingdings" panose="05000000000000000000" pitchFamily="2" charset="2"/>
              <a:buChar char="v"/>
            </a:pPr>
            <a:r>
              <a:rPr lang="en-US" sz="2400" b="1" dirty="0"/>
              <a:t>All logic operations can be obtained by means of </a:t>
            </a:r>
            <a:r>
              <a:rPr lang="en-US" sz="2400" b="1" dirty="0">
                <a:solidFill>
                  <a:srgbClr val="00B050"/>
                </a:solidFill>
              </a:rPr>
              <a:t>AND, OR and NOT operations. </a:t>
            </a:r>
          </a:p>
          <a:p>
            <a:pPr marL="457200" indent="-457200">
              <a:lnSpc>
                <a:spcPct val="125000"/>
              </a:lnSpc>
              <a:buClr>
                <a:srgbClr val="00B050"/>
              </a:buClr>
              <a:buFont typeface="Wingdings" panose="05000000000000000000" pitchFamily="2" charset="2"/>
              <a:buChar char="v"/>
            </a:pPr>
            <a:r>
              <a:rPr lang="en-US" sz="2400" b="1" dirty="0"/>
              <a:t>For 3 operations, we need 2 selection variables but 2 selection lines can choose between 4 logic operations and hence XOR operation was also incorporated in the logical circuit.</a:t>
            </a:r>
          </a:p>
        </p:txBody>
      </p:sp>
      <p:sp>
        <p:nvSpPr>
          <p:cNvPr id="6" name="Date Placeholder 5"/>
          <p:cNvSpPr>
            <a:spLocks noGrp="1"/>
          </p:cNvSpPr>
          <p:nvPr>
            <p:ph type="dt" sz="half" idx="10"/>
          </p:nvPr>
        </p:nvSpPr>
        <p:spPr/>
        <p:txBody>
          <a:bodyPr/>
          <a:lstStyle/>
          <a:p>
            <a:fld id="{807219DD-1A8A-484B-A67C-1E18450AFDD5}" type="datetime3">
              <a:rPr lang="en-US" smtClean="0"/>
              <a:t>19 July 2024</a:t>
            </a:fld>
            <a:endParaRPr lang="en-US"/>
          </a:p>
        </p:txBody>
      </p:sp>
      <p:sp>
        <p:nvSpPr>
          <p:cNvPr id="7" name="Footer Placeholder 6"/>
          <p:cNvSpPr>
            <a:spLocks noGrp="1"/>
          </p:cNvSpPr>
          <p:nvPr>
            <p:ph type="ftr" sz="quarter" idx="11"/>
          </p:nvPr>
        </p:nvSpPr>
        <p:spPr/>
        <p:txBody>
          <a:bodyPr/>
          <a:lstStyle/>
          <a:p>
            <a:r>
              <a:rPr lang="en-US" dirty="0"/>
              <a:t>Course Teacher: Dr. Md. Rukonuzzaman</a:t>
            </a:r>
          </a:p>
        </p:txBody>
      </p:sp>
      <p:sp>
        <p:nvSpPr>
          <p:cNvPr id="8" name="Slide Number Placeholder 7"/>
          <p:cNvSpPr>
            <a:spLocks noGrp="1"/>
          </p:cNvSpPr>
          <p:nvPr>
            <p:ph type="sldNum" sz="quarter" idx="12"/>
          </p:nvPr>
        </p:nvSpPr>
        <p:spPr/>
        <p:txBody>
          <a:bodyPr/>
          <a:lstStyle/>
          <a:p>
            <a:fld id="{48F63A3B-78C7-47BE-AE5E-E10140E04643}" type="slidenum">
              <a:rPr lang="en-US" smtClean="0"/>
              <a:t>20</a:t>
            </a:fld>
            <a:endParaRPr lang="en-US" dirty="0"/>
          </a:p>
        </p:txBody>
      </p:sp>
      <p:sp>
        <p:nvSpPr>
          <p:cNvPr id="4" name="TextBox 3">
            <a:extLst>
              <a:ext uri="{FF2B5EF4-FFF2-40B4-BE49-F238E27FC236}">
                <a16:creationId xmlns:a16="http://schemas.microsoft.com/office/drawing/2014/main" id="{99C3C170-C4DF-4B98-0EDF-5D75E65D6F31}"/>
              </a:ext>
            </a:extLst>
          </p:cNvPr>
          <p:cNvSpPr txBox="1"/>
          <p:nvPr/>
        </p:nvSpPr>
        <p:spPr>
          <a:xfrm>
            <a:off x="8770394" y="6598483"/>
            <a:ext cx="5768439" cy="437043"/>
          </a:xfrm>
          <a:prstGeom prst="rect">
            <a:avLst/>
          </a:prstGeom>
          <a:noFill/>
        </p:spPr>
        <p:txBody>
          <a:bodyPr wrap="square">
            <a:spAutoFit/>
          </a:bodyPr>
          <a:lstStyle/>
          <a:p>
            <a:pPr algn="ctr">
              <a:lnSpc>
                <a:spcPct val="120000"/>
              </a:lnSpc>
              <a:spcBef>
                <a:spcPts val="600"/>
              </a:spcBef>
              <a:spcAft>
                <a:spcPts val="600"/>
              </a:spcAft>
              <a:buClr>
                <a:srgbClr val="00B050"/>
              </a:buClr>
            </a:pPr>
            <a:r>
              <a:rPr lang="en-US" sz="2000" b="1" dirty="0">
                <a:solidFill>
                  <a:srgbClr val="00B050"/>
                </a:solidFill>
              </a:rPr>
              <a:t>Fig 9-11: One stage of logic circuit</a:t>
            </a:r>
          </a:p>
        </p:txBody>
      </p:sp>
    </p:spTree>
    <p:extLst>
      <p:ext uri="{BB962C8B-B14F-4D97-AF65-F5344CB8AC3E}">
        <p14:creationId xmlns:p14="http://schemas.microsoft.com/office/powerpoint/2010/main" val="163841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EBBA6-AE03-4C4F-B76B-3E3E1F82758B}"/>
              </a:ext>
            </a:extLst>
          </p:cNvPr>
          <p:cNvSpPr>
            <a:spLocks noGrp="1"/>
          </p:cNvSpPr>
          <p:nvPr>
            <p:ph type="title"/>
          </p:nvPr>
        </p:nvSpPr>
        <p:spPr>
          <a:xfrm>
            <a:off x="698269" y="475012"/>
            <a:ext cx="14756078" cy="923087"/>
          </a:xfrm>
        </p:spPr>
        <p:txBody>
          <a:bodyPr>
            <a:normAutofit/>
          </a:bodyPr>
          <a:lstStyle/>
          <a:p>
            <a:pPr algn="ctr"/>
            <a:r>
              <a:rPr lang="en-US" sz="4000" b="1" dirty="0">
                <a:solidFill>
                  <a:srgbClr val="0000FF"/>
                </a:solidFill>
              </a:rPr>
              <a:t>Combining Logic and Arithmetic Circuits</a:t>
            </a:r>
          </a:p>
        </p:txBody>
      </p:sp>
      <p:sp>
        <p:nvSpPr>
          <p:cNvPr id="5" name="Rectangle 4"/>
          <p:cNvSpPr/>
          <p:nvPr/>
        </p:nvSpPr>
        <p:spPr>
          <a:xfrm>
            <a:off x="698269" y="2129684"/>
            <a:ext cx="6636568" cy="4359335"/>
          </a:xfrm>
          <a:prstGeom prst="rect">
            <a:avLst/>
          </a:prstGeom>
        </p:spPr>
        <p:txBody>
          <a:bodyPr wrap="square">
            <a:spAutoFit/>
          </a:bodyPr>
          <a:lstStyle/>
          <a:p>
            <a:pPr marL="457200" indent="-457200">
              <a:lnSpc>
                <a:spcPct val="120000"/>
              </a:lnSpc>
              <a:spcBef>
                <a:spcPts val="600"/>
              </a:spcBef>
              <a:spcAft>
                <a:spcPts val="600"/>
              </a:spcAft>
              <a:buClr>
                <a:srgbClr val="00B050"/>
              </a:buClr>
              <a:buFont typeface="Wingdings" panose="05000000000000000000" pitchFamily="2" charset="2"/>
              <a:buChar char="v"/>
            </a:pPr>
            <a:r>
              <a:rPr lang="en-US" sz="2400" b="1" dirty="0"/>
              <a:t>The logic circuit can be combined with the arithmetic circuit to produce one arithmetic logic unit.</a:t>
            </a:r>
          </a:p>
          <a:p>
            <a:pPr marL="457200" indent="-457200">
              <a:lnSpc>
                <a:spcPct val="120000"/>
              </a:lnSpc>
              <a:spcBef>
                <a:spcPts val="600"/>
              </a:spcBef>
              <a:spcAft>
                <a:spcPts val="600"/>
              </a:spcAft>
              <a:buClr>
                <a:srgbClr val="00B050"/>
              </a:buClr>
              <a:buFont typeface="Wingdings" panose="05000000000000000000" pitchFamily="2" charset="2"/>
              <a:buChar char="v"/>
            </a:pPr>
            <a:r>
              <a:rPr lang="en-US" sz="2400" b="1" dirty="0"/>
              <a:t>Selection variables s</a:t>
            </a:r>
            <a:r>
              <a:rPr lang="en-US" sz="2400" b="1" baseline="-25000" dirty="0"/>
              <a:t>1</a:t>
            </a:r>
            <a:r>
              <a:rPr lang="en-US" sz="2400" b="1" dirty="0"/>
              <a:t> and s</a:t>
            </a:r>
            <a:r>
              <a:rPr lang="en-US" sz="2400" b="1" baseline="-25000" dirty="0"/>
              <a:t>0</a:t>
            </a:r>
            <a:r>
              <a:rPr lang="en-US" sz="2400" b="1" dirty="0"/>
              <a:t> can be made common to both sections provided a third variable s</a:t>
            </a:r>
            <a:r>
              <a:rPr lang="en-US" sz="2400" b="1" baseline="-25000" dirty="0"/>
              <a:t>2</a:t>
            </a:r>
            <a:r>
              <a:rPr lang="en-US" sz="2400" b="1" dirty="0"/>
              <a:t> is used to differentiate between the two.</a:t>
            </a:r>
          </a:p>
          <a:p>
            <a:pPr marL="457200" indent="-457200">
              <a:lnSpc>
                <a:spcPct val="120000"/>
              </a:lnSpc>
              <a:spcBef>
                <a:spcPts val="600"/>
              </a:spcBef>
              <a:spcAft>
                <a:spcPts val="600"/>
              </a:spcAft>
              <a:buClr>
                <a:srgbClr val="00B050"/>
              </a:buClr>
              <a:buFont typeface="Wingdings" panose="05000000000000000000" pitchFamily="2" charset="2"/>
              <a:buChar char="v"/>
            </a:pPr>
            <a:r>
              <a:rPr lang="en-US" sz="2400" b="1" dirty="0"/>
              <a:t>This third variable s</a:t>
            </a:r>
            <a:r>
              <a:rPr lang="en-US" sz="2400" b="1" baseline="-25000" dirty="0"/>
              <a:t>2 </a:t>
            </a:r>
            <a:r>
              <a:rPr lang="en-US" sz="2400" b="1" dirty="0"/>
              <a:t>is the select input to a 2:1 multiplexer.</a:t>
            </a:r>
          </a:p>
        </p:txBody>
      </p:sp>
      <p:sp>
        <p:nvSpPr>
          <p:cNvPr id="6" name="Date Placeholder 5"/>
          <p:cNvSpPr>
            <a:spLocks noGrp="1"/>
          </p:cNvSpPr>
          <p:nvPr>
            <p:ph type="dt" sz="half" idx="10"/>
          </p:nvPr>
        </p:nvSpPr>
        <p:spPr/>
        <p:txBody>
          <a:bodyPr/>
          <a:lstStyle/>
          <a:p>
            <a:fld id="{513DA533-2B5C-49E3-A400-E4E7FC542746}" type="datetime3">
              <a:rPr lang="en-US" smtClean="0"/>
              <a:t>18 July 2024</a:t>
            </a:fld>
            <a:endParaRPr lang="en-US"/>
          </a:p>
        </p:txBody>
      </p:sp>
      <p:sp>
        <p:nvSpPr>
          <p:cNvPr id="7" name="Footer Placeholder 6"/>
          <p:cNvSpPr>
            <a:spLocks noGrp="1"/>
          </p:cNvSpPr>
          <p:nvPr>
            <p:ph type="ftr" sz="quarter" idx="11"/>
          </p:nvPr>
        </p:nvSpPr>
        <p:spPr/>
        <p:txBody>
          <a:bodyPr/>
          <a:lstStyle/>
          <a:p>
            <a:r>
              <a:rPr lang="en-US" dirty="0"/>
              <a:t>Course Teacher: Dr. Md. Rukonuzzaman</a:t>
            </a:r>
          </a:p>
        </p:txBody>
      </p:sp>
      <p:sp>
        <p:nvSpPr>
          <p:cNvPr id="8" name="Slide Number Placeholder 7"/>
          <p:cNvSpPr>
            <a:spLocks noGrp="1"/>
          </p:cNvSpPr>
          <p:nvPr>
            <p:ph type="sldNum" sz="quarter" idx="12"/>
          </p:nvPr>
        </p:nvSpPr>
        <p:spPr/>
        <p:txBody>
          <a:bodyPr/>
          <a:lstStyle/>
          <a:p>
            <a:fld id="{48F63A3B-78C7-47BE-AE5E-E10140E04643}" type="slidenum">
              <a:rPr lang="en-US" smtClean="0"/>
              <a:t>21</a:t>
            </a:fld>
            <a:endParaRPr lang="en-US" dirty="0"/>
          </a:p>
        </p:txBody>
      </p:sp>
      <p:pic>
        <p:nvPicPr>
          <p:cNvPr id="9" name="Picture 8"/>
          <p:cNvPicPr>
            <a:picLocks noChangeAspect="1"/>
          </p:cNvPicPr>
          <p:nvPr/>
        </p:nvPicPr>
        <p:blipFill rotWithShape="1">
          <a:blip r:embed="rId2">
            <a:duotone>
              <a:schemeClr val="accent2">
                <a:shade val="45000"/>
                <a:satMod val="135000"/>
              </a:schemeClr>
              <a:prstClr val="white"/>
            </a:duotone>
          </a:blip>
          <a:srcRect l="3847" t="3103" r="3028" b="11626"/>
          <a:stretch/>
        </p:blipFill>
        <p:spPr>
          <a:xfrm>
            <a:off x="7754586" y="1855015"/>
            <a:ext cx="7699761" cy="4788165"/>
          </a:xfrm>
          <a:prstGeom prst="rect">
            <a:avLst/>
          </a:prstGeom>
        </p:spPr>
      </p:pic>
      <p:sp>
        <p:nvSpPr>
          <p:cNvPr id="10" name="TextBox 9">
            <a:extLst>
              <a:ext uri="{FF2B5EF4-FFF2-40B4-BE49-F238E27FC236}">
                <a16:creationId xmlns:a16="http://schemas.microsoft.com/office/drawing/2014/main" id="{13A2D8D7-C9C2-05C2-7E95-0C57DC330540}"/>
              </a:ext>
            </a:extLst>
          </p:cNvPr>
          <p:cNvSpPr txBox="1"/>
          <p:nvPr/>
        </p:nvSpPr>
        <p:spPr>
          <a:xfrm>
            <a:off x="8612579" y="6643180"/>
            <a:ext cx="5768439" cy="437043"/>
          </a:xfrm>
          <a:prstGeom prst="rect">
            <a:avLst/>
          </a:prstGeom>
          <a:noFill/>
        </p:spPr>
        <p:txBody>
          <a:bodyPr wrap="square">
            <a:spAutoFit/>
          </a:bodyPr>
          <a:lstStyle/>
          <a:p>
            <a:pPr algn="ctr">
              <a:lnSpc>
                <a:spcPct val="120000"/>
              </a:lnSpc>
              <a:spcBef>
                <a:spcPts val="600"/>
              </a:spcBef>
              <a:spcAft>
                <a:spcPts val="600"/>
              </a:spcAft>
              <a:buClr>
                <a:srgbClr val="00B050"/>
              </a:buClr>
            </a:pPr>
            <a:r>
              <a:rPr lang="en-US" sz="2000" b="1" dirty="0">
                <a:solidFill>
                  <a:srgbClr val="00B050"/>
                </a:solidFill>
              </a:rPr>
              <a:t>Fig: Combining logic and arithmetic circuits</a:t>
            </a:r>
          </a:p>
        </p:txBody>
      </p:sp>
    </p:spTree>
    <p:extLst>
      <p:ext uri="{BB962C8B-B14F-4D97-AF65-F5344CB8AC3E}">
        <p14:creationId xmlns:p14="http://schemas.microsoft.com/office/powerpoint/2010/main" val="387960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rotWithShape="1">
          <a:blip r:embed="rId2">
            <a:duotone>
              <a:schemeClr val="accent2">
                <a:shade val="45000"/>
                <a:satMod val="135000"/>
              </a:schemeClr>
              <a:prstClr val="white"/>
            </a:duotone>
          </a:blip>
          <a:srcRect l="3847" t="3102" r="3028" b="12455"/>
          <a:stretch/>
        </p:blipFill>
        <p:spPr>
          <a:xfrm>
            <a:off x="9492533" y="1790486"/>
            <a:ext cx="6307990" cy="4040569"/>
          </a:xfrm>
          <a:prstGeom prst="rect">
            <a:avLst/>
          </a:prstGeom>
        </p:spPr>
      </p:pic>
      <p:sp>
        <p:nvSpPr>
          <p:cNvPr id="2" name="Title 1">
            <a:extLst>
              <a:ext uri="{FF2B5EF4-FFF2-40B4-BE49-F238E27FC236}">
                <a16:creationId xmlns:a16="http://schemas.microsoft.com/office/drawing/2014/main" id="{629A8BB8-CCAD-4BB1-8B21-CA2876DE0E98}"/>
              </a:ext>
            </a:extLst>
          </p:cNvPr>
          <p:cNvSpPr>
            <a:spLocks noGrp="1"/>
          </p:cNvSpPr>
          <p:nvPr>
            <p:ph type="title"/>
          </p:nvPr>
        </p:nvSpPr>
        <p:spPr>
          <a:xfrm>
            <a:off x="1313411" y="188766"/>
            <a:ext cx="13882255" cy="1140588"/>
          </a:xfrm>
        </p:spPr>
        <p:txBody>
          <a:bodyPr>
            <a:normAutofit/>
          </a:bodyPr>
          <a:lstStyle/>
          <a:p>
            <a:pPr algn="ctr"/>
            <a:r>
              <a:rPr lang="en-US" sz="4000" b="1" dirty="0">
                <a:solidFill>
                  <a:srgbClr val="0000FF"/>
                </a:solidFill>
              </a:rPr>
              <a:t>Logic Operations in One Stage of Arithmetic Circuit</a:t>
            </a:r>
          </a:p>
        </p:txBody>
      </p:sp>
      <p:pic>
        <p:nvPicPr>
          <p:cNvPr id="4" name="Content Placeholder 3">
            <a:extLst>
              <a:ext uri="{FF2B5EF4-FFF2-40B4-BE49-F238E27FC236}">
                <a16:creationId xmlns:a16="http://schemas.microsoft.com/office/drawing/2014/main" id="{27E109C2-2C1B-4DE7-9CB1-E7209FCC520C}"/>
              </a:ext>
            </a:extLst>
          </p:cNvPr>
          <p:cNvPicPr>
            <a:picLocks noGrp="1" noChangeAspect="1"/>
          </p:cNvPicPr>
          <p:nvPr>
            <p:ph idx="1"/>
          </p:nvPr>
        </p:nvPicPr>
        <p:blipFill rotWithShape="1">
          <a:blip r:embed="rId3">
            <a:duotone>
              <a:prstClr val="black"/>
              <a:schemeClr val="accent6">
                <a:tint val="45000"/>
                <a:satMod val="400000"/>
              </a:schemeClr>
            </a:duotone>
          </a:blip>
          <a:srcRect l="3516" t="3434" r="3180" b="4367"/>
          <a:stretch/>
        </p:blipFill>
        <p:spPr>
          <a:xfrm>
            <a:off x="860816" y="1850473"/>
            <a:ext cx="7551664" cy="3017983"/>
          </a:xfrm>
          <a:prstGeom prst="rect">
            <a:avLst/>
          </a:prstGeom>
        </p:spPr>
      </p:pic>
      <p:sp>
        <p:nvSpPr>
          <p:cNvPr id="3" name="TextBox 2">
            <a:extLst>
              <a:ext uri="{FF2B5EF4-FFF2-40B4-BE49-F238E27FC236}">
                <a16:creationId xmlns:a16="http://schemas.microsoft.com/office/drawing/2014/main" id="{AF296420-6C5C-4640-9738-9991B81D0F21}"/>
              </a:ext>
            </a:extLst>
          </p:cNvPr>
          <p:cNvSpPr txBox="1"/>
          <p:nvPr/>
        </p:nvSpPr>
        <p:spPr>
          <a:xfrm>
            <a:off x="1439522" y="1483571"/>
            <a:ext cx="6394251" cy="400110"/>
          </a:xfrm>
          <a:prstGeom prst="rect">
            <a:avLst/>
          </a:prstGeom>
          <a:noFill/>
        </p:spPr>
        <p:txBody>
          <a:bodyPr wrap="none" rtlCol="0">
            <a:spAutoFit/>
          </a:bodyPr>
          <a:lstStyle/>
          <a:p>
            <a:r>
              <a:rPr lang="en-US" sz="2000" b="1" dirty="0"/>
              <a:t>Table 9-3 Logic operations in one state of arithmetic circuit</a:t>
            </a:r>
          </a:p>
        </p:txBody>
      </p:sp>
      <p:sp>
        <p:nvSpPr>
          <p:cNvPr id="6" name="TextBox 5"/>
          <p:cNvSpPr txBox="1"/>
          <p:nvPr/>
        </p:nvSpPr>
        <p:spPr>
          <a:xfrm>
            <a:off x="6894620" y="3084643"/>
            <a:ext cx="598517" cy="683264"/>
          </a:xfrm>
          <a:prstGeom prst="rect">
            <a:avLst/>
          </a:prstGeom>
          <a:noFill/>
        </p:spPr>
        <p:txBody>
          <a:bodyPr wrap="square" rtlCol="0">
            <a:spAutoFit/>
          </a:bodyPr>
          <a:lstStyle/>
          <a:p>
            <a:r>
              <a:rPr lang="en-US" sz="3840" b="1" dirty="0">
                <a:solidFill>
                  <a:srgbClr val="FF0000"/>
                </a:solidFill>
                <a:latin typeface="Times New Roman" panose="02020603050405020304" pitchFamily="18" charset="0"/>
                <a:cs typeface="Times New Roman" panose="02020603050405020304" pitchFamily="18" charset="0"/>
              </a:rPr>
              <a:t>?</a:t>
            </a:r>
          </a:p>
        </p:txBody>
      </p:sp>
      <p:sp>
        <p:nvSpPr>
          <p:cNvPr id="7" name="TextBox 6"/>
          <p:cNvSpPr txBox="1"/>
          <p:nvPr/>
        </p:nvSpPr>
        <p:spPr>
          <a:xfrm>
            <a:off x="6906495" y="3774383"/>
            <a:ext cx="598517" cy="683264"/>
          </a:xfrm>
          <a:prstGeom prst="rect">
            <a:avLst/>
          </a:prstGeom>
          <a:noFill/>
        </p:spPr>
        <p:txBody>
          <a:bodyPr wrap="square" rtlCol="0">
            <a:spAutoFit/>
          </a:bodyPr>
          <a:lstStyle/>
          <a:p>
            <a:r>
              <a:rPr lang="en-US" sz="3840" b="1" dirty="0">
                <a:solidFill>
                  <a:srgbClr val="FF0000"/>
                </a:solidFill>
                <a:latin typeface="Times New Roman" panose="02020603050405020304" pitchFamily="18" charset="0"/>
                <a:cs typeface="Times New Roman" panose="02020603050405020304" pitchFamily="18" charset="0"/>
              </a:rPr>
              <a:t>?</a:t>
            </a:r>
          </a:p>
        </p:txBody>
      </p:sp>
      <p:sp>
        <p:nvSpPr>
          <p:cNvPr id="8" name="TextBox 7"/>
          <p:cNvSpPr txBox="1"/>
          <p:nvPr/>
        </p:nvSpPr>
        <p:spPr>
          <a:xfrm>
            <a:off x="736270" y="4978766"/>
            <a:ext cx="7766462" cy="1200329"/>
          </a:xfrm>
          <a:prstGeom prst="rect">
            <a:avLst/>
          </a:prstGeom>
          <a:noFill/>
        </p:spPr>
        <p:txBody>
          <a:bodyPr wrap="square" rtlCol="0">
            <a:spAutoFit/>
          </a:bodyPr>
          <a:lstStyle/>
          <a:p>
            <a:r>
              <a:rPr lang="en-US" sz="2400" dirty="0"/>
              <a:t>XNOR gate gives an output “1” when its inputs are “</a:t>
            </a:r>
            <a:r>
              <a:rPr lang="en-US" sz="2400" i="1" dirty="0"/>
              <a:t>logically equal</a:t>
            </a:r>
            <a:r>
              <a:rPr lang="en-US" sz="2400" dirty="0"/>
              <a:t>” or “</a:t>
            </a:r>
            <a:r>
              <a:rPr lang="en-US" sz="2400" i="1" dirty="0"/>
              <a:t>equivalent</a:t>
            </a:r>
            <a:r>
              <a:rPr lang="en-US" sz="2400" dirty="0"/>
              <a:t>” to each other, which is why an </a:t>
            </a:r>
            <a:r>
              <a:rPr lang="en-US" sz="2400" b="1" dirty="0"/>
              <a:t>Exclusive-NOR</a:t>
            </a:r>
            <a:r>
              <a:rPr lang="en-US" sz="2400" dirty="0"/>
              <a:t> gate is sometimes called an </a:t>
            </a:r>
            <a:r>
              <a:rPr lang="en-US" sz="2400" b="1" dirty="0"/>
              <a:t>Equivalence Gate</a:t>
            </a:r>
            <a:r>
              <a:rPr lang="en-US" sz="2400" dirty="0"/>
              <a:t>.</a:t>
            </a:r>
          </a:p>
        </p:txBody>
      </p:sp>
      <p:graphicFrame>
        <p:nvGraphicFramePr>
          <p:cNvPr id="9" name="Table 8"/>
          <p:cNvGraphicFramePr>
            <a:graphicFrameLocks noGrp="1"/>
          </p:cNvGraphicFramePr>
          <p:nvPr>
            <p:extLst>
              <p:ext uri="{D42A27DB-BD31-4B8C-83A1-F6EECF244321}">
                <p14:modId xmlns:p14="http://schemas.microsoft.com/office/powerpoint/2010/main" val="4153370147"/>
              </p:ext>
            </p:extLst>
          </p:nvPr>
        </p:nvGraphicFramePr>
        <p:xfrm>
          <a:off x="2111242" y="6379127"/>
          <a:ext cx="4355871" cy="1463040"/>
        </p:xfrm>
        <a:graphic>
          <a:graphicData uri="http://schemas.openxmlformats.org/drawingml/2006/table">
            <a:tbl>
              <a:tblPr>
                <a:tableStyleId>{ED083AE6-46FA-4A59-8FB0-9F97EB10719F}</a:tableStyleId>
              </a:tblPr>
              <a:tblGrid>
                <a:gridCol w="1162582">
                  <a:extLst>
                    <a:ext uri="{9D8B030D-6E8A-4147-A177-3AD203B41FA5}">
                      <a16:colId xmlns:a16="http://schemas.microsoft.com/office/drawing/2014/main" val="1167010717"/>
                    </a:ext>
                  </a:extLst>
                </a:gridCol>
                <a:gridCol w="1162582">
                  <a:extLst>
                    <a:ext uri="{9D8B030D-6E8A-4147-A177-3AD203B41FA5}">
                      <a16:colId xmlns:a16="http://schemas.microsoft.com/office/drawing/2014/main" val="874720121"/>
                    </a:ext>
                  </a:extLst>
                </a:gridCol>
                <a:gridCol w="2030707">
                  <a:extLst>
                    <a:ext uri="{9D8B030D-6E8A-4147-A177-3AD203B41FA5}">
                      <a16:colId xmlns:a16="http://schemas.microsoft.com/office/drawing/2014/main" val="4005369820"/>
                    </a:ext>
                  </a:extLst>
                </a:gridCol>
              </a:tblGrid>
              <a:tr h="365760">
                <a:tc gridSpan="2">
                  <a:txBody>
                    <a:bodyPr/>
                    <a:lstStyle/>
                    <a:p>
                      <a:pPr algn="ctr"/>
                      <a:r>
                        <a:rPr lang="en-US" sz="2000" b="1" dirty="0">
                          <a:solidFill>
                            <a:srgbClr val="FF0000"/>
                          </a:solidFill>
                          <a:effectLst/>
                          <a:latin typeface="Times New Roman" panose="02020603050405020304" pitchFamily="18" charset="0"/>
                          <a:cs typeface="Times New Roman" panose="02020603050405020304" pitchFamily="18" charset="0"/>
                        </a:rPr>
                        <a:t>Input</a:t>
                      </a:r>
                    </a:p>
                  </a:txBody>
                  <a:tcPr marL="109728" marR="109728" marT="0" marB="0" anchor="ctr"/>
                </a:tc>
                <a:tc hMerge="1">
                  <a:txBody>
                    <a:bodyPr/>
                    <a:lstStyle/>
                    <a:p>
                      <a:endParaRPr lang="en-US"/>
                    </a:p>
                  </a:txBody>
                  <a:tcPr/>
                </a:tc>
                <a:tc>
                  <a:txBody>
                    <a:bodyPr/>
                    <a:lstStyle/>
                    <a:p>
                      <a:pPr algn="ctr"/>
                      <a:r>
                        <a:rPr lang="en-US" sz="2000" b="1" dirty="0">
                          <a:solidFill>
                            <a:srgbClr val="FF0000"/>
                          </a:solidFill>
                          <a:latin typeface="Times New Roman" panose="02020603050405020304" pitchFamily="18" charset="0"/>
                          <a:cs typeface="Times New Roman" panose="02020603050405020304" pitchFamily="18" charset="0"/>
                        </a:rPr>
                        <a:t>Output</a:t>
                      </a:r>
                    </a:p>
                  </a:txBody>
                  <a:tcPr marL="109728" marR="109728" marT="0" marB="0" anchor="ctr"/>
                </a:tc>
                <a:extLst>
                  <a:ext uri="{0D108BD9-81ED-4DB2-BD59-A6C34878D82A}">
                    <a16:rowId xmlns:a16="http://schemas.microsoft.com/office/drawing/2014/main" val="3246559988"/>
                  </a:ext>
                </a:extLst>
              </a:tr>
              <a:tr h="365760">
                <a:tc>
                  <a:txBody>
                    <a:bodyPr/>
                    <a:lstStyle/>
                    <a:p>
                      <a:pPr algn="ctr"/>
                      <a:r>
                        <a:rPr lang="en-US" sz="2000" b="1" i="1" dirty="0">
                          <a:effectLst/>
                          <a:latin typeface="Times New Roman" panose="02020603050405020304" pitchFamily="18" charset="0"/>
                          <a:cs typeface="Times New Roman" panose="02020603050405020304" pitchFamily="18" charset="0"/>
                        </a:rPr>
                        <a:t>A</a:t>
                      </a:r>
                    </a:p>
                  </a:txBody>
                  <a:tcPr marL="109728" marR="109728" marT="0" marB="0" anchor="ctr"/>
                </a:tc>
                <a:tc>
                  <a:txBody>
                    <a:bodyPr/>
                    <a:lstStyle/>
                    <a:p>
                      <a:pPr algn="ctr"/>
                      <a:r>
                        <a:rPr lang="en-US" sz="2000" b="1" i="1" dirty="0">
                          <a:latin typeface="Times New Roman" panose="02020603050405020304" pitchFamily="18" charset="0"/>
                          <a:cs typeface="Times New Roman" panose="02020603050405020304" pitchFamily="18" charset="0"/>
                        </a:rPr>
                        <a:t>B</a:t>
                      </a:r>
                    </a:p>
                  </a:txBody>
                  <a:tcPr marL="109728" marR="109728" marT="0" marB="0" anchor="ctr"/>
                </a:tc>
                <a:tc>
                  <a:txBody>
                    <a:bodyPr/>
                    <a:lstStyle/>
                    <a:p>
                      <a:pPr algn="ctr"/>
                      <a:r>
                        <a:rPr lang="en-US" sz="2000" b="1" i="1"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XNOR </a:t>
                      </a:r>
                      <a:r>
                        <a:rPr lang="en-US" sz="2000" b="1" i="1" dirty="0">
                          <a:latin typeface="Times New Roman" panose="02020603050405020304" pitchFamily="18" charset="0"/>
                          <a:cs typeface="Times New Roman" panose="02020603050405020304" pitchFamily="18" charset="0"/>
                        </a:rPr>
                        <a:t>B</a:t>
                      </a:r>
                    </a:p>
                  </a:txBody>
                  <a:tcPr marL="109728" marR="109728" marT="0" marB="0" anchor="ctr"/>
                </a:tc>
                <a:extLst>
                  <a:ext uri="{0D108BD9-81ED-4DB2-BD59-A6C34878D82A}">
                    <a16:rowId xmlns:a16="http://schemas.microsoft.com/office/drawing/2014/main" val="3112467801"/>
                  </a:ext>
                </a:extLst>
              </a:tr>
              <a:tr h="365760">
                <a:tc>
                  <a:txBody>
                    <a:bodyPr/>
                    <a:lstStyle/>
                    <a:p>
                      <a:pPr algn="ctr"/>
                      <a:r>
                        <a:rPr lang="en-US" sz="2000" b="1">
                          <a:effectLst/>
                          <a:latin typeface="Times New Roman" panose="02020603050405020304" pitchFamily="18" charset="0"/>
                          <a:cs typeface="Times New Roman" panose="02020603050405020304" pitchFamily="18" charset="0"/>
                        </a:rPr>
                        <a:t>1</a:t>
                      </a:r>
                    </a:p>
                  </a:txBody>
                  <a:tcPr marL="109728" marR="109728" marT="0" marB="0" anchor="ctr"/>
                </a:tc>
                <a:tc>
                  <a:txBody>
                    <a:bodyPr/>
                    <a:lstStyle/>
                    <a:p>
                      <a:pPr algn="ctr"/>
                      <a:r>
                        <a:rPr lang="en-US" sz="2000" b="1" dirty="0">
                          <a:latin typeface="Times New Roman" panose="02020603050405020304" pitchFamily="18" charset="0"/>
                          <a:cs typeface="Times New Roman" panose="02020603050405020304" pitchFamily="18" charset="0"/>
                        </a:rPr>
                        <a:t>0</a:t>
                      </a:r>
                    </a:p>
                  </a:txBody>
                  <a:tcPr marL="109728" marR="109728" marT="0" marB="0" anchor="ctr"/>
                </a:tc>
                <a:tc>
                  <a:txBody>
                    <a:bodyPr/>
                    <a:lstStyle/>
                    <a:p>
                      <a:pPr algn="ctr"/>
                      <a:r>
                        <a:rPr lang="en-US" sz="2000" b="1">
                          <a:latin typeface="Times New Roman" panose="02020603050405020304" pitchFamily="18" charset="0"/>
                          <a:cs typeface="Times New Roman" panose="02020603050405020304" pitchFamily="18" charset="0"/>
                        </a:rPr>
                        <a:t>0</a:t>
                      </a:r>
                    </a:p>
                  </a:txBody>
                  <a:tcPr marL="109728" marR="109728" marT="0" marB="0" anchor="ctr"/>
                </a:tc>
                <a:extLst>
                  <a:ext uri="{0D108BD9-81ED-4DB2-BD59-A6C34878D82A}">
                    <a16:rowId xmlns:a16="http://schemas.microsoft.com/office/drawing/2014/main" val="1237000980"/>
                  </a:ext>
                </a:extLst>
              </a:tr>
              <a:tr h="365760">
                <a:tc>
                  <a:txBody>
                    <a:bodyPr/>
                    <a:lstStyle/>
                    <a:p>
                      <a:pPr algn="ctr"/>
                      <a:r>
                        <a:rPr lang="en-US" sz="2000" b="1">
                          <a:effectLst/>
                          <a:latin typeface="Times New Roman" panose="02020603050405020304" pitchFamily="18" charset="0"/>
                          <a:cs typeface="Times New Roman" panose="02020603050405020304" pitchFamily="18" charset="0"/>
                        </a:rPr>
                        <a:t>1</a:t>
                      </a:r>
                    </a:p>
                  </a:txBody>
                  <a:tcPr marL="109728" marR="109728" marT="0" marB="0" anchor="ctr"/>
                </a:tc>
                <a:tc>
                  <a:txBody>
                    <a:bodyPr/>
                    <a:lstStyle/>
                    <a:p>
                      <a:pPr algn="ctr"/>
                      <a:r>
                        <a:rPr lang="en-US" sz="2000" b="1" dirty="0">
                          <a:latin typeface="Times New Roman" panose="02020603050405020304" pitchFamily="18" charset="0"/>
                          <a:cs typeface="Times New Roman" panose="02020603050405020304" pitchFamily="18" charset="0"/>
                        </a:rPr>
                        <a:t>1</a:t>
                      </a:r>
                    </a:p>
                  </a:txBody>
                  <a:tcPr marL="109728" marR="109728" marT="0" marB="0" anchor="ctr"/>
                </a:tc>
                <a:tc>
                  <a:txBody>
                    <a:bodyPr/>
                    <a:lstStyle/>
                    <a:p>
                      <a:pPr algn="ctr"/>
                      <a:r>
                        <a:rPr lang="en-US" sz="2000" b="1" dirty="0">
                          <a:latin typeface="Times New Roman" panose="02020603050405020304" pitchFamily="18" charset="0"/>
                          <a:cs typeface="Times New Roman" panose="02020603050405020304" pitchFamily="18" charset="0"/>
                        </a:rPr>
                        <a:t>1</a:t>
                      </a:r>
                    </a:p>
                  </a:txBody>
                  <a:tcPr marL="109728" marR="109728" marT="0" marB="0" anchor="ctr"/>
                </a:tc>
                <a:extLst>
                  <a:ext uri="{0D108BD9-81ED-4DB2-BD59-A6C34878D82A}">
                    <a16:rowId xmlns:a16="http://schemas.microsoft.com/office/drawing/2014/main" val="267477848"/>
                  </a:ext>
                </a:extLst>
              </a:tr>
            </a:tbl>
          </a:graphicData>
        </a:graphic>
      </p:graphicFrame>
      <p:sp>
        <p:nvSpPr>
          <p:cNvPr id="10" name="Date Placeholder 9"/>
          <p:cNvSpPr>
            <a:spLocks noGrp="1"/>
          </p:cNvSpPr>
          <p:nvPr>
            <p:ph type="dt" sz="half" idx="10"/>
          </p:nvPr>
        </p:nvSpPr>
        <p:spPr/>
        <p:txBody>
          <a:bodyPr/>
          <a:lstStyle/>
          <a:p>
            <a:fld id="{284A80EF-67DE-44AD-8B91-BCC84424CDBB}" type="datetime3">
              <a:rPr lang="en-US" smtClean="0"/>
              <a:t>19 July 2024</a:t>
            </a:fld>
            <a:endParaRPr lang="en-US"/>
          </a:p>
        </p:txBody>
      </p:sp>
      <p:sp>
        <p:nvSpPr>
          <p:cNvPr id="11" name="Footer Placeholder 10"/>
          <p:cNvSpPr>
            <a:spLocks noGrp="1"/>
          </p:cNvSpPr>
          <p:nvPr>
            <p:ph type="ftr" sz="quarter" idx="11"/>
          </p:nvPr>
        </p:nvSpPr>
        <p:spPr/>
        <p:txBody>
          <a:bodyPr/>
          <a:lstStyle/>
          <a:p>
            <a:r>
              <a:rPr lang="en-US" dirty="0"/>
              <a:t>Course Teacher: Dr. Md. Rukonuzzaman</a:t>
            </a:r>
          </a:p>
        </p:txBody>
      </p:sp>
      <p:sp>
        <p:nvSpPr>
          <p:cNvPr id="12" name="Slide Number Placeholder 11"/>
          <p:cNvSpPr>
            <a:spLocks noGrp="1"/>
          </p:cNvSpPr>
          <p:nvPr>
            <p:ph type="sldNum" sz="quarter" idx="12"/>
          </p:nvPr>
        </p:nvSpPr>
        <p:spPr/>
        <p:txBody>
          <a:bodyPr/>
          <a:lstStyle/>
          <a:p>
            <a:fld id="{48F63A3B-78C7-47BE-AE5E-E10140E04643}" type="slidenum">
              <a:rPr lang="en-US" smtClean="0"/>
              <a:t>22</a:t>
            </a:fld>
            <a:endParaRPr lang="en-US" dirty="0"/>
          </a:p>
        </p:txBody>
      </p:sp>
      <p:sp>
        <p:nvSpPr>
          <p:cNvPr id="14" name="TextBox 13">
            <a:extLst>
              <a:ext uri="{FF2B5EF4-FFF2-40B4-BE49-F238E27FC236}">
                <a16:creationId xmlns:a16="http://schemas.microsoft.com/office/drawing/2014/main" id="{E09696C6-DD75-36EC-EA03-EDFBC0587A55}"/>
              </a:ext>
            </a:extLst>
          </p:cNvPr>
          <p:cNvSpPr txBox="1"/>
          <p:nvPr/>
        </p:nvSpPr>
        <p:spPr>
          <a:xfrm>
            <a:off x="9582785" y="5742052"/>
            <a:ext cx="5768439" cy="437043"/>
          </a:xfrm>
          <a:prstGeom prst="rect">
            <a:avLst/>
          </a:prstGeom>
          <a:noFill/>
        </p:spPr>
        <p:txBody>
          <a:bodyPr wrap="square">
            <a:spAutoFit/>
          </a:bodyPr>
          <a:lstStyle/>
          <a:p>
            <a:pPr algn="ctr">
              <a:lnSpc>
                <a:spcPct val="120000"/>
              </a:lnSpc>
              <a:spcBef>
                <a:spcPts val="600"/>
              </a:spcBef>
              <a:spcAft>
                <a:spcPts val="600"/>
              </a:spcAft>
              <a:buClr>
                <a:srgbClr val="00B050"/>
              </a:buClr>
            </a:pPr>
            <a:r>
              <a:rPr lang="en-US" sz="2000" b="1" dirty="0">
                <a:solidFill>
                  <a:srgbClr val="00B050"/>
                </a:solidFill>
              </a:rPr>
              <a:t>Fig 9-12: Combining logic and arithmetic circuits</a:t>
            </a:r>
          </a:p>
        </p:txBody>
      </p:sp>
    </p:spTree>
    <p:extLst>
      <p:ext uri="{BB962C8B-B14F-4D97-AF65-F5344CB8AC3E}">
        <p14:creationId xmlns:p14="http://schemas.microsoft.com/office/powerpoint/2010/main" val="164075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5"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000"/>
                                        <p:tgtEl>
                                          <p:spTgt spid="6"/>
                                        </p:tgtEl>
                                      </p:cBhvr>
                                    </p:animEffect>
                                    <p:anim calcmode="lin" valueType="num">
                                      <p:cBhvr>
                                        <p:cTn id="12" dur="2000" fill="hold"/>
                                        <p:tgtEl>
                                          <p:spTgt spid="6"/>
                                        </p:tgtEl>
                                        <p:attrNameLst>
                                          <p:attrName>ppt_w</p:attrName>
                                        </p:attrNameLst>
                                      </p:cBhvr>
                                      <p:tavLst>
                                        <p:tav tm="0" fmla="#ppt_w*sin(2.5*pi*$)">
                                          <p:val>
                                            <p:fltVal val="0"/>
                                          </p:val>
                                        </p:tav>
                                        <p:tav tm="100000">
                                          <p:val>
                                            <p:fltVal val="1"/>
                                          </p:val>
                                        </p:tav>
                                      </p:tavLst>
                                    </p:anim>
                                    <p:anim calcmode="lin" valueType="num">
                                      <p:cBhvr>
                                        <p:cTn id="13"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45"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2000"/>
                                        <p:tgtEl>
                                          <p:spTgt spid="7"/>
                                        </p:tgtEl>
                                      </p:cBhvr>
                                    </p:animEffect>
                                    <p:anim calcmode="lin" valueType="num">
                                      <p:cBhvr>
                                        <p:cTn id="19" dur="2000" fill="hold"/>
                                        <p:tgtEl>
                                          <p:spTgt spid="7"/>
                                        </p:tgtEl>
                                        <p:attrNameLst>
                                          <p:attrName>ppt_w</p:attrName>
                                        </p:attrNameLst>
                                      </p:cBhvr>
                                      <p:tavLst>
                                        <p:tav tm="0" fmla="#ppt_w*sin(2.5*pi*$)">
                                          <p:val>
                                            <p:fltVal val="0"/>
                                          </p:val>
                                        </p:tav>
                                        <p:tav tm="100000">
                                          <p:val>
                                            <p:fltVal val="1"/>
                                          </p:val>
                                        </p:tav>
                                      </p:tavLst>
                                    </p:anim>
                                    <p:anim calcmode="lin" valueType="num">
                                      <p:cBhvr>
                                        <p:cTn id="20"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9C3AB5-CC35-4440-A0C3-481F01656B96}" type="datetime3">
              <a:rPr lang="en-US" smtClean="0"/>
              <a:t>18 July 2024</a:t>
            </a:fld>
            <a:endParaRPr lang="en-US"/>
          </a:p>
        </p:txBody>
      </p:sp>
      <p:sp>
        <p:nvSpPr>
          <p:cNvPr id="5" name="Footer Placeholder 4"/>
          <p:cNvSpPr>
            <a:spLocks noGrp="1"/>
          </p:cNvSpPr>
          <p:nvPr>
            <p:ph type="ftr" sz="quarter" idx="11"/>
          </p:nvPr>
        </p:nvSpPr>
        <p:spPr/>
        <p:txBody>
          <a:bodyPr/>
          <a:lstStyle/>
          <a:p>
            <a:r>
              <a:rPr lang="en-US" dirty="0"/>
              <a:t>Course Teacher: Dr. Md. Rukonuzzaman</a:t>
            </a:r>
          </a:p>
        </p:txBody>
      </p:sp>
      <p:sp>
        <p:nvSpPr>
          <p:cNvPr id="6" name="Slide Number Placeholder 5"/>
          <p:cNvSpPr>
            <a:spLocks noGrp="1"/>
          </p:cNvSpPr>
          <p:nvPr>
            <p:ph type="sldNum" sz="quarter" idx="12"/>
          </p:nvPr>
        </p:nvSpPr>
        <p:spPr/>
        <p:txBody>
          <a:bodyPr/>
          <a:lstStyle/>
          <a:p>
            <a:fld id="{48F63A3B-78C7-47BE-AE5E-E10140E04643}" type="slidenum">
              <a:rPr lang="en-US" smtClean="0"/>
              <a:t>23</a:t>
            </a:fld>
            <a:endParaRPr lang="en-US" dirty="0"/>
          </a:p>
        </p:txBody>
      </p:sp>
      <mc:AlternateContent xmlns:mc="http://schemas.openxmlformats.org/markup-compatibility/2006">
        <mc:Choice xmlns:a14="http://schemas.microsoft.com/office/drawing/2010/main" Requires="a14">
          <p:sp>
            <p:nvSpPr>
              <p:cNvPr id="8" name="TextBox 7"/>
              <p:cNvSpPr txBox="1"/>
              <p:nvPr/>
            </p:nvSpPr>
            <p:spPr>
              <a:xfrm>
                <a:off x="1457738" y="2291416"/>
                <a:ext cx="13684107" cy="4154984"/>
              </a:xfrm>
              <a:prstGeom prst="rect">
                <a:avLst/>
              </a:prstGeom>
              <a:noFill/>
            </p:spPr>
            <p:txBody>
              <a:bodyPr wrap="square" rtlCol="0">
                <a:spAutoFit/>
              </a:bodyPr>
              <a:lstStyle/>
              <a:p>
                <a:r>
                  <a:rPr lang="en-US" sz="2400" b="1" dirty="0"/>
                  <a:t>The value of </a:t>
                </a:r>
                <a:r>
                  <a:rPr lang="en-US" sz="2400" b="1" i="1" dirty="0"/>
                  <a:t>X</a:t>
                </a:r>
                <a:r>
                  <a:rPr lang="en-US" sz="2400" b="1" i="1" baseline="-25000" dirty="0"/>
                  <a:t>i</a:t>
                </a:r>
                <a:r>
                  <a:rPr lang="en-US" sz="2400" b="1" dirty="0"/>
                  <a:t> is always equal to input </a:t>
                </a:r>
                <a:r>
                  <a:rPr lang="en-US" sz="2400" b="1" i="1" dirty="0"/>
                  <a:t>A</a:t>
                </a:r>
                <a:r>
                  <a:rPr lang="en-US" sz="2400" b="1" i="1" baseline="-25000" dirty="0"/>
                  <a:t>i</a:t>
                </a:r>
                <a:r>
                  <a:rPr lang="en-US" sz="2400" b="1" dirty="0"/>
                  <a:t>. Table 9.3 shows the four logic operations obtained when a third selection variable </a:t>
                </a:r>
                <a:r>
                  <a:rPr lang="en-US" sz="2400" b="1" i="1" dirty="0"/>
                  <a:t>s</a:t>
                </a:r>
                <a:r>
                  <a:rPr lang="en-US" sz="2400" b="1" baseline="-25000" dirty="0"/>
                  <a:t>2</a:t>
                </a:r>
                <a:r>
                  <a:rPr lang="en-US" sz="2400" b="1" dirty="0"/>
                  <a:t> = 1. This selection variable forces </a:t>
                </a:r>
                <a:r>
                  <a:rPr lang="en-US" sz="2400" b="1" i="1" dirty="0"/>
                  <a:t>C</a:t>
                </a:r>
                <a:r>
                  <a:rPr lang="en-US" sz="2400" b="1" i="1" baseline="-25000" dirty="0"/>
                  <a:t>i</a:t>
                </a:r>
                <a:r>
                  <a:rPr lang="en-US" sz="2400" b="1" dirty="0"/>
                  <a:t> to be equal to 0 while </a:t>
                </a:r>
                <a:r>
                  <a:rPr lang="en-US" sz="2400" b="1" i="1" dirty="0"/>
                  <a:t>s</a:t>
                </a:r>
                <a:r>
                  <a:rPr lang="en-US" sz="2400" b="1" baseline="-25000" dirty="0"/>
                  <a:t>1</a:t>
                </a:r>
                <a:r>
                  <a:rPr lang="en-US" sz="2400" b="1" dirty="0"/>
                  <a:t> and </a:t>
                </a:r>
                <a:r>
                  <a:rPr lang="en-US" sz="2400" b="1" i="1" dirty="0"/>
                  <a:t>s</a:t>
                </a:r>
                <a:r>
                  <a:rPr lang="en-US" sz="2400" b="1" baseline="-25000" dirty="0"/>
                  <a:t>0</a:t>
                </a:r>
                <a:r>
                  <a:rPr lang="en-US" sz="2400" b="1" dirty="0"/>
                  <a:t> choose a particular value for </a:t>
                </a:r>
                <a:r>
                  <a:rPr lang="en-US" sz="2400" b="1" i="1" dirty="0"/>
                  <a:t>Y</a:t>
                </a:r>
                <a:r>
                  <a:rPr lang="en-US" sz="2400" b="1" i="1" baseline="-25000" dirty="0"/>
                  <a:t>i</a:t>
                </a:r>
                <a:r>
                  <a:rPr lang="en-US" sz="2400" b="1" dirty="0"/>
                  <a:t>.</a:t>
                </a:r>
              </a:p>
              <a:p>
                <a:endParaRPr lang="en-US" sz="2400" b="1" dirty="0"/>
              </a:p>
              <a:p>
                <a:r>
                  <a:rPr lang="en-US" sz="2400" b="1" dirty="0"/>
                  <a:t>The four logic operations obtained by this configuration are transfer, exclusive OR (XOR), </a:t>
                </a:r>
                <a:r>
                  <a:rPr lang="en-US" sz="2400" b="1" dirty="0">
                    <a:solidFill>
                      <a:srgbClr val="FF0000"/>
                    </a:solidFill>
                  </a:rPr>
                  <a:t>equivalence (XNOR)</a:t>
                </a:r>
                <a:r>
                  <a:rPr lang="en-US" sz="2400" b="1" dirty="0"/>
                  <a:t>, and complement. The third entry is the </a:t>
                </a:r>
                <a:r>
                  <a:rPr lang="en-US" sz="2400" b="1" dirty="0">
                    <a:solidFill>
                      <a:srgbClr val="FF0000"/>
                    </a:solidFill>
                  </a:rPr>
                  <a:t>XNOR operation  </a:t>
                </a:r>
                <a:r>
                  <a:rPr lang="en-US" sz="2400" b="1" dirty="0"/>
                  <a:t>because of the following-</a:t>
                </a:r>
              </a:p>
              <a:p>
                <a:endParaRPr lang="en-US" sz="2400" b="1" dirty="0"/>
              </a:p>
              <a:p>
                <a:pPr algn="ct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𝑨</m:t>
                          </m:r>
                        </m:e>
                        <m:sub>
                          <m:r>
                            <a:rPr lang="en-US" sz="2400" b="1" i="1" smtClean="0">
                              <a:latin typeface="Cambria Math" panose="02040503050406030204" pitchFamily="18" charset="0"/>
                            </a:rPr>
                            <m:t>𝒊</m:t>
                          </m:r>
                        </m:sub>
                      </m:sSub>
                      <m:r>
                        <a:rPr lang="en-US" sz="2400" b="1" i="1" smtClean="0">
                          <a:latin typeface="Cambria Math" panose="02040503050406030204" pitchFamily="18" charset="0"/>
                          <a:ea typeface="Cambria Math" panose="02040503050406030204" pitchFamily="18" charset="0"/>
                        </a:rPr>
                        <m:t>⨁</m:t>
                      </m:r>
                      <m:sSubSup>
                        <m:sSubSupPr>
                          <m:ctrlPr>
                            <a:rPr lang="en-US" sz="2400" b="1" i="1" smtClean="0">
                              <a:latin typeface="Cambria Math" panose="02040503050406030204" pitchFamily="18" charset="0"/>
                              <a:ea typeface="Cambria Math" panose="02040503050406030204" pitchFamily="18" charset="0"/>
                            </a:rPr>
                          </m:ctrlPr>
                        </m:sSubSupPr>
                        <m:e>
                          <m:r>
                            <a:rPr lang="en-US" sz="2400" b="1" i="1" smtClean="0">
                              <a:latin typeface="Cambria Math" panose="02040503050406030204" pitchFamily="18" charset="0"/>
                              <a:ea typeface="Cambria Math" panose="02040503050406030204" pitchFamily="18" charset="0"/>
                            </a:rPr>
                            <m:t>𝑩</m:t>
                          </m:r>
                        </m:e>
                        <m:sub>
                          <m:r>
                            <a:rPr lang="en-US" sz="2400" b="1" i="1" smtClean="0">
                              <a:latin typeface="Cambria Math" panose="02040503050406030204" pitchFamily="18" charset="0"/>
                              <a:ea typeface="Cambria Math" panose="02040503050406030204" pitchFamily="18" charset="0"/>
                            </a:rPr>
                            <m:t>𝒊</m:t>
                          </m:r>
                        </m:sub>
                        <m:sup>
                          <m:r>
                            <a:rPr lang="en-US" sz="2400" b="1" i="1" smtClean="0">
                              <a:latin typeface="Cambria Math" panose="02040503050406030204" pitchFamily="18" charset="0"/>
                              <a:ea typeface="Cambria Math" panose="02040503050406030204" pitchFamily="18" charset="0"/>
                            </a:rPr>
                            <m:t>′</m:t>
                          </m:r>
                        </m:sup>
                      </m:sSubSup>
                      <m:r>
                        <a:rPr lang="en-US" sz="2400" b="1" i="1" smtClean="0">
                          <a:latin typeface="Cambria Math" panose="02040503050406030204" pitchFamily="18" charset="0"/>
                          <a:ea typeface="Cambria Math" panose="02040503050406030204" pitchFamily="18" charset="0"/>
                        </a:rPr>
                        <m:t>=</m:t>
                      </m:r>
                      <m:sSub>
                        <m:sSubPr>
                          <m:ctrlPr>
                            <a:rPr lang="en-US" sz="2400" b="1" i="1" smtClean="0">
                              <a:latin typeface="Cambria Math" panose="02040503050406030204" pitchFamily="18" charset="0"/>
                              <a:ea typeface="Cambria Math" panose="02040503050406030204" pitchFamily="18" charset="0"/>
                            </a:rPr>
                          </m:ctrlPr>
                        </m:sSubPr>
                        <m:e>
                          <m:r>
                            <a:rPr lang="en-US" sz="2400" b="1" i="1" smtClean="0">
                              <a:latin typeface="Cambria Math" panose="02040503050406030204" pitchFamily="18" charset="0"/>
                              <a:ea typeface="Cambria Math" panose="02040503050406030204" pitchFamily="18" charset="0"/>
                            </a:rPr>
                            <m:t>𝑨</m:t>
                          </m:r>
                        </m:e>
                        <m:sub>
                          <m:r>
                            <a:rPr lang="en-US" sz="2400" b="1" i="1" smtClean="0">
                              <a:latin typeface="Cambria Math" panose="02040503050406030204" pitchFamily="18" charset="0"/>
                              <a:ea typeface="Cambria Math" panose="02040503050406030204" pitchFamily="18" charset="0"/>
                            </a:rPr>
                            <m:t>𝒊</m:t>
                          </m:r>
                        </m:sub>
                      </m:sSub>
                      <m:sSub>
                        <m:sSubPr>
                          <m:ctrlPr>
                            <a:rPr lang="en-US" sz="2400" b="1" i="1" smtClean="0">
                              <a:latin typeface="Cambria Math" panose="02040503050406030204" pitchFamily="18" charset="0"/>
                              <a:ea typeface="Cambria Math" panose="02040503050406030204" pitchFamily="18" charset="0"/>
                            </a:rPr>
                          </m:ctrlPr>
                        </m:sSubPr>
                        <m:e>
                          <m:r>
                            <a:rPr lang="en-US" sz="2400" b="1" i="1" smtClean="0">
                              <a:latin typeface="Cambria Math" panose="02040503050406030204" pitchFamily="18" charset="0"/>
                              <a:ea typeface="Cambria Math" panose="02040503050406030204" pitchFamily="18" charset="0"/>
                            </a:rPr>
                            <m:t>𝑩</m:t>
                          </m:r>
                        </m:e>
                        <m:sub>
                          <m:r>
                            <a:rPr lang="en-US" sz="2400" b="1" i="1" smtClean="0">
                              <a:latin typeface="Cambria Math" panose="02040503050406030204" pitchFamily="18" charset="0"/>
                              <a:ea typeface="Cambria Math" panose="02040503050406030204" pitchFamily="18" charset="0"/>
                            </a:rPr>
                            <m:t>𝒊</m:t>
                          </m:r>
                        </m:sub>
                      </m:sSub>
                      <m:r>
                        <a:rPr lang="en-US" sz="2400" b="1" i="1" smtClean="0">
                          <a:latin typeface="Cambria Math" panose="02040503050406030204" pitchFamily="18" charset="0"/>
                          <a:ea typeface="Cambria Math" panose="02040503050406030204" pitchFamily="18" charset="0"/>
                        </a:rPr>
                        <m:t>+</m:t>
                      </m:r>
                      <m:sSubSup>
                        <m:sSubSupPr>
                          <m:ctrlPr>
                            <a:rPr lang="en-US" sz="2400" b="1" i="1" smtClean="0">
                              <a:latin typeface="Cambria Math" panose="02040503050406030204" pitchFamily="18" charset="0"/>
                              <a:ea typeface="Cambria Math" panose="02040503050406030204" pitchFamily="18" charset="0"/>
                            </a:rPr>
                          </m:ctrlPr>
                        </m:sSubSupPr>
                        <m:e>
                          <m:r>
                            <a:rPr lang="en-US" sz="2400" b="1" i="1" smtClean="0">
                              <a:latin typeface="Cambria Math" panose="02040503050406030204" pitchFamily="18" charset="0"/>
                              <a:ea typeface="Cambria Math" panose="02040503050406030204" pitchFamily="18" charset="0"/>
                            </a:rPr>
                            <m:t>𝑨</m:t>
                          </m:r>
                        </m:e>
                        <m:sub>
                          <m:r>
                            <a:rPr lang="en-US" sz="2400" b="1" i="1" smtClean="0">
                              <a:latin typeface="Cambria Math" panose="02040503050406030204" pitchFamily="18" charset="0"/>
                              <a:ea typeface="Cambria Math" panose="02040503050406030204" pitchFamily="18" charset="0"/>
                            </a:rPr>
                            <m:t>𝒊</m:t>
                          </m:r>
                        </m:sub>
                        <m:sup>
                          <m:r>
                            <a:rPr lang="en-US" sz="2400" b="1" i="1" smtClean="0">
                              <a:latin typeface="Cambria Math" panose="02040503050406030204" pitchFamily="18" charset="0"/>
                              <a:ea typeface="Cambria Math" panose="02040503050406030204" pitchFamily="18" charset="0"/>
                            </a:rPr>
                            <m:t>′</m:t>
                          </m:r>
                        </m:sup>
                      </m:sSubSup>
                      <m:sSubSup>
                        <m:sSubSupPr>
                          <m:ctrlPr>
                            <a:rPr lang="en-US" sz="2400" b="1" i="1" smtClean="0">
                              <a:latin typeface="Cambria Math" panose="02040503050406030204" pitchFamily="18" charset="0"/>
                              <a:ea typeface="Cambria Math" panose="02040503050406030204" pitchFamily="18" charset="0"/>
                            </a:rPr>
                          </m:ctrlPr>
                        </m:sSubSupPr>
                        <m:e>
                          <m:r>
                            <a:rPr lang="en-US" sz="2400" b="1" i="1" smtClean="0">
                              <a:latin typeface="Cambria Math" panose="02040503050406030204" pitchFamily="18" charset="0"/>
                              <a:ea typeface="Cambria Math" panose="02040503050406030204" pitchFamily="18" charset="0"/>
                            </a:rPr>
                            <m:t>𝑩</m:t>
                          </m:r>
                        </m:e>
                        <m:sub>
                          <m:r>
                            <a:rPr lang="en-US" sz="2400" b="1" i="1" smtClean="0">
                              <a:latin typeface="Cambria Math" panose="02040503050406030204" pitchFamily="18" charset="0"/>
                              <a:ea typeface="Cambria Math" panose="02040503050406030204" pitchFamily="18" charset="0"/>
                            </a:rPr>
                            <m:t>𝒊</m:t>
                          </m:r>
                        </m:sub>
                        <m:sup>
                          <m:r>
                            <a:rPr lang="en-US" sz="2400" b="1" i="1" smtClean="0">
                              <a:latin typeface="Cambria Math" panose="02040503050406030204" pitchFamily="18" charset="0"/>
                              <a:ea typeface="Cambria Math" panose="02040503050406030204" pitchFamily="18" charset="0"/>
                            </a:rPr>
                            <m:t>′</m:t>
                          </m:r>
                        </m:sup>
                      </m:sSubSup>
                      <m:r>
                        <a:rPr lang="en-US" sz="2400" b="1" i="1" smtClean="0">
                          <a:latin typeface="Cambria Math" panose="02040503050406030204" pitchFamily="18" charset="0"/>
                          <a:ea typeface="Cambria Math" panose="02040503050406030204" pitchFamily="18" charset="0"/>
                        </a:rPr>
                        <m:t>=</m:t>
                      </m:r>
                      <m:sSub>
                        <m:sSubPr>
                          <m:ctrlPr>
                            <a:rPr lang="en-US" sz="2400" b="1" i="1" smtClean="0">
                              <a:latin typeface="Cambria Math" panose="02040503050406030204" pitchFamily="18" charset="0"/>
                              <a:ea typeface="Cambria Math" panose="02040503050406030204" pitchFamily="18" charset="0"/>
                            </a:rPr>
                          </m:ctrlPr>
                        </m:sSubPr>
                        <m:e>
                          <m:r>
                            <a:rPr lang="en-US" sz="2400" b="1" i="1" smtClean="0">
                              <a:latin typeface="Cambria Math" panose="02040503050406030204" pitchFamily="18" charset="0"/>
                              <a:ea typeface="Cambria Math" panose="02040503050406030204" pitchFamily="18" charset="0"/>
                            </a:rPr>
                            <m:t>𝑨</m:t>
                          </m:r>
                        </m:e>
                        <m:sub>
                          <m:r>
                            <a:rPr lang="en-US" sz="2400" b="1" i="1" smtClean="0">
                              <a:latin typeface="Cambria Math" panose="02040503050406030204" pitchFamily="18" charset="0"/>
                              <a:ea typeface="Cambria Math" panose="02040503050406030204" pitchFamily="18" charset="0"/>
                            </a:rPr>
                            <m:t>𝒊</m:t>
                          </m:r>
                        </m:sub>
                      </m:sSub>
                      <m:sSub>
                        <m:sSubPr>
                          <m:ctrlPr>
                            <a:rPr lang="en-US" sz="2400" b="1" i="1" smtClean="0">
                              <a:latin typeface="Cambria Math" panose="02040503050406030204" pitchFamily="18" charset="0"/>
                              <a:ea typeface="Cambria Math" panose="02040503050406030204" pitchFamily="18" charset="0"/>
                            </a:rPr>
                          </m:ctrlPr>
                        </m:sSubPr>
                        <m:e>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𝑩</m:t>
                          </m:r>
                        </m:e>
                        <m:sub>
                          <m:r>
                            <a:rPr lang="en-US" sz="2400" b="1" i="1" smtClean="0">
                              <a:latin typeface="Cambria Math" panose="02040503050406030204" pitchFamily="18" charset="0"/>
                              <a:ea typeface="Cambria Math" panose="02040503050406030204" pitchFamily="18" charset="0"/>
                            </a:rPr>
                            <m:t>𝒊</m:t>
                          </m:r>
                        </m:sub>
                      </m:sSub>
                    </m:oMath>
                  </m:oMathPara>
                </a14:m>
                <a:endParaRPr lang="en-US" sz="2400" b="1" dirty="0"/>
              </a:p>
              <a:p>
                <a:pPr algn="just"/>
                <a:endParaRPr lang="en-US" sz="2400" b="1" dirty="0"/>
              </a:p>
              <a:p>
                <a:r>
                  <a:rPr lang="en-US" sz="2400" b="1" dirty="0"/>
                  <a:t>The last entry in the table is the </a:t>
                </a:r>
                <a:r>
                  <a:rPr lang="en-US" sz="2400" b="1" dirty="0">
                    <a:solidFill>
                      <a:srgbClr val="FF0000"/>
                    </a:solidFill>
                  </a:rPr>
                  <a:t>NOT or complement operation</a:t>
                </a:r>
                <a:r>
                  <a:rPr lang="en-US" sz="2400" b="1" dirty="0"/>
                  <a:t> because of the following-</a:t>
                </a:r>
              </a:p>
              <a:p>
                <a:pPr algn="ctr"/>
                <a14:m>
                  <m:oMathPara xmlns:m="http://schemas.openxmlformats.org/officeDocument/2006/math">
                    <m:oMathParaPr>
                      <m:jc m:val="centerGroup"/>
                    </m:oMathParaPr>
                    <m:oMath xmlns:m="http://schemas.openxmlformats.org/officeDocument/2006/math">
                      <m:sSub>
                        <m:sSubPr>
                          <m:ctrlPr>
                            <a:rPr lang="en-US" sz="2400" b="1" i="1">
                              <a:latin typeface="Cambria Math" panose="02040503050406030204" pitchFamily="18" charset="0"/>
                            </a:rPr>
                          </m:ctrlPr>
                        </m:sSubPr>
                        <m:e>
                          <m:r>
                            <a:rPr lang="en-US" sz="2400" b="1" i="1" smtClean="0">
                              <a:latin typeface="Cambria Math" panose="02040503050406030204" pitchFamily="18" charset="0"/>
                            </a:rPr>
                            <m:t>𝑨</m:t>
                          </m:r>
                        </m:e>
                        <m:sub>
                          <m:r>
                            <a:rPr lang="en-US" sz="2400" b="1" i="1" smtClean="0">
                              <a:latin typeface="Cambria Math" panose="02040503050406030204" pitchFamily="18" charset="0"/>
                            </a:rPr>
                            <m:t>𝒊</m:t>
                          </m:r>
                        </m:sub>
                      </m:sSub>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𝟏</m:t>
                      </m:r>
                      <m:r>
                        <a:rPr lang="en-US" sz="2400" b="1" i="1" smtClean="0">
                          <a:latin typeface="Cambria Math" panose="02040503050406030204" pitchFamily="18" charset="0"/>
                          <a:ea typeface="Cambria Math" panose="02040503050406030204" pitchFamily="18" charset="0"/>
                        </a:rPr>
                        <m:t>=</m:t>
                      </m:r>
                      <m:sSub>
                        <m:sSubPr>
                          <m:ctrlPr>
                            <a:rPr lang="en-US" sz="2400" b="1" i="1" smtClean="0">
                              <a:latin typeface="Cambria Math" panose="02040503050406030204" pitchFamily="18" charset="0"/>
                              <a:ea typeface="Cambria Math" panose="02040503050406030204" pitchFamily="18" charset="0"/>
                            </a:rPr>
                          </m:ctrlPr>
                        </m:sSubPr>
                        <m:e>
                          <m:r>
                            <a:rPr lang="en-US" sz="2400" b="1" i="1" smtClean="0">
                              <a:latin typeface="Cambria Math" panose="02040503050406030204" pitchFamily="18" charset="0"/>
                              <a:ea typeface="Cambria Math" panose="02040503050406030204" pitchFamily="18" charset="0"/>
                            </a:rPr>
                            <m:t>𝑨</m:t>
                          </m:r>
                        </m:e>
                        <m:sub>
                          <m:r>
                            <a:rPr lang="en-US" sz="2400" b="1" i="1" smtClean="0">
                              <a:latin typeface="Cambria Math" panose="02040503050406030204" pitchFamily="18" charset="0"/>
                              <a:ea typeface="Cambria Math" panose="02040503050406030204" pitchFamily="18" charset="0"/>
                            </a:rPr>
                            <m:t>𝒊</m:t>
                          </m:r>
                        </m:sub>
                      </m:sSub>
                      <m:r>
                        <a:rPr lang="en-US" sz="2400" b="1" i="0" smtClean="0">
                          <a:latin typeface="Cambria Math" panose="02040503050406030204" pitchFamily="18" charset="0"/>
                          <a:ea typeface="Cambria Math" panose="02040503050406030204" pitchFamily="18" charset="0"/>
                        </a:rPr>
                        <m:t>𝐀𝐍𝐃</m:t>
                      </m:r>
                      <m:r>
                        <a:rPr lang="en-US" sz="2400" b="1" i="1" smtClean="0">
                          <a:latin typeface="Cambria Math" panose="02040503050406030204" pitchFamily="18" charset="0"/>
                          <a:ea typeface="Cambria Math" panose="02040503050406030204" pitchFamily="18" charset="0"/>
                        </a:rPr>
                        <m:t>𝟎</m:t>
                      </m:r>
                      <m:r>
                        <a:rPr lang="en-US" sz="2400" b="1" i="1" smtClean="0">
                          <a:latin typeface="Cambria Math" panose="02040503050406030204" pitchFamily="18" charset="0"/>
                          <a:ea typeface="Cambria Math" panose="02040503050406030204" pitchFamily="18" charset="0"/>
                        </a:rPr>
                        <m:t>+</m:t>
                      </m:r>
                      <m:sSubSup>
                        <m:sSubSupPr>
                          <m:ctrlPr>
                            <a:rPr lang="en-US" sz="2400" b="1" i="1">
                              <a:latin typeface="Cambria Math" panose="02040503050406030204" pitchFamily="18" charset="0"/>
                              <a:ea typeface="Cambria Math" panose="02040503050406030204" pitchFamily="18" charset="0"/>
                            </a:rPr>
                          </m:ctrlPr>
                        </m:sSubSupPr>
                        <m:e>
                          <m:r>
                            <a:rPr lang="en-US" sz="2400" b="1" i="1" smtClean="0">
                              <a:latin typeface="Cambria Math" panose="02040503050406030204" pitchFamily="18" charset="0"/>
                              <a:ea typeface="Cambria Math" panose="02040503050406030204" pitchFamily="18" charset="0"/>
                            </a:rPr>
                            <m:t>𝑨</m:t>
                          </m:r>
                        </m:e>
                        <m:sub>
                          <m:r>
                            <a:rPr lang="en-US" sz="2400" b="1" i="1" smtClean="0">
                              <a:latin typeface="Cambria Math" panose="02040503050406030204" pitchFamily="18" charset="0"/>
                              <a:ea typeface="Cambria Math" panose="02040503050406030204" pitchFamily="18" charset="0"/>
                            </a:rPr>
                            <m:t>𝒊</m:t>
                          </m:r>
                        </m:sub>
                        <m:sup>
                          <m:r>
                            <a:rPr lang="en-US" sz="2400" b="1" i="1" smtClean="0">
                              <a:latin typeface="Cambria Math" panose="02040503050406030204" pitchFamily="18" charset="0"/>
                              <a:ea typeface="Cambria Math" panose="02040503050406030204" pitchFamily="18" charset="0"/>
                            </a:rPr>
                            <m:t>′</m:t>
                          </m:r>
                        </m:sup>
                      </m:sSubSup>
                      <m:r>
                        <a:rPr lang="en-US" sz="2400" b="1" i="0" smtClean="0">
                          <a:latin typeface="Cambria Math" panose="02040503050406030204" pitchFamily="18" charset="0"/>
                          <a:ea typeface="Cambria Math" panose="02040503050406030204" pitchFamily="18" charset="0"/>
                        </a:rPr>
                        <m:t>𝐀𝐍𝐃</m:t>
                      </m:r>
                      <m:r>
                        <a:rPr lang="en-US" sz="2400" b="1" i="1" smtClean="0">
                          <a:latin typeface="Cambria Math" panose="02040503050406030204" pitchFamily="18" charset="0"/>
                          <a:ea typeface="Cambria Math" panose="02040503050406030204" pitchFamily="18" charset="0"/>
                        </a:rPr>
                        <m:t>𝟏</m:t>
                      </m:r>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𝟎</m:t>
                      </m:r>
                      <m:r>
                        <a:rPr lang="en-US" sz="2400" b="1" i="1" smtClean="0">
                          <a:latin typeface="Cambria Math" panose="02040503050406030204" pitchFamily="18" charset="0"/>
                          <a:ea typeface="Cambria Math" panose="02040503050406030204" pitchFamily="18" charset="0"/>
                        </a:rPr>
                        <m:t>+</m:t>
                      </m:r>
                      <m:sSubSup>
                        <m:sSubSupPr>
                          <m:ctrlPr>
                            <a:rPr lang="en-US" sz="2400" b="1" i="1">
                              <a:latin typeface="Cambria Math" panose="02040503050406030204" pitchFamily="18" charset="0"/>
                              <a:ea typeface="Cambria Math" panose="02040503050406030204" pitchFamily="18" charset="0"/>
                            </a:rPr>
                          </m:ctrlPr>
                        </m:sSubSupPr>
                        <m:e>
                          <m:r>
                            <a:rPr lang="en-US" sz="2400" b="1" i="1" smtClean="0">
                              <a:latin typeface="Cambria Math" panose="02040503050406030204" pitchFamily="18" charset="0"/>
                              <a:ea typeface="Cambria Math" panose="02040503050406030204" pitchFamily="18" charset="0"/>
                            </a:rPr>
                            <m:t>𝑨</m:t>
                          </m:r>
                        </m:e>
                        <m:sub>
                          <m:r>
                            <a:rPr lang="en-US" sz="2400" b="1" i="1" smtClean="0">
                              <a:latin typeface="Cambria Math" panose="02040503050406030204" pitchFamily="18" charset="0"/>
                              <a:ea typeface="Cambria Math" panose="02040503050406030204" pitchFamily="18" charset="0"/>
                            </a:rPr>
                            <m:t>𝒊</m:t>
                          </m:r>
                        </m:sub>
                        <m:sup>
                          <m:r>
                            <a:rPr lang="en-US" sz="2400" b="1" i="1" smtClean="0">
                              <a:latin typeface="Cambria Math" panose="02040503050406030204" pitchFamily="18" charset="0"/>
                              <a:ea typeface="Cambria Math" panose="02040503050406030204" pitchFamily="18" charset="0"/>
                            </a:rPr>
                            <m:t>′</m:t>
                          </m:r>
                        </m:sup>
                      </m:sSubSup>
                      <m:r>
                        <a:rPr lang="en-US" sz="2400" b="1" i="1" smtClean="0">
                          <a:latin typeface="Cambria Math" panose="02040503050406030204" pitchFamily="18" charset="0"/>
                          <a:ea typeface="Cambria Math" panose="02040503050406030204" pitchFamily="18" charset="0"/>
                        </a:rPr>
                        <m:t>=</m:t>
                      </m:r>
                      <m:sSubSup>
                        <m:sSubSupPr>
                          <m:ctrlPr>
                            <a:rPr lang="en-US" sz="2400" b="1" i="1">
                              <a:latin typeface="Cambria Math" panose="02040503050406030204" pitchFamily="18" charset="0"/>
                              <a:ea typeface="Cambria Math" panose="02040503050406030204" pitchFamily="18" charset="0"/>
                            </a:rPr>
                          </m:ctrlPr>
                        </m:sSubSupPr>
                        <m:e>
                          <m:r>
                            <a:rPr lang="en-US" sz="2400" b="1" i="1" smtClean="0">
                              <a:latin typeface="Cambria Math" panose="02040503050406030204" pitchFamily="18" charset="0"/>
                              <a:ea typeface="Cambria Math" panose="02040503050406030204" pitchFamily="18" charset="0"/>
                            </a:rPr>
                            <m:t>𝑨</m:t>
                          </m:r>
                        </m:e>
                        <m:sub>
                          <m:r>
                            <a:rPr lang="en-US" sz="2400" b="1" i="1" smtClean="0">
                              <a:latin typeface="Cambria Math" panose="02040503050406030204" pitchFamily="18" charset="0"/>
                              <a:ea typeface="Cambria Math" panose="02040503050406030204" pitchFamily="18" charset="0"/>
                            </a:rPr>
                            <m:t>𝒊</m:t>
                          </m:r>
                        </m:sub>
                        <m:sup>
                          <m:r>
                            <a:rPr lang="en-US" sz="2400" b="1" i="1" smtClean="0">
                              <a:latin typeface="Cambria Math" panose="02040503050406030204" pitchFamily="18" charset="0"/>
                              <a:ea typeface="Cambria Math" panose="02040503050406030204" pitchFamily="18" charset="0"/>
                            </a:rPr>
                            <m:t>′</m:t>
                          </m:r>
                        </m:sup>
                      </m:sSubSup>
                    </m:oMath>
                  </m:oMathPara>
                </a14:m>
                <a:endParaRPr lang="en-US" sz="2400" b="1" dirty="0"/>
              </a:p>
            </p:txBody>
          </p:sp>
        </mc:Choice>
        <mc:Fallback>
          <p:sp>
            <p:nvSpPr>
              <p:cNvPr id="8" name="TextBox 7"/>
              <p:cNvSpPr txBox="1">
                <a:spLocks noRot="1" noChangeAspect="1" noMove="1" noResize="1" noEditPoints="1" noAdjustHandles="1" noChangeArrowheads="1" noChangeShapeType="1" noTextEdit="1"/>
              </p:cNvSpPr>
              <p:nvPr/>
            </p:nvSpPr>
            <p:spPr>
              <a:xfrm>
                <a:off x="1457738" y="2291416"/>
                <a:ext cx="13684107" cy="4154984"/>
              </a:xfrm>
              <a:prstGeom prst="rect">
                <a:avLst/>
              </a:prstGeom>
              <a:blipFill>
                <a:blip r:embed="rId2"/>
                <a:stretch>
                  <a:fillRect l="-668" t="-1175" r="-757"/>
                </a:stretch>
              </a:blipFill>
            </p:spPr>
            <p:txBody>
              <a:bodyPr/>
              <a:lstStyle/>
              <a:p>
                <a:r>
                  <a:rPr lang="en-US">
                    <a:noFill/>
                  </a:rPr>
                  <a:t> </a:t>
                </a:r>
              </a:p>
            </p:txBody>
          </p:sp>
        </mc:Fallback>
      </mc:AlternateContent>
      <p:sp>
        <p:nvSpPr>
          <p:cNvPr id="9" name="Title 1">
            <a:extLst>
              <a:ext uri="{FF2B5EF4-FFF2-40B4-BE49-F238E27FC236}">
                <a16:creationId xmlns:a16="http://schemas.microsoft.com/office/drawing/2014/main" id="{629A8BB8-CCAD-4BB1-8B21-CA2876DE0E98}"/>
              </a:ext>
            </a:extLst>
          </p:cNvPr>
          <p:cNvSpPr>
            <a:spLocks noGrp="1"/>
          </p:cNvSpPr>
          <p:nvPr>
            <p:ph type="title"/>
          </p:nvPr>
        </p:nvSpPr>
        <p:spPr>
          <a:xfrm>
            <a:off x="116381" y="615139"/>
            <a:ext cx="16226444" cy="748148"/>
          </a:xfrm>
        </p:spPr>
        <p:txBody>
          <a:bodyPr lIns="0" rIns="0">
            <a:noAutofit/>
          </a:bodyPr>
          <a:lstStyle/>
          <a:p>
            <a:pPr algn="ctr"/>
            <a:r>
              <a:rPr lang="en-US" sz="4000" b="1" dirty="0">
                <a:solidFill>
                  <a:srgbClr val="0000FF"/>
                </a:solidFill>
              </a:rPr>
              <a:t>Problems of combining the Arithmetic and Logic Circuits in one stage</a:t>
            </a:r>
          </a:p>
        </p:txBody>
      </p:sp>
    </p:spTree>
    <p:extLst>
      <p:ext uri="{BB962C8B-B14F-4D97-AF65-F5344CB8AC3E}">
        <p14:creationId xmlns:p14="http://schemas.microsoft.com/office/powerpoint/2010/main" val="24601557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636CE-150E-4609-8237-19DDA0473EDD}"/>
              </a:ext>
            </a:extLst>
          </p:cNvPr>
          <p:cNvSpPr>
            <a:spLocks noGrp="1"/>
          </p:cNvSpPr>
          <p:nvPr>
            <p:ph type="title"/>
          </p:nvPr>
        </p:nvSpPr>
        <p:spPr>
          <a:xfrm>
            <a:off x="631767" y="438150"/>
            <a:ext cx="13907193" cy="1180411"/>
          </a:xfrm>
        </p:spPr>
        <p:txBody>
          <a:bodyPr>
            <a:normAutofit/>
          </a:bodyPr>
          <a:lstStyle/>
          <a:p>
            <a:pPr algn="ctr"/>
            <a:r>
              <a:rPr lang="en-US" sz="4000" b="1" dirty="0">
                <a:solidFill>
                  <a:srgbClr val="0000FF"/>
                </a:solidFill>
              </a:rPr>
              <a:t>Design of Arithmetic Logic Unit</a:t>
            </a:r>
          </a:p>
        </p:txBody>
      </p:sp>
      <p:sp>
        <p:nvSpPr>
          <p:cNvPr id="3" name="Rectangle 2"/>
          <p:cNvSpPr/>
          <p:nvPr/>
        </p:nvSpPr>
        <p:spPr>
          <a:xfrm>
            <a:off x="1921565" y="2609593"/>
            <a:ext cx="12192000" cy="2740430"/>
          </a:xfrm>
          <a:prstGeom prst="rect">
            <a:avLst/>
          </a:prstGeom>
        </p:spPr>
        <p:txBody>
          <a:bodyPr wrap="square">
            <a:spAutoFit/>
          </a:bodyPr>
          <a:lstStyle/>
          <a:p>
            <a:pPr>
              <a:lnSpc>
                <a:spcPct val="120000"/>
              </a:lnSpc>
              <a:spcBef>
                <a:spcPts val="600"/>
              </a:spcBef>
              <a:spcAft>
                <a:spcPts val="600"/>
              </a:spcAft>
            </a:pPr>
            <a:r>
              <a:rPr lang="en-US" sz="2400" b="1" dirty="0"/>
              <a:t>The design steps of an ALU are as follows:</a:t>
            </a:r>
          </a:p>
          <a:p>
            <a:pPr marL="411480" indent="-411480">
              <a:lnSpc>
                <a:spcPct val="120000"/>
              </a:lnSpc>
              <a:spcBef>
                <a:spcPts val="600"/>
              </a:spcBef>
              <a:spcAft>
                <a:spcPts val="600"/>
              </a:spcAft>
              <a:buFont typeface="+mj-lt"/>
              <a:buAutoNum type="arabicPeriod"/>
            </a:pPr>
            <a:r>
              <a:rPr lang="en-US" sz="2400" b="1" dirty="0"/>
              <a:t>Design an arithmetic section independent of the logic section</a:t>
            </a:r>
          </a:p>
          <a:p>
            <a:pPr marL="411480" indent="-411480">
              <a:lnSpc>
                <a:spcPct val="120000"/>
              </a:lnSpc>
              <a:spcBef>
                <a:spcPts val="600"/>
              </a:spcBef>
              <a:spcAft>
                <a:spcPts val="600"/>
              </a:spcAft>
              <a:buFont typeface="+mj-lt"/>
              <a:buAutoNum type="arabicPeriod"/>
            </a:pPr>
            <a:r>
              <a:rPr lang="en-US" sz="2400" b="1" dirty="0"/>
              <a:t>Determine the logic operations obtained from the arithmetic circuit in step 1, assuming the input carries of all stages are 0.</a:t>
            </a:r>
          </a:p>
          <a:p>
            <a:pPr marL="411480" indent="-411480">
              <a:lnSpc>
                <a:spcPct val="120000"/>
              </a:lnSpc>
              <a:spcBef>
                <a:spcPts val="600"/>
              </a:spcBef>
              <a:spcAft>
                <a:spcPts val="600"/>
              </a:spcAft>
              <a:buFont typeface="+mj-lt"/>
              <a:buAutoNum type="arabicPeriod"/>
            </a:pPr>
            <a:r>
              <a:rPr lang="en-US" sz="2400" b="1" dirty="0"/>
              <a:t>Modify the arithmetic circuit to obtain the required logic operation</a:t>
            </a:r>
          </a:p>
        </p:txBody>
      </p:sp>
      <p:sp>
        <p:nvSpPr>
          <p:cNvPr id="4" name="Date Placeholder 3"/>
          <p:cNvSpPr>
            <a:spLocks noGrp="1"/>
          </p:cNvSpPr>
          <p:nvPr>
            <p:ph type="dt" sz="half" idx="10"/>
          </p:nvPr>
        </p:nvSpPr>
        <p:spPr/>
        <p:txBody>
          <a:bodyPr/>
          <a:lstStyle/>
          <a:p>
            <a:fld id="{FE6C248A-DF4B-4D34-8B88-9AE0EAA1B084}" type="datetime3">
              <a:rPr lang="en-US" smtClean="0"/>
              <a:t>18 July 2024</a:t>
            </a:fld>
            <a:endParaRPr lang="en-US"/>
          </a:p>
        </p:txBody>
      </p:sp>
      <p:sp>
        <p:nvSpPr>
          <p:cNvPr id="5" name="Footer Placeholder 4"/>
          <p:cNvSpPr>
            <a:spLocks noGrp="1"/>
          </p:cNvSpPr>
          <p:nvPr>
            <p:ph type="ftr" sz="quarter" idx="11"/>
          </p:nvPr>
        </p:nvSpPr>
        <p:spPr/>
        <p:txBody>
          <a:bodyPr/>
          <a:lstStyle/>
          <a:p>
            <a:r>
              <a:rPr lang="en-US" dirty="0"/>
              <a:t>Course Teacher: Dr. Md. Rukonuzzaman</a:t>
            </a:r>
          </a:p>
        </p:txBody>
      </p:sp>
      <p:sp>
        <p:nvSpPr>
          <p:cNvPr id="6" name="Slide Number Placeholder 5"/>
          <p:cNvSpPr>
            <a:spLocks noGrp="1"/>
          </p:cNvSpPr>
          <p:nvPr>
            <p:ph type="sldNum" sz="quarter" idx="12"/>
          </p:nvPr>
        </p:nvSpPr>
        <p:spPr/>
        <p:txBody>
          <a:bodyPr/>
          <a:lstStyle/>
          <a:p>
            <a:fld id="{48F63A3B-78C7-47BE-AE5E-E10140E04643}" type="slidenum">
              <a:rPr lang="en-US" smtClean="0"/>
              <a:t>24</a:t>
            </a:fld>
            <a:endParaRPr lang="en-US" dirty="0"/>
          </a:p>
        </p:txBody>
      </p:sp>
    </p:spTree>
    <p:extLst>
      <p:ext uri="{BB962C8B-B14F-4D97-AF65-F5344CB8AC3E}">
        <p14:creationId xmlns:p14="http://schemas.microsoft.com/office/powerpoint/2010/main" val="28944905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B13EE-9066-4270-BF91-8769F7E74896}"/>
              </a:ext>
            </a:extLst>
          </p:cNvPr>
          <p:cNvSpPr>
            <a:spLocks noGrp="1"/>
          </p:cNvSpPr>
          <p:nvPr>
            <p:ph type="title"/>
          </p:nvPr>
        </p:nvSpPr>
        <p:spPr>
          <a:xfrm>
            <a:off x="1720738" y="281031"/>
            <a:ext cx="12618720" cy="731521"/>
          </a:xfrm>
        </p:spPr>
        <p:txBody>
          <a:bodyPr>
            <a:noAutofit/>
          </a:bodyPr>
          <a:lstStyle/>
          <a:p>
            <a:pPr algn="ctr"/>
            <a:r>
              <a:rPr lang="en-US" sz="4000" b="1" dirty="0">
                <a:solidFill>
                  <a:srgbClr val="0000FF"/>
                </a:solidFill>
              </a:rPr>
              <a:t>Logic Diagram of an Arithmetic Circuit</a:t>
            </a:r>
          </a:p>
        </p:txBody>
      </p:sp>
      <p:pic>
        <p:nvPicPr>
          <p:cNvPr id="5" name="Content Placeholder 3">
            <a:extLst>
              <a:ext uri="{FF2B5EF4-FFF2-40B4-BE49-F238E27FC236}">
                <a16:creationId xmlns:a16="http://schemas.microsoft.com/office/drawing/2014/main" id="{27E109C2-2C1B-4DE7-9CB1-E7209FCC520C}"/>
              </a:ext>
            </a:extLst>
          </p:cNvPr>
          <p:cNvPicPr>
            <a:picLocks noChangeAspect="1"/>
          </p:cNvPicPr>
          <p:nvPr/>
        </p:nvPicPr>
        <p:blipFill rotWithShape="1">
          <a:blip r:embed="rId2">
            <a:duotone>
              <a:prstClr val="black"/>
              <a:schemeClr val="accent6">
                <a:tint val="45000"/>
                <a:satMod val="400000"/>
              </a:schemeClr>
            </a:duotone>
          </a:blip>
          <a:srcRect l="3516" t="3434" r="3180" b="4367"/>
          <a:stretch/>
        </p:blipFill>
        <p:spPr>
          <a:xfrm>
            <a:off x="8770394" y="2742980"/>
            <a:ext cx="6783777" cy="3029057"/>
          </a:xfrm>
          <a:prstGeom prst="rect">
            <a:avLst/>
          </a:prstGeom>
        </p:spPr>
      </p:pic>
      <p:sp>
        <p:nvSpPr>
          <p:cNvPr id="6" name="TextBox 5">
            <a:extLst>
              <a:ext uri="{FF2B5EF4-FFF2-40B4-BE49-F238E27FC236}">
                <a16:creationId xmlns:a16="http://schemas.microsoft.com/office/drawing/2014/main" id="{AF296420-6C5C-4640-9738-9991B81D0F21}"/>
              </a:ext>
            </a:extLst>
          </p:cNvPr>
          <p:cNvSpPr txBox="1"/>
          <p:nvPr/>
        </p:nvSpPr>
        <p:spPr>
          <a:xfrm>
            <a:off x="8907550" y="2220830"/>
            <a:ext cx="6460679" cy="461665"/>
          </a:xfrm>
          <a:prstGeom prst="rect">
            <a:avLst/>
          </a:prstGeom>
          <a:noFill/>
        </p:spPr>
        <p:txBody>
          <a:bodyPr wrap="none" rtlCol="0">
            <a:spAutoFit/>
          </a:bodyPr>
          <a:lstStyle/>
          <a:p>
            <a:r>
              <a:rPr lang="en-US" sz="2400" b="1" dirty="0">
                <a:solidFill>
                  <a:srgbClr val="00B050"/>
                </a:solidFill>
              </a:rPr>
              <a:t>Table 9-3: The solution to the second design step </a:t>
            </a:r>
          </a:p>
        </p:txBody>
      </p:sp>
      <p:sp>
        <p:nvSpPr>
          <p:cNvPr id="7" name="TextBox 6"/>
          <p:cNvSpPr txBox="1"/>
          <p:nvPr/>
        </p:nvSpPr>
        <p:spPr>
          <a:xfrm>
            <a:off x="14139945" y="3987126"/>
            <a:ext cx="598517" cy="683264"/>
          </a:xfrm>
          <a:prstGeom prst="rect">
            <a:avLst/>
          </a:prstGeom>
          <a:noFill/>
        </p:spPr>
        <p:txBody>
          <a:bodyPr wrap="square" rtlCol="0">
            <a:spAutoFit/>
          </a:bodyPr>
          <a:lstStyle/>
          <a:p>
            <a:r>
              <a:rPr lang="en-US" sz="3840" b="1" dirty="0">
                <a:solidFill>
                  <a:srgbClr val="FF0000"/>
                </a:solidFill>
                <a:latin typeface="Times New Roman" panose="02020603050405020304" pitchFamily="18" charset="0"/>
                <a:cs typeface="Times New Roman" panose="02020603050405020304" pitchFamily="18" charset="0"/>
              </a:rPr>
              <a:t>?</a:t>
            </a:r>
          </a:p>
        </p:txBody>
      </p:sp>
      <p:sp>
        <p:nvSpPr>
          <p:cNvPr id="8" name="TextBox 7"/>
          <p:cNvSpPr txBox="1"/>
          <p:nvPr/>
        </p:nvSpPr>
        <p:spPr>
          <a:xfrm>
            <a:off x="14139944" y="4706015"/>
            <a:ext cx="598517" cy="683264"/>
          </a:xfrm>
          <a:prstGeom prst="rect">
            <a:avLst/>
          </a:prstGeom>
          <a:noFill/>
        </p:spPr>
        <p:txBody>
          <a:bodyPr wrap="square" rtlCol="0">
            <a:spAutoFit/>
          </a:bodyPr>
          <a:lstStyle/>
          <a:p>
            <a:r>
              <a:rPr lang="en-US" sz="3840" b="1" dirty="0">
                <a:solidFill>
                  <a:srgbClr val="FF0000"/>
                </a:solidFill>
                <a:latin typeface="Times New Roman" panose="02020603050405020304" pitchFamily="18" charset="0"/>
                <a:cs typeface="Times New Roman" panose="02020603050405020304" pitchFamily="18" charset="0"/>
              </a:rPr>
              <a:t>?</a:t>
            </a:r>
          </a:p>
        </p:txBody>
      </p:sp>
      <p:sp>
        <p:nvSpPr>
          <p:cNvPr id="9" name="Date Placeholder 8"/>
          <p:cNvSpPr>
            <a:spLocks noGrp="1"/>
          </p:cNvSpPr>
          <p:nvPr>
            <p:ph type="dt" sz="half" idx="10"/>
          </p:nvPr>
        </p:nvSpPr>
        <p:spPr/>
        <p:txBody>
          <a:bodyPr/>
          <a:lstStyle/>
          <a:p>
            <a:fld id="{D431759D-C9EE-45D1-B98F-8CA22F1E396B}" type="datetime3">
              <a:rPr lang="en-US" smtClean="0"/>
              <a:t>18 July 2024</a:t>
            </a:fld>
            <a:endParaRPr lang="en-US"/>
          </a:p>
        </p:txBody>
      </p:sp>
      <p:sp>
        <p:nvSpPr>
          <p:cNvPr id="10" name="Footer Placeholder 9"/>
          <p:cNvSpPr>
            <a:spLocks noGrp="1"/>
          </p:cNvSpPr>
          <p:nvPr>
            <p:ph type="ftr" sz="quarter" idx="11"/>
          </p:nvPr>
        </p:nvSpPr>
        <p:spPr/>
        <p:txBody>
          <a:bodyPr/>
          <a:lstStyle/>
          <a:p>
            <a:r>
              <a:rPr lang="en-US" dirty="0"/>
              <a:t>Course Teacher: Dr. Md. Rukonuzzaman</a:t>
            </a:r>
          </a:p>
        </p:txBody>
      </p:sp>
      <p:sp>
        <p:nvSpPr>
          <p:cNvPr id="11" name="Slide Number Placeholder 10"/>
          <p:cNvSpPr>
            <a:spLocks noGrp="1"/>
          </p:cNvSpPr>
          <p:nvPr>
            <p:ph type="sldNum" sz="quarter" idx="12"/>
          </p:nvPr>
        </p:nvSpPr>
        <p:spPr/>
        <p:txBody>
          <a:bodyPr/>
          <a:lstStyle/>
          <a:p>
            <a:fld id="{48F63A3B-78C7-47BE-AE5E-E10140E04643}" type="slidenum">
              <a:rPr lang="en-US" smtClean="0"/>
              <a:t>25</a:t>
            </a:fld>
            <a:endParaRPr lang="en-US" dirty="0"/>
          </a:p>
        </p:txBody>
      </p:sp>
      <p:pic>
        <p:nvPicPr>
          <p:cNvPr id="13" name="Picture 12"/>
          <p:cNvPicPr>
            <a:picLocks noChangeAspect="1"/>
          </p:cNvPicPr>
          <p:nvPr/>
        </p:nvPicPr>
        <p:blipFill rotWithShape="1">
          <a:blip r:embed="rId3">
            <a:duotone>
              <a:schemeClr val="accent5">
                <a:shade val="45000"/>
                <a:satMod val="135000"/>
              </a:schemeClr>
              <a:prstClr val="white"/>
            </a:duotone>
          </a:blip>
          <a:srcRect l="2898" t="3228" r="3686" b="4103"/>
          <a:stretch/>
        </p:blipFill>
        <p:spPr>
          <a:xfrm>
            <a:off x="1720738" y="1555207"/>
            <a:ext cx="5963925" cy="5673716"/>
          </a:xfrm>
          <a:prstGeom prst="rect">
            <a:avLst/>
          </a:prstGeom>
        </p:spPr>
      </p:pic>
      <p:sp>
        <p:nvSpPr>
          <p:cNvPr id="14" name="TextBox 13">
            <a:extLst>
              <a:ext uri="{FF2B5EF4-FFF2-40B4-BE49-F238E27FC236}">
                <a16:creationId xmlns:a16="http://schemas.microsoft.com/office/drawing/2014/main" id="{439EF05C-417F-4D00-BDBC-DC92E2A9570D}"/>
              </a:ext>
            </a:extLst>
          </p:cNvPr>
          <p:cNvSpPr txBox="1"/>
          <p:nvPr/>
        </p:nvSpPr>
        <p:spPr>
          <a:xfrm>
            <a:off x="437943" y="7228923"/>
            <a:ext cx="7955280" cy="400110"/>
          </a:xfrm>
          <a:prstGeom prst="rect">
            <a:avLst/>
          </a:prstGeom>
          <a:noFill/>
        </p:spPr>
        <p:txBody>
          <a:bodyPr wrap="square" rtlCol="0">
            <a:spAutoFit/>
          </a:bodyPr>
          <a:lstStyle/>
          <a:p>
            <a:pPr algn="ctr"/>
            <a:r>
              <a:rPr lang="en-US" sz="2000" b="1" dirty="0">
                <a:solidFill>
                  <a:srgbClr val="00B050"/>
                </a:solidFill>
              </a:rPr>
              <a:t>Figure 9-8 Logic Diagram of a 4-bit Arithmetic Circuit</a:t>
            </a:r>
          </a:p>
        </p:txBody>
      </p:sp>
    </p:spTree>
    <p:extLst>
      <p:ext uri="{BB962C8B-B14F-4D97-AF65-F5344CB8AC3E}">
        <p14:creationId xmlns:p14="http://schemas.microsoft.com/office/powerpoint/2010/main" val="3683123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2AD0BB-D8B0-4DB5-89CA-0E593D796B7B}" type="datetime3">
              <a:rPr lang="en-US" smtClean="0"/>
              <a:t>18 July 2024</a:t>
            </a:fld>
            <a:endParaRPr lang="en-US"/>
          </a:p>
        </p:txBody>
      </p:sp>
      <p:sp>
        <p:nvSpPr>
          <p:cNvPr id="3" name="Footer Placeholder 2"/>
          <p:cNvSpPr>
            <a:spLocks noGrp="1"/>
          </p:cNvSpPr>
          <p:nvPr>
            <p:ph type="ftr" sz="quarter" idx="11"/>
          </p:nvPr>
        </p:nvSpPr>
        <p:spPr/>
        <p:txBody>
          <a:bodyPr/>
          <a:lstStyle/>
          <a:p>
            <a:r>
              <a:rPr lang="en-US" dirty="0"/>
              <a:t>Course Teacher: Dr. Md. Rukonuzzaman</a:t>
            </a:r>
          </a:p>
        </p:txBody>
      </p:sp>
      <p:sp>
        <p:nvSpPr>
          <p:cNvPr id="4" name="Slide Number Placeholder 3"/>
          <p:cNvSpPr>
            <a:spLocks noGrp="1"/>
          </p:cNvSpPr>
          <p:nvPr>
            <p:ph type="sldNum" sz="quarter" idx="12"/>
          </p:nvPr>
        </p:nvSpPr>
        <p:spPr/>
        <p:txBody>
          <a:bodyPr/>
          <a:lstStyle/>
          <a:p>
            <a:fld id="{48F63A3B-78C7-47BE-AE5E-E10140E04643}" type="slidenum">
              <a:rPr lang="en-US" smtClean="0"/>
              <a:t>26</a:t>
            </a:fld>
            <a:endParaRPr lang="en-US" dirty="0"/>
          </a:p>
        </p:txBody>
      </p:sp>
      <mc:AlternateContent xmlns:mc="http://schemas.openxmlformats.org/markup-compatibility/2006">
        <mc:Choice xmlns:a14="http://schemas.microsoft.com/office/drawing/2010/main" Requires="a14">
          <p:sp>
            <p:nvSpPr>
              <p:cNvPr id="6" name="TextBox 5"/>
              <p:cNvSpPr txBox="1"/>
              <p:nvPr/>
            </p:nvSpPr>
            <p:spPr>
              <a:xfrm>
                <a:off x="1110343" y="1506723"/>
                <a:ext cx="14238514" cy="6053324"/>
              </a:xfrm>
              <a:prstGeom prst="rect">
                <a:avLst/>
              </a:prstGeom>
              <a:noFill/>
            </p:spPr>
            <p:txBody>
              <a:bodyPr wrap="square" rtlCol="0">
                <a:spAutoFit/>
              </a:bodyPr>
              <a:lstStyle/>
              <a:p>
                <a:pPr>
                  <a:lnSpc>
                    <a:spcPct val="120000"/>
                  </a:lnSpc>
                  <a:spcBef>
                    <a:spcPts val="600"/>
                  </a:spcBef>
                  <a:spcAft>
                    <a:spcPts val="600"/>
                  </a:spcAft>
                </a:pPr>
                <a:r>
                  <a:rPr lang="en-US" sz="2800" dirty="0"/>
                  <a:t>The solution to the first design step is shown in Fig. 9.8. The solution to the second design step is presented in Table 9.3. The solution of the third step is shown below.</a:t>
                </a:r>
              </a:p>
              <a:p>
                <a:pPr>
                  <a:lnSpc>
                    <a:spcPct val="120000"/>
                  </a:lnSpc>
                  <a:spcBef>
                    <a:spcPts val="600"/>
                  </a:spcBef>
                  <a:spcAft>
                    <a:spcPts val="600"/>
                  </a:spcAft>
                </a:pPr>
                <a:r>
                  <a:rPr lang="en-US" sz="2800" dirty="0"/>
                  <a:t>From Table 9.3, we see that when </a:t>
                </a:r>
                <a:r>
                  <a:rPr lang="en-US" sz="2800" i="1" dirty="0"/>
                  <a:t>s</a:t>
                </a:r>
                <a:r>
                  <a:rPr lang="en-US" sz="2800" baseline="-25000" dirty="0"/>
                  <a:t>2</a:t>
                </a:r>
                <a:r>
                  <a:rPr lang="en-US" sz="2800" dirty="0"/>
                  <a:t> = 1, the input carry </a:t>
                </a:r>
                <a:r>
                  <a:rPr lang="en-US" sz="2800" i="1" dirty="0"/>
                  <a:t>C</a:t>
                </a:r>
                <a:r>
                  <a:rPr lang="en-US" sz="2800" i="1" baseline="-25000" dirty="0"/>
                  <a:t>i</a:t>
                </a:r>
                <a:r>
                  <a:rPr lang="en-US" sz="2800" dirty="0"/>
                  <a:t> in each stage must be 0. When both </a:t>
                </a:r>
                <a:r>
                  <a:rPr lang="en-US" sz="2800" i="1" dirty="0"/>
                  <a:t>s</a:t>
                </a:r>
                <a:r>
                  <a:rPr lang="en-US" sz="2800" baseline="-25000" dirty="0"/>
                  <a:t>1</a:t>
                </a:r>
                <a:r>
                  <a:rPr lang="en-US" sz="2800" dirty="0"/>
                  <a:t> and </a:t>
                </a:r>
                <a:r>
                  <a:rPr lang="en-US" sz="2800" i="1" dirty="0"/>
                  <a:t>s</a:t>
                </a:r>
                <a:r>
                  <a:rPr lang="en-US" sz="2800" baseline="-25000" dirty="0"/>
                  <a:t>0</a:t>
                </a:r>
                <a:r>
                  <a:rPr lang="en-US" sz="2800" dirty="0"/>
                  <a:t> are equal to 0, each stage generates the output function </a:t>
                </a:r>
                <a:r>
                  <a:rPr lang="en-US" sz="2800" i="1" dirty="0"/>
                  <a:t>F</a:t>
                </a:r>
                <a:r>
                  <a:rPr lang="en-US" sz="2800" i="1" baseline="-25000" dirty="0"/>
                  <a:t>i</a:t>
                </a:r>
                <a:r>
                  <a:rPr lang="en-US" sz="2800" dirty="0"/>
                  <a:t> = </a:t>
                </a:r>
                <a:r>
                  <a:rPr lang="en-US" sz="2800" i="1" dirty="0"/>
                  <a:t>A</a:t>
                </a:r>
                <a:r>
                  <a:rPr lang="en-US" sz="2800" i="1" baseline="-25000" dirty="0"/>
                  <a:t>i</a:t>
                </a:r>
                <a:r>
                  <a:rPr lang="en-US" sz="2800" dirty="0"/>
                  <a:t>. To change the output to an OR operation, we must change the input to each full-adder circuit from </a:t>
                </a:r>
                <a:r>
                  <a:rPr lang="en-US" sz="2800" i="1" dirty="0"/>
                  <a:t>A</a:t>
                </a:r>
                <a:r>
                  <a:rPr lang="en-US" sz="2800" i="1" baseline="-25000" dirty="0"/>
                  <a:t>i </a:t>
                </a:r>
                <a:r>
                  <a:rPr lang="en-US" sz="2800" dirty="0"/>
                  <a:t>to </a:t>
                </a:r>
                <a:r>
                  <a:rPr lang="en-US" sz="2800" i="1" dirty="0"/>
                  <a:t>A</a:t>
                </a:r>
                <a:r>
                  <a:rPr lang="en-US" sz="2800" i="1" baseline="-25000" dirty="0"/>
                  <a:t>i</a:t>
                </a:r>
                <a:r>
                  <a:rPr lang="en-US" sz="2800" dirty="0"/>
                  <a:t> + </a:t>
                </a:r>
                <a:r>
                  <a:rPr lang="en-US" sz="2800" i="1" dirty="0"/>
                  <a:t>B</a:t>
                </a:r>
                <a:r>
                  <a:rPr lang="en-US" sz="2800" i="1" baseline="-25000" dirty="0"/>
                  <a:t>i</a:t>
                </a:r>
                <a:r>
                  <a:rPr lang="en-US" sz="2800" dirty="0"/>
                  <a:t>. This can be accomplished by </a:t>
                </a:r>
                <a:r>
                  <a:rPr lang="en-US" sz="2800" dirty="0" err="1"/>
                  <a:t>ORing</a:t>
                </a:r>
                <a:r>
                  <a:rPr lang="en-US" sz="2800" dirty="0"/>
                  <a:t> </a:t>
                </a:r>
                <a:r>
                  <a:rPr lang="en-US" sz="2800" i="1" dirty="0"/>
                  <a:t>A</a:t>
                </a:r>
                <a:r>
                  <a:rPr lang="en-US" sz="2800" i="1" baseline="-25000" dirty="0"/>
                  <a:t>i</a:t>
                </a:r>
                <a:r>
                  <a:rPr lang="en-US" sz="2800" dirty="0"/>
                  <a:t> and </a:t>
                </a:r>
                <a:r>
                  <a:rPr lang="en-US" sz="2800" i="1" dirty="0"/>
                  <a:t>B</a:t>
                </a:r>
                <a:r>
                  <a:rPr lang="en-US" sz="2800" i="1" baseline="-25000" dirty="0"/>
                  <a:t>i</a:t>
                </a:r>
                <a:r>
                  <a:rPr lang="en-US" sz="2800" dirty="0"/>
                  <a:t> when </a:t>
                </a:r>
                <a:r>
                  <a:rPr lang="en-US" sz="2800" i="1" dirty="0"/>
                  <a:t>s</a:t>
                </a:r>
                <a:r>
                  <a:rPr lang="en-US" sz="2800" baseline="-25000" dirty="0"/>
                  <a:t>2</a:t>
                </a:r>
                <a:r>
                  <a:rPr lang="en-US" sz="2800" i="1" dirty="0"/>
                  <a:t>s</a:t>
                </a:r>
                <a:r>
                  <a:rPr lang="en-US" sz="2800" baseline="-25000" dirty="0"/>
                  <a:t>1</a:t>
                </a:r>
                <a:r>
                  <a:rPr lang="en-US" sz="2800" i="1" dirty="0"/>
                  <a:t>s</a:t>
                </a:r>
                <a:r>
                  <a:rPr lang="en-US" sz="2800" baseline="-25000" dirty="0"/>
                  <a:t>0</a:t>
                </a:r>
                <a:r>
                  <a:rPr lang="en-US" sz="2800" dirty="0"/>
                  <a:t> = 100.</a:t>
                </a:r>
              </a:p>
              <a:p>
                <a:pPr>
                  <a:lnSpc>
                    <a:spcPct val="120000"/>
                  </a:lnSpc>
                  <a:spcBef>
                    <a:spcPts val="600"/>
                  </a:spcBef>
                  <a:spcAft>
                    <a:spcPts val="600"/>
                  </a:spcAft>
                </a:pPr>
                <a:r>
                  <a:rPr lang="en-US" sz="2800" dirty="0"/>
                  <a:t>The other selection variable combinations that gives an </a:t>
                </a:r>
                <a:r>
                  <a:rPr lang="en-US" sz="2800" b="1" dirty="0">
                    <a:solidFill>
                      <a:srgbClr val="FF0000"/>
                    </a:solidFill>
                  </a:rPr>
                  <a:t>undesirable output </a:t>
                </a:r>
                <a:r>
                  <a:rPr lang="en-US" sz="2800" dirty="0"/>
                  <a:t>is </a:t>
                </a:r>
                <a:r>
                  <a:rPr lang="en-US" sz="2800" b="1" i="1" dirty="0">
                    <a:solidFill>
                      <a:srgbClr val="FF0000"/>
                    </a:solidFill>
                  </a:rPr>
                  <a:t>s</a:t>
                </a:r>
                <a:r>
                  <a:rPr lang="en-US" sz="2800" b="1" baseline="-25000" dirty="0">
                    <a:solidFill>
                      <a:srgbClr val="FF0000"/>
                    </a:solidFill>
                  </a:rPr>
                  <a:t>2</a:t>
                </a:r>
                <a:r>
                  <a:rPr lang="en-US" sz="2800" b="1" i="1" dirty="0">
                    <a:solidFill>
                      <a:srgbClr val="FF0000"/>
                    </a:solidFill>
                  </a:rPr>
                  <a:t>s</a:t>
                </a:r>
                <a:r>
                  <a:rPr lang="en-US" sz="2800" b="1" baseline="-25000" dirty="0">
                    <a:solidFill>
                      <a:srgbClr val="FF0000"/>
                    </a:solidFill>
                  </a:rPr>
                  <a:t>1</a:t>
                </a:r>
                <a:r>
                  <a:rPr lang="en-US" sz="2800" b="1" i="1" dirty="0">
                    <a:solidFill>
                      <a:srgbClr val="FF0000"/>
                    </a:solidFill>
                  </a:rPr>
                  <a:t>s</a:t>
                </a:r>
                <a:r>
                  <a:rPr lang="en-US" sz="2800" b="1" baseline="-25000" dirty="0">
                    <a:solidFill>
                      <a:srgbClr val="FF0000"/>
                    </a:solidFill>
                  </a:rPr>
                  <a:t>0</a:t>
                </a:r>
                <a:r>
                  <a:rPr lang="en-US" sz="2800" b="1" dirty="0">
                    <a:solidFill>
                      <a:srgbClr val="FF0000"/>
                    </a:solidFill>
                  </a:rPr>
                  <a:t> = 110</a:t>
                </a:r>
                <a:r>
                  <a:rPr lang="en-US" sz="2800" dirty="0"/>
                  <a:t>. The present unit generates the output, </a:t>
                </a:r>
                <a14:m>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panose="02040503050406030204" pitchFamily="18" charset="0"/>
                          </a:rPr>
                          <m:t>𝐹</m:t>
                        </m:r>
                      </m:e>
                      <m:sub>
                        <m:r>
                          <a:rPr lang="en-US" sz="2800" i="1">
                            <a:latin typeface="Cambria Math" panose="02040503050406030204" pitchFamily="18" charset="0"/>
                          </a:rPr>
                          <m:t>𝑖</m:t>
                        </m:r>
                      </m:sub>
                    </m:sSub>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𝐴</m:t>
                        </m:r>
                      </m:e>
                      <m:sub>
                        <m:r>
                          <a:rPr lang="en-US" sz="2800" i="1">
                            <a:latin typeface="Cambria Math" panose="02040503050406030204" pitchFamily="18" charset="0"/>
                            <a:ea typeface="Cambria Math" panose="02040503050406030204" pitchFamily="18" charset="0"/>
                          </a:rPr>
                          <m:t>𝑖</m:t>
                        </m:r>
                      </m:sub>
                    </m:sSub>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𝐵</m:t>
                        </m:r>
                      </m:e>
                      <m:sub>
                        <m:r>
                          <a:rPr lang="en-US" sz="2800" i="1">
                            <a:latin typeface="Cambria Math" panose="02040503050406030204" pitchFamily="18" charset="0"/>
                            <a:ea typeface="Cambria Math" panose="02040503050406030204" pitchFamily="18" charset="0"/>
                          </a:rPr>
                          <m:t>𝑖</m:t>
                        </m:r>
                      </m:sub>
                    </m:sSub>
                  </m:oMath>
                </a14:m>
                <a:r>
                  <a:rPr lang="en-US" sz="2800" dirty="0"/>
                  <a:t> as discussed in the previous slide. However, </a:t>
                </a:r>
                <a:r>
                  <a:rPr lang="en-US" sz="2800" dirty="0">
                    <a:solidFill>
                      <a:srgbClr val="FF0000"/>
                    </a:solidFill>
                  </a:rPr>
                  <a:t>we want to generate the AND operation (i.e., </a:t>
                </a:r>
                <a14:m>
                  <m:oMath xmlns:m="http://schemas.openxmlformats.org/officeDocument/2006/math">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𝐹</m:t>
                        </m:r>
                      </m:e>
                      <m:sub>
                        <m:r>
                          <a:rPr lang="en-US" sz="2800" i="1">
                            <a:solidFill>
                              <a:srgbClr val="FF0000"/>
                            </a:solidFill>
                            <a:latin typeface="Cambria Math" panose="02040503050406030204" pitchFamily="18" charset="0"/>
                          </a:rPr>
                          <m:t>𝑖</m:t>
                        </m:r>
                      </m:sub>
                    </m:sSub>
                    <m:r>
                      <a:rPr lang="en-US" sz="2800" i="1">
                        <a:solidFill>
                          <a:srgbClr val="FF0000"/>
                        </a:solidFill>
                        <a:latin typeface="Cambria Math" panose="02040503050406030204" pitchFamily="18" charset="0"/>
                        <a:ea typeface="Cambria Math" panose="02040503050406030204" pitchFamily="18" charset="0"/>
                      </a:rPr>
                      <m:t>=</m:t>
                    </m:r>
                    <m:sSub>
                      <m:sSubPr>
                        <m:ctrlPr>
                          <a:rPr lang="en-US" sz="2800" i="1">
                            <a:solidFill>
                              <a:srgbClr val="FF0000"/>
                            </a:solidFill>
                            <a:latin typeface="Cambria Math" panose="02040503050406030204" pitchFamily="18" charset="0"/>
                            <a:ea typeface="Cambria Math" panose="02040503050406030204" pitchFamily="18" charset="0"/>
                          </a:rPr>
                        </m:ctrlPr>
                      </m:sSubPr>
                      <m:e>
                        <m:r>
                          <a:rPr lang="en-US" sz="2800" i="1">
                            <a:solidFill>
                              <a:srgbClr val="FF0000"/>
                            </a:solidFill>
                            <a:latin typeface="Cambria Math" panose="02040503050406030204" pitchFamily="18" charset="0"/>
                            <a:ea typeface="Cambria Math" panose="02040503050406030204" pitchFamily="18" charset="0"/>
                          </a:rPr>
                          <m:t>𝐴</m:t>
                        </m:r>
                      </m:e>
                      <m:sub>
                        <m:r>
                          <a:rPr lang="en-US" sz="2800" i="1">
                            <a:solidFill>
                              <a:srgbClr val="FF0000"/>
                            </a:solidFill>
                            <a:latin typeface="Cambria Math" panose="02040503050406030204" pitchFamily="18" charset="0"/>
                            <a:ea typeface="Cambria Math" panose="02040503050406030204" pitchFamily="18" charset="0"/>
                          </a:rPr>
                          <m:t>𝑖</m:t>
                        </m:r>
                      </m:sub>
                    </m:sSub>
                    <m:sSub>
                      <m:sSubPr>
                        <m:ctrlPr>
                          <a:rPr lang="en-US" sz="2800" i="1" smtClean="0">
                            <a:solidFill>
                              <a:srgbClr val="FF0000"/>
                            </a:solidFill>
                            <a:latin typeface="Cambria Math" panose="02040503050406030204" pitchFamily="18" charset="0"/>
                            <a:ea typeface="Cambria Math" panose="02040503050406030204" pitchFamily="18" charset="0"/>
                          </a:rPr>
                        </m:ctrlPr>
                      </m:sSubPr>
                      <m:e>
                        <m:r>
                          <a:rPr lang="en-US" sz="2800" i="1">
                            <a:solidFill>
                              <a:srgbClr val="FF0000"/>
                            </a:solidFill>
                            <a:latin typeface="Cambria Math" panose="02040503050406030204" pitchFamily="18" charset="0"/>
                            <a:ea typeface="Cambria Math" panose="02040503050406030204" pitchFamily="18" charset="0"/>
                          </a:rPr>
                          <m:t>𝐵</m:t>
                        </m:r>
                      </m:e>
                      <m:sub>
                        <m:r>
                          <a:rPr lang="en-US" sz="2800" i="1">
                            <a:solidFill>
                              <a:srgbClr val="FF0000"/>
                            </a:solidFill>
                            <a:latin typeface="Cambria Math" panose="02040503050406030204" pitchFamily="18" charset="0"/>
                            <a:ea typeface="Cambria Math" panose="02040503050406030204" pitchFamily="18" charset="0"/>
                          </a:rPr>
                          <m:t>𝑖</m:t>
                        </m:r>
                      </m:sub>
                    </m:sSub>
                  </m:oMath>
                </a14:m>
                <a:r>
                  <a:rPr lang="en-US" sz="2800" dirty="0">
                    <a:solidFill>
                      <a:srgbClr val="FF0000"/>
                    </a:solidFill>
                  </a:rPr>
                  <a:t>) </a:t>
                </a:r>
                <a:r>
                  <a:rPr lang="en-US" sz="2800" dirty="0"/>
                  <a:t>for this combination. For this purpose, let us investigate the possibility of </a:t>
                </a:r>
                <a:r>
                  <a:rPr lang="en-US" sz="2800" dirty="0" err="1">
                    <a:solidFill>
                      <a:srgbClr val="FF0000"/>
                    </a:solidFill>
                  </a:rPr>
                  <a:t>ORing</a:t>
                </a:r>
                <a:r>
                  <a:rPr lang="en-US" sz="2800" dirty="0">
                    <a:solidFill>
                      <a:srgbClr val="FF0000"/>
                    </a:solidFill>
                  </a:rPr>
                  <a:t> each input </a:t>
                </a:r>
                <a:r>
                  <a:rPr lang="en-US" sz="2800" i="1" dirty="0">
                    <a:solidFill>
                      <a:srgbClr val="FF0000"/>
                    </a:solidFill>
                  </a:rPr>
                  <a:t>A</a:t>
                </a:r>
                <a:r>
                  <a:rPr lang="en-US" sz="2800" i="1" baseline="-25000" dirty="0">
                    <a:solidFill>
                      <a:srgbClr val="FF0000"/>
                    </a:solidFill>
                  </a:rPr>
                  <a:t>i</a:t>
                </a:r>
                <a:r>
                  <a:rPr lang="en-US" sz="2800" dirty="0">
                    <a:solidFill>
                      <a:srgbClr val="FF0000"/>
                    </a:solidFill>
                  </a:rPr>
                  <a:t> with a Boolean variable </a:t>
                </a:r>
                <a:r>
                  <a:rPr lang="en-US" sz="2800" i="1" dirty="0">
                    <a:solidFill>
                      <a:srgbClr val="FF0000"/>
                    </a:solidFill>
                  </a:rPr>
                  <a:t>K</a:t>
                </a:r>
                <a:r>
                  <a:rPr lang="en-US" sz="2800" i="1" baseline="-25000" dirty="0">
                    <a:solidFill>
                      <a:srgbClr val="FF0000"/>
                    </a:solidFill>
                  </a:rPr>
                  <a:t>i</a:t>
                </a:r>
                <a:r>
                  <a:rPr lang="en-US" sz="2800" dirty="0"/>
                  <a:t>. The function so obtained is used for </a:t>
                </a:r>
                <a:r>
                  <a:rPr lang="en-US" sz="2800" i="1" dirty="0"/>
                  <a:t>X</a:t>
                </a:r>
                <a:r>
                  <a:rPr lang="en-US" sz="2800" i="1" baseline="-25000" dirty="0"/>
                  <a:t>i</a:t>
                </a:r>
                <a:r>
                  <a:rPr lang="en-US" sz="2800" dirty="0"/>
                  <a:t> when </a:t>
                </a:r>
                <a:r>
                  <a:rPr lang="en-US" sz="2800" i="1" dirty="0">
                    <a:solidFill>
                      <a:srgbClr val="FF0000"/>
                    </a:solidFill>
                  </a:rPr>
                  <a:t>s</a:t>
                </a:r>
                <a:r>
                  <a:rPr lang="en-US" sz="2800" baseline="-25000" dirty="0">
                    <a:solidFill>
                      <a:srgbClr val="FF0000"/>
                    </a:solidFill>
                  </a:rPr>
                  <a:t>2</a:t>
                </a:r>
                <a:r>
                  <a:rPr lang="en-US" sz="2800" i="1" dirty="0">
                    <a:solidFill>
                      <a:srgbClr val="FF0000"/>
                    </a:solidFill>
                  </a:rPr>
                  <a:t>s</a:t>
                </a:r>
                <a:r>
                  <a:rPr lang="en-US" sz="2800" baseline="-25000" dirty="0">
                    <a:solidFill>
                      <a:srgbClr val="FF0000"/>
                    </a:solidFill>
                  </a:rPr>
                  <a:t>1</a:t>
                </a:r>
                <a:r>
                  <a:rPr lang="en-US" sz="2800" i="1" dirty="0">
                    <a:solidFill>
                      <a:srgbClr val="FF0000"/>
                    </a:solidFill>
                  </a:rPr>
                  <a:t>s</a:t>
                </a:r>
                <a:r>
                  <a:rPr lang="en-US" sz="2800" baseline="-25000" dirty="0">
                    <a:solidFill>
                      <a:srgbClr val="FF0000"/>
                    </a:solidFill>
                  </a:rPr>
                  <a:t>0</a:t>
                </a:r>
                <a:r>
                  <a:rPr lang="en-US" sz="2800" dirty="0">
                    <a:solidFill>
                      <a:srgbClr val="FF0000"/>
                    </a:solidFill>
                  </a:rPr>
                  <a:t> = 110</a:t>
                </a:r>
                <a:r>
                  <a:rPr lang="en-US" sz="2800" dirty="0"/>
                  <a:t>.</a:t>
                </a:r>
              </a:p>
            </p:txBody>
          </p:sp>
        </mc:Choice>
        <mc:Fallback>
          <p:sp>
            <p:nvSpPr>
              <p:cNvPr id="6" name="TextBox 5"/>
              <p:cNvSpPr txBox="1">
                <a:spLocks noRot="1" noChangeAspect="1" noMove="1" noResize="1" noEditPoints="1" noAdjustHandles="1" noChangeArrowheads="1" noChangeShapeType="1" noTextEdit="1"/>
              </p:cNvSpPr>
              <p:nvPr/>
            </p:nvSpPr>
            <p:spPr>
              <a:xfrm>
                <a:off x="1110343" y="1506723"/>
                <a:ext cx="14238514" cy="6053324"/>
              </a:xfrm>
              <a:prstGeom prst="rect">
                <a:avLst/>
              </a:prstGeom>
              <a:blipFill>
                <a:blip r:embed="rId2"/>
                <a:stretch>
                  <a:fillRect l="-856" t="-101" r="-1370" b="-1913"/>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66DB13EE-9066-4270-BF91-8769F7E74896}"/>
              </a:ext>
            </a:extLst>
          </p:cNvPr>
          <p:cNvSpPr>
            <a:spLocks noGrp="1"/>
          </p:cNvSpPr>
          <p:nvPr>
            <p:ph type="title"/>
          </p:nvPr>
        </p:nvSpPr>
        <p:spPr>
          <a:xfrm>
            <a:off x="1410733" y="289354"/>
            <a:ext cx="14015313" cy="857782"/>
          </a:xfrm>
        </p:spPr>
        <p:txBody>
          <a:bodyPr>
            <a:normAutofit/>
          </a:bodyPr>
          <a:lstStyle/>
          <a:p>
            <a:pPr algn="ctr"/>
            <a:r>
              <a:rPr lang="en-US" sz="4000" b="1" dirty="0">
                <a:solidFill>
                  <a:srgbClr val="0000FF"/>
                </a:solidFill>
              </a:rPr>
              <a:t>Converting an Arithmetic Circuit to Logic Circuit</a:t>
            </a:r>
          </a:p>
        </p:txBody>
      </p:sp>
    </p:spTree>
    <p:extLst>
      <p:ext uri="{BB962C8B-B14F-4D97-AF65-F5344CB8AC3E}">
        <p14:creationId xmlns:p14="http://schemas.microsoft.com/office/powerpoint/2010/main" val="39780733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E89B80-07A6-44AD-806D-75FC4CC05111}" type="datetime3">
              <a:rPr lang="en-US" smtClean="0"/>
              <a:t>18 July 2024</a:t>
            </a:fld>
            <a:endParaRPr lang="en-US"/>
          </a:p>
        </p:txBody>
      </p:sp>
      <p:sp>
        <p:nvSpPr>
          <p:cNvPr id="3" name="Footer Placeholder 2"/>
          <p:cNvSpPr>
            <a:spLocks noGrp="1"/>
          </p:cNvSpPr>
          <p:nvPr>
            <p:ph type="ftr" sz="quarter" idx="11"/>
          </p:nvPr>
        </p:nvSpPr>
        <p:spPr/>
        <p:txBody>
          <a:bodyPr/>
          <a:lstStyle/>
          <a:p>
            <a:r>
              <a:rPr lang="en-US" dirty="0"/>
              <a:t>Course Teacher: Dr. Md. Rukonuzzaman</a:t>
            </a:r>
          </a:p>
        </p:txBody>
      </p:sp>
      <p:sp>
        <p:nvSpPr>
          <p:cNvPr id="5" name="Slide Number Placeholder 4"/>
          <p:cNvSpPr>
            <a:spLocks noGrp="1"/>
          </p:cNvSpPr>
          <p:nvPr>
            <p:ph type="sldNum" sz="quarter" idx="12"/>
          </p:nvPr>
        </p:nvSpPr>
        <p:spPr/>
        <p:txBody>
          <a:bodyPr/>
          <a:lstStyle/>
          <a:p>
            <a:fld id="{48F63A3B-78C7-47BE-AE5E-E10140E04643}" type="slidenum">
              <a:rPr lang="en-US" smtClean="0"/>
              <a:t>27</a:t>
            </a:fld>
            <a:endParaRPr lang="en-US" dirty="0"/>
          </a:p>
        </p:txBody>
      </p:sp>
      <p:sp>
        <p:nvSpPr>
          <p:cNvPr id="6" name="Title 1">
            <a:extLst>
              <a:ext uri="{FF2B5EF4-FFF2-40B4-BE49-F238E27FC236}">
                <a16:creationId xmlns:a16="http://schemas.microsoft.com/office/drawing/2014/main" id="{66DB13EE-9066-4270-BF91-8769F7E74896}"/>
              </a:ext>
            </a:extLst>
          </p:cNvPr>
          <p:cNvSpPr>
            <a:spLocks noGrp="1"/>
          </p:cNvSpPr>
          <p:nvPr>
            <p:ph type="title"/>
          </p:nvPr>
        </p:nvSpPr>
        <p:spPr>
          <a:xfrm>
            <a:off x="1072342" y="305995"/>
            <a:ext cx="14436832" cy="857782"/>
          </a:xfrm>
        </p:spPr>
        <p:txBody>
          <a:bodyPr>
            <a:normAutofit/>
          </a:bodyPr>
          <a:lstStyle/>
          <a:p>
            <a:pPr algn="ctr"/>
            <a:r>
              <a:rPr lang="en-US" sz="4000" b="1" dirty="0">
                <a:solidFill>
                  <a:srgbClr val="0000FF"/>
                </a:solidFill>
              </a:rPr>
              <a:t>Converting an Arithmetic Circuit to Logic Circuit</a:t>
            </a:r>
          </a:p>
        </p:txBody>
      </p:sp>
      <mc:AlternateContent xmlns:mc="http://schemas.openxmlformats.org/markup-compatibility/2006">
        <mc:Choice xmlns:a14="http://schemas.microsoft.com/office/drawing/2010/main" Requires="a14">
          <p:sp>
            <p:nvSpPr>
              <p:cNvPr id="7" name="TextBox 6"/>
              <p:cNvSpPr txBox="1"/>
              <p:nvPr/>
            </p:nvSpPr>
            <p:spPr>
              <a:xfrm>
                <a:off x="950026" y="1588442"/>
                <a:ext cx="14048509" cy="4958024"/>
              </a:xfrm>
              <a:prstGeom prst="rect">
                <a:avLst/>
              </a:prstGeom>
              <a:noFill/>
            </p:spPr>
            <p:txBody>
              <a:bodyPr wrap="square" rtlCol="0">
                <a:spAutoFit/>
              </a:bodyPr>
              <a:lstStyle/>
              <a:p>
                <a:pPr>
                  <a:lnSpc>
                    <a:spcPct val="120000"/>
                  </a:lnSpc>
                  <a:spcBef>
                    <a:spcPts val="600"/>
                  </a:spcBef>
                  <a:spcAft>
                    <a:spcPts val="600"/>
                  </a:spcAft>
                </a:pPr>
                <a:r>
                  <a:rPr lang="en-US" sz="2400" dirty="0"/>
                  <a:t>If the value of </a:t>
                </a:r>
                <a:r>
                  <a:rPr lang="en-US" sz="2400" b="1" i="1" dirty="0">
                    <a:solidFill>
                      <a:srgbClr val="FF0000"/>
                    </a:solidFill>
                  </a:rPr>
                  <a:t>K</a:t>
                </a:r>
                <a:r>
                  <a:rPr lang="en-US" sz="2400" b="1" i="1" baseline="-25000" dirty="0">
                    <a:solidFill>
                      <a:srgbClr val="FF0000"/>
                    </a:solidFill>
                  </a:rPr>
                  <a:t>i</a:t>
                </a:r>
                <a:r>
                  <a:rPr lang="en-US" sz="2400" b="1" dirty="0">
                    <a:solidFill>
                      <a:srgbClr val="FF0000"/>
                    </a:solidFill>
                  </a:rPr>
                  <a:t> is </a:t>
                </a:r>
                <a:r>
                  <a:rPr lang="en-US" sz="2400" b="1" dirty="0" err="1">
                    <a:solidFill>
                      <a:srgbClr val="FF0000"/>
                    </a:solidFill>
                  </a:rPr>
                  <a:t>ORed</a:t>
                </a:r>
                <a:r>
                  <a:rPr lang="en-US" sz="2400" b="1" dirty="0">
                    <a:solidFill>
                      <a:srgbClr val="FF0000"/>
                    </a:solidFill>
                  </a:rPr>
                  <a:t> with input </a:t>
                </a:r>
                <a:r>
                  <a:rPr lang="en-US" sz="2400" b="1" i="1" dirty="0">
                    <a:solidFill>
                      <a:srgbClr val="FF0000"/>
                    </a:solidFill>
                  </a:rPr>
                  <a:t>A</a:t>
                </a:r>
                <a:r>
                  <a:rPr lang="en-US" sz="2400" b="1" i="1" baseline="-25000" dirty="0">
                    <a:solidFill>
                      <a:srgbClr val="FF0000"/>
                    </a:solidFill>
                  </a:rPr>
                  <a:t>i</a:t>
                </a:r>
                <a:r>
                  <a:rPr lang="en-US" sz="2400" b="1" dirty="0">
                    <a:solidFill>
                      <a:srgbClr val="FF0000"/>
                    </a:solidFill>
                  </a:rPr>
                  <a:t> </a:t>
                </a:r>
                <a:r>
                  <a:rPr lang="en-US" sz="2400" dirty="0"/>
                  <a:t>then we obtain (remember, when </a:t>
                </a:r>
                <a:r>
                  <a:rPr lang="en-US" sz="2400" i="1" dirty="0">
                    <a:solidFill>
                      <a:srgbClr val="FF0000"/>
                    </a:solidFill>
                  </a:rPr>
                  <a:t>s</a:t>
                </a:r>
                <a:r>
                  <a:rPr lang="en-US" sz="2400" baseline="-25000" dirty="0">
                    <a:solidFill>
                      <a:srgbClr val="FF0000"/>
                    </a:solidFill>
                  </a:rPr>
                  <a:t>2</a:t>
                </a:r>
                <a:r>
                  <a:rPr lang="en-US" sz="2400" i="1" dirty="0">
                    <a:solidFill>
                      <a:srgbClr val="FF0000"/>
                    </a:solidFill>
                  </a:rPr>
                  <a:t>s</a:t>
                </a:r>
                <a:r>
                  <a:rPr lang="en-US" sz="2400" baseline="-25000" dirty="0">
                    <a:solidFill>
                      <a:srgbClr val="FF0000"/>
                    </a:solidFill>
                  </a:rPr>
                  <a:t>1</a:t>
                </a:r>
                <a:r>
                  <a:rPr lang="en-US" sz="2400" i="1" dirty="0">
                    <a:solidFill>
                      <a:srgbClr val="FF0000"/>
                    </a:solidFill>
                  </a:rPr>
                  <a:t>s</a:t>
                </a:r>
                <a:r>
                  <a:rPr lang="en-US" sz="2400" baseline="-25000" dirty="0">
                    <a:solidFill>
                      <a:srgbClr val="FF0000"/>
                    </a:solidFill>
                  </a:rPr>
                  <a:t>0</a:t>
                </a:r>
                <a:r>
                  <a:rPr lang="en-US" sz="2400" dirty="0">
                    <a:solidFill>
                      <a:srgbClr val="FF0000"/>
                    </a:solidFill>
                  </a:rPr>
                  <a:t> = 110 </a:t>
                </a:r>
                <a:r>
                  <a:rPr lang="en-US" sz="2400" dirty="0"/>
                  <a:t>then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𝑋</m:t>
                        </m:r>
                      </m:e>
                      <m:sub>
                        <m:r>
                          <a:rPr lang="en-US" sz="2400" i="1">
                            <a:latin typeface="Cambria Math" panose="02040503050406030204" pitchFamily="18" charset="0"/>
                            <a:ea typeface="Cambria Math" panose="02040503050406030204" pitchFamily="18" charset="0"/>
                          </a:rPr>
                          <m:t>𝑖</m:t>
                        </m:r>
                      </m:sub>
                    </m:sSub>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Sub>
                  </m:oMath>
                </a14:m>
                <a:r>
                  <a:rPr lang="en-US" sz="2400" dirty="0"/>
                  <a:t> and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𝑌</m:t>
                        </m:r>
                      </m:e>
                      <m:sub>
                        <m:r>
                          <a:rPr lang="en-US" sz="2400" i="1">
                            <a:latin typeface="Cambria Math" panose="02040503050406030204" pitchFamily="18" charset="0"/>
                            <a:ea typeface="Cambria Math" panose="02040503050406030204" pitchFamily="18" charset="0"/>
                          </a:rPr>
                          <m:t>𝑖</m:t>
                        </m:r>
                      </m:sub>
                    </m:sSub>
                    <m:r>
                      <a:rPr lang="en-US" sz="2400" b="0" i="1" smtClean="0">
                        <a:latin typeface="Cambria Math" panose="02040503050406030204" pitchFamily="18" charset="0"/>
                        <a:ea typeface="Cambria Math" panose="02040503050406030204" pitchFamily="18" charset="0"/>
                      </a:rPr>
                      <m:t>=</m:t>
                    </m:r>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oMath>
                </a14:m>
                <a:r>
                  <a:rPr lang="en-US" sz="2400" dirty="0"/>
                  <a:t>),</a:t>
                </a:r>
              </a:p>
              <a:p>
                <a:pPr algn="ctr">
                  <a:lnSpc>
                    <a:spcPct val="120000"/>
                  </a:lnSpc>
                  <a:spcBef>
                    <a:spcPts val="600"/>
                  </a:spcBef>
                  <a:spcAft>
                    <a:spcPts val="600"/>
                  </a:spcAft>
                </a:pPr>
                <a14:m>
                  <m:oMathPara xmlns:m="http://schemas.openxmlformats.org/officeDocument/2006/math">
                    <m:oMathParaPr>
                      <m:jc m:val="center"/>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𝐹</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𝑋</m:t>
                          </m:r>
                        </m:e>
                        <m:sub>
                          <m:r>
                            <a:rPr lang="en-US" sz="2400" i="1">
                              <a:latin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𝑌</m:t>
                          </m:r>
                        </m:e>
                        <m:sub>
                          <m:r>
                            <a:rPr lang="en-US" sz="2400" i="1">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d>
                        <m:dPr>
                          <m:ctrlPr>
                            <a:rPr lang="en-US" sz="2400" i="1" smtClean="0">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Sub>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𝐾</m:t>
                              </m:r>
                            </m:e>
                            <m:sub>
                              <m:r>
                                <a:rPr lang="en-US" sz="2400" i="1">
                                  <a:latin typeface="Cambria Math" panose="02040503050406030204" pitchFamily="18" charset="0"/>
                                  <a:ea typeface="Cambria Math" panose="02040503050406030204" pitchFamily="18" charset="0"/>
                                </a:rPr>
                                <m:t>𝑖</m:t>
                              </m:r>
                            </m:sub>
                          </m:sSub>
                        </m:e>
                      </m:d>
                      <m:r>
                        <a:rPr lang="en-US" sz="2400" i="1" smtClean="0">
                          <a:latin typeface="Cambria Math" panose="02040503050406030204" pitchFamily="18" charset="0"/>
                          <a:ea typeface="Cambria Math" panose="02040503050406030204" pitchFamily="18" charset="0"/>
                        </a:rPr>
                        <m:t>⨁</m:t>
                      </m:r>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𝐾</m:t>
                              </m:r>
                            </m:e>
                            <m:sub>
                              <m:r>
                                <a:rPr lang="en-US" sz="2400" i="1">
                                  <a:latin typeface="Cambria Math" panose="02040503050406030204" pitchFamily="18" charset="0"/>
                                  <a:ea typeface="Cambria Math" panose="02040503050406030204" pitchFamily="18" charset="0"/>
                                </a:rPr>
                                <m:t>𝑖</m:t>
                              </m:r>
                            </m:sub>
                          </m:sSub>
                        </m:e>
                      </m:d>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sup>
                      </m:sSubSup>
                      <m:r>
                        <a:rPr lang="en-US" sz="2400" i="1">
                          <a:latin typeface="Cambria Math" panose="02040503050406030204" pitchFamily="18" charset="0"/>
                          <a:ea typeface="Cambria Math" panose="02040503050406030204" pitchFamily="18" charset="0"/>
                        </a:rPr>
                        <m:t>+</m:t>
                      </m:r>
                      <m:sSup>
                        <m:sSupPr>
                          <m:ctrlPr>
                            <a:rPr lang="en-US" sz="2400" i="1" smtClean="0">
                              <a:latin typeface="Cambria Math" panose="02040503050406030204" pitchFamily="18" charset="0"/>
                              <a:ea typeface="Cambria Math" panose="02040503050406030204" pitchFamily="18" charset="0"/>
                            </a:rPr>
                          </m:ctrlPr>
                        </m:sSupPr>
                        <m:e>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𝐾</m:t>
                                  </m:r>
                                </m:e>
                                <m:sub>
                                  <m:r>
                                    <a:rPr lang="en-US" sz="2400" i="1">
                                      <a:latin typeface="Cambria Math" panose="02040503050406030204" pitchFamily="18" charset="0"/>
                                      <a:ea typeface="Cambria Math" panose="02040503050406030204" pitchFamily="18" charset="0"/>
                                    </a:rPr>
                                    <m:t>𝑖</m:t>
                                  </m:r>
                                </m:sub>
                              </m:sSub>
                            </m:e>
                          </m:d>
                        </m:e>
                        <m:sup>
                          <m:r>
                            <a:rPr lang="en-US" sz="2400" b="0" i="1" smtClean="0">
                              <a:latin typeface="Cambria Math" panose="02040503050406030204" pitchFamily="18" charset="0"/>
                              <a:ea typeface="Cambria Math" panose="02040503050406030204" pitchFamily="18" charset="0"/>
                            </a:rPr>
                            <m:t>′</m:t>
                          </m:r>
                        </m:sup>
                      </m:sSup>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𝐾</m:t>
                              </m:r>
                            </m:e>
                            <m:sub>
                              <m:r>
                                <a:rPr lang="en-US" sz="2400" i="1">
                                  <a:latin typeface="Cambria Math" panose="02040503050406030204" pitchFamily="18" charset="0"/>
                                  <a:ea typeface="Cambria Math" panose="02040503050406030204" pitchFamily="18" charset="0"/>
                                </a:rPr>
                                <m:t>𝑖</m:t>
                              </m:r>
                            </m:sub>
                          </m:sSub>
                        </m:e>
                      </m:d>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𝐵</m:t>
                          </m:r>
                        </m:e>
                        <m:sub>
                          <m:r>
                            <a:rPr lang="en-US" sz="2400" b="0" i="1" smtClean="0">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Sup>
                        <m:sSubSupPr>
                          <m:ctrlPr>
                            <a:rPr lang="en-US" sz="2400" i="1">
                              <a:latin typeface="Cambria Math" panose="02040503050406030204" pitchFamily="18" charset="0"/>
                              <a:ea typeface="Cambria Math" panose="02040503050406030204" pitchFamily="18" charset="0"/>
                            </a:rPr>
                          </m:ctrlPr>
                        </m:sSubSupPr>
                        <m:e>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sSubSup>
                            <m:sSubSupPr>
                              <m:ctrlPr>
                                <a:rPr lang="en-US" sz="2400" i="1">
                                  <a:latin typeface="Cambria Math" panose="02040503050406030204" pitchFamily="18" charset="0"/>
                                  <a:ea typeface="Cambria Math" panose="02040503050406030204" pitchFamily="18" charset="0"/>
                                </a:rPr>
                              </m:ctrlPr>
                            </m:sSubSupPr>
                            <m:e>
                              <m:r>
                                <a:rPr lang="en-US" sz="2400" b="0" i="1" smtClean="0">
                                  <a:latin typeface="Cambria Math" panose="02040503050406030204" pitchFamily="18" charset="0"/>
                                  <a:ea typeface="Cambria Math" panose="02040503050406030204" pitchFamily="18" charset="0"/>
                                </a:rPr>
                                <m:t>𝐾</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Sub>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𝐾</m:t>
                          </m:r>
                        </m:e>
                        <m:sub>
                          <m:r>
                            <a:rPr lang="en-US" sz="2400" i="1">
                              <a:latin typeface="Cambria Math" panose="02040503050406030204" pitchFamily="18" charset="0"/>
                              <a:ea typeface="Cambria Math" panose="02040503050406030204" pitchFamily="18" charset="0"/>
                            </a:rPr>
                            <m:t>𝑖</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Sup>
                        <m:sSubSupPr>
                          <m:ctrlPr>
                            <a:rPr lang="en-US" sz="2400" i="1">
                              <a:latin typeface="Cambria Math" panose="02040503050406030204" pitchFamily="18" charset="0"/>
                              <a:ea typeface="Cambria Math" panose="02040503050406030204" pitchFamily="18" charset="0"/>
                            </a:rPr>
                          </m:ctrlPr>
                        </m:sSubSupPr>
                        <m:e>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𝐾</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oMath>
                  </m:oMathPara>
                </a14:m>
                <a:endParaRPr lang="en-US" sz="2400" dirty="0"/>
              </a:p>
              <a:p>
                <a:pPr>
                  <a:lnSpc>
                    <a:spcPct val="120000"/>
                  </a:lnSpc>
                  <a:spcBef>
                    <a:spcPts val="600"/>
                  </a:spcBef>
                  <a:spcAft>
                    <a:spcPts val="600"/>
                  </a:spcAft>
                </a:pPr>
                <a:r>
                  <a:rPr lang="en-US" sz="2400" dirty="0"/>
                  <a:t>Careful inspection of the result reveals that if the variable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𝐾</m:t>
                        </m:r>
                      </m:e>
                      <m:sub>
                        <m:r>
                          <a:rPr lang="en-US" sz="2400" i="1">
                            <a:latin typeface="Cambria Math" panose="02040503050406030204" pitchFamily="18" charset="0"/>
                            <a:ea typeface="Cambria Math" panose="02040503050406030204" pitchFamily="18" charset="0"/>
                          </a:rPr>
                          <m:t>𝑖</m:t>
                        </m:r>
                      </m:sub>
                    </m:sSub>
                  </m:oMath>
                </a14:m>
                <a:r>
                  <a:rPr lang="en-US" sz="2400" dirty="0"/>
                  <a:t> is replaced by </a:t>
                </a:r>
                <a14:m>
                  <m:oMath xmlns:m="http://schemas.openxmlformats.org/officeDocument/2006/math">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oMath>
                </a14:m>
                <a:r>
                  <a:rPr lang="en-US" sz="2400" dirty="0"/>
                  <a:t> then the second and third terms will be eliminated from the final expression above, because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Sub>
                    <m:sSubSup>
                      <m:sSubSupPr>
                        <m:ctrlPr>
                          <a:rPr lang="en-US" sz="2400" i="1" smtClean="0">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r>
                      <a:rPr lang="en-US" sz="2400" b="0" i="1" smtClean="0">
                        <a:latin typeface="Cambria Math" panose="02040503050406030204" pitchFamily="18" charset="0"/>
                        <a:ea typeface="Cambria Math" panose="02040503050406030204" pitchFamily="18" charset="0"/>
                      </a:rPr>
                      <m:t>=0</m:t>
                    </m:r>
                  </m:oMath>
                </a14:m>
                <a:r>
                  <a:rPr lang="en-US" sz="2400" dirty="0"/>
                  <a:t> and thus we get the required AND operation between </a:t>
                </a:r>
                <a:r>
                  <a:rPr lang="en-US" sz="2400" i="1" dirty="0"/>
                  <a:t>A</a:t>
                </a:r>
                <a:r>
                  <a:rPr lang="en-US" sz="2400" dirty="0"/>
                  <a:t> and </a:t>
                </a:r>
                <a:r>
                  <a:rPr lang="en-US" sz="2400" i="1" dirty="0"/>
                  <a:t>B</a:t>
                </a:r>
                <a:r>
                  <a:rPr lang="en-US" sz="2400" dirty="0"/>
                  <a:t>.</a:t>
                </a:r>
              </a:p>
              <a:p>
                <a:pPr algn="ctr">
                  <a:lnSpc>
                    <a:spcPct val="120000"/>
                  </a:lnSpc>
                  <a:spcBef>
                    <a:spcPts val="600"/>
                  </a:spcBef>
                  <a:spcAft>
                    <a:spcPts val="600"/>
                  </a:spcAft>
                </a:pPr>
                <a14:m>
                  <m:oMathPara xmlns:m="http://schemas.openxmlformats.org/officeDocument/2006/math">
                    <m:oMathParaPr>
                      <m:jc m:val="center"/>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𝐹</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𝑌</m:t>
                          </m:r>
                        </m:e>
                        <m:sub>
                          <m:r>
                            <a:rPr lang="en-US" sz="2400" i="1">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e>
                      </m:d>
                      <m:r>
                        <a:rPr lang="en-US" sz="2400" i="1">
                          <a:latin typeface="Cambria Math" panose="02040503050406030204" pitchFamily="18" charset="0"/>
                          <a:ea typeface="Cambria Math" panose="02040503050406030204" pitchFamily="18" charset="0"/>
                        </a:rPr>
                        <m:t>⨁</m:t>
                      </m:r>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e>
                      </m:d>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e>
                          </m:d>
                        </m:e>
                        <m:sup>
                          <m:r>
                            <a:rPr lang="en-US" sz="2400" i="1">
                              <a:latin typeface="Cambria Math" panose="02040503050406030204" pitchFamily="18" charset="0"/>
                              <a:ea typeface="Cambria Math" panose="02040503050406030204" pitchFamily="18" charset="0"/>
                            </a:rPr>
                            <m:t>′</m:t>
                          </m:r>
                        </m:sup>
                      </m:sSup>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e>
                      </m:d>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Sup>
                        <m:sSubSupPr>
                          <m:ctrlPr>
                            <a:rPr lang="en-US" sz="2400" i="1">
                              <a:latin typeface="Cambria Math" panose="02040503050406030204" pitchFamily="18" charset="0"/>
                              <a:ea typeface="Cambria Math" panose="02040503050406030204" pitchFamily="18" charset="0"/>
                            </a:rPr>
                          </m:ctrlPr>
                        </m:sSubSupPr>
                        <m:e>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sSubSup>
                            <m:sSubSupPr>
                              <m:ctrlPr>
                                <a:rPr lang="en-US" sz="2400" i="1">
                                  <a:latin typeface="Cambria Math" panose="02040503050406030204" pitchFamily="18" charset="0"/>
                                  <a:ea typeface="Cambria Math" panose="02040503050406030204" pitchFamily="18" charset="0"/>
                                </a:rPr>
                              </m:ctrlPr>
                            </m:sSubSupPr>
                            <m:e>
                              <m:r>
                                <a:rPr lang="en-US" sz="2400" b="0" i="1" smtClean="0">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sup>
                          </m:sSubSup>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Sup>
                        <m:sSubSupPr>
                          <m:ctrlPr>
                            <a:rPr lang="en-US" sz="2400" i="1">
                              <a:latin typeface="Cambria Math" panose="02040503050406030204" pitchFamily="18" charset="0"/>
                              <a:ea typeface="Cambria Math" panose="02040503050406030204" pitchFamily="18" charset="0"/>
                            </a:rPr>
                          </m:ctrlPr>
                        </m:sSubSupPr>
                        <m:e>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sSubSup>
                            <m:sSubSupPr>
                              <m:ctrlPr>
                                <a:rPr lang="en-US" sz="2400" i="1">
                                  <a:latin typeface="Cambria Math" panose="02040503050406030204" pitchFamily="18" charset="0"/>
                                  <a:ea typeface="Cambria Math" panose="02040503050406030204" pitchFamily="18" charset="0"/>
                                </a:rPr>
                              </m:ctrlPr>
                            </m:sSubSupPr>
                            <m:e>
                              <m:r>
                                <a:rPr lang="en-US" sz="2400" b="0" i="1" smtClean="0">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sup>
                          </m:sSubSup>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up>
                          <m:r>
                            <a:rPr lang="en-US" sz="2400" i="1">
                              <a:latin typeface="Cambria Math" panose="02040503050406030204" pitchFamily="18" charset="0"/>
                              <a:ea typeface="Cambria Math" panose="02040503050406030204" pitchFamily="18" charset="0"/>
                            </a:rPr>
                            <m:t>′</m:t>
                          </m:r>
                        </m:sup>
                      </m:sSubSup>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Sub>
                      <m:r>
                        <a:rPr lang="en-US" sz="2400" b="0" i="1" smtClean="0">
                          <a:latin typeface="Cambria Math" panose="02040503050406030204" pitchFamily="18" charset="0"/>
                          <a:ea typeface="Cambria Math" panose="02040503050406030204" pitchFamily="18" charset="0"/>
                        </a:rPr>
                        <m:t>+0+0</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𝐴</m:t>
                          </m:r>
                        </m:e>
                        <m:sub>
                          <m:r>
                            <a:rPr lang="en-US" sz="2400" i="1">
                              <a:latin typeface="Cambria Math" panose="02040503050406030204" pitchFamily="18" charset="0"/>
                              <a:ea typeface="Cambria Math" panose="02040503050406030204" pitchFamily="18" charset="0"/>
                            </a:rPr>
                            <m:t>𝑖</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𝐵</m:t>
                          </m:r>
                        </m:e>
                        <m:sub>
                          <m:r>
                            <a:rPr lang="en-US" sz="2400" i="1">
                              <a:latin typeface="Cambria Math" panose="02040503050406030204" pitchFamily="18" charset="0"/>
                              <a:ea typeface="Cambria Math" panose="02040503050406030204" pitchFamily="18" charset="0"/>
                            </a:rPr>
                            <m:t>𝑖</m:t>
                          </m:r>
                        </m:sub>
                      </m:sSub>
                    </m:oMath>
                  </m:oMathPara>
                </a14:m>
                <a:endParaRPr lang="en-US" sz="2400" dirty="0"/>
              </a:p>
              <a:p>
                <a:pPr>
                  <a:lnSpc>
                    <a:spcPct val="120000"/>
                  </a:lnSpc>
                  <a:spcBef>
                    <a:spcPts val="600"/>
                  </a:spcBef>
                  <a:spcAft>
                    <a:spcPts val="600"/>
                  </a:spcAft>
                </a:pPr>
                <a:r>
                  <a:rPr lang="en-US" sz="2400" dirty="0"/>
                  <a:t>Therefore, we conclude that to get the required AND operation, we must </a:t>
                </a:r>
                <a:r>
                  <a:rPr lang="en-US" sz="2400" dirty="0">
                    <a:solidFill>
                      <a:srgbClr val="FF0000"/>
                    </a:solidFill>
                  </a:rPr>
                  <a:t>make an OR operation between </a:t>
                </a:r>
                <a14:m>
                  <m:oMath xmlns:m="http://schemas.openxmlformats.org/officeDocument/2006/math">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𝐴</m:t>
                        </m:r>
                      </m:e>
                      <m:sub>
                        <m:r>
                          <a:rPr lang="en-US" sz="2400" i="1">
                            <a:solidFill>
                              <a:srgbClr val="FF0000"/>
                            </a:solidFill>
                            <a:latin typeface="Cambria Math" panose="02040503050406030204" pitchFamily="18" charset="0"/>
                            <a:ea typeface="Cambria Math" panose="02040503050406030204" pitchFamily="18" charset="0"/>
                          </a:rPr>
                          <m:t>𝑖</m:t>
                        </m:r>
                      </m:sub>
                    </m:sSub>
                  </m:oMath>
                </a14:m>
                <a:r>
                  <a:rPr lang="en-US" sz="2400" dirty="0">
                    <a:solidFill>
                      <a:srgbClr val="FF0000"/>
                    </a:solidFill>
                  </a:rPr>
                  <a:t> and </a:t>
                </a:r>
                <a14:m>
                  <m:oMath xmlns:m="http://schemas.openxmlformats.org/officeDocument/2006/math">
                    <m:sSubSup>
                      <m:sSubSupPr>
                        <m:ctrlPr>
                          <a:rPr lang="en-US" sz="2400" i="1">
                            <a:solidFill>
                              <a:srgbClr val="FF0000"/>
                            </a:solidFill>
                            <a:latin typeface="Cambria Math" panose="02040503050406030204" pitchFamily="18" charset="0"/>
                            <a:ea typeface="Cambria Math" panose="02040503050406030204" pitchFamily="18" charset="0"/>
                          </a:rPr>
                        </m:ctrlPr>
                      </m:sSubSupPr>
                      <m:e>
                        <m:r>
                          <a:rPr lang="en-US" sz="2400" i="1">
                            <a:solidFill>
                              <a:srgbClr val="FF0000"/>
                            </a:solidFill>
                            <a:latin typeface="Cambria Math" panose="02040503050406030204" pitchFamily="18" charset="0"/>
                            <a:ea typeface="Cambria Math" panose="02040503050406030204" pitchFamily="18" charset="0"/>
                          </a:rPr>
                          <m:t>𝐵</m:t>
                        </m:r>
                      </m:e>
                      <m:sub>
                        <m:r>
                          <a:rPr lang="en-US" sz="2400" i="1">
                            <a:solidFill>
                              <a:srgbClr val="FF0000"/>
                            </a:solidFill>
                            <a:latin typeface="Cambria Math" panose="02040503050406030204" pitchFamily="18" charset="0"/>
                            <a:ea typeface="Cambria Math" panose="02040503050406030204" pitchFamily="18" charset="0"/>
                          </a:rPr>
                          <m:t>𝑖</m:t>
                        </m:r>
                      </m:sub>
                      <m:sup>
                        <m:r>
                          <a:rPr lang="en-US" sz="2400" i="1">
                            <a:solidFill>
                              <a:srgbClr val="FF0000"/>
                            </a:solidFill>
                            <a:latin typeface="Cambria Math" panose="02040503050406030204" pitchFamily="18" charset="0"/>
                            <a:ea typeface="Cambria Math" panose="02040503050406030204" pitchFamily="18" charset="0"/>
                          </a:rPr>
                          <m:t>′</m:t>
                        </m:r>
                      </m:sup>
                    </m:sSubSup>
                  </m:oMath>
                </a14:m>
                <a:r>
                  <a:rPr lang="en-US" sz="2400" dirty="0">
                    <a:solidFill>
                      <a:srgbClr val="FF0000"/>
                    </a:solidFill>
                  </a:rPr>
                  <a:t> before applying it to the </a:t>
                </a:r>
                <a14:m>
                  <m:oMath xmlns:m="http://schemas.openxmlformats.org/officeDocument/2006/math">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𝑋</m:t>
                        </m:r>
                      </m:e>
                      <m:sub>
                        <m:r>
                          <a:rPr lang="en-US" sz="2400" i="1">
                            <a:solidFill>
                              <a:srgbClr val="FF0000"/>
                            </a:solidFill>
                            <a:latin typeface="Cambria Math" panose="02040503050406030204" pitchFamily="18" charset="0"/>
                          </a:rPr>
                          <m:t>𝑖</m:t>
                        </m:r>
                      </m:sub>
                    </m:sSub>
                  </m:oMath>
                </a14:m>
                <a:r>
                  <a:rPr lang="en-US" sz="2400" dirty="0">
                    <a:solidFill>
                      <a:srgbClr val="FF0000"/>
                    </a:solidFill>
                  </a:rPr>
                  <a:t> input </a:t>
                </a:r>
                <a:r>
                  <a:rPr lang="en-US" sz="2400" dirty="0"/>
                  <a:t>of the full-adder circuit </a:t>
                </a:r>
                <a:r>
                  <a:rPr lang="en-US" sz="2400" dirty="0">
                    <a:solidFill>
                      <a:srgbClr val="FF0000"/>
                    </a:solidFill>
                  </a:rPr>
                  <a:t>when</a:t>
                </a:r>
                <a:r>
                  <a:rPr lang="en-US" sz="2400" dirty="0"/>
                  <a:t> </a:t>
                </a:r>
                <a:r>
                  <a:rPr lang="en-US" sz="2400" i="1" dirty="0">
                    <a:solidFill>
                      <a:srgbClr val="FF0000"/>
                    </a:solidFill>
                  </a:rPr>
                  <a:t>s</a:t>
                </a:r>
                <a:r>
                  <a:rPr lang="en-US" sz="2400" baseline="-25000" dirty="0">
                    <a:solidFill>
                      <a:srgbClr val="FF0000"/>
                    </a:solidFill>
                  </a:rPr>
                  <a:t>2</a:t>
                </a:r>
                <a:r>
                  <a:rPr lang="en-US" sz="2400" i="1" dirty="0">
                    <a:solidFill>
                      <a:srgbClr val="FF0000"/>
                    </a:solidFill>
                  </a:rPr>
                  <a:t>s</a:t>
                </a:r>
                <a:r>
                  <a:rPr lang="en-US" sz="2400" baseline="-25000" dirty="0">
                    <a:solidFill>
                      <a:srgbClr val="FF0000"/>
                    </a:solidFill>
                  </a:rPr>
                  <a:t>1</a:t>
                </a:r>
                <a:r>
                  <a:rPr lang="en-US" sz="2400" i="1" dirty="0">
                    <a:solidFill>
                      <a:srgbClr val="FF0000"/>
                    </a:solidFill>
                  </a:rPr>
                  <a:t>s</a:t>
                </a:r>
                <a:r>
                  <a:rPr lang="en-US" sz="2400" baseline="-25000" dirty="0">
                    <a:solidFill>
                      <a:srgbClr val="FF0000"/>
                    </a:solidFill>
                  </a:rPr>
                  <a:t>0</a:t>
                </a:r>
                <a:r>
                  <a:rPr lang="en-US" sz="2400" dirty="0">
                    <a:solidFill>
                      <a:srgbClr val="FF0000"/>
                    </a:solidFill>
                  </a:rPr>
                  <a:t> = 110 and </a:t>
                </a:r>
                <a14:m>
                  <m:oMath xmlns:m="http://schemas.openxmlformats.org/officeDocument/2006/math">
                    <m:sSub>
                      <m:sSubPr>
                        <m:ctrlPr>
                          <a:rPr lang="en-US" sz="2400" i="1">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𝑌</m:t>
                        </m:r>
                      </m:e>
                      <m:sub>
                        <m:r>
                          <a:rPr lang="en-US" sz="2400" i="1">
                            <a:solidFill>
                              <a:srgbClr val="FF0000"/>
                            </a:solidFill>
                            <a:latin typeface="Cambria Math" panose="02040503050406030204" pitchFamily="18" charset="0"/>
                          </a:rPr>
                          <m:t>𝑖</m:t>
                        </m:r>
                      </m:sub>
                    </m:sSub>
                  </m:oMath>
                </a14:m>
                <a:r>
                  <a:rPr lang="en-US" sz="2400" dirty="0">
                    <a:solidFill>
                      <a:srgbClr val="FF0000"/>
                    </a:solidFill>
                  </a:rPr>
                  <a:t> input </a:t>
                </a:r>
                <a:r>
                  <a:rPr lang="en-US" sz="2400" dirty="0"/>
                  <a:t>of the full-adder circuit will get </a:t>
                </a:r>
                <a14:m>
                  <m:oMath xmlns:m="http://schemas.openxmlformats.org/officeDocument/2006/math">
                    <m:sSubSup>
                      <m:sSubSupPr>
                        <m:ctrlPr>
                          <a:rPr lang="en-US" sz="2400" i="1">
                            <a:solidFill>
                              <a:srgbClr val="FF0000"/>
                            </a:solidFill>
                            <a:latin typeface="Cambria Math" panose="02040503050406030204" pitchFamily="18" charset="0"/>
                            <a:ea typeface="Cambria Math" panose="02040503050406030204" pitchFamily="18" charset="0"/>
                          </a:rPr>
                        </m:ctrlPr>
                      </m:sSubSupPr>
                      <m:e>
                        <m:r>
                          <a:rPr lang="en-US" sz="2400" i="1">
                            <a:solidFill>
                              <a:srgbClr val="FF0000"/>
                            </a:solidFill>
                            <a:latin typeface="Cambria Math" panose="02040503050406030204" pitchFamily="18" charset="0"/>
                            <a:ea typeface="Cambria Math" panose="02040503050406030204" pitchFamily="18" charset="0"/>
                          </a:rPr>
                          <m:t>𝐵</m:t>
                        </m:r>
                      </m:e>
                      <m:sub>
                        <m:r>
                          <a:rPr lang="en-US" sz="2400" i="1">
                            <a:solidFill>
                              <a:srgbClr val="FF0000"/>
                            </a:solidFill>
                            <a:latin typeface="Cambria Math" panose="02040503050406030204" pitchFamily="18" charset="0"/>
                            <a:ea typeface="Cambria Math" panose="02040503050406030204" pitchFamily="18" charset="0"/>
                          </a:rPr>
                          <m:t>𝑖</m:t>
                        </m:r>
                      </m:sub>
                      <m:sup>
                        <m:r>
                          <a:rPr lang="en-US" sz="2400" i="1">
                            <a:solidFill>
                              <a:srgbClr val="FF0000"/>
                            </a:solidFill>
                            <a:latin typeface="Cambria Math" panose="02040503050406030204" pitchFamily="18" charset="0"/>
                            <a:ea typeface="Cambria Math" panose="02040503050406030204" pitchFamily="18" charset="0"/>
                          </a:rPr>
                          <m:t>′</m:t>
                        </m:r>
                      </m:sup>
                    </m:sSubSup>
                  </m:oMath>
                </a14:m>
                <a:r>
                  <a:rPr lang="en-US" sz="2400" dirty="0"/>
                  <a:t>.</a:t>
                </a:r>
              </a:p>
            </p:txBody>
          </p:sp>
        </mc:Choice>
        <mc:Fallback>
          <p:sp>
            <p:nvSpPr>
              <p:cNvPr id="7" name="TextBox 6"/>
              <p:cNvSpPr txBox="1">
                <a:spLocks noRot="1" noChangeAspect="1" noMove="1" noResize="1" noEditPoints="1" noAdjustHandles="1" noChangeArrowheads="1" noChangeShapeType="1" noTextEdit="1"/>
              </p:cNvSpPr>
              <p:nvPr/>
            </p:nvSpPr>
            <p:spPr>
              <a:xfrm>
                <a:off x="950026" y="1588442"/>
                <a:ext cx="14048509" cy="4958024"/>
              </a:xfrm>
              <a:prstGeom prst="rect">
                <a:avLst/>
              </a:prstGeom>
              <a:blipFill>
                <a:blip r:embed="rId2"/>
                <a:stretch>
                  <a:fillRect l="-694" t="-123" r="-347" b="-1845"/>
                </a:stretch>
              </a:blipFill>
            </p:spPr>
            <p:txBody>
              <a:bodyPr/>
              <a:lstStyle/>
              <a:p>
                <a:r>
                  <a:rPr lang="en-US">
                    <a:noFill/>
                  </a:rPr>
                  <a:t> </a:t>
                </a:r>
              </a:p>
            </p:txBody>
          </p:sp>
        </mc:Fallback>
      </mc:AlternateContent>
    </p:spTree>
    <p:extLst>
      <p:ext uri="{BB962C8B-B14F-4D97-AF65-F5344CB8AC3E}">
        <p14:creationId xmlns:p14="http://schemas.microsoft.com/office/powerpoint/2010/main" val="211724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2FB6D7-3611-4930-BFE6-4A476396FF2F}" type="datetime3">
              <a:rPr lang="en-US" smtClean="0"/>
              <a:t>18 July 2024</a:t>
            </a:fld>
            <a:endParaRPr lang="en-US"/>
          </a:p>
        </p:txBody>
      </p:sp>
      <p:sp>
        <p:nvSpPr>
          <p:cNvPr id="8" name="Footer Placeholder 7"/>
          <p:cNvSpPr>
            <a:spLocks noGrp="1"/>
          </p:cNvSpPr>
          <p:nvPr>
            <p:ph type="ftr" sz="quarter" idx="11"/>
          </p:nvPr>
        </p:nvSpPr>
        <p:spPr/>
        <p:txBody>
          <a:bodyPr/>
          <a:lstStyle/>
          <a:p>
            <a:r>
              <a:rPr lang="en-US" dirty="0"/>
              <a:t>Course Teacher: Dr. Md. Rukonuzzaman</a:t>
            </a:r>
          </a:p>
        </p:txBody>
      </p:sp>
      <p:sp>
        <p:nvSpPr>
          <p:cNvPr id="9" name="Slide Number Placeholder 8"/>
          <p:cNvSpPr>
            <a:spLocks noGrp="1"/>
          </p:cNvSpPr>
          <p:nvPr>
            <p:ph type="sldNum" sz="quarter" idx="12"/>
          </p:nvPr>
        </p:nvSpPr>
        <p:spPr/>
        <p:txBody>
          <a:bodyPr/>
          <a:lstStyle/>
          <a:p>
            <a:fld id="{48F63A3B-78C7-47BE-AE5E-E10140E04643}" type="slidenum">
              <a:rPr lang="en-US" smtClean="0"/>
              <a:t>28</a:t>
            </a:fld>
            <a:endParaRPr lang="en-US" dirty="0"/>
          </a:p>
        </p:txBody>
      </p:sp>
      <mc:AlternateContent xmlns:mc="http://schemas.openxmlformats.org/markup-compatibility/2006">
        <mc:Choice xmlns:a14="http://schemas.microsoft.com/office/drawing/2010/main" Requires="a14">
          <p:sp>
            <p:nvSpPr>
              <p:cNvPr id="10" name="TextBox 9"/>
              <p:cNvSpPr txBox="1"/>
              <p:nvPr/>
            </p:nvSpPr>
            <p:spPr>
              <a:xfrm>
                <a:off x="1072341" y="1923803"/>
                <a:ext cx="14172012" cy="4832861"/>
              </a:xfrm>
              <a:prstGeom prst="rect">
                <a:avLst/>
              </a:prstGeom>
              <a:noFill/>
            </p:spPr>
            <p:txBody>
              <a:bodyPr wrap="square" rtlCol="0">
                <a:spAutoFit/>
              </a:bodyPr>
              <a:lstStyle/>
              <a:p>
                <a:r>
                  <a:rPr lang="en-US" sz="2800" dirty="0"/>
                  <a:t>The final ALU is shown in Fig. 9.13. Only the first two stages are drawn, but the diagram can be easily extended to more stages. The inputs to each full-adder circuit are specified by the Boolean functions:</a:t>
                </a:r>
              </a:p>
              <a:p>
                <a:pPr/>
                <a:r>
                  <a:rPr lang="en-US" sz="2800" dirty="0"/>
                  <a:t>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𝑋</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𝐴</m:t>
                        </m:r>
                      </m:e>
                      <m:sub>
                        <m:r>
                          <a:rPr lang="en-US" sz="2800" i="1">
                            <a:latin typeface="Cambria Math" panose="02040503050406030204" pitchFamily="18" charset="0"/>
                            <a:ea typeface="Cambria Math" panose="02040503050406030204" pitchFamily="18" charset="0"/>
                          </a:rPr>
                          <m:t>𝑖</m:t>
                        </m:r>
                      </m:sub>
                    </m:sSub>
                    <m:r>
                      <a:rPr lang="en-US" sz="2800" i="1">
                        <a:latin typeface="Cambria Math" panose="02040503050406030204" pitchFamily="18" charset="0"/>
                        <a:ea typeface="Cambria Math" panose="02040503050406030204" pitchFamily="18" charset="0"/>
                      </a:rPr>
                      <m:t>+</m:t>
                    </m:r>
                    <m:sSub>
                      <m:sSubPr>
                        <m:ctrlPr>
                          <a:rPr lang="en-US" sz="280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𝑠</m:t>
                        </m:r>
                      </m:e>
                      <m:sub>
                        <m:r>
                          <a:rPr lang="en-US" sz="2800" b="0" i="1" smtClean="0">
                            <a:latin typeface="Cambria Math" panose="02040503050406030204" pitchFamily="18" charset="0"/>
                            <a:ea typeface="Cambria Math" panose="02040503050406030204" pitchFamily="18" charset="0"/>
                          </a:rPr>
                          <m:t>2</m:t>
                        </m:r>
                      </m:sub>
                    </m:sSub>
                    <m:sSubSup>
                      <m:sSubSupPr>
                        <m:ctrlPr>
                          <a:rPr lang="en-US" sz="2800" i="1" smtClean="0">
                            <a:latin typeface="Cambria Math" panose="02040503050406030204" pitchFamily="18" charset="0"/>
                            <a:ea typeface="Cambria Math" panose="02040503050406030204" pitchFamily="18" charset="0"/>
                          </a:rPr>
                        </m:ctrlPr>
                      </m:sSubSupPr>
                      <m:e>
                        <m:r>
                          <a:rPr lang="en-US" sz="2800" b="0" i="1" smtClean="0">
                            <a:latin typeface="Cambria Math" panose="02040503050406030204" pitchFamily="18" charset="0"/>
                            <a:ea typeface="Cambria Math" panose="02040503050406030204" pitchFamily="18" charset="0"/>
                          </a:rPr>
                          <m:t>𝑠</m:t>
                        </m:r>
                      </m:e>
                      <m:sub>
                        <m:r>
                          <a:rPr lang="en-US" sz="2800" b="0" i="1" smtClean="0">
                            <a:latin typeface="Cambria Math" panose="02040503050406030204" pitchFamily="18" charset="0"/>
                            <a:ea typeface="Cambria Math" panose="02040503050406030204" pitchFamily="18" charset="0"/>
                          </a:rPr>
                          <m:t>1</m:t>
                        </m:r>
                      </m:sub>
                      <m:sup>
                        <m:r>
                          <a:rPr lang="en-US" sz="2800" b="0" i="1" smtClean="0">
                            <a:latin typeface="Cambria Math" panose="02040503050406030204" pitchFamily="18" charset="0"/>
                            <a:ea typeface="Cambria Math" panose="02040503050406030204" pitchFamily="18" charset="0"/>
                          </a:rPr>
                          <m:t>′</m:t>
                        </m:r>
                      </m:sup>
                    </m:sSubSup>
                    <m:sSubSup>
                      <m:sSubSupPr>
                        <m:ctrlPr>
                          <a:rPr lang="en-US" sz="2800" i="1" smtClean="0">
                            <a:latin typeface="Cambria Math" panose="02040503050406030204" pitchFamily="18" charset="0"/>
                            <a:ea typeface="Cambria Math" panose="02040503050406030204" pitchFamily="18" charset="0"/>
                          </a:rPr>
                        </m:ctrlPr>
                      </m:sSubSupPr>
                      <m:e>
                        <m:r>
                          <a:rPr lang="en-US" sz="2800" b="0" i="1" smtClean="0">
                            <a:latin typeface="Cambria Math" panose="02040503050406030204" pitchFamily="18" charset="0"/>
                            <a:ea typeface="Cambria Math" panose="02040503050406030204" pitchFamily="18" charset="0"/>
                          </a:rPr>
                          <m:t>𝑠</m:t>
                        </m:r>
                      </m:e>
                      <m:sub>
                        <m:r>
                          <a:rPr lang="en-US" sz="2800" b="0" i="1" smtClean="0">
                            <a:latin typeface="Cambria Math" panose="02040503050406030204" pitchFamily="18" charset="0"/>
                            <a:ea typeface="Cambria Math" panose="02040503050406030204" pitchFamily="18" charset="0"/>
                          </a:rPr>
                          <m:t>0</m:t>
                        </m:r>
                      </m:sub>
                      <m:sup>
                        <m:r>
                          <a:rPr lang="en-US" sz="2800" b="0" i="1" smtClean="0">
                            <a:latin typeface="Cambria Math" panose="02040503050406030204" pitchFamily="18" charset="0"/>
                            <a:ea typeface="Cambria Math" panose="02040503050406030204" pitchFamily="18" charset="0"/>
                          </a:rPr>
                          <m:t>′</m:t>
                        </m:r>
                      </m:sup>
                    </m:sSubSup>
                    <m:sSub>
                      <m:sSubPr>
                        <m:ctrlPr>
                          <a:rPr lang="en-US" sz="280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𝐵</m:t>
                        </m:r>
                      </m:e>
                      <m:sub>
                        <m:r>
                          <a:rPr lang="en-US" sz="2800" b="0" i="1" smtClean="0">
                            <a:latin typeface="Cambria Math" panose="02040503050406030204" pitchFamily="18" charset="0"/>
                            <a:ea typeface="Cambria Math" panose="02040503050406030204" pitchFamily="18" charset="0"/>
                          </a:rPr>
                          <m:t>𝑖</m:t>
                        </m:r>
                      </m:sub>
                    </m:sSub>
                    <m:r>
                      <a:rPr lang="en-US" sz="2800" i="1">
                        <a:latin typeface="Cambria Math" panose="02040503050406030204" pitchFamily="18" charset="0"/>
                        <a:ea typeface="Cambria Math" panose="02040503050406030204" pitchFamily="18" charset="0"/>
                      </a:rPr>
                      <m:t>+</m:t>
                    </m:r>
                    <m:sSubSup>
                      <m:sSubSupPr>
                        <m:ctrlPr>
                          <a:rPr lang="en-US" sz="2800" i="1">
                            <a:latin typeface="Cambria Math" panose="02040503050406030204" pitchFamily="18" charset="0"/>
                            <a:ea typeface="Cambria Math" panose="02040503050406030204" pitchFamily="18" charset="0"/>
                          </a:rPr>
                        </m:ctrlPr>
                      </m:sSubSupPr>
                      <m:e>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𝑠</m:t>
                            </m:r>
                          </m:e>
                          <m:sub>
                            <m:r>
                              <a:rPr lang="en-US" sz="2800" i="1">
                                <a:latin typeface="Cambria Math" panose="02040503050406030204" pitchFamily="18" charset="0"/>
                                <a:ea typeface="Cambria Math" panose="02040503050406030204" pitchFamily="18" charset="0"/>
                              </a:rPr>
                              <m:t>2</m:t>
                            </m:r>
                          </m:sub>
                        </m:sSub>
                        <m:sSub>
                          <m:sSubPr>
                            <m:ctrlPr>
                              <a:rPr lang="en-US" sz="280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𝑠</m:t>
                            </m:r>
                          </m:e>
                          <m:sub>
                            <m:r>
                              <a:rPr lang="en-US" sz="2800" b="0" i="1" smtClean="0">
                                <a:latin typeface="Cambria Math" panose="02040503050406030204" pitchFamily="18" charset="0"/>
                                <a:ea typeface="Cambria Math" panose="02040503050406030204" pitchFamily="18" charset="0"/>
                              </a:rPr>
                              <m:t>1</m:t>
                            </m:r>
                          </m:sub>
                        </m:sSub>
                        <m:sSubSup>
                          <m:sSubSupPr>
                            <m:ctrlPr>
                              <a:rPr lang="en-US" sz="2800" i="1">
                                <a:latin typeface="Cambria Math" panose="02040503050406030204" pitchFamily="18" charset="0"/>
                                <a:ea typeface="Cambria Math" panose="02040503050406030204" pitchFamily="18" charset="0"/>
                              </a:rPr>
                            </m:ctrlPr>
                          </m:sSubSupPr>
                          <m:e>
                            <m:r>
                              <a:rPr lang="en-US" sz="2800" i="1">
                                <a:latin typeface="Cambria Math" panose="02040503050406030204" pitchFamily="18" charset="0"/>
                                <a:ea typeface="Cambria Math" panose="02040503050406030204" pitchFamily="18" charset="0"/>
                              </a:rPr>
                              <m:t>𝑠</m:t>
                            </m:r>
                          </m:e>
                          <m:sub>
                            <m:r>
                              <a:rPr lang="en-US" sz="2800" i="1">
                                <a:latin typeface="Cambria Math" panose="02040503050406030204" pitchFamily="18" charset="0"/>
                                <a:ea typeface="Cambria Math" panose="02040503050406030204" pitchFamily="18" charset="0"/>
                              </a:rPr>
                              <m:t>0</m:t>
                            </m:r>
                          </m:sub>
                          <m:sup>
                            <m:r>
                              <a:rPr lang="en-US" sz="2800" i="1">
                                <a:latin typeface="Cambria Math" panose="02040503050406030204" pitchFamily="18" charset="0"/>
                                <a:ea typeface="Cambria Math" panose="02040503050406030204" pitchFamily="18" charset="0"/>
                              </a:rPr>
                              <m:t>′</m:t>
                            </m:r>
                          </m:sup>
                        </m:sSubSup>
                        <m:r>
                          <a:rPr lang="en-US" sz="2800" i="1">
                            <a:latin typeface="Cambria Math" panose="02040503050406030204" pitchFamily="18" charset="0"/>
                            <a:ea typeface="Cambria Math" panose="02040503050406030204" pitchFamily="18" charset="0"/>
                          </a:rPr>
                          <m:t>𝐵</m:t>
                        </m:r>
                      </m:e>
                      <m:sub>
                        <m:r>
                          <a:rPr lang="en-US" sz="2800" i="1">
                            <a:latin typeface="Cambria Math" panose="02040503050406030204" pitchFamily="18" charset="0"/>
                            <a:ea typeface="Cambria Math" panose="02040503050406030204" pitchFamily="18" charset="0"/>
                          </a:rPr>
                          <m:t>𝑖</m:t>
                        </m:r>
                      </m:sub>
                      <m:sup>
                        <m:r>
                          <a:rPr lang="en-US" sz="2800" i="1">
                            <a:latin typeface="Cambria Math" panose="02040503050406030204" pitchFamily="18" charset="0"/>
                            <a:ea typeface="Cambria Math" panose="02040503050406030204" pitchFamily="18" charset="0"/>
                          </a:rPr>
                          <m:t>′</m:t>
                        </m:r>
                      </m:sup>
                    </m:sSubSup>
                  </m:oMath>
                </a14:m>
                <a:endParaRPr lang="en-US" sz="2800" i="1" dirty="0">
                  <a:latin typeface="Cambria Math" panose="02040503050406030204" pitchFamily="18" charset="0"/>
                  <a:ea typeface="Cambria Math" panose="02040503050406030204" pitchFamily="18" charset="0"/>
                </a:endParaRPr>
              </a:p>
              <a:p>
                <a:pP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panose="02040503050406030204" pitchFamily="18" charset="0"/>
                          </a:rPr>
                          <m:t>𝑌</m:t>
                        </m:r>
                      </m:e>
                      <m:sub>
                        <m:r>
                          <a:rPr lang="en-US" sz="2800" i="1">
                            <a:latin typeface="Cambria Math" panose="02040503050406030204" pitchFamily="18" charset="0"/>
                          </a:rPr>
                          <m:t>𝑖</m:t>
                        </m:r>
                      </m:sub>
                    </m:sSub>
                    <m:r>
                      <a:rPr lang="en-US" sz="2800" i="1">
                        <a:latin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𝑠</m:t>
                        </m:r>
                      </m:e>
                      <m:sub>
                        <m:r>
                          <a:rPr lang="en-US" sz="2800" b="0" i="1" smtClean="0">
                            <a:latin typeface="Cambria Math" panose="02040503050406030204" pitchFamily="18" charset="0"/>
                            <a:ea typeface="Cambria Math" panose="02040503050406030204" pitchFamily="18" charset="0"/>
                          </a:rPr>
                          <m:t>0</m:t>
                        </m:r>
                      </m:sub>
                    </m:sSub>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𝐵</m:t>
                        </m:r>
                      </m:e>
                      <m:sub>
                        <m:r>
                          <a:rPr lang="en-US" sz="2800" i="1">
                            <a:latin typeface="Cambria Math" panose="02040503050406030204" pitchFamily="18" charset="0"/>
                            <a:ea typeface="Cambria Math" panose="02040503050406030204" pitchFamily="18" charset="0"/>
                          </a:rPr>
                          <m:t>𝑖</m:t>
                        </m:r>
                      </m:sub>
                    </m:sSub>
                    <m:r>
                      <a:rPr lang="en-US" sz="2800" i="1">
                        <a:latin typeface="Cambria Math" panose="02040503050406030204" pitchFamily="18" charset="0"/>
                        <a:ea typeface="Cambria Math" panose="02040503050406030204" pitchFamily="18" charset="0"/>
                      </a:rPr>
                      <m:t>+</m:t>
                    </m:r>
                    <m:sSubSup>
                      <m:sSubSupPr>
                        <m:ctrlPr>
                          <a:rPr lang="en-US" sz="2800" i="1">
                            <a:latin typeface="Cambria Math" panose="02040503050406030204" pitchFamily="18" charset="0"/>
                            <a:ea typeface="Cambria Math" panose="02040503050406030204" pitchFamily="18" charset="0"/>
                          </a:rPr>
                        </m:ctrlPr>
                      </m:sSubSupPr>
                      <m:e>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𝑠</m:t>
                            </m:r>
                          </m:e>
                          <m:sub>
                            <m:r>
                              <a:rPr lang="en-US" sz="2800" i="1">
                                <a:latin typeface="Cambria Math" panose="02040503050406030204" pitchFamily="18" charset="0"/>
                                <a:ea typeface="Cambria Math" panose="02040503050406030204" pitchFamily="18" charset="0"/>
                              </a:rPr>
                              <m:t>1</m:t>
                            </m:r>
                          </m:sub>
                        </m:sSub>
                        <m:r>
                          <a:rPr lang="en-US" sz="2800" i="1">
                            <a:latin typeface="Cambria Math" panose="02040503050406030204" pitchFamily="18" charset="0"/>
                            <a:ea typeface="Cambria Math" panose="02040503050406030204" pitchFamily="18" charset="0"/>
                          </a:rPr>
                          <m:t>𝐵</m:t>
                        </m:r>
                      </m:e>
                      <m:sub>
                        <m:r>
                          <a:rPr lang="en-US" sz="2800" i="1">
                            <a:latin typeface="Cambria Math" panose="02040503050406030204" pitchFamily="18" charset="0"/>
                            <a:ea typeface="Cambria Math" panose="02040503050406030204" pitchFamily="18" charset="0"/>
                          </a:rPr>
                          <m:t>𝑖</m:t>
                        </m:r>
                      </m:sub>
                      <m:sup>
                        <m:r>
                          <a:rPr lang="en-US" sz="2800" i="1">
                            <a:latin typeface="Cambria Math" panose="02040503050406030204" pitchFamily="18" charset="0"/>
                            <a:ea typeface="Cambria Math" panose="02040503050406030204" pitchFamily="18" charset="0"/>
                          </a:rPr>
                          <m:t>′</m:t>
                        </m:r>
                      </m:sup>
                    </m:sSubSup>
                  </m:oMath>
                </a14:m>
                <a:endParaRPr lang="en-US" sz="2800" i="1" dirty="0">
                  <a:latin typeface="Cambria Math" panose="02040503050406030204" pitchFamily="18" charset="0"/>
                  <a:ea typeface="Cambria Math" panose="02040503050406030204" pitchFamily="18" charset="0"/>
                </a:endParaRPr>
              </a:p>
              <a:p>
                <a:pP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panose="02040503050406030204" pitchFamily="18" charset="0"/>
                          </a:rPr>
                          <m:t>𝑍</m:t>
                        </m:r>
                      </m:e>
                      <m:sub>
                        <m:r>
                          <a:rPr lang="en-US" sz="2800" i="1">
                            <a:latin typeface="Cambria Math" panose="02040503050406030204" pitchFamily="18" charset="0"/>
                          </a:rPr>
                          <m:t>𝑖</m:t>
                        </m:r>
                      </m:sub>
                    </m:sSub>
                    <m:r>
                      <a:rPr lang="en-US" sz="2800" i="1">
                        <a:latin typeface="Cambria Math" panose="02040503050406030204" pitchFamily="18" charset="0"/>
                      </a:rPr>
                      <m:t>=</m:t>
                    </m:r>
                    <m:sSubSup>
                      <m:sSubSupPr>
                        <m:ctrlPr>
                          <a:rPr lang="en-US" sz="2800" i="1">
                            <a:latin typeface="Cambria Math" panose="02040503050406030204" pitchFamily="18" charset="0"/>
                            <a:ea typeface="Cambria Math" panose="02040503050406030204" pitchFamily="18" charset="0"/>
                          </a:rPr>
                        </m:ctrlPr>
                      </m:sSubSupPr>
                      <m:e>
                        <m:r>
                          <a:rPr lang="en-US" sz="2800" i="1">
                            <a:latin typeface="Cambria Math" panose="02040503050406030204" pitchFamily="18" charset="0"/>
                            <a:ea typeface="Cambria Math" panose="02040503050406030204" pitchFamily="18" charset="0"/>
                          </a:rPr>
                          <m:t>𝑠</m:t>
                        </m:r>
                      </m:e>
                      <m:sub>
                        <m:r>
                          <a:rPr lang="en-US" sz="2800" b="0" i="1" smtClean="0">
                            <a:latin typeface="Cambria Math" panose="02040503050406030204" pitchFamily="18" charset="0"/>
                            <a:ea typeface="Cambria Math" panose="02040503050406030204" pitchFamily="18" charset="0"/>
                          </a:rPr>
                          <m:t>2</m:t>
                        </m:r>
                      </m:sub>
                      <m:sup>
                        <m:r>
                          <a:rPr lang="en-US" sz="2800" i="1">
                            <a:latin typeface="Cambria Math" panose="02040503050406030204" pitchFamily="18" charset="0"/>
                            <a:ea typeface="Cambria Math" panose="02040503050406030204" pitchFamily="18" charset="0"/>
                          </a:rPr>
                          <m:t>′</m:t>
                        </m:r>
                      </m:sup>
                    </m:sSubSup>
                    <m:sSub>
                      <m:sSubPr>
                        <m:ctrlPr>
                          <a:rPr lang="en-US" sz="2800" i="1">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𝐶</m:t>
                        </m:r>
                      </m:e>
                      <m:sub>
                        <m:r>
                          <a:rPr lang="en-US" sz="2800" i="1">
                            <a:latin typeface="Cambria Math" panose="02040503050406030204" pitchFamily="18" charset="0"/>
                            <a:ea typeface="Cambria Math" panose="02040503050406030204" pitchFamily="18" charset="0"/>
                          </a:rPr>
                          <m:t>𝑖</m:t>
                        </m:r>
                      </m:sub>
                    </m:sSub>
                  </m:oMath>
                </a14:m>
                <a:endParaRPr lang="en-US" sz="2800" dirty="0"/>
              </a:p>
              <a:p>
                <a:r>
                  <a:rPr lang="en-US" sz="2800" dirty="0">
                    <a:ea typeface="Cambria Math" panose="02040503050406030204" pitchFamily="18" charset="0"/>
                  </a:rPr>
                  <a:t>When </a:t>
                </a:r>
                <a14:m>
                  <m:oMath xmlns:m="http://schemas.openxmlformats.org/officeDocument/2006/math">
                    <m:sSub>
                      <m:sSubPr>
                        <m:ctrlPr>
                          <a:rPr lang="en-US" sz="2800" b="1" i="1" smtClean="0">
                            <a:solidFill>
                              <a:srgbClr val="FF0000"/>
                            </a:solidFill>
                            <a:latin typeface="Cambria Math" panose="02040503050406030204" pitchFamily="18" charset="0"/>
                            <a:ea typeface="Cambria Math" panose="02040503050406030204" pitchFamily="18" charset="0"/>
                          </a:rPr>
                        </m:ctrlPr>
                      </m:sSubPr>
                      <m:e>
                        <m:r>
                          <a:rPr lang="en-US" sz="2800" b="1" i="1" smtClean="0">
                            <a:solidFill>
                              <a:srgbClr val="FF0000"/>
                            </a:solidFill>
                            <a:latin typeface="Cambria Math" panose="02040503050406030204" pitchFamily="18" charset="0"/>
                            <a:ea typeface="Cambria Math" panose="02040503050406030204" pitchFamily="18" charset="0"/>
                          </a:rPr>
                          <m:t>𝒔</m:t>
                        </m:r>
                      </m:e>
                      <m:sub>
                        <m:r>
                          <a:rPr lang="en-US" sz="2800" b="1" i="1" smtClean="0">
                            <a:solidFill>
                              <a:srgbClr val="FF0000"/>
                            </a:solidFill>
                            <a:latin typeface="Cambria Math" panose="02040503050406030204" pitchFamily="18" charset="0"/>
                            <a:ea typeface="Cambria Math" panose="02040503050406030204" pitchFamily="18" charset="0"/>
                          </a:rPr>
                          <m:t>𝟐</m:t>
                        </m:r>
                      </m:sub>
                    </m:sSub>
                    <m:r>
                      <a:rPr lang="en-US" sz="2800" b="1" i="1" smtClean="0">
                        <a:solidFill>
                          <a:srgbClr val="FF0000"/>
                        </a:solidFill>
                        <a:latin typeface="Cambria Math" panose="02040503050406030204" pitchFamily="18" charset="0"/>
                        <a:ea typeface="Cambria Math" panose="02040503050406030204" pitchFamily="18" charset="0"/>
                      </a:rPr>
                      <m:t>=</m:t>
                    </m:r>
                    <m:r>
                      <a:rPr lang="en-US" sz="2800" b="1" i="1" smtClean="0">
                        <a:solidFill>
                          <a:srgbClr val="FF0000"/>
                        </a:solidFill>
                        <a:latin typeface="Cambria Math" panose="02040503050406030204" pitchFamily="18" charset="0"/>
                        <a:ea typeface="Cambria Math" panose="02040503050406030204" pitchFamily="18" charset="0"/>
                      </a:rPr>
                      <m:t>𝟎</m:t>
                    </m:r>
                  </m:oMath>
                </a14:m>
                <a:r>
                  <a:rPr lang="en-US" sz="2800" dirty="0"/>
                  <a:t> then these three function reduce to-</a:t>
                </a:r>
              </a:p>
              <a:p>
                <a:pP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𝑋</m:t>
                        </m:r>
                      </m:e>
                      <m:sub>
                        <m:r>
                          <a:rPr lang="en-US" sz="2800" i="1">
                            <a:latin typeface="Cambria Math" panose="02040503050406030204" pitchFamily="18" charset="0"/>
                          </a:rPr>
                          <m:t>𝑖</m:t>
                        </m:r>
                      </m:sub>
                    </m:sSub>
                    <m:r>
                      <a:rPr lang="en-US" sz="2800" i="1">
                        <a:latin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𝐴</m:t>
                        </m:r>
                      </m:e>
                      <m:sub>
                        <m:r>
                          <a:rPr lang="en-US" sz="2800" i="1">
                            <a:latin typeface="Cambria Math" panose="02040503050406030204" pitchFamily="18" charset="0"/>
                            <a:ea typeface="Cambria Math" panose="02040503050406030204" pitchFamily="18" charset="0"/>
                          </a:rPr>
                          <m:t>𝑖</m:t>
                        </m:r>
                      </m:sub>
                    </m:sSub>
                  </m:oMath>
                </a14:m>
                <a:endParaRPr lang="en-US" sz="2800" dirty="0"/>
              </a:p>
              <a:p>
                <a:pPr/>
                <a14:m>
                  <m:oMathPara xmlns:m="http://schemas.openxmlformats.org/officeDocument/2006/math">
                    <m:oMathParaPr>
                      <m:jc m:val="left"/>
                    </m:oMathParaPr>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panose="02040503050406030204" pitchFamily="18" charset="0"/>
                            </a:rPr>
                            <m:t>                       </m:t>
                          </m:r>
                          <m:r>
                            <a:rPr lang="en-US" sz="2800" i="1">
                              <a:latin typeface="Cambria Math" panose="02040503050406030204" pitchFamily="18" charset="0"/>
                            </a:rPr>
                            <m:t>𝑌</m:t>
                          </m:r>
                        </m:e>
                        <m:sub>
                          <m:r>
                            <a:rPr lang="en-US" sz="2800" i="1">
                              <a:latin typeface="Cambria Math" panose="02040503050406030204" pitchFamily="18" charset="0"/>
                            </a:rPr>
                            <m:t>𝑖</m:t>
                          </m:r>
                        </m:sub>
                      </m:sSub>
                      <m:r>
                        <a:rPr lang="en-US" sz="2800" i="1">
                          <a:latin typeface="Cambria Math" panose="02040503050406030204" pitchFamily="18" charset="0"/>
                        </a:rPr>
                        <m:t>=</m:t>
                      </m:r>
                      <m:sSub>
                        <m:sSubPr>
                          <m:ctrlPr>
                            <a:rPr lang="en-US" sz="2800" i="1" smtClean="0">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𝑠</m:t>
                          </m:r>
                        </m:e>
                        <m:sub>
                          <m:r>
                            <a:rPr lang="en-US" sz="2800" i="1">
                              <a:latin typeface="Cambria Math" panose="02040503050406030204" pitchFamily="18" charset="0"/>
                              <a:ea typeface="Cambria Math" panose="02040503050406030204" pitchFamily="18" charset="0"/>
                            </a:rPr>
                            <m:t>0</m:t>
                          </m:r>
                        </m:sub>
                      </m:sSub>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𝐵</m:t>
                          </m:r>
                        </m:e>
                        <m:sub>
                          <m:r>
                            <a:rPr lang="en-US" sz="2800" i="1">
                              <a:latin typeface="Cambria Math" panose="02040503050406030204" pitchFamily="18" charset="0"/>
                              <a:ea typeface="Cambria Math" panose="02040503050406030204" pitchFamily="18" charset="0"/>
                            </a:rPr>
                            <m:t>𝑖</m:t>
                          </m:r>
                        </m:sub>
                      </m:sSub>
                      <m:r>
                        <a:rPr lang="en-US" sz="2800" i="1">
                          <a:latin typeface="Cambria Math" panose="02040503050406030204" pitchFamily="18" charset="0"/>
                          <a:ea typeface="Cambria Math" panose="02040503050406030204" pitchFamily="18" charset="0"/>
                        </a:rPr>
                        <m:t>+</m:t>
                      </m:r>
                      <m:sSubSup>
                        <m:sSubSupPr>
                          <m:ctrlPr>
                            <a:rPr lang="en-US" sz="2800" i="1">
                              <a:latin typeface="Cambria Math" panose="02040503050406030204" pitchFamily="18" charset="0"/>
                              <a:ea typeface="Cambria Math" panose="02040503050406030204" pitchFamily="18" charset="0"/>
                            </a:rPr>
                          </m:ctrlPr>
                        </m:sSubSupPr>
                        <m:e>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𝑠</m:t>
                              </m:r>
                            </m:e>
                            <m:sub>
                              <m:r>
                                <a:rPr lang="en-US" sz="2800" i="1">
                                  <a:latin typeface="Cambria Math" panose="02040503050406030204" pitchFamily="18" charset="0"/>
                                  <a:ea typeface="Cambria Math" panose="02040503050406030204" pitchFamily="18" charset="0"/>
                                </a:rPr>
                                <m:t>1</m:t>
                              </m:r>
                            </m:sub>
                          </m:sSub>
                          <m:r>
                            <a:rPr lang="en-US" sz="2800" i="1">
                              <a:latin typeface="Cambria Math" panose="02040503050406030204" pitchFamily="18" charset="0"/>
                              <a:ea typeface="Cambria Math" panose="02040503050406030204" pitchFamily="18" charset="0"/>
                            </a:rPr>
                            <m:t>𝐵</m:t>
                          </m:r>
                        </m:e>
                        <m:sub>
                          <m:r>
                            <a:rPr lang="en-US" sz="2800" i="1">
                              <a:latin typeface="Cambria Math" panose="02040503050406030204" pitchFamily="18" charset="0"/>
                              <a:ea typeface="Cambria Math" panose="02040503050406030204" pitchFamily="18" charset="0"/>
                            </a:rPr>
                            <m:t>𝑖</m:t>
                          </m:r>
                        </m:sub>
                        <m:sup>
                          <m:r>
                            <a:rPr lang="en-US" sz="2800" i="1">
                              <a:latin typeface="Cambria Math" panose="02040503050406030204" pitchFamily="18" charset="0"/>
                              <a:ea typeface="Cambria Math" panose="02040503050406030204" pitchFamily="18" charset="0"/>
                            </a:rPr>
                            <m:t>′</m:t>
                          </m:r>
                        </m:sup>
                      </m:sSubSup>
                    </m:oMath>
                  </m:oMathPara>
                </a14:m>
                <a:endParaRPr lang="en-US" sz="2800" dirty="0"/>
              </a:p>
              <a:p>
                <a:pP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𝑍</m:t>
                        </m:r>
                      </m:e>
                      <m:sub>
                        <m:r>
                          <a:rPr lang="en-US" sz="2800" i="1">
                            <a:latin typeface="Cambria Math" panose="02040503050406030204" pitchFamily="18" charset="0"/>
                          </a:rPr>
                          <m:t>𝑖</m:t>
                        </m:r>
                      </m:sub>
                    </m:sSub>
                    <m:r>
                      <a:rPr lang="en-US" sz="2800" i="1">
                        <a:latin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𝐶</m:t>
                        </m:r>
                      </m:e>
                      <m:sub>
                        <m:r>
                          <a:rPr lang="en-US" sz="2800" i="1">
                            <a:latin typeface="Cambria Math" panose="02040503050406030204" pitchFamily="18" charset="0"/>
                            <a:ea typeface="Cambria Math" panose="02040503050406030204" pitchFamily="18" charset="0"/>
                          </a:rPr>
                          <m:t>𝑖</m:t>
                        </m:r>
                      </m:sub>
                    </m:sSub>
                  </m:oMath>
                </a14:m>
                <a:endParaRPr lang="en-US" sz="2800" dirty="0"/>
              </a:p>
              <a:p>
                <a:r>
                  <a:rPr lang="en-US" sz="2800" dirty="0"/>
                  <a:t>These are the </a:t>
                </a:r>
                <a:r>
                  <a:rPr lang="en-US" sz="2800" b="1" dirty="0"/>
                  <a:t>functions of the arithmetic circuit </a:t>
                </a:r>
                <a:r>
                  <a:rPr lang="en-US" sz="2800" dirty="0"/>
                  <a:t>of Fig. 9.8</a:t>
                </a:r>
              </a:p>
            </p:txBody>
          </p:sp>
        </mc:Choice>
        <mc:Fallback>
          <p:sp>
            <p:nvSpPr>
              <p:cNvPr id="10" name="TextBox 9"/>
              <p:cNvSpPr txBox="1">
                <a:spLocks noRot="1" noChangeAspect="1" noMove="1" noResize="1" noEditPoints="1" noAdjustHandles="1" noChangeArrowheads="1" noChangeShapeType="1" noTextEdit="1"/>
              </p:cNvSpPr>
              <p:nvPr/>
            </p:nvSpPr>
            <p:spPr>
              <a:xfrm>
                <a:off x="1072341" y="1923803"/>
                <a:ext cx="14172012" cy="4832861"/>
              </a:xfrm>
              <a:prstGeom prst="rect">
                <a:avLst/>
              </a:prstGeom>
              <a:blipFill>
                <a:blip r:embed="rId2"/>
                <a:stretch>
                  <a:fillRect l="-903" t="-1263" r="-989" b="-2778"/>
                </a:stretch>
              </a:blipFill>
            </p:spPr>
            <p:txBody>
              <a:bodyPr/>
              <a:lstStyle/>
              <a:p>
                <a:r>
                  <a:rPr lang="en-US">
                    <a:noFill/>
                  </a:rPr>
                  <a:t> </a:t>
                </a:r>
              </a:p>
            </p:txBody>
          </p:sp>
        </mc:Fallback>
      </mc:AlternateContent>
      <p:sp>
        <p:nvSpPr>
          <p:cNvPr id="11" name="Title 1">
            <a:extLst>
              <a:ext uri="{FF2B5EF4-FFF2-40B4-BE49-F238E27FC236}">
                <a16:creationId xmlns:a16="http://schemas.microsoft.com/office/drawing/2014/main" id="{66DB13EE-9066-4270-BF91-8769F7E74896}"/>
              </a:ext>
            </a:extLst>
          </p:cNvPr>
          <p:cNvSpPr>
            <a:spLocks noGrp="1"/>
          </p:cNvSpPr>
          <p:nvPr>
            <p:ph type="title"/>
          </p:nvPr>
        </p:nvSpPr>
        <p:spPr>
          <a:xfrm>
            <a:off x="1017121" y="484536"/>
            <a:ext cx="14424957" cy="857782"/>
          </a:xfrm>
        </p:spPr>
        <p:txBody>
          <a:bodyPr>
            <a:normAutofit/>
          </a:bodyPr>
          <a:lstStyle/>
          <a:p>
            <a:pPr algn="ctr"/>
            <a:r>
              <a:rPr lang="en-US" sz="4000" b="1" dirty="0">
                <a:solidFill>
                  <a:srgbClr val="0000FF"/>
                </a:solidFill>
              </a:rPr>
              <a:t>Converting an Arithmetic Circuit to Logic Circuit</a:t>
            </a:r>
          </a:p>
        </p:txBody>
      </p:sp>
    </p:spTree>
    <p:extLst>
      <p:ext uri="{BB962C8B-B14F-4D97-AF65-F5344CB8AC3E}">
        <p14:creationId xmlns:p14="http://schemas.microsoft.com/office/powerpoint/2010/main" val="318351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48D335-4654-4C32-8EB3-DD5564AB32D3}" type="datetime3">
              <a:rPr lang="en-US" smtClean="0"/>
              <a:t>18 July 2024</a:t>
            </a:fld>
            <a:endParaRPr lang="en-US" dirty="0"/>
          </a:p>
        </p:txBody>
      </p:sp>
      <p:sp>
        <p:nvSpPr>
          <p:cNvPr id="8" name="Footer Placeholder 7"/>
          <p:cNvSpPr>
            <a:spLocks noGrp="1"/>
          </p:cNvSpPr>
          <p:nvPr>
            <p:ph type="ftr" sz="quarter" idx="11"/>
          </p:nvPr>
        </p:nvSpPr>
        <p:spPr/>
        <p:txBody>
          <a:bodyPr/>
          <a:lstStyle/>
          <a:p>
            <a:r>
              <a:rPr lang="en-US" dirty="0"/>
              <a:t>Course Teacher: Dr. Md. Rukonuzzaman</a:t>
            </a:r>
          </a:p>
        </p:txBody>
      </p:sp>
      <p:sp>
        <p:nvSpPr>
          <p:cNvPr id="9" name="Slide Number Placeholder 8"/>
          <p:cNvSpPr>
            <a:spLocks noGrp="1"/>
          </p:cNvSpPr>
          <p:nvPr>
            <p:ph type="sldNum" sz="quarter" idx="12"/>
          </p:nvPr>
        </p:nvSpPr>
        <p:spPr/>
        <p:txBody>
          <a:bodyPr/>
          <a:lstStyle/>
          <a:p>
            <a:fld id="{48F63A3B-78C7-47BE-AE5E-E10140E04643}" type="slidenum">
              <a:rPr lang="en-US" smtClean="0"/>
              <a:t>29</a:t>
            </a:fld>
            <a:endParaRPr lang="en-US" dirty="0"/>
          </a:p>
        </p:txBody>
      </p:sp>
      <mc:AlternateContent xmlns:mc="http://schemas.openxmlformats.org/markup-compatibility/2006">
        <mc:Choice xmlns:a14="http://schemas.microsoft.com/office/drawing/2010/main" Requires="a14">
          <p:sp>
            <p:nvSpPr>
              <p:cNvPr id="10" name="TextBox 9"/>
              <p:cNvSpPr txBox="1"/>
              <p:nvPr/>
            </p:nvSpPr>
            <p:spPr>
              <a:xfrm>
                <a:off x="1674420" y="1478527"/>
                <a:ext cx="13467425" cy="6126357"/>
              </a:xfrm>
              <a:prstGeom prst="rect">
                <a:avLst/>
              </a:prstGeom>
              <a:noFill/>
            </p:spPr>
            <p:txBody>
              <a:bodyPr wrap="square" rtlCol="0">
                <a:spAutoFit/>
              </a:bodyPr>
              <a:lstStyle/>
              <a:p>
                <a:r>
                  <a:rPr lang="en-US" sz="3200" dirty="0">
                    <a:ea typeface="Cambria Math" panose="02040503050406030204" pitchFamily="18" charset="0"/>
                  </a:rPr>
                  <a:t>When </a:t>
                </a:r>
                <a14:m>
                  <m:oMath xmlns:m="http://schemas.openxmlformats.org/officeDocument/2006/math">
                    <m:sSub>
                      <m:sSubPr>
                        <m:ctrlPr>
                          <a:rPr lang="en-US" sz="3200" b="1" i="1" smtClean="0">
                            <a:solidFill>
                              <a:srgbClr val="FF0000"/>
                            </a:solidFill>
                            <a:latin typeface="Cambria Math" panose="02040503050406030204" pitchFamily="18" charset="0"/>
                            <a:ea typeface="Cambria Math" panose="02040503050406030204" pitchFamily="18" charset="0"/>
                          </a:rPr>
                        </m:ctrlPr>
                      </m:sSubPr>
                      <m:e>
                        <m:r>
                          <a:rPr lang="en-US" sz="3200" b="1" i="1" smtClean="0">
                            <a:solidFill>
                              <a:srgbClr val="FF0000"/>
                            </a:solidFill>
                            <a:latin typeface="Cambria Math" panose="02040503050406030204" pitchFamily="18" charset="0"/>
                            <a:ea typeface="Cambria Math" panose="02040503050406030204" pitchFamily="18" charset="0"/>
                          </a:rPr>
                          <m:t>𝒔</m:t>
                        </m:r>
                      </m:e>
                      <m:sub>
                        <m:r>
                          <a:rPr lang="en-US" sz="3200" b="1" i="1" smtClean="0">
                            <a:solidFill>
                              <a:srgbClr val="FF0000"/>
                            </a:solidFill>
                            <a:latin typeface="Cambria Math" panose="02040503050406030204" pitchFamily="18" charset="0"/>
                            <a:ea typeface="Cambria Math" panose="02040503050406030204" pitchFamily="18" charset="0"/>
                          </a:rPr>
                          <m:t>𝟐</m:t>
                        </m:r>
                      </m:sub>
                    </m:sSub>
                    <m:r>
                      <a:rPr lang="en-US" sz="3200" b="1" i="1" smtClean="0">
                        <a:solidFill>
                          <a:srgbClr val="FF0000"/>
                        </a:solidFill>
                        <a:latin typeface="Cambria Math" panose="02040503050406030204" pitchFamily="18" charset="0"/>
                        <a:ea typeface="Cambria Math" panose="02040503050406030204" pitchFamily="18" charset="0"/>
                      </a:rPr>
                      <m:t>=</m:t>
                    </m:r>
                    <m:r>
                      <a:rPr lang="en-US" sz="3200" b="1" i="1" smtClean="0">
                        <a:solidFill>
                          <a:srgbClr val="FF0000"/>
                        </a:solidFill>
                        <a:latin typeface="Cambria Math" panose="02040503050406030204" pitchFamily="18" charset="0"/>
                        <a:ea typeface="Cambria Math" panose="02040503050406030204" pitchFamily="18" charset="0"/>
                      </a:rPr>
                      <m:t>𝟏</m:t>
                    </m:r>
                  </m:oMath>
                </a14:m>
                <a:r>
                  <a:rPr lang="en-US" sz="3200" dirty="0"/>
                  <a:t> then these three function reduce to-</a:t>
                </a:r>
              </a:p>
              <a:p>
                <a:pPr lvl="3"/>
                <a14:m>
                  <m:oMathPara xmlns:m="http://schemas.openxmlformats.org/officeDocument/2006/math">
                    <m:oMathParaPr>
                      <m:jc m:val="left"/>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𝑋</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up>
                          <m:r>
                            <a:rPr lang="en-US" sz="3200" i="1">
                              <a:latin typeface="Cambria Math" panose="02040503050406030204" pitchFamily="18" charset="0"/>
                              <a:ea typeface="Cambria Math" panose="02040503050406030204" pitchFamily="18" charset="0"/>
                            </a:rPr>
                            <m:t>′</m:t>
                          </m:r>
                        </m:sup>
                      </m:sSubSup>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up>
                          <m:r>
                            <a:rPr lang="en-US" sz="3200" i="1">
                              <a:latin typeface="Cambria Math" panose="02040503050406030204" pitchFamily="18" charset="0"/>
                              <a:ea typeface="Cambria Math" panose="02040503050406030204" pitchFamily="18" charset="0"/>
                            </a:rPr>
                            <m:t>′</m:t>
                          </m:r>
                        </m:sup>
                      </m:sSubSup>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Sub>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up>
                              <m:r>
                                <a:rPr lang="en-US" sz="3200" i="1">
                                  <a:latin typeface="Cambria Math" panose="02040503050406030204" pitchFamily="18" charset="0"/>
                                  <a:ea typeface="Cambria Math" panose="02040503050406030204" pitchFamily="18" charset="0"/>
                                </a:rPr>
                                <m:t>′</m:t>
                              </m:r>
                            </m:sup>
                          </m:sSubSup>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oMath>
                  </m:oMathPara>
                </a14:m>
                <a:endParaRPr lang="en-US" sz="3200" dirty="0"/>
              </a:p>
              <a:p>
                <a:pPr lvl="3"/>
                <a14:m>
                  <m:oMathPara xmlns:m="http://schemas.openxmlformats.org/officeDocument/2006/math">
                    <m:oMathParaPr>
                      <m:jc m:val="left"/>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𝑌</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Sub>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Sub>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oMath>
                  </m:oMathPara>
                </a14:m>
                <a:endParaRPr lang="en-US" sz="3200" dirty="0"/>
              </a:p>
              <a:p>
                <a:pPr lvl="3"/>
                <a14:m>
                  <m:oMathPara xmlns:m="http://schemas.openxmlformats.org/officeDocument/2006/math">
                    <m:oMathParaPr>
                      <m:jc m:val="left"/>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𝑍</m:t>
                          </m:r>
                        </m:e>
                        <m:sub>
                          <m:r>
                            <a:rPr lang="en-US" sz="3200" i="1">
                              <a:latin typeface="Cambria Math" panose="02040503050406030204" pitchFamily="18" charset="0"/>
                            </a:rPr>
                            <m:t>𝑖</m:t>
                          </m:r>
                        </m:sub>
                      </m:sSub>
                      <m:r>
                        <a:rPr lang="en-US" sz="3200" i="1">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0</m:t>
                      </m:r>
                    </m:oMath>
                  </m:oMathPara>
                </a14:m>
                <a:endParaRPr lang="en-US" sz="3200" dirty="0"/>
              </a:p>
              <a:p>
                <a:r>
                  <a:rPr lang="en-US" sz="3200" dirty="0"/>
                  <a:t>These are the </a:t>
                </a:r>
                <a:r>
                  <a:rPr lang="en-US" sz="3200" b="1" dirty="0">
                    <a:solidFill>
                      <a:srgbClr val="FF0000"/>
                    </a:solidFill>
                  </a:rPr>
                  <a:t>functions of the logic circuit </a:t>
                </a:r>
                <a:r>
                  <a:rPr lang="en-US" sz="3200" dirty="0"/>
                  <a:t>of Fig. 9.8.</a:t>
                </a:r>
              </a:p>
              <a:p>
                <a:endParaRPr lang="en-US" sz="2000" dirty="0"/>
              </a:p>
              <a:p>
                <a:r>
                  <a:rPr lang="en-US" sz="3200" dirty="0"/>
                  <a:t>When </a:t>
                </a:r>
                <a:r>
                  <a:rPr lang="en-US" sz="3200" i="1" dirty="0">
                    <a:solidFill>
                      <a:srgbClr val="FF0000"/>
                    </a:solidFill>
                  </a:rPr>
                  <a:t>s</a:t>
                </a:r>
                <a:r>
                  <a:rPr lang="en-US" sz="3200" baseline="-25000" dirty="0">
                    <a:solidFill>
                      <a:srgbClr val="FF0000"/>
                    </a:solidFill>
                  </a:rPr>
                  <a:t>2</a:t>
                </a:r>
                <a:r>
                  <a:rPr lang="en-US" sz="3200" i="1" dirty="0">
                    <a:solidFill>
                      <a:srgbClr val="FF0000"/>
                    </a:solidFill>
                  </a:rPr>
                  <a:t>s</a:t>
                </a:r>
                <a:r>
                  <a:rPr lang="en-US" sz="3200" baseline="-25000" dirty="0">
                    <a:solidFill>
                      <a:srgbClr val="FF0000"/>
                    </a:solidFill>
                  </a:rPr>
                  <a:t>1</a:t>
                </a:r>
                <a:r>
                  <a:rPr lang="en-US" sz="3200" i="1" dirty="0">
                    <a:solidFill>
                      <a:srgbClr val="FF0000"/>
                    </a:solidFill>
                  </a:rPr>
                  <a:t>s</a:t>
                </a:r>
                <a:r>
                  <a:rPr lang="en-US" sz="3200" baseline="-25000" dirty="0">
                    <a:solidFill>
                      <a:srgbClr val="FF0000"/>
                    </a:solidFill>
                  </a:rPr>
                  <a:t>0</a:t>
                </a:r>
                <a:r>
                  <a:rPr lang="en-US" sz="3200" dirty="0">
                    <a:solidFill>
                      <a:srgbClr val="FF0000"/>
                    </a:solidFill>
                  </a:rPr>
                  <a:t> = 100,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𝑋</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up>
                        <m:r>
                          <a:rPr lang="en-US" sz="3200" i="1">
                            <a:latin typeface="Cambria Math" panose="02040503050406030204" pitchFamily="18" charset="0"/>
                            <a:ea typeface="Cambria Math" panose="02040503050406030204" pitchFamily="18" charset="0"/>
                          </a:rPr>
                          <m:t>′</m:t>
                        </m:r>
                      </m:sup>
                    </m:sSubSup>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up>
                        <m:r>
                          <a:rPr lang="en-US" sz="3200" i="1">
                            <a:latin typeface="Cambria Math" panose="02040503050406030204" pitchFamily="18" charset="0"/>
                            <a:ea typeface="Cambria Math" panose="02040503050406030204" pitchFamily="18" charset="0"/>
                          </a:rPr>
                          <m:t>′</m:t>
                        </m:r>
                      </m:sup>
                    </m:sSubSup>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Sub>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up>
                            <m:r>
                              <a:rPr lang="en-US" sz="3200" i="1">
                                <a:latin typeface="Cambria Math" panose="02040503050406030204" pitchFamily="18" charset="0"/>
                                <a:ea typeface="Cambria Math" panose="02040503050406030204" pitchFamily="18" charset="0"/>
                              </a:rPr>
                              <m:t>′</m:t>
                            </m:r>
                          </m:sup>
                        </m:sSubSup>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r>
                      <a:rPr lang="en-US" sz="3200">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r>
                      <a:rPr lang="en-US" sz="3200" b="0" i="1" smtClean="0">
                        <a:latin typeface="Cambria Math" panose="02040503050406030204" pitchFamily="18" charset="0"/>
                        <a:ea typeface="Cambria Math" panose="02040503050406030204" pitchFamily="18" charset="0"/>
                      </a:rPr>
                      <m:t>+</m:t>
                    </m:r>
                    <m:r>
                      <a:rPr lang="en-US" sz="3200" i="1">
                        <a:latin typeface="Cambria Math" panose="02040503050406030204" pitchFamily="18" charset="0"/>
                        <a:ea typeface="Cambria Math" panose="02040503050406030204" pitchFamily="18" charset="0"/>
                      </a:rPr>
                      <m:t>0</m:t>
                    </m:r>
                    <m:r>
                      <a:rPr lang="en-US" sz="3200">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oMath>
                </a14:m>
                <a:r>
                  <a:rPr lang="en-US" sz="3200" dirty="0"/>
                  <a:t> and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𝑌</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Sub>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Sub>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r>
                      <a:rPr lang="en-US" sz="3200" b="0" i="1" smtClean="0">
                        <a:latin typeface="Cambria Math" panose="02040503050406030204" pitchFamily="18" charset="0"/>
                        <a:ea typeface="Cambria Math" panose="02040503050406030204" pitchFamily="18" charset="0"/>
                      </a:rPr>
                      <m:t>=0+0=0. </m:t>
                    </m:r>
                  </m:oMath>
                </a14:m>
                <a:r>
                  <a:rPr lang="en-US" sz="3200" dirty="0"/>
                  <a:t>Hence, we can get the </a:t>
                </a:r>
                <a:r>
                  <a:rPr lang="en-US" sz="3200" dirty="0">
                    <a:solidFill>
                      <a:srgbClr val="FF0000"/>
                    </a:solidFill>
                  </a:rPr>
                  <a:t>OR operation </a:t>
                </a:r>
                <a:r>
                  <a:rPr lang="en-US" sz="3200" dirty="0"/>
                  <a:t>at the output,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𝐹</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𝑋</m:t>
                        </m:r>
                      </m:e>
                      <m:sub>
                        <m:r>
                          <a:rPr lang="en-US" sz="3200" i="1">
                            <a:latin typeface="Cambria Math" panose="02040503050406030204" pitchFamily="18" charset="0"/>
                          </a:rPr>
                          <m:t>𝑖</m:t>
                        </m:r>
                      </m:sub>
                    </m:sSub>
                    <m:r>
                      <a:rPr lang="en-US" sz="3200" i="1" smtClean="0">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𝑌</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rPr>
                      <m:t>=</m:t>
                    </m:r>
                    <m:d>
                      <m:dPr>
                        <m:ctrlPr>
                          <a:rPr lang="en-US" sz="3200" i="1" smtClean="0">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𝐴</m:t>
                            </m:r>
                          </m:e>
                          <m:sub>
                            <m:r>
                              <a:rPr lang="en-US" sz="3200" i="1">
                                <a:latin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e>
                    </m:d>
                    <m:r>
                      <a:rPr lang="en-US" sz="320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0=</m:t>
                    </m:r>
                    <m:sSub>
                      <m:sSubPr>
                        <m:ctrlPr>
                          <a:rPr lang="en-US" sz="3200" i="1">
                            <a:latin typeface="Cambria Math" panose="02040503050406030204" pitchFamily="18" charset="0"/>
                          </a:rPr>
                        </m:ctrlPr>
                      </m:sSubPr>
                      <m:e>
                        <m:r>
                          <a:rPr lang="en-US" sz="3200" i="1">
                            <a:latin typeface="Cambria Math" panose="02040503050406030204" pitchFamily="18" charset="0"/>
                          </a:rPr>
                          <m:t>𝐴</m:t>
                        </m:r>
                      </m:e>
                      <m:sub>
                        <m:r>
                          <a:rPr lang="en-US" sz="3200" i="1">
                            <a:latin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oMath>
                </a14:m>
                <a:r>
                  <a:rPr lang="en-US" sz="3200" dirty="0"/>
                  <a:t>. </a:t>
                </a:r>
              </a:p>
              <a:p>
                <a:endParaRPr lang="en-US" sz="2000" dirty="0"/>
              </a:p>
              <a:p>
                <a:r>
                  <a:rPr lang="en-US" sz="3200" dirty="0"/>
                  <a:t>When </a:t>
                </a:r>
                <a:r>
                  <a:rPr lang="en-US" sz="3200" i="1" dirty="0">
                    <a:solidFill>
                      <a:srgbClr val="FF0000"/>
                    </a:solidFill>
                  </a:rPr>
                  <a:t>s</a:t>
                </a:r>
                <a:r>
                  <a:rPr lang="en-US" sz="3200" baseline="-25000" dirty="0">
                    <a:solidFill>
                      <a:srgbClr val="FF0000"/>
                    </a:solidFill>
                  </a:rPr>
                  <a:t>2</a:t>
                </a:r>
                <a:r>
                  <a:rPr lang="en-US" sz="3200" i="1" dirty="0">
                    <a:solidFill>
                      <a:srgbClr val="FF0000"/>
                    </a:solidFill>
                  </a:rPr>
                  <a:t>s</a:t>
                </a:r>
                <a:r>
                  <a:rPr lang="en-US" sz="3200" baseline="-25000" dirty="0">
                    <a:solidFill>
                      <a:srgbClr val="FF0000"/>
                    </a:solidFill>
                  </a:rPr>
                  <a:t>1</a:t>
                </a:r>
                <a:r>
                  <a:rPr lang="en-US" sz="3200" i="1" dirty="0">
                    <a:solidFill>
                      <a:srgbClr val="FF0000"/>
                    </a:solidFill>
                  </a:rPr>
                  <a:t>s</a:t>
                </a:r>
                <a:r>
                  <a:rPr lang="en-US" sz="3200" baseline="-25000" dirty="0">
                    <a:solidFill>
                      <a:srgbClr val="FF0000"/>
                    </a:solidFill>
                  </a:rPr>
                  <a:t>0</a:t>
                </a:r>
                <a:r>
                  <a:rPr lang="en-US" sz="3200" dirty="0">
                    <a:solidFill>
                      <a:srgbClr val="FF0000"/>
                    </a:solidFill>
                  </a:rPr>
                  <a:t> = 101,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𝑋</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up>
                        <m:r>
                          <a:rPr lang="en-US" sz="3200" i="1">
                            <a:latin typeface="Cambria Math" panose="02040503050406030204" pitchFamily="18" charset="0"/>
                            <a:ea typeface="Cambria Math" panose="02040503050406030204" pitchFamily="18" charset="0"/>
                          </a:rPr>
                          <m:t>′</m:t>
                        </m:r>
                      </m:sup>
                    </m:sSubSup>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up>
                        <m:r>
                          <a:rPr lang="en-US" sz="3200" i="1">
                            <a:latin typeface="Cambria Math" panose="02040503050406030204" pitchFamily="18" charset="0"/>
                            <a:ea typeface="Cambria Math" panose="02040503050406030204" pitchFamily="18" charset="0"/>
                          </a:rPr>
                          <m:t>′</m:t>
                        </m:r>
                      </m:sup>
                    </m:sSubSup>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Sub>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up>
                            <m:r>
                              <a:rPr lang="en-US" sz="3200" i="1">
                                <a:latin typeface="Cambria Math" panose="02040503050406030204" pitchFamily="18" charset="0"/>
                                <a:ea typeface="Cambria Math" panose="02040503050406030204" pitchFamily="18" charset="0"/>
                              </a:rPr>
                              <m:t>′</m:t>
                            </m:r>
                          </m:sup>
                        </m:sSubSup>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r>
                      <a:rPr lang="en-US" sz="3200">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0</m:t>
                    </m:r>
                    <m:r>
                      <a:rPr lang="en-US" sz="3200" i="1">
                        <a:latin typeface="Cambria Math" panose="02040503050406030204" pitchFamily="18" charset="0"/>
                        <a:ea typeface="Cambria Math" panose="02040503050406030204" pitchFamily="18" charset="0"/>
                      </a:rPr>
                      <m:t>+0</m:t>
                    </m:r>
                    <m:r>
                      <a:rPr lang="en-US" sz="3200">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oMath>
                </a14:m>
                <a:r>
                  <a:rPr lang="en-US" sz="3200" dirty="0"/>
                  <a:t> and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𝑌</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0</m:t>
                    </m:r>
                    <m:r>
                      <a:rPr lang="en-US" sz="3200" i="1">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 </m:t>
                    </m:r>
                  </m:oMath>
                </a14:m>
                <a:r>
                  <a:rPr lang="en-US" sz="3200" dirty="0"/>
                  <a:t>Hence, we can get the required </a:t>
                </a:r>
                <a:r>
                  <a:rPr lang="en-US" sz="3200" dirty="0">
                    <a:solidFill>
                      <a:srgbClr val="FF0000"/>
                    </a:solidFill>
                  </a:rPr>
                  <a:t>XOR operation </a:t>
                </a:r>
                <a:r>
                  <a:rPr lang="en-US" sz="3200" dirty="0"/>
                  <a:t>at the output,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𝐹</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𝑋</m:t>
                        </m:r>
                      </m:e>
                      <m:sub>
                        <m:r>
                          <a:rPr lang="en-US" sz="3200" i="1">
                            <a:latin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𝑌</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b="0" i="1" smtClean="0">
                            <a:latin typeface="Cambria Math" panose="02040503050406030204" pitchFamily="18" charset="0"/>
                          </a:rPr>
                          <m:t>𝐴</m:t>
                        </m:r>
                      </m:e>
                      <m:sub>
                        <m:r>
                          <a:rPr lang="en-US" sz="3200" i="1">
                            <a:latin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oMath>
                </a14:m>
                <a:r>
                  <a:rPr lang="en-US" sz="3200" dirty="0"/>
                  <a:t>.</a:t>
                </a:r>
              </a:p>
            </p:txBody>
          </p:sp>
        </mc:Choice>
        <mc:Fallback>
          <p:sp>
            <p:nvSpPr>
              <p:cNvPr id="10" name="TextBox 9"/>
              <p:cNvSpPr txBox="1">
                <a:spLocks noRot="1" noChangeAspect="1" noMove="1" noResize="1" noEditPoints="1" noAdjustHandles="1" noChangeArrowheads="1" noChangeShapeType="1" noTextEdit="1"/>
              </p:cNvSpPr>
              <p:nvPr/>
            </p:nvSpPr>
            <p:spPr>
              <a:xfrm>
                <a:off x="1674420" y="1478527"/>
                <a:ext cx="13467425" cy="6126357"/>
              </a:xfrm>
              <a:prstGeom prst="rect">
                <a:avLst/>
              </a:prstGeom>
              <a:blipFill>
                <a:blip r:embed="rId2"/>
                <a:stretch>
                  <a:fillRect l="-1177" t="-1194" b="-2388"/>
                </a:stretch>
              </a:blipFill>
            </p:spPr>
            <p:txBody>
              <a:bodyPr/>
              <a:lstStyle/>
              <a:p>
                <a:r>
                  <a:rPr lang="en-US">
                    <a:noFill/>
                  </a:rPr>
                  <a:t> </a:t>
                </a:r>
              </a:p>
            </p:txBody>
          </p:sp>
        </mc:Fallback>
      </mc:AlternateContent>
      <p:sp>
        <p:nvSpPr>
          <p:cNvPr id="11" name="Title 1">
            <a:extLst>
              <a:ext uri="{FF2B5EF4-FFF2-40B4-BE49-F238E27FC236}">
                <a16:creationId xmlns:a16="http://schemas.microsoft.com/office/drawing/2014/main" id="{66DB13EE-9066-4270-BF91-8769F7E74896}"/>
              </a:ext>
            </a:extLst>
          </p:cNvPr>
          <p:cNvSpPr>
            <a:spLocks noGrp="1"/>
          </p:cNvSpPr>
          <p:nvPr>
            <p:ph type="title"/>
          </p:nvPr>
        </p:nvSpPr>
        <p:spPr>
          <a:xfrm>
            <a:off x="1072341" y="305995"/>
            <a:ext cx="14377455" cy="857782"/>
          </a:xfrm>
        </p:spPr>
        <p:txBody>
          <a:bodyPr>
            <a:normAutofit/>
          </a:bodyPr>
          <a:lstStyle/>
          <a:p>
            <a:pPr algn="ctr"/>
            <a:r>
              <a:rPr lang="en-US" sz="4000" b="1" dirty="0">
                <a:solidFill>
                  <a:srgbClr val="0000FF"/>
                </a:solidFill>
              </a:rPr>
              <a:t>Converting an Arithmetic Circuit to Logic Circuit</a:t>
            </a:r>
          </a:p>
        </p:txBody>
      </p:sp>
    </p:spTree>
    <p:extLst>
      <p:ext uri="{BB962C8B-B14F-4D97-AF65-F5344CB8AC3E}">
        <p14:creationId xmlns:p14="http://schemas.microsoft.com/office/powerpoint/2010/main" val="2675108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741278-3322-4326-B266-7EAC4CA483E1}" type="datetime3">
              <a:rPr lang="en-US" smtClean="0"/>
              <a:t>18 July 2024</a:t>
            </a:fld>
            <a:endParaRPr lang="en-US" dirty="0"/>
          </a:p>
        </p:txBody>
      </p:sp>
      <p:sp>
        <p:nvSpPr>
          <p:cNvPr id="8" name="Footer Placeholder 7"/>
          <p:cNvSpPr>
            <a:spLocks noGrp="1"/>
          </p:cNvSpPr>
          <p:nvPr>
            <p:ph type="ftr" sz="quarter" idx="11"/>
          </p:nvPr>
        </p:nvSpPr>
        <p:spPr/>
        <p:txBody>
          <a:bodyPr/>
          <a:lstStyle/>
          <a:p>
            <a:r>
              <a:rPr lang="en-US" dirty="0"/>
              <a:t>Course Teacher: Dr. Md. Rukonuzzaman</a:t>
            </a:r>
          </a:p>
        </p:txBody>
      </p:sp>
      <p:sp>
        <p:nvSpPr>
          <p:cNvPr id="9" name="Slide Number Placeholder 8"/>
          <p:cNvSpPr>
            <a:spLocks noGrp="1"/>
          </p:cNvSpPr>
          <p:nvPr>
            <p:ph type="sldNum" sz="quarter" idx="12"/>
          </p:nvPr>
        </p:nvSpPr>
        <p:spPr/>
        <p:txBody>
          <a:bodyPr/>
          <a:lstStyle/>
          <a:p>
            <a:fld id="{48F63A3B-78C7-47BE-AE5E-E10140E04643}" type="slidenum">
              <a:rPr lang="en-US" smtClean="0"/>
              <a:t>30</a:t>
            </a:fld>
            <a:endParaRPr lang="en-US" dirty="0"/>
          </a:p>
        </p:txBody>
      </p:sp>
      <mc:AlternateContent xmlns:mc="http://schemas.openxmlformats.org/markup-compatibility/2006">
        <mc:Choice xmlns:a14="http://schemas.microsoft.com/office/drawing/2010/main" Requires="a14">
          <p:sp>
            <p:nvSpPr>
              <p:cNvPr id="10" name="TextBox 9"/>
              <p:cNvSpPr txBox="1"/>
              <p:nvPr/>
            </p:nvSpPr>
            <p:spPr>
              <a:xfrm>
                <a:off x="1365662" y="1372301"/>
                <a:ext cx="13776183" cy="6127318"/>
              </a:xfrm>
              <a:prstGeom prst="rect">
                <a:avLst/>
              </a:prstGeom>
              <a:noFill/>
            </p:spPr>
            <p:txBody>
              <a:bodyPr wrap="square" rtlCol="0">
                <a:spAutoFit/>
              </a:bodyPr>
              <a:lstStyle/>
              <a:p>
                <a:r>
                  <a:rPr lang="en-US" sz="3200" dirty="0">
                    <a:ea typeface="Cambria Math" panose="02040503050406030204" pitchFamily="18" charset="0"/>
                  </a:rPr>
                  <a:t>When </a:t>
                </a:r>
                <a14:m>
                  <m:oMath xmlns:m="http://schemas.openxmlformats.org/officeDocument/2006/math">
                    <m:sSub>
                      <m:sSubPr>
                        <m:ctrlPr>
                          <a:rPr lang="en-US" sz="3200" b="1" i="1" smtClean="0">
                            <a:solidFill>
                              <a:srgbClr val="FF0000"/>
                            </a:solidFill>
                            <a:latin typeface="Cambria Math" panose="02040503050406030204" pitchFamily="18" charset="0"/>
                            <a:ea typeface="Cambria Math" panose="02040503050406030204" pitchFamily="18" charset="0"/>
                          </a:rPr>
                        </m:ctrlPr>
                      </m:sSubPr>
                      <m:e>
                        <m:r>
                          <a:rPr lang="en-US" sz="3200" b="1" i="1" smtClean="0">
                            <a:solidFill>
                              <a:srgbClr val="FF0000"/>
                            </a:solidFill>
                            <a:latin typeface="Cambria Math" panose="02040503050406030204" pitchFamily="18" charset="0"/>
                            <a:ea typeface="Cambria Math" panose="02040503050406030204" pitchFamily="18" charset="0"/>
                          </a:rPr>
                          <m:t>𝒔</m:t>
                        </m:r>
                      </m:e>
                      <m:sub>
                        <m:r>
                          <a:rPr lang="en-US" sz="3200" b="1" i="1" smtClean="0">
                            <a:solidFill>
                              <a:srgbClr val="FF0000"/>
                            </a:solidFill>
                            <a:latin typeface="Cambria Math" panose="02040503050406030204" pitchFamily="18" charset="0"/>
                            <a:ea typeface="Cambria Math" panose="02040503050406030204" pitchFamily="18" charset="0"/>
                          </a:rPr>
                          <m:t>𝟐</m:t>
                        </m:r>
                      </m:sub>
                    </m:sSub>
                    <m:r>
                      <a:rPr lang="en-US" sz="3200" b="1" i="1" smtClean="0">
                        <a:solidFill>
                          <a:srgbClr val="FF0000"/>
                        </a:solidFill>
                        <a:latin typeface="Cambria Math" panose="02040503050406030204" pitchFamily="18" charset="0"/>
                        <a:ea typeface="Cambria Math" panose="02040503050406030204" pitchFamily="18" charset="0"/>
                      </a:rPr>
                      <m:t>=</m:t>
                    </m:r>
                    <m:r>
                      <a:rPr lang="en-US" sz="3200" b="1" i="1" smtClean="0">
                        <a:solidFill>
                          <a:srgbClr val="FF0000"/>
                        </a:solidFill>
                        <a:latin typeface="Cambria Math" panose="02040503050406030204" pitchFamily="18" charset="0"/>
                        <a:ea typeface="Cambria Math" panose="02040503050406030204" pitchFamily="18" charset="0"/>
                      </a:rPr>
                      <m:t>𝟏</m:t>
                    </m:r>
                  </m:oMath>
                </a14:m>
                <a:r>
                  <a:rPr lang="en-US" sz="3200" dirty="0"/>
                  <a:t> then these three function reduce to-</a:t>
                </a:r>
              </a:p>
              <a:p>
                <a:pPr lvl="3"/>
                <a14:m>
                  <m:oMathPara xmlns:m="http://schemas.openxmlformats.org/officeDocument/2006/math">
                    <m:oMathParaPr>
                      <m:jc m:val="left"/>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𝑋</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up>
                          <m:r>
                            <a:rPr lang="en-US" sz="3200" i="1">
                              <a:latin typeface="Cambria Math" panose="02040503050406030204" pitchFamily="18" charset="0"/>
                              <a:ea typeface="Cambria Math" panose="02040503050406030204" pitchFamily="18" charset="0"/>
                            </a:rPr>
                            <m:t>′</m:t>
                          </m:r>
                        </m:sup>
                      </m:sSubSup>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up>
                          <m:r>
                            <a:rPr lang="en-US" sz="3200" i="1">
                              <a:latin typeface="Cambria Math" panose="02040503050406030204" pitchFamily="18" charset="0"/>
                              <a:ea typeface="Cambria Math" panose="02040503050406030204" pitchFamily="18" charset="0"/>
                            </a:rPr>
                            <m:t>′</m:t>
                          </m:r>
                        </m:sup>
                      </m:sSubSup>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Sub>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up>
                              <m:r>
                                <a:rPr lang="en-US" sz="3200" i="1">
                                  <a:latin typeface="Cambria Math" panose="02040503050406030204" pitchFamily="18" charset="0"/>
                                  <a:ea typeface="Cambria Math" panose="02040503050406030204" pitchFamily="18" charset="0"/>
                                </a:rPr>
                                <m:t>′</m:t>
                              </m:r>
                            </m:sup>
                          </m:sSubSup>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oMath>
                  </m:oMathPara>
                </a14:m>
                <a:endParaRPr lang="en-US" sz="3200" dirty="0"/>
              </a:p>
              <a:p>
                <a:pPr lvl="3"/>
                <a14:m>
                  <m:oMathPara xmlns:m="http://schemas.openxmlformats.org/officeDocument/2006/math">
                    <m:oMathParaPr>
                      <m:jc m:val="left"/>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𝑌</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Sub>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Sub>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oMath>
                  </m:oMathPara>
                </a14:m>
                <a:endParaRPr lang="en-US" sz="3200" dirty="0"/>
              </a:p>
              <a:p>
                <a:pPr lvl="3"/>
                <a14:m>
                  <m:oMathPara xmlns:m="http://schemas.openxmlformats.org/officeDocument/2006/math">
                    <m:oMathParaPr>
                      <m:jc m:val="left"/>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𝑍</m:t>
                          </m:r>
                        </m:e>
                        <m:sub>
                          <m:r>
                            <a:rPr lang="en-US" sz="3200" i="1">
                              <a:latin typeface="Cambria Math" panose="02040503050406030204" pitchFamily="18" charset="0"/>
                            </a:rPr>
                            <m:t>𝑖</m:t>
                          </m:r>
                        </m:sub>
                      </m:sSub>
                      <m:r>
                        <a:rPr lang="en-US" sz="3200" i="1">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0</m:t>
                      </m:r>
                    </m:oMath>
                  </m:oMathPara>
                </a14:m>
                <a:endParaRPr lang="en-US" sz="3200" dirty="0"/>
              </a:p>
              <a:p>
                <a:r>
                  <a:rPr lang="en-US" sz="3200" dirty="0"/>
                  <a:t>These are the </a:t>
                </a:r>
                <a:r>
                  <a:rPr lang="en-US" sz="3200" b="1" dirty="0">
                    <a:solidFill>
                      <a:srgbClr val="FF0000"/>
                    </a:solidFill>
                  </a:rPr>
                  <a:t>functions of the logic circuit </a:t>
                </a:r>
                <a:r>
                  <a:rPr lang="en-US" sz="3200" dirty="0"/>
                  <a:t>of Fig. 9.8.</a:t>
                </a:r>
              </a:p>
              <a:p>
                <a:endParaRPr lang="en-US" sz="2000" dirty="0"/>
              </a:p>
              <a:p>
                <a:r>
                  <a:rPr lang="en-US" sz="3200" dirty="0"/>
                  <a:t>When </a:t>
                </a:r>
                <a:r>
                  <a:rPr lang="en-US" sz="3200" i="1" dirty="0">
                    <a:solidFill>
                      <a:srgbClr val="FF0000"/>
                    </a:solidFill>
                  </a:rPr>
                  <a:t>s</a:t>
                </a:r>
                <a:r>
                  <a:rPr lang="en-US" sz="3200" baseline="-25000" dirty="0">
                    <a:solidFill>
                      <a:srgbClr val="FF0000"/>
                    </a:solidFill>
                  </a:rPr>
                  <a:t>2</a:t>
                </a:r>
                <a:r>
                  <a:rPr lang="en-US" sz="3200" i="1" dirty="0">
                    <a:solidFill>
                      <a:srgbClr val="FF0000"/>
                    </a:solidFill>
                  </a:rPr>
                  <a:t>s</a:t>
                </a:r>
                <a:r>
                  <a:rPr lang="en-US" sz="3200" baseline="-25000" dirty="0">
                    <a:solidFill>
                      <a:srgbClr val="FF0000"/>
                    </a:solidFill>
                  </a:rPr>
                  <a:t>1</a:t>
                </a:r>
                <a:r>
                  <a:rPr lang="en-US" sz="3200" i="1" dirty="0">
                    <a:solidFill>
                      <a:srgbClr val="FF0000"/>
                    </a:solidFill>
                  </a:rPr>
                  <a:t>s</a:t>
                </a:r>
                <a:r>
                  <a:rPr lang="en-US" sz="3200" baseline="-25000" dirty="0">
                    <a:solidFill>
                      <a:srgbClr val="FF0000"/>
                    </a:solidFill>
                  </a:rPr>
                  <a:t>0</a:t>
                </a:r>
                <a:r>
                  <a:rPr lang="en-US" sz="3200" dirty="0">
                    <a:solidFill>
                      <a:srgbClr val="FF0000"/>
                    </a:solidFill>
                  </a:rPr>
                  <a:t> = 110,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𝑋</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up>
                        <m:r>
                          <a:rPr lang="en-US" sz="3200" i="1">
                            <a:latin typeface="Cambria Math" panose="02040503050406030204" pitchFamily="18" charset="0"/>
                            <a:ea typeface="Cambria Math" panose="02040503050406030204" pitchFamily="18" charset="0"/>
                          </a:rPr>
                          <m:t>′</m:t>
                        </m:r>
                      </m:sup>
                    </m:sSubSup>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up>
                        <m:r>
                          <a:rPr lang="en-US" sz="3200" i="1">
                            <a:latin typeface="Cambria Math" panose="02040503050406030204" pitchFamily="18" charset="0"/>
                            <a:ea typeface="Cambria Math" panose="02040503050406030204" pitchFamily="18" charset="0"/>
                          </a:rPr>
                          <m:t>′</m:t>
                        </m:r>
                      </m:sup>
                    </m:sSubSup>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Sub>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up>
                            <m:r>
                              <a:rPr lang="en-US" sz="3200" i="1">
                                <a:latin typeface="Cambria Math" panose="02040503050406030204" pitchFamily="18" charset="0"/>
                                <a:ea typeface="Cambria Math" panose="02040503050406030204" pitchFamily="18" charset="0"/>
                              </a:rPr>
                              <m:t>′</m:t>
                            </m:r>
                          </m:sup>
                        </m:sSubSup>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r>
                      <a:rPr lang="en-US" sz="3200">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0+</m:t>
                    </m:r>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r>
                      <a:rPr lang="en-US" sz="3200">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oMath>
                </a14:m>
                <a:r>
                  <a:rPr lang="en-US" sz="3200" dirty="0"/>
                  <a:t>and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𝑌</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Sub>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Sub>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r>
                      <a:rPr lang="en-US" sz="3200" b="0" i="1" smtClean="0">
                        <a:latin typeface="Cambria Math" panose="02040503050406030204" pitchFamily="18" charset="0"/>
                        <a:ea typeface="Cambria Math" panose="02040503050406030204" pitchFamily="18" charset="0"/>
                      </a:rPr>
                      <m:t>=0+</m:t>
                    </m:r>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r>
                      <a:rPr lang="en-US" sz="3200" b="0" i="1" smtClean="0">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r>
                      <a:rPr lang="en-US" sz="3200" b="0" i="1" smtClean="0">
                        <a:latin typeface="Cambria Math" panose="02040503050406030204" pitchFamily="18" charset="0"/>
                        <a:ea typeface="Cambria Math" panose="02040503050406030204" pitchFamily="18" charset="0"/>
                      </a:rPr>
                      <m:t>. </m:t>
                    </m:r>
                  </m:oMath>
                </a14:m>
                <a:r>
                  <a:rPr lang="en-US" sz="3200" dirty="0"/>
                  <a:t>Hence, we can get the required </a:t>
                </a:r>
                <a:r>
                  <a:rPr lang="en-US" sz="3200" dirty="0">
                    <a:solidFill>
                      <a:srgbClr val="FF0000"/>
                    </a:solidFill>
                  </a:rPr>
                  <a:t>AND operation </a:t>
                </a:r>
                <a:r>
                  <a:rPr lang="en-US" sz="3200" dirty="0"/>
                  <a:t>at the output,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𝐹</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𝑋</m:t>
                        </m:r>
                      </m:e>
                      <m:sub>
                        <m:r>
                          <a:rPr lang="en-US" sz="3200" i="1">
                            <a:latin typeface="Cambria Math" panose="02040503050406030204" pitchFamily="18" charset="0"/>
                          </a:rPr>
                          <m:t>𝑖</m:t>
                        </m:r>
                      </m:sub>
                    </m:sSub>
                    <m:r>
                      <a:rPr lang="en-US" sz="3200" i="1" smtClean="0">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𝑌</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rPr>
                      <m:t>=</m:t>
                    </m:r>
                    <m:d>
                      <m:dPr>
                        <m:ctrlPr>
                          <a:rPr lang="en-US" sz="3200" i="1" smtClean="0">
                            <a:latin typeface="Cambria Math" panose="02040503050406030204" pitchFamily="18" charset="0"/>
                          </a:rPr>
                        </m:ctrlPr>
                      </m:dPr>
                      <m:e>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e>
                    </m:d>
                    <m:r>
                      <a:rPr lang="en-US" sz="3200" i="1" smtClean="0">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r>
                      <a:rPr lang="en-US" sz="3200" b="0" i="1" smtClean="0">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rPr>
                        </m:ctrlPr>
                      </m:sSubPr>
                      <m:e>
                        <m:r>
                          <a:rPr lang="en-US" sz="3200" b="0" i="1" smtClean="0">
                            <a:latin typeface="Cambria Math" panose="02040503050406030204" pitchFamily="18" charset="0"/>
                          </a:rPr>
                          <m:t>𝐴</m:t>
                        </m:r>
                      </m:e>
                      <m:sub>
                        <m:r>
                          <a:rPr lang="en-US" sz="3200" i="1">
                            <a:latin typeface="Cambria Math" panose="02040503050406030204" pitchFamily="18" charset="0"/>
                          </a:rPr>
                          <m:t>𝑖</m:t>
                        </m:r>
                      </m:sub>
                    </m:sSub>
                    <m:sSub>
                      <m:sSubPr>
                        <m:ctrlPr>
                          <a:rPr lang="en-US" sz="3200" i="1">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oMath>
                </a14:m>
                <a:r>
                  <a:rPr lang="en-US" sz="3200" dirty="0"/>
                  <a:t>. </a:t>
                </a:r>
              </a:p>
              <a:p>
                <a:endParaRPr lang="en-US" sz="2000" dirty="0"/>
              </a:p>
              <a:p>
                <a:r>
                  <a:rPr lang="en-US" sz="3200" dirty="0"/>
                  <a:t>When </a:t>
                </a:r>
                <a:r>
                  <a:rPr lang="en-US" sz="3200" i="1" dirty="0">
                    <a:solidFill>
                      <a:srgbClr val="FF0000"/>
                    </a:solidFill>
                  </a:rPr>
                  <a:t>s</a:t>
                </a:r>
                <a:r>
                  <a:rPr lang="en-US" sz="3200" baseline="-25000" dirty="0">
                    <a:solidFill>
                      <a:srgbClr val="FF0000"/>
                    </a:solidFill>
                  </a:rPr>
                  <a:t>2</a:t>
                </a:r>
                <a:r>
                  <a:rPr lang="en-US" sz="3200" i="1" dirty="0">
                    <a:solidFill>
                      <a:srgbClr val="FF0000"/>
                    </a:solidFill>
                  </a:rPr>
                  <a:t>s</a:t>
                </a:r>
                <a:r>
                  <a:rPr lang="en-US" sz="3200" baseline="-25000" dirty="0">
                    <a:solidFill>
                      <a:srgbClr val="FF0000"/>
                    </a:solidFill>
                  </a:rPr>
                  <a:t>1</a:t>
                </a:r>
                <a:r>
                  <a:rPr lang="en-US" sz="3200" i="1" dirty="0">
                    <a:solidFill>
                      <a:srgbClr val="FF0000"/>
                    </a:solidFill>
                  </a:rPr>
                  <a:t>s</a:t>
                </a:r>
                <a:r>
                  <a:rPr lang="en-US" sz="3200" baseline="-25000" dirty="0">
                    <a:solidFill>
                      <a:srgbClr val="FF0000"/>
                    </a:solidFill>
                  </a:rPr>
                  <a:t>0</a:t>
                </a:r>
                <a:r>
                  <a:rPr lang="en-US" sz="3200" dirty="0">
                    <a:solidFill>
                      <a:srgbClr val="FF0000"/>
                    </a:solidFill>
                  </a:rPr>
                  <a:t> = 111,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𝑋</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up>
                        <m:r>
                          <a:rPr lang="en-US" sz="3200" i="1">
                            <a:latin typeface="Cambria Math" panose="02040503050406030204" pitchFamily="18" charset="0"/>
                            <a:ea typeface="Cambria Math" panose="02040503050406030204" pitchFamily="18" charset="0"/>
                          </a:rPr>
                          <m:t>′</m:t>
                        </m:r>
                      </m:sup>
                    </m:sSubSup>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up>
                        <m:r>
                          <a:rPr lang="en-US" sz="3200" i="1">
                            <a:latin typeface="Cambria Math" panose="02040503050406030204" pitchFamily="18" charset="0"/>
                            <a:ea typeface="Cambria Math" panose="02040503050406030204" pitchFamily="18" charset="0"/>
                          </a:rPr>
                          <m:t>′</m:t>
                        </m:r>
                      </m:sup>
                    </m:sSubSup>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1</m:t>
                            </m:r>
                          </m:sub>
                        </m:sSub>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𝑠</m:t>
                            </m:r>
                          </m:e>
                          <m:sub>
                            <m:r>
                              <a:rPr lang="en-US" sz="3200" i="1">
                                <a:latin typeface="Cambria Math" panose="02040503050406030204" pitchFamily="18" charset="0"/>
                                <a:ea typeface="Cambria Math" panose="02040503050406030204" pitchFamily="18" charset="0"/>
                              </a:rPr>
                              <m:t>0</m:t>
                            </m:r>
                          </m:sub>
                          <m:sup>
                            <m:r>
                              <a:rPr lang="en-US" sz="3200" i="1">
                                <a:latin typeface="Cambria Math" panose="02040503050406030204" pitchFamily="18" charset="0"/>
                                <a:ea typeface="Cambria Math" panose="02040503050406030204" pitchFamily="18" charset="0"/>
                              </a:rPr>
                              <m:t>′</m:t>
                            </m:r>
                          </m:sup>
                        </m:sSubSup>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r>
                      <a:rPr lang="en-US" sz="3200">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0</m:t>
                    </m:r>
                    <m:r>
                      <a:rPr lang="en-US" sz="3200" i="1">
                        <a:latin typeface="Cambria Math" panose="02040503050406030204" pitchFamily="18" charset="0"/>
                        <a:ea typeface="Cambria Math" panose="02040503050406030204" pitchFamily="18" charset="0"/>
                      </a:rPr>
                      <m:t>+0</m:t>
                    </m:r>
                    <m:r>
                      <a:rPr lang="en-US" sz="3200">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oMath>
                </a14:m>
                <a:r>
                  <a:rPr lang="en-US" sz="3200" dirty="0"/>
                  <a:t> and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𝑌</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r>
                          <a:rPr lang="en-US" sz="3200" i="1">
                            <a:latin typeface="Cambria Math" panose="02040503050406030204" pitchFamily="18" charset="0"/>
                            <a:ea typeface="Cambria Math" panose="02040503050406030204" pitchFamily="18" charset="0"/>
                          </a:rPr>
                          <m:t>𝐵</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r>
                      <a:rPr lang="en-US" sz="3200" i="1">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1</m:t>
                    </m:r>
                    <m:r>
                      <a:rPr lang="en-US" sz="3200" i="1">
                        <a:latin typeface="Cambria Math" panose="02040503050406030204" pitchFamily="18" charset="0"/>
                        <a:ea typeface="Cambria Math" panose="02040503050406030204" pitchFamily="18" charset="0"/>
                      </a:rPr>
                      <m:t>. </m:t>
                    </m:r>
                  </m:oMath>
                </a14:m>
                <a:r>
                  <a:rPr lang="en-US" sz="3200" dirty="0"/>
                  <a:t>Hence, we can get the required </a:t>
                </a:r>
                <a:r>
                  <a:rPr lang="en-US" sz="3200" dirty="0">
                    <a:solidFill>
                      <a:srgbClr val="FF0000"/>
                    </a:solidFill>
                  </a:rPr>
                  <a:t>NO	T operation </a:t>
                </a:r>
                <a:r>
                  <a:rPr lang="en-US" sz="3200" dirty="0"/>
                  <a:t>at the output,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𝐹</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𝑋</m:t>
                        </m:r>
                      </m:e>
                      <m:sub>
                        <m:r>
                          <a:rPr lang="en-US" sz="3200" i="1">
                            <a:latin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𝑌</m:t>
                        </m:r>
                      </m:e>
                      <m:sub>
                        <m:r>
                          <a:rPr lang="en-US" sz="3200" i="1">
                            <a:latin typeface="Cambria Math" panose="02040503050406030204" pitchFamily="18" charset="0"/>
                            <a:ea typeface="Cambria Math" panose="02040503050406030204" pitchFamily="18" charset="0"/>
                          </a:rPr>
                          <m:t>𝑖</m:t>
                        </m:r>
                      </m:sub>
                    </m:sSub>
                    <m:r>
                      <a:rPr lang="en-US" sz="3200" b="0" i="1" smtClean="0">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Sub>
                    <m:nary>
                      <m:naryPr>
                        <m:chr m:val="⨁"/>
                        <m:limLoc m:val="undOvr"/>
                        <m:subHide m:val="on"/>
                        <m:supHide m:val="on"/>
                        <m:ctrlPr>
                          <a:rPr lang="en-US" sz="3200" i="1" smtClean="0">
                            <a:latin typeface="Cambria Math" panose="02040503050406030204" pitchFamily="18" charset="0"/>
                            <a:ea typeface="Cambria Math" panose="02040503050406030204" pitchFamily="18" charset="0"/>
                          </a:rPr>
                        </m:ctrlPr>
                      </m:naryPr>
                      <m:sub/>
                      <m:sup/>
                      <m:e>
                        <m:r>
                          <a:rPr lang="en-US" sz="3200" b="0" i="1" smtClean="0">
                            <a:latin typeface="Cambria Math" panose="02040503050406030204" pitchFamily="18" charset="0"/>
                            <a:ea typeface="Cambria Math" panose="02040503050406030204" pitchFamily="18" charset="0"/>
                          </a:rPr>
                          <m:t>1</m:t>
                        </m:r>
                      </m:e>
                    </m:nary>
                    <m:r>
                      <a:rPr lang="en-US" sz="3200" b="0" i="1" smtClean="0">
                        <a:latin typeface="Cambria Math" panose="02040503050406030204" pitchFamily="18" charset="0"/>
                        <a:ea typeface="Cambria Math" panose="02040503050406030204" pitchFamily="18" charset="0"/>
                      </a:rPr>
                      <m:t>=</m:t>
                    </m:r>
                    <m:sSubSup>
                      <m:sSubSupPr>
                        <m:ctrlPr>
                          <a:rPr lang="en-US" sz="3200" i="1">
                            <a:latin typeface="Cambria Math" panose="02040503050406030204" pitchFamily="18" charset="0"/>
                            <a:ea typeface="Cambria Math" panose="02040503050406030204" pitchFamily="18" charset="0"/>
                          </a:rPr>
                        </m:ctrlPr>
                      </m:sSubSupPr>
                      <m:e>
                        <m:r>
                          <a:rPr lang="en-US" sz="3200" b="0" i="1" smtClean="0">
                            <a:latin typeface="Cambria Math" panose="02040503050406030204" pitchFamily="18" charset="0"/>
                            <a:ea typeface="Cambria Math" panose="02040503050406030204" pitchFamily="18" charset="0"/>
                          </a:rPr>
                          <m:t>𝐴</m:t>
                        </m:r>
                      </m:e>
                      <m:sub>
                        <m:r>
                          <a:rPr lang="en-US" sz="3200" i="1">
                            <a:latin typeface="Cambria Math" panose="02040503050406030204" pitchFamily="18" charset="0"/>
                            <a:ea typeface="Cambria Math" panose="02040503050406030204" pitchFamily="18" charset="0"/>
                          </a:rPr>
                          <m:t>𝑖</m:t>
                        </m:r>
                      </m:sub>
                      <m:sup>
                        <m:r>
                          <a:rPr lang="en-US" sz="3200" i="1">
                            <a:latin typeface="Cambria Math" panose="02040503050406030204" pitchFamily="18" charset="0"/>
                            <a:ea typeface="Cambria Math" panose="02040503050406030204" pitchFamily="18" charset="0"/>
                          </a:rPr>
                          <m:t>′</m:t>
                        </m:r>
                      </m:sup>
                    </m:sSubSup>
                  </m:oMath>
                </a14:m>
                <a:r>
                  <a:rPr lang="en-US" sz="3200" dirty="0"/>
                  <a:t>.</a:t>
                </a:r>
              </a:p>
            </p:txBody>
          </p:sp>
        </mc:Choice>
        <mc:Fallback>
          <p:sp>
            <p:nvSpPr>
              <p:cNvPr id="10" name="TextBox 9"/>
              <p:cNvSpPr txBox="1">
                <a:spLocks noRot="1" noChangeAspect="1" noMove="1" noResize="1" noEditPoints="1" noAdjustHandles="1" noChangeArrowheads="1" noChangeShapeType="1" noTextEdit="1"/>
              </p:cNvSpPr>
              <p:nvPr/>
            </p:nvSpPr>
            <p:spPr>
              <a:xfrm>
                <a:off x="1365662" y="1372301"/>
                <a:ext cx="13776183" cy="6127318"/>
              </a:xfrm>
              <a:prstGeom prst="rect">
                <a:avLst/>
              </a:prstGeom>
              <a:blipFill>
                <a:blip r:embed="rId2"/>
                <a:stretch>
                  <a:fillRect l="-1106" t="-1194" r="-1150" b="-2388"/>
                </a:stretch>
              </a:blipFill>
            </p:spPr>
            <p:txBody>
              <a:bodyPr/>
              <a:lstStyle/>
              <a:p>
                <a:r>
                  <a:rPr lang="en-US">
                    <a:noFill/>
                  </a:rPr>
                  <a:t> </a:t>
                </a:r>
              </a:p>
            </p:txBody>
          </p:sp>
        </mc:Fallback>
      </mc:AlternateContent>
      <p:sp>
        <p:nvSpPr>
          <p:cNvPr id="11" name="Title 1">
            <a:extLst>
              <a:ext uri="{FF2B5EF4-FFF2-40B4-BE49-F238E27FC236}">
                <a16:creationId xmlns:a16="http://schemas.microsoft.com/office/drawing/2014/main" id="{66DB13EE-9066-4270-BF91-8769F7E74896}"/>
              </a:ext>
            </a:extLst>
          </p:cNvPr>
          <p:cNvSpPr>
            <a:spLocks noGrp="1"/>
          </p:cNvSpPr>
          <p:nvPr>
            <p:ph type="title"/>
          </p:nvPr>
        </p:nvSpPr>
        <p:spPr>
          <a:xfrm>
            <a:off x="1582981" y="412873"/>
            <a:ext cx="13985570" cy="857782"/>
          </a:xfrm>
        </p:spPr>
        <p:txBody>
          <a:bodyPr>
            <a:normAutofit/>
          </a:bodyPr>
          <a:lstStyle/>
          <a:p>
            <a:pPr algn="ctr"/>
            <a:r>
              <a:rPr lang="en-US" sz="4000" b="1" dirty="0">
                <a:solidFill>
                  <a:srgbClr val="0000FF"/>
                </a:solidFill>
              </a:rPr>
              <a:t>Converting an Arithmetic Circuit to Logic Circuit</a:t>
            </a:r>
          </a:p>
        </p:txBody>
      </p:sp>
    </p:spTree>
    <p:extLst>
      <p:ext uri="{BB962C8B-B14F-4D97-AF65-F5344CB8AC3E}">
        <p14:creationId xmlns:p14="http://schemas.microsoft.com/office/powerpoint/2010/main" val="3075357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61BBCE5-E02E-4932-B9D1-14D6AB1BEF01}"/>
              </a:ext>
            </a:extLst>
          </p:cNvPr>
          <p:cNvSpPr>
            <a:spLocks noGrp="1"/>
          </p:cNvSpPr>
          <p:nvPr>
            <p:ph type="title"/>
          </p:nvPr>
        </p:nvSpPr>
        <p:spPr>
          <a:xfrm>
            <a:off x="7968337" y="1870706"/>
            <a:ext cx="7385489" cy="584775"/>
          </a:xfrm>
        </p:spPr>
        <p:txBody>
          <a:bodyPr>
            <a:normAutofit/>
          </a:bodyPr>
          <a:lstStyle/>
          <a:p>
            <a:r>
              <a:rPr lang="en-US" sz="2400" b="1" dirty="0">
                <a:solidFill>
                  <a:srgbClr val="0070C0"/>
                </a:solidFill>
              </a:rPr>
              <a:t>Logic Diagram of ALU (Only the </a:t>
            </a:r>
            <a:r>
              <a:rPr lang="en-US" sz="2400" b="1" dirty="0">
                <a:solidFill>
                  <a:srgbClr val="FF0000"/>
                </a:solidFill>
              </a:rPr>
              <a:t>first two stages </a:t>
            </a:r>
            <a:r>
              <a:rPr lang="en-US" sz="2400" b="1" dirty="0">
                <a:solidFill>
                  <a:srgbClr val="0070C0"/>
                </a:solidFill>
              </a:rPr>
              <a:t>are drawn)</a:t>
            </a:r>
          </a:p>
        </p:txBody>
      </p:sp>
      <p:sp>
        <p:nvSpPr>
          <p:cNvPr id="3" name="Date Placeholder 2"/>
          <p:cNvSpPr>
            <a:spLocks noGrp="1"/>
          </p:cNvSpPr>
          <p:nvPr>
            <p:ph type="dt" sz="half" idx="10"/>
          </p:nvPr>
        </p:nvSpPr>
        <p:spPr/>
        <p:txBody>
          <a:bodyPr/>
          <a:lstStyle/>
          <a:p>
            <a:fld id="{DE46F3C4-39A8-4632-B40D-2C7581424C2E}" type="datetime3">
              <a:rPr lang="en-US" smtClean="0"/>
              <a:t>18 July 2024</a:t>
            </a:fld>
            <a:endParaRPr lang="en-US"/>
          </a:p>
        </p:txBody>
      </p:sp>
      <p:sp>
        <p:nvSpPr>
          <p:cNvPr id="6" name="Footer Placeholder 5"/>
          <p:cNvSpPr>
            <a:spLocks noGrp="1"/>
          </p:cNvSpPr>
          <p:nvPr>
            <p:ph type="ftr" sz="quarter" idx="11"/>
          </p:nvPr>
        </p:nvSpPr>
        <p:spPr/>
        <p:txBody>
          <a:bodyPr/>
          <a:lstStyle/>
          <a:p>
            <a:r>
              <a:rPr lang="en-US" dirty="0"/>
              <a:t>Course Teacher: Dr. Md. Rukonuzzaman</a:t>
            </a:r>
          </a:p>
        </p:txBody>
      </p:sp>
      <p:sp>
        <p:nvSpPr>
          <p:cNvPr id="7" name="Slide Number Placeholder 6"/>
          <p:cNvSpPr>
            <a:spLocks noGrp="1"/>
          </p:cNvSpPr>
          <p:nvPr>
            <p:ph type="sldNum" sz="quarter" idx="12"/>
          </p:nvPr>
        </p:nvSpPr>
        <p:spPr/>
        <p:txBody>
          <a:bodyPr/>
          <a:lstStyle/>
          <a:p>
            <a:fld id="{48F63A3B-78C7-47BE-AE5E-E10140E04643}" type="slidenum">
              <a:rPr lang="en-US" smtClean="0"/>
              <a:t>31</a:t>
            </a:fld>
            <a:endParaRPr lang="en-US" dirty="0"/>
          </a:p>
        </p:txBody>
      </p:sp>
      <p:sp>
        <p:nvSpPr>
          <p:cNvPr id="8" name="Title 1">
            <a:extLst>
              <a:ext uri="{FF2B5EF4-FFF2-40B4-BE49-F238E27FC236}">
                <a16:creationId xmlns:a16="http://schemas.microsoft.com/office/drawing/2014/main" id="{66DB13EE-9066-4270-BF91-8769F7E74896}"/>
              </a:ext>
            </a:extLst>
          </p:cNvPr>
          <p:cNvSpPr txBox="1">
            <a:spLocks/>
          </p:cNvSpPr>
          <p:nvPr/>
        </p:nvSpPr>
        <p:spPr>
          <a:xfrm>
            <a:off x="1371595" y="172995"/>
            <a:ext cx="14018825" cy="857782"/>
          </a:xfrm>
          <a:prstGeom prst="rect">
            <a:avLst/>
          </a:prstGeom>
        </p:spPr>
        <p:txBody>
          <a:bodyPr vert="horz" lIns="91440" tIns="45720" rIns="91440" bIns="45720" rtlCol="0" anchor="ctr">
            <a:norm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algn="ctr"/>
            <a:r>
              <a:rPr lang="en-US" sz="4000" b="1" dirty="0">
                <a:solidFill>
                  <a:srgbClr val="0000FF"/>
                </a:solidFill>
              </a:rPr>
              <a:t>Converting an Arithmetic Circuit to Logic Circuit</a:t>
            </a:r>
          </a:p>
        </p:txBody>
      </p:sp>
      <p:pic>
        <p:nvPicPr>
          <p:cNvPr id="9" name="Content Placeholder 3">
            <a:extLst>
              <a:ext uri="{FF2B5EF4-FFF2-40B4-BE49-F238E27FC236}">
                <a16:creationId xmlns:a16="http://schemas.microsoft.com/office/drawing/2014/main" id="{27E109C2-2C1B-4DE7-9CB1-E7209FCC520C}"/>
              </a:ext>
            </a:extLst>
          </p:cNvPr>
          <p:cNvPicPr>
            <a:picLocks noChangeAspect="1"/>
          </p:cNvPicPr>
          <p:nvPr/>
        </p:nvPicPr>
        <p:blipFill rotWithShape="1">
          <a:blip r:embed="rId2">
            <a:duotone>
              <a:prstClr val="black"/>
              <a:schemeClr val="accent6">
                <a:tint val="45000"/>
                <a:satMod val="400000"/>
              </a:schemeClr>
            </a:duotone>
          </a:blip>
          <a:srcRect l="3516" t="9615" r="3180" b="10034"/>
          <a:stretch/>
        </p:blipFill>
        <p:spPr>
          <a:xfrm>
            <a:off x="9056928" y="4245897"/>
            <a:ext cx="6084917" cy="2264928"/>
          </a:xfrm>
          <a:prstGeom prst="rect">
            <a:avLst/>
          </a:prstGeom>
        </p:spPr>
      </p:pic>
      <p:sp>
        <p:nvSpPr>
          <p:cNvPr id="10" name="TextBox 9">
            <a:extLst>
              <a:ext uri="{FF2B5EF4-FFF2-40B4-BE49-F238E27FC236}">
                <a16:creationId xmlns:a16="http://schemas.microsoft.com/office/drawing/2014/main" id="{AF296420-6C5C-4640-9738-9991B81D0F21}"/>
              </a:ext>
            </a:extLst>
          </p:cNvPr>
          <p:cNvSpPr txBox="1"/>
          <p:nvPr/>
        </p:nvSpPr>
        <p:spPr>
          <a:xfrm>
            <a:off x="11498375" y="3571903"/>
            <a:ext cx="1336391" cy="461665"/>
          </a:xfrm>
          <a:prstGeom prst="rect">
            <a:avLst/>
          </a:prstGeom>
          <a:noFill/>
        </p:spPr>
        <p:txBody>
          <a:bodyPr wrap="none" rtlCol="0">
            <a:spAutoFit/>
          </a:bodyPr>
          <a:lstStyle/>
          <a:p>
            <a:r>
              <a:rPr lang="en-US" sz="2400" b="1" dirty="0">
                <a:solidFill>
                  <a:srgbClr val="FF0000"/>
                </a:solidFill>
              </a:rPr>
              <a:t>Table 9-3</a:t>
            </a:r>
          </a:p>
        </p:txBody>
      </p:sp>
      <p:sp>
        <p:nvSpPr>
          <p:cNvPr id="11" name="TextBox 10"/>
          <p:cNvSpPr txBox="1"/>
          <p:nvPr/>
        </p:nvSpPr>
        <p:spPr>
          <a:xfrm flipH="1">
            <a:off x="13775378" y="5073662"/>
            <a:ext cx="1154092" cy="609398"/>
          </a:xfrm>
          <a:prstGeom prst="rect">
            <a:avLst/>
          </a:prstGeom>
          <a:noFill/>
        </p:spPr>
        <p:txBody>
          <a:bodyPr wrap="square" rtlCol="0">
            <a:spAutoFit/>
          </a:bodyPr>
          <a:lstStyle/>
          <a:p>
            <a:r>
              <a:rPr lang="en-US" sz="3360" b="1" dirty="0">
                <a:solidFill>
                  <a:srgbClr val="FF0000"/>
                </a:solidFill>
                <a:latin typeface="Times New Roman" panose="02020603050405020304" pitchFamily="18" charset="0"/>
                <a:cs typeface="Times New Roman" panose="02020603050405020304" pitchFamily="18" charset="0"/>
              </a:rPr>
              <a:t>?</a:t>
            </a:r>
          </a:p>
        </p:txBody>
      </p:sp>
      <p:sp>
        <p:nvSpPr>
          <p:cNvPr id="12" name="TextBox 11"/>
          <p:cNvSpPr txBox="1"/>
          <p:nvPr/>
        </p:nvSpPr>
        <p:spPr>
          <a:xfrm>
            <a:off x="13799128" y="5778066"/>
            <a:ext cx="598517" cy="609398"/>
          </a:xfrm>
          <a:prstGeom prst="rect">
            <a:avLst/>
          </a:prstGeom>
          <a:noFill/>
        </p:spPr>
        <p:txBody>
          <a:bodyPr wrap="square" rtlCol="0">
            <a:spAutoFit/>
          </a:bodyPr>
          <a:lstStyle/>
          <a:p>
            <a:r>
              <a:rPr lang="en-US" sz="3360" b="1" dirty="0">
                <a:solidFill>
                  <a:srgbClr val="FF0000"/>
                </a:solidFill>
                <a:latin typeface="Times New Roman" panose="02020603050405020304" pitchFamily="18" charset="0"/>
                <a:cs typeface="Times New Roman" panose="02020603050405020304" pitchFamily="18" charset="0"/>
              </a:rPr>
              <a:t>?</a:t>
            </a:r>
          </a:p>
        </p:txBody>
      </p:sp>
      <p:pic>
        <p:nvPicPr>
          <p:cNvPr id="13" name="Picture 12"/>
          <p:cNvPicPr>
            <a:picLocks noChangeAspect="1"/>
          </p:cNvPicPr>
          <p:nvPr/>
        </p:nvPicPr>
        <p:blipFill rotWithShape="1">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contrast="-40000"/>
                    </a14:imgEffect>
                  </a14:imgLayer>
                </a14:imgProps>
              </a:ext>
            </a:extLst>
          </a:blip>
          <a:srcRect l="1833" t="2672" r="1901" b="5177"/>
          <a:stretch/>
        </p:blipFill>
        <p:spPr>
          <a:xfrm>
            <a:off x="1147095" y="1024863"/>
            <a:ext cx="6400299" cy="6894771"/>
          </a:xfrm>
          <a:prstGeom prst="rect">
            <a:avLst/>
          </a:prstGeom>
        </p:spPr>
      </p:pic>
      <p:sp>
        <p:nvSpPr>
          <p:cNvPr id="2" name="TextBox 1"/>
          <p:cNvSpPr txBox="1"/>
          <p:nvPr/>
        </p:nvSpPr>
        <p:spPr>
          <a:xfrm>
            <a:off x="245903" y="7436895"/>
            <a:ext cx="7385489" cy="400110"/>
          </a:xfrm>
          <a:prstGeom prst="rect">
            <a:avLst/>
          </a:prstGeom>
          <a:noFill/>
        </p:spPr>
        <p:txBody>
          <a:bodyPr wrap="square" rtlCol="0">
            <a:spAutoFit/>
          </a:bodyPr>
          <a:lstStyle/>
          <a:p>
            <a:pPr algn="ctr"/>
            <a:r>
              <a:rPr lang="en-US" sz="2000" dirty="0">
                <a:solidFill>
                  <a:srgbClr val="FF0000"/>
                </a:solidFill>
              </a:rPr>
              <a:t>Figure 9.13: Logic diagram of ALU</a:t>
            </a:r>
          </a:p>
        </p:txBody>
      </p:sp>
    </p:spTree>
    <p:extLst>
      <p:ext uri="{BB962C8B-B14F-4D97-AF65-F5344CB8AC3E}">
        <p14:creationId xmlns:p14="http://schemas.microsoft.com/office/powerpoint/2010/main" val="2472159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F2B36D3-EBB7-456F-B967-74E86B2BA5D1}"/>
              </a:ext>
            </a:extLst>
          </p:cNvPr>
          <p:cNvPicPr>
            <a:picLocks noGrp="1" noChangeAspect="1"/>
          </p:cNvPicPr>
          <p:nvPr>
            <p:ph idx="1"/>
          </p:nvPr>
        </p:nvPicPr>
        <p:blipFill rotWithShape="1">
          <a:blip r:embed="rId2">
            <a:duotone>
              <a:schemeClr val="accent4">
                <a:shade val="45000"/>
                <a:satMod val="135000"/>
              </a:schemeClr>
              <a:prstClr val="white"/>
            </a:duotone>
            <a:lum bright="-20000" contrast="40000"/>
          </a:blip>
          <a:srcRect l="3090" t="4173" r="6615" b="2013"/>
          <a:stretch/>
        </p:blipFill>
        <p:spPr>
          <a:xfrm>
            <a:off x="7145406" y="2036742"/>
            <a:ext cx="7996439" cy="5009927"/>
          </a:xfrm>
          <a:prstGeom prst="rect">
            <a:avLst/>
          </a:prstGeom>
        </p:spPr>
      </p:pic>
      <p:sp>
        <p:nvSpPr>
          <p:cNvPr id="2" name="Date Placeholder 1"/>
          <p:cNvSpPr>
            <a:spLocks noGrp="1"/>
          </p:cNvSpPr>
          <p:nvPr>
            <p:ph type="dt" sz="half" idx="10"/>
          </p:nvPr>
        </p:nvSpPr>
        <p:spPr/>
        <p:txBody>
          <a:bodyPr/>
          <a:lstStyle/>
          <a:p>
            <a:fld id="{B5F84ABD-8FA6-48CC-8A06-3E204632FFA2}" type="datetime3">
              <a:rPr lang="en-US" smtClean="0"/>
              <a:t>18 July 2024</a:t>
            </a:fld>
            <a:endParaRPr lang="en-US" dirty="0"/>
          </a:p>
        </p:txBody>
      </p:sp>
      <p:sp>
        <p:nvSpPr>
          <p:cNvPr id="3" name="Footer Placeholder 2"/>
          <p:cNvSpPr>
            <a:spLocks noGrp="1"/>
          </p:cNvSpPr>
          <p:nvPr>
            <p:ph type="ftr" sz="quarter" idx="11"/>
          </p:nvPr>
        </p:nvSpPr>
        <p:spPr/>
        <p:txBody>
          <a:bodyPr/>
          <a:lstStyle/>
          <a:p>
            <a:r>
              <a:rPr lang="en-US" dirty="0"/>
              <a:t>Course Teacher: Dr. Md. Rukonuzzaman</a:t>
            </a:r>
          </a:p>
        </p:txBody>
      </p:sp>
      <p:sp>
        <p:nvSpPr>
          <p:cNvPr id="5" name="Slide Number Placeholder 4"/>
          <p:cNvSpPr>
            <a:spLocks noGrp="1"/>
          </p:cNvSpPr>
          <p:nvPr>
            <p:ph type="sldNum" sz="quarter" idx="12"/>
          </p:nvPr>
        </p:nvSpPr>
        <p:spPr/>
        <p:txBody>
          <a:bodyPr/>
          <a:lstStyle/>
          <a:p>
            <a:fld id="{48F63A3B-78C7-47BE-AE5E-E10140E04643}" type="slidenum">
              <a:rPr lang="en-US" smtClean="0"/>
              <a:t>32</a:t>
            </a:fld>
            <a:endParaRPr lang="en-US" dirty="0"/>
          </a:p>
        </p:txBody>
      </p:sp>
      <p:sp>
        <p:nvSpPr>
          <p:cNvPr id="9" name="TextBox 8"/>
          <p:cNvSpPr txBox="1"/>
          <p:nvPr/>
        </p:nvSpPr>
        <p:spPr>
          <a:xfrm>
            <a:off x="890648" y="2227006"/>
            <a:ext cx="5571903" cy="4648645"/>
          </a:xfrm>
          <a:prstGeom prst="rect">
            <a:avLst/>
          </a:prstGeom>
          <a:noFill/>
        </p:spPr>
        <p:txBody>
          <a:bodyPr wrap="square" rtlCol="0">
            <a:spAutoFit/>
          </a:bodyPr>
          <a:lstStyle/>
          <a:p>
            <a:pPr>
              <a:lnSpc>
                <a:spcPct val="120000"/>
              </a:lnSpc>
              <a:spcBef>
                <a:spcPts val="600"/>
              </a:spcBef>
              <a:spcAft>
                <a:spcPts val="600"/>
              </a:spcAft>
            </a:pPr>
            <a:r>
              <a:rPr lang="en-US" sz="2400" b="1" dirty="0">
                <a:ea typeface="Cambria Math" panose="02040503050406030204" pitchFamily="18" charset="0"/>
              </a:rPr>
              <a:t>The </a:t>
            </a:r>
            <a:r>
              <a:rPr lang="en-US" sz="2400" b="1" dirty="0">
                <a:solidFill>
                  <a:srgbClr val="FF0000"/>
                </a:solidFill>
                <a:ea typeface="Cambria Math" panose="02040503050406030204" pitchFamily="18" charset="0"/>
              </a:rPr>
              <a:t>12 operations </a:t>
            </a:r>
            <a:r>
              <a:rPr lang="en-US" sz="2400" b="1" dirty="0">
                <a:ea typeface="Cambria Math" panose="02040503050406030204" pitchFamily="18" charset="0"/>
              </a:rPr>
              <a:t>(8 arithmetic and 4 logical) generated in the ALU are summarized in Table 9.4. The function is selected through </a:t>
            </a:r>
            <a:r>
              <a:rPr lang="en-US" sz="2400" b="1" i="1" dirty="0">
                <a:ea typeface="Cambria Math" panose="02040503050406030204" pitchFamily="18" charset="0"/>
              </a:rPr>
              <a:t>s</a:t>
            </a:r>
            <a:r>
              <a:rPr lang="en-US" sz="2400" b="1" baseline="-25000" dirty="0">
                <a:ea typeface="Cambria Math" panose="02040503050406030204" pitchFamily="18" charset="0"/>
              </a:rPr>
              <a:t>2</a:t>
            </a:r>
            <a:r>
              <a:rPr lang="en-US" sz="2400" b="1" dirty="0">
                <a:ea typeface="Cambria Math" panose="02040503050406030204" pitchFamily="18" charset="0"/>
              </a:rPr>
              <a:t>, </a:t>
            </a:r>
            <a:r>
              <a:rPr lang="en-US" sz="2400" b="1" i="1" dirty="0">
                <a:ea typeface="Cambria Math" panose="02040503050406030204" pitchFamily="18" charset="0"/>
              </a:rPr>
              <a:t>s</a:t>
            </a:r>
            <a:r>
              <a:rPr lang="en-US" sz="2400" b="1" baseline="-25000" dirty="0">
                <a:ea typeface="Cambria Math" panose="02040503050406030204" pitchFamily="18" charset="0"/>
              </a:rPr>
              <a:t>1</a:t>
            </a:r>
            <a:r>
              <a:rPr lang="en-US" sz="2400" b="1" dirty="0">
                <a:ea typeface="Cambria Math" panose="02040503050406030204" pitchFamily="18" charset="0"/>
              </a:rPr>
              <a:t>, </a:t>
            </a:r>
            <a:r>
              <a:rPr lang="en-US" sz="2400" b="1" i="1" dirty="0">
                <a:ea typeface="Cambria Math" panose="02040503050406030204" pitchFamily="18" charset="0"/>
              </a:rPr>
              <a:t>s</a:t>
            </a:r>
            <a:r>
              <a:rPr lang="en-US" sz="2400" b="1" baseline="-25000" dirty="0">
                <a:ea typeface="Cambria Math" panose="02040503050406030204" pitchFamily="18" charset="0"/>
              </a:rPr>
              <a:t>0</a:t>
            </a:r>
            <a:r>
              <a:rPr lang="en-US" sz="2400" b="1" dirty="0">
                <a:ea typeface="Cambria Math" panose="02040503050406030204" pitchFamily="18" charset="0"/>
              </a:rPr>
              <a:t>, and </a:t>
            </a:r>
            <a:r>
              <a:rPr lang="en-US" sz="2400" b="1" i="1" dirty="0" err="1">
                <a:ea typeface="Cambria Math" panose="02040503050406030204" pitchFamily="18" charset="0"/>
              </a:rPr>
              <a:t>C</a:t>
            </a:r>
            <a:r>
              <a:rPr lang="en-US" sz="2400" b="1" i="1" baseline="-25000" dirty="0" err="1">
                <a:ea typeface="Cambria Math" panose="02040503050406030204" pitchFamily="18" charset="0"/>
              </a:rPr>
              <a:t>in</a:t>
            </a:r>
            <a:r>
              <a:rPr lang="en-US" sz="2400" b="1" dirty="0">
                <a:ea typeface="Cambria Math" panose="02040503050406030204" pitchFamily="18" charset="0"/>
              </a:rPr>
              <a:t>.</a:t>
            </a:r>
          </a:p>
          <a:p>
            <a:pPr>
              <a:lnSpc>
                <a:spcPct val="120000"/>
              </a:lnSpc>
              <a:spcBef>
                <a:spcPts val="600"/>
              </a:spcBef>
              <a:spcAft>
                <a:spcPts val="600"/>
              </a:spcAft>
            </a:pPr>
            <a:r>
              <a:rPr lang="en-US" sz="2400" b="1" dirty="0">
                <a:ea typeface="Cambria Math" panose="02040503050406030204" pitchFamily="18" charset="0"/>
              </a:rPr>
              <a:t>The arithmetic operations are identical to the ones listed for the arithmetic circuit. The value of </a:t>
            </a:r>
            <a:r>
              <a:rPr lang="en-US" sz="2400" b="1" i="1" dirty="0" err="1">
                <a:ea typeface="Cambria Math" panose="02040503050406030204" pitchFamily="18" charset="0"/>
              </a:rPr>
              <a:t>C</a:t>
            </a:r>
            <a:r>
              <a:rPr lang="en-US" sz="2400" b="1" i="1" baseline="-25000" dirty="0" err="1">
                <a:ea typeface="Cambria Math" panose="02040503050406030204" pitchFamily="18" charset="0"/>
              </a:rPr>
              <a:t>in</a:t>
            </a:r>
            <a:r>
              <a:rPr lang="en-US" sz="2400" b="1" dirty="0">
                <a:ea typeface="Cambria Math" panose="02040503050406030204" pitchFamily="18" charset="0"/>
              </a:rPr>
              <a:t> for the four logic functions has no effect on the operations of the unit and those entries are marked as don’t cares (</a:t>
            </a:r>
            <a:r>
              <a:rPr lang="en-US" sz="2400" b="1" i="1" dirty="0" err="1">
                <a:ea typeface="Cambria Math" panose="02040503050406030204" pitchFamily="18" charset="0"/>
              </a:rPr>
              <a:t>X</a:t>
            </a:r>
            <a:r>
              <a:rPr lang="en-US" sz="2400" b="1" dirty="0" err="1">
                <a:ea typeface="Cambria Math" panose="02040503050406030204" pitchFamily="18" charset="0"/>
              </a:rPr>
              <a:t>s</a:t>
            </a:r>
            <a:r>
              <a:rPr lang="en-US" sz="2400" b="1" dirty="0">
                <a:ea typeface="Cambria Math" panose="02040503050406030204" pitchFamily="18" charset="0"/>
              </a:rPr>
              <a:t>).</a:t>
            </a:r>
            <a:endParaRPr lang="en-US" sz="2400" b="1" dirty="0"/>
          </a:p>
        </p:txBody>
      </p:sp>
      <p:sp>
        <p:nvSpPr>
          <p:cNvPr id="10" name="Title 1">
            <a:extLst>
              <a:ext uri="{FF2B5EF4-FFF2-40B4-BE49-F238E27FC236}">
                <a16:creationId xmlns:a16="http://schemas.microsoft.com/office/drawing/2014/main" id="{66DB13EE-9066-4270-BF91-8769F7E74896}"/>
              </a:ext>
            </a:extLst>
          </p:cNvPr>
          <p:cNvSpPr>
            <a:spLocks noGrp="1"/>
          </p:cNvSpPr>
          <p:nvPr>
            <p:ph type="title"/>
          </p:nvPr>
        </p:nvSpPr>
        <p:spPr>
          <a:xfrm>
            <a:off x="1377538" y="305995"/>
            <a:ext cx="14159732" cy="857782"/>
          </a:xfrm>
        </p:spPr>
        <p:txBody>
          <a:bodyPr>
            <a:normAutofit/>
          </a:bodyPr>
          <a:lstStyle/>
          <a:p>
            <a:pPr algn="ctr"/>
            <a:r>
              <a:rPr lang="en-US" sz="4000" b="1" dirty="0">
                <a:solidFill>
                  <a:srgbClr val="0000FF"/>
                </a:solidFill>
              </a:rPr>
              <a:t>Converting an Arithmetic Circuit to Logic Circuit</a:t>
            </a:r>
          </a:p>
        </p:txBody>
      </p:sp>
      <p:sp>
        <p:nvSpPr>
          <p:cNvPr id="6" name="Rectangle 5"/>
          <p:cNvSpPr/>
          <p:nvPr/>
        </p:nvSpPr>
        <p:spPr>
          <a:xfrm>
            <a:off x="8336084" y="1480328"/>
            <a:ext cx="5795241" cy="461665"/>
          </a:xfrm>
          <a:prstGeom prst="rect">
            <a:avLst/>
          </a:prstGeom>
        </p:spPr>
        <p:txBody>
          <a:bodyPr wrap="none">
            <a:spAutoFit/>
          </a:bodyPr>
          <a:lstStyle/>
          <a:p>
            <a:r>
              <a:rPr lang="en-US" sz="2400" b="1" dirty="0">
                <a:ea typeface="Cambria Math" panose="02040503050406030204" pitchFamily="18" charset="0"/>
              </a:rPr>
              <a:t>Table 9.4 Arithmetic and Logical Operations</a:t>
            </a:r>
            <a:endParaRPr lang="en-US" sz="2400" b="1" dirty="0"/>
          </a:p>
        </p:txBody>
      </p:sp>
    </p:spTree>
    <p:extLst>
      <p:ext uri="{BB962C8B-B14F-4D97-AF65-F5344CB8AC3E}">
        <p14:creationId xmlns:p14="http://schemas.microsoft.com/office/powerpoint/2010/main" val="4106766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737361" y="140754"/>
            <a:ext cx="13807439" cy="1065929"/>
          </a:xfrm>
        </p:spPr>
        <p:txBody>
          <a:bodyPr>
            <a:noAutofit/>
          </a:bodyPr>
          <a:lstStyle/>
          <a:p>
            <a:pPr algn="ctr"/>
            <a:r>
              <a:rPr lang="en-US" sz="4000" b="1" dirty="0">
                <a:solidFill>
                  <a:srgbClr val="0000FF"/>
                </a:solidFill>
              </a:rPr>
              <a:t>Design of Arithmetic Logic Circuit [</a:t>
            </a:r>
            <a:r>
              <a:rPr lang="en-US" sz="3200" b="1" dirty="0">
                <a:solidFill>
                  <a:srgbClr val="FF0000"/>
                </a:solidFill>
              </a:rPr>
              <a:t>Supplement Starts</a:t>
            </a:r>
            <a:r>
              <a:rPr lang="en-US" sz="4000" b="1" dirty="0">
                <a:solidFill>
                  <a:srgbClr val="0000FF"/>
                </a:solidFill>
              </a:rPr>
              <a:t>] </a:t>
            </a:r>
          </a:p>
        </p:txBody>
      </p:sp>
      <p:sp>
        <p:nvSpPr>
          <p:cNvPr id="3" name="TextBox 2"/>
          <p:cNvSpPr txBox="1"/>
          <p:nvPr/>
        </p:nvSpPr>
        <p:spPr>
          <a:xfrm>
            <a:off x="158810" y="1344247"/>
            <a:ext cx="14520517" cy="46166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CA" sz="2400" dirty="0"/>
              <a:t>Design a 2-bit ALU for the operations listed below in the Table:</a:t>
            </a:r>
          </a:p>
        </p:txBody>
      </p:sp>
      <p:graphicFrame>
        <p:nvGraphicFramePr>
          <p:cNvPr id="4" name="Table 3"/>
          <p:cNvGraphicFramePr>
            <a:graphicFrameLocks noGrp="1"/>
          </p:cNvGraphicFramePr>
          <p:nvPr>
            <p:extLst>
              <p:ext uri="{D42A27DB-BD31-4B8C-83A1-F6EECF244321}">
                <p14:modId xmlns:p14="http://schemas.microsoft.com/office/powerpoint/2010/main" val="144328455"/>
              </p:ext>
            </p:extLst>
          </p:nvPr>
        </p:nvGraphicFramePr>
        <p:xfrm>
          <a:off x="329339" y="1905126"/>
          <a:ext cx="15813978" cy="5943596"/>
        </p:xfrm>
        <a:graphic>
          <a:graphicData uri="http://schemas.openxmlformats.org/drawingml/2006/table">
            <a:tbl>
              <a:tblPr firstRow="1" firstCol="1" bandRow="1">
                <a:tableStyleId>{5C22544A-7EE6-4342-B048-85BDC9FD1C3A}</a:tableStyleId>
              </a:tblPr>
              <a:tblGrid>
                <a:gridCol w="1406575">
                  <a:extLst>
                    <a:ext uri="{9D8B030D-6E8A-4147-A177-3AD203B41FA5}">
                      <a16:colId xmlns:a16="http://schemas.microsoft.com/office/drawing/2014/main" val="3939505422"/>
                    </a:ext>
                  </a:extLst>
                </a:gridCol>
                <a:gridCol w="1786811">
                  <a:extLst>
                    <a:ext uri="{9D8B030D-6E8A-4147-A177-3AD203B41FA5}">
                      <a16:colId xmlns:a16="http://schemas.microsoft.com/office/drawing/2014/main" val="2005552645"/>
                    </a:ext>
                  </a:extLst>
                </a:gridCol>
                <a:gridCol w="1786811">
                  <a:extLst>
                    <a:ext uri="{9D8B030D-6E8A-4147-A177-3AD203B41FA5}">
                      <a16:colId xmlns:a16="http://schemas.microsoft.com/office/drawing/2014/main" val="1334445692"/>
                    </a:ext>
                  </a:extLst>
                </a:gridCol>
                <a:gridCol w="2460898">
                  <a:extLst>
                    <a:ext uri="{9D8B030D-6E8A-4147-A177-3AD203B41FA5}">
                      <a16:colId xmlns:a16="http://schemas.microsoft.com/office/drawing/2014/main" val="3311776632"/>
                    </a:ext>
                  </a:extLst>
                </a:gridCol>
                <a:gridCol w="2460898">
                  <a:extLst>
                    <a:ext uri="{9D8B030D-6E8A-4147-A177-3AD203B41FA5}">
                      <a16:colId xmlns:a16="http://schemas.microsoft.com/office/drawing/2014/main" val="314354436"/>
                    </a:ext>
                  </a:extLst>
                </a:gridCol>
                <a:gridCol w="1703743">
                  <a:extLst>
                    <a:ext uri="{9D8B030D-6E8A-4147-A177-3AD203B41FA5}">
                      <a16:colId xmlns:a16="http://schemas.microsoft.com/office/drawing/2014/main" val="1023598678"/>
                    </a:ext>
                  </a:extLst>
                </a:gridCol>
                <a:gridCol w="4208242">
                  <a:extLst>
                    <a:ext uri="{9D8B030D-6E8A-4147-A177-3AD203B41FA5}">
                      <a16:colId xmlns:a16="http://schemas.microsoft.com/office/drawing/2014/main" val="466637812"/>
                    </a:ext>
                  </a:extLst>
                </a:gridCol>
              </a:tblGrid>
              <a:tr h="476777">
                <a:tc rowSpan="2">
                  <a:txBody>
                    <a:bodyPr/>
                    <a:lstStyle/>
                    <a:p>
                      <a:pPr algn="ctr">
                        <a:lnSpc>
                          <a:spcPct val="100000"/>
                        </a:lnSpc>
                        <a:spcAft>
                          <a:spcPts val="0"/>
                        </a:spcAft>
                      </a:pPr>
                      <a:r>
                        <a:rPr lang="en-CA" sz="2400" b="1" dirty="0">
                          <a:effectLst/>
                        </a:rPr>
                        <a:t>Binary Code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algn="ctr">
                        <a:lnSpc>
                          <a:spcPct val="100000"/>
                        </a:lnSpc>
                        <a:spcAft>
                          <a:spcPts val="0"/>
                        </a:spcAft>
                      </a:pPr>
                      <a:r>
                        <a:rPr lang="en-CA" sz="2400" b="1" dirty="0">
                          <a:effectLst/>
                        </a:rPr>
                        <a:t>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algn="ctr">
                        <a:lnSpc>
                          <a:spcPct val="100000"/>
                        </a:lnSpc>
                        <a:spcAft>
                          <a:spcPts val="0"/>
                        </a:spcAft>
                      </a:pPr>
                      <a:r>
                        <a:rPr lang="en-CA" sz="2400" b="1" dirty="0">
                          <a:effectLst/>
                        </a:rPr>
                        <a:t>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gridSpan="4">
                  <a:txBody>
                    <a:bodyPr/>
                    <a:lstStyle/>
                    <a:p>
                      <a:pPr marL="156845" algn="ctr">
                        <a:lnSpc>
                          <a:spcPct val="100000"/>
                        </a:lnSpc>
                        <a:spcAft>
                          <a:spcPts val="0"/>
                        </a:spcAft>
                      </a:pPr>
                      <a:r>
                        <a:rPr lang="en-CA" sz="2400" b="1" dirty="0">
                          <a:effectLst/>
                        </a:rPr>
                        <a:t>Function of selection variables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1165911601"/>
                  </a:ext>
                </a:extLst>
              </a:tr>
              <a:tr h="572659">
                <a:tc vMerge="1">
                  <a:txBody>
                    <a:bodyPr/>
                    <a:lstStyle/>
                    <a:p>
                      <a:endParaRPr lang="en-CA"/>
                    </a:p>
                  </a:txBody>
                  <a:tcPr/>
                </a:tc>
                <a:tc>
                  <a:txBody>
                    <a:bodyPr/>
                    <a:lstStyle/>
                    <a:p>
                      <a:pPr marR="38100" algn="ctr">
                        <a:lnSpc>
                          <a:spcPct val="100000"/>
                        </a:lnSpc>
                        <a:spcAft>
                          <a:spcPts val="0"/>
                        </a:spcAft>
                      </a:pPr>
                      <a:r>
                        <a:rPr lang="en-CA" sz="2400" b="1" dirty="0">
                          <a:effectLst/>
                        </a:rPr>
                        <a:t>B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8735" algn="ctr">
                        <a:lnSpc>
                          <a:spcPct val="100000"/>
                        </a:lnSpc>
                        <a:spcAft>
                          <a:spcPts val="0"/>
                        </a:spcAft>
                      </a:pPr>
                      <a:r>
                        <a:rPr lang="en-CA" sz="2400" b="1" dirty="0">
                          <a:effectLst/>
                        </a:rPr>
                        <a:t>A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algn="ctr">
                        <a:lnSpc>
                          <a:spcPct val="100000"/>
                        </a:lnSpc>
                        <a:spcAft>
                          <a:spcPts val="0"/>
                        </a:spcAft>
                      </a:pPr>
                      <a:r>
                        <a:rPr lang="en-CA" sz="2400" b="1" dirty="0">
                          <a:effectLst/>
                        </a:rPr>
                        <a:t>F with </a:t>
                      </a:r>
                      <a:r>
                        <a:rPr lang="en-CA" sz="2400" b="1" dirty="0" err="1">
                          <a:effectLst/>
                        </a:rPr>
                        <a:t>C</a:t>
                      </a:r>
                      <a:r>
                        <a:rPr lang="en-CA" sz="2400" b="1" baseline="-25000" dirty="0" err="1">
                          <a:effectLst/>
                        </a:rPr>
                        <a:t>in</a:t>
                      </a:r>
                      <a:r>
                        <a:rPr lang="en-CA" sz="2400" b="1" dirty="0">
                          <a:effectLst/>
                        </a:rPr>
                        <a:t> = 0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algn="ctr">
                        <a:lnSpc>
                          <a:spcPct val="100000"/>
                        </a:lnSpc>
                        <a:spcAft>
                          <a:spcPts val="0"/>
                        </a:spcAft>
                      </a:pPr>
                      <a:r>
                        <a:rPr lang="en-CA" sz="2400" b="1" dirty="0">
                          <a:effectLst/>
                        </a:rPr>
                        <a:t>F with </a:t>
                      </a:r>
                      <a:r>
                        <a:rPr lang="en-CA" sz="2400" b="1" dirty="0" err="1">
                          <a:effectLst/>
                        </a:rPr>
                        <a:t>C</a:t>
                      </a:r>
                      <a:r>
                        <a:rPr lang="en-CA" sz="2400" b="1" baseline="-25000" dirty="0" err="1">
                          <a:effectLst/>
                        </a:rPr>
                        <a:t>in</a:t>
                      </a:r>
                      <a:r>
                        <a:rPr lang="en-CA" sz="2400" b="1" dirty="0">
                          <a:effectLst/>
                        </a:rPr>
                        <a:t> = 1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195" algn="ctr">
                        <a:lnSpc>
                          <a:spcPct val="100000"/>
                        </a:lnSpc>
                        <a:spcAft>
                          <a:spcPts val="0"/>
                        </a:spcAft>
                      </a:pPr>
                      <a:r>
                        <a:rPr lang="en-CA" sz="2400" b="1">
                          <a:effectLst/>
                        </a:rPr>
                        <a:t>D </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39370" algn="ctr">
                        <a:lnSpc>
                          <a:spcPct val="100000"/>
                        </a:lnSpc>
                        <a:spcAft>
                          <a:spcPts val="0"/>
                        </a:spcAft>
                      </a:pPr>
                      <a:r>
                        <a:rPr lang="en-CA" sz="2400" b="1" dirty="0">
                          <a:effectLst/>
                        </a:rPr>
                        <a:t>H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3190523013"/>
                  </a:ext>
                </a:extLst>
              </a:tr>
              <a:tr h="611770">
                <a:tc>
                  <a:txBody>
                    <a:bodyPr/>
                    <a:lstStyle/>
                    <a:p>
                      <a:pPr marR="34925" algn="ctr">
                        <a:lnSpc>
                          <a:spcPct val="100000"/>
                        </a:lnSpc>
                        <a:spcAft>
                          <a:spcPts val="0"/>
                        </a:spcAft>
                      </a:pPr>
                      <a:r>
                        <a:rPr lang="en-CA" sz="2400" b="1" dirty="0">
                          <a:effectLst/>
                        </a:rPr>
                        <a:t>0 0 0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algn="ctr">
                        <a:lnSpc>
                          <a:spcPct val="100000"/>
                        </a:lnSpc>
                        <a:spcAft>
                          <a:spcPts val="0"/>
                        </a:spcAft>
                      </a:pPr>
                      <a:r>
                        <a:rPr lang="en-CA" sz="2400" b="1" dirty="0">
                          <a:effectLst/>
                        </a:rPr>
                        <a:t>Input Data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algn="ctr">
                        <a:lnSpc>
                          <a:spcPct val="100000"/>
                        </a:lnSpc>
                        <a:spcAft>
                          <a:spcPts val="0"/>
                        </a:spcAft>
                      </a:pPr>
                      <a:r>
                        <a:rPr lang="en-CA" sz="2400" b="1" dirty="0">
                          <a:effectLst/>
                        </a:rPr>
                        <a:t>Input Data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7465" algn="ctr">
                        <a:lnSpc>
                          <a:spcPct val="100000"/>
                        </a:lnSpc>
                        <a:spcAft>
                          <a:spcPts val="0"/>
                        </a:spcAft>
                      </a:pPr>
                      <a:r>
                        <a:rPr lang="en-CA" sz="2400" b="1" dirty="0">
                          <a:effectLst/>
                        </a:rPr>
                        <a:t>A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195" algn="ctr">
                        <a:lnSpc>
                          <a:spcPct val="100000"/>
                        </a:lnSpc>
                        <a:spcAft>
                          <a:spcPts val="0"/>
                        </a:spcAft>
                      </a:pPr>
                      <a:r>
                        <a:rPr lang="en-CA" sz="2400" b="1" dirty="0">
                          <a:effectLst/>
                        </a:rPr>
                        <a:t>A+1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31750" algn="ctr">
                        <a:lnSpc>
                          <a:spcPct val="100000"/>
                        </a:lnSpc>
                        <a:spcAft>
                          <a:spcPts val="0"/>
                        </a:spcAft>
                      </a:pPr>
                      <a:r>
                        <a:rPr lang="en-CA" sz="2400" b="1" dirty="0">
                          <a:effectLst/>
                        </a:rPr>
                        <a:t>None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3655" algn="ctr">
                        <a:lnSpc>
                          <a:spcPct val="100000"/>
                        </a:lnSpc>
                        <a:spcAft>
                          <a:spcPts val="0"/>
                        </a:spcAft>
                      </a:pPr>
                      <a:r>
                        <a:rPr lang="en-CA" sz="2400" b="1" dirty="0">
                          <a:effectLst/>
                        </a:rPr>
                        <a:t>Circulate-Left with Carry</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1497859172"/>
                  </a:ext>
                </a:extLst>
              </a:tr>
              <a:tr h="611770">
                <a:tc>
                  <a:txBody>
                    <a:bodyPr/>
                    <a:lstStyle/>
                    <a:p>
                      <a:pPr marR="34925" algn="ctr">
                        <a:lnSpc>
                          <a:spcPct val="100000"/>
                        </a:lnSpc>
                        <a:spcAft>
                          <a:spcPts val="0"/>
                        </a:spcAft>
                      </a:pPr>
                      <a:r>
                        <a:rPr lang="en-CA" sz="2400" b="1">
                          <a:effectLst/>
                        </a:rPr>
                        <a:t>0 0 1  </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40005" algn="ctr">
                        <a:lnSpc>
                          <a:spcPct val="100000"/>
                        </a:lnSpc>
                        <a:spcAft>
                          <a:spcPts val="0"/>
                        </a:spcAft>
                      </a:pPr>
                      <a:r>
                        <a:rPr lang="en-CA" sz="2400" b="1">
                          <a:effectLst/>
                        </a:rPr>
                        <a:t>R1 </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400" b="1" dirty="0">
                          <a:effectLst/>
                        </a:rPr>
                        <a:t>R1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7465" algn="ctr">
                        <a:lnSpc>
                          <a:spcPct val="100000"/>
                        </a:lnSpc>
                        <a:spcAft>
                          <a:spcPts val="0"/>
                        </a:spcAft>
                      </a:pPr>
                      <a:r>
                        <a:rPr lang="en-CA" sz="2400" b="1" dirty="0">
                          <a:effectLst/>
                        </a:rPr>
                        <a:t>A+B</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10795" algn="ctr">
                        <a:lnSpc>
                          <a:spcPct val="100000"/>
                        </a:lnSpc>
                        <a:spcAft>
                          <a:spcPts val="0"/>
                        </a:spcAft>
                      </a:pPr>
                      <a:r>
                        <a:rPr lang="en-CA" sz="2400" b="1" dirty="0">
                          <a:effectLst/>
                        </a:rPr>
                        <a:t>A+B+1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830" algn="ctr">
                        <a:lnSpc>
                          <a:spcPct val="100000"/>
                        </a:lnSpc>
                        <a:spcAft>
                          <a:spcPts val="0"/>
                        </a:spcAft>
                      </a:pPr>
                      <a:r>
                        <a:rPr lang="en-CA" sz="2400" b="1" dirty="0">
                          <a:effectLst/>
                        </a:rPr>
                        <a:t>R1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1270" marR="13970" algn="ctr">
                        <a:lnSpc>
                          <a:spcPct val="100000"/>
                        </a:lnSpc>
                        <a:spcAft>
                          <a:spcPts val="0"/>
                        </a:spcAft>
                      </a:pPr>
                      <a:r>
                        <a:rPr lang="en-CA" sz="2400" b="1" dirty="0">
                          <a:effectLst/>
                        </a:rPr>
                        <a:t>Circulate-Right with Carry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1649116545"/>
                  </a:ext>
                </a:extLst>
              </a:tr>
              <a:tr h="611770">
                <a:tc>
                  <a:txBody>
                    <a:bodyPr/>
                    <a:lstStyle/>
                    <a:p>
                      <a:pPr marR="34925" algn="ctr">
                        <a:lnSpc>
                          <a:spcPct val="100000"/>
                        </a:lnSpc>
                        <a:spcAft>
                          <a:spcPts val="0"/>
                        </a:spcAft>
                      </a:pPr>
                      <a:r>
                        <a:rPr lang="en-CA" sz="2400" b="1">
                          <a:effectLst/>
                        </a:rPr>
                        <a:t>0 1 0 </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40005" algn="ctr">
                        <a:lnSpc>
                          <a:spcPct val="100000"/>
                        </a:lnSpc>
                        <a:spcAft>
                          <a:spcPts val="0"/>
                        </a:spcAft>
                      </a:pPr>
                      <a:r>
                        <a:rPr lang="en-CA" sz="2400" b="1">
                          <a:effectLst/>
                        </a:rPr>
                        <a:t>R2 </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400" b="1" dirty="0">
                          <a:effectLst/>
                        </a:rPr>
                        <a:t>R2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57785" algn="ctr">
                        <a:lnSpc>
                          <a:spcPct val="100000"/>
                        </a:lnSpc>
                        <a:spcAft>
                          <a:spcPts val="0"/>
                        </a:spcAft>
                      </a:pPr>
                      <a:r>
                        <a:rPr lang="en-CA" sz="2400" b="1" dirty="0">
                          <a:effectLst/>
                        </a:rPr>
                        <a:t>A+B`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7465" algn="ctr">
                        <a:lnSpc>
                          <a:spcPct val="100000"/>
                        </a:lnSpc>
                        <a:spcAft>
                          <a:spcPts val="0"/>
                        </a:spcAft>
                      </a:pPr>
                      <a:r>
                        <a:rPr lang="en-CA" sz="2400" b="1" dirty="0">
                          <a:effectLst/>
                        </a:rPr>
                        <a:t>A+B`+1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830" algn="ctr">
                        <a:lnSpc>
                          <a:spcPct val="100000"/>
                        </a:lnSpc>
                        <a:spcAft>
                          <a:spcPts val="0"/>
                        </a:spcAft>
                      </a:pPr>
                      <a:r>
                        <a:rPr lang="en-CA" sz="2400" b="1" dirty="0">
                          <a:effectLst/>
                        </a:rPr>
                        <a:t>R2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3655" algn="ctr">
                        <a:lnSpc>
                          <a:spcPct val="100000"/>
                        </a:lnSpc>
                        <a:spcAft>
                          <a:spcPts val="0"/>
                        </a:spcAft>
                      </a:pPr>
                      <a:r>
                        <a:rPr lang="en-CA" sz="2400" b="1" dirty="0">
                          <a:effectLst/>
                        </a:rPr>
                        <a:t>No shift</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535047974"/>
                  </a:ext>
                </a:extLst>
              </a:tr>
              <a:tr h="611770">
                <a:tc>
                  <a:txBody>
                    <a:bodyPr/>
                    <a:lstStyle/>
                    <a:p>
                      <a:pPr marR="34925" algn="ctr">
                        <a:lnSpc>
                          <a:spcPct val="100000"/>
                        </a:lnSpc>
                        <a:spcAft>
                          <a:spcPts val="0"/>
                        </a:spcAft>
                      </a:pPr>
                      <a:r>
                        <a:rPr lang="en-CA" sz="2400" b="1">
                          <a:effectLst/>
                        </a:rPr>
                        <a:t>0 1 1 </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40005" algn="ctr">
                        <a:lnSpc>
                          <a:spcPct val="100000"/>
                        </a:lnSpc>
                        <a:spcAft>
                          <a:spcPts val="0"/>
                        </a:spcAft>
                      </a:pPr>
                      <a:r>
                        <a:rPr lang="en-CA" sz="2400" b="1">
                          <a:effectLst/>
                        </a:rPr>
                        <a:t>R3 </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400" b="1" dirty="0">
                          <a:effectLst/>
                        </a:rPr>
                        <a:t>R3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400" b="1" dirty="0">
                          <a:effectLst/>
                        </a:rPr>
                        <a:t>A-1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5560" algn="ctr">
                        <a:lnSpc>
                          <a:spcPct val="100000"/>
                        </a:lnSpc>
                        <a:spcAft>
                          <a:spcPts val="0"/>
                        </a:spcAft>
                      </a:pPr>
                      <a:r>
                        <a:rPr lang="en-CA" sz="2400" b="1" dirty="0">
                          <a:effectLst/>
                        </a:rPr>
                        <a:t>A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830" algn="ctr">
                        <a:lnSpc>
                          <a:spcPct val="100000"/>
                        </a:lnSpc>
                        <a:spcAft>
                          <a:spcPts val="0"/>
                        </a:spcAft>
                      </a:pPr>
                      <a:r>
                        <a:rPr lang="en-CA" sz="2400" b="1" dirty="0">
                          <a:effectLst/>
                        </a:rPr>
                        <a:t>R3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195" algn="ctr">
                        <a:lnSpc>
                          <a:spcPct val="100000"/>
                        </a:lnSpc>
                        <a:spcAft>
                          <a:spcPts val="0"/>
                        </a:spcAft>
                      </a:pPr>
                      <a:r>
                        <a:rPr lang="en-CA" sz="2400" b="1">
                          <a:effectLst/>
                        </a:rPr>
                        <a:t>0’s to the output Bus</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15944642"/>
                  </a:ext>
                </a:extLst>
              </a:tr>
              <a:tr h="611770">
                <a:tc>
                  <a:txBody>
                    <a:bodyPr/>
                    <a:lstStyle/>
                    <a:p>
                      <a:pPr marR="34925" algn="ctr">
                        <a:lnSpc>
                          <a:spcPct val="100000"/>
                        </a:lnSpc>
                        <a:spcAft>
                          <a:spcPts val="0"/>
                        </a:spcAft>
                      </a:pPr>
                      <a:r>
                        <a:rPr lang="en-CA" sz="2400" b="1">
                          <a:effectLst/>
                        </a:rPr>
                        <a:t>1 0 0 </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40005" algn="ctr">
                        <a:lnSpc>
                          <a:spcPct val="100000"/>
                        </a:lnSpc>
                        <a:spcAft>
                          <a:spcPts val="0"/>
                        </a:spcAft>
                      </a:pPr>
                      <a:r>
                        <a:rPr lang="en-CA" sz="2400" b="1" dirty="0">
                          <a:effectLst/>
                        </a:rPr>
                        <a:t>R4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400" b="1" dirty="0">
                          <a:effectLst/>
                        </a:rPr>
                        <a:t>R4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45720" algn="ctr">
                        <a:lnSpc>
                          <a:spcPct val="100000"/>
                        </a:lnSpc>
                        <a:spcAft>
                          <a:spcPts val="0"/>
                        </a:spcAft>
                      </a:pPr>
                      <a:r>
                        <a:rPr lang="en-CA" sz="2400" b="1" dirty="0">
                          <a:effectLst/>
                        </a:rPr>
                        <a:t>A OR B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45720" algn="ctr">
                        <a:lnSpc>
                          <a:spcPct val="100000"/>
                        </a:lnSpc>
                        <a:spcAft>
                          <a:spcPts val="0"/>
                        </a:spcAft>
                      </a:pPr>
                      <a:r>
                        <a:rPr lang="en-CA" sz="2400" b="1" dirty="0">
                          <a:effectLst/>
                        </a:rPr>
                        <a:t>A OR B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830" algn="ctr">
                        <a:lnSpc>
                          <a:spcPct val="100000"/>
                        </a:lnSpc>
                        <a:spcAft>
                          <a:spcPts val="0"/>
                        </a:spcAft>
                      </a:pPr>
                      <a:r>
                        <a:rPr lang="en-CA" sz="2400" b="1" dirty="0">
                          <a:effectLst/>
                        </a:rPr>
                        <a:t>R4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195" algn="ctr">
                        <a:lnSpc>
                          <a:spcPct val="100000"/>
                        </a:lnSpc>
                        <a:spcAft>
                          <a:spcPts val="0"/>
                        </a:spcAft>
                      </a:pPr>
                      <a:r>
                        <a:rPr lang="en-CA" sz="2400" b="1" dirty="0">
                          <a:effectLst/>
                        </a:rPr>
                        <a:t>-</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1423811077"/>
                  </a:ext>
                </a:extLst>
              </a:tr>
              <a:tr h="611770">
                <a:tc>
                  <a:txBody>
                    <a:bodyPr/>
                    <a:lstStyle/>
                    <a:p>
                      <a:pPr marR="34925" algn="ctr">
                        <a:lnSpc>
                          <a:spcPct val="100000"/>
                        </a:lnSpc>
                        <a:spcAft>
                          <a:spcPts val="0"/>
                        </a:spcAft>
                      </a:pPr>
                      <a:r>
                        <a:rPr lang="en-CA" sz="2400" b="1">
                          <a:effectLst/>
                        </a:rPr>
                        <a:t>1 0 1  </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40005" algn="ctr">
                        <a:lnSpc>
                          <a:spcPct val="100000"/>
                        </a:lnSpc>
                        <a:spcAft>
                          <a:spcPts val="0"/>
                        </a:spcAft>
                      </a:pPr>
                      <a:r>
                        <a:rPr lang="en-CA" sz="2400" b="1">
                          <a:effectLst/>
                        </a:rPr>
                        <a:t>R5 </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400" b="1" dirty="0">
                          <a:effectLst/>
                        </a:rPr>
                        <a:t>R5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31750" algn="ctr">
                        <a:lnSpc>
                          <a:spcPct val="100000"/>
                        </a:lnSpc>
                        <a:spcAft>
                          <a:spcPts val="0"/>
                        </a:spcAft>
                      </a:pPr>
                      <a:r>
                        <a:rPr lang="en-CA" sz="2400" b="1" dirty="0">
                          <a:effectLst/>
                        </a:rPr>
                        <a:t>A XOR B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0" marR="38100" indent="0" algn="ctr" defTabSz="457200" rtl="0" eaLnBrk="1" fontAlgn="auto" latinLnBrk="0" hangingPunct="1">
                        <a:lnSpc>
                          <a:spcPct val="100000"/>
                        </a:lnSpc>
                        <a:spcBef>
                          <a:spcPts val="0"/>
                        </a:spcBef>
                        <a:spcAft>
                          <a:spcPts val="0"/>
                        </a:spcAft>
                        <a:buClrTx/>
                        <a:buSzTx/>
                        <a:buFontTx/>
                        <a:buNone/>
                        <a:tabLst/>
                        <a:defRPr/>
                      </a:pPr>
                      <a:r>
                        <a:rPr lang="en-CA" sz="2400" b="1" dirty="0">
                          <a:effectLst/>
                        </a:rPr>
                        <a:t>A XOR B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830" algn="ctr">
                        <a:lnSpc>
                          <a:spcPct val="100000"/>
                        </a:lnSpc>
                        <a:spcAft>
                          <a:spcPts val="0"/>
                        </a:spcAft>
                      </a:pPr>
                      <a:r>
                        <a:rPr lang="en-CA" sz="2400" b="1" dirty="0">
                          <a:effectLst/>
                        </a:rPr>
                        <a:t>R5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1270" algn="ctr">
                        <a:lnSpc>
                          <a:spcPct val="100000"/>
                        </a:lnSpc>
                        <a:spcAft>
                          <a:spcPts val="0"/>
                        </a:spcAft>
                      </a:pPr>
                      <a:r>
                        <a:rPr lang="en-CA" sz="2400" b="1" dirty="0">
                          <a:effectLst/>
                        </a:rPr>
                        <a:t>Shift Left with I</a:t>
                      </a:r>
                      <a:r>
                        <a:rPr lang="en-CA" sz="2400" b="1" baseline="-25000" dirty="0">
                          <a:effectLst/>
                        </a:rPr>
                        <a:t>L</a:t>
                      </a:r>
                      <a:r>
                        <a:rPr lang="en-CA" sz="2400" b="1" dirty="0">
                          <a:effectLst/>
                        </a:rPr>
                        <a:t>=0</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3235350611"/>
                  </a:ext>
                </a:extLst>
              </a:tr>
              <a:tr h="611770">
                <a:tc>
                  <a:txBody>
                    <a:bodyPr/>
                    <a:lstStyle/>
                    <a:p>
                      <a:pPr marR="34925" algn="ctr">
                        <a:lnSpc>
                          <a:spcPct val="100000"/>
                        </a:lnSpc>
                        <a:spcAft>
                          <a:spcPts val="0"/>
                        </a:spcAft>
                      </a:pPr>
                      <a:r>
                        <a:rPr lang="en-CA" sz="2400" b="1">
                          <a:effectLst/>
                        </a:rPr>
                        <a:t>1 1 0 </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40005" algn="ctr">
                        <a:lnSpc>
                          <a:spcPct val="100000"/>
                        </a:lnSpc>
                        <a:spcAft>
                          <a:spcPts val="0"/>
                        </a:spcAft>
                      </a:pPr>
                      <a:r>
                        <a:rPr lang="en-CA" sz="2400" b="1">
                          <a:effectLst/>
                        </a:rPr>
                        <a:t>R6 </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400" b="1" dirty="0">
                          <a:effectLst/>
                        </a:rPr>
                        <a:t>R6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50165" algn="ctr">
                        <a:lnSpc>
                          <a:spcPct val="100000"/>
                        </a:lnSpc>
                        <a:spcAft>
                          <a:spcPts val="0"/>
                        </a:spcAft>
                      </a:pPr>
                      <a:r>
                        <a:rPr lang="en-CA" sz="2400" b="1" dirty="0">
                          <a:effectLst/>
                        </a:rPr>
                        <a:t>A AND B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0" marR="38100" indent="0" algn="ctr" defTabSz="457200" rtl="0" eaLnBrk="1" fontAlgn="auto" latinLnBrk="0" hangingPunct="1">
                        <a:lnSpc>
                          <a:spcPct val="100000"/>
                        </a:lnSpc>
                        <a:spcBef>
                          <a:spcPts val="0"/>
                        </a:spcBef>
                        <a:spcAft>
                          <a:spcPts val="0"/>
                        </a:spcAft>
                        <a:buClrTx/>
                        <a:buSzTx/>
                        <a:buFontTx/>
                        <a:buNone/>
                        <a:tabLst/>
                        <a:defRPr/>
                      </a:pPr>
                      <a:r>
                        <a:rPr lang="en-CA" sz="2400" b="1" dirty="0">
                          <a:effectLst/>
                        </a:rPr>
                        <a:t>A AND B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830" algn="ctr">
                        <a:lnSpc>
                          <a:spcPct val="100000"/>
                        </a:lnSpc>
                        <a:spcAft>
                          <a:spcPts val="0"/>
                        </a:spcAft>
                      </a:pPr>
                      <a:r>
                        <a:rPr lang="en-CA" sz="2400" b="1" dirty="0">
                          <a:effectLst/>
                        </a:rPr>
                        <a:t>R6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1270" marR="13970" algn="ctr">
                        <a:lnSpc>
                          <a:spcPct val="100000"/>
                        </a:lnSpc>
                        <a:spcAft>
                          <a:spcPts val="0"/>
                        </a:spcAft>
                      </a:pPr>
                      <a:r>
                        <a:rPr lang="en-CA" sz="2400" b="1" dirty="0">
                          <a:effectLst/>
                        </a:rPr>
                        <a:t>Shift Right with I</a:t>
                      </a:r>
                      <a:r>
                        <a:rPr lang="en-CA" sz="2400" b="1" baseline="-25000" dirty="0">
                          <a:effectLst/>
                        </a:rPr>
                        <a:t>R</a:t>
                      </a:r>
                      <a:r>
                        <a:rPr lang="en-CA" sz="2400" b="1" dirty="0">
                          <a:effectLst/>
                        </a:rPr>
                        <a:t>=0</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1386241963"/>
                  </a:ext>
                </a:extLst>
              </a:tr>
              <a:tr h="611770">
                <a:tc>
                  <a:txBody>
                    <a:bodyPr/>
                    <a:lstStyle/>
                    <a:p>
                      <a:pPr marR="34925" algn="ctr">
                        <a:lnSpc>
                          <a:spcPct val="100000"/>
                        </a:lnSpc>
                        <a:spcAft>
                          <a:spcPts val="0"/>
                        </a:spcAft>
                      </a:pPr>
                      <a:r>
                        <a:rPr lang="en-CA" sz="2400" b="1">
                          <a:effectLst/>
                        </a:rPr>
                        <a:t>1 1 1 </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40005" algn="ctr">
                        <a:lnSpc>
                          <a:spcPct val="100000"/>
                        </a:lnSpc>
                        <a:spcAft>
                          <a:spcPts val="0"/>
                        </a:spcAft>
                      </a:pPr>
                      <a:r>
                        <a:rPr lang="en-CA" sz="2400" b="1" dirty="0">
                          <a:effectLst/>
                        </a:rPr>
                        <a:t>R7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400" b="1" dirty="0">
                          <a:effectLst/>
                        </a:rPr>
                        <a:t>R7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31750" algn="ctr">
                        <a:lnSpc>
                          <a:spcPct val="100000"/>
                        </a:lnSpc>
                        <a:spcAft>
                          <a:spcPts val="0"/>
                        </a:spcAft>
                      </a:pPr>
                      <a:r>
                        <a:rPr lang="en-CA" sz="2400" b="1" dirty="0">
                          <a:effectLst/>
                        </a:rPr>
                        <a:t>A′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8100" algn="ctr">
                        <a:lnSpc>
                          <a:spcPct val="100000"/>
                        </a:lnSpc>
                        <a:spcAft>
                          <a:spcPts val="0"/>
                        </a:spcAft>
                      </a:pPr>
                      <a:r>
                        <a:rPr lang="en-CA" sz="2400" b="1" dirty="0">
                          <a:effectLst/>
                        </a:rPr>
                        <a:t>A′ </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830" algn="ctr">
                        <a:lnSpc>
                          <a:spcPct val="100000"/>
                        </a:lnSpc>
                        <a:spcAft>
                          <a:spcPts val="0"/>
                        </a:spcAft>
                      </a:pPr>
                      <a:r>
                        <a:rPr lang="en-CA" sz="2400" b="1">
                          <a:effectLst/>
                        </a:rPr>
                        <a:t>R7 </a:t>
                      </a:r>
                      <a:endParaRPr lang="en-CA" sz="2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4925" algn="ctr">
                        <a:lnSpc>
                          <a:spcPct val="100000"/>
                        </a:lnSpc>
                        <a:spcAft>
                          <a:spcPts val="0"/>
                        </a:spcAft>
                      </a:pPr>
                      <a:r>
                        <a:rPr lang="en-CA" sz="2400" b="1" dirty="0">
                          <a:effectLst/>
                        </a:rPr>
                        <a:t>1’s to the output Bus</a:t>
                      </a:r>
                      <a:endParaRPr lang="en-CA"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2366638424"/>
                  </a:ext>
                </a:extLst>
              </a:tr>
            </a:tbl>
          </a:graphicData>
        </a:graphic>
      </p:graphicFrame>
      <p:sp>
        <p:nvSpPr>
          <p:cNvPr id="5" name="Date Placeholder 4"/>
          <p:cNvSpPr>
            <a:spLocks noGrp="1"/>
          </p:cNvSpPr>
          <p:nvPr>
            <p:ph type="dt" sz="half" idx="10"/>
          </p:nvPr>
        </p:nvSpPr>
        <p:spPr/>
        <p:txBody>
          <a:bodyPr/>
          <a:lstStyle/>
          <a:p>
            <a:fld id="{46F03F24-7E87-468A-9970-21C3BC48953A}" type="datetime3">
              <a:rPr lang="en-US" smtClean="0"/>
              <a:t>18 July 2024</a:t>
            </a:fld>
            <a:endParaRPr lang="en-US"/>
          </a:p>
        </p:txBody>
      </p:sp>
      <p:sp>
        <p:nvSpPr>
          <p:cNvPr id="6" name="Footer Placeholder 5"/>
          <p:cNvSpPr>
            <a:spLocks noGrp="1"/>
          </p:cNvSpPr>
          <p:nvPr>
            <p:ph type="ftr" sz="quarter" idx="11"/>
          </p:nvPr>
        </p:nvSpPr>
        <p:spPr/>
        <p:txBody>
          <a:bodyPr/>
          <a:lstStyle/>
          <a:p>
            <a:r>
              <a:rPr lang="en-US" dirty="0"/>
              <a:t>Course Teacher: Dr. Md. Rukonuzzaman</a:t>
            </a:r>
          </a:p>
        </p:txBody>
      </p:sp>
      <p:sp>
        <p:nvSpPr>
          <p:cNvPr id="7" name="Slide Number Placeholder 6"/>
          <p:cNvSpPr>
            <a:spLocks noGrp="1"/>
          </p:cNvSpPr>
          <p:nvPr>
            <p:ph type="sldNum" sz="quarter" idx="12"/>
          </p:nvPr>
        </p:nvSpPr>
        <p:spPr/>
        <p:txBody>
          <a:bodyPr/>
          <a:lstStyle/>
          <a:p>
            <a:fld id="{48F63A3B-78C7-47BE-AE5E-E10140E04643}" type="slidenum">
              <a:rPr lang="en-US" smtClean="0"/>
              <a:pPr/>
              <a:t>33</a:t>
            </a:fld>
            <a:endParaRPr lang="en-US" dirty="0"/>
          </a:p>
        </p:txBody>
      </p:sp>
    </p:spTree>
    <p:extLst>
      <p:ext uri="{BB962C8B-B14F-4D97-AF65-F5344CB8AC3E}">
        <p14:creationId xmlns:p14="http://schemas.microsoft.com/office/powerpoint/2010/main" val="8492521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683026" y="323021"/>
            <a:ext cx="13769009" cy="1065929"/>
          </a:xfrm>
        </p:spPr>
        <p:txBody>
          <a:bodyPr>
            <a:normAutofit/>
          </a:bodyPr>
          <a:lstStyle/>
          <a:p>
            <a:pPr algn="ctr"/>
            <a:r>
              <a:rPr lang="en-US" sz="4000" b="1" dirty="0">
                <a:solidFill>
                  <a:srgbClr val="0000FF"/>
                </a:solidFill>
              </a:rPr>
              <a:t>Design of Arithmetic Logic Circuit </a:t>
            </a:r>
          </a:p>
        </p:txBody>
      </p:sp>
      <p:pic>
        <p:nvPicPr>
          <p:cNvPr id="5" name="Picture 4"/>
          <p:cNvPicPr>
            <a:picLocks noChangeAspect="1"/>
          </p:cNvPicPr>
          <p:nvPr/>
        </p:nvPicPr>
        <p:blipFill>
          <a:blip r:embed="rId2"/>
          <a:stretch>
            <a:fillRect/>
          </a:stretch>
        </p:blipFill>
        <p:spPr>
          <a:xfrm>
            <a:off x="1051675" y="1541904"/>
            <a:ext cx="11316238" cy="6545196"/>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1222547898"/>
              </p:ext>
            </p:extLst>
          </p:nvPr>
        </p:nvGraphicFramePr>
        <p:xfrm>
          <a:off x="12932229" y="2868127"/>
          <a:ext cx="3310840" cy="4895952"/>
        </p:xfrm>
        <a:graphic>
          <a:graphicData uri="http://schemas.openxmlformats.org/drawingml/2006/table">
            <a:tbl>
              <a:tblPr firstRow="1" bandRow="1">
                <a:tableStyleId>{5C22544A-7EE6-4342-B048-85BDC9FD1C3A}</a:tableStyleId>
              </a:tblPr>
              <a:tblGrid>
                <a:gridCol w="1476906">
                  <a:extLst>
                    <a:ext uri="{9D8B030D-6E8A-4147-A177-3AD203B41FA5}">
                      <a16:colId xmlns:a16="http://schemas.microsoft.com/office/drawing/2014/main" val="363725021"/>
                    </a:ext>
                  </a:extLst>
                </a:gridCol>
                <a:gridCol w="988080">
                  <a:extLst>
                    <a:ext uri="{9D8B030D-6E8A-4147-A177-3AD203B41FA5}">
                      <a16:colId xmlns:a16="http://schemas.microsoft.com/office/drawing/2014/main" val="3643352939"/>
                    </a:ext>
                  </a:extLst>
                </a:gridCol>
                <a:gridCol w="845854">
                  <a:extLst>
                    <a:ext uri="{9D8B030D-6E8A-4147-A177-3AD203B41FA5}">
                      <a16:colId xmlns:a16="http://schemas.microsoft.com/office/drawing/2014/main" val="3882864041"/>
                    </a:ext>
                  </a:extLst>
                </a:gridCol>
              </a:tblGrid>
              <a:tr h="402336">
                <a:tc>
                  <a:txBody>
                    <a:bodyPr/>
                    <a:lstStyle/>
                    <a:p>
                      <a:pPr algn="ctr"/>
                      <a:r>
                        <a:rPr lang="en-CA" sz="1900" b="1" i="1" dirty="0"/>
                        <a:t>X</a:t>
                      </a:r>
                      <a:r>
                        <a:rPr lang="en-CA" sz="1900" b="1" i="1" baseline="-25000" dirty="0"/>
                        <a:t>i</a:t>
                      </a:r>
                    </a:p>
                  </a:txBody>
                  <a:tcPr marL="109728" marR="109728" marT="54864" marB="54864"/>
                </a:tc>
                <a:tc>
                  <a:txBody>
                    <a:bodyPr/>
                    <a:lstStyle/>
                    <a:p>
                      <a:pPr algn="ctr"/>
                      <a:r>
                        <a:rPr lang="en-CA" sz="1900" b="1" i="1" dirty="0"/>
                        <a:t>Y</a:t>
                      </a:r>
                      <a:r>
                        <a:rPr lang="en-CA" sz="1900" b="1" i="1" baseline="-25000" dirty="0"/>
                        <a:t>i</a:t>
                      </a:r>
                    </a:p>
                  </a:txBody>
                  <a:tcPr marL="109728" marR="109728" marT="54864" marB="54864"/>
                </a:tc>
                <a:tc>
                  <a:txBody>
                    <a:bodyPr/>
                    <a:lstStyle/>
                    <a:p>
                      <a:pPr algn="ctr"/>
                      <a:r>
                        <a:rPr lang="en-CA" sz="1900" b="1" i="1" dirty="0" err="1"/>
                        <a:t>Z</a:t>
                      </a:r>
                      <a:r>
                        <a:rPr lang="en-CA" sz="1900" b="1" i="1" baseline="-25000" dirty="0" err="1"/>
                        <a:t>i</a:t>
                      </a:r>
                      <a:endParaRPr lang="en-CA" sz="1900" b="1" i="1" baseline="-25000" dirty="0"/>
                    </a:p>
                  </a:txBody>
                  <a:tcPr marL="109728" marR="109728" marT="54864" marB="54864"/>
                </a:tc>
                <a:extLst>
                  <a:ext uri="{0D108BD9-81ED-4DB2-BD59-A6C34878D82A}">
                    <a16:rowId xmlns:a16="http://schemas.microsoft.com/office/drawing/2014/main" val="2461190251"/>
                  </a:ext>
                </a:extLst>
              </a:tr>
              <a:tr h="374468">
                <a:tc>
                  <a:txBody>
                    <a:bodyPr/>
                    <a:lstStyle/>
                    <a:p>
                      <a:pPr algn="ctr"/>
                      <a:r>
                        <a:rPr lang="en-CA" sz="1700" b="1" dirty="0"/>
                        <a:t>A</a:t>
                      </a:r>
                    </a:p>
                  </a:txBody>
                  <a:tcPr marL="109728" marR="109728" marT="54864" marB="54864"/>
                </a:tc>
                <a:tc>
                  <a:txBody>
                    <a:bodyPr/>
                    <a:lstStyle/>
                    <a:p>
                      <a:pPr algn="ctr"/>
                      <a:r>
                        <a:rPr lang="en-CA" sz="1700" b="1" dirty="0"/>
                        <a:t>0</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2506957345"/>
                  </a:ext>
                </a:extLst>
              </a:tr>
              <a:tr h="374468">
                <a:tc>
                  <a:txBody>
                    <a:bodyPr/>
                    <a:lstStyle/>
                    <a:p>
                      <a:pPr algn="ctr"/>
                      <a:r>
                        <a:rPr lang="en-CA" sz="1700" b="1" dirty="0"/>
                        <a:t>A</a:t>
                      </a:r>
                    </a:p>
                  </a:txBody>
                  <a:tcPr marL="109728" marR="109728" marT="54864" marB="54864"/>
                </a:tc>
                <a:tc>
                  <a:txBody>
                    <a:bodyPr/>
                    <a:lstStyle/>
                    <a:p>
                      <a:pPr algn="ctr"/>
                      <a:r>
                        <a:rPr lang="en-CA" sz="1700" b="1" dirty="0"/>
                        <a:t>0</a:t>
                      </a:r>
                    </a:p>
                  </a:txBody>
                  <a:tcPr marL="109728" marR="109728" marT="54864" marB="54864"/>
                </a:tc>
                <a:tc>
                  <a:txBody>
                    <a:bodyPr/>
                    <a:lstStyle/>
                    <a:p>
                      <a:pPr algn="ctr"/>
                      <a:r>
                        <a:rPr lang="en-CA" sz="1700" b="1" dirty="0"/>
                        <a:t>1</a:t>
                      </a:r>
                    </a:p>
                  </a:txBody>
                  <a:tcPr marL="109728" marR="109728" marT="54864" marB="54864"/>
                </a:tc>
                <a:extLst>
                  <a:ext uri="{0D108BD9-81ED-4DB2-BD59-A6C34878D82A}">
                    <a16:rowId xmlns:a16="http://schemas.microsoft.com/office/drawing/2014/main" val="1576458030"/>
                  </a:ext>
                </a:extLst>
              </a:tr>
              <a:tr h="374468">
                <a:tc>
                  <a:txBody>
                    <a:bodyPr/>
                    <a:lstStyle/>
                    <a:p>
                      <a:pPr algn="ctr"/>
                      <a:r>
                        <a:rPr lang="en-CA" sz="1700" b="1" dirty="0"/>
                        <a:t>A</a:t>
                      </a:r>
                    </a:p>
                  </a:txBody>
                  <a:tcPr marL="109728" marR="109728" marT="54864" marB="54864"/>
                </a:tc>
                <a:tc>
                  <a:txBody>
                    <a:bodyPr/>
                    <a:lstStyle/>
                    <a:p>
                      <a:pPr algn="ctr"/>
                      <a:r>
                        <a:rPr lang="en-CA" sz="1700" b="1" dirty="0"/>
                        <a:t>B</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1429301131"/>
                  </a:ext>
                </a:extLst>
              </a:tr>
              <a:tr h="374468">
                <a:tc>
                  <a:txBody>
                    <a:bodyPr/>
                    <a:lstStyle/>
                    <a:p>
                      <a:pPr algn="ctr"/>
                      <a:r>
                        <a:rPr lang="en-CA" sz="1700" b="1" dirty="0"/>
                        <a:t>A</a:t>
                      </a:r>
                    </a:p>
                  </a:txBody>
                  <a:tcPr marL="109728" marR="109728" marT="54864" marB="54864"/>
                </a:tc>
                <a:tc>
                  <a:txBody>
                    <a:bodyPr/>
                    <a:lstStyle/>
                    <a:p>
                      <a:pPr algn="ctr"/>
                      <a:r>
                        <a:rPr lang="en-CA" sz="1700" b="1" dirty="0"/>
                        <a:t>B</a:t>
                      </a:r>
                    </a:p>
                  </a:txBody>
                  <a:tcPr marL="109728" marR="109728" marT="54864" marB="54864"/>
                </a:tc>
                <a:tc>
                  <a:txBody>
                    <a:bodyPr/>
                    <a:lstStyle/>
                    <a:p>
                      <a:pPr algn="ctr"/>
                      <a:r>
                        <a:rPr lang="en-CA" sz="1700" b="1" dirty="0"/>
                        <a:t>1</a:t>
                      </a:r>
                    </a:p>
                  </a:txBody>
                  <a:tcPr marL="109728" marR="109728" marT="54864" marB="54864"/>
                </a:tc>
                <a:extLst>
                  <a:ext uri="{0D108BD9-81ED-4DB2-BD59-A6C34878D82A}">
                    <a16:rowId xmlns:a16="http://schemas.microsoft.com/office/drawing/2014/main" val="2970210664"/>
                  </a:ext>
                </a:extLst>
              </a:tr>
              <a:tr h="374468">
                <a:tc>
                  <a:txBody>
                    <a:bodyPr/>
                    <a:lstStyle/>
                    <a:p>
                      <a:pPr algn="ctr"/>
                      <a:r>
                        <a:rPr lang="en-CA" sz="1700" b="1" dirty="0"/>
                        <a:t>A</a:t>
                      </a:r>
                    </a:p>
                  </a:txBody>
                  <a:tcPr marL="109728" marR="109728" marT="54864" marB="54864"/>
                </a:tc>
                <a:tc>
                  <a:txBody>
                    <a:bodyPr/>
                    <a:lstStyle/>
                    <a:p>
                      <a:pPr algn="ctr"/>
                      <a:r>
                        <a:rPr lang="en-CA" sz="1700" b="1" dirty="0"/>
                        <a:t>B’</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2945117105"/>
                  </a:ext>
                </a:extLst>
              </a:tr>
              <a:tr h="374468">
                <a:tc>
                  <a:txBody>
                    <a:bodyPr/>
                    <a:lstStyle/>
                    <a:p>
                      <a:pPr algn="ctr"/>
                      <a:r>
                        <a:rPr lang="en-CA" sz="1700" b="1" dirty="0"/>
                        <a:t>A</a:t>
                      </a:r>
                    </a:p>
                  </a:txBody>
                  <a:tcPr marL="109728" marR="109728" marT="54864" marB="54864"/>
                </a:tc>
                <a:tc>
                  <a:txBody>
                    <a:bodyPr/>
                    <a:lstStyle/>
                    <a:p>
                      <a:pPr algn="ctr"/>
                      <a:r>
                        <a:rPr lang="en-CA" sz="1700" b="1" dirty="0"/>
                        <a:t>B’</a:t>
                      </a:r>
                    </a:p>
                  </a:txBody>
                  <a:tcPr marL="109728" marR="109728" marT="54864" marB="54864"/>
                </a:tc>
                <a:tc>
                  <a:txBody>
                    <a:bodyPr/>
                    <a:lstStyle/>
                    <a:p>
                      <a:pPr algn="ctr"/>
                      <a:r>
                        <a:rPr lang="en-CA" sz="1700" b="1" dirty="0"/>
                        <a:t>1</a:t>
                      </a:r>
                    </a:p>
                  </a:txBody>
                  <a:tcPr marL="109728" marR="109728" marT="54864" marB="54864"/>
                </a:tc>
                <a:extLst>
                  <a:ext uri="{0D108BD9-81ED-4DB2-BD59-A6C34878D82A}">
                    <a16:rowId xmlns:a16="http://schemas.microsoft.com/office/drawing/2014/main" val="2739360721"/>
                  </a:ext>
                </a:extLst>
              </a:tr>
              <a:tr h="374468">
                <a:tc>
                  <a:txBody>
                    <a:bodyPr/>
                    <a:lstStyle/>
                    <a:p>
                      <a:pPr algn="ctr"/>
                      <a:r>
                        <a:rPr lang="en-CA" sz="1700" b="1" dirty="0"/>
                        <a:t>A</a:t>
                      </a:r>
                    </a:p>
                  </a:txBody>
                  <a:tcPr marL="109728" marR="109728" marT="54864" marB="54864"/>
                </a:tc>
                <a:tc>
                  <a:txBody>
                    <a:bodyPr/>
                    <a:lstStyle/>
                    <a:p>
                      <a:pPr algn="ctr"/>
                      <a:r>
                        <a:rPr lang="en-CA" sz="1700" b="1" dirty="0"/>
                        <a:t>1</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2442397496"/>
                  </a:ext>
                </a:extLst>
              </a:tr>
              <a:tr h="374468">
                <a:tc>
                  <a:txBody>
                    <a:bodyPr/>
                    <a:lstStyle/>
                    <a:p>
                      <a:pPr algn="ctr"/>
                      <a:r>
                        <a:rPr lang="en-CA" sz="1700" b="1" dirty="0"/>
                        <a:t>A</a:t>
                      </a:r>
                    </a:p>
                  </a:txBody>
                  <a:tcPr marL="109728" marR="109728" marT="54864" marB="54864"/>
                </a:tc>
                <a:tc>
                  <a:txBody>
                    <a:bodyPr/>
                    <a:lstStyle/>
                    <a:p>
                      <a:pPr algn="ctr"/>
                      <a:r>
                        <a:rPr lang="en-CA" sz="1700" b="1" dirty="0"/>
                        <a:t>1</a:t>
                      </a:r>
                    </a:p>
                  </a:txBody>
                  <a:tcPr marL="109728" marR="109728" marT="54864" marB="54864"/>
                </a:tc>
                <a:tc>
                  <a:txBody>
                    <a:bodyPr/>
                    <a:lstStyle/>
                    <a:p>
                      <a:pPr algn="ctr"/>
                      <a:r>
                        <a:rPr lang="en-CA" sz="1700" b="1" dirty="0"/>
                        <a:t>1</a:t>
                      </a:r>
                    </a:p>
                  </a:txBody>
                  <a:tcPr marL="109728" marR="109728" marT="54864" marB="54864"/>
                </a:tc>
                <a:extLst>
                  <a:ext uri="{0D108BD9-81ED-4DB2-BD59-A6C34878D82A}">
                    <a16:rowId xmlns:a16="http://schemas.microsoft.com/office/drawing/2014/main" val="3338541310"/>
                  </a:ext>
                </a:extLst>
              </a:tr>
              <a:tr h="374468">
                <a:tc>
                  <a:txBody>
                    <a:bodyPr/>
                    <a:lstStyle/>
                    <a:p>
                      <a:pPr algn="ctr"/>
                      <a:r>
                        <a:rPr lang="en-CA" sz="1700" b="1" dirty="0"/>
                        <a:t>A+B</a:t>
                      </a:r>
                    </a:p>
                  </a:txBody>
                  <a:tcPr marL="109728" marR="109728" marT="54864" marB="54864"/>
                </a:tc>
                <a:tc>
                  <a:txBody>
                    <a:bodyPr/>
                    <a:lstStyle/>
                    <a:p>
                      <a:pPr algn="ctr"/>
                      <a:r>
                        <a:rPr lang="en-CA" sz="1700" b="1" dirty="0"/>
                        <a:t>0</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537525403"/>
                  </a:ext>
                </a:extLst>
              </a:tr>
              <a:tr h="374468">
                <a:tc>
                  <a:txBody>
                    <a:bodyPr/>
                    <a:lstStyle/>
                    <a:p>
                      <a:pPr algn="ctr"/>
                      <a:r>
                        <a:rPr lang="en-CA" sz="1700" b="1" dirty="0"/>
                        <a:t>A</a:t>
                      </a:r>
                    </a:p>
                  </a:txBody>
                  <a:tcPr marL="109728" marR="109728" marT="54864" marB="54864"/>
                </a:tc>
                <a:tc>
                  <a:txBody>
                    <a:bodyPr/>
                    <a:lstStyle/>
                    <a:p>
                      <a:pPr algn="ctr"/>
                      <a:r>
                        <a:rPr lang="en-CA" sz="1700" b="1" dirty="0"/>
                        <a:t>B</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526545539"/>
                  </a:ext>
                </a:extLst>
              </a:tr>
              <a:tr h="374468">
                <a:tc>
                  <a:txBody>
                    <a:bodyPr/>
                    <a:lstStyle/>
                    <a:p>
                      <a:pPr algn="ctr"/>
                      <a:r>
                        <a:rPr lang="en-CA" sz="1700" b="1" dirty="0"/>
                        <a:t>A+B’</a:t>
                      </a:r>
                    </a:p>
                  </a:txBody>
                  <a:tcPr marL="109728" marR="109728" marT="54864" marB="54864"/>
                </a:tc>
                <a:tc>
                  <a:txBody>
                    <a:bodyPr/>
                    <a:lstStyle/>
                    <a:p>
                      <a:pPr algn="ctr"/>
                      <a:r>
                        <a:rPr lang="en-CA" sz="1700" b="1" dirty="0"/>
                        <a:t>B’</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4124765585"/>
                  </a:ext>
                </a:extLst>
              </a:tr>
              <a:tr h="374468">
                <a:tc>
                  <a:txBody>
                    <a:bodyPr/>
                    <a:lstStyle/>
                    <a:p>
                      <a:pPr algn="ctr"/>
                      <a:r>
                        <a:rPr lang="en-CA" sz="1700" b="1" dirty="0"/>
                        <a:t>A</a:t>
                      </a:r>
                    </a:p>
                  </a:txBody>
                  <a:tcPr marL="109728" marR="109728" marT="54864" marB="54864"/>
                </a:tc>
                <a:tc>
                  <a:txBody>
                    <a:bodyPr/>
                    <a:lstStyle/>
                    <a:p>
                      <a:pPr algn="ctr"/>
                      <a:r>
                        <a:rPr lang="en-CA" sz="1700" b="1" dirty="0"/>
                        <a:t>1</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3894543157"/>
                  </a:ext>
                </a:extLst>
              </a:tr>
            </a:tbl>
          </a:graphicData>
        </a:graphic>
      </p:graphicFrame>
      <p:cxnSp>
        <p:nvCxnSpPr>
          <p:cNvPr id="8" name="Straight Arrow Connector 7"/>
          <p:cNvCxnSpPr/>
          <p:nvPr/>
        </p:nvCxnSpPr>
        <p:spPr>
          <a:xfrm flipV="1">
            <a:off x="10690643" y="3466215"/>
            <a:ext cx="2539420" cy="153006"/>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9" name="Straight Arrow Connector 8"/>
          <p:cNvCxnSpPr/>
          <p:nvPr/>
        </p:nvCxnSpPr>
        <p:spPr>
          <a:xfrm flipV="1">
            <a:off x="10690644" y="3831974"/>
            <a:ext cx="2508068" cy="126949"/>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0" name="Straight Arrow Connector 9"/>
          <p:cNvCxnSpPr/>
          <p:nvPr/>
        </p:nvCxnSpPr>
        <p:spPr>
          <a:xfrm flipV="1">
            <a:off x="10361457" y="4207913"/>
            <a:ext cx="2837254" cy="90840"/>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1" name="Straight Arrow Connector 10"/>
          <p:cNvCxnSpPr/>
          <p:nvPr/>
        </p:nvCxnSpPr>
        <p:spPr>
          <a:xfrm flipV="1">
            <a:off x="11045952" y="4556409"/>
            <a:ext cx="2152759" cy="94052"/>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2" name="Straight Arrow Connector 11"/>
          <p:cNvCxnSpPr/>
          <p:nvPr/>
        </p:nvCxnSpPr>
        <p:spPr>
          <a:xfrm flipV="1">
            <a:off x="11709547" y="4998957"/>
            <a:ext cx="1520516" cy="11723"/>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3" name="Straight Arrow Connector 12"/>
          <p:cNvCxnSpPr/>
          <p:nvPr/>
        </p:nvCxnSpPr>
        <p:spPr>
          <a:xfrm>
            <a:off x="10690643" y="5316830"/>
            <a:ext cx="2523744" cy="19536"/>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4" name="Straight Arrow Connector 13"/>
          <p:cNvCxnSpPr/>
          <p:nvPr/>
        </p:nvCxnSpPr>
        <p:spPr>
          <a:xfrm>
            <a:off x="10690644" y="5622253"/>
            <a:ext cx="2508068" cy="116143"/>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5" name="Straight Arrow Connector 14"/>
          <p:cNvCxnSpPr/>
          <p:nvPr/>
        </p:nvCxnSpPr>
        <p:spPr>
          <a:xfrm>
            <a:off x="10468573" y="6009869"/>
            <a:ext cx="2745814" cy="110682"/>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6" name="Straight Arrow Connector 15"/>
          <p:cNvCxnSpPr/>
          <p:nvPr/>
        </p:nvCxnSpPr>
        <p:spPr>
          <a:xfrm>
            <a:off x="9891196" y="6350457"/>
            <a:ext cx="3307516" cy="63655"/>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7" name="Straight Arrow Connector 16"/>
          <p:cNvCxnSpPr/>
          <p:nvPr/>
        </p:nvCxnSpPr>
        <p:spPr>
          <a:xfrm>
            <a:off x="9969573" y="6644017"/>
            <a:ext cx="3229139" cy="157711"/>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8" name="Straight Arrow Connector 17"/>
          <p:cNvCxnSpPr/>
          <p:nvPr/>
        </p:nvCxnSpPr>
        <p:spPr>
          <a:xfrm>
            <a:off x="9891196" y="7037409"/>
            <a:ext cx="3338867" cy="112504"/>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9" name="Straight Arrow Connector 18"/>
          <p:cNvCxnSpPr/>
          <p:nvPr/>
        </p:nvCxnSpPr>
        <p:spPr>
          <a:xfrm>
            <a:off x="11098204" y="7515671"/>
            <a:ext cx="2215460" cy="95723"/>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sp>
        <p:nvSpPr>
          <p:cNvPr id="3" name="Date Placeholder 2"/>
          <p:cNvSpPr>
            <a:spLocks noGrp="1"/>
          </p:cNvSpPr>
          <p:nvPr>
            <p:ph type="dt" sz="half" idx="10"/>
          </p:nvPr>
        </p:nvSpPr>
        <p:spPr/>
        <p:txBody>
          <a:bodyPr/>
          <a:lstStyle/>
          <a:p>
            <a:fld id="{34A0CD35-3E38-4F57-97CB-85C53940B165}" type="datetime3">
              <a:rPr lang="en-US" smtClean="0"/>
              <a:t>18 July 2024</a:t>
            </a:fld>
            <a:endParaRPr lang="en-US"/>
          </a:p>
        </p:txBody>
      </p:sp>
      <p:sp>
        <p:nvSpPr>
          <p:cNvPr id="4" name="Footer Placeholder 3"/>
          <p:cNvSpPr>
            <a:spLocks noGrp="1"/>
          </p:cNvSpPr>
          <p:nvPr>
            <p:ph type="ftr" sz="quarter" idx="11"/>
          </p:nvPr>
        </p:nvSpPr>
        <p:spPr>
          <a:xfrm>
            <a:off x="5485763" y="7836757"/>
            <a:ext cx="6636568" cy="325464"/>
          </a:xfrm>
        </p:spPr>
        <p:txBody>
          <a:bodyPr/>
          <a:lstStyle/>
          <a:p>
            <a:r>
              <a:rPr lang="en-US" dirty="0"/>
              <a:t>Course Teacher: Dr. Md. Rukonuzzaman</a:t>
            </a:r>
          </a:p>
        </p:txBody>
      </p:sp>
      <p:sp>
        <p:nvSpPr>
          <p:cNvPr id="7" name="Slide Number Placeholder 6"/>
          <p:cNvSpPr>
            <a:spLocks noGrp="1"/>
          </p:cNvSpPr>
          <p:nvPr>
            <p:ph type="sldNum" sz="quarter" idx="12"/>
          </p:nvPr>
        </p:nvSpPr>
        <p:spPr>
          <a:xfrm>
            <a:off x="15125570" y="7812328"/>
            <a:ext cx="1317356" cy="290270"/>
          </a:xfrm>
        </p:spPr>
        <p:txBody>
          <a:bodyPr/>
          <a:lstStyle/>
          <a:p>
            <a:fld id="{48F63A3B-78C7-47BE-AE5E-E10140E04643}" type="slidenum">
              <a:rPr lang="en-US" smtClean="0"/>
              <a:pPr/>
              <a:t>34</a:t>
            </a:fld>
            <a:endParaRPr lang="en-US" dirty="0"/>
          </a:p>
        </p:txBody>
      </p:sp>
      <p:sp>
        <p:nvSpPr>
          <p:cNvPr id="20" name="Rectangle 19"/>
          <p:cNvSpPr/>
          <p:nvPr/>
        </p:nvSpPr>
        <p:spPr>
          <a:xfrm>
            <a:off x="13313664" y="6285230"/>
            <a:ext cx="718219" cy="1478849"/>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400"/>
          </a:p>
        </p:txBody>
      </p:sp>
    </p:spTree>
    <p:extLst>
      <p:ext uri="{BB962C8B-B14F-4D97-AF65-F5344CB8AC3E}">
        <p14:creationId xmlns:p14="http://schemas.microsoft.com/office/powerpoint/2010/main" val="142628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1" presetClass="entr" presetSubtype="1"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heel(1)">
                                      <p:cBhvr>
                                        <p:cTn id="55"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410734" y="331115"/>
            <a:ext cx="14061568" cy="922892"/>
          </a:xfrm>
        </p:spPr>
        <p:txBody>
          <a:bodyPr>
            <a:normAutofit/>
          </a:bodyPr>
          <a:lstStyle/>
          <a:p>
            <a:pPr algn="ctr"/>
            <a:r>
              <a:rPr lang="en-US" sz="4000" b="1" dirty="0">
                <a:solidFill>
                  <a:srgbClr val="0000FF"/>
                </a:solidFill>
              </a:rPr>
              <a:t>Design of Arithmetic Logic Circuit (K-maps)</a:t>
            </a:r>
            <a:endParaRPr lang="en-US" sz="4400" b="1" u="sng" dirty="0">
              <a:solidFill>
                <a:srgbClr val="0000FF"/>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778004043"/>
              </p:ext>
            </p:extLst>
          </p:nvPr>
        </p:nvGraphicFramePr>
        <p:xfrm>
          <a:off x="704904" y="3450912"/>
          <a:ext cx="4204860" cy="3474720"/>
        </p:xfrm>
        <a:graphic>
          <a:graphicData uri="http://schemas.openxmlformats.org/drawingml/2006/table">
            <a:tbl>
              <a:tblPr firstRow="1" bandRow="1">
                <a:tableStyleId>{5C22544A-7EE6-4342-B048-85BDC9FD1C3A}</a:tableStyleId>
              </a:tblPr>
              <a:tblGrid>
                <a:gridCol w="1401620">
                  <a:extLst>
                    <a:ext uri="{9D8B030D-6E8A-4147-A177-3AD203B41FA5}">
                      <a16:colId xmlns:a16="http://schemas.microsoft.com/office/drawing/2014/main" val="1278249800"/>
                    </a:ext>
                  </a:extLst>
                </a:gridCol>
                <a:gridCol w="1401620">
                  <a:extLst>
                    <a:ext uri="{9D8B030D-6E8A-4147-A177-3AD203B41FA5}">
                      <a16:colId xmlns:a16="http://schemas.microsoft.com/office/drawing/2014/main" val="1452373893"/>
                    </a:ext>
                  </a:extLst>
                </a:gridCol>
                <a:gridCol w="1401620">
                  <a:extLst>
                    <a:ext uri="{9D8B030D-6E8A-4147-A177-3AD203B41FA5}">
                      <a16:colId xmlns:a16="http://schemas.microsoft.com/office/drawing/2014/main" val="2516731280"/>
                    </a:ext>
                  </a:extLst>
                </a:gridCol>
              </a:tblGrid>
              <a:tr h="1019098">
                <a:tc>
                  <a:txBody>
                    <a:bodyPr/>
                    <a:lstStyle/>
                    <a:p>
                      <a:pPr algn="r"/>
                      <a:r>
                        <a:rPr lang="en-CA" sz="3200" dirty="0"/>
                        <a:t>      </a:t>
                      </a:r>
                      <a:r>
                        <a:rPr lang="en-CA" sz="3200" i="1" dirty="0"/>
                        <a:t>S</a:t>
                      </a:r>
                      <a:r>
                        <a:rPr lang="en-CA" sz="3200" baseline="-25000" dirty="0"/>
                        <a:t>0</a:t>
                      </a:r>
                    </a:p>
                    <a:p>
                      <a:pPr algn="l"/>
                      <a:r>
                        <a:rPr lang="en-CA" sz="3200" i="1" dirty="0"/>
                        <a:t>S</a:t>
                      </a:r>
                      <a:r>
                        <a:rPr lang="en-CA" sz="3200" baseline="-25000" dirty="0"/>
                        <a:t>2</a:t>
                      </a:r>
                      <a:r>
                        <a:rPr lang="en-CA" sz="3200" i="1" dirty="0"/>
                        <a:t>S</a:t>
                      </a:r>
                      <a:r>
                        <a:rPr lang="en-CA" sz="3200" baseline="-25000" dirty="0"/>
                        <a:t>1</a:t>
                      </a:r>
                    </a:p>
                  </a:txBody>
                  <a:tcPr marL="109728" marR="109728" marT="54864" marB="54864">
                    <a:lnTlToBr w="12700" cap="flat" cmpd="sng" algn="ctr">
                      <a:solidFill>
                        <a:schemeClr val="tx1"/>
                      </a:solidFill>
                      <a:prstDash val="solid"/>
                      <a:round/>
                      <a:headEnd type="none" w="med" len="med"/>
                      <a:tailEnd type="none" w="med" len="med"/>
                    </a:lnTlToBr>
                  </a:tcPr>
                </a:tc>
                <a:tc>
                  <a:txBody>
                    <a:bodyPr/>
                    <a:lstStyle/>
                    <a:p>
                      <a:pPr algn="ctr"/>
                      <a:r>
                        <a:rPr lang="en-CA" sz="3200" dirty="0"/>
                        <a:t>0</a:t>
                      </a:r>
                    </a:p>
                  </a:txBody>
                  <a:tcPr marL="109728" marR="109728" marT="54864" marB="54864" anchor="ctr"/>
                </a:tc>
                <a:tc>
                  <a:txBody>
                    <a:bodyPr/>
                    <a:lstStyle/>
                    <a:p>
                      <a:pPr algn="ctr"/>
                      <a:r>
                        <a:rPr lang="en-CA" sz="3200" dirty="0"/>
                        <a:t>1</a:t>
                      </a:r>
                    </a:p>
                  </a:txBody>
                  <a:tcPr marL="109728" marR="109728" marT="54864" marB="54864" anchor="ctr"/>
                </a:tc>
                <a:extLst>
                  <a:ext uri="{0D108BD9-81ED-4DB2-BD59-A6C34878D82A}">
                    <a16:rowId xmlns:a16="http://schemas.microsoft.com/office/drawing/2014/main" val="3451745046"/>
                  </a:ext>
                </a:extLst>
              </a:tr>
              <a:tr h="561077">
                <a:tc>
                  <a:txBody>
                    <a:bodyPr/>
                    <a:lstStyle/>
                    <a:p>
                      <a:pPr algn="ctr"/>
                      <a:r>
                        <a:rPr lang="en-CA" sz="3200" dirty="0"/>
                        <a:t>00</a:t>
                      </a:r>
                    </a:p>
                  </a:txBody>
                  <a:tcPr marL="109728" marR="109728" marT="54864" marB="54864" anchor="ctr"/>
                </a:tc>
                <a:tc>
                  <a:txBody>
                    <a:bodyPr/>
                    <a:lstStyle/>
                    <a:p>
                      <a:pPr algn="ctr"/>
                      <a:r>
                        <a:rPr lang="en-CA" sz="3200" i="1" dirty="0"/>
                        <a:t>A</a:t>
                      </a:r>
                    </a:p>
                  </a:txBody>
                  <a:tcPr marL="109728" marR="109728" marT="54864" marB="54864" anchor="ctr"/>
                </a:tc>
                <a:tc>
                  <a:txBody>
                    <a:bodyPr/>
                    <a:lstStyle/>
                    <a:p>
                      <a:pPr algn="ctr"/>
                      <a:r>
                        <a:rPr lang="en-CA" sz="3200" i="1" dirty="0"/>
                        <a:t>A</a:t>
                      </a:r>
                    </a:p>
                  </a:txBody>
                  <a:tcPr marL="109728" marR="109728" marT="54864" marB="54864" anchor="ctr"/>
                </a:tc>
                <a:extLst>
                  <a:ext uri="{0D108BD9-81ED-4DB2-BD59-A6C34878D82A}">
                    <a16:rowId xmlns:a16="http://schemas.microsoft.com/office/drawing/2014/main" val="4269534048"/>
                  </a:ext>
                </a:extLst>
              </a:tr>
              <a:tr h="561077">
                <a:tc>
                  <a:txBody>
                    <a:bodyPr/>
                    <a:lstStyle/>
                    <a:p>
                      <a:pPr algn="ctr"/>
                      <a:r>
                        <a:rPr lang="en-CA" sz="3200" dirty="0"/>
                        <a:t>01</a:t>
                      </a:r>
                    </a:p>
                  </a:txBody>
                  <a:tcPr marL="109728" marR="109728" marT="54864" marB="54864" anchor="ctr"/>
                </a:tc>
                <a:tc>
                  <a:txBody>
                    <a:bodyPr/>
                    <a:lstStyle/>
                    <a:p>
                      <a:pPr algn="ctr"/>
                      <a:r>
                        <a:rPr lang="en-CA" sz="3200" i="1" dirty="0"/>
                        <a:t>A</a:t>
                      </a:r>
                    </a:p>
                  </a:txBody>
                  <a:tcPr marL="109728" marR="109728" marT="54864" marB="54864" anchor="ctr"/>
                </a:tc>
                <a:tc>
                  <a:txBody>
                    <a:bodyPr/>
                    <a:lstStyle/>
                    <a:p>
                      <a:pPr algn="ctr"/>
                      <a:r>
                        <a:rPr lang="en-CA" sz="3200" i="1" dirty="0"/>
                        <a:t>A</a:t>
                      </a:r>
                    </a:p>
                  </a:txBody>
                  <a:tcPr marL="109728" marR="109728" marT="54864" marB="54864" anchor="ctr"/>
                </a:tc>
                <a:extLst>
                  <a:ext uri="{0D108BD9-81ED-4DB2-BD59-A6C34878D82A}">
                    <a16:rowId xmlns:a16="http://schemas.microsoft.com/office/drawing/2014/main" val="140848850"/>
                  </a:ext>
                </a:extLst>
              </a:tr>
              <a:tr h="561077">
                <a:tc>
                  <a:txBody>
                    <a:bodyPr/>
                    <a:lstStyle/>
                    <a:p>
                      <a:pPr algn="ctr"/>
                      <a:r>
                        <a:rPr lang="en-CA" sz="3200" dirty="0"/>
                        <a:t>11</a:t>
                      </a:r>
                    </a:p>
                  </a:txBody>
                  <a:tcPr marL="109728" marR="109728" marT="54864" marB="54864" anchor="ctr"/>
                </a:tc>
                <a:tc>
                  <a:txBody>
                    <a:bodyPr/>
                    <a:lstStyle/>
                    <a:p>
                      <a:pPr algn="ctr"/>
                      <a:r>
                        <a:rPr lang="en-CA" sz="3200" i="1" dirty="0"/>
                        <a:t>A</a:t>
                      </a:r>
                      <a:r>
                        <a:rPr lang="en-CA" sz="3200" i="0" dirty="0"/>
                        <a:t>+</a:t>
                      </a:r>
                      <a:r>
                        <a:rPr lang="en-CA" sz="3200" i="1" dirty="0"/>
                        <a:t>B’</a:t>
                      </a:r>
                    </a:p>
                  </a:txBody>
                  <a:tcPr marL="109728" marR="109728" marT="54864" marB="54864" anchor="ctr"/>
                </a:tc>
                <a:tc>
                  <a:txBody>
                    <a:bodyPr/>
                    <a:lstStyle/>
                    <a:p>
                      <a:pPr algn="ctr"/>
                      <a:r>
                        <a:rPr lang="en-CA" sz="3200" i="1" dirty="0"/>
                        <a:t>A</a:t>
                      </a:r>
                    </a:p>
                  </a:txBody>
                  <a:tcPr marL="109728" marR="109728" marT="54864" marB="54864" anchor="ctr"/>
                </a:tc>
                <a:extLst>
                  <a:ext uri="{0D108BD9-81ED-4DB2-BD59-A6C34878D82A}">
                    <a16:rowId xmlns:a16="http://schemas.microsoft.com/office/drawing/2014/main" val="3640278167"/>
                  </a:ext>
                </a:extLst>
              </a:tr>
              <a:tr h="561077">
                <a:tc>
                  <a:txBody>
                    <a:bodyPr/>
                    <a:lstStyle/>
                    <a:p>
                      <a:pPr algn="ctr"/>
                      <a:r>
                        <a:rPr lang="en-CA" sz="3200" dirty="0"/>
                        <a:t>10</a:t>
                      </a:r>
                    </a:p>
                  </a:txBody>
                  <a:tcPr marL="109728" marR="109728" marT="54864" marB="54864" anchor="ctr"/>
                </a:tc>
                <a:tc>
                  <a:txBody>
                    <a:bodyPr/>
                    <a:lstStyle/>
                    <a:p>
                      <a:pPr algn="ctr"/>
                      <a:r>
                        <a:rPr lang="en-CA" sz="3200" i="1" dirty="0"/>
                        <a:t>A</a:t>
                      </a:r>
                      <a:r>
                        <a:rPr lang="en-CA" sz="3200" i="0" dirty="0"/>
                        <a:t>+</a:t>
                      </a:r>
                      <a:r>
                        <a:rPr lang="en-CA" sz="3200" i="1" dirty="0"/>
                        <a:t>B</a:t>
                      </a:r>
                    </a:p>
                  </a:txBody>
                  <a:tcPr marL="109728" marR="109728" marT="54864" marB="54864" anchor="ctr"/>
                </a:tc>
                <a:tc>
                  <a:txBody>
                    <a:bodyPr/>
                    <a:lstStyle/>
                    <a:p>
                      <a:pPr algn="ctr"/>
                      <a:r>
                        <a:rPr lang="en-CA" sz="3200" i="1" dirty="0"/>
                        <a:t>A</a:t>
                      </a:r>
                    </a:p>
                  </a:txBody>
                  <a:tcPr marL="109728" marR="109728" marT="54864" marB="54864" anchor="ctr"/>
                </a:tc>
                <a:extLst>
                  <a:ext uri="{0D108BD9-81ED-4DB2-BD59-A6C34878D82A}">
                    <a16:rowId xmlns:a16="http://schemas.microsoft.com/office/drawing/2014/main" val="266696010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860897140"/>
              </p:ext>
            </p:extLst>
          </p:nvPr>
        </p:nvGraphicFramePr>
        <p:xfrm>
          <a:off x="5641735" y="3662228"/>
          <a:ext cx="4348038" cy="3474720"/>
        </p:xfrm>
        <a:graphic>
          <a:graphicData uri="http://schemas.openxmlformats.org/drawingml/2006/table">
            <a:tbl>
              <a:tblPr firstRow="1" bandRow="1">
                <a:tableStyleId>{5C22544A-7EE6-4342-B048-85BDC9FD1C3A}</a:tableStyleId>
              </a:tblPr>
              <a:tblGrid>
                <a:gridCol w="1449346">
                  <a:extLst>
                    <a:ext uri="{9D8B030D-6E8A-4147-A177-3AD203B41FA5}">
                      <a16:colId xmlns:a16="http://schemas.microsoft.com/office/drawing/2014/main" val="1278249800"/>
                    </a:ext>
                  </a:extLst>
                </a:gridCol>
                <a:gridCol w="1449346">
                  <a:extLst>
                    <a:ext uri="{9D8B030D-6E8A-4147-A177-3AD203B41FA5}">
                      <a16:colId xmlns:a16="http://schemas.microsoft.com/office/drawing/2014/main" val="1452373893"/>
                    </a:ext>
                  </a:extLst>
                </a:gridCol>
                <a:gridCol w="1449346">
                  <a:extLst>
                    <a:ext uri="{9D8B030D-6E8A-4147-A177-3AD203B41FA5}">
                      <a16:colId xmlns:a16="http://schemas.microsoft.com/office/drawing/2014/main" val="724531165"/>
                    </a:ext>
                  </a:extLst>
                </a:gridCol>
              </a:tblGrid>
              <a:tr h="899770">
                <a:tc>
                  <a:txBody>
                    <a:bodyPr/>
                    <a:lstStyle/>
                    <a:p>
                      <a:pPr algn="r"/>
                      <a:r>
                        <a:rPr lang="en-CA" sz="3200" baseline="0" dirty="0"/>
                        <a:t>         </a:t>
                      </a:r>
                      <a:r>
                        <a:rPr lang="en-CA" sz="3200" i="1" dirty="0"/>
                        <a:t>S</a:t>
                      </a:r>
                      <a:r>
                        <a:rPr lang="en-CA" sz="3200" baseline="-25000" dirty="0"/>
                        <a:t>0</a:t>
                      </a:r>
                    </a:p>
                    <a:p>
                      <a:pPr algn="l"/>
                      <a:r>
                        <a:rPr lang="en-CA" sz="3200" i="1" dirty="0"/>
                        <a:t>S</a:t>
                      </a:r>
                      <a:r>
                        <a:rPr lang="en-CA" sz="3200" baseline="-25000" dirty="0"/>
                        <a:t>2</a:t>
                      </a:r>
                      <a:r>
                        <a:rPr lang="en-CA" sz="3200" i="1" dirty="0"/>
                        <a:t>S</a:t>
                      </a:r>
                      <a:r>
                        <a:rPr lang="en-CA" sz="3200" baseline="-25000" dirty="0"/>
                        <a:t>1</a:t>
                      </a:r>
                    </a:p>
                  </a:txBody>
                  <a:tcPr marL="109728" marR="109728" marT="54864" marB="54864">
                    <a:lnTlToBr w="12700" cap="flat" cmpd="sng" algn="ctr">
                      <a:solidFill>
                        <a:schemeClr val="tx1"/>
                      </a:solidFill>
                      <a:prstDash val="solid"/>
                      <a:round/>
                      <a:headEnd type="none" w="med" len="med"/>
                      <a:tailEnd type="none" w="med" len="med"/>
                    </a:lnTlToBr>
                  </a:tcPr>
                </a:tc>
                <a:tc>
                  <a:txBody>
                    <a:bodyPr/>
                    <a:lstStyle/>
                    <a:p>
                      <a:pPr algn="ctr"/>
                      <a:r>
                        <a:rPr lang="en-CA" sz="3200" dirty="0"/>
                        <a:t>0</a:t>
                      </a:r>
                    </a:p>
                  </a:txBody>
                  <a:tcPr marL="109728" marR="109728" marT="54864" marB="54864" anchor="ctr"/>
                </a:tc>
                <a:tc>
                  <a:txBody>
                    <a:bodyPr/>
                    <a:lstStyle/>
                    <a:p>
                      <a:pPr algn="ctr"/>
                      <a:r>
                        <a:rPr lang="en-CA" sz="3200" dirty="0"/>
                        <a:t>1</a:t>
                      </a:r>
                    </a:p>
                  </a:txBody>
                  <a:tcPr marL="109728" marR="109728" marT="54864" marB="54864" anchor="ctr"/>
                </a:tc>
                <a:extLst>
                  <a:ext uri="{0D108BD9-81ED-4DB2-BD59-A6C34878D82A}">
                    <a16:rowId xmlns:a16="http://schemas.microsoft.com/office/drawing/2014/main" val="3451745046"/>
                  </a:ext>
                </a:extLst>
              </a:tr>
              <a:tr h="504749">
                <a:tc>
                  <a:txBody>
                    <a:bodyPr/>
                    <a:lstStyle/>
                    <a:p>
                      <a:pPr algn="ctr"/>
                      <a:r>
                        <a:rPr lang="en-CA" sz="3200" dirty="0"/>
                        <a:t>00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B</a:t>
                      </a:r>
                    </a:p>
                  </a:txBody>
                  <a:tcPr marL="109728" marR="109728" marT="54864" marB="54864" anchor="ctr"/>
                </a:tc>
                <a:extLst>
                  <a:ext uri="{0D108BD9-81ED-4DB2-BD59-A6C34878D82A}">
                    <a16:rowId xmlns:a16="http://schemas.microsoft.com/office/drawing/2014/main" val="4269534048"/>
                  </a:ext>
                </a:extLst>
              </a:tr>
              <a:tr h="504749">
                <a:tc>
                  <a:txBody>
                    <a:bodyPr/>
                    <a:lstStyle/>
                    <a:p>
                      <a:pPr algn="ctr"/>
                      <a:r>
                        <a:rPr lang="en-CA" sz="3200" dirty="0"/>
                        <a:t>01</a:t>
                      </a:r>
                    </a:p>
                  </a:txBody>
                  <a:tcPr marL="109728" marR="109728" marT="54864" marB="54864" anchor="ctr"/>
                </a:tc>
                <a:tc>
                  <a:txBody>
                    <a:bodyPr/>
                    <a:lstStyle/>
                    <a:p>
                      <a:pPr algn="ctr"/>
                      <a:r>
                        <a:rPr lang="en-CA" sz="3200" dirty="0"/>
                        <a:t>B’</a:t>
                      </a:r>
                    </a:p>
                  </a:txBody>
                  <a:tcPr marL="109728" marR="109728" marT="54864" marB="54864" anchor="ctr"/>
                </a:tc>
                <a:tc>
                  <a:txBody>
                    <a:bodyPr/>
                    <a:lstStyle/>
                    <a:p>
                      <a:pPr algn="ctr"/>
                      <a:r>
                        <a:rPr lang="en-CA" sz="3200" dirty="0"/>
                        <a:t>1</a:t>
                      </a:r>
                    </a:p>
                  </a:txBody>
                  <a:tcPr marL="109728" marR="109728" marT="54864" marB="54864" anchor="ctr"/>
                </a:tc>
                <a:extLst>
                  <a:ext uri="{0D108BD9-81ED-4DB2-BD59-A6C34878D82A}">
                    <a16:rowId xmlns:a16="http://schemas.microsoft.com/office/drawing/2014/main" val="140848850"/>
                  </a:ext>
                </a:extLst>
              </a:tr>
              <a:tr h="504749">
                <a:tc>
                  <a:txBody>
                    <a:bodyPr/>
                    <a:lstStyle/>
                    <a:p>
                      <a:pPr algn="ctr"/>
                      <a:r>
                        <a:rPr lang="en-CA" sz="3200" dirty="0"/>
                        <a:t>11</a:t>
                      </a:r>
                    </a:p>
                  </a:txBody>
                  <a:tcPr marL="109728" marR="109728" marT="54864" marB="54864" anchor="ctr"/>
                </a:tc>
                <a:tc>
                  <a:txBody>
                    <a:bodyPr/>
                    <a:lstStyle/>
                    <a:p>
                      <a:pPr algn="ctr"/>
                      <a:r>
                        <a:rPr lang="en-CA" sz="3200" dirty="0"/>
                        <a:t>B’</a:t>
                      </a:r>
                    </a:p>
                  </a:txBody>
                  <a:tcPr marL="109728" marR="109728" marT="54864" marB="54864" anchor="ctr"/>
                </a:tc>
                <a:tc>
                  <a:txBody>
                    <a:bodyPr/>
                    <a:lstStyle/>
                    <a:p>
                      <a:pPr algn="ctr"/>
                      <a:r>
                        <a:rPr lang="en-CA" sz="3200" dirty="0"/>
                        <a:t>1</a:t>
                      </a:r>
                    </a:p>
                  </a:txBody>
                  <a:tcPr marL="109728" marR="109728" marT="54864" marB="54864" anchor="ctr"/>
                </a:tc>
                <a:extLst>
                  <a:ext uri="{0D108BD9-81ED-4DB2-BD59-A6C34878D82A}">
                    <a16:rowId xmlns:a16="http://schemas.microsoft.com/office/drawing/2014/main" val="3640278167"/>
                  </a:ext>
                </a:extLst>
              </a:tr>
              <a:tr h="504749">
                <a:tc>
                  <a:txBody>
                    <a:bodyPr/>
                    <a:lstStyle/>
                    <a:p>
                      <a:pPr algn="ctr"/>
                      <a:r>
                        <a:rPr lang="en-CA" sz="3200" dirty="0"/>
                        <a:t>10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B</a:t>
                      </a:r>
                    </a:p>
                  </a:txBody>
                  <a:tcPr marL="109728" marR="109728" marT="54864" marB="54864" anchor="ctr"/>
                </a:tc>
                <a:extLst>
                  <a:ext uri="{0D108BD9-81ED-4DB2-BD59-A6C34878D82A}">
                    <a16:rowId xmlns:a16="http://schemas.microsoft.com/office/drawing/2014/main" val="2666960108"/>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904194173"/>
              </p:ext>
            </p:extLst>
          </p:nvPr>
        </p:nvGraphicFramePr>
        <p:xfrm>
          <a:off x="10376420" y="3636935"/>
          <a:ext cx="5631519" cy="3474720"/>
        </p:xfrm>
        <a:graphic>
          <a:graphicData uri="http://schemas.openxmlformats.org/drawingml/2006/table">
            <a:tbl>
              <a:tblPr firstRow="1" bandRow="1">
                <a:tableStyleId>{5C22544A-7EE6-4342-B048-85BDC9FD1C3A}</a:tableStyleId>
              </a:tblPr>
              <a:tblGrid>
                <a:gridCol w="1648331">
                  <a:extLst>
                    <a:ext uri="{9D8B030D-6E8A-4147-A177-3AD203B41FA5}">
                      <a16:colId xmlns:a16="http://schemas.microsoft.com/office/drawing/2014/main" val="1278249800"/>
                    </a:ext>
                  </a:extLst>
                </a:gridCol>
                <a:gridCol w="995797">
                  <a:extLst>
                    <a:ext uri="{9D8B030D-6E8A-4147-A177-3AD203B41FA5}">
                      <a16:colId xmlns:a16="http://schemas.microsoft.com/office/drawing/2014/main" val="1452373893"/>
                    </a:ext>
                  </a:extLst>
                </a:gridCol>
                <a:gridCol w="995797">
                  <a:extLst>
                    <a:ext uri="{9D8B030D-6E8A-4147-A177-3AD203B41FA5}">
                      <a16:colId xmlns:a16="http://schemas.microsoft.com/office/drawing/2014/main" val="724531165"/>
                    </a:ext>
                  </a:extLst>
                </a:gridCol>
                <a:gridCol w="995797">
                  <a:extLst>
                    <a:ext uri="{9D8B030D-6E8A-4147-A177-3AD203B41FA5}">
                      <a16:colId xmlns:a16="http://schemas.microsoft.com/office/drawing/2014/main" val="1076094095"/>
                    </a:ext>
                  </a:extLst>
                </a:gridCol>
                <a:gridCol w="995797">
                  <a:extLst>
                    <a:ext uri="{9D8B030D-6E8A-4147-A177-3AD203B41FA5}">
                      <a16:colId xmlns:a16="http://schemas.microsoft.com/office/drawing/2014/main" val="2516731280"/>
                    </a:ext>
                  </a:extLst>
                </a:gridCol>
              </a:tblGrid>
              <a:tr h="1060733">
                <a:tc>
                  <a:txBody>
                    <a:bodyPr/>
                    <a:lstStyle/>
                    <a:p>
                      <a:pPr algn="r"/>
                      <a:r>
                        <a:rPr lang="en-CA" sz="3200" baseline="0" dirty="0"/>
                        <a:t>     </a:t>
                      </a:r>
                      <a:r>
                        <a:rPr lang="en-CA" sz="3200" i="1" dirty="0"/>
                        <a:t>S</a:t>
                      </a:r>
                      <a:r>
                        <a:rPr lang="en-CA" sz="3200" baseline="-25000" dirty="0"/>
                        <a:t>0</a:t>
                      </a:r>
                      <a:r>
                        <a:rPr lang="en-CA" sz="3200" i="1" dirty="0"/>
                        <a:t>C</a:t>
                      </a:r>
                      <a:r>
                        <a:rPr lang="en-CA" sz="3200" i="1" baseline="-25000" dirty="0"/>
                        <a:t>in</a:t>
                      </a:r>
                    </a:p>
                    <a:p>
                      <a:pPr algn="l"/>
                      <a:r>
                        <a:rPr lang="en-CA" sz="3200" i="1" dirty="0"/>
                        <a:t>S</a:t>
                      </a:r>
                      <a:r>
                        <a:rPr lang="en-CA" sz="3200" baseline="-25000" dirty="0"/>
                        <a:t>2</a:t>
                      </a:r>
                      <a:r>
                        <a:rPr lang="en-CA" sz="3200" i="1" dirty="0"/>
                        <a:t>S</a:t>
                      </a:r>
                      <a:r>
                        <a:rPr lang="en-CA" sz="3200" baseline="-25000" dirty="0"/>
                        <a:t>1</a:t>
                      </a:r>
                    </a:p>
                  </a:txBody>
                  <a:tcPr marL="109728" marR="109728" marT="54864" marB="54864">
                    <a:lnTlToBr w="12700" cap="flat" cmpd="sng" algn="ctr">
                      <a:solidFill>
                        <a:schemeClr val="tx1"/>
                      </a:solidFill>
                      <a:prstDash val="solid"/>
                      <a:round/>
                      <a:headEnd type="none" w="med" len="med"/>
                      <a:tailEnd type="none" w="med" len="med"/>
                    </a:lnTlToBr>
                  </a:tcPr>
                </a:tc>
                <a:tc>
                  <a:txBody>
                    <a:bodyPr/>
                    <a:lstStyle/>
                    <a:p>
                      <a:pPr algn="ctr"/>
                      <a:r>
                        <a:rPr lang="en-CA" sz="3200" dirty="0"/>
                        <a:t>00</a:t>
                      </a:r>
                    </a:p>
                  </a:txBody>
                  <a:tcPr marL="109728" marR="109728" marT="54864" marB="54864" anchor="ctr"/>
                </a:tc>
                <a:tc>
                  <a:txBody>
                    <a:bodyPr/>
                    <a:lstStyle/>
                    <a:p>
                      <a:pPr algn="ctr"/>
                      <a:r>
                        <a:rPr lang="en-CA" sz="3200" dirty="0"/>
                        <a:t>01</a:t>
                      </a:r>
                    </a:p>
                  </a:txBody>
                  <a:tcPr marL="109728" marR="109728" marT="54864" marB="54864" anchor="ctr"/>
                </a:tc>
                <a:tc>
                  <a:txBody>
                    <a:bodyPr/>
                    <a:lstStyle/>
                    <a:p>
                      <a:pPr algn="ctr"/>
                      <a:r>
                        <a:rPr lang="en-CA" sz="3200" dirty="0"/>
                        <a:t>11</a:t>
                      </a:r>
                    </a:p>
                  </a:txBody>
                  <a:tcPr marL="109728" marR="109728" marT="54864" marB="54864" anchor="ctr"/>
                </a:tc>
                <a:tc>
                  <a:txBody>
                    <a:bodyPr/>
                    <a:lstStyle/>
                    <a:p>
                      <a:pPr algn="ctr"/>
                      <a:r>
                        <a:rPr lang="en-CA" sz="3200" dirty="0"/>
                        <a:t>10</a:t>
                      </a:r>
                    </a:p>
                  </a:txBody>
                  <a:tcPr marL="109728" marR="109728" marT="54864" marB="54864" anchor="ctr"/>
                </a:tc>
                <a:extLst>
                  <a:ext uri="{0D108BD9-81ED-4DB2-BD59-A6C34878D82A}">
                    <a16:rowId xmlns:a16="http://schemas.microsoft.com/office/drawing/2014/main" val="3451745046"/>
                  </a:ext>
                </a:extLst>
              </a:tr>
              <a:tr h="583999">
                <a:tc>
                  <a:txBody>
                    <a:bodyPr/>
                    <a:lstStyle/>
                    <a:p>
                      <a:pPr algn="ctr"/>
                      <a:r>
                        <a:rPr lang="en-CA" sz="3200" dirty="0"/>
                        <a:t>00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1</a:t>
                      </a:r>
                    </a:p>
                  </a:txBody>
                  <a:tcPr marL="109728" marR="109728" marT="54864" marB="54864" anchor="ctr"/>
                </a:tc>
                <a:tc>
                  <a:txBody>
                    <a:bodyPr/>
                    <a:lstStyle/>
                    <a:p>
                      <a:pPr algn="ctr"/>
                      <a:r>
                        <a:rPr lang="en-CA" sz="3200" dirty="0"/>
                        <a:t>1</a:t>
                      </a:r>
                    </a:p>
                  </a:txBody>
                  <a:tcPr marL="109728" marR="109728" marT="54864" marB="54864" anchor="ctr"/>
                </a:tc>
                <a:tc>
                  <a:txBody>
                    <a:bodyPr/>
                    <a:lstStyle/>
                    <a:p>
                      <a:pPr algn="ctr"/>
                      <a:r>
                        <a:rPr lang="en-CA" sz="3200" dirty="0"/>
                        <a:t>0</a:t>
                      </a:r>
                    </a:p>
                  </a:txBody>
                  <a:tcPr marL="109728" marR="109728" marT="54864" marB="54864" anchor="ctr"/>
                </a:tc>
                <a:extLst>
                  <a:ext uri="{0D108BD9-81ED-4DB2-BD59-A6C34878D82A}">
                    <a16:rowId xmlns:a16="http://schemas.microsoft.com/office/drawing/2014/main" val="1534337162"/>
                  </a:ext>
                </a:extLst>
              </a:tr>
              <a:tr h="583999">
                <a:tc>
                  <a:txBody>
                    <a:bodyPr/>
                    <a:lstStyle/>
                    <a:p>
                      <a:pPr algn="ctr"/>
                      <a:r>
                        <a:rPr lang="en-CA" sz="3200" dirty="0"/>
                        <a:t>01</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1</a:t>
                      </a:r>
                    </a:p>
                  </a:txBody>
                  <a:tcPr marL="109728" marR="109728" marT="54864" marB="54864" anchor="ctr"/>
                </a:tc>
                <a:tc>
                  <a:txBody>
                    <a:bodyPr/>
                    <a:lstStyle/>
                    <a:p>
                      <a:pPr algn="ctr"/>
                      <a:r>
                        <a:rPr lang="en-CA" sz="3200" dirty="0"/>
                        <a:t>1</a:t>
                      </a:r>
                    </a:p>
                  </a:txBody>
                  <a:tcPr marL="109728" marR="109728" marT="54864" marB="54864" anchor="ctr"/>
                </a:tc>
                <a:tc>
                  <a:txBody>
                    <a:bodyPr/>
                    <a:lstStyle/>
                    <a:p>
                      <a:pPr algn="ctr"/>
                      <a:r>
                        <a:rPr lang="en-CA" sz="3200" dirty="0"/>
                        <a:t>0</a:t>
                      </a:r>
                    </a:p>
                  </a:txBody>
                  <a:tcPr marL="109728" marR="109728" marT="54864" marB="54864" anchor="ctr"/>
                </a:tc>
                <a:extLst>
                  <a:ext uri="{0D108BD9-81ED-4DB2-BD59-A6C34878D82A}">
                    <a16:rowId xmlns:a16="http://schemas.microsoft.com/office/drawing/2014/main" val="4269534048"/>
                  </a:ext>
                </a:extLst>
              </a:tr>
              <a:tr h="583999">
                <a:tc>
                  <a:txBody>
                    <a:bodyPr/>
                    <a:lstStyle/>
                    <a:p>
                      <a:pPr algn="ctr"/>
                      <a:r>
                        <a:rPr lang="en-CA" sz="3200" dirty="0"/>
                        <a:t>11</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0</a:t>
                      </a:r>
                    </a:p>
                  </a:txBody>
                  <a:tcPr marL="109728" marR="109728" marT="54864" marB="54864" anchor="ctr"/>
                </a:tc>
                <a:extLst>
                  <a:ext uri="{0D108BD9-81ED-4DB2-BD59-A6C34878D82A}">
                    <a16:rowId xmlns:a16="http://schemas.microsoft.com/office/drawing/2014/main" val="140848850"/>
                  </a:ext>
                </a:extLst>
              </a:tr>
              <a:tr h="583999">
                <a:tc>
                  <a:txBody>
                    <a:bodyPr/>
                    <a:lstStyle/>
                    <a:p>
                      <a:pPr algn="ctr"/>
                      <a:r>
                        <a:rPr lang="en-CA" sz="3200" dirty="0"/>
                        <a:t>10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0</a:t>
                      </a:r>
                    </a:p>
                  </a:txBody>
                  <a:tcPr marL="109728" marR="109728" marT="54864" marB="54864" anchor="ctr"/>
                </a:tc>
                <a:extLst>
                  <a:ext uri="{0D108BD9-81ED-4DB2-BD59-A6C34878D82A}">
                    <a16:rowId xmlns:a16="http://schemas.microsoft.com/office/drawing/2014/main" val="3640278167"/>
                  </a:ext>
                </a:extLst>
              </a:tr>
            </a:tbl>
          </a:graphicData>
        </a:graphic>
      </p:graphicFrame>
      <mc:AlternateContent xmlns:mc="http://schemas.openxmlformats.org/markup-compatibility/2006">
        <mc:Choice xmlns:a14="http://schemas.microsoft.com/office/drawing/2010/main" Requires="a14">
          <p:sp>
            <p:nvSpPr>
              <p:cNvPr id="8" name="TextBox 7"/>
              <p:cNvSpPr txBox="1"/>
              <p:nvPr/>
            </p:nvSpPr>
            <p:spPr>
              <a:xfrm>
                <a:off x="454697" y="7136948"/>
                <a:ext cx="4207690" cy="4619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smtClean="0">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𝐴</m:t>
                          </m:r>
                        </m:e>
                        <m:sub>
                          <m:r>
                            <a:rPr lang="en-US" sz="2400" i="1">
                              <a:solidFill>
                                <a:srgbClr val="FF0000"/>
                              </a:solidFill>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
                        <m:sSubPr>
                          <m:ctrlPr>
                            <a:rPr lang="en-US" sz="2400" i="1" smtClean="0">
                              <a:solidFill>
                                <a:srgbClr val="7030A0"/>
                              </a:solidFill>
                              <a:latin typeface="Cambria Math" panose="02040503050406030204" pitchFamily="18" charset="0"/>
                              <a:ea typeface="Cambria Math" panose="02040503050406030204" pitchFamily="18" charset="0"/>
                            </a:rPr>
                          </m:ctrlPr>
                        </m:sSubPr>
                        <m:e>
                          <m:r>
                            <a:rPr lang="en-US" sz="2400" i="1">
                              <a:solidFill>
                                <a:srgbClr val="7030A0"/>
                              </a:solidFill>
                              <a:latin typeface="Cambria Math" panose="02040503050406030204" pitchFamily="18" charset="0"/>
                              <a:ea typeface="Cambria Math" panose="02040503050406030204" pitchFamily="18" charset="0"/>
                            </a:rPr>
                            <m:t>𝑠</m:t>
                          </m:r>
                        </m:e>
                        <m:sub>
                          <m:r>
                            <a:rPr lang="en-US" sz="2400" i="1">
                              <a:solidFill>
                                <a:srgbClr val="7030A0"/>
                              </a:solidFill>
                              <a:latin typeface="Cambria Math" panose="02040503050406030204" pitchFamily="18" charset="0"/>
                              <a:ea typeface="Cambria Math" panose="02040503050406030204" pitchFamily="18" charset="0"/>
                            </a:rPr>
                            <m:t>2</m:t>
                          </m:r>
                        </m:sub>
                      </m:sSub>
                      <m:sSubSup>
                        <m:sSubSupPr>
                          <m:ctrlPr>
                            <a:rPr lang="en-US" sz="2400" i="1">
                              <a:solidFill>
                                <a:srgbClr val="7030A0"/>
                              </a:solidFill>
                              <a:latin typeface="Cambria Math" panose="02040503050406030204" pitchFamily="18" charset="0"/>
                              <a:ea typeface="Cambria Math" panose="02040503050406030204" pitchFamily="18" charset="0"/>
                            </a:rPr>
                          </m:ctrlPr>
                        </m:sSubSupPr>
                        <m:e>
                          <m:r>
                            <a:rPr lang="en-US" sz="2400" i="1">
                              <a:solidFill>
                                <a:srgbClr val="7030A0"/>
                              </a:solidFill>
                              <a:latin typeface="Cambria Math" panose="02040503050406030204" pitchFamily="18" charset="0"/>
                              <a:ea typeface="Cambria Math" panose="02040503050406030204" pitchFamily="18" charset="0"/>
                            </a:rPr>
                            <m:t>𝑠</m:t>
                          </m:r>
                        </m:e>
                        <m:sub>
                          <m:r>
                            <a:rPr lang="en-US" sz="2400" i="1">
                              <a:solidFill>
                                <a:srgbClr val="7030A0"/>
                              </a:solidFill>
                              <a:latin typeface="Cambria Math" panose="02040503050406030204" pitchFamily="18" charset="0"/>
                              <a:ea typeface="Cambria Math" panose="02040503050406030204" pitchFamily="18" charset="0"/>
                            </a:rPr>
                            <m:t>1</m:t>
                          </m:r>
                        </m:sub>
                        <m:sup>
                          <m:r>
                            <a:rPr lang="en-US" sz="2400" i="1">
                              <a:solidFill>
                                <a:srgbClr val="7030A0"/>
                              </a:solidFill>
                              <a:latin typeface="Cambria Math" panose="02040503050406030204" pitchFamily="18" charset="0"/>
                              <a:ea typeface="Cambria Math" panose="02040503050406030204" pitchFamily="18" charset="0"/>
                            </a:rPr>
                            <m:t>′</m:t>
                          </m:r>
                        </m:sup>
                      </m:sSubSup>
                      <m:sSubSup>
                        <m:sSubSupPr>
                          <m:ctrlPr>
                            <a:rPr lang="en-US" sz="2400" i="1">
                              <a:solidFill>
                                <a:srgbClr val="7030A0"/>
                              </a:solidFill>
                              <a:latin typeface="Cambria Math" panose="02040503050406030204" pitchFamily="18" charset="0"/>
                              <a:ea typeface="Cambria Math" panose="02040503050406030204" pitchFamily="18" charset="0"/>
                            </a:rPr>
                          </m:ctrlPr>
                        </m:sSubSupPr>
                        <m:e>
                          <m:r>
                            <a:rPr lang="en-US" sz="2400" i="1">
                              <a:solidFill>
                                <a:srgbClr val="7030A0"/>
                              </a:solidFill>
                              <a:latin typeface="Cambria Math" panose="02040503050406030204" pitchFamily="18" charset="0"/>
                              <a:ea typeface="Cambria Math" panose="02040503050406030204" pitchFamily="18" charset="0"/>
                            </a:rPr>
                            <m:t>𝑠</m:t>
                          </m:r>
                        </m:e>
                        <m:sub>
                          <m:r>
                            <a:rPr lang="en-US" sz="2400" i="1">
                              <a:solidFill>
                                <a:srgbClr val="7030A0"/>
                              </a:solidFill>
                              <a:latin typeface="Cambria Math" panose="02040503050406030204" pitchFamily="18" charset="0"/>
                              <a:ea typeface="Cambria Math" panose="02040503050406030204" pitchFamily="18" charset="0"/>
                            </a:rPr>
                            <m:t>0</m:t>
                          </m:r>
                        </m:sub>
                        <m:sup>
                          <m:r>
                            <a:rPr lang="en-US" sz="2400" i="1">
                              <a:solidFill>
                                <a:srgbClr val="7030A0"/>
                              </a:solidFill>
                              <a:latin typeface="Cambria Math" panose="02040503050406030204" pitchFamily="18" charset="0"/>
                              <a:ea typeface="Cambria Math" panose="02040503050406030204" pitchFamily="18" charset="0"/>
                            </a:rPr>
                            <m:t>′</m:t>
                          </m:r>
                        </m:sup>
                      </m:sSubSup>
                      <m:sSub>
                        <m:sSubPr>
                          <m:ctrlPr>
                            <a:rPr lang="en-US" sz="2400" i="1">
                              <a:solidFill>
                                <a:srgbClr val="7030A0"/>
                              </a:solidFill>
                              <a:latin typeface="Cambria Math" panose="02040503050406030204" pitchFamily="18" charset="0"/>
                              <a:ea typeface="Cambria Math" panose="02040503050406030204" pitchFamily="18" charset="0"/>
                            </a:rPr>
                          </m:ctrlPr>
                        </m:sSubPr>
                        <m:e>
                          <m:r>
                            <a:rPr lang="en-US" sz="2400" i="1">
                              <a:solidFill>
                                <a:srgbClr val="7030A0"/>
                              </a:solidFill>
                              <a:latin typeface="Cambria Math" panose="02040503050406030204" pitchFamily="18" charset="0"/>
                              <a:ea typeface="Cambria Math" panose="02040503050406030204" pitchFamily="18" charset="0"/>
                            </a:rPr>
                            <m:t>𝐵</m:t>
                          </m:r>
                        </m:e>
                        <m:sub>
                          <m:r>
                            <a:rPr lang="en-US" sz="2400" i="1">
                              <a:solidFill>
                                <a:srgbClr val="7030A0"/>
                              </a:solidFill>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Sup>
                        <m:sSubSupPr>
                          <m:ctrlPr>
                            <a:rPr lang="en-US" sz="2400" i="1" smtClean="0">
                              <a:solidFill>
                                <a:srgbClr val="00B050"/>
                              </a:solidFill>
                              <a:latin typeface="Cambria Math" panose="02040503050406030204" pitchFamily="18" charset="0"/>
                              <a:ea typeface="Cambria Math" panose="02040503050406030204" pitchFamily="18" charset="0"/>
                            </a:rPr>
                          </m:ctrlPr>
                        </m:sSubSupPr>
                        <m:e>
                          <m:sSub>
                            <m:sSubPr>
                              <m:ctrlPr>
                                <a:rPr lang="en-US" sz="2400" i="1">
                                  <a:solidFill>
                                    <a:srgbClr val="00B050"/>
                                  </a:solidFill>
                                  <a:latin typeface="Cambria Math" panose="02040503050406030204" pitchFamily="18" charset="0"/>
                                  <a:ea typeface="Cambria Math" panose="02040503050406030204" pitchFamily="18" charset="0"/>
                                </a:rPr>
                              </m:ctrlPr>
                            </m:sSubPr>
                            <m:e>
                              <m:r>
                                <a:rPr lang="en-US" sz="2400" i="1">
                                  <a:solidFill>
                                    <a:srgbClr val="00B050"/>
                                  </a:solidFill>
                                  <a:latin typeface="Cambria Math" panose="02040503050406030204" pitchFamily="18" charset="0"/>
                                  <a:ea typeface="Cambria Math" panose="02040503050406030204" pitchFamily="18" charset="0"/>
                                </a:rPr>
                                <m:t>𝑠</m:t>
                              </m:r>
                            </m:e>
                            <m:sub>
                              <m:r>
                                <a:rPr lang="en-US" sz="2400" i="1">
                                  <a:solidFill>
                                    <a:srgbClr val="00B050"/>
                                  </a:solidFill>
                                  <a:latin typeface="Cambria Math" panose="02040503050406030204" pitchFamily="18" charset="0"/>
                                  <a:ea typeface="Cambria Math" panose="02040503050406030204" pitchFamily="18" charset="0"/>
                                </a:rPr>
                                <m:t>2</m:t>
                              </m:r>
                            </m:sub>
                          </m:sSub>
                          <m:sSub>
                            <m:sSubPr>
                              <m:ctrlPr>
                                <a:rPr lang="en-US" sz="2400" i="1">
                                  <a:solidFill>
                                    <a:srgbClr val="00B050"/>
                                  </a:solidFill>
                                  <a:latin typeface="Cambria Math" panose="02040503050406030204" pitchFamily="18" charset="0"/>
                                  <a:ea typeface="Cambria Math" panose="02040503050406030204" pitchFamily="18" charset="0"/>
                                </a:rPr>
                              </m:ctrlPr>
                            </m:sSubPr>
                            <m:e>
                              <m:r>
                                <a:rPr lang="en-US" sz="2400" i="1">
                                  <a:solidFill>
                                    <a:srgbClr val="00B050"/>
                                  </a:solidFill>
                                  <a:latin typeface="Cambria Math" panose="02040503050406030204" pitchFamily="18" charset="0"/>
                                  <a:ea typeface="Cambria Math" panose="02040503050406030204" pitchFamily="18" charset="0"/>
                                </a:rPr>
                                <m:t>𝑠</m:t>
                              </m:r>
                            </m:e>
                            <m:sub>
                              <m:r>
                                <a:rPr lang="en-US" sz="2400" i="1">
                                  <a:solidFill>
                                    <a:srgbClr val="00B050"/>
                                  </a:solidFill>
                                  <a:latin typeface="Cambria Math" panose="02040503050406030204" pitchFamily="18" charset="0"/>
                                  <a:ea typeface="Cambria Math" panose="02040503050406030204" pitchFamily="18" charset="0"/>
                                </a:rPr>
                                <m:t>1</m:t>
                              </m:r>
                            </m:sub>
                          </m:sSub>
                          <m:sSubSup>
                            <m:sSubSupPr>
                              <m:ctrlPr>
                                <a:rPr lang="en-US" sz="2400" i="1">
                                  <a:solidFill>
                                    <a:srgbClr val="00B050"/>
                                  </a:solidFill>
                                  <a:latin typeface="Cambria Math" panose="02040503050406030204" pitchFamily="18" charset="0"/>
                                  <a:ea typeface="Cambria Math" panose="02040503050406030204" pitchFamily="18" charset="0"/>
                                </a:rPr>
                              </m:ctrlPr>
                            </m:sSubSupPr>
                            <m:e>
                              <m:r>
                                <a:rPr lang="en-US" sz="2400" i="1">
                                  <a:solidFill>
                                    <a:srgbClr val="00B050"/>
                                  </a:solidFill>
                                  <a:latin typeface="Cambria Math" panose="02040503050406030204" pitchFamily="18" charset="0"/>
                                  <a:ea typeface="Cambria Math" panose="02040503050406030204" pitchFamily="18" charset="0"/>
                                </a:rPr>
                                <m:t>𝑠</m:t>
                              </m:r>
                            </m:e>
                            <m:sub>
                              <m:r>
                                <a:rPr lang="en-US" sz="2400" i="1">
                                  <a:solidFill>
                                    <a:srgbClr val="00B050"/>
                                  </a:solidFill>
                                  <a:latin typeface="Cambria Math" panose="02040503050406030204" pitchFamily="18" charset="0"/>
                                  <a:ea typeface="Cambria Math" panose="02040503050406030204" pitchFamily="18" charset="0"/>
                                </a:rPr>
                                <m:t>0</m:t>
                              </m:r>
                            </m:sub>
                            <m:sup>
                              <m:r>
                                <a:rPr lang="en-US" sz="2400" i="1">
                                  <a:solidFill>
                                    <a:srgbClr val="00B050"/>
                                  </a:solidFill>
                                  <a:latin typeface="Cambria Math" panose="02040503050406030204" pitchFamily="18" charset="0"/>
                                  <a:ea typeface="Cambria Math" panose="02040503050406030204" pitchFamily="18" charset="0"/>
                                </a:rPr>
                                <m:t>′</m:t>
                              </m:r>
                            </m:sup>
                          </m:sSubSup>
                          <m:r>
                            <a:rPr lang="en-US" sz="2400" i="1">
                              <a:solidFill>
                                <a:srgbClr val="00B050"/>
                              </a:solidFill>
                              <a:latin typeface="Cambria Math" panose="02040503050406030204" pitchFamily="18" charset="0"/>
                              <a:ea typeface="Cambria Math" panose="02040503050406030204" pitchFamily="18" charset="0"/>
                            </a:rPr>
                            <m:t>𝐵</m:t>
                          </m:r>
                        </m:e>
                        <m:sub>
                          <m:r>
                            <a:rPr lang="en-US" sz="2400" i="1">
                              <a:solidFill>
                                <a:srgbClr val="00B050"/>
                              </a:solidFill>
                              <a:latin typeface="Cambria Math" panose="02040503050406030204" pitchFamily="18" charset="0"/>
                              <a:ea typeface="Cambria Math" panose="02040503050406030204" pitchFamily="18" charset="0"/>
                            </a:rPr>
                            <m:t>𝑖</m:t>
                          </m:r>
                        </m:sub>
                        <m:sup>
                          <m:r>
                            <a:rPr lang="en-US" sz="2400" i="1">
                              <a:solidFill>
                                <a:srgbClr val="00B050"/>
                              </a:solidFill>
                              <a:latin typeface="Cambria Math" panose="02040503050406030204" pitchFamily="18" charset="0"/>
                              <a:ea typeface="Cambria Math" panose="02040503050406030204" pitchFamily="18" charset="0"/>
                            </a:rPr>
                            <m:t>′</m:t>
                          </m:r>
                        </m:sup>
                      </m:sSubSup>
                    </m:oMath>
                  </m:oMathPara>
                </a14:m>
                <a:endParaRPr lang="en-CA" sz="2400" b="1" dirty="0">
                  <a:solidFill>
                    <a:srgbClr val="0070C0"/>
                  </a:solidFill>
                </a:endParaRPr>
              </a:p>
            </p:txBody>
          </p:sp>
        </mc:Choice>
        <mc:Fallback>
          <p:sp>
            <p:nvSpPr>
              <p:cNvPr id="8" name="TextBox 7"/>
              <p:cNvSpPr txBox="1">
                <a:spLocks noRot="1" noChangeAspect="1" noMove="1" noResize="1" noEditPoints="1" noAdjustHandles="1" noChangeArrowheads="1" noChangeShapeType="1" noTextEdit="1"/>
              </p:cNvSpPr>
              <p:nvPr/>
            </p:nvSpPr>
            <p:spPr>
              <a:xfrm>
                <a:off x="454697" y="7136948"/>
                <a:ext cx="4207690" cy="461921"/>
              </a:xfrm>
              <a:prstGeom prst="rect">
                <a:avLst/>
              </a:prstGeom>
              <a:blipFill>
                <a:blip r:embed="rId2"/>
                <a:stretch>
                  <a:fillRect b="-394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6549392" y="7147555"/>
                <a:ext cx="2393347" cy="4619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smtClean="0">
                              <a:solidFill>
                                <a:srgbClr val="00B050"/>
                              </a:solidFill>
                              <a:latin typeface="Cambria Math" panose="02040503050406030204" pitchFamily="18" charset="0"/>
                              <a:ea typeface="Cambria Math" panose="02040503050406030204" pitchFamily="18" charset="0"/>
                            </a:rPr>
                          </m:ctrlPr>
                        </m:sSubPr>
                        <m:e>
                          <m:r>
                            <a:rPr lang="en-US" sz="2400" i="1">
                              <a:solidFill>
                                <a:srgbClr val="00B050"/>
                              </a:solidFill>
                              <a:latin typeface="Cambria Math" panose="02040503050406030204" pitchFamily="18" charset="0"/>
                              <a:ea typeface="Cambria Math" panose="02040503050406030204" pitchFamily="18" charset="0"/>
                            </a:rPr>
                            <m:t>𝑠</m:t>
                          </m:r>
                        </m:e>
                        <m:sub>
                          <m:r>
                            <a:rPr lang="en-US" sz="2400" i="1">
                              <a:solidFill>
                                <a:srgbClr val="00B050"/>
                              </a:solidFill>
                              <a:latin typeface="Cambria Math" panose="02040503050406030204" pitchFamily="18" charset="0"/>
                              <a:ea typeface="Cambria Math" panose="02040503050406030204" pitchFamily="18" charset="0"/>
                            </a:rPr>
                            <m:t>0</m:t>
                          </m:r>
                        </m:sub>
                      </m:sSub>
                      <m:sSub>
                        <m:sSubPr>
                          <m:ctrlPr>
                            <a:rPr lang="en-US" sz="2400" i="1">
                              <a:solidFill>
                                <a:srgbClr val="00B050"/>
                              </a:solidFill>
                              <a:latin typeface="Cambria Math" panose="02040503050406030204" pitchFamily="18" charset="0"/>
                              <a:ea typeface="Cambria Math" panose="02040503050406030204" pitchFamily="18" charset="0"/>
                            </a:rPr>
                          </m:ctrlPr>
                        </m:sSubPr>
                        <m:e>
                          <m:r>
                            <a:rPr lang="en-US" sz="2400" i="1">
                              <a:solidFill>
                                <a:srgbClr val="00B050"/>
                              </a:solidFill>
                              <a:latin typeface="Cambria Math" panose="02040503050406030204" pitchFamily="18" charset="0"/>
                              <a:ea typeface="Cambria Math" panose="02040503050406030204" pitchFamily="18" charset="0"/>
                            </a:rPr>
                            <m:t>𝐵</m:t>
                          </m:r>
                        </m:e>
                        <m:sub>
                          <m:r>
                            <a:rPr lang="en-US" sz="2400" i="1">
                              <a:solidFill>
                                <a:srgbClr val="00B050"/>
                              </a:solidFill>
                              <a:latin typeface="Cambria Math" panose="02040503050406030204" pitchFamily="18" charset="0"/>
                              <a:ea typeface="Cambria Math" panose="02040503050406030204" pitchFamily="18" charset="0"/>
                            </a:rPr>
                            <m:t>𝑖</m:t>
                          </m:r>
                        </m:sub>
                      </m:sSub>
                      <m:r>
                        <a:rPr lang="en-US" sz="2400" i="1">
                          <a:latin typeface="Cambria Math" panose="02040503050406030204" pitchFamily="18" charset="0"/>
                          <a:ea typeface="Cambria Math" panose="02040503050406030204" pitchFamily="18" charset="0"/>
                        </a:rPr>
                        <m:t>+</m:t>
                      </m:r>
                      <m:sSubSup>
                        <m:sSubSupPr>
                          <m:ctrlPr>
                            <a:rPr lang="en-US" sz="2400" i="1" smtClean="0">
                              <a:solidFill>
                                <a:srgbClr val="FF0000"/>
                              </a:solidFill>
                              <a:latin typeface="Cambria Math" panose="02040503050406030204" pitchFamily="18" charset="0"/>
                              <a:ea typeface="Cambria Math" panose="02040503050406030204" pitchFamily="18" charset="0"/>
                            </a:rPr>
                          </m:ctrlPr>
                        </m:sSubSupPr>
                        <m:e>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𝑠</m:t>
                              </m:r>
                            </m:e>
                            <m:sub>
                              <m:r>
                                <a:rPr lang="en-US" sz="2400" i="1">
                                  <a:solidFill>
                                    <a:srgbClr val="FF0000"/>
                                  </a:solidFill>
                                  <a:latin typeface="Cambria Math" panose="02040503050406030204" pitchFamily="18" charset="0"/>
                                  <a:ea typeface="Cambria Math" panose="02040503050406030204" pitchFamily="18" charset="0"/>
                                </a:rPr>
                                <m:t>1</m:t>
                              </m:r>
                            </m:sub>
                          </m:sSub>
                          <m:r>
                            <a:rPr lang="en-US" sz="2400" i="1">
                              <a:solidFill>
                                <a:srgbClr val="FF0000"/>
                              </a:solidFill>
                              <a:latin typeface="Cambria Math" panose="02040503050406030204" pitchFamily="18" charset="0"/>
                              <a:ea typeface="Cambria Math" panose="02040503050406030204" pitchFamily="18" charset="0"/>
                            </a:rPr>
                            <m:t>𝐵</m:t>
                          </m:r>
                        </m:e>
                        <m:sub>
                          <m:r>
                            <a:rPr lang="en-US" sz="2400" i="1">
                              <a:solidFill>
                                <a:srgbClr val="FF0000"/>
                              </a:solidFill>
                              <a:latin typeface="Cambria Math" panose="02040503050406030204" pitchFamily="18" charset="0"/>
                              <a:ea typeface="Cambria Math" panose="02040503050406030204" pitchFamily="18" charset="0"/>
                            </a:rPr>
                            <m:t>𝑖</m:t>
                          </m:r>
                        </m:sub>
                        <m:sup>
                          <m:r>
                            <a:rPr lang="en-US" sz="2400" i="1">
                              <a:solidFill>
                                <a:srgbClr val="FF0000"/>
                              </a:solidFill>
                              <a:latin typeface="Cambria Math" panose="02040503050406030204" pitchFamily="18" charset="0"/>
                              <a:ea typeface="Cambria Math" panose="02040503050406030204" pitchFamily="18" charset="0"/>
                            </a:rPr>
                            <m:t>′</m:t>
                          </m:r>
                        </m:sup>
                      </m:sSubSup>
                    </m:oMath>
                  </m:oMathPara>
                </a14:m>
                <a:endParaRPr lang="en-CA" sz="2400" b="1" dirty="0">
                  <a:solidFill>
                    <a:srgbClr val="FF0000"/>
                  </a:solidFill>
                </a:endParaRPr>
              </a:p>
            </p:txBody>
          </p:sp>
        </mc:Choice>
        <mc:Fallback>
          <p:sp>
            <p:nvSpPr>
              <p:cNvPr id="9" name="TextBox 8"/>
              <p:cNvSpPr txBox="1">
                <a:spLocks noRot="1" noChangeAspect="1" noMove="1" noResize="1" noEditPoints="1" noAdjustHandles="1" noChangeArrowheads="1" noChangeShapeType="1" noTextEdit="1"/>
              </p:cNvSpPr>
              <p:nvPr/>
            </p:nvSpPr>
            <p:spPr>
              <a:xfrm>
                <a:off x="6549392" y="7147555"/>
                <a:ext cx="2393347" cy="461921"/>
              </a:xfrm>
              <a:prstGeom prst="rect">
                <a:avLst/>
              </a:prstGeom>
              <a:blipFill>
                <a:blip r:embed="rId3"/>
                <a:stretch>
                  <a:fillRect b="-526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12267470" y="7127003"/>
                <a:ext cx="161159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𝑍</m:t>
                          </m:r>
                        </m:e>
                        <m:sub>
                          <m:r>
                            <a:rPr lang="en-US" sz="2400" i="1">
                              <a:solidFill>
                                <a:srgbClr val="FF0000"/>
                              </a:solidFill>
                              <a:latin typeface="Cambria Math" panose="02040503050406030204" pitchFamily="18" charset="0"/>
                            </a:rPr>
                            <m:t>𝑖</m:t>
                          </m:r>
                        </m:sub>
                      </m:sSub>
                      <m:r>
                        <a:rPr lang="en-US" sz="2400" i="1">
                          <a:solidFill>
                            <a:srgbClr val="FF0000"/>
                          </a:solidFill>
                          <a:latin typeface="Cambria Math" panose="02040503050406030204" pitchFamily="18" charset="0"/>
                        </a:rPr>
                        <m:t>=</m:t>
                      </m:r>
                      <m:sSubSup>
                        <m:sSubSupPr>
                          <m:ctrlPr>
                            <a:rPr lang="en-US" sz="2400" i="1">
                              <a:solidFill>
                                <a:srgbClr val="FF0000"/>
                              </a:solidFill>
                              <a:latin typeface="Cambria Math" panose="02040503050406030204" pitchFamily="18" charset="0"/>
                              <a:ea typeface="Cambria Math" panose="02040503050406030204" pitchFamily="18" charset="0"/>
                            </a:rPr>
                          </m:ctrlPr>
                        </m:sSubSupPr>
                        <m:e>
                          <m:r>
                            <a:rPr lang="en-US" sz="2400" i="1">
                              <a:solidFill>
                                <a:srgbClr val="FF0000"/>
                              </a:solidFill>
                              <a:latin typeface="Cambria Math" panose="02040503050406030204" pitchFamily="18" charset="0"/>
                              <a:ea typeface="Cambria Math" panose="02040503050406030204" pitchFamily="18" charset="0"/>
                            </a:rPr>
                            <m:t>𝑠</m:t>
                          </m:r>
                        </m:e>
                        <m:sub>
                          <m:r>
                            <a:rPr lang="en-US" sz="2400" i="1">
                              <a:solidFill>
                                <a:srgbClr val="FF0000"/>
                              </a:solidFill>
                              <a:latin typeface="Cambria Math" panose="02040503050406030204" pitchFamily="18" charset="0"/>
                              <a:ea typeface="Cambria Math" panose="02040503050406030204" pitchFamily="18" charset="0"/>
                            </a:rPr>
                            <m:t>2</m:t>
                          </m:r>
                        </m:sub>
                        <m:sup>
                          <m:r>
                            <a:rPr lang="en-US" sz="2400" i="1">
                              <a:solidFill>
                                <a:srgbClr val="FF0000"/>
                              </a:solidFill>
                              <a:latin typeface="Cambria Math" panose="02040503050406030204" pitchFamily="18" charset="0"/>
                              <a:ea typeface="Cambria Math" panose="02040503050406030204" pitchFamily="18" charset="0"/>
                            </a:rPr>
                            <m:t>′</m:t>
                          </m:r>
                        </m:sup>
                      </m:sSubSup>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𝐶</m:t>
                          </m:r>
                        </m:e>
                        <m:sub>
                          <m:r>
                            <a:rPr lang="en-US" sz="2400" i="1">
                              <a:solidFill>
                                <a:srgbClr val="FF0000"/>
                              </a:solidFill>
                              <a:latin typeface="Cambria Math" panose="02040503050406030204" pitchFamily="18" charset="0"/>
                              <a:ea typeface="Cambria Math" panose="02040503050406030204" pitchFamily="18" charset="0"/>
                            </a:rPr>
                            <m:t>𝑖</m:t>
                          </m:r>
                          <m:r>
                            <a:rPr lang="en-US" sz="2400" b="0" i="1" smtClean="0">
                              <a:solidFill>
                                <a:srgbClr val="FF0000"/>
                              </a:solidFill>
                              <a:latin typeface="Cambria Math" panose="02040503050406030204" pitchFamily="18" charset="0"/>
                              <a:ea typeface="Cambria Math" panose="02040503050406030204" pitchFamily="18" charset="0"/>
                            </a:rPr>
                            <m:t>𝑛</m:t>
                          </m:r>
                        </m:sub>
                      </m:sSub>
                    </m:oMath>
                  </m:oMathPara>
                </a14:m>
                <a:endParaRPr lang="en-CA" sz="2400" b="1" dirty="0">
                  <a:solidFill>
                    <a:srgbClr val="FF0000"/>
                  </a:solidFill>
                </a:endParaRPr>
              </a:p>
            </p:txBody>
          </p:sp>
        </mc:Choice>
        <mc:Fallback>
          <p:sp>
            <p:nvSpPr>
              <p:cNvPr id="10" name="TextBox 9"/>
              <p:cNvSpPr txBox="1">
                <a:spLocks noRot="1" noChangeAspect="1" noMove="1" noResize="1" noEditPoints="1" noAdjustHandles="1" noChangeArrowheads="1" noChangeShapeType="1" noTextEdit="1"/>
              </p:cNvSpPr>
              <p:nvPr/>
            </p:nvSpPr>
            <p:spPr>
              <a:xfrm>
                <a:off x="12267470" y="7127003"/>
                <a:ext cx="1611595" cy="461665"/>
              </a:xfrm>
              <a:prstGeom prst="rect">
                <a:avLst/>
              </a:prstGeom>
              <a:blipFill>
                <a:blip r:embed="rId4"/>
                <a:stretch>
                  <a:fillRect b="-2632"/>
                </a:stretch>
              </a:blipFill>
            </p:spPr>
            <p:txBody>
              <a:bodyPr/>
              <a:lstStyle/>
              <a:p>
                <a:r>
                  <a:rPr lang="en-US">
                    <a:noFill/>
                  </a:rPr>
                  <a:t> </a:t>
                </a:r>
              </a:p>
            </p:txBody>
          </p:sp>
        </mc:Fallback>
      </mc:AlternateContent>
      <p:sp>
        <p:nvSpPr>
          <p:cNvPr id="17" name="Rectangle 16"/>
          <p:cNvSpPr/>
          <p:nvPr/>
        </p:nvSpPr>
        <p:spPr>
          <a:xfrm>
            <a:off x="7408535" y="5394603"/>
            <a:ext cx="2386236" cy="1076488"/>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000"/>
          </a:p>
        </p:txBody>
      </p:sp>
      <p:sp>
        <p:nvSpPr>
          <p:cNvPr id="18" name="Rectangle 17"/>
          <p:cNvSpPr/>
          <p:nvPr/>
        </p:nvSpPr>
        <p:spPr>
          <a:xfrm>
            <a:off x="8903647" y="4797896"/>
            <a:ext cx="700169" cy="229634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000"/>
          </a:p>
        </p:txBody>
      </p:sp>
      <p:sp>
        <p:nvSpPr>
          <p:cNvPr id="19" name="Rectangle 18"/>
          <p:cNvSpPr/>
          <p:nvPr/>
        </p:nvSpPr>
        <p:spPr>
          <a:xfrm>
            <a:off x="13346685" y="4782815"/>
            <a:ext cx="1497472" cy="1104970"/>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000"/>
          </a:p>
        </p:txBody>
      </p:sp>
      <p:sp>
        <p:nvSpPr>
          <p:cNvPr id="20" name="Rectangle 19"/>
          <p:cNvSpPr/>
          <p:nvPr/>
        </p:nvSpPr>
        <p:spPr>
          <a:xfrm>
            <a:off x="2257847" y="4578067"/>
            <a:ext cx="2326735" cy="2314315"/>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Rectangle 20"/>
          <p:cNvSpPr/>
          <p:nvPr/>
        </p:nvSpPr>
        <p:spPr>
          <a:xfrm>
            <a:off x="2261033" y="5757054"/>
            <a:ext cx="1082040" cy="52880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21"/>
          <p:cNvSpPr/>
          <p:nvPr/>
        </p:nvSpPr>
        <p:spPr>
          <a:xfrm>
            <a:off x="2257847" y="6386446"/>
            <a:ext cx="1085226" cy="505936"/>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Date Placeholder 2"/>
          <p:cNvSpPr>
            <a:spLocks noGrp="1"/>
          </p:cNvSpPr>
          <p:nvPr>
            <p:ph type="dt" sz="half" idx="10"/>
          </p:nvPr>
        </p:nvSpPr>
        <p:spPr/>
        <p:txBody>
          <a:bodyPr/>
          <a:lstStyle/>
          <a:p>
            <a:fld id="{334E97DD-D169-41D3-9F0E-B3ABDB027331}" type="datetime3">
              <a:rPr lang="en-US" smtClean="0"/>
              <a:t>18 July 2024</a:t>
            </a:fld>
            <a:endParaRPr lang="en-US"/>
          </a:p>
        </p:txBody>
      </p:sp>
      <p:sp>
        <p:nvSpPr>
          <p:cNvPr id="4" name="Footer Placeholder 3"/>
          <p:cNvSpPr>
            <a:spLocks noGrp="1"/>
          </p:cNvSpPr>
          <p:nvPr>
            <p:ph type="ftr" sz="quarter" idx="11"/>
          </p:nvPr>
        </p:nvSpPr>
        <p:spPr/>
        <p:txBody>
          <a:bodyPr/>
          <a:lstStyle/>
          <a:p>
            <a:r>
              <a:rPr lang="en-US" sz="1400" dirty="0"/>
              <a:t>Course Teacher: Dr. Md. Rukonuzzaman</a:t>
            </a:r>
          </a:p>
        </p:txBody>
      </p:sp>
      <p:sp>
        <p:nvSpPr>
          <p:cNvPr id="11" name="Slide Number Placeholder 10"/>
          <p:cNvSpPr>
            <a:spLocks noGrp="1"/>
          </p:cNvSpPr>
          <p:nvPr>
            <p:ph type="sldNum" sz="quarter" idx="12"/>
          </p:nvPr>
        </p:nvSpPr>
        <p:spPr/>
        <p:txBody>
          <a:bodyPr/>
          <a:lstStyle/>
          <a:p>
            <a:fld id="{48F63A3B-78C7-47BE-AE5E-E10140E04643}" type="slidenum">
              <a:rPr lang="en-US" sz="1400" smtClean="0"/>
              <a:pPr/>
              <a:t>35</a:t>
            </a:fld>
            <a:endParaRPr lang="en-US" sz="1400" dirty="0"/>
          </a:p>
        </p:txBody>
      </p:sp>
      <p:sp>
        <p:nvSpPr>
          <p:cNvPr id="23" name="TextBox 22"/>
          <p:cNvSpPr txBox="1"/>
          <p:nvPr/>
        </p:nvSpPr>
        <p:spPr>
          <a:xfrm>
            <a:off x="704904" y="1296907"/>
            <a:ext cx="4384080" cy="1631216"/>
          </a:xfrm>
          <a:prstGeom prst="rect">
            <a:avLst/>
          </a:prstGeom>
          <a:noFill/>
        </p:spPr>
        <p:txBody>
          <a:bodyPr wrap="square" rtlCol="0">
            <a:spAutoFit/>
          </a:bodyPr>
          <a:lstStyle/>
          <a:p>
            <a:r>
              <a:rPr lang="en-US" sz="2000" b="1" dirty="0"/>
              <a:t>For an arithmetic circuit, we don’t need to change </a:t>
            </a:r>
            <a:r>
              <a:rPr lang="en-US" sz="2000" b="1" i="1" dirty="0"/>
              <a:t>A</a:t>
            </a:r>
            <a:r>
              <a:rPr lang="en-US" sz="2000" b="1" dirty="0"/>
              <a:t> for </a:t>
            </a:r>
            <a:r>
              <a:rPr lang="en-US" sz="2000" b="1" i="1" dirty="0"/>
              <a:t>X</a:t>
            </a:r>
            <a:r>
              <a:rPr lang="en-US" sz="2000" b="1" dirty="0"/>
              <a:t>, but for a logic circuit, we need to change </a:t>
            </a:r>
            <a:r>
              <a:rPr lang="en-US" sz="2000" b="1" i="1" dirty="0"/>
              <a:t>A</a:t>
            </a:r>
            <a:r>
              <a:rPr lang="en-US" sz="2000" b="1" dirty="0"/>
              <a:t> and we don’t need </a:t>
            </a:r>
            <a:r>
              <a:rPr lang="en-US" sz="2000" b="1" i="1" dirty="0" err="1"/>
              <a:t>C</a:t>
            </a:r>
            <a:r>
              <a:rPr lang="en-US" sz="2000" b="1" i="1" baseline="-25000" dirty="0" err="1"/>
              <a:t>in</a:t>
            </a:r>
            <a:r>
              <a:rPr lang="en-US" sz="2000" b="1" dirty="0"/>
              <a:t>. So, we need to use only three variables (</a:t>
            </a:r>
            <a:r>
              <a:rPr lang="en-US" sz="2000" b="1" i="1" dirty="0"/>
              <a:t>s</a:t>
            </a:r>
            <a:r>
              <a:rPr lang="en-US" sz="2000" b="1" baseline="-25000" dirty="0"/>
              <a:t>2</a:t>
            </a:r>
            <a:r>
              <a:rPr lang="en-US" sz="2000" b="1" dirty="0"/>
              <a:t>, </a:t>
            </a:r>
            <a:r>
              <a:rPr lang="en-US" sz="2000" b="1" i="1" dirty="0"/>
              <a:t>s</a:t>
            </a:r>
            <a:r>
              <a:rPr lang="en-US" sz="2000" b="1" baseline="-25000" dirty="0"/>
              <a:t>1</a:t>
            </a:r>
            <a:r>
              <a:rPr lang="en-US" sz="2000" b="1" dirty="0"/>
              <a:t>, and </a:t>
            </a:r>
            <a:r>
              <a:rPr lang="en-US" sz="2000" b="1" i="1" dirty="0"/>
              <a:t>s</a:t>
            </a:r>
            <a:r>
              <a:rPr lang="en-US" sz="2000" b="1" baseline="-25000" dirty="0"/>
              <a:t>0</a:t>
            </a:r>
            <a:r>
              <a:rPr lang="en-US" sz="2000" b="1" dirty="0"/>
              <a:t>) in the K-map.</a:t>
            </a:r>
          </a:p>
        </p:txBody>
      </p:sp>
      <p:sp>
        <p:nvSpPr>
          <p:cNvPr id="25" name="TextBox 24"/>
          <p:cNvSpPr txBox="1"/>
          <p:nvPr/>
        </p:nvSpPr>
        <p:spPr>
          <a:xfrm>
            <a:off x="5639888" y="1344207"/>
            <a:ext cx="4612982" cy="1938992"/>
          </a:xfrm>
          <a:prstGeom prst="rect">
            <a:avLst/>
          </a:prstGeom>
          <a:noFill/>
        </p:spPr>
        <p:txBody>
          <a:bodyPr wrap="square" rtlCol="0">
            <a:spAutoFit/>
          </a:bodyPr>
          <a:lstStyle/>
          <a:p>
            <a:r>
              <a:rPr lang="en-US" sz="2000" b="1" dirty="0"/>
              <a:t>For both arithmetic and logic circuits, we need to change </a:t>
            </a:r>
            <a:r>
              <a:rPr lang="en-US" sz="2000" b="1" i="1" dirty="0"/>
              <a:t>B</a:t>
            </a:r>
            <a:r>
              <a:rPr lang="en-US" sz="2000" b="1" dirty="0"/>
              <a:t> for </a:t>
            </a:r>
            <a:r>
              <a:rPr lang="en-US" sz="2000" b="1" i="1" dirty="0"/>
              <a:t>Y</a:t>
            </a:r>
            <a:r>
              <a:rPr lang="en-US" sz="2000" b="1" dirty="0"/>
              <a:t> for the same combination of </a:t>
            </a:r>
            <a:r>
              <a:rPr lang="en-US" sz="2000" b="1" i="1" dirty="0"/>
              <a:t>s</a:t>
            </a:r>
            <a:r>
              <a:rPr lang="en-US" sz="2000" b="1" baseline="-25000" dirty="0"/>
              <a:t>2</a:t>
            </a:r>
            <a:r>
              <a:rPr lang="en-US" sz="2000" b="1" dirty="0"/>
              <a:t>, </a:t>
            </a:r>
            <a:r>
              <a:rPr lang="en-US" sz="2000" b="1" i="1" dirty="0"/>
              <a:t>s</a:t>
            </a:r>
            <a:r>
              <a:rPr lang="en-US" sz="2000" b="1" baseline="-25000" dirty="0"/>
              <a:t>1</a:t>
            </a:r>
            <a:r>
              <a:rPr lang="en-US" sz="2000" b="1" dirty="0"/>
              <a:t>, and </a:t>
            </a:r>
            <a:r>
              <a:rPr lang="en-US" sz="2000" b="1" i="1" dirty="0"/>
              <a:t>s</a:t>
            </a:r>
            <a:r>
              <a:rPr lang="en-US" sz="2000" b="1" baseline="-25000" dirty="0"/>
              <a:t>0</a:t>
            </a:r>
            <a:r>
              <a:rPr lang="en-US" sz="2000" b="1" dirty="0"/>
              <a:t>, but for a logic circuit, we don’t need </a:t>
            </a:r>
            <a:r>
              <a:rPr lang="en-US" sz="2000" b="1" i="1" dirty="0" err="1"/>
              <a:t>C</a:t>
            </a:r>
            <a:r>
              <a:rPr lang="en-US" sz="2000" b="1" i="1" baseline="-25000" dirty="0" err="1"/>
              <a:t>in</a:t>
            </a:r>
            <a:r>
              <a:rPr lang="en-US" sz="2000" b="1" dirty="0"/>
              <a:t>. So, we need to use only 3 variables (</a:t>
            </a:r>
            <a:r>
              <a:rPr lang="en-US" sz="2000" b="1" i="1" dirty="0"/>
              <a:t>s</a:t>
            </a:r>
            <a:r>
              <a:rPr lang="en-US" sz="2000" b="1" baseline="-25000" dirty="0"/>
              <a:t>2</a:t>
            </a:r>
            <a:r>
              <a:rPr lang="en-US" sz="2000" b="1" dirty="0"/>
              <a:t>, </a:t>
            </a:r>
            <a:r>
              <a:rPr lang="en-US" sz="2000" b="1" i="1" dirty="0"/>
              <a:t>s</a:t>
            </a:r>
            <a:r>
              <a:rPr lang="en-US" sz="2000" b="1" baseline="-25000" dirty="0"/>
              <a:t>1</a:t>
            </a:r>
            <a:r>
              <a:rPr lang="en-US" sz="2000" b="1" dirty="0"/>
              <a:t>, and </a:t>
            </a:r>
            <a:r>
              <a:rPr lang="en-US" sz="2000" b="1" i="1" dirty="0"/>
              <a:t>s</a:t>
            </a:r>
            <a:r>
              <a:rPr lang="en-US" sz="2000" b="1" baseline="-25000" dirty="0"/>
              <a:t>0</a:t>
            </a:r>
            <a:r>
              <a:rPr lang="en-US" sz="2000" b="1" dirty="0"/>
              <a:t>) in the K-map.</a:t>
            </a:r>
          </a:p>
        </p:txBody>
      </p:sp>
      <p:sp>
        <p:nvSpPr>
          <p:cNvPr id="27" name="TextBox 26"/>
          <p:cNvSpPr txBox="1"/>
          <p:nvPr/>
        </p:nvSpPr>
        <p:spPr>
          <a:xfrm>
            <a:off x="10475110" y="1356138"/>
            <a:ext cx="5279186" cy="1938992"/>
          </a:xfrm>
          <a:prstGeom prst="rect">
            <a:avLst/>
          </a:prstGeom>
          <a:noFill/>
        </p:spPr>
        <p:txBody>
          <a:bodyPr wrap="square" rtlCol="0">
            <a:spAutoFit/>
          </a:bodyPr>
          <a:lstStyle/>
          <a:p>
            <a:r>
              <a:rPr lang="en-US" sz="2000" b="1" dirty="0"/>
              <a:t>For the arithmetic circuit, we need </a:t>
            </a:r>
            <a:r>
              <a:rPr lang="en-US" sz="2000" b="1" i="1" dirty="0" err="1"/>
              <a:t>C</a:t>
            </a:r>
            <a:r>
              <a:rPr lang="en-US" sz="2000" b="1" i="1" baseline="-25000" dirty="0" err="1"/>
              <a:t>in</a:t>
            </a:r>
            <a:r>
              <a:rPr lang="en-US" sz="2000" b="1" i="1" baseline="-25000" dirty="0"/>
              <a:t> </a:t>
            </a:r>
            <a:r>
              <a:rPr lang="en-US" sz="2000" b="1" dirty="0"/>
              <a:t>for all combinations of </a:t>
            </a:r>
            <a:r>
              <a:rPr lang="en-US" sz="2000" b="1" i="1" dirty="0"/>
              <a:t>s</a:t>
            </a:r>
            <a:r>
              <a:rPr lang="en-US" sz="2000" b="1" baseline="-25000" dirty="0"/>
              <a:t>2</a:t>
            </a:r>
            <a:r>
              <a:rPr lang="en-US" sz="2000" b="1" dirty="0"/>
              <a:t>, </a:t>
            </a:r>
            <a:r>
              <a:rPr lang="en-US" sz="2000" b="1" i="1" dirty="0"/>
              <a:t>s</a:t>
            </a:r>
            <a:r>
              <a:rPr lang="en-US" sz="2000" b="1" baseline="-25000" dirty="0"/>
              <a:t>1</a:t>
            </a:r>
            <a:r>
              <a:rPr lang="en-US" sz="2000" b="1" dirty="0"/>
              <a:t>, and </a:t>
            </a:r>
            <a:r>
              <a:rPr lang="en-US" sz="2000" b="1" i="1" dirty="0"/>
              <a:t>s</a:t>
            </a:r>
            <a:r>
              <a:rPr lang="en-US" sz="2000" b="1" baseline="-25000" dirty="0"/>
              <a:t>0</a:t>
            </a:r>
            <a:r>
              <a:rPr lang="en-US" sz="2000" b="1" dirty="0"/>
              <a:t>, but for a logic circuit, we don’t need </a:t>
            </a:r>
            <a:r>
              <a:rPr lang="en-US" sz="2000" b="1" i="1" dirty="0" err="1"/>
              <a:t>C</a:t>
            </a:r>
            <a:r>
              <a:rPr lang="en-US" sz="2000" b="1" i="1" baseline="-25000" dirty="0" err="1"/>
              <a:t>in</a:t>
            </a:r>
            <a:r>
              <a:rPr lang="en-US" sz="2000" b="1" dirty="0"/>
              <a:t>. So, we need to use all 4 variables (</a:t>
            </a:r>
            <a:r>
              <a:rPr lang="en-US" sz="2000" b="1" i="1" dirty="0"/>
              <a:t>s</a:t>
            </a:r>
            <a:r>
              <a:rPr lang="en-US" sz="2000" b="1" baseline="-25000" dirty="0"/>
              <a:t>2</a:t>
            </a:r>
            <a:r>
              <a:rPr lang="en-US" sz="2000" b="1" dirty="0"/>
              <a:t>, </a:t>
            </a:r>
            <a:r>
              <a:rPr lang="en-US" sz="2000" b="1" i="1" dirty="0"/>
              <a:t>s</a:t>
            </a:r>
            <a:r>
              <a:rPr lang="en-US" sz="2000" b="1" baseline="-25000" dirty="0"/>
              <a:t>1</a:t>
            </a:r>
            <a:r>
              <a:rPr lang="en-US" sz="2000" b="1" dirty="0"/>
              <a:t>, </a:t>
            </a:r>
            <a:r>
              <a:rPr lang="en-US" sz="2000" b="1" i="1" dirty="0"/>
              <a:t>s</a:t>
            </a:r>
            <a:r>
              <a:rPr lang="en-US" sz="2000" b="1" baseline="-25000" dirty="0"/>
              <a:t>0</a:t>
            </a:r>
            <a:r>
              <a:rPr lang="en-US" sz="2000" b="1" dirty="0"/>
              <a:t>, and </a:t>
            </a:r>
            <a:r>
              <a:rPr lang="en-US" sz="2000" b="1" i="1" dirty="0" err="1"/>
              <a:t>C</a:t>
            </a:r>
            <a:r>
              <a:rPr lang="en-US" sz="2000" b="1" i="1" baseline="-25000" dirty="0" err="1"/>
              <a:t>in</a:t>
            </a:r>
            <a:r>
              <a:rPr lang="en-US" sz="2000" b="1" dirty="0"/>
              <a:t>) in the K-map to force </a:t>
            </a:r>
            <a:r>
              <a:rPr lang="en-US" sz="2000" b="1" i="1" dirty="0" err="1"/>
              <a:t>C</a:t>
            </a:r>
            <a:r>
              <a:rPr lang="en-US" sz="2000" b="1" i="1" baseline="-25000" dirty="0" err="1"/>
              <a:t>in</a:t>
            </a:r>
            <a:r>
              <a:rPr lang="en-US" sz="2000" b="1" dirty="0"/>
              <a:t> to zero for </a:t>
            </a:r>
            <a:r>
              <a:rPr lang="en-US" sz="2000" b="1" i="1" dirty="0"/>
              <a:t>Z</a:t>
            </a:r>
            <a:r>
              <a:rPr lang="en-US" sz="2000" b="1" dirty="0"/>
              <a:t> for the same combination of </a:t>
            </a:r>
            <a:r>
              <a:rPr lang="en-US" sz="2000" b="1" i="1" dirty="0"/>
              <a:t>s</a:t>
            </a:r>
            <a:r>
              <a:rPr lang="en-US" sz="2000" b="1" baseline="-25000" dirty="0"/>
              <a:t>2</a:t>
            </a:r>
            <a:r>
              <a:rPr lang="en-US" sz="2000" b="1" dirty="0"/>
              <a:t>, </a:t>
            </a:r>
            <a:r>
              <a:rPr lang="en-US" sz="2000" b="1" i="1" dirty="0"/>
              <a:t>s</a:t>
            </a:r>
            <a:r>
              <a:rPr lang="en-US" sz="2000" b="1" baseline="-25000" dirty="0"/>
              <a:t>1</a:t>
            </a:r>
            <a:r>
              <a:rPr lang="en-US" sz="2000" b="1" dirty="0"/>
              <a:t>, and </a:t>
            </a:r>
            <a:r>
              <a:rPr lang="en-US" sz="2000" b="1" i="1" dirty="0"/>
              <a:t>s</a:t>
            </a:r>
            <a:r>
              <a:rPr lang="en-US" sz="2000" b="1" baseline="-25000" dirty="0"/>
              <a:t>0</a:t>
            </a:r>
            <a:r>
              <a:rPr lang="en-US" sz="2000" b="1" dirty="0"/>
              <a:t>.</a:t>
            </a:r>
          </a:p>
        </p:txBody>
      </p:sp>
    </p:spTree>
    <p:extLst>
      <p:ext uri="{BB962C8B-B14F-4D97-AF65-F5344CB8AC3E}">
        <p14:creationId xmlns:p14="http://schemas.microsoft.com/office/powerpoint/2010/main" val="365697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heel(1)">
                                      <p:cBhvr>
                                        <p:cTn id="18" dur="20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heel(1)">
                                      <p:cBhvr>
                                        <p:cTn id="23" dur="20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heel(1)">
                                      <p:cBhvr>
                                        <p:cTn id="28" dur="20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fill="hold"/>
                                        <p:tgtEl>
                                          <p:spTgt spid="25"/>
                                        </p:tgtEl>
                                        <p:attrNameLst>
                                          <p:attrName>ppt_x</p:attrName>
                                        </p:attrNameLst>
                                      </p:cBhvr>
                                      <p:tavLst>
                                        <p:tav tm="0">
                                          <p:val>
                                            <p:strVal val="#ppt_x"/>
                                          </p:val>
                                        </p:tav>
                                        <p:tav tm="100000">
                                          <p:val>
                                            <p:strVal val="#ppt_x"/>
                                          </p:val>
                                        </p:tav>
                                      </p:tavLst>
                                    </p:anim>
                                    <p:anim calcmode="lin" valueType="num">
                                      <p:cBhvr additive="base">
                                        <p:cTn id="4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1" presetClass="entr" presetSubtype="1"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heel(1)">
                                      <p:cBhvr>
                                        <p:cTn id="49" dur="20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21" presetClass="entr" presetSubtype="1"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wheel(1)">
                                      <p:cBhvr>
                                        <p:cTn id="54" dur="2000"/>
                                        <p:tgtEl>
                                          <p:spTgt spid="18"/>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anim calcmode="lin" valueType="num">
                                      <p:cBhvr additive="base">
                                        <p:cTn id="59" dur="500" fill="hold"/>
                                        <p:tgtEl>
                                          <p:spTgt spid="9"/>
                                        </p:tgtEl>
                                        <p:attrNameLst>
                                          <p:attrName>ppt_x</p:attrName>
                                        </p:attrNameLst>
                                      </p:cBhvr>
                                      <p:tavLst>
                                        <p:tav tm="0">
                                          <p:val>
                                            <p:strVal val="#ppt_x"/>
                                          </p:val>
                                        </p:tav>
                                        <p:tav tm="100000">
                                          <p:val>
                                            <p:strVal val="#ppt_x"/>
                                          </p:val>
                                        </p:tav>
                                      </p:tavLst>
                                    </p:anim>
                                    <p:anim calcmode="lin" valueType="num">
                                      <p:cBhvr additive="base">
                                        <p:cTn id="6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27"/>
                                        </p:tgtEl>
                                        <p:attrNameLst>
                                          <p:attrName>style.visibility</p:attrName>
                                        </p:attrNameLst>
                                      </p:cBhvr>
                                      <p:to>
                                        <p:strVal val="visible"/>
                                      </p:to>
                                    </p:set>
                                    <p:anim calcmode="lin" valueType="num">
                                      <p:cBhvr additive="base">
                                        <p:cTn id="65" dur="500" fill="hold"/>
                                        <p:tgtEl>
                                          <p:spTgt spid="27"/>
                                        </p:tgtEl>
                                        <p:attrNameLst>
                                          <p:attrName>ppt_x</p:attrName>
                                        </p:attrNameLst>
                                      </p:cBhvr>
                                      <p:tavLst>
                                        <p:tav tm="0">
                                          <p:val>
                                            <p:strVal val="#ppt_x"/>
                                          </p:val>
                                        </p:tav>
                                        <p:tav tm="100000">
                                          <p:val>
                                            <p:strVal val="#ppt_x"/>
                                          </p:val>
                                        </p:tav>
                                      </p:tavLst>
                                    </p:anim>
                                    <p:anim calcmode="lin" valueType="num">
                                      <p:cBhvr additive="base">
                                        <p:cTn id="6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1" presetClass="entr" presetSubtype="1"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wheel(1)">
                                      <p:cBhvr>
                                        <p:cTn id="75" dur="2000"/>
                                        <p:tgtEl>
                                          <p:spTgt spid="19"/>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ppt_x</p:attrName>
                                        </p:attrNameLst>
                                      </p:cBhvr>
                                      <p:tavLst>
                                        <p:tav tm="0">
                                          <p:val>
                                            <p:strVal val="#ppt_x"/>
                                          </p:val>
                                        </p:tav>
                                        <p:tav tm="100000">
                                          <p:val>
                                            <p:strVal val="#ppt_x"/>
                                          </p:val>
                                        </p:tav>
                                      </p:tavLst>
                                    </p:anim>
                                    <p:anim calcmode="lin" valueType="num">
                                      <p:cBhvr additive="base">
                                        <p:cTn id="8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7" grpId="0" animBg="1"/>
      <p:bldP spid="18" grpId="0" animBg="1"/>
      <p:bldP spid="19" grpId="0" animBg="1"/>
      <p:bldP spid="20" grpId="0" animBg="1"/>
      <p:bldP spid="21" grpId="0" animBg="1"/>
      <p:bldP spid="22" grpId="0" animBg="1"/>
      <p:bldP spid="23" grpId="0"/>
      <p:bldP spid="25" grpId="0"/>
      <p:bldP spid="2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duotone>
              <a:schemeClr val="accent5">
                <a:shade val="45000"/>
                <a:satMod val="135000"/>
              </a:schemeClr>
              <a:prstClr val="white"/>
            </a:duotone>
          </a:blip>
          <a:srcRect l="2045" t="2588" r="1747" b="5156"/>
          <a:stretch/>
        </p:blipFill>
        <p:spPr>
          <a:xfrm>
            <a:off x="4774750" y="1020286"/>
            <a:ext cx="6909700" cy="6629609"/>
          </a:xfrm>
          <a:prstGeom prst="rect">
            <a:avLst/>
          </a:prstGeom>
        </p:spPr>
      </p:pic>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2122233" y="458999"/>
            <a:ext cx="11658334" cy="315045"/>
          </a:xfrm>
        </p:spPr>
        <p:txBody>
          <a:bodyPr>
            <a:noAutofit/>
          </a:bodyPr>
          <a:lstStyle/>
          <a:p>
            <a:pPr algn="ctr"/>
            <a:r>
              <a:rPr lang="en-US" sz="4000" b="1" dirty="0">
                <a:solidFill>
                  <a:srgbClr val="0000FF"/>
                </a:solidFill>
              </a:rPr>
              <a:t>Design of Arithmetic Logic Circuit </a:t>
            </a:r>
          </a:p>
        </p:txBody>
      </p:sp>
      <p:sp>
        <p:nvSpPr>
          <p:cNvPr id="3" name="Date Placeholder 2"/>
          <p:cNvSpPr>
            <a:spLocks noGrp="1"/>
          </p:cNvSpPr>
          <p:nvPr>
            <p:ph type="dt" sz="half" idx="10"/>
          </p:nvPr>
        </p:nvSpPr>
        <p:spPr/>
        <p:txBody>
          <a:bodyPr/>
          <a:lstStyle/>
          <a:p>
            <a:fld id="{47B8311C-F0B6-4219-AE89-D9A3F3E20F45}" type="datetime3">
              <a:rPr lang="en-US" smtClean="0"/>
              <a:t>18 July 2024</a:t>
            </a:fld>
            <a:endParaRPr lang="en-US"/>
          </a:p>
        </p:txBody>
      </p:sp>
      <p:sp>
        <p:nvSpPr>
          <p:cNvPr id="4" name="Footer Placeholder 3"/>
          <p:cNvSpPr>
            <a:spLocks noGrp="1"/>
          </p:cNvSpPr>
          <p:nvPr>
            <p:ph type="ftr" sz="quarter" idx="11"/>
          </p:nvPr>
        </p:nvSpPr>
        <p:spPr/>
        <p:txBody>
          <a:bodyPr/>
          <a:lstStyle/>
          <a:p>
            <a:r>
              <a:rPr lang="en-US" dirty="0"/>
              <a:t>Course Teacher: Dr. Md. Rukonuzzaman</a:t>
            </a:r>
          </a:p>
        </p:txBody>
      </p:sp>
      <p:sp>
        <p:nvSpPr>
          <p:cNvPr id="6" name="Slide Number Placeholder 5"/>
          <p:cNvSpPr>
            <a:spLocks noGrp="1"/>
          </p:cNvSpPr>
          <p:nvPr>
            <p:ph type="sldNum" sz="quarter" idx="12"/>
          </p:nvPr>
        </p:nvSpPr>
        <p:spPr/>
        <p:txBody>
          <a:bodyPr/>
          <a:lstStyle/>
          <a:p>
            <a:fld id="{48F63A3B-78C7-47BE-AE5E-E10140E04643}" type="slidenum">
              <a:rPr lang="en-US" smtClean="0"/>
              <a:pPr/>
              <a:t>36</a:t>
            </a:fld>
            <a:endParaRPr lang="en-US" dirty="0"/>
          </a:p>
        </p:txBody>
      </p:sp>
      <p:sp>
        <p:nvSpPr>
          <p:cNvPr id="7" name="TextBox 6"/>
          <p:cNvSpPr txBox="1"/>
          <p:nvPr/>
        </p:nvSpPr>
        <p:spPr>
          <a:xfrm>
            <a:off x="4240450" y="7584710"/>
            <a:ext cx="7978299" cy="400110"/>
          </a:xfrm>
          <a:prstGeom prst="rect">
            <a:avLst/>
          </a:prstGeom>
          <a:noFill/>
        </p:spPr>
        <p:txBody>
          <a:bodyPr wrap="square" rtlCol="0">
            <a:spAutoFit/>
          </a:bodyPr>
          <a:lstStyle/>
          <a:p>
            <a:pPr algn="ctr"/>
            <a:r>
              <a:rPr lang="en-US" sz="2000" b="1" dirty="0"/>
              <a:t>Figure 9.13: Logic diagram of arithmetic logic circuit</a:t>
            </a:r>
          </a:p>
        </p:txBody>
      </p:sp>
    </p:spTree>
    <p:extLst>
      <p:ext uri="{BB962C8B-B14F-4D97-AF65-F5344CB8AC3E}">
        <p14:creationId xmlns:p14="http://schemas.microsoft.com/office/powerpoint/2010/main" val="29441277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F810BBF67D7AB47AE77F6C7A7504E11" ma:contentTypeVersion="9" ma:contentTypeDescription="Create a new document." ma:contentTypeScope="" ma:versionID="20527a1f5442c6bf5a990be0ad4f6701">
  <xsd:schema xmlns:xsd="http://www.w3.org/2001/XMLSchema" xmlns:xs="http://www.w3.org/2001/XMLSchema" xmlns:p="http://schemas.microsoft.com/office/2006/metadata/properties" xmlns:ns2="f05aa4fc-6785-42fa-879e-4fefad1725f6" targetNamespace="http://schemas.microsoft.com/office/2006/metadata/properties" ma:root="true" ma:fieldsID="e3de2bbdc668caace9de9a704c17ecd5" ns2:_="">
    <xsd:import namespace="f05aa4fc-6785-42fa-879e-4fefad1725f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5aa4fc-6785-42fa-879e-4fefad1725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6"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358E20A-3CCF-4936-A030-6C75490658A6}">
  <ds:schemaRefs>
    <ds:schemaRef ds:uri="http://purl.org/dc/elements/1.1/"/>
    <ds:schemaRef ds:uri="http://purl.org/dc/dcmitype/"/>
    <ds:schemaRef ds:uri="http://schemas.openxmlformats.org/package/2006/metadata/core-properties"/>
    <ds:schemaRef ds:uri="http://purl.org/dc/terms/"/>
    <ds:schemaRef ds:uri="f05aa4fc-6785-42fa-879e-4fefad1725f6"/>
    <ds:schemaRef ds:uri="http://www.w3.org/XML/1998/namespace"/>
    <ds:schemaRef ds:uri="http://schemas.microsoft.com/office/2006/documentManagement/types"/>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B5129C82-F178-4287-9D4C-6097486300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5aa4fc-6785-42fa-879e-4fefad1725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6A4027F-3D24-4D53-BFC9-3C8233FBA00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10106</TotalTime>
  <Words>4101</Words>
  <Application>Microsoft Office PowerPoint</Application>
  <PresentationFormat>Custom</PresentationFormat>
  <Paragraphs>532</Paragraphs>
  <Slides>36</Slides>
  <Notes>7</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4" baseType="lpstr">
      <vt:lpstr>Arial</vt:lpstr>
      <vt:lpstr>Calibri</vt:lpstr>
      <vt:lpstr>Calibri Light</vt:lpstr>
      <vt:lpstr>Cambria Math</vt:lpstr>
      <vt:lpstr>Times New Roman</vt:lpstr>
      <vt:lpstr>Wingdings</vt:lpstr>
      <vt:lpstr>Office Theme</vt:lpstr>
      <vt:lpstr>Visio</vt:lpstr>
      <vt:lpstr>Lecture # 3 (Final)  Processor Logic Design (1st Part) ALU Design</vt:lpstr>
      <vt:lpstr>Bus Organization</vt:lpstr>
      <vt:lpstr>Bus Organization</vt:lpstr>
      <vt:lpstr>Scratchpad Memory</vt:lpstr>
      <vt:lpstr>Scratchpad Memory</vt:lpstr>
      <vt:lpstr>Processor Unit with 2-Port Memory</vt:lpstr>
      <vt:lpstr>Processor Unit with 2-Port Memory</vt:lpstr>
      <vt:lpstr>Arithmetic Logic Unit (ALU)</vt:lpstr>
      <vt:lpstr>Introduction</vt:lpstr>
      <vt:lpstr>Arithmetic Logic Unit (ALU)</vt:lpstr>
      <vt:lpstr>Design of Arithmetic Circuit</vt:lpstr>
      <vt:lpstr>Operations obtained by controlling one set of inputs to a parallel adder</vt:lpstr>
      <vt:lpstr>Operations obtained by controlling one set of inputs to a parallel adder</vt:lpstr>
      <vt:lpstr>PowerPoint Presentation</vt:lpstr>
      <vt:lpstr>Function Table for Arithmetic Circuit</vt:lpstr>
      <vt:lpstr>Functions of Arithmetic Circuit</vt:lpstr>
      <vt:lpstr>True/Complement, One/Zero Circuit</vt:lpstr>
      <vt:lpstr>Logic Diagram of an Arithmetic Circuit</vt:lpstr>
      <vt:lpstr>Exercise (Homework) </vt:lpstr>
      <vt:lpstr>Design of a Logic Circuit</vt:lpstr>
      <vt:lpstr>Combining Logic and Arithmetic Circuits</vt:lpstr>
      <vt:lpstr>Logic Operations in One Stage of Arithmetic Circuit</vt:lpstr>
      <vt:lpstr>Problems of combining the Arithmetic and Logic Circuits in one stage</vt:lpstr>
      <vt:lpstr>Design of Arithmetic Logic Unit</vt:lpstr>
      <vt:lpstr>Logic Diagram of an Arithmetic Circuit</vt:lpstr>
      <vt:lpstr>Converting an Arithmetic Circuit to Logic Circuit</vt:lpstr>
      <vt:lpstr>Converting an Arithmetic Circuit to Logic Circuit</vt:lpstr>
      <vt:lpstr>Converting an Arithmetic Circuit to Logic Circuit</vt:lpstr>
      <vt:lpstr>Converting an Arithmetic Circuit to Logic Circuit</vt:lpstr>
      <vt:lpstr>Converting an Arithmetic Circuit to Logic Circuit</vt:lpstr>
      <vt:lpstr>Logic Diagram of ALU (Only the first two stages are drawn)</vt:lpstr>
      <vt:lpstr>Converting an Arithmetic Circuit to Logic Circuit</vt:lpstr>
      <vt:lpstr>Design of Arithmetic Logic Circuit [Supplement Starts] </vt:lpstr>
      <vt:lpstr>Design of Arithmetic Logic Circuit </vt:lpstr>
      <vt:lpstr>Design of Arithmetic Logic Circuit (K-maps)</vt:lpstr>
      <vt:lpstr>Design of Arithmetic Logic Circuit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Jahid Hasan</dc:creator>
  <cp:lastModifiedBy>Md. Rukonuzzaman</cp:lastModifiedBy>
  <cp:revision>419</cp:revision>
  <dcterms:created xsi:type="dcterms:W3CDTF">2017-01-20T15:00:05Z</dcterms:created>
  <dcterms:modified xsi:type="dcterms:W3CDTF">2024-07-19T12:05:16Z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0x0101001F810BBF67D7AB47AE77F6C7A7504E11</vt:lpwstr>
  </property>
</Properties>
</file>